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Override PartName="/ppt/slides/slide122.xml" ContentType="application/vnd.openxmlformats-officedocument.presentationml.slide+xml"/>
  <Override PartName="/ppt/notesSlides/notesSlide122.xml" ContentType="application/vnd.openxmlformats-officedocument.presentationml.notesSlide+xml"/>
  <Override PartName="/ppt/slides/slide123.xml" ContentType="application/vnd.openxmlformats-officedocument.presentationml.slide+xml"/>
  <Override PartName="/ppt/notesSlides/notesSlide123.xml" ContentType="application/vnd.openxmlformats-officedocument.presentationml.notesSlide+xml"/>
  <Override PartName="/ppt/slides/slide124.xml" ContentType="application/vnd.openxmlformats-officedocument.presentationml.slide+xml"/>
  <Override PartName="/ppt/notesSlides/notesSlide124.xml" ContentType="application/vnd.openxmlformats-officedocument.presentationml.notesSlide+xml"/>
  <Override PartName="/ppt/slides/slide125.xml" ContentType="application/vnd.openxmlformats-officedocument.presentationml.slide+xml"/>
  <Override PartName="/ppt/notesSlides/notesSlide125.xml" ContentType="application/vnd.openxmlformats-officedocument.presentationml.notesSlide+xml"/>
  <Override PartName="/ppt/slides/slide126.xml" ContentType="application/vnd.openxmlformats-officedocument.presentationml.slide+xml"/>
  <Override PartName="/ppt/notesSlides/notesSlide126.xml" ContentType="application/vnd.openxmlformats-officedocument.presentationml.notesSlide+xml"/>
  <Override PartName="/ppt/slides/slide127.xml" ContentType="application/vnd.openxmlformats-officedocument.presentationml.slide+xml"/>
  <Override PartName="/ppt/notesSlides/notesSlide127.xml" ContentType="application/vnd.openxmlformats-officedocument.presentationml.notesSlide+xml"/>
  <Override PartName="/ppt/slides/slide128.xml" ContentType="application/vnd.openxmlformats-officedocument.presentationml.slide+xml"/>
  <Override PartName="/ppt/notesSlides/notesSlide128.xml" ContentType="application/vnd.openxmlformats-officedocument.presentationml.notesSlide+xml"/>
  <Override PartName="/ppt/slides/slide129.xml" ContentType="application/vnd.openxmlformats-officedocument.presentationml.slide+xml"/>
  <Override PartName="/ppt/notesSlides/notesSlide129.xml" ContentType="application/vnd.openxmlformats-officedocument.presentationml.notesSlide+xml"/>
  <Override PartName="/ppt/slides/slide130.xml" ContentType="application/vnd.openxmlformats-officedocument.presentationml.slide+xml"/>
  <Override PartName="/ppt/notesSlides/notesSlide130.xml" ContentType="application/vnd.openxmlformats-officedocument.presentationml.notesSlide+xml"/>
  <Override PartName="/ppt/slides/slide131.xml" ContentType="application/vnd.openxmlformats-officedocument.presentationml.slide+xml"/>
  <Override PartName="/ppt/notesSlides/notesSlide131.xml" ContentType="application/vnd.openxmlformats-officedocument.presentationml.notesSlide+xml"/>
  <Override PartName="/ppt/slides/slide132.xml" ContentType="application/vnd.openxmlformats-officedocument.presentationml.slide+xml"/>
  <Override PartName="/ppt/notesSlides/notesSlide132.xml" ContentType="application/vnd.openxmlformats-officedocument.presentationml.notesSlide+xml"/>
  <Override PartName="/ppt/slides/slide133.xml" ContentType="application/vnd.openxmlformats-officedocument.presentationml.slide+xml"/>
  <Override PartName="/ppt/notesSlides/notesSlide133.xml" ContentType="application/vnd.openxmlformats-officedocument.presentationml.notesSlide+xml"/>
  <Override PartName="/ppt/slides/slide134.xml" ContentType="application/vnd.openxmlformats-officedocument.presentationml.slide+xml"/>
  <Override PartName="/ppt/notesSlides/notesSlide134.xml" ContentType="application/vnd.openxmlformats-officedocument.presentationml.notesSlide+xml"/>
  <Override PartName="/ppt/slides/slide135.xml" ContentType="application/vnd.openxmlformats-officedocument.presentationml.slide+xml"/>
  <Override PartName="/ppt/notesSlides/notesSlide135.xml" ContentType="application/vnd.openxmlformats-officedocument.presentationml.notesSlide+xml"/>
  <Override PartName="/ppt/slides/slide136.xml" ContentType="application/vnd.openxmlformats-officedocument.presentationml.slide+xml"/>
  <Override PartName="/ppt/notesSlides/notesSlide136.xml" ContentType="application/vnd.openxmlformats-officedocument.presentationml.notesSlide+xml"/>
  <Override PartName="/ppt/slides/slide137.xml" ContentType="application/vnd.openxmlformats-officedocument.presentationml.slide+xml"/>
  <Override PartName="/ppt/notesSlides/notesSlide137.xml" ContentType="application/vnd.openxmlformats-officedocument.presentationml.notesSlide+xml"/>
  <Override PartName="/ppt/slides/slide138.xml" ContentType="application/vnd.openxmlformats-officedocument.presentationml.slide+xml"/>
  <Override PartName="/ppt/notesSlides/notesSlide138.xml" ContentType="application/vnd.openxmlformats-officedocument.presentationml.notesSlide+xml"/>
  <Override PartName="/ppt/slides/slide139.xml" ContentType="application/vnd.openxmlformats-officedocument.presentationml.slide+xml"/>
  <Override PartName="/ppt/notesSlides/notesSlide139.xml" ContentType="application/vnd.openxmlformats-officedocument.presentationml.notesSlide+xml"/>
  <Override PartName="/ppt/slides/slide140.xml" ContentType="application/vnd.openxmlformats-officedocument.presentationml.slide+xml"/>
  <Override PartName="/ppt/notesSlides/notesSlide140.xml" ContentType="application/vnd.openxmlformats-officedocument.presentationml.notesSlide+xml"/>
  <Override PartName="/ppt/slides/slide141.xml" ContentType="application/vnd.openxmlformats-officedocument.presentationml.slide+xml"/>
  <Override PartName="/ppt/notesSlides/notesSlide141.xml" ContentType="application/vnd.openxmlformats-officedocument.presentationml.notesSlide+xml"/>
  <Override PartName="/ppt/slides/slide142.xml" ContentType="application/vnd.openxmlformats-officedocument.presentationml.slide+xml"/>
  <Override PartName="/ppt/notesSlides/notesSlide142.xml" ContentType="application/vnd.openxmlformats-officedocument.presentationml.notesSlide+xml"/>
  <Override PartName="/ppt/slides/slide143.xml" ContentType="application/vnd.openxmlformats-officedocument.presentationml.slide+xml"/>
  <Override PartName="/ppt/notesSlides/notesSlide143.xml" ContentType="application/vnd.openxmlformats-officedocument.presentationml.notesSlide+xml"/>
  <Override PartName="/ppt/slides/slide144.xml" ContentType="application/vnd.openxmlformats-officedocument.presentationml.slide+xml"/>
  <Override PartName="/ppt/notesSlides/notesSlide144.xml" ContentType="application/vnd.openxmlformats-officedocument.presentationml.notesSlide+xml"/>
  <Override PartName="/ppt/slides/slide145.xml" ContentType="application/vnd.openxmlformats-officedocument.presentationml.slide+xml"/>
  <Override PartName="/ppt/notesSlides/notesSlide145.xml" ContentType="application/vnd.openxmlformats-officedocument.presentationml.notesSlide+xml"/>
  <Override PartName="/ppt/slides/slide146.xml" ContentType="application/vnd.openxmlformats-officedocument.presentationml.slide+xml"/>
  <Override PartName="/ppt/notesSlides/notesSlide146.xml" ContentType="application/vnd.openxmlformats-officedocument.presentationml.notesSlide+xml"/>
  <Override PartName="/ppt/slides/slide147.xml" ContentType="application/vnd.openxmlformats-officedocument.presentationml.slide+xml"/>
  <Override PartName="/ppt/notesSlides/notesSlide147.xml" ContentType="application/vnd.openxmlformats-officedocument.presentationml.notesSlide+xml"/>
  <Override PartName="/ppt/slides/slide148.xml" ContentType="application/vnd.openxmlformats-officedocument.presentationml.slide+xml"/>
  <Override PartName="/ppt/notesSlides/notesSlide148.xml" ContentType="application/vnd.openxmlformats-officedocument.presentationml.notesSlide+xml"/>
  <Override PartName="/ppt/slides/slide149.xml" ContentType="application/vnd.openxmlformats-officedocument.presentationml.slide+xml"/>
  <Override PartName="/ppt/notesSlides/notesSlide149.xml" ContentType="application/vnd.openxmlformats-officedocument.presentationml.notesSlide+xml"/>
  <Override PartName="/ppt/slides/slide150.xml" ContentType="application/vnd.openxmlformats-officedocument.presentationml.slide+xml"/>
  <Override PartName="/ppt/notesSlides/notesSlide150.xml" ContentType="application/vnd.openxmlformats-officedocument.presentationml.notesSlide+xml"/>
  <Override PartName="/ppt/slides/slide151.xml" ContentType="application/vnd.openxmlformats-officedocument.presentationml.slide+xml"/>
  <Override PartName="/ppt/notesSlides/notesSlide151.xml" ContentType="application/vnd.openxmlformats-officedocument.presentationml.notesSlide+xml"/>
  <Override PartName="/ppt/slides/slide152.xml" ContentType="application/vnd.openxmlformats-officedocument.presentationml.slide+xml"/>
  <Override PartName="/ppt/notesSlides/notesSlide152.xml" ContentType="application/vnd.openxmlformats-officedocument.presentationml.notesSlide+xml"/>
  <Override PartName="/ppt/slides/slide153.xml" ContentType="application/vnd.openxmlformats-officedocument.presentationml.slide+xml"/>
  <Override PartName="/ppt/notesSlides/notesSlide153.xml" ContentType="application/vnd.openxmlformats-officedocument.presentationml.notesSlide+xml"/>
  <Override PartName="/ppt/slides/slide154.xml" ContentType="application/vnd.openxmlformats-officedocument.presentationml.slide+xml"/>
  <Override PartName="/ppt/notesSlides/notesSlide154.xml" ContentType="application/vnd.openxmlformats-officedocument.presentationml.notesSlide+xml"/>
  <Override PartName="/ppt/slides/slide155.xml" ContentType="application/vnd.openxmlformats-officedocument.presentationml.slide+xml"/>
  <Override PartName="/ppt/notesSlides/notesSlide155.xml" ContentType="application/vnd.openxmlformats-officedocument.presentationml.notesSlide+xml"/>
  <Override PartName="/ppt/slides/slide156.xml" ContentType="application/vnd.openxmlformats-officedocument.presentationml.slide+xml"/>
  <Override PartName="/ppt/notesSlides/notesSlide156.xml" ContentType="application/vnd.openxmlformats-officedocument.presentationml.notesSlide+xml"/>
  <Override PartName="/ppt/slides/slide157.xml" ContentType="application/vnd.openxmlformats-officedocument.presentationml.slide+xml"/>
  <Override PartName="/ppt/notesSlides/notesSlide157.xml" ContentType="application/vnd.openxmlformats-officedocument.presentationml.notesSlide+xml"/>
  <Override PartName="/ppt/slides/slide158.xml" ContentType="application/vnd.openxmlformats-officedocument.presentationml.slide+xml"/>
  <Override PartName="/ppt/notesSlides/notesSlide158.xml" ContentType="application/vnd.openxmlformats-officedocument.presentationml.notesSlide+xml"/>
  <Override PartName="/ppt/slides/slide159.xml" ContentType="application/vnd.openxmlformats-officedocument.presentationml.slide+xml"/>
  <Override PartName="/ppt/notesSlides/notesSlide159.xml" ContentType="application/vnd.openxmlformats-officedocument.presentationml.notesSlide+xml"/>
  <Override PartName="/ppt/slides/slide160.xml" ContentType="application/vnd.openxmlformats-officedocument.presentationml.slide+xml"/>
  <Override PartName="/ppt/notesSlides/notesSlide160.xml" ContentType="application/vnd.openxmlformats-officedocument.presentationml.notesSlide+xml"/>
  <Override PartName="/ppt/slides/slide161.xml" ContentType="application/vnd.openxmlformats-officedocument.presentationml.slide+xml"/>
  <Override PartName="/ppt/notesSlides/notesSlide161.xml" ContentType="application/vnd.openxmlformats-officedocument.presentationml.notesSlide+xml"/>
  <Override PartName="/ppt/slides/slide162.xml" ContentType="application/vnd.openxmlformats-officedocument.presentationml.slide+xml"/>
  <Override PartName="/ppt/notesSlides/notesSlide162.xml" ContentType="application/vnd.openxmlformats-officedocument.presentationml.notesSlide+xml"/>
  <Override PartName="/ppt/slides/slide163.xml" ContentType="application/vnd.openxmlformats-officedocument.presentationml.slide+xml"/>
  <Override PartName="/ppt/notesSlides/notesSlide163.xml" ContentType="application/vnd.openxmlformats-officedocument.presentationml.notesSlide+xml"/>
  <Override PartName="/ppt/slides/slide164.xml" ContentType="application/vnd.openxmlformats-officedocument.presentationml.slide+xml"/>
  <Override PartName="/ppt/notesSlides/notesSlide164.xml" ContentType="application/vnd.openxmlformats-officedocument.presentationml.notesSlide+xml"/>
  <Override PartName="/ppt/slides/slide165.xml" ContentType="application/vnd.openxmlformats-officedocument.presentationml.slide+xml"/>
  <Override PartName="/ppt/notesSlides/notesSlide16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090c316950f4505" /><Relationship Type="http://schemas.openxmlformats.org/officeDocument/2006/relationships/extended-properties" Target="/docProps/app.xml" Id="Re2a654c21acf42ff" /><Relationship Type="http://schemas.openxmlformats.org/officeDocument/2006/relationships/officeDocument" Target="/ppt/presentation.xml" Id="Rdc0f3ea9963d42fa" /></Relationships>
</file>

<file path=ppt/presentation.xml><?xml version="1.0" encoding="utf-8"?>
<p:presentation xmlns:p="http://schemas.openxmlformats.org/presentationml/2006/main">
  <p:sldMasterIdLst>
    <p:sldMasterId xmlns:r="http://schemas.openxmlformats.org/officeDocument/2006/relationships" id="2147483648" r:id="R63fd7884b6174632"/>
  </p:sldMasterIdLst>
  <p:notesMasterIdLst>
    <p:notesMasterId xmlns:r="http://schemas.openxmlformats.org/officeDocument/2006/relationships" r:id="Ra059df3fae134efa"/>
  </p:notesMasterIdLst>
  <p:sldIdLst>
    <p:sldId xmlns:r="http://schemas.openxmlformats.org/officeDocument/2006/relationships" id="256" r:id="R5028f6c0feca4f3d"/>
    <p:sldId xmlns:r="http://schemas.openxmlformats.org/officeDocument/2006/relationships" id="257" r:id="Re0e9b9d4903640bc"/>
    <p:sldId xmlns:r="http://schemas.openxmlformats.org/officeDocument/2006/relationships" id="258" r:id="Rbb5fece5f5564133"/>
    <p:sldId xmlns:r="http://schemas.openxmlformats.org/officeDocument/2006/relationships" id="259" r:id="Ra8f827cf6962402c"/>
    <p:sldId xmlns:r="http://schemas.openxmlformats.org/officeDocument/2006/relationships" id="260" r:id="Rd86ea7308225444b"/>
    <p:sldId xmlns:r="http://schemas.openxmlformats.org/officeDocument/2006/relationships" id="261" r:id="R244901f6675e4b3e"/>
    <p:sldId xmlns:r="http://schemas.openxmlformats.org/officeDocument/2006/relationships" id="262" r:id="Rd529f9a08811472d"/>
    <p:sldId xmlns:r="http://schemas.openxmlformats.org/officeDocument/2006/relationships" id="263" r:id="R3417d6a4d2494e6d"/>
    <p:sldId xmlns:r="http://schemas.openxmlformats.org/officeDocument/2006/relationships" id="264" r:id="Re60f1f8de8254018"/>
    <p:sldId xmlns:r="http://schemas.openxmlformats.org/officeDocument/2006/relationships" id="265" r:id="R2b769719b9314b41"/>
    <p:sldId xmlns:r="http://schemas.openxmlformats.org/officeDocument/2006/relationships" id="266" r:id="Raee6416fb8684295"/>
    <p:sldId xmlns:r="http://schemas.openxmlformats.org/officeDocument/2006/relationships" id="267" r:id="Rd522ecfa39184364"/>
    <p:sldId xmlns:r="http://schemas.openxmlformats.org/officeDocument/2006/relationships" id="268" r:id="R5198e8c8af554e5c"/>
    <p:sldId xmlns:r="http://schemas.openxmlformats.org/officeDocument/2006/relationships" id="269" r:id="Rd1da626ef7704c01"/>
    <p:sldId xmlns:r="http://schemas.openxmlformats.org/officeDocument/2006/relationships" id="270" r:id="Rb76d5ea733874acd"/>
    <p:sldId xmlns:r="http://schemas.openxmlformats.org/officeDocument/2006/relationships" id="271" r:id="R63b11bc15eda42a5"/>
    <p:sldId xmlns:r="http://schemas.openxmlformats.org/officeDocument/2006/relationships" id="272" r:id="R3b704133101f47bb"/>
    <p:sldId xmlns:r="http://schemas.openxmlformats.org/officeDocument/2006/relationships" id="273" r:id="R04536f31c68a4efc"/>
    <p:sldId xmlns:r="http://schemas.openxmlformats.org/officeDocument/2006/relationships" id="274" r:id="R3eb37f065aa34dab"/>
    <p:sldId xmlns:r="http://schemas.openxmlformats.org/officeDocument/2006/relationships" id="275" r:id="R036b0f028317449b"/>
    <p:sldId xmlns:r="http://schemas.openxmlformats.org/officeDocument/2006/relationships" id="276" r:id="R0f8fc9a2dbb84590"/>
    <p:sldId xmlns:r="http://schemas.openxmlformats.org/officeDocument/2006/relationships" id="277" r:id="R64179ce0678e4ac1"/>
    <p:sldId xmlns:r="http://schemas.openxmlformats.org/officeDocument/2006/relationships" id="278" r:id="R10053effdef74cb7"/>
    <p:sldId xmlns:r="http://schemas.openxmlformats.org/officeDocument/2006/relationships" id="279" r:id="R367055a2f77b4f16"/>
    <p:sldId xmlns:r="http://schemas.openxmlformats.org/officeDocument/2006/relationships" id="280" r:id="R0b1ff1ebfc574a2f"/>
    <p:sldId xmlns:r="http://schemas.openxmlformats.org/officeDocument/2006/relationships" id="281" r:id="Rf7396321ceea426a"/>
    <p:sldId xmlns:r="http://schemas.openxmlformats.org/officeDocument/2006/relationships" id="282" r:id="R895b9d40d4974f2b"/>
    <p:sldId xmlns:r="http://schemas.openxmlformats.org/officeDocument/2006/relationships" id="283" r:id="R903f32e8ce1f4bb1"/>
    <p:sldId xmlns:r="http://schemas.openxmlformats.org/officeDocument/2006/relationships" id="284" r:id="R84ed2a3defd647d9"/>
    <p:sldId xmlns:r="http://schemas.openxmlformats.org/officeDocument/2006/relationships" id="285" r:id="Ree629f365e6a4dae"/>
    <p:sldId xmlns:r="http://schemas.openxmlformats.org/officeDocument/2006/relationships" id="286" r:id="R234345507a9e4a63"/>
    <p:sldId xmlns:r="http://schemas.openxmlformats.org/officeDocument/2006/relationships" id="287" r:id="Rd545027f732b4826"/>
    <p:sldId xmlns:r="http://schemas.openxmlformats.org/officeDocument/2006/relationships" id="288" r:id="R521fe9858a144c44"/>
    <p:sldId xmlns:r="http://schemas.openxmlformats.org/officeDocument/2006/relationships" id="289" r:id="Rffc9ea49fd0a4d60"/>
    <p:sldId xmlns:r="http://schemas.openxmlformats.org/officeDocument/2006/relationships" id="290" r:id="R6b69241e35b644da"/>
    <p:sldId xmlns:r="http://schemas.openxmlformats.org/officeDocument/2006/relationships" id="291" r:id="Rb201073eebee4cdd"/>
    <p:sldId xmlns:r="http://schemas.openxmlformats.org/officeDocument/2006/relationships" id="292" r:id="Rf17988759a7e4735"/>
    <p:sldId xmlns:r="http://schemas.openxmlformats.org/officeDocument/2006/relationships" id="293" r:id="R4e5a6f4e57dc470e"/>
    <p:sldId xmlns:r="http://schemas.openxmlformats.org/officeDocument/2006/relationships" id="294" r:id="R725ad20ca55248df"/>
    <p:sldId xmlns:r="http://schemas.openxmlformats.org/officeDocument/2006/relationships" id="295" r:id="R88fb30b910984ed2"/>
    <p:sldId xmlns:r="http://schemas.openxmlformats.org/officeDocument/2006/relationships" id="296" r:id="R201f5f596e3c4b26"/>
    <p:sldId xmlns:r="http://schemas.openxmlformats.org/officeDocument/2006/relationships" id="297" r:id="R5ca4293de1ac4d7d"/>
    <p:sldId xmlns:r="http://schemas.openxmlformats.org/officeDocument/2006/relationships" id="298" r:id="Raa47ece40cd646ce"/>
    <p:sldId xmlns:r="http://schemas.openxmlformats.org/officeDocument/2006/relationships" id="299" r:id="R069288a71efb406f"/>
    <p:sldId xmlns:r="http://schemas.openxmlformats.org/officeDocument/2006/relationships" id="300" r:id="Rb087135a5fd94731"/>
    <p:sldId xmlns:r="http://schemas.openxmlformats.org/officeDocument/2006/relationships" id="301" r:id="R8bfa64d8036e4dbf"/>
    <p:sldId xmlns:r="http://schemas.openxmlformats.org/officeDocument/2006/relationships" id="302" r:id="R6e42742209f2427b"/>
    <p:sldId xmlns:r="http://schemas.openxmlformats.org/officeDocument/2006/relationships" id="303" r:id="R5da8e4a2de3145df"/>
    <p:sldId xmlns:r="http://schemas.openxmlformats.org/officeDocument/2006/relationships" id="304" r:id="Rcac9cb3f7c4d48ca"/>
    <p:sldId xmlns:r="http://schemas.openxmlformats.org/officeDocument/2006/relationships" id="305" r:id="Ra51f7302433f4af6"/>
    <p:sldId xmlns:r="http://schemas.openxmlformats.org/officeDocument/2006/relationships" id="306" r:id="Rc93523348f304e5e"/>
    <p:sldId xmlns:r="http://schemas.openxmlformats.org/officeDocument/2006/relationships" id="307" r:id="Rbf787c7d69414c2d"/>
    <p:sldId xmlns:r="http://schemas.openxmlformats.org/officeDocument/2006/relationships" id="308" r:id="R8de721bd3e984397"/>
    <p:sldId xmlns:r="http://schemas.openxmlformats.org/officeDocument/2006/relationships" id="309" r:id="R32bb078b57f14f7a"/>
    <p:sldId xmlns:r="http://schemas.openxmlformats.org/officeDocument/2006/relationships" id="310" r:id="R0a011eafbf3c4250"/>
    <p:sldId xmlns:r="http://schemas.openxmlformats.org/officeDocument/2006/relationships" id="311" r:id="R765c26669aeb4a19"/>
    <p:sldId xmlns:r="http://schemas.openxmlformats.org/officeDocument/2006/relationships" id="312" r:id="R1cc0cfc4447048aa"/>
    <p:sldId xmlns:r="http://schemas.openxmlformats.org/officeDocument/2006/relationships" id="313" r:id="R6be388329e9f44d8"/>
    <p:sldId xmlns:r="http://schemas.openxmlformats.org/officeDocument/2006/relationships" id="314" r:id="R2916751c0b4d4de0"/>
    <p:sldId xmlns:r="http://schemas.openxmlformats.org/officeDocument/2006/relationships" id="315" r:id="R927e503e4fb04604"/>
    <p:sldId xmlns:r="http://schemas.openxmlformats.org/officeDocument/2006/relationships" id="316" r:id="R39e41b49fd2c421e"/>
    <p:sldId xmlns:r="http://schemas.openxmlformats.org/officeDocument/2006/relationships" id="317" r:id="Reb8c7358ed944b60"/>
    <p:sldId xmlns:r="http://schemas.openxmlformats.org/officeDocument/2006/relationships" id="318" r:id="Rdfb83e12b6734b4f"/>
    <p:sldId xmlns:r="http://schemas.openxmlformats.org/officeDocument/2006/relationships" id="319" r:id="Rf19f19fb22f1487c"/>
    <p:sldId xmlns:r="http://schemas.openxmlformats.org/officeDocument/2006/relationships" id="320" r:id="R9d3a475ef2bb4bfb"/>
    <p:sldId xmlns:r="http://schemas.openxmlformats.org/officeDocument/2006/relationships" id="321" r:id="R76f49ff710964a36"/>
    <p:sldId xmlns:r="http://schemas.openxmlformats.org/officeDocument/2006/relationships" id="322" r:id="R5ee9cafa6bdd4361"/>
    <p:sldId xmlns:r="http://schemas.openxmlformats.org/officeDocument/2006/relationships" id="323" r:id="Rc38852688b3d4ef8"/>
    <p:sldId xmlns:r="http://schemas.openxmlformats.org/officeDocument/2006/relationships" id="324" r:id="R9b170d9f14064dde"/>
    <p:sldId xmlns:r="http://schemas.openxmlformats.org/officeDocument/2006/relationships" id="325" r:id="Ra07d7f5b9c6f4396"/>
    <p:sldId xmlns:r="http://schemas.openxmlformats.org/officeDocument/2006/relationships" id="326" r:id="Rfe3f787dbe2d4d36"/>
    <p:sldId xmlns:r="http://schemas.openxmlformats.org/officeDocument/2006/relationships" id="327" r:id="Rece31d3e436c4994"/>
    <p:sldId xmlns:r="http://schemas.openxmlformats.org/officeDocument/2006/relationships" id="328" r:id="Rd1229714377c47a2"/>
    <p:sldId xmlns:r="http://schemas.openxmlformats.org/officeDocument/2006/relationships" id="329" r:id="R9eeb7e2618a54eaf"/>
    <p:sldId xmlns:r="http://schemas.openxmlformats.org/officeDocument/2006/relationships" id="330" r:id="Rfaa7219058584525"/>
    <p:sldId xmlns:r="http://schemas.openxmlformats.org/officeDocument/2006/relationships" id="331" r:id="R6364ab628dca48ae"/>
    <p:sldId xmlns:r="http://schemas.openxmlformats.org/officeDocument/2006/relationships" id="332" r:id="Redc2d7a2ca754e16"/>
    <p:sldId xmlns:r="http://schemas.openxmlformats.org/officeDocument/2006/relationships" id="333" r:id="Rec0c846230df4ada"/>
    <p:sldId xmlns:r="http://schemas.openxmlformats.org/officeDocument/2006/relationships" id="334" r:id="Rdd2e350c98f64ff1"/>
    <p:sldId xmlns:r="http://schemas.openxmlformats.org/officeDocument/2006/relationships" id="335" r:id="Rc005fb7e7a3747e5"/>
    <p:sldId xmlns:r="http://schemas.openxmlformats.org/officeDocument/2006/relationships" id="336" r:id="Rafc6cb124e3b48bb"/>
    <p:sldId xmlns:r="http://schemas.openxmlformats.org/officeDocument/2006/relationships" id="337" r:id="Rfb95110d22594f08"/>
    <p:sldId xmlns:r="http://schemas.openxmlformats.org/officeDocument/2006/relationships" id="338" r:id="R566a7c7418dc4302"/>
    <p:sldId xmlns:r="http://schemas.openxmlformats.org/officeDocument/2006/relationships" id="339" r:id="R229240dbef4844c5"/>
    <p:sldId xmlns:r="http://schemas.openxmlformats.org/officeDocument/2006/relationships" id="340" r:id="R4111a374fd074292"/>
    <p:sldId xmlns:r="http://schemas.openxmlformats.org/officeDocument/2006/relationships" id="341" r:id="Ra6cba9aa372a4021"/>
    <p:sldId xmlns:r="http://schemas.openxmlformats.org/officeDocument/2006/relationships" id="342" r:id="R924220f1ab1a4f37"/>
    <p:sldId xmlns:r="http://schemas.openxmlformats.org/officeDocument/2006/relationships" id="343" r:id="R496826537d8841bc"/>
    <p:sldId xmlns:r="http://schemas.openxmlformats.org/officeDocument/2006/relationships" id="344" r:id="Rcb3a0cd530b14afb"/>
    <p:sldId xmlns:r="http://schemas.openxmlformats.org/officeDocument/2006/relationships" id="345" r:id="R49c0a439344f4199"/>
    <p:sldId xmlns:r="http://schemas.openxmlformats.org/officeDocument/2006/relationships" id="346" r:id="Ra1f8820f06184f53"/>
    <p:sldId xmlns:r="http://schemas.openxmlformats.org/officeDocument/2006/relationships" id="347" r:id="Rdb421dc6b06241b0"/>
    <p:sldId xmlns:r="http://schemas.openxmlformats.org/officeDocument/2006/relationships" id="348" r:id="R6ccacde306ec43bd"/>
    <p:sldId xmlns:r="http://schemas.openxmlformats.org/officeDocument/2006/relationships" id="349" r:id="Rd0439bbbe1f94e13"/>
    <p:sldId xmlns:r="http://schemas.openxmlformats.org/officeDocument/2006/relationships" id="350" r:id="R142c7e4e15a74590"/>
    <p:sldId xmlns:r="http://schemas.openxmlformats.org/officeDocument/2006/relationships" id="351" r:id="R6a66ddb1683542d1"/>
    <p:sldId xmlns:r="http://schemas.openxmlformats.org/officeDocument/2006/relationships" id="352" r:id="R982bfe7814c948f2"/>
    <p:sldId xmlns:r="http://schemas.openxmlformats.org/officeDocument/2006/relationships" id="353" r:id="R7e8fc0182de64ca6"/>
    <p:sldId xmlns:r="http://schemas.openxmlformats.org/officeDocument/2006/relationships" id="354" r:id="R46adafbf1bf34343"/>
    <p:sldId xmlns:r="http://schemas.openxmlformats.org/officeDocument/2006/relationships" id="355" r:id="R286ccce907a64b10"/>
    <p:sldId xmlns:r="http://schemas.openxmlformats.org/officeDocument/2006/relationships" id="356" r:id="R71ffb16aecd74bed"/>
    <p:sldId xmlns:r="http://schemas.openxmlformats.org/officeDocument/2006/relationships" id="357" r:id="R60f9519528e844bf"/>
    <p:sldId xmlns:r="http://schemas.openxmlformats.org/officeDocument/2006/relationships" id="358" r:id="R6ac3fbd7c8d44bd4"/>
    <p:sldId xmlns:r="http://schemas.openxmlformats.org/officeDocument/2006/relationships" id="359" r:id="R6f16559a5eed4ed9"/>
    <p:sldId xmlns:r="http://schemas.openxmlformats.org/officeDocument/2006/relationships" id="360" r:id="Ra815ca712e0b4f3d"/>
    <p:sldId xmlns:r="http://schemas.openxmlformats.org/officeDocument/2006/relationships" id="361" r:id="R6498f24485a6414c"/>
    <p:sldId xmlns:r="http://schemas.openxmlformats.org/officeDocument/2006/relationships" id="362" r:id="Rb4cd4f0804be4d53"/>
    <p:sldId xmlns:r="http://schemas.openxmlformats.org/officeDocument/2006/relationships" id="363" r:id="R77338b4d30814654"/>
    <p:sldId xmlns:r="http://schemas.openxmlformats.org/officeDocument/2006/relationships" id="364" r:id="R44a64b5f0dff4fac"/>
    <p:sldId xmlns:r="http://schemas.openxmlformats.org/officeDocument/2006/relationships" id="365" r:id="R1d93a308e4474977"/>
    <p:sldId xmlns:r="http://schemas.openxmlformats.org/officeDocument/2006/relationships" id="366" r:id="R49e92f5c340544aa"/>
    <p:sldId xmlns:r="http://schemas.openxmlformats.org/officeDocument/2006/relationships" id="367" r:id="R0cecf1cd81db4ecc"/>
    <p:sldId xmlns:r="http://schemas.openxmlformats.org/officeDocument/2006/relationships" id="368" r:id="R3dc43a27d2ad4b9d"/>
    <p:sldId xmlns:r="http://schemas.openxmlformats.org/officeDocument/2006/relationships" id="369" r:id="R2363ee8c6ca54ef0"/>
    <p:sldId xmlns:r="http://schemas.openxmlformats.org/officeDocument/2006/relationships" id="370" r:id="R5480c6ab1b734d9b"/>
    <p:sldId xmlns:r="http://schemas.openxmlformats.org/officeDocument/2006/relationships" id="371" r:id="R87169d87cf8441db"/>
    <p:sldId xmlns:r="http://schemas.openxmlformats.org/officeDocument/2006/relationships" id="372" r:id="Ra328fd5a297345e1"/>
    <p:sldId xmlns:r="http://schemas.openxmlformats.org/officeDocument/2006/relationships" id="373" r:id="Rb953d691580249b5"/>
    <p:sldId xmlns:r="http://schemas.openxmlformats.org/officeDocument/2006/relationships" id="374" r:id="Rb51320c445d14096"/>
    <p:sldId xmlns:r="http://schemas.openxmlformats.org/officeDocument/2006/relationships" id="375" r:id="R1f59315f25df4651"/>
    <p:sldId xmlns:r="http://schemas.openxmlformats.org/officeDocument/2006/relationships" id="376" r:id="R4426930a0a7042d5"/>
    <p:sldId xmlns:r="http://schemas.openxmlformats.org/officeDocument/2006/relationships" id="377" r:id="R6e456baed4224f5f"/>
    <p:sldId xmlns:r="http://schemas.openxmlformats.org/officeDocument/2006/relationships" id="378" r:id="R261b4ea9bac74f50"/>
    <p:sldId xmlns:r="http://schemas.openxmlformats.org/officeDocument/2006/relationships" id="379" r:id="R31abe37904964f4b"/>
    <p:sldId xmlns:r="http://schemas.openxmlformats.org/officeDocument/2006/relationships" id="380" r:id="R4065024ab9a8443d"/>
    <p:sldId xmlns:r="http://schemas.openxmlformats.org/officeDocument/2006/relationships" id="381" r:id="Rb747fd97b41f48d8"/>
    <p:sldId xmlns:r="http://schemas.openxmlformats.org/officeDocument/2006/relationships" id="382" r:id="R08cb576b9f844c20"/>
    <p:sldId xmlns:r="http://schemas.openxmlformats.org/officeDocument/2006/relationships" id="383" r:id="R0415410c6c744e9c"/>
    <p:sldId xmlns:r="http://schemas.openxmlformats.org/officeDocument/2006/relationships" id="384" r:id="Ra6322ee6ba1f43aa"/>
    <p:sldId xmlns:r="http://schemas.openxmlformats.org/officeDocument/2006/relationships" id="385" r:id="R4a0abe22aaa94662"/>
    <p:sldId xmlns:r="http://schemas.openxmlformats.org/officeDocument/2006/relationships" id="386" r:id="R81218f33ae9145de"/>
    <p:sldId xmlns:r="http://schemas.openxmlformats.org/officeDocument/2006/relationships" id="387" r:id="R92904db70cfe4ee2"/>
    <p:sldId xmlns:r="http://schemas.openxmlformats.org/officeDocument/2006/relationships" id="388" r:id="R5cf8ffe9ce2e4598"/>
    <p:sldId xmlns:r="http://schemas.openxmlformats.org/officeDocument/2006/relationships" id="389" r:id="Rf8b85cb20a13487b"/>
    <p:sldId xmlns:r="http://schemas.openxmlformats.org/officeDocument/2006/relationships" id="390" r:id="Re533b96013d14852"/>
    <p:sldId xmlns:r="http://schemas.openxmlformats.org/officeDocument/2006/relationships" id="391" r:id="Rb6344399ad2246ac"/>
    <p:sldId xmlns:r="http://schemas.openxmlformats.org/officeDocument/2006/relationships" id="392" r:id="R8a22f66a55584962"/>
    <p:sldId xmlns:r="http://schemas.openxmlformats.org/officeDocument/2006/relationships" id="393" r:id="R9dc08ca060d245f4"/>
    <p:sldId xmlns:r="http://schemas.openxmlformats.org/officeDocument/2006/relationships" id="394" r:id="Rea290e85ab8d43ea"/>
    <p:sldId xmlns:r="http://schemas.openxmlformats.org/officeDocument/2006/relationships" id="395" r:id="R0a218785c0c248ae"/>
    <p:sldId xmlns:r="http://schemas.openxmlformats.org/officeDocument/2006/relationships" id="396" r:id="R27c86ebc38594efc"/>
    <p:sldId xmlns:r="http://schemas.openxmlformats.org/officeDocument/2006/relationships" id="397" r:id="Rc268f4e704254527"/>
    <p:sldId xmlns:r="http://schemas.openxmlformats.org/officeDocument/2006/relationships" id="398" r:id="Rced6109e3de24a2b"/>
    <p:sldId xmlns:r="http://schemas.openxmlformats.org/officeDocument/2006/relationships" id="399" r:id="Rec7729f88177401f"/>
    <p:sldId xmlns:r="http://schemas.openxmlformats.org/officeDocument/2006/relationships" id="400" r:id="R3e9cfb764b7e4217"/>
    <p:sldId xmlns:r="http://schemas.openxmlformats.org/officeDocument/2006/relationships" id="401" r:id="Rc04659d51c2d4914"/>
    <p:sldId xmlns:r="http://schemas.openxmlformats.org/officeDocument/2006/relationships" id="402" r:id="R0cf9bcc1c1f847f5"/>
    <p:sldId xmlns:r="http://schemas.openxmlformats.org/officeDocument/2006/relationships" id="403" r:id="Rdbee4d4f24d34068"/>
    <p:sldId xmlns:r="http://schemas.openxmlformats.org/officeDocument/2006/relationships" id="404" r:id="R8acc4f0c94734754"/>
    <p:sldId xmlns:r="http://schemas.openxmlformats.org/officeDocument/2006/relationships" id="405" r:id="Rc3a8c78c096e4164"/>
    <p:sldId xmlns:r="http://schemas.openxmlformats.org/officeDocument/2006/relationships" id="406" r:id="R103091df31ad449c"/>
    <p:sldId xmlns:r="http://schemas.openxmlformats.org/officeDocument/2006/relationships" id="407" r:id="R569d039da99a47d9"/>
    <p:sldId xmlns:r="http://schemas.openxmlformats.org/officeDocument/2006/relationships" id="408" r:id="R97a18a1d4ef34ce2"/>
    <p:sldId xmlns:r="http://schemas.openxmlformats.org/officeDocument/2006/relationships" id="409" r:id="Rc6cade8c481c48f9"/>
    <p:sldId xmlns:r="http://schemas.openxmlformats.org/officeDocument/2006/relationships" id="410" r:id="Rae3fef4d5d5d4abe"/>
    <p:sldId xmlns:r="http://schemas.openxmlformats.org/officeDocument/2006/relationships" id="411" r:id="R18ce51c5334446e9"/>
    <p:sldId xmlns:r="http://schemas.openxmlformats.org/officeDocument/2006/relationships" id="412" r:id="R0b01d7ed4e884b15"/>
    <p:sldId xmlns:r="http://schemas.openxmlformats.org/officeDocument/2006/relationships" id="413" r:id="R9db45e0377994f5a"/>
    <p:sldId xmlns:r="http://schemas.openxmlformats.org/officeDocument/2006/relationships" id="414" r:id="R3392f116627949b5"/>
    <p:sldId xmlns:r="http://schemas.openxmlformats.org/officeDocument/2006/relationships" id="415" r:id="Rb5a917f31f1e4362"/>
    <p:sldId xmlns:r="http://schemas.openxmlformats.org/officeDocument/2006/relationships" id="416" r:id="R6953557ff96544da"/>
    <p:sldId xmlns:r="http://schemas.openxmlformats.org/officeDocument/2006/relationships" id="417" r:id="R8ddc6cc8448843ed"/>
    <p:sldId xmlns:r="http://schemas.openxmlformats.org/officeDocument/2006/relationships" id="418" r:id="Rdb71e4cc6e7f4a77"/>
    <p:sldId xmlns:r="http://schemas.openxmlformats.org/officeDocument/2006/relationships" id="419" r:id="R91714da78ba042db"/>
    <p:sldId xmlns:r="http://schemas.openxmlformats.org/officeDocument/2006/relationships" id="420" r:id="R140de6b25cf445d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6c045f9437f4eca" /><Relationship Type="http://schemas.openxmlformats.org/officeDocument/2006/relationships/slideMaster" Target="/ppt/slideMasters/slideMaster1.xml" Id="R63fd7884b6174632" /><Relationship Type="http://schemas.openxmlformats.org/officeDocument/2006/relationships/notesMaster" Target="/ppt/notesMasters/notesMaster1.xml" Id="Ra059df3fae134efa" /><Relationship Type="http://schemas.openxmlformats.org/officeDocument/2006/relationships/presProps" Target="/ppt/presProps.xml" Id="Ra0257ecb342149e5" /><Relationship Type="http://schemas.openxmlformats.org/officeDocument/2006/relationships/tableStyles" Target="/ppt/tableStyles.xml" Id="Rbe30d846cfd745b1" /><Relationship Type="http://schemas.openxmlformats.org/officeDocument/2006/relationships/slide" Target="/ppt/slides/slide1.xml" Id="R5028f6c0feca4f3d" /><Relationship Type="http://schemas.openxmlformats.org/officeDocument/2006/relationships/slide" Target="/ppt/slides/slide2.xml" Id="Re0e9b9d4903640bc" /><Relationship Type="http://schemas.openxmlformats.org/officeDocument/2006/relationships/slide" Target="/ppt/slides/slide3.xml" Id="Rbb5fece5f5564133" /><Relationship Type="http://schemas.openxmlformats.org/officeDocument/2006/relationships/slide" Target="/ppt/slides/slide4.xml" Id="Ra8f827cf6962402c" /><Relationship Type="http://schemas.openxmlformats.org/officeDocument/2006/relationships/slide" Target="/ppt/slides/slide5.xml" Id="Rd86ea7308225444b" /><Relationship Type="http://schemas.openxmlformats.org/officeDocument/2006/relationships/slide" Target="/ppt/slides/slide6.xml" Id="R244901f6675e4b3e" /><Relationship Type="http://schemas.openxmlformats.org/officeDocument/2006/relationships/slide" Target="/ppt/slides/slide7.xml" Id="Rd529f9a08811472d" /><Relationship Type="http://schemas.openxmlformats.org/officeDocument/2006/relationships/slide" Target="/ppt/slides/slide8.xml" Id="R3417d6a4d2494e6d" /><Relationship Type="http://schemas.openxmlformats.org/officeDocument/2006/relationships/slide" Target="/ppt/slides/slide9.xml" Id="Re60f1f8de8254018" /><Relationship Type="http://schemas.openxmlformats.org/officeDocument/2006/relationships/slide" Target="/ppt/slides/slide10.xml" Id="R2b769719b9314b41" /><Relationship Type="http://schemas.openxmlformats.org/officeDocument/2006/relationships/slide" Target="/ppt/slides/slide11.xml" Id="Raee6416fb8684295" /><Relationship Type="http://schemas.openxmlformats.org/officeDocument/2006/relationships/slide" Target="/ppt/slides/slide12.xml" Id="Rd522ecfa39184364" /><Relationship Type="http://schemas.openxmlformats.org/officeDocument/2006/relationships/slide" Target="/ppt/slides/slide13.xml" Id="R5198e8c8af554e5c" /><Relationship Type="http://schemas.openxmlformats.org/officeDocument/2006/relationships/slide" Target="/ppt/slides/slide14.xml" Id="Rd1da626ef7704c01" /><Relationship Type="http://schemas.openxmlformats.org/officeDocument/2006/relationships/slide" Target="/ppt/slides/slide15.xml" Id="Rb76d5ea733874acd" /><Relationship Type="http://schemas.openxmlformats.org/officeDocument/2006/relationships/slide" Target="/ppt/slides/slide16.xml" Id="R63b11bc15eda42a5" /><Relationship Type="http://schemas.openxmlformats.org/officeDocument/2006/relationships/slide" Target="/ppt/slides/slide17.xml" Id="R3b704133101f47bb" /><Relationship Type="http://schemas.openxmlformats.org/officeDocument/2006/relationships/slide" Target="/ppt/slides/slide18.xml" Id="R04536f31c68a4efc" /><Relationship Type="http://schemas.openxmlformats.org/officeDocument/2006/relationships/slide" Target="/ppt/slides/slide19.xml" Id="R3eb37f065aa34dab" /><Relationship Type="http://schemas.openxmlformats.org/officeDocument/2006/relationships/slide" Target="/ppt/slides/slide20.xml" Id="R036b0f028317449b" /><Relationship Type="http://schemas.openxmlformats.org/officeDocument/2006/relationships/slide" Target="/ppt/slides/slide21.xml" Id="R0f8fc9a2dbb84590" /><Relationship Type="http://schemas.openxmlformats.org/officeDocument/2006/relationships/slide" Target="/ppt/slides/slide22.xml" Id="R64179ce0678e4ac1" /><Relationship Type="http://schemas.openxmlformats.org/officeDocument/2006/relationships/slide" Target="/ppt/slides/slide23.xml" Id="R10053effdef74cb7" /><Relationship Type="http://schemas.openxmlformats.org/officeDocument/2006/relationships/slide" Target="/ppt/slides/slide24.xml" Id="R367055a2f77b4f16" /><Relationship Type="http://schemas.openxmlformats.org/officeDocument/2006/relationships/slide" Target="/ppt/slides/slide25.xml" Id="R0b1ff1ebfc574a2f" /><Relationship Type="http://schemas.openxmlformats.org/officeDocument/2006/relationships/slide" Target="/ppt/slides/slide26.xml" Id="Rf7396321ceea426a" /><Relationship Type="http://schemas.openxmlformats.org/officeDocument/2006/relationships/slide" Target="/ppt/slides/slide27.xml" Id="R895b9d40d4974f2b" /><Relationship Type="http://schemas.openxmlformats.org/officeDocument/2006/relationships/slide" Target="/ppt/slides/slide28.xml" Id="R903f32e8ce1f4bb1" /><Relationship Type="http://schemas.openxmlformats.org/officeDocument/2006/relationships/slide" Target="/ppt/slides/slide29.xml" Id="R84ed2a3defd647d9" /><Relationship Type="http://schemas.openxmlformats.org/officeDocument/2006/relationships/slide" Target="/ppt/slides/slide30.xml" Id="Ree629f365e6a4dae" /><Relationship Type="http://schemas.openxmlformats.org/officeDocument/2006/relationships/slide" Target="/ppt/slides/slide31.xml" Id="R234345507a9e4a63" /><Relationship Type="http://schemas.openxmlformats.org/officeDocument/2006/relationships/slide" Target="/ppt/slides/slide32.xml" Id="Rd545027f732b4826" /><Relationship Type="http://schemas.openxmlformats.org/officeDocument/2006/relationships/slide" Target="/ppt/slides/slide33.xml" Id="R521fe9858a144c44" /><Relationship Type="http://schemas.openxmlformats.org/officeDocument/2006/relationships/slide" Target="/ppt/slides/slide34.xml" Id="Rffc9ea49fd0a4d60" /><Relationship Type="http://schemas.openxmlformats.org/officeDocument/2006/relationships/slide" Target="/ppt/slides/slide35.xml" Id="R6b69241e35b644da" /><Relationship Type="http://schemas.openxmlformats.org/officeDocument/2006/relationships/slide" Target="/ppt/slides/slide36.xml" Id="Rb201073eebee4cdd" /><Relationship Type="http://schemas.openxmlformats.org/officeDocument/2006/relationships/slide" Target="/ppt/slides/slide37.xml" Id="Rf17988759a7e4735" /><Relationship Type="http://schemas.openxmlformats.org/officeDocument/2006/relationships/slide" Target="/ppt/slides/slide38.xml" Id="R4e5a6f4e57dc470e" /><Relationship Type="http://schemas.openxmlformats.org/officeDocument/2006/relationships/slide" Target="/ppt/slides/slide39.xml" Id="R725ad20ca55248df" /><Relationship Type="http://schemas.openxmlformats.org/officeDocument/2006/relationships/slide" Target="/ppt/slides/slide40.xml" Id="R88fb30b910984ed2" /><Relationship Type="http://schemas.openxmlformats.org/officeDocument/2006/relationships/slide" Target="/ppt/slides/slide41.xml" Id="R201f5f596e3c4b26" /><Relationship Type="http://schemas.openxmlformats.org/officeDocument/2006/relationships/slide" Target="/ppt/slides/slide42.xml" Id="R5ca4293de1ac4d7d" /><Relationship Type="http://schemas.openxmlformats.org/officeDocument/2006/relationships/slide" Target="/ppt/slides/slide43.xml" Id="Raa47ece40cd646ce" /><Relationship Type="http://schemas.openxmlformats.org/officeDocument/2006/relationships/slide" Target="/ppt/slides/slide44.xml" Id="R069288a71efb406f" /><Relationship Type="http://schemas.openxmlformats.org/officeDocument/2006/relationships/slide" Target="/ppt/slides/slide45.xml" Id="Rb087135a5fd94731" /><Relationship Type="http://schemas.openxmlformats.org/officeDocument/2006/relationships/slide" Target="/ppt/slides/slide46.xml" Id="R8bfa64d8036e4dbf" /><Relationship Type="http://schemas.openxmlformats.org/officeDocument/2006/relationships/slide" Target="/ppt/slides/slide47.xml" Id="R6e42742209f2427b" /><Relationship Type="http://schemas.openxmlformats.org/officeDocument/2006/relationships/slide" Target="/ppt/slides/slide48.xml" Id="R5da8e4a2de3145df" /><Relationship Type="http://schemas.openxmlformats.org/officeDocument/2006/relationships/slide" Target="/ppt/slides/slide49.xml" Id="Rcac9cb3f7c4d48ca" /><Relationship Type="http://schemas.openxmlformats.org/officeDocument/2006/relationships/slide" Target="/ppt/slides/slide50.xml" Id="Ra51f7302433f4af6" /><Relationship Type="http://schemas.openxmlformats.org/officeDocument/2006/relationships/slide" Target="/ppt/slides/slide51.xml" Id="Rc93523348f304e5e" /><Relationship Type="http://schemas.openxmlformats.org/officeDocument/2006/relationships/slide" Target="/ppt/slides/slide52.xml" Id="Rbf787c7d69414c2d" /><Relationship Type="http://schemas.openxmlformats.org/officeDocument/2006/relationships/slide" Target="/ppt/slides/slide53.xml" Id="R8de721bd3e984397" /><Relationship Type="http://schemas.openxmlformats.org/officeDocument/2006/relationships/slide" Target="/ppt/slides/slide54.xml" Id="R32bb078b57f14f7a" /><Relationship Type="http://schemas.openxmlformats.org/officeDocument/2006/relationships/slide" Target="/ppt/slides/slide55.xml" Id="R0a011eafbf3c4250" /><Relationship Type="http://schemas.openxmlformats.org/officeDocument/2006/relationships/slide" Target="/ppt/slides/slide56.xml" Id="R765c26669aeb4a19" /><Relationship Type="http://schemas.openxmlformats.org/officeDocument/2006/relationships/slide" Target="/ppt/slides/slide57.xml" Id="R1cc0cfc4447048aa" /><Relationship Type="http://schemas.openxmlformats.org/officeDocument/2006/relationships/slide" Target="/ppt/slides/slide58.xml" Id="R6be388329e9f44d8" /><Relationship Type="http://schemas.openxmlformats.org/officeDocument/2006/relationships/slide" Target="/ppt/slides/slide59.xml" Id="R2916751c0b4d4de0" /><Relationship Type="http://schemas.openxmlformats.org/officeDocument/2006/relationships/slide" Target="/ppt/slides/slide60.xml" Id="R927e503e4fb04604" /><Relationship Type="http://schemas.openxmlformats.org/officeDocument/2006/relationships/slide" Target="/ppt/slides/slide61.xml" Id="R39e41b49fd2c421e" /><Relationship Type="http://schemas.openxmlformats.org/officeDocument/2006/relationships/slide" Target="/ppt/slides/slide62.xml" Id="Reb8c7358ed944b60" /><Relationship Type="http://schemas.openxmlformats.org/officeDocument/2006/relationships/slide" Target="/ppt/slides/slide63.xml" Id="Rdfb83e12b6734b4f" /><Relationship Type="http://schemas.openxmlformats.org/officeDocument/2006/relationships/slide" Target="/ppt/slides/slide64.xml" Id="Rf19f19fb22f1487c" /><Relationship Type="http://schemas.openxmlformats.org/officeDocument/2006/relationships/slide" Target="/ppt/slides/slide65.xml" Id="R9d3a475ef2bb4bfb" /><Relationship Type="http://schemas.openxmlformats.org/officeDocument/2006/relationships/slide" Target="/ppt/slides/slide66.xml" Id="R76f49ff710964a36" /><Relationship Type="http://schemas.openxmlformats.org/officeDocument/2006/relationships/slide" Target="/ppt/slides/slide67.xml" Id="R5ee9cafa6bdd4361" /><Relationship Type="http://schemas.openxmlformats.org/officeDocument/2006/relationships/slide" Target="/ppt/slides/slide68.xml" Id="Rc38852688b3d4ef8" /><Relationship Type="http://schemas.openxmlformats.org/officeDocument/2006/relationships/slide" Target="/ppt/slides/slide69.xml" Id="R9b170d9f14064dde" /><Relationship Type="http://schemas.openxmlformats.org/officeDocument/2006/relationships/slide" Target="/ppt/slides/slide70.xml" Id="Ra07d7f5b9c6f4396" /><Relationship Type="http://schemas.openxmlformats.org/officeDocument/2006/relationships/slide" Target="/ppt/slides/slide71.xml" Id="Rfe3f787dbe2d4d36" /><Relationship Type="http://schemas.openxmlformats.org/officeDocument/2006/relationships/slide" Target="/ppt/slides/slide72.xml" Id="Rece31d3e436c4994" /><Relationship Type="http://schemas.openxmlformats.org/officeDocument/2006/relationships/slide" Target="/ppt/slides/slide73.xml" Id="Rd1229714377c47a2" /><Relationship Type="http://schemas.openxmlformats.org/officeDocument/2006/relationships/slide" Target="/ppt/slides/slide74.xml" Id="R9eeb7e2618a54eaf" /><Relationship Type="http://schemas.openxmlformats.org/officeDocument/2006/relationships/slide" Target="/ppt/slides/slide75.xml" Id="Rfaa7219058584525" /><Relationship Type="http://schemas.openxmlformats.org/officeDocument/2006/relationships/slide" Target="/ppt/slides/slide76.xml" Id="R6364ab628dca48ae" /><Relationship Type="http://schemas.openxmlformats.org/officeDocument/2006/relationships/slide" Target="/ppt/slides/slide77.xml" Id="Redc2d7a2ca754e16" /><Relationship Type="http://schemas.openxmlformats.org/officeDocument/2006/relationships/slide" Target="/ppt/slides/slide78.xml" Id="Rec0c846230df4ada" /><Relationship Type="http://schemas.openxmlformats.org/officeDocument/2006/relationships/slide" Target="/ppt/slides/slide79.xml" Id="Rdd2e350c98f64ff1" /><Relationship Type="http://schemas.openxmlformats.org/officeDocument/2006/relationships/slide" Target="/ppt/slides/slide80.xml" Id="Rc005fb7e7a3747e5" /><Relationship Type="http://schemas.openxmlformats.org/officeDocument/2006/relationships/slide" Target="/ppt/slides/slide81.xml" Id="Rafc6cb124e3b48bb" /><Relationship Type="http://schemas.openxmlformats.org/officeDocument/2006/relationships/slide" Target="/ppt/slides/slide82.xml" Id="Rfb95110d22594f08" /><Relationship Type="http://schemas.openxmlformats.org/officeDocument/2006/relationships/slide" Target="/ppt/slides/slide83.xml" Id="R566a7c7418dc4302" /><Relationship Type="http://schemas.openxmlformats.org/officeDocument/2006/relationships/slide" Target="/ppt/slides/slide84.xml" Id="R229240dbef4844c5" /><Relationship Type="http://schemas.openxmlformats.org/officeDocument/2006/relationships/slide" Target="/ppt/slides/slide85.xml" Id="R4111a374fd074292" /><Relationship Type="http://schemas.openxmlformats.org/officeDocument/2006/relationships/slide" Target="/ppt/slides/slide86.xml" Id="Ra6cba9aa372a4021" /><Relationship Type="http://schemas.openxmlformats.org/officeDocument/2006/relationships/slide" Target="/ppt/slides/slide87.xml" Id="R924220f1ab1a4f37" /><Relationship Type="http://schemas.openxmlformats.org/officeDocument/2006/relationships/slide" Target="/ppt/slides/slide88.xml" Id="R496826537d8841bc" /><Relationship Type="http://schemas.openxmlformats.org/officeDocument/2006/relationships/slide" Target="/ppt/slides/slide89.xml" Id="Rcb3a0cd530b14afb" /><Relationship Type="http://schemas.openxmlformats.org/officeDocument/2006/relationships/slide" Target="/ppt/slides/slide90.xml" Id="R49c0a439344f4199" /><Relationship Type="http://schemas.openxmlformats.org/officeDocument/2006/relationships/slide" Target="/ppt/slides/slide91.xml" Id="Ra1f8820f06184f53" /><Relationship Type="http://schemas.openxmlformats.org/officeDocument/2006/relationships/slide" Target="/ppt/slides/slide92.xml" Id="Rdb421dc6b06241b0" /><Relationship Type="http://schemas.openxmlformats.org/officeDocument/2006/relationships/slide" Target="/ppt/slides/slide93.xml" Id="R6ccacde306ec43bd" /><Relationship Type="http://schemas.openxmlformats.org/officeDocument/2006/relationships/slide" Target="/ppt/slides/slide94.xml" Id="Rd0439bbbe1f94e13" /><Relationship Type="http://schemas.openxmlformats.org/officeDocument/2006/relationships/slide" Target="/ppt/slides/slide95.xml" Id="R142c7e4e15a74590" /><Relationship Type="http://schemas.openxmlformats.org/officeDocument/2006/relationships/slide" Target="/ppt/slides/slide96.xml" Id="R6a66ddb1683542d1" /><Relationship Type="http://schemas.openxmlformats.org/officeDocument/2006/relationships/slide" Target="/ppt/slides/slide97.xml" Id="R982bfe7814c948f2" /><Relationship Type="http://schemas.openxmlformats.org/officeDocument/2006/relationships/slide" Target="/ppt/slides/slide98.xml" Id="R7e8fc0182de64ca6" /><Relationship Type="http://schemas.openxmlformats.org/officeDocument/2006/relationships/slide" Target="/ppt/slides/slide99.xml" Id="R46adafbf1bf34343" /><Relationship Type="http://schemas.openxmlformats.org/officeDocument/2006/relationships/slide" Target="/ppt/slides/slide100.xml" Id="R286ccce907a64b10" /><Relationship Type="http://schemas.openxmlformats.org/officeDocument/2006/relationships/slide" Target="/ppt/slides/slide101.xml" Id="R71ffb16aecd74bed" /><Relationship Type="http://schemas.openxmlformats.org/officeDocument/2006/relationships/slide" Target="/ppt/slides/slide102.xml" Id="R60f9519528e844bf" /><Relationship Type="http://schemas.openxmlformats.org/officeDocument/2006/relationships/slide" Target="/ppt/slides/slide103.xml" Id="R6ac3fbd7c8d44bd4" /><Relationship Type="http://schemas.openxmlformats.org/officeDocument/2006/relationships/slide" Target="/ppt/slides/slide104.xml" Id="R6f16559a5eed4ed9" /><Relationship Type="http://schemas.openxmlformats.org/officeDocument/2006/relationships/slide" Target="/ppt/slides/slide105.xml" Id="Ra815ca712e0b4f3d" /><Relationship Type="http://schemas.openxmlformats.org/officeDocument/2006/relationships/slide" Target="/ppt/slides/slide106.xml" Id="R6498f24485a6414c" /><Relationship Type="http://schemas.openxmlformats.org/officeDocument/2006/relationships/slide" Target="/ppt/slides/slide107.xml" Id="Rb4cd4f0804be4d53" /><Relationship Type="http://schemas.openxmlformats.org/officeDocument/2006/relationships/slide" Target="/ppt/slides/slide108.xml" Id="R77338b4d30814654" /><Relationship Type="http://schemas.openxmlformats.org/officeDocument/2006/relationships/slide" Target="/ppt/slides/slide109.xml" Id="R44a64b5f0dff4fac" /><Relationship Type="http://schemas.openxmlformats.org/officeDocument/2006/relationships/slide" Target="/ppt/slides/slide110.xml" Id="R1d93a308e4474977" /><Relationship Type="http://schemas.openxmlformats.org/officeDocument/2006/relationships/slide" Target="/ppt/slides/slide111.xml" Id="R49e92f5c340544aa" /><Relationship Type="http://schemas.openxmlformats.org/officeDocument/2006/relationships/slide" Target="/ppt/slides/slide112.xml" Id="R0cecf1cd81db4ecc" /><Relationship Type="http://schemas.openxmlformats.org/officeDocument/2006/relationships/slide" Target="/ppt/slides/slide113.xml" Id="R3dc43a27d2ad4b9d" /><Relationship Type="http://schemas.openxmlformats.org/officeDocument/2006/relationships/slide" Target="/ppt/slides/slide114.xml" Id="R2363ee8c6ca54ef0" /><Relationship Type="http://schemas.openxmlformats.org/officeDocument/2006/relationships/slide" Target="/ppt/slides/slide115.xml" Id="R5480c6ab1b734d9b" /><Relationship Type="http://schemas.openxmlformats.org/officeDocument/2006/relationships/slide" Target="/ppt/slides/slide116.xml" Id="R87169d87cf8441db" /><Relationship Type="http://schemas.openxmlformats.org/officeDocument/2006/relationships/slide" Target="/ppt/slides/slide117.xml" Id="Ra328fd5a297345e1" /><Relationship Type="http://schemas.openxmlformats.org/officeDocument/2006/relationships/slide" Target="/ppt/slides/slide118.xml" Id="Rb953d691580249b5" /><Relationship Type="http://schemas.openxmlformats.org/officeDocument/2006/relationships/slide" Target="/ppt/slides/slide119.xml" Id="Rb51320c445d14096" /><Relationship Type="http://schemas.openxmlformats.org/officeDocument/2006/relationships/slide" Target="/ppt/slides/slide120.xml" Id="R1f59315f25df4651" /><Relationship Type="http://schemas.openxmlformats.org/officeDocument/2006/relationships/slide" Target="/ppt/slides/slide121.xml" Id="R4426930a0a7042d5" /><Relationship Type="http://schemas.openxmlformats.org/officeDocument/2006/relationships/slide" Target="/ppt/slides/slide122.xml" Id="R6e456baed4224f5f" /><Relationship Type="http://schemas.openxmlformats.org/officeDocument/2006/relationships/slide" Target="/ppt/slides/slide123.xml" Id="R261b4ea9bac74f50" /><Relationship Type="http://schemas.openxmlformats.org/officeDocument/2006/relationships/slide" Target="/ppt/slides/slide124.xml" Id="R31abe37904964f4b" /><Relationship Type="http://schemas.openxmlformats.org/officeDocument/2006/relationships/slide" Target="/ppt/slides/slide125.xml" Id="R4065024ab9a8443d" /><Relationship Type="http://schemas.openxmlformats.org/officeDocument/2006/relationships/slide" Target="/ppt/slides/slide126.xml" Id="Rb747fd97b41f48d8" /><Relationship Type="http://schemas.openxmlformats.org/officeDocument/2006/relationships/slide" Target="/ppt/slides/slide127.xml" Id="R08cb576b9f844c20" /><Relationship Type="http://schemas.openxmlformats.org/officeDocument/2006/relationships/slide" Target="/ppt/slides/slide128.xml" Id="R0415410c6c744e9c" /><Relationship Type="http://schemas.openxmlformats.org/officeDocument/2006/relationships/slide" Target="/ppt/slides/slide129.xml" Id="Ra6322ee6ba1f43aa" /><Relationship Type="http://schemas.openxmlformats.org/officeDocument/2006/relationships/slide" Target="/ppt/slides/slide130.xml" Id="R4a0abe22aaa94662" /><Relationship Type="http://schemas.openxmlformats.org/officeDocument/2006/relationships/slide" Target="/ppt/slides/slide131.xml" Id="R81218f33ae9145de" /><Relationship Type="http://schemas.openxmlformats.org/officeDocument/2006/relationships/slide" Target="/ppt/slides/slide132.xml" Id="R92904db70cfe4ee2" /><Relationship Type="http://schemas.openxmlformats.org/officeDocument/2006/relationships/slide" Target="/ppt/slides/slide133.xml" Id="R5cf8ffe9ce2e4598" /><Relationship Type="http://schemas.openxmlformats.org/officeDocument/2006/relationships/slide" Target="/ppt/slides/slide134.xml" Id="Rf8b85cb20a13487b" /><Relationship Type="http://schemas.openxmlformats.org/officeDocument/2006/relationships/slide" Target="/ppt/slides/slide135.xml" Id="Re533b96013d14852" /><Relationship Type="http://schemas.openxmlformats.org/officeDocument/2006/relationships/slide" Target="/ppt/slides/slide136.xml" Id="Rb6344399ad2246ac" /><Relationship Type="http://schemas.openxmlformats.org/officeDocument/2006/relationships/slide" Target="/ppt/slides/slide137.xml" Id="R8a22f66a55584962" /><Relationship Type="http://schemas.openxmlformats.org/officeDocument/2006/relationships/slide" Target="/ppt/slides/slide138.xml" Id="R9dc08ca060d245f4" /><Relationship Type="http://schemas.openxmlformats.org/officeDocument/2006/relationships/slide" Target="/ppt/slides/slide139.xml" Id="Rea290e85ab8d43ea" /><Relationship Type="http://schemas.openxmlformats.org/officeDocument/2006/relationships/slide" Target="/ppt/slides/slide140.xml" Id="R0a218785c0c248ae" /><Relationship Type="http://schemas.openxmlformats.org/officeDocument/2006/relationships/slide" Target="/ppt/slides/slide141.xml" Id="R27c86ebc38594efc" /><Relationship Type="http://schemas.openxmlformats.org/officeDocument/2006/relationships/slide" Target="/ppt/slides/slide142.xml" Id="Rc268f4e704254527" /><Relationship Type="http://schemas.openxmlformats.org/officeDocument/2006/relationships/slide" Target="/ppt/slides/slide143.xml" Id="Rced6109e3de24a2b" /><Relationship Type="http://schemas.openxmlformats.org/officeDocument/2006/relationships/slide" Target="/ppt/slides/slide144.xml" Id="Rec7729f88177401f" /><Relationship Type="http://schemas.openxmlformats.org/officeDocument/2006/relationships/slide" Target="/ppt/slides/slide145.xml" Id="R3e9cfb764b7e4217" /><Relationship Type="http://schemas.openxmlformats.org/officeDocument/2006/relationships/slide" Target="/ppt/slides/slide146.xml" Id="Rc04659d51c2d4914" /><Relationship Type="http://schemas.openxmlformats.org/officeDocument/2006/relationships/slide" Target="/ppt/slides/slide147.xml" Id="R0cf9bcc1c1f847f5" /><Relationship Type="http://schemas.openxmlformats.org/officeDocument/2006/relationships/slide" Target="/ppt/slides/slide148.xml" Id="Rdbee4d4f24d34068" /><Relationship Type="http://schemas.openxmlformats.org/officeDocument/2006/relationships/slide" Target="/ppt/slides/slide149.xml" Id="R8acc4f0c94734754" /><Relationship Type="http://schemas.openxmlformats.org/officeDocument/2006/relationships/slide" Target="/ppt/slides/slide150.xml" Id="Rc3a8c78c096e4164" /><Relationship Type="http://schemas.openxmlformats.org/officeDocument/2006/relationships/slide" Target="/ppt/slides/slide151.xml" Id="R103091df31ad449c" /><Relationship Type="http://schemas.openxmlformats.org/officeDocument/2006/relationships/slide" Target="/ppt/slides/slide152.xml" Id="R569d039da99a47d9" /><Relationship Type="http://schemas.openxmlformats.org/officeDocument/2006/relationships/slide" Target="/ppt/slides/slide153.xml" Id="R97a18a1d4ef34ce2" /><Relationship Type="http://schemas.openxmlformats.org/officeDocument/2006/relationships/slide" Target="/ppt/slides/slide154.xml" Id="Rc6cade8c481c48f9" /><Relationship Type="http://schemas.openxmlformats.org/officeDocument/2006/relationships/slide" Target="/ppt/slides/slide155.xml" Id="Rae3fef4d5d5d4abe" /><Relationship Type="http://schemas.openxmlformats.org/officeDocument/2006/relationships/slide" Target="/ppt/slides/slide156.xml" Id="R18ce51c5334446e9" /><Relationship Type="http://schemas.openxmlformats.org/officeDocument/2006/relationships/slide" Target="/ppt/slides/slide157.xml" Id="R0b01d7ed4e884b15" /><Relationship Type="http://schemas.openxmlformats.org/officeDocument/2006/relationships/slide" Target="/ppt/slides/slide158.xml" Id="R9db45e0377994f5a" /><Relationship Type="http://schemas.openxmlformats.org/officeDocument/2006/relationships/slide" Target="/ppt/slides/slide159.xml" Id="R3392f116627949b5" /><Relationship Type="http://schemas.openxmlformats.org/officeDocument/2006/relationships/slide" Target="/ppt/slides/slide160.xml" Id="Rb5a917f31f1e4362" /><Relationship Type="http://schemas.openxmlformats.org/officeDocument/2006/relationships/slide" Target="/ppt/slides/slide161.xml" Id="R6953557ff96544da" /><Relationship Type="http://schemas.openxmlformats.org/officeDocument/2006/relationships/slide" Target="/ppt/slides/slide162.xml" Id="R8ddc6cc8448843ed" /><Relationship Type="http://schemas.openxmlformats.org/officeDocument/2006/relationships/slide" Target="/ppt/slides/slide163.xml" Id="Rdb71e4cc6e7f4a77" /><Relationship Type="http://schemas.openxmlformats.org/officeDocument/2006/relationships/slide" Target="/ppt/slides/slide164.xml" Id="R91714da78ba042db" /><Relationship Type="http://schemas.openxmlformats.org/officeDocument/2006/relationships/slide" Target="/ppt/slides/slide165.xml" Id="R140de6b25cf445d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1c377b4d8fb485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Pretendard"/>
        <a:ea typeface=""/>
        <a:cs typeface=""/>
      </a:majorFont>
      <a:minorFont>
        <a:latin typeface="Pretendar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b9ddd0422914157" /><Relationship Type="http://schemas.openxmlformats.org/officeDocument/2006/relationships/notesMaster" Target="/ppt/notesMasters/notesMaster1.xml" Id="R5bfbbd4639ce489e" /></Relationships>
</file>

<file path=ppt/notesSlides/_rels/notesSlide2.xml.rels>&#65279;<?xml version="1.0" encoding="utf-8"?><Relationships xmlns="http://schemas.openxmlformats.org/package/2006/relationships"><Relationship Type="http://schemas.openxmlformats.org/officeDocument/2006/relationships/slide" Target="/ppt/slides/slide2.xml" Id="Rb390d5805b1d4dd6" /><Relationship Type="http://schemas.openxmlformats.org/officeDocument/2006/relationships/notesMaster" Target="/ppt/notesMasters/notesMaster1.xml" Id="R9fbdac48721a419a" /></Relationships>
</file>

<file path=ppt/notesSlides/_rels/notesSlide3.xml.rels>&#65279;<?xml version="1.0" encoding="utf-8"?><Relationships xmlns="http://schemas.openxmlformats.org/package/2006/relationships"><Relationship Type="http://schemas.openxmlformats.org/officeDocument/2006/relationships/slide" Target="/ppt/slides/slide3.xml" Id="R8cb79637740040f1" /><Relationship Type="http://schemas.openxmlformats.org/officeDocument/2006/relationships/notesMaster" Target="/ppt/notesMasters/notesMaster1.xml" Id="R6202cf5042514781" /></Relationships>
</file>

<file path=ppt/notesSlides/_rels/notesSlide4.xml.rels>&#65279;<?xml version="1.0" encoding="utf-8"?><Relationships xmlns="http://schemas.openxmlformats.org/package/2006/relationships"><Relationship Type="http://schemas.openxmlformats.org/officeDocument/2006/relationships/slide" Target="/ppt/slides/slide4.xml" Id="R00abc23f5b9a44ed" /><Relationship Type="http://schemas.openxmlformats.org/officeDocument/2006/relationships/notesMaster" Target="/ppt/notesMasters/notesMaster1.xml" Id="R3beb32a69c284c9e" /></Relationships>
</file>

<file path=ppt/notesSlides/_rels/notesSlide5.xml.rels>&#65279;<?xml version="1.0" encoding="utf-8"?><Relationships xmlns="http://schemas.openxmlformats.org/package/2006/relationships"><Relationship Type="http://schemas.openxmlformats.org/officeDocument/2006/relationships/slide" Target="/ppt/slides/slide5.xml" Id="R05bd2f1e81034930" /><Relationship Type="http://schemas.openxmlformats.org/officeDocument/2006/relationships/notesMaster" Target="/ppt/notesMasters/notesMaster1.xml" Id="Rf0de321f10474869" /></Relationships>
</file>

<file path=ppt/notesSlides/_rels/notesSlide6.xml.rels>&#65279;<?xml version="1.0" encoding="utf-8"?><Relationships xmlns="http://schemas.openxmlformats.org/package/2006/relationships"><Relationship Type="http://schemas.openxmlformats.org/officeDocument/2006/relationships/slide" Target="/ppt/slides/slide6.xml" Id="R4ad3dde28f1a4dc8" /><Relationship Type="http://schemas.openxmlformats.org/officeDocument/2006/relationships/notesMaster" Target="/ppt/notesMasters/notesMaster1.xml" Id="R7c7f84818f83439c" /></Relationships>
</file>

<file path=ppt/notesSlides/_rels/notesSlide7.xml.rels>&#65279;<?xml version="1.0" encoding="utf-8"?><Relationships xmlns="http://schemas.openxmlformats.org/package/2006/relationships"><Relationship Type="http://schemas.openxmlformats.org/officeDocument/2006/relationships/slide" Target="/ppt/slides/slide7.xml" Id="R3aefa549c2f7441e" /><Relationship Type="http://schemas.openxmlformats.org/officeDocument/2006/relationships/notesMaster" Target="/ppt/notesMasters/notesMaster1.xml" Id="R8c2681aa73974c34" /></Relationships>
</file>

<file path=ppt/notesSlides/_rels/notesSlide8.xml.rels>&#65279;<?xml version="1.0" encoding="utf-8"?><Relationships xmlns="http://schemas.openxmlformats.org/package/2006/relationships"><Relationship Type="http://schemas.openxmlformats.org/officeDocument/2006/relationships/slide" Target="/ppt/slides/slide8.xml" Id="R22ba3b17ca5a47cd" /><Relationship Type="http://schemas.openxmlformats.org/officeDocument/2006/relationships/notesMaster" Target="/ppt/notesMasters/notesMaster1.xml" Id="R0e0488e6dc23463e" /></Relationships>
</file>

<file path=ppt/notesSlides/_rels/notesSlide9.xml.rels>&#65279;<?xml version="1.0" encoding="utf-8"?><Relationships xmlns="http://schemas.openxmlformats.org/package/2006/relationships"><Relationship Type="http://schemas.openxmlformats.org/officeDocument/2006/relationships/slide" Target="/ppt/slides/slide9.xml" Id="Ra655fbc8b65d4c9f" /><Relationship Type="http://schemas.openxmlformats.org/officeDocument/2006/relationships/notesMaster" Target="/ppt/notesMasters/notesMaster1.xml" Id="Re3a1c5d8ede8499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7f4a300e0dd491f" /><Relationship Type="http://schemas.openxmlformats.org/officeDocument/2006/relationships/notesMaster" Target="/ppt/notesMasters/notesMaster1.xml" Id="Rdfd5bbef52ec4d2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56495e764644be3" /><Relationship Type="http://schemas.openxmlformats.org/officeDocument/2006/relationships/notesMaster" Target="/ppt/notesMasters/notesMaster1.xml" Id="R045941e04bdf49e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5a182751bda4a54" /><Relationship Type="http://schemas.openxmlformats.org/officeDocument/2006/relationships/notesMaster" Target="/ppt/notesMasters/notesMaster1.xml" Id="Rcac7fc17bd0e40c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6c64d0e1ffd48af" /><Relationship Type="http://schemas.openxmlformats.org/officeDocument/2006/relationships/notesMaster" Target="/ppt/notesMasters/notesMaster1.xml" Id="R230a5d5c2c504b3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913ad07920f4cca" /><Relationship Type="http://schemas.openxmlformats.org/officeDocument/2006/relationships/notesMaster" Target="/ppt/notesMasters/notesMaster1.xml" Id="R76a79f6cb1a944e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293d820c141424a" /><Relationship Type="http://schemas.openxmlformats.org/officeDocument/2006/relationships/notesMaster" Target="/ppt/notesMasters/notesMaster1.xml" Id="R308108b9bdbc4a8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39891731474439d" /><Relationship Type="http://schemas.openxmlformats.org/officeDocument/2006/relationships/notesMaster" Target="/ppt/notesMasters/notesMaster1.xml" Id="R28a7fa24cea6476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02f9ab3b4d6430d" /><Relationship Type="http://schemas.openxmlformats.org/officeDocument/2006/relationships/notesMaster" Target="/ppt/notesMasters/notesMaster1.xml" Id="R29c7c6c56ab7436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e14750f56a841b4" /><Relationship Type="http://schemas.openxmlformats.org/officeDocument/2006/relationships/notesMaster" Target="/ppt/notesMasters/notesMaster1.xml" Id="R0d84ad2597154a3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a40962baad347ec" /><Relationship Type="http://schemas.openxmlformats.org/officeDocument/2006/relationships/notesMaster" Target="/ppt/notesMasters/notesMaster1.xml" Id="R0a76055bc3c04dc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d1701d64d5847be" /><Relationship Type="http://schemas.openxmlformats.org/officeDocument/2006/relationships/notesMaster" Target="/ppt/notesMasters/notesMaster1.xml" Id="R419db0706f08444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398913b3e9b4e92" /><Relationship Type="http://schemas.openxmlformats.org/officeDocument/2006/relationships/notesMaster" Target="/ppt/notesMasters/notesMaster1.xml" Id="R369b776813204e6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ba292de1edd47f0" /><Relationship Type="http://schemas.openxmlformats.org/officeDocument/2006/relationships/notesMaster" Target="/ppt/notesMasters/notesMaster1.xml" Id="R04c74fc7bbed492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a872f45ec884cfc" /><Relationship Type="http://schemas.openxmlformats.org/officeDocument/2006/relationships/notesMaster" Target="/ppt/notesMasters/notesMaster1.xml" Id="R27783d001a78487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75a4bdc03b24719" /><Relationship Type="http://schemas.openxmlformats.org/officeDocument/2006/relationships/notesMaster" Target="/ppt/notesMasters/notesMaster1.xml" Id="R34eec03e1dbc47a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a1469becc8e4bc1" /><Relationship Type="http://schemas.openxmlformats.org/officeDocument/2006/relationships/notesMaster" Target="/ppt/notesMasters/notesMaster1.xml" Id="Rc0057f20c2314f2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0aca2c9613147dd" /><Relationship Type="http://schemas.openxmlformats.org/officeDocument/2006/relationships/notesMaster" Target="/ppt/notesMasters/notesMaster1.xml" Id="R188880366a92446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f386387ea7848c5" /><Relationship Type="http://schemas.openxmlformats.org/officeDocument/2006/relationships/notesMaster" Target="/ppt/notesMasters/notesMaster1.xml" Id="R56c28bad2f844ae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2f83b3361b5451f" /><Relationship Type="http://schemas.openxmlformats.org/officeDocument/2006/relationships/notesMaster" Target="/ppt/notesMasters/notesMaster1.xml" Id="R97f7664a22974ee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f1893d1a30d486d" /><Relationship Type="http://schemas.openxmlformats.org/officeDocument/2006/relationships/notesMaster" Target="/ppt/notesMasters/notesMaster1.xml" Id="R227ef7211f3d483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d8dc00fa77c4e46" /><Relationship Type="http://schemas.openxmlformats.org/officeDocument/2006/relationships/notesMaster" Target="/ppt/notesMasters/notesMaster1.xml" Id="R26dac7ee686948d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86e763bc7c34b80" /><Relationship Type="http://schemas.openxmlformats.org/officeDocument/2006/relationships/notesMaster" Target="/ppt/notesMasters/notesMaster1.xml" Id="Rcc4185eb89db462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663e6b116364699" /><Relationship Type="http://schemas.openxmlformats.org/officeDocument/2006/relationships/notesMaster" Target="/ppt/notesMasters/notesMaster1.xml" Id="R85f7b52bd4624da6"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39788bff30e412d" /><Relationship Type="http://schemas.openxmlformats.org/officeDocument/2006/relationships/notesMaster" Target="/ppt/notesMasters/notesMaster1.xml" Id="R9648cd1e89904dec"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b16713180df448d5" /><Relationship Type="http://schemas.openxmlformats.org/officeDocument/2006/relationships/notesMaster" Target="/ppt/notesMasters/notesMaster1.xml" Id="R81a8c0f0abfb415f"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d12df1cbeb34551" /><Relationship Type="http://schemas.openxmlformats.org/officeDocument/2006/relationships/notesMaster" Target="/ppt/notesMasters/notesMaster1.xml" Id="Rfddbc1d534484bd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caf1a28020bb4cd0" /><Relationship Type="http://schemas.openxmlformats.org/officeDocument/2006/relationships/notesMaster" Target="/ppt/notesMasters/notesMaster1.xml" Id="R4bbc4db3b2b74f1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fde5a7ddc214ccc" /><Relationship Type="http://schemas.openxmlformats.org/officeDocument/2006/relationships/notesMaster" Target="/ppt/notesMasters/notesMaster1.xml" Id="R9e3c0dc7d92e4960"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ea90030ba64749c9" /><Relationship Type="http://schemas.openxmlformats.org/officeDocument/2006/relationships/notesMaster" Target="/ppt/notesMasters/notesMaster1.xml" Id="Rdf08dc1958a34168"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18a1924c0c2e41b5" /><Relationship Type="http://schemas.openxmlformats.org/officeDocument/2006/relationships/notesMaster" Target="/ppt/notesMasters/notesMaster1.xml" Id="Rcebdb465adfa4035"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6328f2ab2d0444d" /><Relationship Type="http://schemas.openxmlformats.org/officeDocument/2006/relationships/notesMaster" Target="/ppt/notesMasters/notesMaster1.xml" Id="R6f3aadd2e8d741be"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98ab86abb5a427e" /><Relationship Type="http://schemas.openxmlformats.org/officeDocument/2006/relationships/notesMaster" Target="/ppt/notesMasters/notesMaster1.xml" Id="R90f6f5ca13384ed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cd44cde5bae54ae8" /><Relationship Type="http://schemas.openxmlformats.org/officeDocument/2006/relationships/notesMaster" Target="/ppt/notesMasters/notesMaster1.xml" Id="Rdd7e873cdea14f3a"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3741f703f45f42db" /><Relationship Type="http://schemas.openxmlformats.org/officeDocument/2006/relationships/notesMaster" Target="/ppt/notesMasters/notesMaster1.xml" Id="Rb2da1d38a3c64989"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c1631a83c1b9459a" /><Relationship Type="http://schemas.openxmlformats.org/officeDocument/2006/relationships/notesMaster" Target="/ppt/notesMasters/notesMaster1.xml" Id="R5b2eed60bbf2449e"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b647531145d46d8" /><Relationship Type="http://schemas.openxmlformats.org/officeDocument/2006/relationships/notesMaster" Target="/ppt/notesMasters/notesMaster1.xml" Id="R4fc11154298a4f3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7c6923ee2d8c49b3" /><Relationship Type="http://schemas.openxmlformats.org/officeDocument/2006/relationships/notesMaster" Target="/ppt/notesMasters/notesMaster1.xml" Id="Rfe87eca5bb8343b5"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e1c26aac5c8a41aa" /><Relationship Type="http://schemas.openxmlformats.org/officeDocument/2006/relationships/notesMaster" Target="/ppt/notesMasters/notesMaster1.xml" Id="R4063ab24b668419a"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0bdf34e8d6074462" /><Relationship Type="http://schemas.openxmlformats.org/officeDocument/2006/relationships/notesMaster" Target="/ppt/notesMasters/notesMaster1.xml" Id="R56fb3ab5005b4072"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ea5fee0bf217479f" /><Relationship Type="http://schemas.openxmlformats.org/officeDocument/2006/relationships/notesMaster" Target="/ppt/notesMasters/notesMaster1.xml" Id="Rd438ab7f3ad6488a"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93ba19874f644ed5" /><Relationship Type="http://schemas.openxmlformats.org/officeDocument/2006/relationships/notesMaster" Target="/ppt/notesMasters/notesMaster1.xml" Id="Rc06405f9b492484a"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869f7d359cb94cbd" /><Relationship Type="http://schemas.openxmlformats.org/officeDocument/2006/relationships/notesMaster" Target="/ppt/notesMasters/notesMaster1.xml" Id="Rbe91766d63b24e3c"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6209a5dd9ece467a" /><Relationship Type="http://schemas.openxmlformats.org/officeDocument/2006/relationships/notesMaster" Target="/ppt/notesMasters/notesMaster1.xml" Id="Rcdc23058268d4b65"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b6c7ea81c7a341f2" /><Relationship Type="http://schemas.openxmlformats.org/officeDocument/2006/relationships/notesMaster" Target="/ppt/notesMasters/notesMaster1.xml" Id="R5fb7d26d85c3412f"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931ca84bc1ec4be5" /><Relationship Type="http://schemas.openxmlformats.org/officeDocument/2006/relationships/notesMaster" Target="/ppt/notesMasters/notesMaster1.xml" Id="Rdedf7b1fd85945aa"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41830251da744321" /><Relationship Type="http://schemas.openxmlformats.org/officeDocument/2006/relationships/notesMaster" Target="/ppt/notesMasters/notesMaster1.xml" Id="R32917a55d8ea49c1"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ebef7e5906894a5a" /><Relationship Type="http://schemas.openxmlformats.org/officeDocument/2006/relationships/notesMaster" Target="/ppt/notesMasters/notesMaster1.xml" Id="Rdb08b96a9c0544aa"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a888179f6f17450d" /><Relationship Type="http://schemas.openxmlformats.org/officeDocument/2006/relationships/notesMaster" Target="/ppt/notesMasters/notesMaster1.xml" Id="R16e26130e14147ff"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6d475d4274d64a4d" /><Relationship Type="http://schemas.openxmlformats.org/officeDocument/2006/relationships/notesMaster" Target="/ppt/notesMasters/notesMaster1.xml" Id="R9354afd4ed214143"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16ba2a5991e046ef" /><Relationship Type="http://schemas.openxmlformats.org/officeDocument/2006/relationships/notesMaster" Target="/ppt/notesMasters/notesMaster1.xml" Id="R52ff1615ed6d4170"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743232405b584adc" /><Relationship Type="http://schemas.openxmlformats.org/officeDocument/2006/relationships/notesMaster" Target="/ppt/notesMasters/notesMaster1.xml" Id="R7cebe94f3cea4a7b"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fc48f070b88546d2" /><Relationship Type="http://schemas.openxmlformats.org/officeDocument/2006/relationships/notesMaster" Target="/ppt/notesMasters/notesMaster1.xml" Id="Rad932b8849a04a80"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5268f232cd834c79" /><Relationship Type="http://schemas.openxmlformats.org/officeDocument/2006/relationships/notesMaster" Target="/ppt/notesMasters/notesMaster1.xml" Id="R3c65daa605fb41e7"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e11bd7a413494548" /><Relationship Type="http://schemas.openxmlformats.org/officeDocument/2006/relationships/notesMaster" Target="/ppt/notesMasters/notesMaster1.xml" Id="R760275d7f4c34917"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256d3d1451214602" /><Relationship Type="http://schemas.openxmlformats.org/officeDocument/2006/relationships/notesMaster" Target="/ppt/notesMasters/notesMaster1.xml" Id="R9f287e57a92948a3"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d736bd4c7c3e4ed1" /><Relationship Type="http://schemas.openxmlformats.org/officeDocument/2006/relationships/notesMaster" Target="/ppt/notesMasters/notesMaster1.xml" Id="Re6f4277c03ac4b03"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4f23bf816c8845a2" /><Relationship Type="http://schemas.openxmlformats.org/officeDocument/2006/relationships/notesMaster" Target="/ppt/notesMasters/notesMaster1.xml" Id="Rfd93efdcf2cb41c2"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a45ecab0874e4cab" /><Relationship Type="http://schemas.openxmlformats.org/officeDocument/2006/relationships/notesMaster" Target="/ppt/notesMasters/notesMaster1.xml" Id="R520bd262b3a142a7"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095d5525c1ab4264" /><Relationship Type="http://schemas.openxmlformats.org/officeDocument/2006/relationships/notesMaster" Target="/ppt/notesMasters/notesMaster1.xml" Id="R6a80e0151f7046a9"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b51456fed59c45d6" /><Relationship Type="http://schemas.openxmlformats.org/officeDocument/2006/relationships/notesMaster" Target="/ppt/notesMasters/notesMaster1.xml" Id="Rb6a5eda042784eac"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409a53ccf747411c" /><Relationship Type="http://schemas.openxmlformats.org/officeDocument/2006/relationships/notesMaster" Target="/ppt/notesMasters/notesMaster1.xml" Id="Ra5b0f763fc3047f8"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b3b3b137f55d480e" /><Relationship Type="http://schemas.openxmlformats.org/officeDocument/2006/relationships/notesMaster" Target="/ppt/notesMasters/notesMaster1.xml" Id="Ra0a8f36dc8b74405"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985b63a37e074169" /><Relationship Type="http://schemas.openxmlformats.org/officeDocument/2006/relationships/notesMaster" Target="/ppt/notesMasters/notesMaster1.xml" Id="R06e5b32f3ff346d8"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e75e80dc03cf47e0" /><Relationship Type="http://schemas.openxmlformats.org/officeDocument/2006/relationships/notesMaster" Target="/ppt/notesMasters/notesMaster1.xml" Id="R375994216daf450a"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c41168d008444c16" /><Relationship Type="http://schemas.openxmlformats.org/officeDocument/2006/relationships/notesMaster" Target="/ppt/notesMasters/notesMaster1.xml" Id="R02b25abfd0724bce"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afcd19061cbc4eb1" /><Relationship Type="http://schemas.openxmlformats.org/officeDocument/2006/relationships/notesMaster" Target="/ppt/notesMasters/notesMaster1.xml" Id="R07c875ad892645a7"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250c85e524214982" /><Relationship Type="http://schemas.openxmlformats.org/officeDocument/2006/relationships/notesMaster" Target="/ppt/notesMasters/notesMaster1.xml" Id="R3517c0e14c4844f7"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fbeb1129ed2641c6" /><Relationship Type="http://schemas.openxmlformats.org/officeDocument/2006/relationships/notesMaster" Target="/ppt/notesMasters/notesMaster1.xml" Id="R4a1a6f1018be4928"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f5921d24b637420e" /><Relationship Type="http://schemas.openxmlformats.org/officeDocument/2006/relationships/notesMaster" Target="/ppt/notesMasters/notesMaster1.xml" Id="R9531a920d3cc4e5d"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b218244ce90543f5" /><Relationship Type="http://schemas.openxmlformats.org/officeDocument/2006/relationships/notesMaster" Target="/ppt/notesMasters/notesMaster1.xml" Id="R1b5c830e677346c5"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30517da051dd4293" /><Relationship Type="http://schemas.openxmlformats.org/officeDocument/2006/relationships/notesMaster" Target="/ppt/notesMasters/notesMaster1.xml" Id="R2ed933cffddd4099"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886702b29ccd4c61" /><Relationship Type="http://schemas.openxmlformats.org/officeDocument/2006/relationships/notesMaster" Target="/ppt/notesMasters/notesMaster1.xml" Id="R1d553acdd42447be"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4a2d2f1c927a4ea0" /><Relationship Type="http://schemas.openxmlformats.org/officeDocument/2006/relationships/notesMaster" Target="/ppt/notesMasters/notesMaster1.xml" Id="Rcbc4163ef488464f"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2958160970064c8e" /><Relationship Type="http://schemas.openxmlformats.org/officeDocument/2006/relationships/notesMaster" Target="/ppt/notesMasters/notesMaster1.xml" Id="Rd792e382ace44a3c"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33f4f03ea0e74e91" /><Relationship Type="http://schemas.openxmlformats.org/officeDocument/2006/relationships/notesMaster" Target="/ppt/notesMasters/notesMaster1.xml" Id="R5de2368fccd74bb5"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2e8b797ccb2047b7" /><Relationship Type="http://schemas.openxmlformats.org/officeDocument/2006/relationships/notesMaster" Target="/ppt/notesMasters/notesMaster1.xml" Id="R4d157c85b62e477e"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bee7d92eed154108" /><Relationship Type="http://schemas.openxmlformats.org/officeDocument/2006/relationships/notesMaster" Target="/ppt/notesMasters/notesMaster1.xml" Id="R14bf4c17b0d44e07"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da98fb4e447247b9" /><Relationship Type="http://schemas.openxmlformats.org/officeDocument/2006/relationships/notesMaster" Target="/ppt/notesMasters/notesMaster1.xml" Id="R1377d0aeb75b49d4"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ae51c5c9852d43e3" /><Relationship Type="http://schemas.openxmlformats.org/officeDocument/2006/relationships/notesMaster" Target="/ppt/notesMasters/notesMaster1.xml" Id="Rbed0042b5d1345f7"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ecf1d353f0ed41ed" /><Relationship Type="http://schemas.openxmlformats.org/officeDocument/2006/relationships/notesMaster" Target="/ppt/notesMasters/notesMaster1.xml" Id="Rbf3e36af41b344b1"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c7a19211e5c741d7" /><Relationship Type="http://schemas.openxmlformats.org/officeDocument/2006/relationships/notesMaster" Target="/ppt/notesMasters/notesMaster1.xml" Id="R7365459054fc4ccd"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e1db8afee2b0486c" /><Relationship Type="http://schemas.openxmlformats.org/officeDocument/2006/relationships/notesMaster" Target="/ppt/notesMasters/notesMaster1.xml" Id="R3f176d212c1143a2"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c236494343104749" /><Relationship Type="http://schemas.openxmlformats.org/officeDocument/2006/relationships/notesMaster" Target="/ppt/notesMasters/notesMaster1.xml" Id="R22cf28dceaae4a60"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bcba8c4e4e4d4c31" /><Relationship Type="http://schemas.openxmlformats.org/officeDocument/2006/relationships/notesMaster" Target="/ppt/notesMasters/notesMaster1.xml" Id="Rcba4421c288349c9"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16adb7899d004687" /><Relationship Type="http://schemas.openxmlformats.org/officeDocument/2006/relationships/notesMaster" Target="/ppt/notesMasters/notesMaster1.xml" Id="R643824e70dfe46ca"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9a2f5425bb194b34" /><Relationship Type="http://schemas.openxmlformats.org/officeDocument/2006/relationships/notesMaster" Target="/ppt/notesMasters/notesMaster1.xml" Id="Rdd2376c76b064deb"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344c64a909064c76" /><Relationship Type="http://schemas.openxmlformats.org/officeDocument/2006/relationships/notesMaster" Target="/ppt/notesMasters/notesMaster1.xml" Id="Raa3df8da65164c19"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ce46a141ec7641d7" /><Relationship Type="http://schemas.openxmlformats.org/officeDocument/2006/relationships/notesMaster" Target="/ppt/notesMasters/notesMaster1.xml" Id="R5ab6d439ba654f5c"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13fc6c37410f46d0" /><Relationship Type="http://schemas.openxmlformats.org/officeDocument/2006/relationships/notesMaster" Target="/ppt/notesMasters/notesMaster1.xml" Id="Rb02d7eea7d654896"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1c130d84cc4d4bca" /><Relationship Type="http://schemas.openxmlformats.org/officeDocument/2006/relationships/notesMaster" Target="/ppt/notesMasters/notesMaster1.xml" Id="R1d9957bfaef9485d"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690c3ebe4266418f" /><Relationship Type="http://schemas.openxmlformats.org/officeDocument/2006/relationships/notesMaster" Target="/ppt/notesMasters/notesMaster1.xml" Id="R869e890c9505484d"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a8e9c262d3334dd1" /><Relationship Type="http://schemas.openxmlformats.org/officeDocument/2006/relationships/notesMaster" Target="/ppt/notesMasters/notesMaster1.xml" Id="R58d292238a4f4854"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ce05c1dfe3e94765" /><Relationship Type="http://schemas.openxmlformats.org/officeDocument/2006/relationships/notesMaster" Target="/ppt/notesMasters/notesMaster1.xml" Id="R948efab3dfbf4d69"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00dae32f76054c58" /><Relationship Type="http://schemas.openxmlformats.org/officeDocument/2006/relationships/notesMaster" Target="/ppt/notesMasters/notesMaster1.xml" Id="R8e0743ab07e94b42"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3c30549b5a8a4c91" /><Relationship Type="http://schemas.openxmlformats.org/officeDocument/2006/relationships/notesMaster" Target="/ppt/notesMasters/notesMaster1.xml" Id="Rc1b7039653ac444a"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ef1a506ca1b14baf" /><Relationship Type="http://schemas.openxmlformats.org/officeDocument/2006/relationships/notesMaster" Target="/ppt/notesMasters/notesMaster1.xml" Id="Rbc9217a1f9024b86"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dd7ce3dbe3444f3f" /><Relationship Type="http://schemas.openxmlformats.org/officeDocument/2006/relationships/notesMaster" Target="/ppt/notesMasters/notesMaster1.xml" Id="Rd5a3beb20a494c00"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61fe2e669f454c45" /><Relationship Type="http://schemas.openxmlformats.org/officeDocument/2006/relationships/notesMaster" Target="/ppt/notesMasters/notesMaster1.xml" Id="R80acdc076dfa43b2"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bf7584e99ef64222" /><Relationship Type="http://schemas.openxmlformats.org/officeDocument/2006/relationships/notesMaster" Target="/ppt/notesMasters/notesMaster1.xml" Id="Reb6cbd459e5a4265"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0cd00aa359a4436c" /><Relationship Type="http://schemas.openxmlformats.org/officeDocument/2006/relationships/notesMaster" Target="/ppt/notesMasters/notesMaster1.xml" Id="R0397ed7b81134855" /></Relationships>
</file>

<file path=ppt/notesSlides/_rels/notesSlide110.xml.rels>&#65279;<?xml version="1.0" encoding="utf-8"?><Relationships xmlns="http://schemas.openxmlformats.org/package/2006/relationships"><Relationship Type="http://schemas.openxmlformats.org/officeDocument/2006/relationships/slide" Target="/ppt/slides/slide110.xml" Id="R62c0e099aedd4340" /><Relationship Type="http://schemas.openxmlformats.org/officeDocument/2006/relationships/notesMaster" Target="/ppt/notesMasters/notesMaster1.xml" Id="R443057ee4d4f41d5" /></Relationships>
</file>

<file path=ppt/notesSlides/_rels/notesSlide111.xml.rels>&#65279;<?xml version="1.0" encoding="utf-8"?><Relationships xmlns="http://schemas.openxmlformats.org/package/2006/relationships"><Relationship Type="http://schemas.openxmlformats.org/officeDocument/2006/relationships/slide" Target="/ppt/slides/slide111.xml" Id="Rf3ceed89ec454877" /><Relationship Type="http://schemas.openxmlformats.org/officeDocument/2006/relationships/notesMaster" Target="/ppt/notesMasters/notesMaster1.xml" Id="Rc6bbc0d652f74826" /></Relationships>
</file>

<file path=ppt/notesSlides/_rels/notesSlide112.xml.rels>&#65279;<?xml version="1.0" encoding="utf-8"?><Relationships xmlns="http://schemas.openxmlformats.org/package/2006/relationships"><Relationship Type="http://schemas.openxmlformats.org/officeDocument/2006/relationships/slide" Target="/ppt/slides/slide112.xml" Id="R057dda7117cf4a9d" /><Relationship Type="http://schemas.openxmlformats.org/officeDocument/2006/relationships/notesMaster" Target="/ppt/notesMasters/notesMaster1.xml" Id="R84a7f6949c7445c9" /></Relationships>
</file>

<file path=ppt/notesSlides/_rels/notesSlide113.xml.rels>&#65279;<?xml version="1.0" encoding="utf-8"?><Relationships xmlns="http://schemas.openxmlformats.org/package/2006/relationships"><Relationship Type="http://schemas.openxmlformats.org/officeDocument/2006/relationships/slide" Target="/ppt/slides/slide113.xml" Id="R8f3ff5cfa15940e8" /><Relationship Type="http://schemas.openxmlformats.org/officeDocument/2006/relationships/notesMaster" Target="/ppt/notesMasters/notesMaster1.xml" Id="R6706c1883d8e4d3c" /></Relationships>
</file>

<file path=ppt/notesSlides/_rels/notesSlide114.xml.rels>&#65279;<?xml version="1.0" encoding="utf-8"?><Relationships xmlns="http://schemas.openxmlformats.org/package/2006/relationships"><Relationship Type="http://schemas.openxmlformats.org/officeDocument/2006/relationships/slide" Target="/ppt/slides/slide114.xml" Id="R7a47e0fbd1dc451f" /><Relationship Type="http://schemas.openxmlformats.org/officeDocument/2006/relationships/notesMaster" Target="/ppt/notesMasters/notesMaster1.xml" Id="Rea4e9f1012a74a69" /></Relationships>
</file>

<file path=ppt/notesSlides/_rels/notesSlide115.xml.rels>&#65279;<?xml version="1.0" encoding="utf-8"?><Relationships xmlns="http://schemas.openxmlformats.org/package/2006/relationships"><Relationship Type="http://schemas.openxmlformats.org/officeDocument/2006/relationships/slide" Target="/ppt/slides/slide115.xml" Id="Rf158b789c327471a" /><Relationship Type="http://schemas.openxmlformats.org/officeDocument/2006/relationships/notesMaster" Target="/ppt/notesMasters/notesMaster1.xml" Id="R32095554b146461f" /></Relationships>
</file>

<file path=ppt/notesSlides/_rels/notesSlide116.xml.rels>&#65279;<?xml version="1.0" encoding="utf-8"?><Relationships xmlns="http://schemas.openxmlformats.org/package/2006/relationships"><Relationship Type="http://schemas.openxmlformats.org/officeDocument/2006/relationships/slide" Target="/ppt/slides/slide116.xml" Id="R21deaa43ef8f4c33" /><Relationship Type="http://schemas.openxmlformats.org/officeDocument/2006/relationships/notesMaster" Target="/ppt/notesMasters/notesMaster1.xml" Id="Rf42fcde554c640e4" /></Relationships>
</file>

<file path=ppt/notesSlides/_rels/notesSlide117.xml.rels>&#65279;<?xml version="1.0" encoding="utf-8"?><Relationships xmlns="http://schemas.openxmlformats.org/package/2006/relationships"><Relationship Type="http://schemas.openxmlformats.org/officeDocument/2006/relationships/slide" Target="/ppt/slides/slide117.xml" Id="R372415132b804e59" /><Relationship Type="http://schemas.openxmlformats.org/officeDocument/2006/relationships/notesMaster" Target="/ppt/notesMasters/notesMaster1.xml" Id="Rc18b87fc849e4ccd" /></Relationships>
</file>

<file path=ppt/notesSlides/_rels/notesSlide118.xml.rels>&#65279;<?xml version="1.0" encoding="utf-8"?><Relationships xmlns="http://schemas.openxmlformats.org/package/2006/relationships"><Relationship Type="http://schemas.openxmlformats.org/officeDocument/2006/relationships/slide" Target="/ppt/slides/slide118.xml" Id="R8a171ad16d5e4d75" /><Relationship Type="http://schemas.openxmlformats.org/officeDocument/2006/relationships/notesMaster" Target="/ppt/notesMasters/notesMaster1.xml" Id="Ref0e002719a64a80" /></Relationships>
</file>

<file path=ppt/notesSlides/_rels/notesSlide119.xml.rels>&#65279;<?xml version="1.0" encoding="utf-8"?><Relationships xmlns="http://schemas.openxmlformats.org/package/2006/relationships"><Relationship Type="http://schemas.openxmlformats.org/officeDocument/2006/relationships/slide" Target="/ppt/slides/slide119.xml" Id="R1b51694bfb8a4235" /><Relationship Type="http://schemas.openxmlformats.org/officeDocument/2006/relationships/notesMaster" Target="/ppt/notesMasters/notesMaster1.xml" Id="R7a949fee2d7b4d1e" /></Relationships>
</file>

<file path=ppt/notesSlides/_rels/notesSlide120.xml.rels>&#65279;<?xml version="1.0" encoding="utf-8"?><Relationships xmlns="http://schemas.openxmlformats.org/package/2006/relationships"><Relationship Type="http://schemas.openxmlformats.org/officeDocument/2006/relationships/slide" Target="/ppt/slides/slide120.xml" Id="R1b6ff64fb6274121" /><Relationship Type="http://schemas.openxmlformats.org/officeDocument/2006/relationships/notesMaster" Target="/ppt/notesMasters/notesMaster1.xml" Id="R492fbc93d8914599" /></Relationships>
</file>

<file path=ppt/notesSlides/_rels/notesSlide121.xml.rels>&#65279;<?xml version="1.0" encoding="utf-8"?><Relationships xmlns="http://schemas.openxmlformats.org/package/2006/relationships"><Relationship Type="http://schemas.openxmlformats.org/officeDocument/2006/relationships/slide" Target="/ppt/slides/slide121.xml" Id="R2b4a4008a7944a65" /><Relationship Type="http://schemas.openxmlformats.org/officeDocument/2006/relationships/notesMaster" Target="/ppt/notesMasters/notesMaster1.xml" Id="R8709b35616814902" /></Relationships>
</file>

<file path=ppt/notesSlides/_rels/notesSlide122.xml.rels>&#65279;<?xml version="1.0" encoding="utf-8"?><Relationships xmlns="http://schemas.openxmlformats.org/package/2006/relationships"><Relationship Type="http://schemas.openxmlformats.org/officeDocument/2006/relationships/slide" Target="/ppt/slides/slide122.xml" Id="R3d99d1d2ae254a6c" /><Relationship Type="http://schemas.openxmlformats.org/officeDocument/2006/relationships/notesMaster" Target="/ppt/notesMasters/notesMaster1.xml" Id="Rbcd8b3a0e0ca43c3" /></Relationships>
</file>

<file path=ppt/notesSlides/_rels/notesSlide123.xml.rels>&#65279;<?xml version="1.0" encoding="utf-8"?><Relationships xmlns="http://schemas.openxmlformats.org/package/2006/relationships"><Relationship Type="http://schemas.openxmlformats.org/officeDocument/2006/relationships/slide" Target="/ppt/slides/slide123.xml" Id="R45494827572e4900" /><Relationship Type="http://schemas.openxmlformats.org/officeDocument/2006/relationships/notesMaster" Target="/ppt/notesMasters/notesMaster1.xml" Id="R3b8a3387438247af" /></Relationships>
</file>

<file path=ppt/notesSlides/_rels/notesSlide124.xml.rels>&#65279;<?xml version="1.0" encoding="utf-8"?><Relationships xmlns="http://schemas.openxmlformats.org/package/2006/relationships"><Relationship Type="http://schemas.openxmlformats.org/officeDocument/2006/relationships/slide" Target="/ppt/slides/slide124.xml" Id="Rc654694ce6e8495f" /><Relationship Type="http://schemas.openxmlformats.org/officeDocument/2006/relationships/notesMaster" Target="/ppt/notesMasters/notesMaster1.xml" Id="Rb2848642e78e4902" /></Relationships>
</file>

<file path=ppt/notesSlides/_rels/notesSlide125.xml.rels>&#65279;<?xml version="1.0" encoding="utf-8"?><Relationships xmlns="http://schemas.openxmlformats.org/package/2006/relationships"><Relationship Type="http://schemas.openxmlformats.org/officeDocument/2006/relationships/slide" Target="/ppt/slides/slide125.xml" Id="R4a2809c0ae784e58" /><Relationship Type="http://schemas.openxmlformats.org/officeDocument/2006/relationships/notesMaster" Target="/ppt/notesMasters/notesMaster1.xml" Id="Ra244ac4df0fc436d" /></Relationships>
</file>

<file path=ppt/notesSlides/_rels/notesSlide126.xml.rels>&#65279;<?xml version="1.0" encoding="utf-8"?><Relationships xmlns="http://schemas.openxmlformats.org/package/2006/relationships"><Relationship Type="http://schemas.openxmlformats.org/officeDocument/2006/relationships/slide" Target="/ppt/slides/slide126.xml" Id="R7e930b6e975a4b69" /><Relationship Type="http://schemas.openxmlformats.org/officeDocument/2006/relationships/notesMaster" Target="/ppt/notesMasters/notesMaster1.xml" Id="R30c264521ce84948" /></Relationships>
</file>

<file path=ppt/notesSlides/_rels/notesSlide127.xml.rels>&#65279;<?xml version="1.0" encoding="utf-8"?><Relationships xmlns="http://schemas.openxmlformats.org/package/2006/relationships"><Relationship Type="http://schemas.openxmlformats.org/officeDocument/2006/relationships/slide" Target="/ppt/slides/slide127.xml" Id="R3ce1d8b236d94392" /><Relationship Type="http://schemas.openxmlformats.org/officeDocument/2006/relationships/notesMaster" Target="/ppt/notesMasters/notesMaster1.xml" Id="R78e50861bdcc4c63" /></Relationships>
</file>

<file path=ppt/notesSlides/_rels/notesSlide128.xml.rels>&#65279;<?xml version="1.0" encoding="utf-8"?><Relationships xmlns="http://schemas.openxmlformats.org/package/2006/relationships"><Relationship Type="http://schemas.openxmlformats.org/officeDocument/2006/relationships/slide" Target="/ppt/slides/slide128.xml" Id="R996fdaba0029409b" /><Relationship Type="http://schemas.openxmlformats.org/officeDocument/2006/relationships/notesMaster" Target="/ppt/notesMasters/notesMaster1.xml" Id="Rf2285a4443f04c3d" /></Relationships>
</file>

<file path=ppt/notesSlides/_rels/notesSlide129.xml.rels>&#65279;<?xml version="1.0" encoding="utf-8"?><Relationships xmlns="http://schemas.openxmlformats.org/package/2006/relationships"><Relationship Type="http://schemas.openxmlformats.org/officeDocument/2006/relationships/slide" Target="/ppt/slides/slide129.xml" Id="R1a35cded0eef45f8" /><Relationship Type="http://schemas.openxmlformats.org/officeDocument/2006/relationships/notesMaster" Target="/ppt/notesMasters/notesMaster1.xml" Id="R94cf5b5e162d4466" /></Relationships>
</file>

<file path=ppt/notesSlides/_rels/notesSlide130.xml.rels>&#65279;<?xml version="1.0" encoding="utf-8"?><Relationships xmlns="http://schemas.openxmlformats.org/package/2006/relationships"><Relationship Type="http://schemas.openxmlformats.org/officeDocument/2006/relationships/slide" Target="/ppt/slides/slide130.xml" Id="R87bdb549ab554366" /><Relationship Type="http://schemas.openxmlformats.org/officeDocument/2006/relationships/notesMaster" Target="/ppt/notesMasters/notesMaster1.xml" Id="R638bc7bae7034ecb" /></Relationships>
</file>

<file path=ppt/notesSlides/_rels/notesSlide131.xml.rels>&#65279;<?xml version="1.0" encoding="utf-8"?><Relationships xmlns="http://schemas.openxmlformats.org/package/2006/relationships"><Relationship Type="http://schemas.openxmlformats.org/officeDocument/2006/relationships/slide" Target="/ppt/slides/slide131.xml" Id="R02db868ec1b34973" /><Relationship Type="http://schemas.openxmlformats.org/officeDocument/2006/relationships/notesMaster" Target="/ppt/notesMasters/notesMaster1.xml" Id="R22c93add0565454e" /></Relationships>
</file>

<file path=ppt/notesSlides/_rels/notesSlide132.xml.rels>&#65279;<?xml version="1.0" encoding="utf-8"?><Relationships xmlns="http://schemas.openxmlformats.org/package/2006/relationships"><Relationship Type="http://schemas.openxmlformats.org/officeDocument/2006/relationships/slide" Target="/ppt/slides/slide132.xml" Id="R25a9a1667dcc4a44" /><Relationship Type="http://schemas.openxmlformats.org/officeDocument/2006/relationships/notesMaster" Target="/ppt/notesMasters/notesMaster1.xml" Id="R100cca97d0de4ddb" /></Relationships>
</file>

<file path=ppt/notesSlides/_rels/notesSlide133.xml.rels>&#65279;<?xml version="1.0" encoding="utf-8"?><Relationships xmlns="http://schemas.openxmlformats.org/package/2006/relationships"><Relationship Type="http://schemas.openxmlformats.org/officeDocument/2006/relationships/slide" Target="/ppt/slides/slide133.xml" Id="R81878ea197ba463c" /><Relationship Type="http://schemas.openxmlformats.org/officeDocument/2006/relationships/notesMaster" Target="/ppt/notesMasters/notesMaster1.xml" Id="R1eae308c8a4044a4" /></Relationships>
</file>

<file path=ppt/notesSlides/_rels/notesSlide134.xml.rels>&#65279;<?xml version="1.0" encoding="utf-8"?><Relationships xmlns="http://schemas.openxmlformats.org/package/2006/relationships"><Relationship Type="http://schemas.openxmlformats.org/officeDocument/2006/relationships/slide" Target="/ppt/slides/slide134.xml" Id="Ra751f4f2a4044bed" /><Relationship Type="http://schemas.openxmlformats.org/officeDocument/2006/relationships/notesMaster" Target="/ppt/notesMasters/notesMaster1.xml" Id="Rb31679c78ac64760" /></Relationships>
</file>

<file path=ppt/notesSlides/_rels/notesSlide135.xml.rels>&#65279;<?xml version="1.0" encoding="utf-8"?><Relationships xmlns="http://schemas.openxmlformats.org/package/2006/relationships"><Relationship Type="http://schemas.openxmlformats.org/officeDocument/2006/relationships/slide" Target="/ppt/slides/slide135.xml" Id="Rafd9828766c1425d" /><Relationship Type="http://schemas.openxmlformats.org/officeDocument/2006/relationships/notesMaster" Target="/ppt/notesMasters/notesMaster1.xml" Id="R341c8071d7cb46e4" /></Relationships>
</file>

<file path=ppt/notesSlides/_rels/notesSlide136.xml.rels>&#65279;<?xml version="1.0" encoding="utf-8"?><Relationships xmlns="http://schemas.openxmlformats.org/package/2006/relationships"><Relationship Type="http://schemas.openxmlformats.org/officeDocument/2006/relationships/slide" Target="/ppt/slides/slide136.xml" Id="R3eee1c97b9264767" /><Relationship Type="http://schemas.openxmlformats.org/officeDocument/2006/relationships/notesMaster" Target="/ppt/notesMasters/notesMaster1.xml" Id="R00766e16bbe14984" /></Relationships>
</file>

<file path=ppt/notesSlides/_rels/notesSlide137.xml.rels>&#65279;<?xml version="1.0" encoding="utf-8"?><Relationships xmlns="http://schemas.openxmlformats.org/package/2006/relationships"><Relationship Type="http://schemas.openxmlformats.org/officeDocument/2006/relationships/slide" Target="/ppt/slides/slide137.xml" Id="Rf038bf67f37c412a" /><Relationship Type="http://schemas.openxmlformats.org/officeDocument/2006/relationships/notesMaster" Target="/ppt/notesMasters/notesMaster1.xml" Id="R0c28e3d64ab545ab" /></Relationships>
</file>

<file path=ppt/notesSlides/_rels/notesSlide138.xml.rels>&#65279;<?xml version="1.0" encoding="utf-8"?><Relationships xmlns="http://schemas.openxmlformats.org/package/2006/relationships"><Relationship Type="http://schemas.openxmlformats.org/officeDocument/2006/relationships/slide" Target="/ppt/slides/slide138.xml" Id="R423fb83225474b40" /><Relationship Type="http://schemas.openxmlformats.org/officeDocument/2006/relationships/notesMaster" Target="/ppt/notesMasters/notesMaster1.xml" Id="R5f110385d3a54669" /></Relationships>
</file>

<file path=ppt/notesSlides/_rels/notesSlide139.xml.rels>&#65279;<?xml version="1.0" encoding="utf-8"?><Relationships xmlns="http://schemas.openxmlformats.org/package/2006/relationships"><Relationship Type="http://schemas.openxmlformats.org/officeDocument/2006/relationships/slide" Target="/ppt/slides/slide139.xml" Id="R245548a315804f38" /><Relationship Type="http://schemas.openxmlformats.org/officeDocument/2006/relationships/notesMaster" Target="/ppt/notesMasters/notesMaster1.xml" Id="Ref9542ec4ec2497f" /></Relationships>
</file>

<file path=ppt/notesSlides/_rels/notesSlide140.xml.rels>&#65279;<?xml version="1.0" encoding="utf-8"?><Relationships xmlns="http://schemas.openxmlformats.org/package/2006/relationships"><Relationship Type="http://schemas.openxmlformats.org/officeDocument/2006/relationships/slide" Target="/ppt/slides/slide140.xml" Id="R889a2d8a71e14fea" /><Relationship Type="http://schemas.openxmlformats.org/officeDocument/2006/relationships/notesMaster" Target="/ppt/notesMasters/notesMaster1.xml" Id="R45b71523e26c4af9" /></Relationships>
</file>

<file path=ppt/notesSlides/_rels/notesSlide141.xml.rels>&#65279;<?xml version="1.0" encoding="utf-8"?><Relationships xmlns="http://schemas.openxmlformats.org/package/2006/relationships"><Relationship Type="http://schemas.openxmlformats.org/officeDocument/2006/relationships/slide" Target="/ppt/slides/slide141.xml" Id="R2f866ba2b291409a" /><Relationship Type="http://schemas.openxmlformats.org/officeDocument/2006/relationships/notesMaster" Target="/ppt/notesMasters/notesMaster1.xml" Id="R76b92e7e4ae248c2" /></Relationships>
</file>

<file path=ppt/notesSlides/_rels/notesSlide142.xml.rels>&#65279;<?xml version="1.0" encoding="utf-8"?><Relationships xmlns="http://schemas.openxmlformats.org/package/2006/relationships"><Relationship Type="http://schemas.openxmlformats.org/officeDocument/2006/relationships/slide" Target="/ppt/slides/slide142.xml" Id="Rf541a3a42edc4f21" /><Relationship Type="http://schemas.openxmlformats.org/officeDocument/2006/relationships/notesMaster" Target="/ppt/notesMasters/notesMaster1.xml" Id="R85a17f36d3684ed7" /></Relationships>
</file>

<file path=ppt/notesSlides/_rels/notesSlide143.xml.rels>&#65279;<?xml version="1.0" encoding="utf-8"?><Relationships xmlns="http://schemas.openxmlformats.org/package/2006/relationships"><Relationship Type="http://schemas.openxmlformats.org/officeDocument/2006/relationships/slide" Target="/ppt/slides/slide143.xml" Id="R3084233457a14b4c" /><Relationship Type="http://schemas.openxmlformats.org/officeDocument/2006/relationships/notesMaster" Target="/ppt/notesMasters/notesMaster1.xml" Id="R10c667d68b97464a" /></Relationships>
</file>

<file path=ppt/notesSlides/_rels/notesSlide144.xml.rels>&#65279;<?xml version="1.0" encoding="utf-8"?><Relationships xmlns="http://schemas.openxmlformats.org/package/2006/relationships"><Relationship Type="http://schemas.openxmlformats.org/officeDocument/2006/relationships/slide" Target="/ppt/slides/slide144.xml" Id="R2c77a12c96b54529" /><Relationship Type="http://schemas.openxmlformats.org/officeDocument/2006/relationships/notesMaster" Target="/ppt/notesMasters/notesMaster1.xml" Id="R4a7259635def4496" /></Relationships>
</file>

<file path=ppt/notesSlides/_rels/notesSlide145.xml.rels>&#65279;<?xml version="1.0" encoding="utf-8"?><Relationships xmlns="http://schemas.openxmlformats.org/package/2006/relationships"><Relationship Type="http://schemas.openxmlformats.org/officeDocument/2006/relationships/slide" Target="/ppt/slides/slide145.xml" Id="Ra39ed9c0a9994a74" /><Relationship Type="http://schemas.openxmlformats.org/officeDocument/2006/relationships/notesMaster" Target="/ppt/notesMasters/notesMaster1.xml" Id="R36702c7ef589499a" /></Relationships>
</file>

<file path=ppt/notesSlides/_rels/notesSlide146.xml.rels>&#65279;<?xml version="1.0" encoding="utf-8"?><Relationships xmlns="http://schemas.openxmlformats.org/package/2006/relationships"><Relationship Type="http://schemas.openxmlformats.org/officeDocument/2006/relationships/slide" Target="/ppt/slides/slide146.xml" Id="Rba38f90101f044d3" /><Relationship Type="http://schemas.openxmlformats.org/officeDocument/2006/relationships/notesMaster" Target="/ppt/notesMasters/notesMaster1.xml" Id="R512d264136034324" /></Relationships>
</file>

<file path=ppt/notesSlides/_rels/notesSlide147.xml.rels>&#65279;<?xml version="1.0" encoding="utf-8"?><Relationships xmlns="http://schemas.openxmlformats.org/package/2006/relationships"><Relationship Type="http://schemas.openxmlformats.org/officeDocument/2006/relationships/slide" Target="/ppt/slides/slide147.xml" Id="R8346d3c4fef84df9" /><Relationship Type="http://schemas.openxmlformats.org/officeDocument/2006/relationships/notesMaster" Target="/ppt/notesMasters/notesMaster1.xml" Id="R786ae78a155443e5" /></Relationships>
</file>

<file path=ppt/notesSlides/_rels/notesSlide148.xml.rels>&#65279;<?xml version="1.0" encoding="utf-8"?><Relationships xmlns="http://schemas.openxmlformats.org/package/2006/relationships"><Relationship Type="http://schemas.openxmlformats.org/officeDocument/2006/relationships/slide" Target="/ppt/slides/slide148.xml" Id="Rb2b2723be7274cfd" /><Relationship Type="http://schemas.openxmlformats.org/officeDocument/2006/relationships/notesMaster" Target="/ppt/notesMasters/notesMaster1.xml" Id="R1a00ab79c7f84bf2" /></Relationships>
</file>

<file path=ppt/notesSlides/_rels/notesSlide149.xml.rels>&#65279;<?xml version="1.0" encoding="utf-8"?><Relationships xmlns="http://schemas.openxmlformats.org/package/2006/relationships"><Relationship Type="http://schemas.openxmlformats.org/officeDocument/2006/relationships/slide" Target="/ppt/slides/slide149.xml" Id="R076c1f27763a40dd" /><Relationship Type="http://schemas.openxmlformats.org/officeDocument/2006/relationships/notesMaster" Target="/ppt/notesMasters/notesMaster1.xml" Id="Rbe403d5835554ac4" /></Relationships>
</file>

<file path=ppt/notesSlides/_rels/notesSlide150.xml.rels>&#65279;<?xml version="1.0" encoding="utf-8"?><Relationships xmlns="http://schemas.openxmlformats.org/package/2006/relationships"><Relationship Type="http://schemas.openxmlformats.org/officeDocument/2006/relationships/slide" Target="/ppt/slides/slide150.xml" Id="R0b43799646214941" /><Relationship Type="http://schemas.openxmlformats.org/officeDocument/2006/relationships/notesMaster" Target="/ppt/notesMasters/notesMaster1.xml" Id="Ra3e13c76781346de" /></Relationships>
</file>

<file path=ppt/notesSlides/_rels/notesSlide151.xml.rels>&#65279;<?xml version="1.0" encoding="utf-8"?><Relationships xmlns="http://schemas.openxmlformats.org/package/2006/relationships"><Relationship Type="http://schemas.openxmlformats.org/officeDocument/2006/relationships/slide" Target="/ppt/slides/slide151.xml" Id="Rcb3a7509feeb4190" /><Relationship Type="http://schemas.openxmlformats.org/officeDocument/2006/relationships/notesMaster" Target="/ppt/notesMasters/notesMaster1.xml" Id="Rc49fb714f4e441ce" /></Relationships>
</file>

<file path=ppt/notesSlides/_rels/notesSlide152.xml.rels>&#65279;<?xml version="1.0" encoding="utf-8"?><Relationships xmlns="http://schemas.openxmlformats.org/package/2006/relationships"><Relationship Type="http://schemas.openxmlformats.org/officeDocument/2006/relationships/slide" Target="/ppt/slides/slide152.xml" Id="Rfd898161f31c42b5" /><Relationship Type="http://schemas.openxmlformats.org/officeDocument/2006/relationships/notesMaster" Target="/ppt/notesMasters/notesMaster1.xml" Id="R5508cfac463141d1" /></Relationships>
</file>

<file path=ppt/notesSlides/_rels/notesSlide153.xml.rels>&#65279;<?xml version="1.0" encoding="utf-8"?><Relationships xmlns="http://schemas.openxmlformats.org/package/2006/relationships"><Relationship Type="http://schemas.openxmlformats.org/officeDocument/2006/relationships/slide" Target="/ppt/slides/slide153.xml" Id="R18f41b55116c47a4" /><Relationship Type="http://schemas.openxmlformats.org/officeDocument/2006/relationships/notesMaster" Target="/ppt/notesMasters/notesMaster1.xml" Id="R4e53792e29eb4462" /></Relationships>
</file>

<file path=ppt/notesSlides/_rels/notesSlide154.xml.rels>&#65279;<?xml version="1.0" encoding="utf-8"?><Relationships xmlns="http://schemas.openxmlformats.org/package/2006/relationships"><Relationship Type="http://schemas.openxmlformats.org/officeDocument/2006/relationships/slide" Target="/ppt/slides/slide154.xml" Id="Ra7e4f1686c444ce0" /><Relationship Type="http://schemas.openxmlformats.org/officeDocument/2006/relationships/notesMaster" Target="/ppt/notesMasters/notesMaster1.xml" Id="R67e92eba54a54d9a" /></Relationships>
</file>

<file path=ppt/notesSlides/_rels/notesSlide155.xml.rels>&#65279;<?xml version="1.0" encoding="utf-8"?><Relationships xmlns="http://schemas.openxmlformats.org/package/2006/relationships"><Relationship Type="http://schemas.openxmlformats.org/officeDocument/2006/relationships/slide" Target="/ppt/slides/slide155.xml" Id="R2dc87a27cf914302" /><Relationship Type="http://schemas.openxmlformats.org/officeDocument/2006/relationships/notesMaster" Target="/ppt/notesMasters/notesMaster1.xml" Id="Rdbdbf126ed8f472b" /></Relationships>
</file>

<file path=ppt/notesSlides/_rels/notesSlide156.xml.rels>&#65279;<?xml version="1.0" encoding="utf-8"?><Relationships xmlns="http://schemas.openxmlformats.org/package/2006/relationships"><Relationship Type="http://schemas.openxmlformats.org/officeDocument/2006/relationships/slide" Target="/ppt/slides/slide156.xml" Id="R6290e53a9c734994" /><Relationship Type="http://schemas.openxmlformats.org/officeDocument/2006/relationships/notesMaster" Target="/ppt/notesMasters/notesMaster1.xml" Id="R7dd74d13f12349d6" /></Relationships>
</file>

<file path=ppt/notesSlides/_rels/notesSlide157.xml.rels>&#65279;<?xml version="1.0" encoding="utf-8"?><Relationships xmlns="http://schemas.openxmlformats.org/package/2006/relationships"><Relationship Type="http://schemas.openxmlformats.org/officeDocument/2006/relationships/slide" Target="/ppt/slides/slide157.xml" Id="Ra2cff578a74e4859" /><Relationship Type="http://schemas.openxmlformats.org/officeDocument/2006/relationships/notesMaster" Target="/ppt/notesMasters/notesMaster1.xml" Id="R56f34d65e5774ae9" /></Relationships>
</file>

<file path=ppt/notesSlides/_rels/notesSlide158.xml.rels>&#65279;<?xml version="1.0" encoding="utf-8"?><Relationships xmlns="http://schemas.openxmlformats.org/package/2006/relationships"><Relationship Type="http://schemas.openxmlformats.org/officeDocument/2006/relationships/slide" Target="/ppt/slides/slide158.xml" Id="Rfb91a057095440e2" /><Relationship Type="http://schemas.openxmlformats.org/officeDocument/2006/relationships/notesMaster" Target="/ppt/notesMasters/notesMaster1.xml" Id="R49d79be96bbb46c3" /></Relationships>
</file>

<file path=ppt/notesSlides/_rels/notesSlide159.xml.rels>&#65279;<?xml version="1.0" encoding="utf-8"?><Relationships xmlns="http://schemas.openxmlformats.org/package/2006/relationships"><Relationship Type="http://schemas.openxmlformats.org/officeDocument/2006/relationships/slide" Target="/ppt/slides/slide159.xml" Id="R63007c84ccc541bb" /><Relationship Type="http://schemas.openxmlformats.org/officeDocument/2006/relationships/notesMaster" Target="/ppt/notesMasters/notesMaster1.xml" Id="Rcb97817e97ae4618" /></Relationships>
</file>

<file path=ppt/notesSlides/_rels/notesSlide160.xml.rels>&#65279;<?xml version="1.0" encoding="utf-8"?><Relationships xmlns="http://schemas.openxmlformats.org/package/2006/relationships"><Relationship Type="http://schemas.openxmlformats.org/officeDocument/2006/relationships/slide" Target="/ppt/slides/slide160.xml" Id="R1deccbf7530447d9" /><Relationship Type="http://schemas.openxmlformats.org/officeDocument/2006/relationships/notesMaster" Target="/ppt/notesMasters/notesMaster1.xml" Id="R46e8fe608b4342d7" /></Relationships>
</file>

<file path=ppt/notesSlides/_rels/notesSlide161.xml.rels>&#65279;<?xml version="1.0" encoding="utf-8"?><Relationships xmlns="http://schemas.openxmlformats.org/package/2006/relationships"><Relationship Type="http://schemas.openxmlformats.org/officeDocument/2006/relationships/slide" Target="/ppt/slides/slide161.xml" Id="R43dd5e71758a4319" /><Relationship Type="http://schemas.openxmlformats.org/officeDocument/2006/relationships/notesMaster" Target="/ppt/notesMasters/notesMaster1.xml" Id="R2d5a3f16f9eb4a85" /></Relationships>
</file>

<file path=ppt/notesSlides/_rels/notesSlide162.xml.rels>&#65279;<?xml version="1.0" encoding="utf-8"?><Relationships xmlns="http://schemas.openxmlformats.org/package/2006/relationships"><Relationship Type="http://schemas.openxmlformats.org/officeDocument/2006/relationships/slide" Target="/ppt/slides/slide162.xml" Id="R9de27861008b417d" /><Relationship Type="http://schemas.openxmlformats.org/officeDocument/2006/relationships/notesMaster" Target="/ppt/notesMasters/notesMaster1.xml" Id="R7e54f056792e4498" /></Relationships>
</file>

<file path=ppt/notesSlides/_rels/notesSlide163.xml.rels>&#65279;<?xml version="1.0" encoding="utf-8"?><Relationships xmlns="http://schemas.openxmlformats.org/package/2006/relationships"><Relationship Type="http://schemas.openxmlformats.org/officeDocument/2006/relationships/slide" Target="/ppt/slides/slide163.xml" Id="R9e4c2458a51945c6" /><Relationship Type="http://schemas.openxmlformats.org/officeDocument/2006/relationships/notesMaster" Target="/ppt/notesMasters/notesMaster1.xml" Id="R9342b8c7ec174b0e" /></Relationships>
</file>

<file path=ppt/notesSlides/_rels/notesSlide164.xml.rels>&#65279;<?xml version="1.0" encoding="utf-8"?><Relationships xmlns="http://schemas.openxmlformats.org/package/2006/relationships"><Relationship Type="http://schemas.openxmlformats.org/officeDocument/2006/relationships/slide" Target="/ppt/slides/slide164.xml" Id="Rc4cb0a4ed14946d8" /><Relationship Type="http://schemas.openxmlformats.org/officeDocument/2006/relationships/notesMaster" Target="/ppt/notesMasters/notesMaster1.xml" Id="Rf3d9c174cc0d4e3b" /></Relationships>
</file>

<file path=ppt/notesSlides/_rels/notesSlide165.xml.rels>&#65279;<?xml version="1.0" encoding="utf-8"?><Relationships xmlns="http://schemas.openxmlformats.org/package/2006/relationships"><Relationship Type="http://schemas.openxmlformats.org/officeDocument/2006/relationships/slide" Target="/ppt/slides/slide165.xml" Id="R91bd5b8d2b904d9e" /><Relationship Type="http://schemas.openxmlformats.org/officeDocument/2006/relationships/notesMaster" Target="/ppt/notesMasters/notesMaster1.xml" Id="R06476dd21e39452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홈페이지와 동일한 사례·분석·요구사항 데이터 사용.</a:t>
            </a:r>
          </a:p>
          <a:p xmlns:a="http://schemas.openxmlformats.org/drawingml/2006/main">
            <a:r>
              <a:t>사실과 요구사항은 출처 기준. 아키텍처의 연결·운영 환류는 CCK 논리 설계. 실제 설치 배치도와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"AX01",</a:t>
            </a:r>
          </a:p>
          <a:p xmlns:a="http://schemas.openxmlformats.org/drawingml/2006/main">
            <a:r>
              <a:t>    "title": "서울 올빼미버스",</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"빅데이터 정책 적용",</a:t>
            </a:r>
          </a:p>
          <a:p xmlns:a="http://schemas.openxmlformats.org/drawingml/2006/main">
            <a:r>
              <a:t>    "period": "2013–2014",</a:t>
            </a:r>
          </a:p>
          <a:p xmlns:a="http://schemas.openxmlformats.org/drawingml/2006/main">
            <a:r>
              <a:t>    "sources": [</a:t>
            </a:r>
          </a:p>
          <a:p xmlns:a="http://schemas.openxmlformats.org/drawingml/2006/main">
            <a:r>
              <a:t>      "S01"</a:t>
            </a:r>
          </a:p>
          <a:p xmlns:a="http://schemas.openxmlformats.org/drawingml/2006/main">
            <a:r>
              <a:t>    ],</a:t>
            </a:r>
          </a:p>
          <a:p xmlns:a="http://schemas.openxmlformats.org/drawingml/2006/main">
            <a:r>
              <a:t>    "keywords": [</a:t>
            </a:r>
          </a:p>
          <a:p xmlns:a="http://schemas.openxmlformats.org/drawingml/2006/main">
            <a:r>
              <a:t>      "이동 수요",</a:t>
            </a:r>
          </a:p>
          <a:p xmlns:a="http://schemas.openxmlformats.org/drawingml/2006/main">
            <a:r>
              <a:t>      "교통약자",</a:t>
            </a:r>
          </a:p>
          <a:p xmlns:a="http://schemas.openxmlformats.org/drawingml/2006/main">
            <a:r>
              <a:t>      "지역",</a:t>
            </a:r>
          </a:p>
          <a:p xmlns:a="http://schemas.openxmlformats.org/drawingml/2006/main">
            <a:r>
              <a:t>      "데이터 연계"</a:t>
            </a:r>
          </a:p>
          <a:p xmlns:a="http://schemas.openxmlformats.org/drawingml/2006/main">
            <a:r>
              <a:t>    ],</a:t>
            </a:r>
          </a:p>
          <a:p xmlns:a="http://schemas.openxmlformats.org/drawingml/2006/main">
            <a:r>
              <a:t>    "fact": "통신 데이터 분석의 심야버스 노선 반영 및 2개 노선에서 9개 노선으로 운영 확대",</a:t>
            </a:r>
          </a:p>
          <a:p xmlns:a="http://schemas.openxmlformats.org/drawingml/2006/main">
            <a:r>
              <a:t>    "limit": "운영기관 발표 · 생성형 AI 사례 아님 · 사고 감소·지역경제 인과효과 별도",</a:t>
            </a:r>
          </a:p>
          <a:p xmlns:a="http://schemas.openxmlformats.org/drawingml/2006/main">
            <a:r>
              <a:t>    "flow": [</a:t>
            </a:r>
          </a:p>
          <a:p xmlns:a="http://schemas.openxmlformats.org/drawingml/2006/main">
            <a:r>
              <a:t>      "통신 이동 수요",</a:t>
            </a:r>
          </a:p>
          <a:p xmlns:a="http://schemas.openxmlformats.org/drawingml/2006/main">
            <a:r>
              <a:t>      "시간·지역 분석",</a:t>
            </a:r>
          </a:p>
          <a:p xmlns:a="http://schemas.openxmlformats.org/drawingml/2006/main">
            <a:r>
              <a:t>      "노선 선정",</a:t>
            </a:r>
          </a:p>
          <a:p xmlns:a="http://schemas.openxmlformats.org/drawingml/2006/main">
            <a:r>
              <a:t>      "심야버스 운영"</a:t>
            </a:r>
          </a:p>
          <a:p xmlns:a="http://schemas.openxmlformats.org/drawingml/2006/main">
            <a:r>
              <a:t>    ],</a:t>
            </a:r>
          </a:p>
          <a:p xmlns:a="http://schemas.openxmlformats.org/drawingml/2006/main">
            <a:r>
              <a:t>    "flowBasis": "공개 업무 흐름 요약 · 시스템 배치도 재현 아님",</a:t>
            </a:r>
          </a:p>
          <a:p xmlns:a="http://schemas.openxmlformats.org/drawingml/2006/main">
            <a:r>
              <a:t>    "lesson": "현장 수요와 데이터 분석의 정책 결정 연결",</a:t>
            </a:r>
          </a:p>
          <a:p xmlns:a="http://schemas.openxmlformats.org/drawingml/2006/main">
            <a:r>
              <a:t>    "local": "TS 관할·교통약자·이동 수요를 지역별 업무 사전으로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"지역·시간·관할 코드 정규화 / 집계 통계와 현장 근거 대조",</a:t>
            </a:r>
          </a:p>
          <a:p xmlns:a="http://schemas.openxmlformats.org/drawingml/2006/main">
            <a:r>
              <a:t>    "test": "동일 지역·기간의 원천 집계 재현 및 담당 부서 매핑 대조",</a:t>
            </a:r>
          </a:p>
          <a:p xmlns:a="http://schemas.openxmlformats.org/drawingml/2006/main">
            <a:r>
              <a:t>    "metric": "수요 검토 소요시간 / 근거 누락률"</a:t>
            </a:r>
          </a:p>
          <a:p xmlns:a="http://schemas.openxmlformats.org/drawingml/2006/main">
            <a:r>
              <a:t>  },</a:t>
            </a:r>
          </a:p>
          <a:p xmlns:a="http://schemas.openxmlformats.org/drawingml/2006/main">
            <a:r>
              <a:t>  "design": {</a:t>
            </a:r>
          </a:p>
          <a:p xmlns:a="http://schemas.openxmlformats.org/drawingml/2006/main">
            <a:r>
              <a:t>    "id": "AX01",</a:t>
            </a:r>
          </a:p>
          <a:p xmlns:a="http://schemas.openxmlformats.org/drawingml/2006/main">
            <a:r>
              <a:t>    "canonicalId": "AX01",</a:t>
            </a:r>
          </a:p>
          <a:p xmlns:a="http://schemas.openxmlformats.org/drawingml/2006/main">
            <a:r>
              <a:t>    "purpose": "심야 이동 수요에 맞춘 버스 노선 설계",</a:t>
            </a:r>
          </a:p>
          <a:p xmlns:a="http://schemas.openxmlformats.org/drawingml/2006/main">
            <a:r>
              <a:t>    "users": "교통정책 담당·운송 운영자",</a:t>
            </a:r>
          </a:p>
          <a:p xmlns:a="http://schemas.openxmlformats.org/drawingml/2006/main">
            <a:r>
              <a:t>    "scope": [</a:t>
            </a:r>
          </a:p>
          <a:p xmlns:a="http://schemas.openxmlformats.org/drawingml/2006/main">
            <a:r>
              <a:t>      "심야 수요 분포",</a:t>
            </a:r>
          </a:p>
          <a:p xmlns:a="http://schemas.openxmlformats.org/drawingml/2006/main">
            <a:r>
              <a:t>      "노선 후보 비교",</a:t>
            </a:r>
          </a:p>
          <a:p xmlns:a="http://schemas.openxmlformats.org/drawingml/2006/main">
            <a:r>
              <a:t>      "운행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"이동 수요 자료",</a:t>
            </a:r>
          </a:p>
          <a:p xmlns:a="http://schemas.openxmlformats.org/drawingml/2006/main">
            <a:r>
              <a:t>        "detail": "시간대·출발지·도착지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"심야 수요 분포 / 노선 후보 비교 / 운행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"시간·지역 집계 분석",</a:t>
            </a:r>
          </a:p>
          <a:p xmlns:a="http://schemas.openxmlformats.org/drawingml/2006/main">
            <a:r>
              <a:t>        "detail": "이동량 집계와 노선별 수요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"노선 기획 담당",</a:t>
            </a:r>
          </a:p>
          <a:p xmlns:a="http://schemas.openxmlformats.org/drawingml/2006/main">
            <a:r>
              <a:t>        "detail": "노선 후보를 담당자의 운행계획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"수요·노선 자료",</a:t>
            </a:r>
          </a:p>
          <a:p xmlns:a="http://schemas.openxmlformats.org/drawingml/2006/main">
            <a:r>
              <a:t>        "detail": "통신 수요·노선의 공간 단위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"운행 후 수요 차이를 차기 노선 검토에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"통신 이동 수요",</a:t>
            </a:r>
          </a:p>
          <a:p xmlns:a="http://schemas.openxmlformats.org/drawingml/2006/main">
            <a:r>
              <a:t>        "input": "시간대·출발지·도착지 지정",</a:t>
            </a:r>
          </a:p>
          <a:p xmlns:a="http://schemas.openxmlformats.org/drawingml/2006/main">
            <a:r>
              <a:t>        "process": "통신 수요·노선의 공간 단위 정합화",</a:t>
            </a:r>
          </a:p>
          <a:p xmlns:a="http://schemas.openxmlformats.org/drawingml/2006/main">
            <a:r>
              <a:t>        "output": "시간대별 이동량"</a:t>
            </a:r>
          </a:p>
          <a:p xmlns:a="http://schemas.openxmlformats.org/drawingml/2006/main">
            <a:r>
              <a:t>      },</a:t>
            </a:r>
          </a:p>
          <a:p xmlns:a="http://schemas.openxmlformats.org/drawingml/2006/main">
            <a:r>
              <a:t>      {</a:t>
            </a:r>
          </a:p>
          <a:p xmlns:a="http://schemas.openxmlformats.org/drawingml/2006/main">
            <a:r>
              <a:t>        "title": "시간·지역 분석",</a:t>
            </a:r>
          </a:p>
          <a:p xmlns:a="http://schemas.openxmlformats.org/drawingml/2006/main">
            <a:r>
              <a:t>        "input": "시간대별 이동량",</a:t>
            </a:r>
          </a:p>
          <a:p xmlns:a="http://schemas.openxmlformats.org/drawingml/2006/main">
            <a:r>
              <a:t>        "process": "이동량 집계와 노선별 수요 비교",</a:t>
            </a:r>
          </a:p>
          <a:p xmlns:a="http://schemas.openxmlformats.org/drawingml/2006/main">
            <a:r>
              <a:t>        "output": "지역별 수요 분포"</a:t>
            </a:r>
          </a:p>
          <a:p xmlns:a="http://schemas.openxmlformats.org/drawingml/2006/main">
            <a:r>
              <a:t>      },</a:t>
            </a:r>
          </a:p>
          <a:p xmlns:a="http://schemas.openxmlformats.org/drawingml/2006/main">
            <a:r>
              <a:t>      {</a:t>
            </a:r>
          </a:p>
          <a:p xmlns:a="http://schemas.openxmlformats.org/drawingml/2006/main">
            <a:r>
              <a:t>        "title": "노선 선정",</a:t>
            </a:r>
          </a:p>
          <a:p xmlns:a="http://schemas.openxmlformats.org/drawingml/2006/main">
            <a:r>
              <a:t>        "input": "지역별 수요 분포",</a:t>
            </a:r>
          </a:p>
          <a:p xmlns:a="http://schemas.openxmlformats.org/drawingml/2006/main">
            <a:r>
              <a:t>        "process": "집계 단위·관측기간 대조",</a:t>
            </a:r>
          </a:p>
          <a:p xmlns:a="http://schemas.openxmlformats.org/drawingml/2006/main">
            <a:r>
              <a:t>        "output": "노선 후보"</a:t>
            </a:r>
          </a:p>
          <a:p xmlns:a="http://schemas.openxmlformats.org/drawingml/2006/main">
            <a:r>
              <a:t>      },</a:t>
            </a:r>
          </a:p>
          <a:p xmlns:a="http://schemas.openxmlformats.org/drawingml/2006/main">
            <a:r>
              <a:t>      {</a:t>
            </a:r>
          </a:p>
          <a:p xmlns:a="http://schemas.openxmlformats.org/drawingml/2006/main">
            <a:r>
              <a:t>        "title": "심야버스 운영",</a:t>
            </a:r>
          </a:p>
          <a:p xmlns:a="http://schemas.openxmlformats.org/drawingml/2006/main">
            <a:r>
              <a:t>        "input": "노선 후보",</a:t>
            </a:r>
          </a:p>
          <a:p xmlns:a="http://schemas.openxmlformats.org/drawingml/2006/main">
            <a:r>
              <a:t>        "process": "노선 후보를 담당자의 운행계획 검토에 전달",</a:t>
            </a:r>
          </a:p>
          <a:p xmlns:a="http://schemas.openxmlformats.org/drawingml/2006/main">
            <a:r>
              <a:t>        "output": "운영 노선"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"심야 시간대별 이동 수요를 기존 노선과 대조해 미충족 구간 선정",</a:t>
            </a:r>
          </a:p>
          <a:p xmlns:a="http://schemas.openxmlformats.org/drawingml/2006/main">
            <a:r>
              <a:t>      "exception": "지역별 통신 표본 비율 차이·관측기간 불일치",</a:t>
            </a:r>
          </a:p>
          <a:p xmlns:a="http://schemas.openxmlformats.org/drawingml/2006/main">
            <a:r>
              <a:t>      "evidence": "지역·시간 단위 원천 집계 대사표와 노선 후보 선정 사유",</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"교통정책 담당·운송 운영자",</a:t>
            </a:r>
          </a:p>
          <a:p xmlns:a="http://schemas.openxmlformats.org/drawingml/2006/main">
            <a:r>
              <a:t>          "processing": "시간대·출발지·도착지 지정",</a:t>
            </a:r>
          </a:p>
          <a:p xmlns:a="http://schemas.openxmlformats.org/drawingml/2006/main">
            <a:r>
              <a:t>          "output": "시간대별 이동량"</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"수요·노선 자료",</a:t>
            </a:r>
          </a:p>
          <a:p xmlns:a="http://schemas.openxmlformats.org/drawingml/2006/main">
            <a:r>
              <a:t>          "processing": "통신 수요·노선의 공간 단위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"시간대별 이동량",</a:t>
            </a:r>
          </a:p>
          <a:p xmlns:a="http://schemas.openxmlformats.org/drawingml/2006/main">
            <a:r>
              <a:t>          "processing": "이동량 집계와 노선별 수요 비교",</a:t>
            </a:r>
          </a:p>
          <a:p xmlns:a="http://schemas.openxmlformats.org/drawingml/2006/main">
            <a:r>
              <a:t>          "output": "노선 후보"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"노선 후보",</a:t>
            </a:r>
          </a:p>
          <a:p xmlns:a="http://schemas.openxmlformats.org/drawingml/2006/main">
            <a:r>
              <a:t>          "processing": "노선 후보를 담당자의 운행계획 검토에 전달",</a:t>
            </a:r>
          </a:p>
          <a:p xmlns:a="http://schemas.openxmlformats.org/drawingml/2006/main">
            <a:r>
              <a:t>          "output": "운영 노선"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"운행 후 수요 차이를 차기 노선 검토에 반영",</a:t>
            </a:r>
          </a:p>
          <a:p xmlns:a="http://schemas.openxmlformats.org/drawingml/2006/main">
            <a:r>
              <a:t>          "output":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"운행 후 수요 차이를 차기 노선 검토에 반영",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"S01",</a:t>
            </a:r>
          </a:p>
          <a:p xmlns:a="http://schemas.openxmlformats.org/drawingml/2006/main">
            <a:r>
              <a:t>        "title": "서울시 · 올빼미버스 빅데이터 정책",</a:t>
            </a:r>
          </a:p>
          <a:p xmlns:a="http://schemas.openxmlformats.org/drawingml/2006/main">
            <a:r>
              <a:t>        "url": "https://english.seoul.go.kr/smg-taps-big-data-customized-policy/",</a:t>
            </a:r>
          </a:p>
          <a:p xmlns:a="http://schemas.openxmlformats.org/drawingml/2006/main">
            <a:r>
              <a:t>        "published": "2014-04-28",</a:t>
            </a:r>
          </a:p>
          <a:p xmlns:a="http://schemas.openxmlformats.org/drawingml/2006/main">
            <a:r>
              <a:t>        "level": "운영기관 발표",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"현장 수요와 데이터 분석의 정책 결정 연결",</a:t>
            </a:r>
          </a:p>
          <a:p xmlns:a="http://schemas.openxmlformats.org/drawingml/2006/main">
            <a:r>
              <a:t>    "local": "TS 관할·교통약자·이동 수요를 지역별 업무 사전으로 연결",</a:t>
            </a:r>
          </a:p>
          <a:p xmlns:a="http://schemas.openxmlformats.org/drawingml/2006/main">
            <a:r>
              <a:t>    "sourceDetail": null,</a:t>
            </a:r>
          </a:p>
          <a:p xmlns:a="http://schemas.openxmlformats.org/drawingml/2006/main">
            <a:r>
              <a:t>    "narrative": [</a:t>
            </a:r>
          </a:p>
          <a:p xmlns:a="http://schemas.openxmlformats.org/drawingml/2006/main">
            <a:r>
              <a:t>      "심야 교통 수요를 실제 노선 결정에 연결한 데이터 기반 정책 사례. 기존 노선·운행계획을 검토하는 담당자가 시간대·지역별 잠재 수요를 함께 비교하는 업무 변화.",</a:t>
            </a:r>
          </a:p>
          <a:p xmlns:a="http://schemas.openxmlformats.org/drawingml/2006/main">
            <a:r>
              <a:t>      "통신 이동량과 노선 정보를 공통 공간 단위로 정리한 뒤 수요 분포와 노선 후보를 비교하는 분석 흐름의 재구성. CCK 적용 시 분석 결과를 담당 관할·교통약자 지원 업무·노선 검토자료로 변환하는 단계의 분리.",</a:t>
            </a:r>
          </a:p>
          <a:p xmlns:a="http://schemas.openxmlformats.org/drawingml/2006/main">
            <a:r>
              <a:t>      "운영 노선 확대 실적과 안전·지역경제 효과의 구분. 통신자료의 대표성, 시간대별 집계 재현성, 실제 승차 수요와의 차이를 확인한 후 TS 업무 검토시간·근거 누락률로 평가할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"노선 검토 요청",</a:t>
            </a:r>
          </a:p>
          <a:p xmlns:a="http://schemas.openxmlformats.org/drawingml/2006/main">
            <a:r>
              <a:t>          "layer": "이용 접점",</a:t>
            </a:r>
          </a:p>
          <a:p xmlns:a="http://schemas.openxmlformats.org/drawingml/2006/main">
            <a:r>
              <a:t>          "detail": "교통정책 담당·운송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"시간·지역 범위",</a:t>
            </a:r>
          </a:p>
          <a:p xmlns:a="http://schemas.openxmlformats.org/drawingml/2006/main">
            <a:r>
              <a:t>          "layer": "업무 문맥",</a:t>
            </a:r>
          </a:p>
          <a:p xmlns:a="http://schemas.openxmlformats.org/drawingml/2006/main">
            <a:r>
              <a:t>          "detail": "시간대·출발지·도착지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"수요 집계 조회",</a:t>
            </a:r>
          </a:p>
          <a:p xmlns:a="http://schemas.openxmlformats.org/drawingml/2006/main">
            <a:r>
              <a:t>          "layer": "자료 조회",</a:t>
            </a:r>
          </a:p>
          <a:p xmlns:a="http://schemas.openxmlformats.org/drawingml/2006/main">
            <a:r>
              <a:t>          "detail": "시간대별 이동량",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"노선 후보 분석",</a:t>
            </a:r>
          </a:p>
          <a:p xmlns:a="http://schemas.openxmlformats.org/drawingml/2006/main">
            <a:r>
              <a:t>          "layer": "핵심 처리",</a:t>
            </a:r>
          </a:p>
          <a:p xmlns:a="http://schemas.openxmlformats.org/drawingml/2006/main">
            <a:r>
              <a:t>          "detail": "이동량 집계와 노선별 수요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"대표성·집계 검증",</a:t>
            </a:r>
          </a:p>
          <a:p xmlns:a="http://schemas.openxmlformats.org/drawingml/2006/main">
            <a:r>
              <a:t>          "layer": "결과 검증",</a:t>
            </a:r>
          </a:p>
          <a:p xmlns:a="http://schemas.openxmlformats.org/drawingml/2006/main">
            <a:r>
              <a:t>          "detail": "집계 단위·관측기간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"교통정책 검토",</a:t>
            </a:r>
          </a:p>
          <a:p xmlns:a="http://schemas.openxmlformats.org/drawingml/2006/main">
            <a:r>
              <a:t>          "layer": "사람 확인",</a:t>
            </a:r>
          </a:p>
          <a:p xmlns:a="http://schemas.openxmlformats.org/drawingml/2006/main">
            <a:r>
              <a:t>          "detail": "심야 시간대별 이동 수요를 기존 노선과 대조해 미충족 구간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"노선 운영계획",</a:t>
            </a:r>
          </a:p>
          <a:p xmlns:a="http://schemas.openxmlformats.org/drawingml/2006/main">
            <a:r>
              <a:t>          "layer": "업무 연결",</a:t>
            </a:r>
          </a:p>
          <a:p xmlns:a="http://schemas.openxmlformats.org/drawingml/2006/main">
            <a:r>
              <a:t>          "detail": "노선 후보를 담당자의 운행계획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"운행 수요 비교",</a:t>
            </a:r>
          </a:p>
          <a:p xmlns:a="http://schemas.openxmlformats.org/drawingml/2006/main">
            <a:r>
              <a:t>          "layer": "운영 관측",</a:t>
            </a:r>
          </a:p>
          <a:p xmlns:a="http://schemas.openxmlformats.org/drawingml/2006/main">
            <a:r>
              <a:t>          "detail": "운행 후 수요 차이를 차기 노선 검토에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"통신·노선 자료",</a:t>
            </a:r>
          </a:p>
          <a:p xmlns:a="http://schemas.openxmlformats.org/drawingml/2006/main">
            <a:r>
              <a:t>          "layer": "데이터 원천",</a:t>
            </a:r>
          </a:p>
          <a:p xmlns:a="http://schemas.openxmlformats.org/drawingml/2006/main">
            <a:r>
              <a:t>          "detail": "수요·노선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"공간 단위 정합화",</a:t>
            </a:r>
          </a:p>
          <a:p xmlns:a="http://schemas.openxmlformats.org/drawingml/2006/main">
            <a:r>
              <a:t>          "layer": "준비·갱신",</a:t>
            </a:r>
          </a:p>
          <a:p xmlns:a="http://schemas.openxmlformats.org/drawingml/2006/main">
            <a:r>
              <a:t>          "detail": "통신 수요·노선의 공간 단위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"지역·시간 집계",</a:t>
            </a:r>
          </a:p>
          <a:p xmlns:a="http://schemas.openxmlformats.org/drawingml/2006/main">
            <a:r>
              <a:t>          "layer": "상태·지식 저장",</a:t>
            </a:r>
          </a:p>
          <a:p xmlns:a="http://schemas.openxmlformats.org/drawingml/2006/main">
            <a:r>
              <a:t>          "detail": "지역·시간 단위 원천 집계 대사표와 노선 후보 선정 사유",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"집계 이용정책",</a:t>
            </a:r>
          </a:p>
          <a:p xmlns:a="http://schemas.openxmlformats.org/drawingml/2006/main">
            <a:r>
              <a:t>          "layer": "권한·정책",</a:t>
            </a:r>
          </a:p>
          <a:p xmlns:a="http://schemas.openxmlformats.org/drawingml/2006/main">
            <a:r>
              <a:t>          "detail": "지역별 통신 표본 비율 차이·관측기간 불일치",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"통신 이동 수요 → 시간·지역 분석 → 노선 선정 → 심야버스 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"수요·노선 자료",</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"지역별 수요 분포",</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"노선 후보",</a:t>
            </a:r>
          </a:p>
          <a:p xmlns:a="http://schemas.openxmlformats.org/drawingml/2006/main">
            <a:r>
              <a:t>          "check":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"노선 후보",</a:t>
            </a:r>
          </a:p>
          <a:p xmlns:a="http://schemas.openxmlformats.org/drawingml/2006/main">
            <a:r>
              <a:t>          "check": "집계 단위·관측기간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"운영 노선",</a:t>
            </a:r>
          </a:p>
          <a:p xmlns:a="http://schemas.openxmlformats.org/drawingml/2006/main">
            <a:r>
              <a:t>          "check":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"심야 이동 수요에 맞춘 버스 노선 설계 / 심야 수요 분포·노선 후보 비교·운행 검토",</a:t>
            </a:r>
          </a:p>
          <a:p xmlns:a="http://schemas.openxmlformats.org/drawingml/2006/main">
            <a:r>
              <a:t>        "extension": "TS 관할·교통약자·이동 수요를 지역별 업무 사전으로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"지역별 통신 표본 비율 차이·관측기간 불일치",</a:t>
            </a:r>
          </a:p>
          <a:p xmlns:a="http://schemas.openxmlformats.org/drawingml/2006/main">
            <a:r>
              <a:t>        "hold": "집계 단위·관측기간 대조",</a:t>
            </a:r>
          </a:p>
          <a:p xmlns:a="http://schemas.openxmlformats.org/drawingml/2006/main">
            <a:r>
              <a:t>        "recovery": "운행 후 수요 차이를 차기 노선 검토에 반영",</a:t>
            </a:r>
          </a:p>
          <a:p xmlns:a="http://schemas.openxmlformats.org/drawingml/2006/main">
            <a:r>
              <a:t>        "evidence": "지역·시간 단위 원천 집계 대사표와 노선 후보 선정 사유"</a:t>
            </a:r>
          </a:p>
          <a:p xmlns:a="http://schemas.openxmlformats.org/drawingml/2006/main">
            <a:r>
              <a:t>      },</a:t>
            </a:r>
          </a:p>
          <a:p xmlns:a="http://schemas.openxmlformats.org/drawingml/2006/main">
            <a:r>
              <a:t>      "data": {</a:t>
            </a:r>
          </a:p>
          <a:p xmlns:a="http://schemas.openxmlformats.org/drawingml/2006/main">
            <a:r>
              <a:t>        "source": "수요·노선 자료",</a:t>
            </a:r>
          </a:p>
          <a:p xmlns:a="http://schemas.openxmlformats.org/drawingml/2006/main">
            <a:r>
              <a:t>        "prepare": "통신 수요·노선의 공간 단위 정합화",</a:t>
            </a:r>
          </a:p>
          <a:p xmlns:a="http://schemas.openxmlformats.org/drawingml/2006/main">
            <a:r>
              <a:t>        "output": "시간대별 이동량",</a:t>
            </a:r>
          </a:p>
          <a:p xmlns:a="http://schemas.openxmlformats.org/drawingml/2006/main">
            <a:r>
              <a:t>        "refresh": "운행 후 수요 차이를 차기 노선 검토에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"AX01",</a:t>
            </a:r>
          </a:p>
          <a:p xmlns:a="http://schemas.openxmlformats.org/drawingml/2006/main">
            <a:r>
              <a:t>    "success": [</a:t>
            </a:r>
          </a:p>
          <a:p xmlns:a="http://schemas.openxmlformats.org/drawingml/2006/main">
            <a:r>
              <a:t>      "통신 수요와 실제 노선의 결합",</a:t>
            </a:r>
          </a:p>
          <a:p xmlns:a="http://schemas.openxmlformats.org/drawingml/2006/main">
            <a:r>
              <a:t>      "심야 시간·지역 단위의 수요 구분"</a:t>
            </a:r>
          </a:p>
          <a:p xmlns:a="http://schemas.openxmlformats.org/drawingml/2006/main">
            <a:r>
              <a:t>    ],</a:t>
            </a:r>
          </a:p>
          <a:p xmlns:a="http://schemas.openxmlformats.org/drawingml/2006/main">
            <a:r>
              <a:t>    "risks": [</a:t>
            </a:r>
          </a:p>
          <a:p xmlns:a="http://schemas.openxmlformats.org/drawingml/2006/main">
            <a:r>
              <a:t>      "휴대전화 자료의 이용자 대표성 차이",</a:t>
            </a:r>
          </a:p>
          <a:p xmlns:a="http://schemas.openxmlformats.org/drawingml/2006/main">
            <a:r>
              <a:t>      "노선 확대와 사고 감소의 인과관계 분리"</a:t>
            </a:r>
          </a:p>
          <a:p xmlns:a="http://schemas.openxmlformats.org/drawingml/2006/main">
            <a:r>
              <a:t>    ],</a:t>
            </a:r>
          </a:p>
          <a:p xmlns:a="http://schemas.openxmlformats.org/drawingml/2006/main">
            <a:r>
              <a:t>    "architecture": [</a:t>
            </a:r>
          </a:p>
          <a:p xmlns:a="http://schemas.openxmlformats.org/drawingml/2006/main">
            <a:r>
              <a:t>      "이동 수요 자료",</a:t>
            </a:r>
          </a:p>
          <a:p xmlns:a="http://schemas.openxmlformats.org/drawingml/2006/main">
            <a:r>
              <a:t>      "시간·지역 집계 분석",</a:t>
            </a:r>
          </a:p>
          <a:p xmlns:a="http://schemas.openxmlformats.org/drawingml/2006/main">
            <a:r>
              <a:t>      "수요·노선 자료",</a:t>
            </a:r>
          </a:p>
          <a:p xmlns:a="http://schemas.openxmlformats.org/drawingml/2006/main">
            <a:r>
              <a:t>      "노선 기획 담당"</a:t>
            </a:r>
          </a:p>
          <a:p xmlns:a="http://schemas.openxmlformats.org/drawingml/2006/main">
            <a:r>
              <a:t>    ],</a:t>
            </a:r>
          </a:p>
          <a:p xmlns:a="http://schemas.openxmlformats.org/drawingml/2006/main">
            <a:r>
              <a:t>    "transfers": [</a:t>
            </a:r>
          </a:p>
          <a:p xmlns:a="http://schemas.openxmlformats.org/drawingml/2006/main">
            <a:r>
              <a:t>      "시간대별 이동량",</a:t>
            </a:r>
          </a:p>
          <a:p xmlns:a="http://schemas.openxmlformats.org/drawingml/2006/main">
            <a:r>
              <a:t>      "지역별 수요 분포",</a:t>
            </a:r>
          </a:p>
          <a:p xmlns:a="http://schemas.openxmlformats.org/drawingml/2006/main">
            <a:r>
              <a:t>      "노선 후보",</a:t>
            </a:r>
          </a:p>
          <a:p xmlns:a="http://schemas.openxmlformats.org/drawingml/2006/main">
            <a:r>
              <a:t>      "운영 노선"</a:t>
            </a:r>
          </a:p>
          <a:p xmlns:a="http://schemas.openxmlformats.org/drawingml/2006/main">
            <a:r>
              <a:t>    ],</a:t>
            </a:r>
          </a:p>
          <a:p xmlns:a="http://schemas.openxmlformats.org/drawingml/2006/main">
            <a:r>
              <a:t>    "control": "집계 단위·관측기간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서울시 · 올빼미버스 빅데이터 정책 https://english.seoul.go.kr/smg-taps-big-data-customized-policy/</a:t>
            </a:r>
          </a:p>
          <a:p xmlns:a="http://schemas.openxmlformats.org/drawingml/2006/main">
            <a:r>
              <a:t>홈페이지 https://heen1987-ops.github.io/TS-business-Plan-001/index.html?view=casebook&amp;case=AX01</a:t>
            </a:r>
          </a:p>
          <a:p xmlns:a="http://schemas.openxmlformats.org/drawingml/2006/main">
            <a:r>
              <a:t>한계: 운영기관 발표 · 생성형 AI 사례 아님 · 사고 감소·지역경제 인과효과 별도</a:t>
            </a:r>
          </a:p>
          <a:p xmlns:a="http://schemas.openxmlformats.org/drawingml/2006/main">
            <a:r>
              <a:t>실패 위험: 휴대전화 자료의 이용자 대표성 차이 / 노선 확대와 사고 감소의 인과관계 분리</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"AX01",</a:t>
            </a:r>
          </a:p>
          <a:p xmlns:a="http://schemas.openxmlformats.org/drawingml/2006/main">
            <a:r>
              <a:t>    "title": "서울 올빼미버스",</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"빅데이터 정책 적용",</a:t>
            </a:r>
          </a:p>
          <a:p xmlns:a="http://schemas.openxmlformats.org/drawingml/2006/main">
            <a:r>
              <a:t>    "period": "2013–2014",</a:t>
            </a:r>
          </a:p>
          <a:p xmlns:a="http://schemas.openxmlformats.org/drawingml/2006/main">
            <a:r>
              <a:t>    "sources": [</a:t>
            </a:r>
          </a:p>
          <a:p xmlns:a="http://schemas.openxmlformats.org/drawingml/2006/main">
            <a:r>
              <a:t>      "S01"</a:t>
            </a:r>
          </a:p>
          <a:p xmlns:a="http://schemas.openxmlformats.org/drawingml/2006/main">
            <a:r>
              <a:t>    ],</a:t>
            </a:r>
          </a:p>
          <a:p xmlns:a="http://schemas.openxmlformats.org/drawingml/2006/main">
            <a:r>
              <a:t>    "keywords": [</a:t>
            </a:r>
          </a:p>
          <a:p xmlns:a="http://schemas.openxmlformats.org/drawingml/2006/main">
            <a:r>
              <a:t>      "이동 수요",</a:t>
            </a:r>
          </a:p>
          <a:p xmlns:a="http://schemas.openxmlformats.org/drawingml/2006/main">
            <a:r>
              <a:t>      "교통약자",</a:t>
            </a:r>
          </a:p>
          <a:p xmlns:a="http://schemas.openxmlformats.org/drawingml/2006/main">
            <a:r>
              <a:t>      "지역",</a:t>
            </a:r>
          </a:p>
          <a:p xmlns:a="http://schemas.openxmlformats.org/drawingml/2006/main">
            <a:r>
              <a:t>      "데이터 연계"</a:t>
            </a:r>
          </a:p>
          <a:p xmlns:a="http://schemas.openxmlformats.org/drawingml/2006/main">
            <a:r>
              <a:t>    ],</a:t>
            </a:r>
          </a:p>
          <a:p xmlns:a="http://schemas.openxmlformats.org/drawingml/2006/main">
            <a:r>
              <a:t>    "fact": "통신 데이터 분석의 심야버스 노선 반영 및 2개 노선에서 9개 노선으로 운영 확대",</a:t>
            </a:r>
          </a:p>
          <a:p xmlns:a="http://schemas.openxmlformats.org/drawingml/2006/main">
            <a:r>
              <a:t>    "limit": "운영기관 발표 · 생성형 AI 사례 아님 · 사고 감소·지역경제 인과효과 별도",</a:t>
            </a:r>
          </a:p>
          <a:p xmlns:a="http://schemas.openxmlformats.org/drawingml/2006/main">
            <a:r>
              <a:t>    "flow": [</a:t>
            </a:r>
          </a:p>
          <a:p xmlns:a="http://schemas.openxmlformats.org/drawingml/2006/main">
            <a:r>
              <a:t>      "통신 이동 수요",</a:t>
            </a:r>
          </a:p>
          <a:p xmlns:a="http://schemas.openxmlformats.org/drawingml/2006/main">
            <a:r>
              <a:t>      "시간·지역 분석",</a:t>
            </a:r>
          </a:p>
          <a:p xmlns:a="http://schemas.openxmlformats.org/drawingml/2006/main">
            <a:r>
              <a:t>      "노선 선정",</a:t>
            </a:r>
          </a:p>
          <a:p xmlns:a="http://schemas.openxmlformats.org/drawingml/2006/main">
            <a:r>
              <a:t>      "심야버스 운영"</a:t>
            </a:r>
          </a:p>
          <a:p xmlns:a="http://schemas.openxmlformats.org/drawingml/2006/main">
            <a:r>
              <a:t>    ],</a:t>
            </a:r>
          </a:p>
          <a:p xmlns:a="http://schemas.openxmlformats.org/drawingml/2006/main">
            <a:r>
              <a:t>    "flowBasis": "공개 업무 흐름 요약 · 시스템 배치도 재현 아님",</a:t>
            </a:r>
          </a:p>
          <a:p xmlns:a="http://schemas.openxmlformats.org/drawingml/2006/main">
            <a:r>
              <a:t>    "lesson": "현장 수요와 데이터 분석의 정책 결정 연결",</a:t>
            </a:r>
          </a:p>
          <a:p xmlns:a="http://schemas.openxmlformats.org/drawingml/2006/main">
            <a:r>
              <a:t>    "local": "TS 관할·교통약자·이동 수요를 지역별 업무 사전으로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"지역·시간·관할 코드 정규화 / 집계 통계와 현장 근거 대조",</a:t>
            </a:r>
          </a:p>
          <a:p xmlns:a="http://schemas.openxmlformats.org/drawingml/2006/main">
            <a:r>
              <a:t>    "test": "동일 지역·기간의 원천 집계 재현 및 담당 부서 매핑 대조",</a:t>
            </a:r>
          </a:p>
          <a:p xmlns:a="http://schemas.openxmlformats.org/drawingml/2006/main">
            <a:r>
              <a:t>    "metric": "수요 검토 소요시간 / 근거 누락률"</a:t>
            </a:r>
          </a:p>
          <a:p xmlns:a="http://schemas.openxmlformats.org/drawingml/2006/main">
            <a:r>
              <a:t>  },</a:t>
            </a:r>
          </a:p>
          <a:p xmlns:a="http://schemas.openxmlformats.org/drawingml/2006/main">
            <a:r>
              <a:t>  "design": {</a:t>
            </a:r>
          </a:p>
          <a:p xmlns:a="http://schemas.openxmlformats.org/drawingml/2006/main">
            <a:r>
              <a:t>    "id": "AX01",</a:t>
            </a:r>
          </a:p>
          <a:p xmlns:a="http://schemas.openxmlformats.org/drawingml/2006/main">
            <a:r>
              <a:t>    "canonicalId": "AX01",</a:t>
            </a:r>
          </a:p>
          <a:p xmlns:a="http://schemas.openxmlformats.org/drawingml/2006/main">
            <a:r>
              <a:t>    "purpose": "심야 이동 수요에 맞춘 버스 노선 설계",</a:t>
            </a:r>
          </a:p>
          <a:p xmlns:a="http://schemas.openxmlformats.org/drawingml/2006/main">
            <a:r>
              <a:t>    "users": "교통정책 담당·운송 운영자",</a:t>
            </a:r>
          </a:p>
          <a:p xmlns:a="http://schemas.openxmlformats.org/drawingml/2006/main">
            <a:r>
              <a:t>    "scope": [</a:t>
            </a:r>
          </a:p>
          <a:p xmlns:a="http://schemas.openxmlformats.org/drawingml/2006/main">
            <a:r>
              <a:t>      "심야 수요 분포",</a:t>
            </a:r>
          </a:p>
          <a:p xmlns:a="http://schemas.openxmlformats.org/drawingml/2006/main">
            <a:r>
              <a:t>      "노선 후보 비교",</a:t>
            </a:r>
          </a:p>
          <a:p xmlns:a="http://schemas.openxmlformats.org/drawingml/2006/main">
            <a:r>
              <a:t>      "운행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"이동 수요 자료",</a:t>
            </a:r>
          </a:p>
          <a:p xmlns:a="http://schemas.openxmlformats.org/drawingml/2006/main">
            <a:r>
              <a:t>        "detail": "시간대·출발지·도착지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"심야 수요 분포 / 노선 후보 비교 / 운행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"시간·지역 집계 분석",</a:t>
            </a:r>
          </a:p>
          <a:p xmlns:a="http://schemas.openxmlformats.org/drawingml/2006/main">
            <a:r>
              <a:t>        "detail": "이동량 집계와 노선별 수요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"노선 기획 담당",</a:t>
            </a:r>
          </a:p>
          <a:p xmlns:a="http://schemas.openxmlformats.org/drawingml/2006/main">
            <a:r>
              <a:t>        "detail": "노선 후보를 담당자의 운행계획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"수요·노선 자료",</a:t>
            </a:r>
          </a:p>
          <a:p xmlns:a="http://schemas.openxmlformats.org/drawingml/2006/main">
            <a:r>
              <a:t>        "detail": "통신 수요·노선의 공간 단위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"운행 후 수요 차이를 차기 노선 검토에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"통신 이동 수요",</a:t>
            </a:r>
          </a:p>
          <a:p xmlns:a="http://schemas.openxmlformats.org/drawingml/2006/main">
            <a:r>
              <a:t>        "input": "시간대·출발지·도착지 지정",</a:t>
            </a:r>
          </a:p>
          <a:p xmlns:a="http://schemas.openxmlformats.org/drawingml/2006/main">
            <a:r>
              <a:t>        "process": "통신 수요·노선의 공간 단위 정합화",</a:t>
            </a:r>
          </a:p>
          <a:p xmlns:a="http://schemas.openxmlformats.org/drawingml/2006/main">
            <a:r>
              <a:t>        "output": "시간대별 이동량"</a:t>
            </a:r>
          </a:p>
          <a:p xmlns:a="http://schemas.openxmlformats.org/drawingml/2006/main">
            <a:r>
              <a:t>      },</a:t>
            </a:r>
          </a:p>
          <a:p xmlns:a="http://schemas.openxmlformats.org/drawingml/2006/main">
            <a:r>
              <a:t>      {</a:t>
            </a:r>
          </a:p>
          <a:p xmlns:a="http://schemas.openxmlformats.org/drawingml/2006/main">
            <a:r>
              <a:t>        "title": "시간·지역 분석",</a:t>
            </a:r>
          </a:p>
          <a:p xmlns:a="http://schemas.openxmlformats.org/drawingml/2006/main">
            <a:r>
              <a:t>        "input": "시간대별 이동량",</a:t>
            </a:r>
          </a:p>
          <a:p xmlns:a="http://schemas.openxmlformats.org/drawingml/2006/main">
            <a:r>
              <a:t>        "process": "이동량 집계와 노선별 수요 비교",</a:t>
            </a:r>
          </a:p>
          <a:p xmlns:a="http://schemas.openxmlformats.org/drawingml/2006/main">
            <a:r>
              <a:t>        "output": "지역별 수요 분포"</a:t>
            </a:r>
          </a:p>
          <a:p xmlns:a="http://schemas.openxmlformats.org/drawingml/2006/main">
            <a:r>
              <a:t>      },</a:t>
            </a:r>
          </a:p>
          <a:p xmlns:a="http://schemas.openxmlformats.org/drawingml/2006/main">
            <a:r>
              <a:t>      {</a:t>
            </a:r>
          </a:p>
          <a:p xmlns:a="http://schemas.openxmlformats.org/drawingml/2006/main">
            <a:r>
              <a:t>        "title": "노선 선정",</a:t>
            </a:r>
          </a:p>
          <a:p xmlns:a="http://schemas.openxmlformats.org/drawingml/2006/main">
            <a:r>
              <a:t>        "input": "지역별 수요 분포",</a:t>
            </a:r>
          </a:p>
          <a:p xmlns:a="http://schemas.openxmlformats.org/drawingml/2006/main">
            <a:r>
              <a:t>        "process": "집계 단위·관측기간 대조",</a:t>
            </a:r>
          </a:p>
          <a:p xmlns:a="http://schemas.openxmlformats.org/drawingml/2006/main">
            <a:r>
              <a:t>        "output": "노선 후보"</a:t>
            </a:r>
          </a:p>
          <a:p xmlns:a="http://schemas.openxmlformats.org/drawingml/2006/main">
            <a:r>
              <a:t>      },</a:t>
            </a:r>
          </a:p>
          <a:p xmlns:a="http://schemas.openxmlformats.org/drawingml/2006/main">
            <a:r>
              <a:t>      {</a:t>
            </a:r>
          </a:p>
          <a:p xmlns:a="http://schemas.openxmlformats.org/drawingml/2006/main">
            <a:r>
              <a:t>        "title": "심야버스 운영",</a:t>
            </a:r>
          </a:p>
          <a:p xmlns:a="http://schemas.openxmlformats.org/drawingml/2006/main">
            <a:r>
              <a:t>        "input": "노선 후보",</a:t>
            </a:r>
          </a:p>
          <a:p xmlns:a="http://schemas.openxmlformats.org/drawingml/2006/main">
            <a:r>
              <a:t>        "process": "노선 후보를 담당자의 운행계획 검토에 전달",</a:t>
            </a:r>
          </a:p>
          <a:p xmlns:a="http://schemas.openxmlformats.org/drawingml/2006/main">
            <a:r>
              <a:t>        "output": "운영 노선"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"심야 시간대별 이동 수요를 기존 노선과 대조해 미충족 구간 선정",</a:t>
            </a:r>
          </a:p>
          <a:p xmlns:a="http://schemas.openxmlformats.org/drawingml/2006/main">
            <a:r>
              <a:t>      "exception": "지역별 통신 표본 비율 차이·관측기간 불일치",</a:t>
            </a:r>
          </a:p>
          <a:p xmlns:a="http://schemas.openxmlformats.org/drawingml/2006/main">
            <a:r>
              <a:t>      "evidence": "지역·시간 단위 원천 집계 대사표와 노선 후보 선정 사유",</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"교통정책 담당·운송 운영자",</a:t>
            </a:r>
          </a:p>
          <a:p xmlns:a="http://schemas.openxmlformats.org/drawingml/2006/main">
            <a:r>
              <a:t>          "processing": "시간대·출발지·도착지 지정",</a:t>
            </a:r>
          </a:p>
          <a:p xmlns:a="http://schemas.openxmlformats.org/drawingml/2006/main">
            <a:r>
              <a:t>          "output": "시간대별 이동량"</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"수요·노선 자료",</a:t>
            </a:r>
          </a:p>
          <a:p xmlns:a="http://schemas.openxmlformats.org/drawingml/2006/main">
            <a:r>
              <a:t>          "processing": "통신 수요·노선의 공간 단위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"시간대별 이동량",</a:t>
            </a:r>
          </a:p>
          <a:p xmlns:a="http://schemas.openxmlformats.org/drawingml/2006/main">
            <a:r>
              <a:t>          "processing": "이동량 집계와 노선별 수요 비교",</a:t>
            </a:r>
          </a:p>
          <a:p xmlns:a="http://schemas.openxmlformats.org/drawingml/2006/main">
            <a:r>
              <a:t>          "output": "노선 후보"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"노선 후보",</a:t>
            </a:r>
          </a:p>
          <a:p xmlns:a="http://schemas.openxmlformats.org/drawingml/2006/main">
            <a:r>
              <a:t>          "processing": "노선 후보를 담당자의 운행계획 검토에 전달",</a:t>
            </a:r>
          </a:p>
          <a:p xmlns:a="http://schemas.openxmlformats.org/drawingml/2006/main">
            <a:r>
              <a:t>          "output": "운영 노선"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"운행 후 수요 차이를 차기 노선 검토에 반영",</a:t>
            </a:r>
          </a:p>
          <a:p xmlns:a="http://schemas.openxmlformats.org/drawingml/2006/main">
            <a:r>
              <a:t>          "output":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"운행 후 수요 차이를 차기 노선 검토에 반영",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"S01",</a:t>
            </a:r>
          </a:p>
          <a:p xmlns:a="http://schemas.openxmlformats.org/drawingml/2006/main">
            <a:r>
              <a:t>        "title": "서울시 · 올빼미버스 빅데이터 정책",</a:t>
            </a:r>
          </a:p>
          <a:p xmlns:a="http://schemas.openxmlformats.org/drawingml/2006/main">
            <a:r>
              <a:t>        "url": "https://english.seoul.go.kr/smg-taps-big-data-customized-policy/",</a:t>
            </a:r>
          </a:p>
          <a:p xmlns:a="http://schemas.openxmlformats.org/drawingml/2006/main">
            <a:r>
              <a:t>        "published": "2014-04-28",</a:t>
            </a:r>
          </a:p>
          <a:p xmlns:a="http://schemas.openxmlformats.org/drawingml/2006/main">
            <a:r>
              <a:t>        "level": "운영기관 발표",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"현장 수요와 데이터 분석의 정책 결정 연결",</a:t>
            </a:r>
          </a:p>
          <a:p xmlns:a="http://schemas.openxmlformats.org/drawingml/2006/main">
            <a:r>
              <a:t>    "local": "TS 관할·교통약자·이동 수요를 지역별 업무 사전으로 연결",</a:t>
            </a:r>
          </a:p>
          <a:p xmlns:a="http://schemas.openxmlformats.org/drawingml/2006/main">
            <a:r>
              <a:t>    "sourceDetail": null,</a:t>
            </a:r>
          </a:p>
          <a:p xmlns:a="http://schemas.openxmlformats.org/drawingml/2006/main">
            <a:r>
              <a:t>    "narrative": [</a:t>
            </a:r>
          </a:p>
          <a:p xmlns:a="http://schemas.openxmlformats.org/drawingml/2006/main">
            <a:r>
              <a:t>      "심야 교통 수요를 실제 노선 결정에 연결한 데이터 기반 정책 사례. 기존 노선·운행계획을 검토하는 담당자가 시간대·지역별 잠재 수요를 함께 비교하는 업무 변화.",</a:t>
            </a:r>
          </a:p>
          <a:p xmlns:a="http://schemas.openxmlformats.org/drawingml/2006/main">
            <a:r>
              <a:t>      "통신 이동량과 노선 정보를 공통 공간 단위로 정리한 뒤 수요 분포와 노선 후보를 비교하는 분석 흐름의 재구성. CCK 적용 시 분석 결과를 담당 관할·교통약자 지원 업무·노선 검토자료로 변환하는 단계의 분리.",</a:t>
            </a:r>
          </a:p>
          <a:p xmlns:a="http://schemas.openxmlformats.org/drawingml/2006/main">
            <a:r>
              <a:t>      "운영 노선 확대 실적과 안전·지역경제 효과의 구분. 통신자료의 대표성, 시간대별 집계 재현성, 실제 승차 수요와의 차이를 확인한 후 TS 업무 검토시간·근거 누락률로 평가할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"노선 검토 요청",</a:t>
            </a:r>
          </a:p>
          <a:p xmlns:a="http://schemas.openxmlformats.org/drawingml/2006/main">
            <a:r>
              <a:t>          "layer": "이용 접점",</a:t>
            </a:r>
          </a:p>
          <a:p xmlns:a="http://schemas.openxmlformats.org/drawingml/2006/main">
            <a:r>
              <a:t>          "detail": "교통정책 담당·운송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"시간·지역 범위",</a:t>
            </a:r>
          </a:p>
          <a:p xmlns:a="http://schemas.openxmlformats.org/drawingml/2006/main">
            <a:r>
              <a:t>          "layer": "업무 문맥",</a:t>
            </a:r>
          </a:p>
          <a:p xmlns:a="http://schemas.openxmlformats.org/drawingml/2006/main">
            <a:r>
              <a:t>          "detail": "시간대·출발지·도착지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"수요 집계 조회",</a:t>
            </a:r>
          </a:p>
          <a:p xmlns:a="http://schemas.openxmlformats.org/drawingml/2006/main">
            <a:r>
              <a:t>          "layer": "자료 조회",</a:t>
            </a:r>
          </a:p>
          <a:p xmlns:a="http://schemas.openxmlformats.org/drawingml/2006/main">
            <a:r>
              <a:t>          "detail": "시간대별 이동량",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"노선 후보 분석",</a:t>
            </a:r>
          </a:p>
          <a:p xmlns:a="http://schemas.openxmlformats.org/drawingml/2006/main">
            <a:r>
              <a:t>          "layer": "핵심 처리",</a:t>
            </a:r>
          </a:p>
          <a:p xmlns:a="http://schemas.openxmlformats.org/drawingml/2006/main">
            <a:r>
              <a:t>          "detail": "이동량 집계와 노선별 수요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"대표성·집계 검증",</a:t>
            </a:r>
          </a:p>
          <a:p xmlns:a="http://schemas.openxmlformats.org/drawingml/2006/main">
            <a:r>
              <a:t>          "layer": "결과 검증",</a:t>
            </a:r>
          </a:p>
          <a:p xmlns:a="http://schemas.openxmlformats.org/drawingml/2006/main">
            <a:r>
              <a:t>          "detail": "집계 단위·관측기간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"교통정책 검토",</a:t>
            </a:r>
          </a:p>
          <a:p xmlns:a="http://schemas.openxmlformats.org/drawingml/2006/main">
            <a:r>
              <a:t>          "layer": "사람 확인",</a:t>
            </a:r>
          </a:p>
          <a:p xmlns:a="http://schemas.openxmlformats.org/drawingml/2006/main">
            <a:r>
              <a:t>          "detail": "심야 시간대별 이동 수요를 기존 노선과 대조해 미충족 구간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"노선 운영계획",</a:t>
            </a:r>
          </a:p>
          <a:p xmlns:a="http://schemas.openxmlformats.org/drawingml/2006/main">
            <a:r>
              <a:t>          "layer": "업무 연결",</a:t>
            </a:r>
          </a:p>
          <a:p xmlns:a="http://schemas.openxmlformats.org/drawingml/2006/main">
            <a:r>
              <a:t>          "detail": "노선 후보를 담당자의 운행계획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"운행 수요 비교",</a:t>
            </a:r>
          </a:p>
          <a:p xmlns:a="http://schemas.openxmlformats.org/drawingml/2006/main">
            <a:r>
              <a:t>          "layer": "운영 관측",</a:t>
            </a:r>
          </a:p>
          <a:p xmlns:a="http://schemas.openxmlformats.org/drawingml/2006/main">
            <a:r>
              <a:t>          "detail": "운행 후 수요 차이를 차기 노선 검토에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"통신·노선 자료",</a:t>
            </a:r>
          </a:p>
          <a:p xmlns:a="http://schemas.openxmlformats.org/drawingml/2006/main">
            <a:r>
              <a:t>          "layer": "데이터 원천",</a:t>
            </a:r>
          </a:p>
          <a:p xmlns:a="http://schemas.openxmlformats.org/drawingml/2006/main">
            <a:r>
              <a:t>          "detail": "수요·노선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"공간 단위 정합화",</a:t>
            </a:r>
          </a:p>
          <a:p xmlns:a="http://schemas.openxmlformats.org/drawingml/2006/main">
            <a:r>
              <a:t>          "layer": "준비·갱신",</a:t>
            </a:r>
          </a:p>
          <a:p xmlns:a="http://schemas.openxmlformats.org/drawingml/2006/main">
            <a:r>
              <a:t>          "detail": "통신 수요·노선의 공간 단위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"지역·시간 집계",</a:t>
            </a:r>
          </a:p>
          <a:p xmlns:a="http://schemas.openxmlformats.org/drawingml/2006/main">
            <a:r>
              <a:t>          "layer": "상태·지식 저장",</a:t>
            </a:r>
          </a:p>
          <a:p xmlns:a="http://schemas.openxmlformats.org/drawingml/2006/main">
            <a:r>
              <a:t>          "detail": "지역·시간 단위 원천 집계 대사표와 노선 후보 선정 사유",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"집계 이용정책",</a:t>
            </a:r>
          </a:p>
          <a:p xmlns:a="http://schemas.openxmlformats.org/drawingml/2006/main">
            <a:r>
              <a:t>          "layer": "권한·정책",</a:t>
            </a:r>
          </a:p>
          <a:p xmlns:a="http://schemas.openxmlformats.org/drawingml/2006/main">
            <a:r>
              <a:t>          "detail": "지역별 통신 표본 비율 차이·관측기간 불일치",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"통신 이동 수요 → 시간·지역 분석 → 노선 선정 → 심야버스 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"수요·노선 자료",</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"지역별 수요 분포",</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"노선 후보",</a:t>
            </a:r>
          </a:p>
          <a:p xmlns:a="http://schemas.openxmlformats.org/drawingml/2006/main">
            <a:r>
              <a:t>          "check":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"노선 후보",</a:t>
            </a:r>
          </a:p>
          <a:p xmlns:a="http://schemas.openxmlformats.org/drawingml/2006/main">
            <a:r>
              <a:t>          "check": "집계 단위·관측기간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"운영 노선",</a:t>
            </a:r>
          </a:p>
          <a:p xmlns:a="http://schemas.openxmlformats.org/drawingml/2006/main">
            <a:r>
              <a:t>          "check":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"심야 이동 수요에 맞춘 버스 노선 설계 / 심야 수요 분포·노선 후보 비교·운행 검토",</a:t>
            </a:r>
          </a:p>
          <a:p xmlns:a="http://schemas.openxmlformats.org/drawingml/2006/main">
            <a:r>
              <a:t>        "extension": "TS 관할·교통약자·이동 수요를 지역별 업무 사전으로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"지역별 통신 표본 비율 차이·관측기간 불일치",</a:t>
            </a:r>
          </a:p>
          <a:p xmlns:a="http://schemas.openxmlformats.org/drawingml/2006/main">
            <a:r>
              <a:t>        "hold": "집계 단위·관측기간 대조",</a:t>
            </a:r>
          </a:p>
          <a:p xmlns:a="http://schemas.openxmlformats.org/drawingml/2006/main">
            <a:r>
              <a:t>        "recovery": "운행 후 수요 차이를 차기 노선 검토에 반영",</a:t>
            </a:r>
          </a:p>
          <a:p xmlns:a="http://schemas.openxmlformats.org/drawingml/2006/main">
            <a:r>
              <a:t>        "evidence": "지역·시간 단위 원천 집계 대사표와 노선 후보 선정 사유"</a:t>
            </a:r>
          </a:p>
          <a:p xmlns:a="http://schemas.openxmlformats.org/drawingml/2006/main">
            <a:r>
              <a:t>      },</a:t>
            </a:r>
          </a:p>
          <a:p xmlns:a="http://schemas.openxmlformats.org/drawingml/2006/main">
            <a:r>
              <a:t>      "data": {</a:t>
            </a:r>
          </a:p>
          <a:p xmlns:a="http://schemas.openxmlformats.org/drawingml/2006/main">
            <a:r>
              <a:t>        "source": "수요·노선 자료",</a:t>
            </a:r>
          </a:p>
          <a:p xmlns:a="http://schemas.openxmlformats.org/drawingml/2006/main">
            <a:r>
              <a:t>        "prepare": "통신 수요·노선의 공간 단위 정합화",</a:t>
            </a:r>
          </a:p>
          <a:p xmlns:a="http://schemas.openxmlformats.org/drawingml/2006/main">
            <a:r>
              <a:t>        "output": "시간대별 이동량",</a:t>
            </a:r>
          </a:p>
          <a:p xmlns:a="http://schemas.openxmlformats.org/drawingml/2006/main">
            <a:r>
              <a:t>        "refresh": "운행 후 수요 차이를 차기 노선 검토에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"AX01",</a:t>
            </a:r>
          </a:p>
          <a:p xmlns:a="http://schemas.openxmlformats.org/drawingml/2006/main">
            <a:r>
              <a:t>    "success": [</a:t>
            </a:r>
          </a:p>
          <a:p xmlns:a="http://schemas.openxmlformats.org/drawingml/2006/main">
            <a:r>
              <a:t>      "통신 수요와 실제 노선의 결합",</a:t>
            </a:r>
          </a:p>
          <a:p xmlns:a="http://schemas.openxmlformats.org/drawingml/2006/main">
            <a:r>
              <a:t>      "심야 시간·지역 단위의 수요 구분"</a:t>
            </a:r>
          </a:p>
          <a:p xmlns:a="http://schemas.openxmlformats.org/drawingml/2006/main">
            <a:r>
              <a:t>    ],</a:t>
            </a:r>
          </a:p>
          <a:p xmlns:a="http://schemas.openxmlformats.org/drawingml/2006/main">
            <a:r>
              <a:t>    "risks": [</a:t>
            </a:r>
          </a:p>
          <a:p xmlns:a="http://schemas.openxmlformats.org/drawingml/2006/main">
            <a:r>
              <a:t>      "휴대전화 자료의 이용자 대표성 차이",</a:t>
            </a:r>
          </a:p>
          <a:p xmlns:a="http://schemas.openxmlformats.org/drawingml/2006/main">
            <a:r>
              <a:t>      "노선 확대와 사고 감소의 인과관계 분리"</a:t>
            </a:r>
          </a:p>
          <a:p xmlns:a="http://schemas.openxmlformats.org/drawingml/2006/main">
            <a:r>
              <a:t>    ],</a:t>
            </a:r>
          </a:p>
          <a:p xmlns:a="http://schemas.openxmlformats.org/drawingml/2006/main">
            <a:r>
              <a:t>    "architecture": [</a:t>
            </a:r>
          </a:p>
          <a:p xmlns:a="http://schemas.openxmlformats.org/drawingml/2006/main">
            <a:r>
              <a:t>      "이동 수요 자료",</a:t>
            </a:r>
          </a:p>
          <a:p xmlns:a="http://schemas.openxmlformats.org/drawingml/2006/main">
            <a:r>
              <a:t>      "시간·지역 집계 분석",</a:t>
            </a:r>
          </a:p>
          <a:p xmlns:a="http://schemas.openxmlformats.org/drawingml/2006/main">
            <a:r>
              <a:t>      "수요·노선 자료",</a:t>
            </a:r>
          </a:p>
          <a:p xmlns:a="http://schemas.openxmlformats.org/drawingml/2006/main">
            <a:r>
              <a:t>      "노선 기획 담당"</a:t>
            </a:r>
          </a:p>
          <a:p xmlns:a="http://schemas.openxmlformats.org/drawingml/2006/main">
            <a:r>
              <a:t>    ],</a:t>
            </a:r>
          </a:p>
          <a:p xmlns:a="http://schemas.openxmlformats.org/drawingml/2006/main">
            <a:r>
              <a:t>    "transfers": [</a:t>
            </a:r>
          </a:p>
          <a:p xmlns:a="http://schemas.openxmlformats.org/drawingml/2006/main">
            <a:r>
              <a:t>      "시간대별 이동량",</a:t>
            </a:r>
          </a:p>
          <a:p xmlns:a="http://schemas.openxmlformats.org/drawingml/2006/main">
            <a:r>
              <a:t>      "지역별 수요 분포",</a:t>
            </a:r>
          </a:p>
          <a:p xmlns:a="http://schemas.openxmlformats.org/drawingml/2006/main">
            <a:r>
              <a:t>      "노선 후보",</a:t>
            </a:r>
          </a:p>
          <a:p xmlns:a="http://schemas.openxmlformats.org/drawingml/2006/main">
            <a:r>
              <a:t>      "운영 노선"</a:t>
            </a:r>
          </a:p>
          <a:p xmlns:a="http://schemas.openxmlformats.org/drawingml/2006/main">
            <a:r>
              <a:t>    ],</a:t>
            </a:r>
          </a:p>
          <a:p xmlns:a="http://schemas.openxmlformats.org/drawingml/2006/main">
            <a:r>
              <a:t>    "control": "집계 단위·관측기간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서울시 · 올빼미버스 빅데이터 정책 https://english.seoul.go.kr/smg-taps-big-data-customized-policy/</a:t>
            </a:r>
          </a:p>
          <a:p xmlns:a="http://schemas.openxmlformats.org/drawingml/2006/main">
            <a:r>
              <a:t>홈페이지 https://heen1987-ops.github.io/TS-business-Plan-001/index.html?view=casebook&amp;case=AX01</a:t>
            </a:r>
          </a:p>
          <a:p xmlns:a="http://schemas.openxmlformats.org/drawingml/2006/main">
            <a:r>
              <a:t>성과 대조</a:t>
            </a:r>
          </a:p>
          <a:p xmlns:a="http://schemas.openxmlformats.org/drawingml/2006/main">
            <a:r>
              <a:t>{</a:t>
            </a:r>
          </a:p>
          <a:p xmlns:a="http://schemas.openxmlformats.org/drawingml/2006/main">
            <a:r>
              <a:t>  "caseId": "AX01",</a:t>
            </a:r>
          </a:p>
          <a:p xmlns:a="http://schemas.openxmlformats.org/drawingml/2006/main">
            <a:r>
              <a:t>  "asIs": "심야 이동 수요를 정류장·시간대별로 충분히 파악하기 어려워 노선 편성의 근거 부족",</a:t>
            </a:r>
          </a:p>
          <a:p xmlns:a="http://schemas.openxmlformats.org/drawingml/2006/main">
            <a:r>
              <a:t>  "toBe": "통신 이동량과 교통망을 결합한 수요 기반 심야버스 노선 선정·운영",</a:t>
            </a:r>
          </a:p>
          <a:p xmlns:a="http://schemas.openxmlformats.org/drawingml/2006/main">
            <a:r>
              <a:t>  "expectedEffect": "심야 이동 접근성 확대와 수요에 맞는 노선 배분",</a:t>
            </a:r>
          </a:p>
          <a:p xmlns:a="http://schemas.openxmlformats.org/drawingml/2006/main">
            <a:r>
              <a:t>  "observed": "서울시 발표에서 통신 자료 분석을 노선 계획에 반영하고 올빼미버스를 2개에서 9개 노선으로 확대",</a:t>
            </a:r>
          </a:p>
          <a:p xmlns:a="http://schemas.openxmlformats.org/drawingml/2006/main">
            <a:r>
              <a:t>  "verdict": "부분 성과",</a:t>
            </a:r>
          </a:p>
          <a:p xmlns:a="http://schemas.openxmlformats.org/drawingml/2006/main">
            <a:r>
              <a:t>  "verdictReason": "데이터 기반 노선 결정과 운영 확대는 확인; 접근성·혼잡 완화의 인과효과는 제시 근거만으로 분리 불가",</a:t>
            </a:r>
          </a:p>
          <a:p xmlns:a="http://schemas.openxmlformats.org/drawingml/2006/main">
            <a:r>
              <a:t>  "limits": "서울시 운영 발표 기준. 생성형 AI 또는 사고 감소 사례로 해석 불가",</a:t>
            </a:r>
          </a:p>
          <a:p xmlns:a="http://schemas.openxmlformats.org/drawingml/2006/main">
            <a:r>
              <a:t>  "evidenceStage": "운영기관 결과 발표",</a:t>
            </a:r>
          </a:p>
          <a:p xmlns:a="http://schemas.openxmlformats.org/drawingml/2006/main">
            <a:r>
              <a:t>  "sourceUrl": "https://english.seoul.go.kr/smg-taps-big-data-customized-policy/"</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"AX01",</a:t>
            </a:r>
          </a:p>
          <a:p xmlns:a="http://schemas.openxmlformats.org/drawingml/2006/main">
            <a:r>
              <a:t>    "title": "서울 올빼미버스",</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"빅데이터 정책 적용",</a:t>
            </a:r>
          </a:p>
          <a:p xmlns:a="http://schemas.openxmlformats.org/drawingml/2006/main">
            <a:r>
              <a:t>    "period": "2013–2014",</a:t>
            </a:r>
          </a:p>
          <a:p xmlns:a="http://schemas.openxmlformats.org/drawingml/2006/main">
            <a:r>
              <a:t>    "sources": [</a:t>
            </a:r>
          </a:p>
          <a:p xmlns:a="http://schemas.openxmlformats.org/drawingml/2006/main">
            <a:r>
              <a:t>      "S01"</a:t>
            </a:r>
          </a:p>
          <a:p xmlns:a="http://schemas.openxmlformats.org/drawingml/2006/main">
            <a:r>
              <a:t>    ],</a:t>
            </a:r>
          </a:p>
          <a:p xmlns:a="http://schemas.openxmlformats.org/drawingml/2006/main">
            <a:r>
              <a:t>    "keywords": [</a:t>
            </a:r>
          </a:p>
          <a:p xmlns:a="http://schemas.openxmlformats.org/drawingml/2006/main">
            <a:r>
              <a:t>      "이동 수요",</a:t>
            </a:r>
          </a:p>
          <a:p xmlns:a="http://schemas.openxmlformats.org/drawingml/2006/main">
            <a:r>
              <a:t>      "교통약자",</a:t>
            </a:r>
          </a:p>
          <a:p xmlns:a="http://schemas.openxmlformats.org/drawingml/2006/main">
            <a:r>
              <a:t>      "지역",</a:t>
            </a:r>
          </a:p>
          <a:p xmlns:a="http://schemas.openxmlformats.org/drawingml/2006/main">
            <a:r>
              <a:t>      "데이터 연계"</a:t>
            </a:r>
          </a:p>
          <a:p xmlns:a="http://schemas.openxmlformats.org/drawingml/2006/main">
            <a:r>
              <a:t>    ],</a:t>
            </a:r>
          </a:p>
          <a:p xmlns:a="http://schemas.openxmlformats.org/drawingml/2006/main">
            <a:r>
              <a:t>    "fact": "통신 데이터 분석의 심야버스 노선 반영 및 2개 노선에서 9개 노선으로 운영 확대",</a:t>
            </a:r>
          </a:p>
          <a:p xmlns:a="http://schemas.openxmlformats.org/drawingml/2006/main">
            <a:r>
              <a:t>    "limit": "운영기관 발표 · 생성형 AI 사례 아님 · 사고 감소·지역경제 인과효과 별도",</a:t>
            </a:r>
          </a:p>
          <a:p xmlns:a="http://schemas.openxmlformats.org/drawingml/2006/main">
            <a:r>
              <a:t>    "flow": [</a:t>
            </a:r>
          </a:p>
          <a:p xmlns:a="http://schemas.openxmlformats.org/drawingml/2006/main">
            <a:r>
              <a:t>      "통신 이동 수요",</a:t>
            </a:r>
          </a:p>
          <a:p xmlns:a="http://schemas.openxmlformats.org/drawingml/2006/main">
            <a:r>
              <a:t>      "시간·지역 분석",</a:t>
            </a:r>
          </a:p>
          <a:p xmlns:a="http://schemas.openxmlformats.org/drawingml/2006/main">
            <a:r>
              <a:t>      "노선 선정",</a:t>
            </a:r>
          </a:p>
          <a:p xmlns:a="http://schemas.openxmlformats.org/drawingml/2006/main">
            <a:r>
              <a:t>      "심야버스 운영"</a:t>
            </a:r>
          </a:p>
          <a:p xmlns:a="http://schemas.openxmlformats.org/drawingml/2006/main">
            <a:r>
              <a:t>    ],</a:t>
            </a:r>
          </a:p>
          <a:p xmlns:a="http://schemas.openxmlformats.org/drawingml/2006/main">
            <a:r>
              <a:t>    "flowBasis": "공개 업무 흐름 요약 · 시스템 배치도 재현 아님",</a:t>
            </a:r>
          </a:p>
          <a:p xmlns:a="http://schemas.openxmlformats.org/drawingml/2006/main">
            <a:r>
              <a:t>    "lesson": "현장 수요와 데이터 분석의 정책 결정 연결",</a:t>
            </a:r>
          </a:p>
          <a:p xmlns:a="http://schemas.openxmlformats.org/drawingml/2006/main">
            <a:r>
              <a:t>    "local": "TS 관할·교통약자·이동 수요를 지역별 업무 사전으로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"지역·시간·관할 코드 정규화 / 집계 통계와 현장 근거 대조",</a:t>
            </a:r>
          </a:p>
          <a:p xmlns:a="http://schemas.openxmlformats.org/drawingml/2006/main">
            <a:r>
              <a:t>    "test": "동일 지역·기간의 원천 집계 재현 및 담당 부서 매핑 대조",</a:t>
            </a:r>
          </a:p>
          <a:p xmlns:a="http://schemas.openxmlformats.org/drawingml/2006/main">
            <a:r>
              <a:t>    "metric": "수요 검토 소요시간 / 근거 누락률"</a:t>
            </a:r>
          </a:p>
          <a:p xmlns:a="http://schemas.openxmlformats.org/drawingml/2006/main">
            <a:r>
              <a:t>  },</a:t>
            </a:r>
          </a:p>
          <a:p xmlns:a="http://schemas.openxmlformats.org/drawingml/2006/main">
            <a:r>
              <a:t>  "design": {</a:t>
            </a:r>
          </a:p>
          <a:p xmlns:a="http://schemas.openxmlformats.org/drawingml/2006/main">
            <a:r>
              <a:t>    "id": "AX01",</a:t>
            </a:r>
          </a:p>
          <a:p xmlns:a="http://schemas.openxmlformats.org/drawingml/2006/main">
            <a:r>
              <a:t>    "canonicalId": "AX01",</a:t>
            </a:r>
          </a:p>
          <a:p xmlns:a="http://schemas.openxmlformats.org/drawingml/2006/main">
            <a:r>
              <a:t>    "purpose": "심야 이동 수요에 맞춘 버스 노선 설계",</a:t>
            </a:r>
          </a:p>
          <a:p xmlns:a="http://schemas.openxmlformats.org/drawingml/2006/main">
            <a:r>
              <a:t>    "users": "교통정책 담당·운송 운영자",</a:t>
            </a:r>
          </a:p>
          <a:p xmlns:a="http://schemas.openxmlformats.org/drawingml/2006/main">
            <a:r>
              <a:t>    "scope": [</a:t>
            </a:r>
          </a:p>
          <a:p xmlns:a="http://schemas.openxmlformats.org/drawingml/2006/main">
            <a:r>
              <a:t>      "심야 수요 분포",</a:t>
            </a:r>
          </a:p>
          <a:p xmlns:a="http://schemas.openxmlformats.org/drawingml/2006/main">
            <a:r>
              <a:t>      "노선 후보 비교",</a:t>
            </a:r>
          </a:p>
          <a:p xmlns:a="http://schemas.openxmlformats.org/drawingml/2006/main">
            <a:r>
              <a:t>      "운행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"이동 수요 자료",</a:t>
            </a:r>
          </a:p>
          <a:p xmlns:a="http://schemas.openxmlformats.org/drawingml/2006/main">
            <a:r>
              <a:t>        "detail": "시간대·출발지·도착지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"심야 수요 분포 / 노선 후보 비교 / 운행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"시간·지역 집계 분석",</a:t>
            </a:r>
          </a:p>
          <a:p xmlns:a="http://schemas.openxmlformats.org/drawingml/2006/main">
            <a:r>
              <a:t>        "detail": "이동량 집계와 노선별 수요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"노선 기획 담당",</a:t>
            </a:r>
          </a:p>
          <a:p xmlns:a="http://schemas.openxmlformats.org/drawingml/2006/main">
            <a:r>
              <a:t>        "detail": "노선 후보를 담당자의 운행계획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"수요·노선 자료",</a:t>
            </a:r>
          </a:p>
          <a:p xmlns:a="http://schemas.openxmlformats.org/drawingml/2006/main">
            <a:r>
              <a:t>        "detail": "통신 수요·노선의 공간 단위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"운행 후 수요 차이를 차기 노선 검토에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"통신 이동 수요",</a:t>
            </a:r>
          </a:p>
          <a:p xmlns:a="http://schemas.openxmlformats.org/drawingml/2006/main">
            <a:r>
              <a:t>        "input": "시간대·출발지·도착지 지정",</a:t>
            </a:r>
          </a:p>
          <a:p xmlns:a="http://schemas.openxmlformats.org/drawingml/2006/main">
            <a:r>
              <a:t>        "process": "통신 수요·노선의 공간 단위 정합화",</a:t>
            </a:r>
          </a:p>
          <a:p xmlns:a="http://schemas.openxmlformats.org/drawingml/2006/main">
            <a:r>
              <a:t>        "output": "시간대별 이동량"</a:t>
            </a:r>
          </a:p>
          <a:p xmlns:a="http://schemas.openxmlformats.org/drawingml/2006/main">
            <a:r>
              <a:t>      },</a:t>
            </a:r>
          </a:p>
          <a:p xmlns:a="http://schemas.openxmlformats.org/drawingml/2006/main">
            <a:r>
              <a:t>      {</a:t>
            </a:r>
          </a:p>
          <a:p xmlns:a="http://schemas.openxmlformats.org/drawingml/2006/main">
            <a:r>
              <a:t>        "title": "시간·지역 분석",</a:t>
            </a:r>
          </a:p>
          <a:p xmlns:a="http://schemas.openxmlformats.org/drawingml/2006/main">
            <a:r>
              <a:t>        "input": "시간대별 이동량",</a:t>
            </a:r>
          </a:p>
          <a:p xmlns:a="http://schemas.openxmlformats.org/drawingml/2006/main">
            <a:r>
              <a:t>        "process": "이동량 집계와 노선별 수요 비교",</a:t>
            </a:r>
          </a:p>
          <a:p xmlns:a="http://schemas.openxmlformats.org/drawingml/2006/main">
            <a:r>
              <a:t>        "output": "지역별 수요 분포"</a:t>
            </a:r>
          </a:p>
          <a:p xmlns:a="http://schemas.openxmlformats.org/drawingml/2006/main">
            <a:r>
              <a:t>      },</a:t>
            </a:r>
          </a:p>
          <a:p xmlns:a="http://schemas.openxmlformats.org/drawingml/2006/main">
            <a:r>
              <a:t>      {</a:t>
            </a:r>
          </a:p>
          <a:p xmlns:a="http://schemas.openxmlformats.org/drawingml/2006/main">
            <a:r>
              <a:t>        "title": "노선 선정",</a:t>
            </a:r>
          </a:p>
          <a:p xmlns:a="http://schemas.openxmlformats.org/drawingml/2006/main">
            <a:r>
              <a:t>        "input": "지역별 수요 분포",</a:t>
            </a:r>
          </a:p>
          <a:p xmlns:a="http://schemas.openxmlformats.org/drawingml/2006/main">
            <a:r>
              <a:t>        "process": "집계 단위·관측기간 대조",</a:t>
            </a:r>
          </a:p>
          <a:p xmlns:a="http://schemas.openxmlformats.org/drawingml/2006/main">
            <a:r>
              <a:t>        "output": "노선 후보"</a:t>
            </a:r>
          </a:p>
          <a:p xmlns:a="http://schemas.openxmlformats.org/drawingml/2006/main">
            <a:r>
              <a:t>      },</a:t>
            </a:r>
          </a:p>
          <a:p xmlns:a="http://schemas.openxmlformats.org/drawingml/2006/main">
            <a:r>
              <a:t>      {</a:t>
            </a:r>
          </a:p>
          <a:p xmlns:a="http://schemas.openxmlformats.org/drawingml/2006/main">
            <a:r>
              <a:t>        "title": "심야버스 운영",</a:t>
            </a:r>
          </a:p>
          <a:p xmlns:a="http://schemas.openxmlformats.org/drawingml/2006/main">
            <a:r>
              <a:t>        "input": "노선 후보",</a:t>
            </a:r>
          </a:p>
          <a:p xmlns:a="http://schemas.openxmlformats.org/drawingml/2006/main">
            <a:r>
              <a:t>        "process": "노선 후보를 담당자의 운행계획 검토에 전달",</a:t>
            </a:r>
          </a:p>
          <a:p xmlns:a="http://schemas.openxmlformats.org/drawingml/2006/main">
            <a:r>
              <a:t>        "output": "운영 노선"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"심야 시간대별 이동 수요를 기존 노선과 대조해 미충족 구간 선정",</a:t>
            </a:r>
          </a:p>
          <a:p xmlns:a="http://schemas.openxmlformats.org/drawingml/2006/main">
            <a:r>
              <a:t>      "exception": "지역별 통신 표본 비율 차이·관측기간 불일치",</a:t>
            </a:r>
          </a:p>
          <a:p xmlns:a="http://schemas.openxmlformats.org/drawingml/2006/main">
            <a:r>
              <a:t>      "evidence": "지역·시간 단위 원천 집계 대사표와 노선 후보 선정 사유",</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"교통정책 담당·운송 운영자",</a:t>
            </a:r>
          </a:p>
          <a:p xmlns:a="http://schemas.openxmlformats.org/drawingml/2006/main">
            <a:r>
              <a:t>          "processing": "시간대·출발지·도착지 지정",</a:t>
            </a:r>
          </a:p>
          <a:p xmlns:a="http://schemas.openxmlformats.org/drawingml/2006/main">
            <a:r>
              <a:t>          "output": "시간대별 이동량"</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"수요·노선 자료",</a:t>
            </a:r>
          </a:p>
          <a:p xmlns:a="http://schemas.openxmlformats.org/drawingml/2006/main">
            <a:r>
              <a:t>          "processing": "통신 수요·노선의 공간 단위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"시간대별 이동량",</a:t>
            </a:r>
          </a:p>
          <a:p xmlns:a="http://schemas.openxmlformats.org/drawingml/2006/main">
            <a:r>
              <a:t>          "processing": "이동량 집계와 노선별 수요 비교",</a:t>
            </a:r>
          </a:p>
          <a:p xmlns:a="http://schemas.openxmlformats.org/drawingml/2006/main">
            <a:r>
              <a:t>          "output": "노선 후보"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"노선 후보",</a:t>
            </a:r>
          </a:p>
          <a:p xmlns:a="http://schemas.openxmlformats.org/drawingml/2006/main">
            <a:r>
              <a:t>          "processing": "노선 후보를 담당자의 운행계획 검토에 전달",</a:t>
            </a:r>
          </a:p>
          <a:p xmlns:a="http://schemas.openxmlformats.org/drawingml/2006/main">
            <a:r>
              <a:t>          "output": "운영 노선"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"운행 후 수요 차이를 차기 노선 검토에 반영",</a:t>
            </a:r>
          </a:p>
          <a:p xmlns:a="http://schemas.openxmlformats.org/drawingml/2006/main">
            <a:r>
              <a:t>          "output":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"운행 후 수요 차이를 차기 노선 검토에 반영",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"S01",</a:t>
            </a:r>
          </a:p>
          <a:p xmlns:a="http://schemas.openxmlformats.org/drawingml/2006/main">
            <a:r>
              <a:t>        "title": "서울시 · 올빼미버스 빅데이터 정책",</a:t>
            </a:r>
          </a:p>
          <a:p xmlns:a="http://schemas.openxmlformats.org/drawingml/2006/main">
            <a:r>
              <a:t>        "url": "https://english.seoul.go.kr/smg-taps-big-data-customized-policy/",</a:t>
            </a:r>
          </a:p>
          <a:p xmlns:a="http://schemas.openxmlformats.org/drawingml/2006/main">
            <a:r>
              <a:t>        "published": "2014-04-28",</a:t>
            </a:r>
          </a:p>
          <a:p xmlns:a="http://schemas.openxmlformats.org/drawingml/2006/main">
            <a:r>
              <a:t>        "level": "운영기관 발표",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"현장 수요와 데이터 분석의 정책 결정 연결",</a:t>
            </a:r>
          </a:p>
          <a:p xmlns:a="http://schemas.openxmlformats.org/drawingml/2006/main">
            <a:r>
              <a:t>    "local": "TS 관할·교통약자·이동 수요를 지역별 업무 사전으로 연결",</a:t>
            </a:r>
          </a:p>
          <a:p xmlns:a="http://schemas.openxmlformats.org/drawingml/2006/main">
            <a:r>
              <a:t>    "sourceDetail": null,</a:t>
            </a:r>
          </a:p>
          <a:p xmlns:a="http://schemas.openxmlformats.org/drawingml/2006/main">
            <a:r>
              <a:t>    "narrative": [</a:t>
            </a:r>
          </a:p>
          <a:p xmlns:a="http://schemas.openxmlformats.org/drawingml/2006/main">
            <a:r>
              <a:t>      "심야 교통 수요를 실제 노선 결정에 연결한 데이터 기반 정책 사례. 기존 노선·운행계획을 검토하는 담당자가 시간대·지역별 잠재 수요를 함께 비교하는 업무 변화.",</a:t>
            </a:r>
          </a:p>
          <a:p xmlns:a="http://schemas.openxmlformats.org/drawingml/2006/main">
            <a:r>
              <a:t>      "통신 이동량과 노선 정보를 공통 공간 단위로 정리한 뒤 수요 분포와 노선 후보를 비교하는 분석 흐름의 재구성. CCK 적용 시 분석 결과를 담당 관할·교통약자 지원 업무·노선 검토자료로 변환하는 단계의 분리.",</a:t>
            </a:r>
          </a:p>
          <a:p xmlns:a="http://schemas.openxmlformats.org/drawingml/2006/main">
            <a:r>
              <a:t>      "운영 노선 확대 실적과 안전·지역경제 효과의 구분. 통신자료의 대표성, 시간대별 집계 재현성, 실제 승차 수요와의 차이를 확인한 후 TS 업무 검토시간·근거 누락률로 평가할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"노선 검토 요청",</a:t>
            </a:r>
          </a:p>
          <a:p xmlns:a="http://schemas.openxmlformats.org/drawingml/2006/main">
            <a:r>
              <a:t>          "layer": "이용 접점",</a:t>
            </a:r>
          </a:p>
          <a:p xmlns:a="http://schemas.openxmlformats.org/drawingml/2006/main">
            <a:r>
              <a:t>          "detail": "교통정책 담당·운송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"시간·지역 범위",</a:t>
            </a:r>
          </a:p>
          <a:p xmlns:a="http://schemas.openxmlformats.org/drawingml/2006/main">
            <a:r>
              <a:t>          "layer": "업무 문맥",</a:t>
            </a:r>
          </a:p>
          <a:p xmlns:a="http://schemas.openxmlformats.org/drawingml/2006/main">
            <a:r>
              <a:t>          "detail": "시간대·출발지·도착지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"수요 집계 조회",</a:t>
            </a:r>
          </a:p>
          <a:p xmlns:a="http://schemas.openxmlformats.org/drawingml/2006/main">
            <a:r>
              <a:t>          "layer": "자료 조회",</a:t>
            </a:r>
          </a:p>
          <a:p xmlns:a="http://schemas.openxmlformats.org/drawingml/2006/main">
            <a:r>
              <a:t>          "detail": "시간대별 이동량",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"노선 후보 분석",</a:t>
            </a:r>
          </a:p>
          <a:p xmlns:a="http://schemas.openxmlformats.org/drawingml/2006/main">
            <a:r>
              <a:t>          "layer": "핵심 처리",</a:t>
            </a:r>
          </a:p>
          <a:p xmlns:a="http://schemas.openxmlformats.org/drawingml/2006/main">
            <a:r>
              <a:t>          "detail": "이동량 집계와 노선별 수요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"대표성·집계 검증",</a:t>
            </a:r>
          </a:p>
          <a:p xmlns:a="http://schemas.openxmlformats.org/drawingml/2006/main">
            <a:r>
              <a:t>          "layer": "결과 검증",</a:t>
            </a:r>
          </a:p>
          <a:p xmlns:a="http://schemas.openxmlformats.org/drawingml/2006/main">
            <a:r>
              <a:t>          "detail": "집계 단위·관측기간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"교통정책 검토",</a:t>
            </a:r>
          </a:p>
          <a:p xmlns:a="http://schemas.openxmlformats.org/drawingml/2006/main">
            <a:r>
              <a:t>          "layer": "사람 확인",</a:t>
            </a:r>
          </a:p>
          <a:p xmlns:a="http://schemas.openxmlformats.org/drawingml/2006/main">
            <a:r>
              <a:t>          "detail": "심야 시간대별 이동 수요를 기존 노선과 대조해 미충족 구간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"노선 운영계획",</a:t>
            </a:r>
          </a:p>
          <a:p xmlns:a="http://schemas.openxmlformats.org/drawingml/2006/main">
            <a:r>
              <a:t>          "layer": "업무 연결",</a:t>
            </a:r>
          </a:p>
          <a:p xmlns:a="http://schemas.openxmlformats.org/drawingml/2006/main">
            <a:r>
              <a:t>          "detail": "노선 후보를 담당자의 운행계획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"운행 수요 비교",</a:t>
            </a:r>
          </a:p>
          <a:p xmlns:a="http://schemas.openxmlformats.org/drawingml/2006/main">
            <a:r>
              <a:t>          "layer": "운영 관측",</a:t>
            </a:r>
          </a:p>
          <a:p xmlns:a="http://schemas.openxmlformats.org/drawingml/2006/main">
            <a:r>
              <a:t>          "detail": "운행 후 수요 차이를 차기 노선 검토에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"통신·노선 자료",</a:t>
            </a:r>
          </a:p>
          <a:p xmlns:a="http://schemas.openxmlformats.org/drawingml/2006/main">
            <a:r>
              <a:t>          "layer": "데이터 원천",</a:t>
            </a:r>
          </a:p>
          <a:p xmlns:a="http://schemas.openxmlformats.org/drawingml/2006/main">
            <a:r>
              <a:t>          "detail": "수요·노선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"공간 단위 정합화",</a:t>
            </a:r>
          </a:p>
          <a:p xmlns:a="http://schemas.openxmlformats.org/drawingml/2006/main">
            <a:r>
              <a:t>          "layer": "준비·갱신",</a:t>
            </a:r>
          </a:p>
          <a:p xmlns:a="http://schemas.openxmlformats.org/drawingml/2006/main">
            <a:r>
              <a:t>          "detail": "통신 수요·노선의 공간 단위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"지역·시간 집계",</a:t>
            </a:r>
          </a:p>
          <a:p xmlns:a="http://schemas.openxmlformats.org/drawingml/2006/main">
            <a:r>
              <a:t>          "layer": "상태·지식 저장",</a:t>
            </a:r>
          </a:p>
          <a:p xmlns:a="http://schemas.openxmlformats.org/drawingml/2006/main">
            <a:r>
              <a:t>          "detail": "지역·시간 단위 원천 집계 대사표와 노선 후보 선정 사유",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"집계 이용정책",</a:t>
            </a:r>
          </a:p>
          <a:p xmlns:a="http://schemas.openxmlformats.org/drawingml/2006/main">
            <a:r>
              <a:t>          "layer": "권한·정책",</a:t>
            </a:r>
          </a:p>
          <a:p xmlns:a="http://schemas.openxmlformats.org/drawingml/2006/main">
            <a:r>
              <a:t>          "detail": "지역별 통신 표본 비율 차이·관측기간 불일치",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"통신 이동 수요 → 시간·지역 분석 → 노선 선정 → 심야버스 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"수요·노선 자료",</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"지역별 수요 분포",</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"노선 후보",</a:t>
            </a:r>
          </a:p>
          <a:p xmlns:a="http://schemas.openxmlformats.org/drawingml/2006/main">
            <a:r>
              <a:t>          "check":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"노선 후보",</a:t>
            </a:r>
          </a:p>
          <a:p xmlns:a="http://schemas.openxmlformats.org/drawingml/2006/main">
            <a:r>
              <a:t>          "check": "집계 단위·관측기간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"운영 노선",</a:t>
            </a:r>
          </a:p>
          <a:p xmlns:a="http://schemas.openxmlformats.org/drawingml/2006/main">
            <a:r>
              <a:t>          "check":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"심야 이동 수요에 맞춘 버스 노선 설계 / 심야 수요 분포·노선 후보 비교·운행 검토",</a:t>
            </a:r>
          </a:p>
          <a:p xmlns:a="http://schemas.openxmlformats.org/drawingml/2006/main">
            <a:r>
              <a:t>        "extension": "TS 관할·교통약자·이동 수요를 지역별 업무 사전으로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"지역별 통신 표본 비율 차이·관측기간 불일치",</a:t>
            </a:r>
          </a:p>
          <a:p xmlns:a="http://schemas.openxmlformats.org/drawingml/2006/main">
            <a:r>
              <a:t>        "hold": "집계 단위·관측기간 대조",</a:t>
            </a:r>
          </a:p>
          <a:p xmlns:a="http://schemas.openxmlformats.org/drawingml/2006/main">
            <a:r>
              <a:t>        "recovery": "운행 후 수요 차이를 차기 노선 검토에 반영",</a:t>
            </a:r>
          </a:p>
          <a:p xmlns:a="http://schemas.openxmlformats.org/drawingml/2006/main">
            <a:r>
              <a:t>        "evidence": "지역·시간 단위 원천 집계 대사표와 노선 후보 선정 사유"</a:t>
            </a:r>
          </a:p>
          <a:p xmlns:a="http://schemas.openxmlformats.org/drawingml/2006/main">
            <a:r>
              <a:t>      },</a:t>
            </a:r>
          </a:p>
          <a:p xmlns:a="http://schemas.openxmlformats.org/drawingml/2006/main">
            <a:r>
              <a:t>      "data": {</a:t>
            </a:r>
          </a:p>
          <a:p xmlns:a="http://schemas.openxmlformats.org/drawingml/2006/main">
            <a:r>
              <a:t>        "source": "수요·노선 자료",</a:t>
            </a:r>
          </a:p>
          <a:p xmlns:a="http://schemas.openxmlformats.org/drawingml/2006/main">
            <a:r>
              <a:t>        "prepare": "통신 수요·노선의 공간 단위 정합화",</a:t>
            </a:r>
          </a:p>
          <a:p xmlns:a="http://schemas.openxmlformats.org/drawingml/2006/main">
            <a:r>
              <a:t>        "output": "시간대별 이동량",</a:t>
            </a:r>
          </a:p>
          <a:p xmlns:a="http://schemas.openxmlformats.org/drawingml/2006/main">
            <a:r>
              <a:t>        "refresh": "운행 후 수요 차이를 차기 노선 검토에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"AX01",</a:t>
            </a:r>
          </a:p>
          <a:p xmlns:a="http://schemas.openxmlformats.org/drawingml/2006/main">
            <a:r>
              <a:t>    "success": [</a:t>
            </a:r>
          </a:p>
          <a:p xmlns:a="http://schemas.openxmlformats.org/drawingml/2006/main">
            <a:r>
              <a:t>      "통신 수요와 실제 노선의 결합",</a:t>
            </a:r>
          </a:p>
          <a:p xmlns:a="http://schemas.openxmlformats.org/drawingml/2006/main">
            <a:r>
              <a:t>      "심야 시간·지역 단위의 수요 구분"</a:t>
            </a:r>
          </a:p>
          <a:p xmlns:a="http://schemas.openxmlformats.org/drawingml/2006/main">
            <a:r>
              <a:t>    ],</a:t>
            </a:r>
          </a:p>
          <a:p xmlns:a="http://schemas.openxmlformats.org/drawingml/2006/main">
            <a:r>
              <a:t>    "risks": [</a:t>
            </a:r>
          </a:p>
          <a:p xmlns:a="http://schemas.openxmlformats.org/drawingml/2006/main">
            <a:r>
              <a:t>      "휴대전화 자료의 이용자 대표성 차이",</a:t>
            </a:r>
          </a:p>
          <a:p xmlns:a="http://schemas.openxmlformats.org/drawingml/2006/main">
            <a:r>
              <a:t>      "노선 확대와 사고 감소의 인과관계 분리"</a:t>
            </a:r>
          </a:p>
          <a:p xmlns:a="http://schemas.openxmlformats.org/drawingml/2006/main">
            <a:r>
              <a:t>    ],</a:t>
            </a:r>
          </a:p>
          <a:p xmlns:a="http://schemas.openxmlformats.org/drawingml/2006/main">
            <a:r>
              <a:t>    "architecture": [</a:t>
            </a:r>
          </a:p>
          <a:p xmlns:a="http://schemas.openxmlformats.org/drawingml/2006/main">
            <a:r>
              <a:t>      "이동 수요 자료",</a:t>
            </a:r>
          </a:p>
          <a:p xmlns:a="http://schemas.openxmlformats.org/drawingml/2006/main">
            <a:r>
              <a:t>      "시간·지역 집계 분석",</a:t>
            </a:r>
          </a:p>
          <a:p xmlns:a="http://schemas.openxmlformats.org/drawingml/2006/main">
            <a:r>
              <a:t>      "수요·노선 자료",</a:t>
            </a:r>
          </a:p>
          <a:p xmlns:a="http://schemas.openxmlformats.org/drawingml/2006/main">
            <a:r>
              <a:t>      "노선 기획 담당"</a:t>
            </a:r>
          </a:p>
          <a:p xmlns:a="http://schemas.openxmlformats.org/drawingml/2006/main">
            <a:r>
              <a:t>    ],</a:t>
            </a:r>
          </a:p>
          <a:p xmlns:a="http://schemas.openxmlformats.org/drawingml/2006/main">
            <a:r>
              <a:t>    "transfers": [</a:t>
            </a:r>
          </a:p>
          <a:p xmlns:a="http://schemas.openxmlformats.org/drawingml/2006/main">
            <a:r>
              <a:t>      "시간대별 이동량",</a:t>
            </a:r>
          </a:p>
          <a:p xmlns:a="http://schemas.openxmlformats.org/drawingml/2006/main">
            <a:r>
              <a:t>      "지역별 수요 분포",</a:t>
            </a:r>
          </a:p>
          <a:p xmlns:a="http://schemas.openxmlformats.org/drawingml/2006/main">
            <a:r>
              <a:t>      "노선 후보",</a:t>
            </a:r>
          </a:p>
          <a:p xmlns:a="http://schemas.openxmlformats.org/drawingml/2006/main">
            <a:r>
              <a:t>      "운영 노선"</a:t>
            </a:r>
          </a:p>
          <a:p xmlns:a="http://schemas.openxmlformats.org/drawingml/2006/main">
            <a:r>
              <a:t>    ],</a:t>
            </a:r>
          </a:p>
          <a:p xmlns:a="http://schemas.openxmlformats.org/drawingml/2006/main">
            <a:r>
              <a:t>    "control": "집계 단위·관측기간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서울시 · 올빼미버스 빅데이터 정책 https://english.seoul.go.kr/smg-taps-big-data-customized-policy/</a:t>
            </a:r>
          </a:p>
          <a:p xmlns:a="http://schemas.openxmlformats.org/drawingml/2006/main">
            <a:r>
              <a:t>홈페이지 https://heen1987-ops.github.io/TS-business-Plan-001/index.html?view=casebook&amp;case=AX01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"AX01",</a:t>
            </a:r>
          </a:p>
          <a:p xmlns:a="http://schemas.openxmlformats.org/drawingml/2006/main">
            <a:r>
              <a:t>    "title": "서울 올빼미버스",</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"빅데이터 정책 적용",</a:t>
            </a:r>
          </a:p>
          <a:p xmlns:a="http://schemas.openxmlformats.org/drawingml/2006/main">
            <a:r>
              <a:t>    "period": "2013–2014",</a:t>
            </a:r>
          </a:p>
          <a:p xmlns:a="http://schemas.openxmlformats.org/drawingml/2006/main">
            <a:r>
              <a:t>    "sources": [</a:t>
            </a:r>
          </a:p>
          <a:p xmlns:a="http://schemas.openxmlformats.org/drawingml/2006/main">
            <a:r>
              <a:t>      "S01"</a:t>
            </a:r>
          </a:p>
          <a:p xmlns:a="http://schemas.openxmlformats.org/drawingml/2006/main">
            <a:r>
              <a:t>    ],</a:t>
            </a:r>
          </a:p>
          <a:p xmlns:a="http://schemas.openxmlformats.org/drawingml/2006/main">
            <a:r>
              <a:t>    "keywords": [</a:t>
            </a:r>
          </a:p>
          <a:p xmlns:a="http://schemas.openxmlformats.org/drawingml/2006/main">
            <a:r>
              <a:t>      "이동 수요",</a:t>
            </a:r>
          </a:p>
          <a:p xmlns:a="http://schemas.openxmlformats.org/drawingml/2006/main">
            <a:r>
              <a:t>      "교통약자",</a:t>
            </a:r>
          </a:p>
          <a:p xmlns:a="http://schemas.openxmlformats.org/drawingml/2006/main">
            <a:r>
              <a:t>      "지역",</a:t>
            </a:r>
          </a:p>
          <a:p xmlns:a="http://schemas.openxmlformats.org/drawingml/2006/main">
            <a:r>
              <a:t>      "데이터 연계"</a:t>
            </a:r>
          </a:p>
          <a:p xmlns:a="http://schemas.openxmlformats.org/drawingml/2006/main">
            <a:r>
              <a:t>    ],</a:t>
            </a:r>
          </a:p>
          <a:p xmlns:a="http://schemas.openxmlformats.org/drawingml/2006/main">
            <a:r>
              <a:t>    "fact": "통신 데이터 분석의 심야버스 노선 반영 및 2개 노선에서 9개 노선으로 운영 확대",</a:t>
            </a:r>
          </a:p>
          <a:p xmlns:a="http://schemas.openxmlformats.org/drawingml/2006/main">
            <a:r>
              <a:t>    "limit": "운영기관 발표 · 생성형 AI 사례 아님 · 사고 감소·지역경제 인과효과 별도",</a:t>
            </a:r>
          </a:p>
          <a:p xmlns:a="http://schemas.openxmlformats.org/drawingml/2006/main">
            <a:r>
              <a:t>    "flow": [</a:t>
            </a:r>
          </a:p>
          <a:p xmlns:a="http://schemas.openxmlformats.org/drawingml/2006/main">
            <a:r>
              <a:t>      "통신 이동 수요",</a:t>
            </a:r>
          </a:p>
          <a:p xmlns:a="http://schemas.openxmlformats.org/drawingml/2006/main">
            <a:r>
              <a:t>      "시간·지역 분석",</a:t>
            </a:r>
          </a:p>
          <a:p xmlns:a="http://schemas.openxmlformats.org/drawingml/2006/main">
            <a:r>
              <a:t>      "노선 선정",</a:t>
            </a:r>
          </a:p>
          <a:p xmlns:a="http://schemas.openxmlformats.org/drawingml/2006/main">
            <a:r>
              <a:t>      "심야버스 운영"</a:t>
            </a:r>
          </a:p>
          <a:p xmlns:a="http://schemas.openxmlformats.org/drawingml/2006/main">
            <a:r>
              <a:t>    ],</a:t>
            </a:r>
          </a:p>
          <a:p xmlns:a="http://schemas.openxmlformats.org/drawingml/2006/main">
            <a:r>
              <a:t>    "flowBasis": "공개 업무 흐름 요약 · 시스템 배치도 재현 아님",</a:t>
            </a:r>
          </a:p>
          <a:p xmlns:a="http://schemas.openxmlformats.org/drawingml/2006/main">
            <a:r>
              <a:t>    "lesson": "현장 수요와 데이터 분석의 정책 결정 연결",</a:t>
            </a:r>
          </a:p>
          <a:p xmlns:a="http://schemas.openxmlformats.org/drawingml/2006/main">
            <a:r>
              <a:t>    "local": "TS 관할·교통약자·이동 수요를 지역별 업무 사전으로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"지역·시간·관할 코드 정규화 / 집계 통계와 현장 근거 대조",</a:t>
            </a:r>
          </a:p>
          <a:p xmlns:a="http://schemas.openxmlformats.org/drawingml/2006/main">
            <a:r>
              <a:t>    "test": "동일 지역·기간의 원천 집계 재현 및 담당 부서 매핑 대조",</a:t>
            </a:r>
          </a:p>
          <a:p xmlns:a="http://schemas.openxmlformats.org/drawingml/2006/main">
            <a:r>
              <a:t>    "metric": "수요 검토 소요시간 / 근거 누락률"</a:t>
            </a:r>
          </a:p>
          <a:p xmlns:a="http://schemas.openxmlformats.org/drawingml/2006/main">
            <a:r>
              <a:t>  },</a:t>
            </a:r>
          </a:p>
          <a:p xmlns:a="http://schemas.openxmlformats.org/drawingml/2006/main">
            <a:r>
              <a:t>  "design": {</a:t>
            </a:r>
          </a:p>
          <a:p xmlns:a="http://schemas.openxmlformats.org/drawingml/2006/main">
            <a:r>
              <a:t>    "id": "AX01",</a:t>
            </a:r>
          </a:p>
          <a:p xmlns:a="http://schemas.openxmlformats.org/drawingml/2006/main">
            <a:r>
              <a:t>    "canonicalId": "AX01",</a:t>
            </a:r>
          </a:p>
          <a:p xmlns:a="http://schemas.openxmlformats.org/drawingml/2006/main">
            <a:r>
              <a:t>    "purpose": "심야 이동 수요에 맞춘 버스 노선 설계",</a:t>
            </a:r>
          </a:p>
          <a:p xmlns:a="http://schemas.openxmlformats.org/drawingml/2006/main">
            <a:r>
              <a:t>    "users": "교통정책 담당·운송 운영자",</a:t>
            </a:r>
          </a:p>
          <a:p xmlns:a="http://schemas.openxmlformats.org/drawingml/2006/main">
            <a:r>
              <a:t>    "scope": [</a:t>
            </a:r>
          </a:p>
          <a:p xmlns:a="http://schemas.openxmlformats.org/drawingml/2006/main">
            <a:r>
              <a:t>      "심야 수요 분포",</a:t>
            </a:r>
          </a:p>
          <a:p xmlns:a="http://schemas.openxmlformats.org/drawingml/2006/main">
            <a:r>
              <a:t>      "노선 후보 비교",</a:t>
            </a:r>
          </a:p>
          <a:p xmlns:a="http://schemas.openxmlformats.org/drawingml/2006/main">
            <a:r>
              <a:t>      "운행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"이동 수요 자료",</a:t>
            </a:r>
          </a:p>
          <a:p xmlns:a="http://schemas.openxmlformats.org/drawingml/2006/main">
            <a:r>
              <a:t>        "detail": "시간대·출발지·도착지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"심야 수요 분포 / 노선 후보 비교 / 운행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"시간·지역 집계 분석",</a:t>
            </a:r>
          </a:p>
          <a:p xmlns:a="http://schemas.openxmlformats.org/drawingml/2006/main">
            <a:r>
              <a:t>        "detail": "이동량 집계와 노선별 수요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"노선 기획 담당",</a:t>
            </a:r>
          </a:p>
          <a:p xmlns:a="http://schemas.openxmlformats.org/drawingml/2006/main">
            <a:r>
              <a:t>        "detail": "노선 후보를 담당자의 운행계획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"수요·노선 자료",</a:t>
            </a:r>
          </a:p>
          <a:p xmlns:a="http://schemas.openxmlformats.org/drawingml/2006/main">
            <a:r>
              <a:t>        "detail": "통신 수요·노선의 공간 단위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"운행 후 수요 차이를 차기 노선 검토에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"통신 이동 수요",</a:t>
            </a:r>
          </a:p>
          <a:p xmlns:a="http://schemas.openxmlformats.org/drawingml/2006/main">
            <a:r>
              <a:t>        "input": "시간대·출발지·도착지 지정",</a:t>
            </a:r>
          </a:p>
          <a:p xmlns:a="http://schemas.openxmlformats.org/drawingml/2006/main">
            <a:r>
              <a:t>        "process": "통신 수요·노선의 공간 단위 정합화",</a:t>
            </a:r>
          </a:p>
          <a:p xmlns:a="http://schemas.openxmlformats.org/drawingml/2006/main">
            <a:r>
              <a:t>        "output": "시간대별 이동량"</a:t>
            </a:r>
          </a:p>
          <a:p xmlns:a="http://schemas.openxmlformats.org/drawingml/2006/main">
            <a:r>
              <a:t>      },</a:t>
            </a:r>
          </a:p>
          <a:p xmlns:a="http://schemas.openxmlformats.org/drawingml/2006/main">
            <a:r>
              <a:t>      {</a:t>
            </a:r>
          </a:p>
          <a:p xmlns:a="http://schemas.openxmlformats.org/drawingml/2006/main">
            <a:r>
              <a:t>        "title": "시간·지역 분석",</a:t>
            </a:r>
          </a:p>
          <a:p xmlns:a="http://schemas.openxmlformats.org/drawingml/2006/main">
            <a:r>
              <a:t>        "input": "시간대별 이동량",</a:t>
            </a:r>
          </a:p>
          <a:p xmlns:a="http://schemas.openxmlformats.org/drawingml/2006/main">
            <a:r>
              <a:t>        "process": "이동량 집계와 노선별 수요 비교",</a:t>
            </a:r>
          </a:p>
          <a:p xmlns:a="http://schemas.openxmlformats.org/drawingml/2006/main">
            <a:r>
              <a:t>        "output": "지역별 수요 분포"</a:t>
            </a:r>
          </a:p>
          <a:p xmlns:a="http://schemas.openxmlformats.org/drawingml/2006/main">
            <a:r>
              <a:t>      },</a:t>
            </a:r>
          </a:p>
          <a:p xmlns:a="http://schemas.openxmlformats.org/drawingml/2006/main">
            <a:r>
              <a:t>      {</a:t>
            </a:r>
          </a:p>
          <a:p xmlns:a="http://schemas.openxmlformats.org/drawingml/2006/main">
            <a:r>
              <a:t>        "title": "노선 선정",</a:t>
            </a:r>
          </a:p>
          <a:p xmlns:a="http://schemas.openxmlformats.org/drawingml/2006/main">
            <a:r>
              <a:t>        "input": "지역별 수요 분포",</a:t>
            </a:r>
          </a:p>
          <a:p xmlns:a="http://schemas.openxmlformats.org/drawingml/2006/main">
            <a:r>
              <a:t>        "process": "집계 단위·관측기간 대조",</a:t>
            </a:r>
          </a:p>
          <a:p xmlns:a="http://schemas.openxmlformats.org/drawingml/2006/main">
            <a:r>
              <a:t>        "output": "노선 후보"</a:t>
            </a:r>
          </a:p>
          <a:p xmlns:a="http://schemas.openxmlformats.org/drawingml/2006/main">
            <a:r>
              <a:t>      },</a:t>
            </a:r>
          </a:p>
          <a:p xmlns:a="http://schemas.openxmlformats.org/drawingml/2006/main">
            <a:r>
              <a:t>      {</a:t>
            </a:r>
          </a:p>
          <a:p xmlns:a="http://schemas.openxmlformats.org/drawingml/2006/main">
            <a:r>
              <a:t>        "title": "심야버스 운영",</a:t>
            </a:r>
          </a:p>
          <a:p xmlns:a="http://schemas.openxmlformats.org/drawingml/2006/main">
            <a:r>
              <a:t>        "input": "노선 후보",</a:t>
            </a:r>
          </a:p>
          <a:p xmlns:a="http://schemas.openxmlformats.org/drawingml/2006/main">
            <a:r>
              <a:t>        "process": "노선 후보를 담당자의 운행계획 검토에 전달",</a:t>
            </a:r>
          </a:p>
          <a:p xmlns:a="http://schemas.openxmlformats.org/drawingml/2006/main">
            <a:r>
              <a:t>        "output": "운영 노선"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"심야 시간대별 이동 수요를 기존 노선과 대조해 미충족 구간 선정",</a:t>
            </a:r>
          </a:p>
          <a:p xmlns:a="http://schemas.openxmlformats.org/drawingml/2006/main">
            <a:r>
              <a:t>      "exception": "지역별 통신 표본 비율 차이·관측기간 불일치",</a:t>
            </a:r>
          </a:p>
          <a:p xmlns:a="http://schemas.openxmlformats.org/drawingml/2006/main">
            <a:r>
              <a:t>      "evidence": "지역·시간 단위 원천 집계 대사표와 노선 후보 선정 사유",</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"교통정책 담당·운송 운영자",</a:t>
            </a:r>
          </a:p>
          <a:p xmlns:a="http://schemas.openxmlformats.org/drawingml/2006/main">
            <a:r>
              <a:t>          "processing": "시간대·출발지·도착지 지정",</a:t>
            </a:r>
          </a:p>
          <a:p xmlns:a="http://schemas.openxmlformats.org/drawingml/2006/main">
            <a:r>
              <a:t>          "output": "시간대별 이동량"</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"수요·노선 자료",</a:t>
            </a:r>
          </a:p>
          <a:p xmlns:a="http://schemas.openxmlformats.org/drawingml/2006/main">
            <a:r>
              <a:t>          "processing": "통신 수요·노선의 공간 단위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"시간대별 이동량",</a:t>
            </a:r>
          </a:p>
          <a:p xmlns:a="http://schemas.openxmlformats.org/drawingml/2006/main">
            <a:r>
              <a:t>          "processing": "이동량 집계와 노선별 수요 비교",</a:t>
            </a:r>
          </a:p>
          <a:p xmlns:a="http://schemas.openxmlformats.org/drawingml/2006/main">
            <a:r>
              <a:t>          "output": "노선 후보"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"노선 후보",</a:t>
            </a:r>
          </a:p>
          <a:p xmlns:a="http://schemas.openxmlformats.org/drawingml/2006/main">
            <a:r>
              <a:t>          "processing": "노선 후보를 담당자의 운행계획 검토에 전달",</a:t>
            </a:r>
          </a:p>
          <a:p xmlns:a="http://schemas.openxmlformats.org/drawingml/2006/main">
            <a:r>
              <a:t>          "output": "운영 노선"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"운행 후 수요 차이를 차기 노선 검토에 반영",</a:t>
            </a:r>
          </a:p>
          <a:p xmlns:a="http://schemas.openxmlformats.org/drawingml/2006/main">
            <a:r>
              <a:t>          "output":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"운행 후 수요 차이를 차기 노선 검토에 반영",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"S01",</a:t>
            </a:r>
          </a:p>
          <a:p xmlns:a="http://schemas.openxmlformats.org/drawingml/2006/main">
            <a:r>
              <a:t>        "title": "서울시 · 올빼미버스 빅데이터 정책",</a:t>
            </a:r>
          </a:p>
          <a:p xmlns:a="http://schemas.openxmlformats.org/drawingml/2006/main">
            <a:r>
              <a:t>        "url": "https://english.seoul.go.kr/smg-taps-big-data-customized-policy/",</a:t>
            </a:r>
          </a:p>
          <a:p xmlns:a="http://schemas.openxmlformats.org/drawingml/2006/main">
            <a:r>
              <a:t>        "published": "2014-04-28",</a:t>
            </a:r>
          </a:p>
          <a:p xmlns:a="http://schemas.openxmlformats.org/drawingml/2006/main">
            <a:r>
              <a:t>        "level": "운영기관 발표",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"현장 수요와 데이터 분석의 정책 결정 연결",</a:t>
            </a:r>
          </a:p>
          <a:p xmlns:a="http://schemas.openxmlformats.org/drawingml/2006/main">
            <a:r>
              <a:t>    "local": "TS 관할·교통약자·이동 수요를 지역별 업무 사전으로 연결",</a:t>
            </a:r>
          </a:p>
          <a:p xmlns:a="http://schemas.openxmlformats.org/drawingml/2006/main">
            <a:r>
              <a:t>    "sourceDetail": null,</a:t>
            </a:r>
          </a:p>
          <a:p xmlns:a="http://schemas.openxmlformats.org/drawingml/2006/main">
            <a:r>
              <a:t>    "narrative": [</a:t>
            </a:r>
          </a:p>
          <a:p xmlns:a="http://schemas.openxmlformats.org/drawingml/2006/main">
            <a:r>
              <a:t>      "심야 교통 수요를 실제 노선 결정에 연결한 데이터 기반 정책 사례. 기존 노선·운행계획을 검토하는 담당자가 시간대·지역별 잠재 수요를 함께 비교하는 업무 변화.",</a:t>
            </a:r>
          </a:p>
          <a:p xmlns:a="http://schemas.openxmlformats.org/drawingml/2006/main">
            <a:r>
              <a:t>      "통신 이동량과 노선 정보를 공통 공간 단위로 정리한 뒤 수요 분포와 노선 후보를 비교하는 분석 흐름의 재구성. CCK 적용 시 분석 결과를 담당 관할·교통약자 지원 업무·노선 검토자료로 변환하는 단계의 분리.",</a:t>
            </a:r>
          </a:p>
          <a:p xmlns:a="http://schemas.openxmlformats.org/drawingml/2006/main">
            <a:r>
              <a:t>      "운영 노선 확대 실적과 안전·지역경제 효과의 구분. 통신자료의 대표성, 시간대별 집계 재현성, 실제 승차 수요와의 차이를 확인한 후 TS 업무 검토시간·근거 누락률로 평가할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"노선 검토 요청",</a:t>
            </a:r>
          </a:p>
          <a:p xmlns:a="http://schemas.openxmlformats.org/drawingml/2006/main">
            <a:r>
              <a:t>          "layer": "이용 접점",</a:t>
            </a:r>
          </a:p>
          <a:p xmlns:a="http://schemas.openxmlformats.org/drawingml/2006/main">
            <a:r>
              <a:t>          "detail": "교통정책 담당·운송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"시간·지역 범위",</a:t>
            </a:r>
          </a:p>
          <a:p xmlns:a="http://schemas.openxmlformats.org/drawingml/2006/main">
            <a:r>
              <a:t>          "layer": "업무 문맥",</a:t>
            </a:r>
          </a:p>
          <a:p xmlns:a="http://schemas.openxmlformats.org/drawingml/2006/main">
            <a:r>
              <a:t>          "detail": "시간대·출발지·도착지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"수요 집계 조회",</a:t>
            </a:r>
          </a:p>
          <a:p xmlns:a="http://schemas.openxmlformats.org/drawingml/2006/main">
            <a:r>
              <a:t>          "layer": "자료 조회",</a:t>
            </a:r>
          </a:p>
          <a:p xmlns:a="http://schemas.openxmlformats.org/drawingml/2006/main">
            <a:r>
              <a:t>          "detail": "시간대별 이동량",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"노선 후보 분석",</a:t>
            </a:r>
          </a:p>
          <a:p xmlns:a="http://schemas.openxmlformats.org/drawingml/2006/main">
            <a:r>
              <a:t>          "layer": "핵심 처리",</a:t>
            </a:r>
          </a:p>
          <a:p xmlns:a="http://schemas.openxmlformats.org/drawingml/2006/main">
            <a:r>
              <a:t>          "detail": "이동량 집계와 노선별 수요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"대표성·집계 검증",</a:t>
            </a:r>
          </a:p>
          <a:p xmlns:a="http://schemas.openxmlformats.org/drawingml/2006/main">
            <a:r>
              <a:t>          "layer": "결과 검증",</a:t>
            </a:r>
          </a:p>
          <a:p xmlns:a="http://schemas.openxmlformats.org/drawingml/2006/main">
            <a:r>
              <a:t>          "detail": "집계 단위·관측기간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"교통정책 검토",</a:t>
            </a:r>
          </a:p>
          <a:p xmlns:a="http://schemas.openxmlformats.org/drawingml/2006/main">
            <a:r>
              <a:t>          "layer": "사람 확인",</a:t>
            </a:r>
          </a:p>
          <a:p xmlns:a="http://schemas.openxmlformats.org/drawingml/2006/main">
            <a:r>
              <a:t>          "detail": "심야 시간대별 이동 수요를 기존 노선과 대조해 미충족 구간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"노선 운영계획",</a:t>
            </a:r>
          </a:p>
          <a:p xmlns:a="http://schemas.openxmlformats.org/drawingml/2006/main">
            <a:r>
              <a:t>          "layer": "업무 연결",</a:t>
            </a:r>
          </a:p>
          <a:p xmlns:a="http://schemas.openxmlformats.org/drawingml/2006/main">
            <a:r>
              <a:t>          "detail": "노선 후보를 담당자의 운행계획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"운행 수요 비교",</a:t>
            </a:r>
          </a:p>
          <a:p xmlns:a="http://schemas.openxmlformats.org/drawingml/2006/main">
            <a:r>
              <a:t>          "layer": "운영 관측",</a:t>
            </a:r>
          </a:p>
          <a:p xmlns:a="http://schemas.openxmlformats.org/drawingml/2006/main">
            <a:r>
              <a:t>          "detail": "운행 후 수요 차이를 차기 노선 검토에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"통신·노선 자료",</a:t>
            </a:r>
          </a:p>
          <a:p xmlns:a="http://schemas.openxmlformats.org/drawingml/2006/main">
            <a:r>
              <a:t>          "layer": "데이터 원천",</a:t>
            </a:r>
          </a:p>
          <a:p xmlns:a="http://schemas.openxmlformats.org/drawingml/2006/main">
            <a:r>
              <a:t>          "detail": "수요·노선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"공간 단위 정합화",</a:t>
            </a:r>
          </a:p>
          <a:p xmlns:a="http://schemas.openxmlformats.org/drawingml/2006/main">
            <a:r>
              <a:t>          "layer": "준비·갱신",</a:t>
            </a:r>
          </a:p>
          <a:p xmlns:a="http://schemas.openxmlformats.org/drawingml/2006/main">
            <a:r>
              <a:t>          "detail": "통신 수요·노선의 공간 단위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"지역·시간 집계",</a:t>
            </a:r>
          </a:p>
          <a:p xmlns:a="http://schemas.openxmlformats.org/drawingml/2006/main">
            <a:r>
              <a:t>          "layer": "상태·지식 저장",</a:t>
            </a:r>
          </a:p>
          <a:p xmlns:a="http://schemas.openxmlformats.org/drawingml/2006/main">
            <a:r>
              <a:t>          "detail": "지역·시간 단위 원천 집계 대사표와 노선 후보 선정 사유",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"집계 이용정책",</a:t>
            </a:r>
          </a:p>
          <a:p xmlns:a="http://schemas.openxmlformats.org/drawingml/2006/main">
            <a:r>
              <a:t>          "layer": "권한·정책",</a:t>
            </a:r>
          </a:p>
          <a:p xmlns:a="http://schemas.openxmlformats.org/drawingml/2006/main">
            <a:r>
              <a:t>          "detail": "지역별 통신 표본 비율 차이·관측기간 불일치",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"통신 이동 수요 → 시간·지역 분석 → 노선 선정 → 심야버스 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"수요·노선 자료",</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"지역별 수요 분포",</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"노선 후보",</a:t>
            </a:r>
          </a:p>
          <a:p xmlns:a="http://schemas.openxmlformats.org/drawingml/2006/main">
            <a:r>
              <a:t>          "check":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"노선 후보",</a:t>
            </a:r>
          </a:p>
          <a:p xmlns:a="http://schemas.openxmlformats.org/drawingml/2006/main">
            <a:r>
              <a:t>          "check": "집계 단위·관측기간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"운영 노선",</a:t>
            </a:r>
          </a:p>
          <a:p xmlns:a="http://schemas.openxmlformats.org/drawingml/2006/main">
            <a:r>
              <a:t>          "check":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"심야 이동 수요에 맞춘 버스 노선 설계 / 심야 수요 분포·노선 후보 비교·운행 검토",</a:t>
            </a:r>
          </a:p>
          <a:p xmlns:a="http://schemas.openxmlformats.org/drawingml/2006/main">
            <a:r>
              <a:t>        "extension": "TS 관할·교통약자·이동 수요를 지역별 업무 사전으로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"지역별 통신 표본 비율 차이·관측기간 불일치",</a:t>
            </a:r>
          </a:p>
          <a:p xmlns:a="http://schemas.openxmlformats.org/drawingml/2006/main">
            <a:r>
              <a:t>        "hold": "집계 단위·관측기간 대조",</a:t>
            </a:r>
          </a:p>
          <a:p xmlns:a="http://schemas.openxmlformats.org/drawingml/2006/main">
            <a:r>
              <a:t>        "recovery": "운행 후 수요 차이를 차기 노선 검토에 반영",</a:t>
            </a:r>
          </a:p>
          <a:p xmlns:a="http://schemas.openxmlformats.org/drawingml/2006/main">
            <a:r>
              <a:t>        "evidence": "지역·시간 단위 원천 집계 대사표와 노선 후보 선정 사유"</a:t>
            </a:r>
          </a:p>
          <a:p xmlns:a="http://schemas.openxmlformats.org/drawingml/2006/main">
            <a:r>
              <a:t>      },</a:t>
            </a:r>
          </a:p>
          <a:p xmlns:a="http://schemas.openxmlformats.org/drawingml/2006/main">
            <a:r>
              <a:t>      "data": {</a:t>
            </a:r>
          </a:p>
          <a:p xmlns:a="http://schemas.openxmlformats.org/drawingml/2006/main">
            <a:r>
              <a:t>        "source": "수요·노선 자료",</a:t>
            </a:r>
          </a:p>
          <a:p xmlns:a="http://schemas.openxmlformats.org/drawingml/2006/main">
            <a:r>
              <a:t>        "prepare": "통신 수요·노선의 공간 단위 정합화",</a:t>
            </a:r>
          </a:p>
          <a:p xmlns:a="http://schemas.openxmlformats.org/drawingml/2006/main">
            <a:r>
              <a:t>        "output": "시간대별 이동량",</a:t>
            </a:r>
          </a:p>
          <a:p xmlns:a="http://schemas.openxmlformats.org/drawingml/2006/main">
            <a:r>
              <a:t>        "refresh": "운행 후 수요 차이를 차기 노선 검토에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"AX01",</a:t>
            </a:r>
          </a:p>
          <a:p xmlns:a="http://schemas.openxmlformats.org/drawingml/2006/main">
            <a:r>
              <a:t>    "success": [</a:t>
            </a:r>
          </a:p>
          <a:p xmlns:a="http://schemas.openxmlformats.org/drawingml/2006/main">
            <a:r>
              <a:t>      "통신 수요와 실제 노선의 결합",</a:t>
            </a:r>
          </a:p>
          <a:p xmlns:a="http://schemas.openxmlformats.org/drawingml/2006/main">
            <a:r>
              <a:t>      "심야 시간·지역 단위의 수요 구분"</a:t>
            </a:r>
          </a:p>
          <a:p xmlns:a="http://schemas.openxmlformats.org/drawingml/2006/main">
            <a:r>
              <a:t>    ],</a:t>
            </a:r>
          </a:p>
          <a:p xmlns:a="http://schemas.openxmlformats.org/drawingml/2006/main">
            <a:r>
              <a:t>    "risks": [</a:t>
            </a:r>
          </a:p>
          <a:p xmlns:a="http://schemas.openxmlformats.org/drawingml/2006/main">
            <a:r>
              <a:t>      "휴대전화 자료의 이용자 대표성 차이",</a:t>
            </a:r>
          </a:p>
          <a:p xmlns:a="http://schemas.openxmlformats.org/drawingml/2006/main">
            <a:r>
              <a:t>      "노선 확대와 사고 감소의 인과관계 분리"</a:t>
            </a:r>
          </a:p>
          <a:p xmlns:a="http://schemas.openxmlformats.org/drawingml/2006/main">
            <a:r>
              <a:t>    ],</a:t>
            </a:r>
          </a:p>
          <a:p xmlns:a="http://schemas.openxmlformats.org/drawingml/2006/main">
            <a:r>
              <a:t>    "architecture": [</a:t>
            </a:r>
          </a:p>
          <a:p xmlns:a="http://schemas.openxmlformats.org/drawingml/2006/main">
            <a:r>
              <a:t>      "이동 수요 자료",</a:t>
            </a:r>
          </a:p>
          <a:p xmlns:a="http://schemas.openxmlformats.org/drawingml/2006/main">
            <a:r>
              <a:t>      "시간·지역 집계 분석",</a:t>
            </a:r>
          </a:p>
          <a:p xmlns:a="http://schemas.openxmlformats.org/drawingml/2006/main">
            <a:r>
              <a:t>      "수요·노선 자료",</a:t>
            </a:r>
          </a:p>
          <a:p xmlns:a="http://schemas.openxmlformats.org/drawingml/2006/main">
            <a:r>
              <a:t>      "노선 기획 담당"</a:t>
            </a:r>
          </a:p>
          <a:p xmlns:a="http://schemas.openxmlformats.org/drawingml/2006/main">
            <a:r>
              <a:t>    ],</a:t>
            </a:r>
          </a:p>
          <a:p xmlns:a="http://schemas.openxmlformats.org/drawingml/2006/main">
            <a:r>
              <a:t>    "transfers": [</a:t>
            </a:r>
          </a:p>
          <a:p xmlns:a="http://schemas.openxmlformats.org/drawingml/2006/main">
            <a:r>
              <a:t>      "시간대별 이동량",</a:t>
            </a:r>
          </a:p>
          <a:p xmlns:a="http://schemas.openxmlformats.org/drawingml/2006/main">
            <a:r>
              <a:t>      "지역별 수요 분포",</a:t>
            </a:r>
          </a:p>
          <a:p xmlns:a="http://schemas.openxmlformats.org/drawingml/2006/main">
            <a:r>
              <a:t>      "노선 후보",</a:t>
            </a:r>
          </a:p>
          <a:p xmlns:a="http://schemas.openxmlformats.org/drawingml/2006/main">
            <a:r>
              <a:t>      "운영 노선"</a:t>
            </a:r>
          </a:p>
          <a:p xmlns:a="http://schemas.openxmlformats.org/drawingml/2006/main">
            <a:r>
              <a:t>    ],</a:t>
            </a:r>
          </a:p>
          <a:p xmlns:a="http://schemas.openxmlformats.org/drawingml/2006/main">
            <a:r>
              <a:t>    "control": "집계 단위·관측기간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서울시 · 올빼미버스 빅데이터 정책 https://english.seoul.go.kr/smg-taps-big-data-customized-policy/</a:t>
            </a:r>
          </a:p>
          <a:p xmlns:a="http://schemas.openxmlformats.org/drawingml/2006/main">
            <a:r>
              <a:t>홈페이지 https://heen1987-ops.github.io/TS-business-Plan-001/index.html?view=casebook&amp;case=AX01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"AX01",</a:t>
            </a:r>
          </a:p>
          <a:p xmlns:a="http://schemas.openxmlformats.org/drawingml/2006/main">
            <a:r>
              <a:t>    "title": "서울 올빼미버스",</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"빅데이터 정책 적용",</a:t>
            </a:r>
          </a:p>
          <a:p xmlns:a="http://schemas.openxmlformats.org/drawingml/2006/main">
            <a:r>
              <a:t>    "period": "2013–2014",</a:t>
            </a:r>
          </a:p>
          <a:p xmlns:a="http://schemas.openxmlformats.org/drawingml/2006/main">
            <a:r>
              <a:t>    "sources": [</a:t>
            </a:r>
          </a:p>
          <a:p xmlns:a="http://schemas.openxmlformats.org/drawingml/2006/main">
            <a:r>
              <a:t>      "S01"</a:t>
            </a:r>
          </a:p>
          <a:p xmlns:a="http://schemas.openxmlformats.org/drawingml/2006/main">
            <a:r>
              <a:t>    ],</a:t>
            </a:r>
          </a:p>
          <a:p xmlns:a="http://schemas.openxmlformats.org/drawingml/2006/main">
            <a:r>
              <a:t>    "keywords": [</a:t>
            </a:r>
          </a:p>
          <a:p xmlns:a="http://schemas.openxmlformats.org/drawingml/2006/main">
            <a:r>
              <a:t>      "이동 수요",</a:t>
            </a:r>
          </a:p>
          <a:p xmlns:a="http://schemas.openxmlformats.org/drawingml/2006/main">
            <a:r>
              <a:t>      "교통약자",</a:t>
            </a:r>
          </a:p>
          <a:p xmlns:a="http://schemas.openxmlformats.org/drawingml/2006/main">
            <a:r>
              <a:t>      "지역",</a:t>
            </a:r>
          </a:p>
          <a:p xmlns:a="http://schemas.openxmlformats.org/drawingml/2006/main">
            <a:r>
              <a:t>      "데이터 연계"</a:t>
            </a:r>
          </a:p>
          <a:p xmlns:a="http://schemas.openxmlformats.org/drawingml/2006/main">
            <a:r>
              <a:t>    ],</a:t>
            </a:r>
          </a:p>
          <a:p xmlns:a="http://schemas.openxmlformats.org/drawingml/2006/main">
            <a:r>
              <a:t>    "fact": "통신 데이터 분석의 심야버스 노선 반영 및 2개 노선에서 9개 노선으로 운영 확대",</a:t>
            </a:r>
          </a:p>
          <a:p xmlns:a="http://schemas.openxmlformats.org/drawingml/2006/main">
            <a:r>
              <a:t>    "limit": "운영기관 발표 · 생성형 AI 사례 아님 · 사고 감소·지역경제 인과효과 별도",</a:t>
            </a:r>
          </a:p>
          <a:p xmlns:a="http://schemas.openxmlformats.org/drawingml/2006/main">
            <a:r>
              <a:t>    "flow": [</a:t>
            </a:r>
          </a:p>
          <a:p xmlns:a="http://schemas.openxmlformats.org/drawingml/2006/main">
            <a:r>
              <a:t>      "통신 이동 수요",</a:t>
            </a:r>
          </a:p>
          <a:p xmlns:a="http://schemas.openxmlformats.org/drawingml/2006/main">
            <a:r>
              <a:t>      "시간·지역 분석",</a:t>
            </a:r>
          </a:p>
          <a:p xmlns:a="http://schemas.openxmlformats.org/drawingml/2006/main">
            <a:r>
              <a:t>      "노선 선정",</a:t>
            </a:r>
          </a:p>
          <a:p xmlns:a="http://schemas.openxmlformats.org/drawingml/2006/main">
            <a:r>
              <a:t>      "심야버스 운영"</a:t>
            </a:r>
          </a:p>
          <a:p xmlns:a="http://schemas.openxmlformats.org/drawingml/2006/main">
            <a:r>
              <a:t>    ],</a:t>
            </a:r>
          </a:p>
          <a:p xmlns:a="http://schemas.openxmlformats.org/drawingml/2006/main">
            <a:r>
              <a:t>    "flowBasis": "공개 업무 흐름 요약 · 시스템 배치도 재현 아님",</a:t>
            </a:r>
          </a:p>
          <a:p xmlns:a="http://schemas.openxmlformats.org/drawingml/2006/main">
            <a:r>
              <a:t>    "lesson": "현장 수요와 데이터 분석의 정책 결정 연결",</a:t>
            </a:r>
          </a:p>
          <a:p xmlns:a="http://schemas.openxmlformats.org/drawingml/2006/main">
            <a:r>
              <a:t>    "local": "TS 관할·교통약자·이동 수요를 지역별 업무 사전으로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"지역·시간·관할 코드 정규화 / 집계 통계와 현장 근거 대조",</a:t>
            </a:r>
          </a:p>
          <a:p xmlns:a="http://schemas.openxmlformats.org/drawingml/2006/main">
            <a:r>
              <a:t>    "test": "동일 지역·기간의 원천 집계 재현 및 담당 부서 매핑 대조",</a:t>
            </a:r>
          </a:p>
          <a:p xmlns:a="http://schemas.openxmlformats.org/drawingml/2006/main">
            <a:r>
              <a:t>    "metric": "수요 검토 소요시간 / 근거 누락률"</a:t>
            </a:r>
          </a:p>
          <a:p xmlns:a="http://schemas.openxmlformats.org/drawingml/2006/main">
            <a:r>
              <a:t>  },</a:t>
            </a:r>
          </a:p>
          <a:p xmlns:a="http://schemas.openxmlformats.org/drawingml/2006/main">
            <a:r>
              <a:t>  "design": {</a:t>
            </a:r>
          </a:p>
          <a:p xmlns:a="http://schemas.openxmlformats.org/drawingml/2006/main">
            <a:r>
              <a:t>    "id": "AX01",</a:t>
            </a:r>
          </a:p>
          <a:p xmlns:a="http://schemas.openxmlformats.org/drawingml/2006/main">
            <a:r>
              <a:t>    "canonicalId": "AX01",</a:t>
            </a:r>
          </a:p>
          <a:p xmlns:a="http://schemas.openxmlformats.org/drawingml/2006/main">
            <a:r>
              <a:t>    "purpose": "심야 이동 수요에 맞춘 버스 노선 설계",</a:t>
            </a:r>
          </a:p>
          <a:p xmlns:a="http://schemas.openxmlformats.org/drawingml/2006/main">
            <a:r>
              <a:t>    "users": "교통정책 담당·운송 운영자",</a:t>
            </a:r>
          </a:p>
          <a:p xmlns:a="http://schemas.openxmlformats.org/drawingml/2006/main">
            <a:r>
              <a:t>    "scope": [</a:t>
            </a:r>
          </a:p>
          <a:p xmlns:a="http://schemas.openxmlformats.org/drawingml/2006/main">
            <a:r>
              <a:t>      "심야 수요 분포",</a:t>
            </a:r>
          </a:p>
          <a:p xmlns:a="http://schemas.openxmlformats.org/drawingml/2006/main">
            <a:r>
              <a:t>      "노선 후보 비교",</a:t>
            </a:r>
          </a:p>
          <a:p xmlns:a="http://schemas.openxmlformats.org/drawingml/2006/main">
            <a:r>
              <a:t>      "운행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"이동 수요 자료",</a:t>
            </a:r>
          </a:p>
          <a:p xmlns:a="http://schemas.openxmlformats.org/drawingml/2006/main">
            <a:r>
              <a:t>        "detail": "시간대·출발지·도착지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"심야 수요 분포 / 노선 후보 비교 / 운행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"시간·지역 집계 분석",</a:t>
            </a:r>
          </a:p>
          <a:p xmlns:a="http://schemas.openxmlformats.org/drawingml/2006/main">
            <a:r>
              <a:t>        "detail": "이동량 집계와 노선별 수요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"노선 기획 담당",</a:t>
            </a:r>
          </a:p>
          <a:p xmlns:a="http://schemas.openxmlformats.org/drawingml/2006/main">
            <a:r>
              <a:t>        "detail": "노선 후보를 담당자의 운행계획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"수요·노선 자료",</a:t>
            </a:r>
          </a:p>
          <a:p xmlns:a="http://schemas.openxmlformats.org/drawingml/2006/main">
            <a:r>
              <a:t>        "detail": "통신 수요·노선의 공간 단위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"운행 후 수요 차이를 차기 노선 검토에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"통신 이동 수요",</a:t>
            </a:r>
          </a:p>
          <a:p xmlns:a="http://schemas.openxmlformats.org/drawingml/2006/main">
            <a:r>
              <a:t>        "input": "시간대·출발지·도착지 지정",</a:t>
            </a:r>
          </a:p>
          <a:p xmlns:a="http://schemas.openxmlformats.org/drawingml/2006/main">
            <a:r>
              <a:t>        "process": "통신 수요·노선의 공간 단위 정합화",</a:t>
            </a:r>
          </a:p>
          <a:p xmlns:a="http://schemas.openxmlformats.org/drawingml/2006/main">
            <a:r>
              <a:t>        "output": "시간대별 이동량"</a:t>
            </a:r>
          </a:p>
          <a:p xmlns:a="http://schemas.openxmlformats.org/drawingml/2006/main">
            <a:r>
              <a:t>      },</a:t>
            </a:r>
          </a:p>
          <a:p xmlns:a="http://schemas.openxmlformats.org/drawingml/2006/main">
            <a:r>
              <a:t>      {</a:t>
            </a:r>
          </a:p>
          <a:p xmlns:a="http://schemas.openxmlformats.org/drawingml/2006/main">
            <a:r>
              <a:t>        "title": "시간·지역 분석",</a:t>
            </a:r>
          </a:p>
          <a:p xmlns:a="http://schemas.openxmlformats.org/drawingml/2006/main">
            <a:r>
              <a:t>        "input": "시간대별 이동량",</a:t>
            </a:r>
          </a:p>
          <a:p xmlns:a="http://schemas.openxmlformats.org/drawingml/2006/main">
            <a:r>
              <a:t>        "process": "이동량 집계와 노선별 수요 비교",</a:t>
            </a:r>
          </a:p>
          <a:p xmlns:a="http://schemas.openxmlformats.org/drawingml/2006/main">
            <a:r>
              <a:t>        "output": "지역별 수요 분포"</a:t>
            </a:r>
          </a:p>
          <a:p xmlns:a="http://schemas.openxmlformats.org/drawingml/2006/main">
            <a:r>
              <a:t>      },</a:t>
            </a:r>
          </a:p>
          <a:p xmlns:a="http://schemas.openxmlformats.org/drawingml/2006/main">
            <a:r>
              <a:t>      {</a:t>
            </a:r>
          </a:p>
          <a:p xmlns:a="http://schemas.openxmlformats.org/drawingml/2006/main">
            <a:r>
              <a:t>        "title": "노선 선정",</a:t>
            </a:r>
          </a:p>
          <a:p xmlns:a="http://schemas.openxmlformats.org/drawingml/2006/main">
            <a:r>
              <a:t>        "input": "지역별 수요 분포",</a:t>
            </a:r>
          </a:p>
          <a:p xmlns:a="http://schemas.openxmlformats.org/drawingml/2006/main">
            <a:r>
              <a:t>        "process": "집계 단위·관측기간 대조",</a:t>
            </a:r>
          </a:p>
          <a:p xmlns:a="http://schemas.openxmlformats.org/drawingml/2006/main">
            <a:r>
              <a:t>        "output": "노선 후보"</a:t>
            </a:r>
          </a:p>
          <a:p xmlns:a="http://schemas.openxmlformats.org/drawingml/2006/main">
            <a:r>
              <a:t>      },</a:t>
            </a:r>
          </a:p>
          <a:p xmlns:a="http://schemas.openxmlformats.org/drawingml/2006/main">
            <a:r>
              <a:t>      {</a:t>
            </a:r>
          </a:p>
          <a:p xmlns:a="http://schemas.openxmlformats.org/drawingml/2006/main">
            <a:r>
              <a:t>        "title": "심야버스 운영",</a:t>
            </a:r>
          </a:p>
          <a:p xmlns:a="http://schemas.openxmlformats.org/drawingml/2006/main">
            <a:r>
              <a:t>        "input": "노선 후보",</a:t>
            </a:r>
          </a:p>
          <a:p xmlns:a="http://schemas.openxmlformats.org/drawingml/2006/main">
            <a:r>
              <a:t>        "process": "노선 후보를 담당자의 운행계획 검토에 전달",</a:t>
            </a:r>
          </a:p>
          <a:p xmlns:a="http://schemas.openxmlformats.org/drawingml/2006/main">
            <a:r>
              <a:t>        "output": "운영 노선"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"심야 시간대별 이동 수요를 기존 노선과 대조해 미충족 구간 선정",</a:t>
            </a:r>
          </a:p>
          <a:p xmlns:a="http://schemas.openxmlformats.org/drawingml/2006/main">
            <a:r>
              <a:t>      "exception": "지역별 통신 표본 비율 차이·관측기간 불일치",</a:t>
            </a:r>
          </a:p>
          <a:p xmlns:a="http://schemas.openxmlformats.org/drawingml/2006/main">
            <a:r>
              <a:t>      "evidence": "지역·시간 단위 원천 집계 대사표와 노선 후보 선정 사유",</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"교통정책 담당·운송 운영자",</a:t>
            </a:r>
          </a:p>
          <a:p xmlns:a="http://schemas.openxmlformats.org/drawingml/2006/main">
            <a:r>
              <a:t>          "processing": "시간대·출발지·도착지 지정",</a:t>
            </a:r>
          </a:p>
          <a:p xmlns:a="http://schemas.openxmlformats.org/drawingml/2006/main">
            <a:r>
              <a:t>          "output": "시간대별 이동량"</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"수요·노선 자료",</a:t>
            </a:r>
          </a:p>
          <a:p xmlns:a="http://schemas.openxmlformats.org/drawingml/2006/main">
            <a:r>
              <a:t>          "processing": "통신 수요·노선의 공간 단위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"시간대별 이동량",</a:t>
            </a:r>
          </a:p>
          <a:p xmlns:a="http://schemas.openxmlformats.org/drawingml/2006/main">
            <a:r>
              <a:t>          "processing": "이동량 집계와 노선별 수요 비교",</a:t>
            </a:r>
          </a:p>
          <a:p xmlns:a="http://schemas.openxmlformats.org/drawingml/2006/main">
            <a:r>
              <a:t>          "output": "노선 후보"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"노선 후보",</a:t>
            </a:r>
          </a:p>
          <a:p xmlns:a="http://schemas.openxmlformats.org/drawingml/2006/main">
            <a:r>
              <a:t>          "processing": "노선 후보를 담당자의 운행계획 검토에 전달",</a:t>
            </a:r>
          </a:p>
          <a:p xmlns:a="http://schemas.openxmlformats.org/drawingml/2006/main">
            <a:r>
              <a:t>          "output": "운영 노선"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"운행 후 수요 차이를 차기 노선 검토에 반영",</a:t>
            </a:r>
          </a:p>
          <a:p xmlns:a="http://schemas.openxmlformats.org/drawingml/2006/main">
            <a:r>
              <a:t>          "output":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"운행 후 수요 차이를 차기 노선 검토에 반영",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"S01",</a:t>
            </a:r>
          </a:p>
          <a:p xmlns:a="http://schemas.openxmlformats.org/drawingml/2006/main">
            <a:r>
              <a:t>        "title": "서울시 · 올빼미버스 빅데이터 정책",</a:t>
            </a:r>
          </a:p>
          <a:p xmlns:a="http://schemas.openxmlformats.org/drawingml/2006/main">
            <a:r>
              <a:t>        "url": "https://english.seoul.go.kr/smg-taps-big-data-customized-policy/",</a:t>
            </a:r>
          </a:p>
          <a:p xmlns:a="http://schemas.openxmlformats.org/drawingml/2006/main">
            <a:r>
              <a:t>        "published": "2014-04-28",</a:t>
            </a:r>
          </a:p>
          <a:p xmlns:a="http://schemas.openxmlformats.org/drawingml/2006/main">
            <a:r>
              <a:t>        "level": "운영기관 발표",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"현장 수요와 데이터 분석의 정책 결정 연결",</a:t>
            </a:r>
          </a:p>
          <a:p xmlns:a="http://schemas.openxmlformats.org/drawingml/2006/main">
            <a:r>
              <a:t>    "local": "TS 관할·교통약자·이동 수요를 지역별 업무 사전으로 연결",</a:t>
            </a:r>
          </a:p>
          <a:p xmlns:a="http://schemas.openxmlformats.org/drawingml/2006/main">
            <a:r>
              <a:t>    "sourceDetail": null,</a:t>
            </a:r>
          </a:p>
          <a:p xmlns:a="http://schemas.openxmlformats.org/drawingml/2006/main">
            <a:r>
              <a:t>    "narrative": [</a:t>
            </a:r>
          </a:p>
          <a:p xmlns:a="http://schemas.openxmlformats.org/drawingml/2006/main">
            <a:r>
              <a:t>      "심야 교통 수요를 실제 노선 결정에 연결한 데이터 기반 정책 사례. 기존 노선·운행계획을 검토하는 담당자가 시간대·지역별 잠재 수요를 함께 비교하는 업무 변화.",</a:t>
            </a:r>
          </a:p>
          <a:p xmlns:a="http://schemas.openxmlformats.org/drawingml/2006/main">
            <a:r>
              <a:t>      "통신 이동량과 노선 정보를 공통 공간 단위로 정리한 뒤 수요 분포와 노선 후보를 비교하는 분석 흐름의 재구성. CCK 적용 시 분석 결과를 담당 관할·교통약자 지원 업무·노선 검토자료로 변환하는 단계의 분리.",</a:t>
            </a:r>
          </a:p>
          <a:p xmlns:a="http://schemas.openxmlformats.org/drawingml/2006/main">
            <a:r>
              <a:t>      "운영 노선 확대 실적과 안전·지역경제 효과의 구분. 통신자료의 대표성, 시간대별 집계 재현성, 실제 승차 수요와의 차이를 확인한 후 TS 업무 검토시간·근거 누락률로 평가할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"노선 검토 요청",</a:t>
            </a:r>
          </a:p>
          <a:p xmlns:a="http://schemas.openxmlformats.org/drawingml/2006/main">
            <a:r>
              <a:t>          "layer": "이용 접점",</a:t>
            </a:r>
          </a:p>
          <a:p xmlns:a="http://schemas.openxmlformats.org/drawingml/2006/main">
            <a:r>
              <a:t>          "detail": "교통정책 담당·운송 운영자",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"시간·지역 범위",</a:t>
            </a:r>
          </a:p>
          <a:p xmlns:a="http://schemas.openxmlformats.org/drawingml/2006/main">
            <a:r>
              <a:t>          "layer": "업무 문맥",</a:t>
            </a:r>
          </a:p>
          <a:p xmlns:a="http://schemas.openxmlformats.org/drawingml/2006/main">
            <a:r>
              <a:t>          "detail": "시간대·출발지·도착지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"수요 집계 조회",</a:t>
            </a:r>
          </a:p>
          <a:p xmlns:a="http://schemas.openxmlformats.org/drawingml/2006/main">
            <a:r>
              <a:t>          "layer": "자료 조회",</a:t>
            </a:r>
          </a:p>
          <a:p xmlns:a="http://schemas.openxmlformats.org/drawingml/2006/main">
            <a:r>
              <a:t>          "detail": "시간대별 이동량",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"노선 후보 분석",</a:t>
            </a:r>
          </a:p>
          <a:p xmlns:a="http://schemas.openxmlformats.org/drawingml/2006/main">
            <a:r>
              <a:t>          "layer": "핵심 처리",</a:t>
            </a:r>
          </a:p>
          <a:p xmlns:a="http://schemas.openxmlformats.org/drawingml/2006/main">
            <a:r>
              <a:t>          "detail": "이동량 집계와 노선별 수요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"대표성·집계 검증",</a:t>
            </a:r>
          </a:p>
          <a:p xmlns:a="http://schemas.openxmlformats.org/drawingml/2006/main">
            <a:r>
              <a:t>          "layer": "결과 검증",</a:t>
            </a:r>
          </a:p>
          <a:p xmlns:a="http://schemas.openxmlformats.org/drawingml/2006/main">
            <a:r>
              <a:t>          "detail": "집계 단위·관측기간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"교통정책 검토",</a:t>
            </a:r>
          </a:p>
          <a:p xmlns:a="http://schemas.openxmlformats.org/drawingml/2006/main">
            <a:r>
              <a:t>          "layer": "사람 확인",</a:t>
            </a:r>
          </a:p>
          <a:p xmlns:a="http://schemas.openxmlformats.org/drawingml/2006/main">
            <a:r>
              <a:t>          "detail": "심야 시간대별 이동 수요를 기존 노선과 대조해 미충족 구간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"노선 운영계획",</a:t>
            </a:r>
          </a:p>
          <a:p xmlns:a="http://schemas.openxmlformats.org/drawingml/2006/main">
            <a:r>
              <a:t>          "layer": "업무 연결",</a:t>
            </a:r>
          </a:p>
          <a:p xmlns:a="http://schemas.openxmlformats.org/drawingml/2006/main">
            <a:r>
              <a:t>          "detail": "노선 후보를 담당자의 운행계획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"운행 수요 비교",</a:t>
            </a:r>
          </a:p>
          <a:p xmlns:a="http://schemas.openxmlformats.org/drawingml/2006/main">
            <a:r>
              <a:t>          "layer": "운영 관측",</a:t>
            </a:r>
          </a:p>
          <a:p xmlns:a="http://schemas.openxmlformats.org/drawingml/2006/main">
            <a:r>
              <a:t>          "detail": "운행 후 수요 차이를 차기 노선 검토에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"통신·노선 자료",</a:t>
            </a:r>
          </a:p>
          <a:p xmlns:a="http://schemas.openxmlformats.org/drawingml/2006/main">
            <a:r>
              <a:t>          "layer": "데이터 원천",</a:t>
            </a:r>
          </a:p>
          <a:p xmlns:a="http://schemas.openxmlformats.org/drawingml/2006/main">
            <a:r>
              <a:t>          "detail": "수요·노선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"공간 단위 정합화",</a:t>
            </a:r>
          </a:p>
          <a:p xmlns:a="http://schemas.openxmlformats.org/drawingml/2006/main">
            <a:r>
              <a:t>          "layer": "준비·갱신",</a:t>
            </a:r>
          </a:p>
          <a:p xmlns:a="http://schemas.openxmlformats.org/drawingml/2006/main">
            <a:r>
              <a:t>          "detail": "통신 수요·노선의 공간 단위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"지역·시간 집계",</a:t>
            </a:r>
          </a:p>
          <a:p xmlns:a="http://schemas.openxmlformats.org/drawingml/2006/main">
            <a:r>
              <a:t>          "layer": "상태·지식 저장",</a:t>
            </a:r>
          </a:p>
          <a:p xmlns:a="http://schemas.openxmlformats.org/drawingml/2006/main">
            <a:r>
              <a:t>          "detail": "지역·시간 단위 원천 집계 대사표와 노선 후보 선정 사유",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"집계 이용정책",</a:t>
            </a:r>
          </a:p>
          <a:p xmlns:a="http://schemas.openxmlformats.org/drawingml/2006/main">
            <a:r>
              <a:t>          "layer": "권한·정책",</a:t>
            </a:r>
          </a:p>
          <a:p xmlns:a="http://schemas.openxmlformats.org/drawingml/2006/main">
            <a:r>
              <a:t>          "detail": "지역별 통신 표본 비율 차이·관측기간 불일치",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"통신 이동 수요 → 시간·지역 분석 → 노선 선정 → 심야버스 운영"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"수요·노선 자료",</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"지역별 수요 분포",</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"통신 수요·노선의 공간 단위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"노선 후보",</a:t>
            </a:r>
          </a:p>
          <a:p xmlns:a="http://schemas.openxmlformats.org/drawingml/2006/main">
            <a:r>
              <a:t>          "check":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"노선 후보",</a:t>
            </a:r>
          </a:p>
          <a:p xmlns:a="http://schemas.openxmlformats.org/drawingml/2006/main">
            <a:r>
              <a:t>          "check": "집계 단위·관측기간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"운영 노선",</a:t>
            </a:r>
          </a:p>
          <a:p xmlns:a="http://schemas.openxmlformats.org/drawingml/2006/main">
            <a:r>
              <a:t>          "check": "지역·시간 단위 원천 집계 대사표와 노선 후보 선정 사유"</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"심야 이동 수요에 맞춘 버스 노선 설계 / 심야 수요 분포·노선 후보 비교·운행 검토",</a:t>
            </a:r>
          </a:p>
          <a:p xmlns:a="http://schemas.openxmlformats.org/drawingml/2006/main">
            <a:r>
              <a:t>        "extension": "TS 관할·교통약자·이동 수요를 지역별 업무 사전으로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"지역별 통신 표본 비율 차이·관측기간 불일치",</a:t>
            </a:r>
          </a:p>
          <a:p xmlns:a="http://schemas.openxmlformats.org/drawingml/2006/main">
            <a:r>
              <a:t>        "hold": "집계 단위·관측기간 대조",</a:t>
            </a:r>
          </a:p>
          <a:p xmlns:a="http://schemas.openxmlformats.org/drawingml/2006/main">
            <a:r>
              <a:t>        "recovery": "운행 후 수요 차이를 차기 노선 검토에 반영",</a:t>
            </a:r>
          </a:p>
          <a:p xmlns:a="http://schemas.openxmlformats.org/drawingml/2006/main">
            <a:r>
              <a:t>        "evidence": "지역·시간 단위 원천 집계 대사표와 노선 후보 선정 사유"</a:t>
            </a:r>
          </a:p>
          <a:p xmlns:a="http://schemas.openxmlformats.org/drawingml/2006/main">
            <a:r>
              <a:t>      },</a:t>
            </a:r>
          </a:p>
          <a:p xmlns:a="http://schemas.openxmlformats.org/drawingml/2006/main">
            <a:r>
              <a:t>      "data": {</a:t>
            </a:r>
          </a:p>
          <a:p xmlns:a="http://schemas.openxmlformats.org/drawingml/2006/main">
            <a:r>
              <a:t>        "source": "수요·노선 자료",</a:t>
            </a:r>
          </a:p>
          <a:p xmlns:a="http://schemas.openxmlformats.org/drawingml/2006/main">
            <a:r>
              <a:t>        "prepare": "통신 수요·노선의 공간 단위 정합화",</a:t>
            </a:r>
          </a:p>
          <a:p xmlns:a="http://schemas.openxmlformats.org/drawingml/2006/main">
            <a:r>
              <a:t>        "output": "시간대별 이동량",</a:t>
            </a:r>
          </a:p>
          <a:p xmlns:a="http://schemas.openxmlformats.org/drawingml/2006/main">
            <a:r>
              <a:t>        "refresh": "운행 후 수요 차이를 차기 노선 검토에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"AX01",</a:t>
            </a:r>
          </a:p>
          <a:p xmlns:a="http://schemas.openxmlformats.org/drawingml/2006/main">
            <a:r>
              <a:t>    "success": [</a:t>
            </a:r>
          </a:p>
          <a:p xmlns:a="http://schemas.openxmlformats.org/drawingml/2006/main">
            <a:r>
              <a:t>      "통신 수요와 실제 노선의 결합",</a:t>
            </a:r>
          </a:p>
          <a:p xmlns:a="http://schemas.openxmlformats.org/drawingml/2006/main">
            <a:r>
              <a:t>      "심야 시간·지역 단위의 수요 구분"</a:t>
            </a:r>
          </a:p>
          <a:p xmlns:a="http://schemas.openxmlformats.org/drawingml/2006/main">
            <a:r>
              <a:t>    ],</a:t>
            </a:r>
          </a:p>
          <a:p xmlns:a="http://schemas.openxmlformats.org/drawingml/2006/main">
            <a:r>
              <a:t>    "risks": [</a:t>
            </a:r>
          </a:p>
          <a:p xmlns:a="http://schemas.openxmlformats.org/drawingml/2006/main">
            <a:r>
              <a:t>      "휴대전화 자료의 이용자 대표성 차이",</a:t>
            </a:r>
          </a:p>
          <a:p xmlns:a="http://schemas.openxmlformats.org/drawingml/2006/main">
            <a:r>
              <a:t>      "노선 확대와 사고 감소의 인과관계 분리"</a:t>
            </a:r>
          </a:p>
          <a:p xmlns:a="http://schemas.openxmlformats.org/drawingml/2006/main">
            <a:r>
              <a:t>    ],</a:t>
            </a:r>
          </a:p>
          <a:p xmlns:a="http://schemas.openxmlformats.org/drawingml/2006/main">
            <a:r>
              <a:t>    "architecture": [</a:t>
            </a:r>
          </a:p>
          <a:p xmlns:a="http://schemas.openxmlformats.org/drawingml/2006/main">
            <a:r>
              <a:t>      "이동 수요 자료",</a:t>
            </a:r>
          </a:p>
          <a:p xmlns:a="http://schemas.openxmlformats.org/drawingml/2006/main">
            <a:r>
              <a:t>      "시간·지역 집계 분석",</a:t>
            </a:r>
          </a:p>
          <a:p xmlns:a="http://schemas.openxmlformats.org/drawingml/2006/main">
            <a:r>
              <a:t>      "수요·노선 자료",</a:t>
            </a:r>
          </a:p>
          <a:p xmlns:a="http://schemas.openxmlformats.org/drawingml/2006/main">
            <a:r>
              <a:t>      "노선 기획 담당"</a:t>
            </a:r>
          </a:p>
          <a:p xmlns:a="http://schemas.openxmlformats.org/drawingml/2006/main">
            <a:r>
              <a:t>    ],</a:t>
            </a:r>
          </a:p>
          <a:p xmlns:a="http://schemas.openxmlformats.org/drawingml/2006/main">
            <a:r>
              <a:t>    "transfers": [</a:t>
            </a:r>
          </a:p>
          <a:p xmlns:a="http://schemas.openxmlformats.org/drawingml/2006/main">
            <a:r>
              <a:t>      "시간대별 이동량",</a:t>
            </a:r>
          </a:p>
          <a:p xmlns:a="http://schemas.openxmlformats.org/drawingml/2006/main">
            <a:r>
              <a:t>      "지역별 수요 분포",</a:t>
            </a:r>
          </a:p>
          <a:p xmlns:a="http://schemas.openxmlformats.org/drawingml/2006/main">
            <a:r>
              <a:t>      "노선 후보",</a:t>
            </a:r>
          </a:p>
          <a:p xmlns:a="http://schemas.openxmlformats.org/drawingml/2006/main">
            <a:r>
              <a:t>      "운영 노선"</a:t>
            </a:r>
          </a:p>
          <a:p xmlns:a="http://schemas.openxmlformats.org/drawingml/2006/main">
            <a:r>
              <a:t>    ],</a:t>
            </a:r>
          </a:p>
          <a:p xmlns:a="http://schemas.openxmlformats.org/drawingml/2006/main">
            <a:r>
              <a:t>    "control": "집계 단위·관측기간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서울시 · 올빼미버스 빅데이터 정책 https://english.seoul.go.kr/smg-taps-big-data-customized-policy/</a:t>
            </a:r>
          </a:p>
          <a:p xmlns:a="http://schemas.openxmlformats.org/drawingml/2006/main">
            <a:r>
              <a:t>홈페이지 https://heen1987-ops.github.io/TS-business-Plan-001/index.html?view=casebook&amp;case=AX01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"AX02",</a:t>
            </a:r>
          </a:p>
          <a:p xmlns:a="http://schemas.openxmlformats.org/drawingml/2006/main">
            <a:r>
              <a:t>    "title": "CLOVA CareCall",</a:t>
            </a:r>
          </a:p>
          <a:p xmlns:a="http://schemas.openxmlformats.org/drawingml/2006/main">
            <a:r>
              <a:t>    "region": "국내",</a:t>
            </a:r>
          </a:p>
          <a:p xmlns:a="http://schemas.openxmlformats.org/drawingml/2006/main">
            <a:r>
              <a:t>    "country": "대한민국",</a:t>
            </a:r>
          </a:p>
          <a:p xmlns:a="http://schemas.openxmlformats.org/drawingml/2006/main">
            <a:r>
              <a:t>    "result": "혼합",</a:t>
            </a:r>
          </a:p>
          <a:p xmlns:a="http://schemas.openxmlformats.org/drawingml/2006/main">
            <a:r>
              <a:t>    "kind": "음성·LLM 돌봄 서비스",</a:t>
            </a:r>
          </a:p>
          <a:p xmlns:a="http://schemas.openxmlformats.org/drawingml/2006/main">
            <a:r>
              <a:t>    "period": "CHI 2023 / 2024 소개",</a:t>
            </a:r>
          </a:p>
          <a:p xmlns:a="http://schemas.openxmlformats.org/drawingml/2006/main">
            <a:r>
              <a:t>    "sources": [</a:t>
            </a:r>
          </a:p>
          <a:p xmlns:a="http://schemas.openxmlformats.org/drawingml/2006/main">
            <a:r>
              <a:t>      "S02"</a:t>
            </a:r>
          </a:p>
          <a:p xmlns:a="http://schemas.openxmlformats.org/drawingml/2006/main">
            <a:r>
              <a:t>    ],</a:t>
            </a:r>
          </a:p>
          <a:p xmlns:a="http://schemas.openxmlformats.org/drawingml/2006/main">
            <a:r>
              <a:t>    "keywords": [</a:t>
            </a:r>
          </a:p>
          <a:p xmlns:a="http://schemas.openxmlformats.org/drawingml/2006/main">
            <a:r>
              <a:t>      "음성",</a:t>
            </a:r>
          </a:p>
          <a:p xmlns:a="http://schemas.openxmlformats.org/drawingml/2006/main">
            <a:r>
              <a:t>      "정보약자",</a:t>
            </a:r>
          </a:p>
          <a:p xmlns:a="http://schemas.openxmlformats.org/drawingml/2006/main">
            <a:r>
              <a:t>      "맞춤 서비스",</a:t>
            </a:r>
          </a:p>
          <a:p xmlns:a="http://schemas.openxmlformats.org/drawingml/2006/main">
            <a:r>
              <a:t>      "인간 개입"</a:t>
            </a:r>
          </a:p>
          <a:p xmlns:a="http://schemas.openxmlformats.org/drawingml/2006/main">
            <a:r>
              <a:t>    ],</a:t>
            </a:r>
          </a:p>
          <a:p xmlns:a="http://schemas.openxmlformats.org/drawingml/2006/main">
            <a:r>
              <a:t>    "fact": "안부전화와 복지 담당자 후속 대응의 결합; 인터뷰에서 업무 부담 완화와 사용자 이해의 이점 보고",</a:t>
            </a:r>
          </a:p>
          <a:p xmlns:a="http://schemas.openxmlformats.org/drawingml/2006/main">
            <a:r>
              <a:t>    "limit": "소규모 질적 연구 · 부적절 발화 통제와 지자체별 요구 반영의 난점 · 임상 효과 근거 아님",</a:t>
            </a:r>
          </a:p>
          <a:p xmlns:a="http://schemas.openxmlformats.org/drawingml/2006/main">
            <a:r>
              <a:t>    "flow": [</a:t>
            </a:r>
          </a:p>
          <a:p xmlns:a="http://schemas.openxmlformats.org/drawingml/2006/main">
            <a:r>
              <a:t>      "안부전화",</a:t>
            </a:r>
          </a:p>
          <a:p xmlns:a="http://schemas.openxmlformats.org/drawingml/2006/main">
            <a:r>
              <a:t>      "LLM 대화",</a:t>
            </a:r>
          </a:p>
          <a:p xmlns:a="http://schemas.openxmlformats.org/drawingml/2006/main">
            <a:r>
              <a:t>      "내역 열람·분석",</a:t>
            </a:r>
          </a:p>
          <a:p xmlns:a="http://schemas.openxmlformats.org/drawingml/2006/main">
            <a:r>
              <a:t>      "복지 담당자 대응"</a:t>
            </a:r>
          </a:p>
          <a:p xmlns:a="http://schemas.openxmlformats.org/drawingml/2006/main">
            <a:r>
              <a:t>    ],</a:t>
            </a:r>
          </a:p>
          <a:p xmlns:a="http://schemas.openxmlformats.org/drawingml/2006/main">
            <a:r>
              <a:t>    "flowBasis": "개발사 공개 서비스 구조 요약",</a:t>
            </a:r>
          </a:p>
          <a:p xmlns:a="http://schemas.openxmlformats.org/drawingml/2006/main">
            <a:r>
              <a:t>    "lesson": "자유 발화와 필수 업무 항목의 분리 및 사람에게 연결되는 경로",</a:t>
            </a:r>
          </a:p>
          <a:p xmlns:a="http://schemas.openxmlformats.org/drawingml/2006/main">
            <a:r>
              <a:t>    "local": "TS 민원 발화를 요약한 뒤 신청 목적·대상·지역의 사용자 확인",</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"한국어 음성 연계 / 발화 정리 / 필수 항목 검증 / 상담 전환",</a:t>
            </a:r>
          </a:p>
          <a:p xmlns:a="http://schemas.openxmlformats.org/drawingml/2006/main">
            <a:r>
              <a:t>    "test": "고령·소음·방언 표본의 필수 항목 정확도 및 상담 전환 성공률",</a:t>
            </a:r>
          </a:p>
          <a:p xmlns:a="http://schemas.openxmlformats.org/drawingml/2006/main">
            <a:r>
              <a:t>    "metric": "서비스 도달률 / 발화 재입력률 / 집단별 완료시간"</a:t>
            </a:r>
          </a:p>
          <a:p xmlns:a="http://schemas.openxmlformats.org/drawingml/2006/main">
            <a:r>
              <a:t>  },</a:t>
            </a:r>
          </a:p>
          <a:p xmlns:a="http://schemas.openxmlformats.org/drawingml/2006/main">
            <a:r>
              <a:t>  "design": {</a:t>
            </a:r>
          </a:p>
          <a:p xmlns:a="http://schemas.openxmlformats.org/drawingml/2006/main">
            <a:r>
              <a:t>    "id": "AX02",</a:t>
            </a:r>
          </a:p>
          <a:p xmlns:a="http://schemas.openxmlformats.org/drawingml/2006/main">
            <a:r>
              <a:t>    "canonicalId": "AX02",</a:t>
            </a:r>
          </a:p>
          <a:p xmlns:a="http://schemas.openxmlformats.org/drawingml/2006/main">
            <a:r>
              <a:t>    "purpose": "안부전화 이후 필요한 복지 조치의 연결",</a:t>
            </a:r>
          </a:p>
          <a:p xmlns:a="http://schemas.openxmlformats.org/drawingml/2006/main">
            <a:r>
              <a:t>    "users": "돌봄 대상자·복지 담당자",</a:t>
            </a:r>
          </a:p>
          <a:p xmlns:a="http://schemas.openxmlformats.org/drawingml/2006/main">
            <a:r>
              <a:t>    "scope": [</a:t>
            </a:r>
          </a:p>
          <a:p xmlns:a="http://schemas.openxmlformats.org/drawingml/2006/main">
            <a:r>
              <a:t>      "자유 발화",</a:t>
            </a:r>
          </a:p>
          <a:p xmlns:a="http://schemas.openxmlformats.org/drawingml/2006/main">
            <a:r>
              <a:t>      "상황 요약",</a:t>
            </a:r>
          </a:p>
          <a:p xmlns:a="http://schemas.openxmlformats.org/drawingml/2006/main">
            <a:r>
              <a:t>      "후속 대응"</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"안부전화",</a:t>
            </a:r>
          </a:p>
          <a:p xmlns:a="http://schemas.openxmlformats.org/drawingml/2006/main">
            <a:r>
              <a:t>        "detail": "전화 대상·대화 문맥의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"자유 발화 / 상황 요약 / 후속 대응",</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"대화·내역 분석",</a:t>
            </a:r>
          </a:p>
          <a:p xmlns:a="http://schemas.openxmlformats.org/drawingml/2006/main">
            <a:r>
              <a:t>        "detail": "음성 대화에서 상태와 확인 필요 내용 정리",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"복지 담당자",</a:t>
            </a:r>
          </a:p>
          <a:p xmlns:a="http://schemas.openxmlformats.org/drawingml/2006/main">
            <a:r>
              <a:t>        "detail": "담당자에게 상황 요약·확인 대상을 인계",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"대화·후속 대응 기록",</a:t>
            </a:r>
          </a:p>
          <a:p xmlns:a="http://schemas.openxmlformats.org/drawingml/2006/main">
            <a:r>
              <a:t>        "detail": "동의 범위 내 대화와 과거 대응 기록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"오인식·부적절 발화와 실제 대응 결과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"안부전화",</a:t>
            </a:r>
          </a:p>
          <a:p xmlns:a="http://schemas.openxmlformats.org/drawingml/2006/main">
            <a:r>
              <a:t>        "input": "전화 대상·대화 문맥의 구분",</a:t>
            </a:r>
          </a:p>
          <a:p xmlns:a="http://schemas.openxmlformats.org/drawingml/2006/main">
            <a:r>
              <a:t>        "process": "동의 범위 내 대화와 과거 대응 기록 구성",</a:t>
            </a:r>
          </a:p>
          <a:p xmlns:a="http://schemas.openxmlformats.org/drawingml/2006/main">
            <a:r>
              <a:t>        "output": "동의받은 발화"</a:t>
            </a:r>
          </a:p>
          <a:p xmlns:a="http://schemas.openxmlformats.org/drawingml/2006/main">
            <a:r>
              <a:t>      },</a:t>
            </a:r>
          </a:p>
          <a:p xmlns:a="http://schemas.openxmlformats.org/drawingml/2006/main">
            <a:r>
              <a:t>      {</a:t>
            </a:r>
          </a:p>
          <a:p xmlns:a="http://schemas.openxmlformats.org/drawingml/2006/main">
            <a:r>
              <a:t>        "title": "LLM 대화",</a:t>
            </a:r>
          </a:p>
          <a:p xmlns:a="http://schemas.openxmlformats.org/drawingml/2006/main">
            <a:r>
              <a:t>        "input": "동의받은 발화",</a:t>
            </a:r>
          </a:p>
          <a:p xmlns:a="http://schemas.openxmlformats.org/drawingml/2006/main">
            <a:r>
              <a:t>        "process": "음성 대화에서 상태와 확인 필요 내용 정리",</a:t>
            </a:r>
          </a:p>
          <a:p xmlns:a="http://schemas.openxmlformats.org/drawingml/2006/main">
            <a:r>
              <a:t>        "output": "상황 요약"</a:t>
            </a:r>
          </a:p>
          <a:p xmlns:a="http://schemas.openxmlformats.org/drawingml/2006/main">
            <a:r>
              <a:t>      },</a:t>
            </a:r>
          </a:p>
          <a:p xmlns:a="http://schemas.openxmlformats.org/drawingml/2006/main">
            <a:r>
              <a:t>      {</a:t>
            </a:r>
          </a:p>
          <a:p xmlns:a="http://schemas.openxmlformats.org/drawingml/2006/main">
            <a:r>
              <a:t>        "title": "내역 열람·분석",</a:t>
            </a:r>
          </a:p>
          <a:p xmlns:a="http://schemas.openxmlformats.org/drawingml/2006/main">
            <a:r>
              <a:t>        "input": "상황 요약",</a:t>
            </a:r>
          </a:p>
          <a:p xmlns:a="http://schemas.openxmlformats.org/drawingml/2006/main">
            <a:r>
              <a:t>        "process": "위험 신호의 사람 확인·상담 인계",</a:t>
            </a:r>
          </a:p>
          <a:p xmlns:a="http://schemas.openxmlformats.org/drawingml/2006/main">
            <a:r>
              <a:t>        "output": "확인 필요 대상"</a:t>
            </a:r>
          </a:p>
          <a:p xmlns:a="http://schemas.openxmlformats.org/drawingml/2006/main">
            <a:r>
              <a:t>      },</a:t>
            </a:r>
          </a:p>
          <a:p xmlns:a="http://schemas.openxmlformats.org/drawingml/2006/main">
            <a:r>
              <a:t>      {</a:t>
            </a:r>
          </a:p>
          <a:p xmlns:a="http://schemas.openxmlformats.org/drawingml/2006/main">
            <a:r>
              <a:t>        "title": "복지 담당자 대응",</a:t>
            </a:r>
          </a:p>
          <a:p xmlns:a="http://schemas.openxmlformats.org/drawingml/2006/main">
            <a:r>
              <a:t>        "input": "확인 필요 대상",</a:t>
            </a:r>
          </a:p>
          <a:p xmlns:a="http://schemas.openxmlformats.org/drawingml/2006/main">
            <a:r>
              <a:t>        "process": "담당자에게 상황 요약·확인 대상을 인계",</a:t>
            </a:r>
          </a:p>
          <a:p xmlns:a="http://schemas.openxmlformats.org/drawingml/2006/main">
            <a:r>
              <a:t>        "output": "담당자 대응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"통화에서 식사·수면·불편 사항을 파악하고 담당자가 후속 확인",</a:t>
            </a:r>
          </a:p>
          <a:p xmlns:a="http://schemas.openxmlformats.org/drawingml/2006/main">
            <a:r>
              <a:t>      "exception": "방언·침묵·통화 중단·위험 발화의 부정문",</a:t>
            </a:r>
          </a:p>
          <a:p xmlns:a="http://schemas.openxmlformats.org/drawingml/2006/main">
            <a:r>
              <a:t>      "evidence": "원 발화 대비 상태·위험 신호 추출표와 상담 인계 수신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"돌봄 대상자·복지 담당자",</a:t>
            </a:r>
          </a:p>
          <a:p xmlns:a="http://schemas.openxmlformats.org/drawingml/2006/main">
            <a:r>
              <a:t>          "processing": "전화 대상·대화 문맥의 구분",</a:t>
            </a:r>
          </a:p>
          <a:p xmlns:a="http://schemas.openxmlformats.org/drawingml/2006/main">
            <a:r>
              <a:t>          "output": "동의받은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"대화·후속 대응 기록",</a:t>
            </a:r>
          </a:p>
          <a:p xmlns:a="http://schemas.openxmlformats.org/drawingml/2006/main">
            <a:r>
              <a:t>          "processing": "동의 범위 내 대화와 과거 대응 기록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"동의받은 발화",</a:t>
            </a:r>
          </a:p>
          <a:p xmlns:a="http://schemas.openxmlformats.org/drawingml/2006/main">
            <a:r>
              <a:t>          "processing": "음성 대화에서 상태와 확인 필요 내용 정리",</a:t>
            </a:r>
          </a:p>
          <a:p xmlns:a="http://schemas.openxmlformats.org/drawingml/2006/main">
            <a:r>
              <a:t>          "output": "확인 필요 대상"</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"확인 필요 대상",</a:t>
            </a:r>
          </a:p>
          <a:p xmlns:a="http://schemas.openxmlformats.org/drawingml/2006/main">
            <a:r>
              <a:t>          "processing": "담당자에게 상황 요약·확인 대상을 인계",</a:t>
            </a:r>
          </a:p>
          <a:p xmlns:a="http://schemas.openxmlformats.org/drawingml/2006/main">
            <a:r>
              <a:t>          "output": "담당자 대응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"오인식·부적절 발화와 실제 대응 결과 검토",</a:t>
            </a:r>
          </a:p>
          <a:p xmlns:a="http://schemas.openxmlformats.org/drawingml/2006/main">
            <a:r>
              <a:t>          "output":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"오인식·부적절 발화와 실제 대응 결과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"S02",</a:t>
            </a:r>
          </a:p>
          <a:p xmlns:a="http://schemas.openxmlformats.org/drawingml/2006/main">
            <a:r>
              <a:t>        "title": "NAVER · CareCall 이해관계자 연구",</a:t>
            </a:r>
          </a:p>
          <a:p xmlns:a="http://schemas.openxmlformats.org/drawingml/2006/main">
            <a:r>
              <a:t>        "url": "https://clova.ai/tech-blog/ko-clova-%EC%BC%80%EC%96%B4%EC%BD%9C-%EC%97%B0%EA%B5%AC-%EB%85%BC%EB%AC%B8-%EC%86%8C%EA%B0%9C-%EC%B4%88%EA%B1%B0%EB%8C%80-%EC%9D%B8%EA%B3%B5%EC%A7%80%EB%8A%A5-%EA%B8%B0%EB%B0%98-%EC%B1%97%EB%B4%87",</a:t>
            </a:r>
          </a:p>
          <a:p xmlns:a="http://schemas.openxmlformats.org/drawingml/2006/main">
            <a:r>
              <a:t>        "published": "2024-08-07",</a:t>
            </a:r>
          </a:p>
          <a:p xmlns:a="http://schemas.openxmlformats.org/drawingml/2006/main">
            <a:r>
              <a:t>        "level": "개발사 연구 요약 / CHI 2023",</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"자유 발화와 필수 업무 항목의 분리 및 사람에게 연결되는 경로",</a:t>
            </a:r>
          </a:p>
          <a:p xmlns:a="http://schemas.openxmlformats.org/drawingml/2006/main">
            <a:r>
              <a:t>    "local": "TS 민원 발화를 요약한 뒤 신청 목적·대상·지역의 사용자 확인",</a:t>
            </a:r>
          </a:p>
          <a:p xmlns:a="http://schemas.openxmlformats.org/drawingml/2006/main">
            <a:r>
              <a:t>    "sourceDetail": null,</a:t>
            </a:r>
          </a:p>
          <a:p xmlns:a="http://schemas.openxmlformats.org/drawingml/2006/main">
            <a:r>
              <a:t>    "narrative": [</a:t>
            </a:r>
          </a:p>
          <a:p xmlns:a="http://schemas.openxmlformats.org/drawingml/2006/main">
            <a:r>
              <a:t>      "자유 발화 중심의 안부전화와 복지 담당자의 후속 대응을 결합한 서비스. 통화 자체의 자동화보다 대상자의 상황을 파악해 필요한 확인·방문 업무로 인계하는 연결이 핵심.",</a:t>
            </a:r>
          </a:p>
          <a:p xmlns:a="http://schemas.openxmlformats.org/drawingml/2006/main">
            <a:r>
              <a:t>      "음성 대화 기록에서 상태와 확인할 내용을 정리하고 담당자가 대응 여부를 검토하는 흐름. TS 적용 설계에서는 민원 발화를 신청 목적·대상·지역 등 필수 항목으로 정리한 뒤 사용자 확인과 상담원 인계를 구성.",</a:t>
            </a:r>
          </a:p>
          <a:p xmlns:a="http://schemas.openxmlformats.org/drawingml/2006/main">
            <a:r>
              <a:t>      "인터뷰에서 보고된 부담 완화와 임상·복지 성과의 구분. 소음·방언·고령 발화의 인식 오류, 위험 신호의 미탐, 상담원이 실제 인계받았는지를 별도로 측정할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"안부전화 접점",</a:t>
            </a:r>
          </a:p>
          <a:p xmlns:a="http://schemas.openxmlformats.org/drawingml/2006/main">
            <a:r>
              <a:t>          "layer": "이용 접점",</a:t>
            </a:r>
          </a:p>
          <a:p xmlns:a="http://schemas.openxmlformats.org/drawingml/2006/main">
            <a:r>
              <a:t>          "detail": "돌봄 대상자·복지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"대상·대화 맥락",</a:t>
            </a:r>
          </a:p>
          <a:p xmlns:a="http://schemas.openxmlformats.org/drawingml/2006/main">
            <a:r>
              <a:t>          "layer": "업무 문맥",</a:t>
            </a:r>
          </a:p>
          <a:p xmlns:a="http://schemas.openxmlformats.org/drawingml/2006/main">
            <a:r>
              <a:t>          "detail": "전화 대상·대화 문맥의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"이전 대응 조회",</a:t>
            </a:r>
          </a:p>
          <a:p xmlns:a="http://schemas.openxmlformats.org/drawingml/2006/main">
            <a:r>
              <a:t>          "layer": "자료 조회",</a:t>
            </a:r>
          </a:p>
          <a:p xmlns:a="http://schemas.openxmlformats.org/drawingml/2006/main">
            <a:r>
              <a:t>          "detail": "동의받은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"대화·상태 요약",</a:t>
            </a:r>
          </a:p>
          <a:p xmlns:a="http://schemas.openxmlformats.org/drawingml/2006/main">
            <a:r>
              <a:t>          "layer": "핵심 처리",</a:t>
            </a:r>
          </a:p>
          <a:p xmlns:a="http://schemas.openxmlformats.org/drawingml/2006/main">
            <a:r>
              <a:t>          "detail": "음성 대화에서 상태와 확인 필요 내용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"위험 발화 확인",</a:t>
            </a:r>
          </a:p>
          <a:p xmlns:a="http://schemas.openxmlformats.org/drawingml/2006/main">
            <a:r>
              <a:t>          "layer": "결과 검증",</a:t>
            </a:r>
          </a:p>
          <a:p xmlns:a="http://schemas.openxmlformats.org/drawingml/2006/main">
            <a:r>
              <a:t>          "detail": "위험 신호의 사람 확인·상담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"복지 담당 확인",</a:t>
            </a:r>
          </a:p>
          <a:p xmlns:a="http://schemas.openxmlformats.org/drawingml/2006/main">
            <a:r>
              <a:t>          "layer": "사람 확인",</a:t>
            </a:r>
          </a:p>
          <a:p xmlns:a="http://schemas.openxmlformats.org/drawingml/2006/main">
            <a:r>
              <a:t>          "detail": "통화에서 식사·수면·불편 사항을 파악하고 담당자가 후속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"상담·방문 인계",</a:t>
            </a:r>
          </a:p>
          <a:p xmlns:a="http://schemas.openxmlformats.org/drawingml/2006/main">
            <a:r>
              <a:t>          "layer": "업무 연결",</a:t>
            </a:r>
          </a:p>
          <a:p xmlns:a="http://schemas.openxmlformats.org/drawingml/2006/main">
            <a:r>
              <a:t>          "detail": "담당자에게 상황 요약·확인 대상을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"조치 완료 추적",</a:t>
            </a:r>
          </a:p>
          <a:p xmlns:a="http://schemas.openxmlformats.org/drawingml/2006/main">
            <a:r>
              <a:t>          "layer": "운영 관측",</a:t>
            </a:r>
          </a:p>
          <a:p xmlns:a="http://schemas.openxmlformats.org/drawingml/2006/main">
            <a:r>
              <a:t>          "detail": "오인식·부적절 발화와 실제 대응 결과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"동의받은 대화",</a:t>
            </a:r>
          </a:p>
          <a:p xmlns:a="http://schemas.openxmlformats.org/drawingml/2006/main">
            <a:r>
              <a:t>          "layer": "데이터 원천",</a:t>
            </a:r>
          </a:p>
          <a:p xmlns:a="http://schemas.openxmlformats.org/drawingml/2006/main">
            <a:r>
              <a:t>          "detail": "대화·후속 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"민감 발화 분리",</a:t>
            </a:r>
          </a:p>
          <a:p xmlns:a="http://schemas.openxmlformats.org/drawingml/2006/main">
            <a:r>
              <a:t>          "layer": "준비·갱신",</a:t>
            </a:r>
          </a:p>
          <a:p xmlns:a="http://schemas.openxmlformats.org/drawingml/2006/main">
            <a:r>
              <a:t>          "detail": "동의 범위 내 대화와 과거 대응 기록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"대화·대응 이력",</a:t>
            </a:r>
          </a:p>
          <a:p xmlns:a="http://schemas.openxmlformats.org/drawingml/2006/main">
            <a:r>
              <a:t>          "layer": "상태·지식 저장",</a:t>
            </a:r>
          </a:p>
          <a:p xmlns:a="http://schemas.openxmlformats.org/drawingml/2006/main">
            <a:r>
              <a:t>          "detail": "원 발화 대비 상태·위험 신호 추출표와 상담 인계 수신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"동의·열람정책",</a:t>
            </a:r>
          </a:p>
          <a:p xmlns:a="http://schemas.openxmlformats.org/drawingml/2006/main">
            <a:r>
              <a:t>          "layer": "권한·정책",</a:t>
            </a:r>
          </a:p>
          <a:p xmlns:a="http://schemas.openxmlformats.org/drawingml/2006/main">
            <a:r>
              <a:t>          "detail": "방언·침묵·통화 중단·위험 발화의 부정문",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"안부전화 → LLM 대화 → 내역 열람·분석 → 복지 담당자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"전화 대상·대화 문맥의 구분",</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"동의받은 발화",</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"대화·후속 대응 기록",</a:t>
            </a:r>
          </a:p>
          <a:p xmlns:a="http://schemas.openxmlformats.org/drawingml/2006/main">
            <a:r>
              <a:t>          "check": "동의 범위 내 대화와 과거 대응 기록 구성"</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"확인 필요 대상",</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"담당자 대응 기록",</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"담당자 대응 기록",</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"안부전화 이후 필요한 복지 조치의 연결 / 자유 발화·상황 요약·후속 대응",</a:t>
            </a:r>
          </a:p>
          <a:p xmlns:a="http://schemas.openxmlformats.org/drawingml/2006/main">
            <a:r>
              <a:t>        "extension": "TS 민원 발화를 요약한 뒤 신청 목적·대상·지역의 사용자 확인"</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"방언·침묵·통화 중단·위험 발화의 부정문",</a:t>
            </a:r>
          </a:p>
          <a:p xmlns:a="http://schemas.openxmlformats.org/drawingml/2006/main">
            <a:r>
              <a:t>        "hold": "위험 신호의 사람 확인·상담 인계",</a:t>
            </a:r>
          </a:p>
          <a:p xmlns:a="http://schemas.openxmlformats.org/drawingml/2006/main">
            <a:r>
              <a:t>        "recovery": "오인식·부적절 발화와 실제 대응 결과 검토",</a:t>
            </a:r>
          </a:p>
          <a:p xmlns:a="http://schemas.openxmlformats.org/drawingml/2006/main">
            <a:r>
              <a:t>        "evidence": "원 발화 대비 상태·위험 신호 추출표와 상담 인계 수신 기록"</a:t>
            </a:r>
          </a:p>
          <a:p xmlns:a="http://schemas.openxmlformats.org/drawingml/2006/main">
            <a:r>
              <a:t>      },</a:t>
            </a:r>
          </a:p>
          <a:p xmlns:a="http://schemas.openxmlformats.org/drawingml/2006/main">
            <a:r>
              <a:t>      "data": {</a:t>
            </a:r>
          </a:p>
          <a:p xmlns:a="http://schemas.openxmlformats.org/drawingml/2006/main">
            <a:r>
              <a:t>        "source": "대화·후속 대응 기록",</a:t>
            </a:r>
          </a:p>
          <a:p xmlns:a="http://schemas.openxmlformats.org/drawingml/2006/main">
            <a:r>
              <a:t>        "prepare": "동의 범위 내 대화와 과거 대응 기록 구성",</a:t>
            </a:r>
          </a:p>
          <a:p xmlns:a="http://schemas.openxmlformats.org/drawingml/2006/main">
            <a:r>
              <a:t>        "output": "동의받은 발화",</a:t>
            </a:r>
          </a:p>
          <a:p xmlns:a="http://schemas.openxmlformats.org/drawingml/2006/main">
            <a:r>
              <a:t>        "refresh": "오인식·부적절 발화와 실제 대응 결과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"AX02",</a:t>
            </a:r>
          </a:p>
          <a:p xmlns:a="http://schemas.openxmlformats.org/drawingml/2006/main">
            <a:r>
              <a:t>    "success": [</a:t>
            </a:r>
          </a:p>
          <a:p xmlns:a="http://schemas.openxmlformats.org/drawingml/2006/main">
            <a:r>
              <a:t>      "전화 접점과 담당자 후속 대응의 결합",</a:t>
            </a:r>
          </a:p>
          <a:p xmlns:a="http://schemas.openxmlformats.org/drawingml/2006/main">
            <a:r>
              <a:t>      "이용자 상황을 반영한 대화"</a:t>
            </a:r>
          </a:p>
          <a:p xmlns:a="http://schemas.openxmlformats.org/drawingml/2006/main">
            <a:r>
              <a:t>    ],</a:t>
            </a:r>
          </a:p>
          <a:p xmlns:a="http://schemas.openxmlformats.org/drawingml/2006/main">
            <a:r>
              <a:t>    "risks": [</a:t>
            </a:r>
          </a:p>
          <a:p xmlns:a="http://schemas.openxmlformats.org/drawingml/2006/main">
            <a:r>
              <a:t>      "위험 발화의 오해·미탐 가능성",</a:t>
            </a:r>
          </a:p>
          <a:p xmlns:a="http://schemas.openxmlformats.org/drawingml/2006/main">
            <a:r>
              <a:t>      "대화 종료와 실제 복지 조치의 혼동"</a:t>
            </a:r>
          </a:p>
          <a:p xmlns:a="http://schemas.openxmlformats.org/drawingml/2006/main">
            <a:r>
              <a:t>    ],</a:t>
            </a:r>
          </a:p>
          <a:p xmlns:a="http://schemas.openxmlformats.org/drawingml/2006/main">
            <a:r>
              <a:t>    "architecture": [</a:t>
            </a:r>
          </a:p>
          <a:p xmlns:a="http://schemas.openxmlformats.org/drawingml/2006/main">
            <a:r>
              <a:t>      "안부전화",</a:t>
            </a:r>
          </a:p>
          <a:p xmlns:a="http://schemas.openxmlformats.org/drawingml/2006/main">
            <a:r>
              <a:t>      "대화·내역 분석",</a:t>
            </a:r>
          </a:p>
          <a:p xmlns:a="http://schemas.openxmlformats.org/drawingml/2006/main">
            <a:r>
              <a:t>      "대화·후속 대응 기록",</a:t>
            </a:r>
          </a:p>
          <a:p xmlns:a="http://schemas.openxmlformats.org/drawingml/2006/main">
            <a:r>
              <a:t>      "복지 담당자"</a:t>
            </a:r>
          </a:p>
          <a:p xmlns:a="http://schemas.openxmlformats.org/drawingml/2006/main">
            <a:r>
              <a:t>    ],</a:t>
            </a:r>
          </a:p>
          <a:p xmlns:a="http://schemas.openxmlformats.org/drawingml/2006/main">
            <a:r>
              <a:t>    "transfers": [</a:t>
            </a:r>
          </a:p>
          <a:p xmlns:a="http://schemas.openxmlformats.org/drawingml/2006/main">
            <a:r>
              <a:t>      "동의받은 발화",</a:t>
            </a:r>
          </a:p>
          <a:p xmlns:a="http://schemas.openxmlformats.org/drawingml/2006/main">
            <a:r>
              <a:t>      "상황 요약",</a:t>
            </a:r>
          </a:p>
          <a:p xmlns:a="http://schemas.openxmlformats.org/drawingml/2006/main">
            <a:r>
              <a:t>      "확인 필요 대상",</a:t>
            </a:r>
          </a:p>
          <a:p xmlns:a="http://schemas.openxmlformats.org/drawingml/2006/main">
            <a:r>
              <a:t>      "담당자 대응 기록"</a:t>
            </a:r>
          </a:p>
          <a:p xmlns:a="http://schemas.openxmlformats.org/drawingml/2006/main">
            <a:r>
              <a:t>    ],</a:t>
            </a:r>
          </a:p>
          <a:p xmlns:a="http://schemas.openxmlformats.org/drawingml/2006/main">
            <a:r>
              <a:t>    "control": "위험 신호의 사람 확인·상담 인계",</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NAVER · CareCall 이해관계자 연구 https://clova.ai/tech-blog/ko-clova-%EC%BC%80%EC%96%B4%EC%BD%9C-%EC%97%B0%EA%B5%AC-%EB%85%BC%EB%AC%B8-%EC%86%8C%EA%B0%9C-%EC%B4%88%EA%B1%B0%EB%8C%80-%EC%9D%B8%EA%B3%B5%EC%A7%80%EB%8A%A5-%EA%B8%B0%EB%B0%98-%EC%B1%97%EB%B4%87</a:t>
            </a:r>
          </a:p>
          <a:p xmlns:a="http://schemas.openxmlformats.org/drawingml/2006/main">
            <a:r>
              <a:t>홈페이지 https://heen1987-ops.github.io/TS-business-Plan-001/index.html?view=casebook&amp;case=AX02</a:t>
            </a:r>
          </a:p>
          <a:p xmlns:a="http://schemas.openxmlformats.org/drawingml/2006/main">
            <a:r>
              <a:t>한계: 소규모 질적 연구 · 부적절 발화 통제와 지자체별 요구 반영의 난점 · 임상 효과 근거 아님</a:t>
            </a:r>
          </a:p>
          <a:p xmlns:a="http://schemas.openxmlformats.org/drawingml/2006/main">
            <a:r>
              <a:t>실패 위험: 위험 발화의 오해·미탐 가능성 / 대화 종료와 실제 복지 조치의 혼동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"AX02",</a:t>
            </a:r>
          </a:p>
          <a:p xmlns:a="http://schemas.openxmlformats.org/drawingml/2006/main">
            <a:r>
              <a:t>    "title": "CLOVA CareCall",</a:t>
            </a:r>
          </a:p>
          <a:p xmlns:a="http://schemas.openxmlformats.org/drawingml/2006/main">
            <a:r>
              <a:t>    "region": "국내",</a:t>
            </a:r>
          </a:p>
          <a:p xmlns:a="http://schemas.openxmlformats.org/drawingml/2006/main">
            <a:r>
              <a:t>    "country": "대한민국",</a:t>
            </a:r>
          </a:p>
          <a:p xmlns:a="http://schemas.openxmlformats.org/drawingml/2006/main">
            <a:r>
              <a:t>    "result": "혼합",</a:t>
            </a:r>
          </a:p>
          <a:p xmlns:a="http://schemas.openxmlformats.org/drawingml/2006/main">
            <a:r>
              <a:t>    "kind": "음성·LLM 돌봄 서비스",</a:t>
            </a:r>
          </a:p>
          <a:p xmlns:a="http://schemas.openxmlformats.org/drawingml/2006/main">
            <a:r>
              <a:t>    "period": "CHI 2023 / 2024 소개",</a:t>
            </a:r>
          </a:p>
          <a:p xmlns:a="http://schemas.openxmlformats.org/drawingml/2006/main">
            <a:r>
              <a:t>    "sources": [</a:t>
            </a:r>
          </a:p>
          <a:p xmlns:a="http://schemas.openxmlformats.org/drawingml/2006/main">
            <a:r>
              <a:t>      "S02"</a:t>
            </a:r>
          </a:p>
          <a:p xmlns:a="http://schemas.openxmlformats.org/drawingml/2006/main">
            <a:r>
              <a:t>    ],</a:t>
            </a:r>
          </a:p>
          <a:p xmlns:a="http://schemas.openxmlformats.org/drawingml/2006/main">
            <a:r>
              <a:t>    "keywords": [</a:t>
            </a:r>
          </a:p>
          <a:p xmlns:a="http://schemas.openxmlformats.org/drawingml/2006/main">
            <a:r>
              <a:t>      "음성",</a:t>
            </a:r>
          </a:p>
          <a:p xmlns:a="http://schemas.openxmlformats.org/drawingml/2006/main">
            <a:r>
              <a:t>      "정보약자",</a:t>
            </a:r>
          </a:p>
          <a:p xmlns:a="http://schemas.openxmlformats.org/drawingml/2006/main">
            <a:r>
              <a:t>      "맞춤 서비스",</a:t>
            </a:r>
          </a:p>
          <a:p xmlns:a="http://schemas.openxmlformats.org/drawingml/2006/main">
            <a:r>
              <a:t>      "인간 개입"</a:t>
            </a:r>
          </a:p>
          <a:p xmlns:a="http://schemas.openxmlformats.org/drawingml/2006/main">
            <a:r>
              <a:t>    ],</a:t>
            </a:r>
          </a:p>
          <a:p xmlns:a="http://schemas.openxmlformats.org/drawingml/2006/main">
            <a:r>
              <a:t>    "fact": "안부전화와 복지 담당자 후속 대응의 결합; 인터뷰에서 업무 부담 완화와 사용자 이해의 이점 보고",</a:t>
            </a:r>
          </a:p>
          <a:p xmlns:a="http://schemas.openxmlformats.org/drawingml/2006/main">
            <a:r>
              <a:t>    "limit": "소규모 질적 연구 · 부적절 발화 통제와 지자체별 요구 반영의 난점 · 임상 효과 근거 아님",</a:t>
            </a:r>
          </a:p>
          <a:p xmlns:a="http://schemas.openxmlformats.org/drawingml/2006/main">
            <a:r>
              <a:t>    "flow": [</a:t>
            </a:r>
          </a:p>
          <a:p xmlns:a="http://schemas.openxmlformats.org/drawingml/2006/main">
            <a:r>
              <a:t>      "안부전화",</a:t>
            </a:r>
          </a:p>
          <a:p xmlns:a="http://schemas.openxmlformats.org/drawingml/2006/main">
            <a:r>
              <a:t>      "LLM 대화",</a:t>
            </a:r>
          </a:p>
          <a:p xmlns:a="http://schemas.openxmlformats.org/drawingml/2006/main">
            <a:r>
              <a:t>      "내역 열람·분석",</a:t>
            </a:r>
          </a:p>
          <a:p xmlns:a="http://schemas.openxmlformats.org/drawingml/2006/main">
            <a:r>
              <a:t>      "복지 담당자 대응"</a:t>
            </a:r>
          </a:p>
          <a:p xmlns:a="http://schemas.openxmlformats.org/drawingml/2006/main">
            <a:r>
              <a:t>    ],</a:t>
            </a:r>
          </a:p>
          <a:p xmlns:a="http://schemas.openxmlformats.org/drawingml/2006/main">
            <a:r>
              <a:t>    "flowBasis": "개발사 공개 서비스 구조 요약",</a:t>
            </a:r>
          </a:p>
          <a:p xmlns:a="http://schemas.openxmlformats.org/drawingml/2006/main">
            <a:r>
              <a:t>    "lesson": "자유 발화와 필수 업무 항목의 분리 및 사람에게 연결되는 경로",</a:t>
            </a:r>
          </a:p>
          <a:p xmlns:a="http://schemas.openxmlformats.org/drawingml/2006/main">
            <a:r>
              <a:t>    "local": "TS 민원 발화를 요약한 뒤 신청 목적·대상·지역의 사용자 확인",</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"한국어 음성 연계 / 발화 정리 / 필수 항목 검증 / 상담 전환",</a:t>
            </a:r>
          </a:p>
          <a:p xmlns:a="http://schemas.openxmlformats.org/drawingml/2006/main">
            <a:r>
              <a:t>    "test": "고령·소음·방언 표본의 필수 항목 정확도 및 상담 전환 성공률",</a:t>
            </a:r>
          </a:p>
          <a:p xmlns:a="http://schemas.openxmlformats.org/drawingml/2006/main">
            <a:r>
              <a:t>    "metric": "서비스 도달률 / 발화 재입력률 / 집단별 완료시간"</a:t>
            </a:r>
          </a:p>
          <a:p xmlns:a="http://schemas.openxmlformats.org/drawingml/2006/main">
            <a:r>
              <a:t>  },</a:t>
            </a:r>
          </a:p>
          <a:p xmlns:a="http://schemas.openxmlformats.org/drawingml/2006/main">
            <a:r>
              <a:t>  "design": {</a:t>
            </a:r>
          </a:p>
          <a:p xmlns:a="http://schemas.openxmlformats.org/drawingml/2006/main">
            <a:r>
              <a:t>    "id": "AX02",</a:t>
            </a:r>
          </a:p>
          <a:p xmlns:a="http://schemas.openxmlformats.org/drawingml/2006/main">
            <a:r>
              <a:t>    "canonicalId": "AX02",</a:t>
            </a:r>
          </a:p>
          <a:p xmlns:a="http://schemas.openxmlformats.org/drawingml/2006/main">
            <a:r>
              <a:t>    "purpose": "안부전화 이후 필요한 복지 조치의 연결",</a:t>
            </a:r>
          </a:p>
          <a:p xmlns:a="http://schemas.openxmlformats.org/drawingml/2006/main">
            <a:r>
              <a:t>    "users": "돌봄 대상자·복지 담당자",</a:t>
            </a:r>
          </a:p>
          <a:p xmlns:a="http://schemas.openxmlformats.org/drawingml/2006/main">
            <a:r>
              <a:t>    "scope": [</a:t>
            </a:r>
          </a:p>
          <a:p xmlns:a="http://schemas.openxmlformats.org/drawingml/2006/main">
            <a:r>
              <a:t>      "자유 발화",</a:t>
            </a:r>
          </a:p>
          <a:p xmlns:a="http://schemas.openxmlformats.org/drawingml/2006/main">
            <a:r>
              <a:t>      "상황 요약",</a:t>
            </a:r>
          </a:p>
          <a:p xmlns:a="http://schemas.openxmlformats.org/drawingml/2006/main">
            <a:r>
              <a:t>      "후속 대응"</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"안부전화",</a:t>
            </a:r>
          </a:p>
          <a:p xmlns:a="http://schemas.openxmlformats.org/drawingml/2006/main">
            <a:r>
              <a:t>        "detail": "전화 대상·대화 문맥의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"자유 발화 / 상황 요약 / 후속 대응",</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"대화·내역 분석",</a:t>
            </a:r>
          </a:p>
          <a:p xmlns:a="http://schemas.openxmlformats.org/drawingml/2006/main">
            <a:r>
              <a:t>        "detail": "음성 대화에서 상태와 확인 필요 내용 정리",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"복지 담당자",</a:t>
            </a:r>
          </a:p>
          <a:p xmlns:a="http://schemas.openxmlformats.org/drawingml/2006/main">
            <a:r>
              <a:t>        "detail": "담당자에게 상황 요약·확인 대상을 인계",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"대화·후속 대응 기록",</a:t>
            </a:r>
          </a:p>
          <a:p xmlns:a="http://schemas.openxmlformats.org/drawingml/2006/main">
            <a:r>
              <a:t>        "detail": "동의 범위 내 대화와 과거 대응 기록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"오인식·부적절 발화와 실제 대응 결과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"안부전화",</a:t>
            </a:r>
          </a:p>
          <a:p xmlns:a="http://schemas.openxmlformats.org/drawingml/2006/main">
            <a:r>
              <a:t>        "input": "전화 대상·대화 문맥의 구분",</a:t>
            </a:r>
          </a:p>
          <a:p xmlns:a="http://schemas.openxmlformats.org/drawingml/2006/main">
            <a:r>
              <a:t>        "process": "동의 범위 내 대화와 과거 대응 기록 구성",</a:t>
            </a:r>
          </a:p>
          <a:p xmlns:a="http://schemas.openxmlformats.org/drawingml/2006/main">
            <a:r>
              <a:t>        "output": "동의받은 발화"</a:t>
            </a:r>
          </a:p>
          <a:p xmlns:a="http://schemas.openxmlformats.org/drawingml/2006/main">
            <a:r>
              <a:t>      },</a:t>
            </a:r>
          </a:p>
          <a:p xmlns:a="http://schemas.openxmlformats.org/drawingml/2006/main">
            <a:r>
              <a:t>      {</a:t>
            </a:r>
          </a:p>
          <a:p xmlns:a="http://schemas.openxmlformats.org/drawingml/2006/main">
            <a:r>
              <a:t>        "title": "LLM 대화",</a:t>
            </a:r>
          </a:p>
          <a:p xmlns:a="http://schemas.openxmlformats.org/drawingml/2006/main">
            <a:r>
              <a:t>        "input": "동의받은 발화",</a:t>
            </a:r>
          </a:p>
          <a:p xmlns:a="http://schemas.openxmlformats.org/drawingml/2006/main">
            <a:r>
              <a:t>        "process": "음성 대화에서 상태와 확인 필요 내용 정리",</a:t>
            </a:r>
          </a:p>
          <a:p xmlns:a="http://schemas.openxmlformats.org/drawingml/2006/main">
            <a:r>
              <a:t>        "output": "상황 요약"</a:t>
            </a:r>
          </a:p>
          <a:p xmlns:a="http://schemas.openxmlformats.org/drawingml/2006/main">
            <a:r>
              <a:t>      },</a:t>
            </a:r>
          </a:p>
          <a:p xmlns:a="http://schemas.openxmlformats.org/drawingml/2006/main">
            <a:r>
              <a:t>      {</a:t>
            </a:r>
          </a:p>
          <a:p xmlns:a="http://schemas.openxmlformats.org/drawingml/2006/main">
            <a:r>
              <a:t>        "title": "내역 열람·분석",</a:t>
            </a:r>
          </a:p>
          <a:p xmlns:a="http://schemas.openxmlformats.org/drawingml/2006/main">
            <a:r>
              <a:t>        "input": "상황 요약",</a:t>
            </a:r>
          </a:p>
          <a:p xmlns:a="http://schemas.openxmlformats.org/drawingml/2006/main">
            <a:r>
              <a:t>        "process": "위험 신호의 사람 확인·상담 인계",</a:t>
            </a:r>
          </a:p>
          <a:p xmlns:a="http://schemas.openxmlformats.org/drawingml/2006/main">
            <a:r>
              <a:t>        "output": "확인 필요 대상"</a:t>
            </a:r>
          </a:p>
          <a:p xmlns:a="http://schemas.openxmlformats.org/drawingml/2006/main">
            <a:r>
              <a:t>      },</a:t>
            </a:r>
          </a:p>
          <a:p xmlns:a="http://schemas.openxmlformats.org/drawingml/2006/main">
            <a:r>
              <a:t>      {</a:t>
            </a:r>
          </a:p>
          <a:p xmlns:a="http://schemas.openxmlformats.org/drawingml/2006/main">
            <a:r>
              <a:t>        "title": "복지 담당자 대응",</a:t>
            </a:r>
          </a:p>
          <a:p xmlns:a="http://schemas.openxmlformats.org/drawingml/2006/main">
            <a:r>
              <a:t>        "input": "확인 필요 대상",</a:t>
            </a:r>
          </a:p>
          <a:p xmlns:a="http://schemas.openxmlformats.org/drawingml/2006/main">
            <a:r>
              <a:t>        "process": "담당자에게 상황 요약·확인 대상을 인계",</a:t>
            </a:r>
          </a:p>
          <a:p xmlns:a="http://schemas.openxmlformats.org/drawingml/2006/main">
            <a:r>
              <a:t>        "output": "담당자 대응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"통화에서 식사·수면·불편 사항을 파악하고 담당자가 후속 확인",</a:t>
            </a:r>
          </a:p>
          <a:p xmlns:a="http://schemas.openxmlformats.org/drawingml/2006/main">
            <a:r>
              <a:t>      "exception": "방언·침묵·통화 중단·위험 발화의 부정문",</a:t>
            </a:r>
          </a:p>
          <a:p xmlns:a="http://schemas.openxmlformats.org/drawingml/2006/main">
            <a:r>
              <a:t>      "evidence": "원 발화 대비 상태·위험 신호 추출표와 상담 인계 수신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"돌봄 대상자·복지 담당자",</a:t>
            </a:r>
          </a:p>
          <a:p xmlns:a="http://schemas.openxmlformats.org/drawingml/2006/main">
            <a:r>
              <a:t>          "processing": "전화 대상·대화 문맥의 구분",</a:t>
            </a:r>
          </a:p>
          <a:p xmlns:a="http://schemas.openxmlformats.org/drawingml/2006/main">
            <a:r>
              <a:t>          "output": "동의받은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"대화·후속 대응 기록",</a:t>
            </a:r>
          </a:p>
          <a:p xmlns:a="http://schemas.openxmlformats.org/drawingml/2006/main">
            <a:r>
              <a:t>          "processing": "동의 범위 내 대화와 과거 대응 기록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"동의받은 발화",</a:t>
            </a:r>
          </a:p>
          <a:p xmlns:a="http://schemas.openxmlformats.org/drawingml/2006/main">
            <a:r>
              <a:t>          "processing": "음성 대화에서 상태와 확인 필요 내용 정리",</a:t>
            </a:r>
          </a:p>
          <a:p xmlns:a="http://schemas.openxmlformats.org/drawingml/2006/main">
            <a:r>
              <a:t>          "output": "확인 필요 대상"</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"확인 필요 대상",</a:t>
            </a:r>
          </a:p>
          <a:p xmlns:a="http://schemas.openxmlformats.org/drawingml/2006/main">
            <a:r>
              <a:t>          "processing": "담당자에게 상황 요약·확인 대상을 인계",</a:t>
            </a:r>
          </a:p>
          <a:p xmlns:a="http://schemas.openxmlformats.org/drawingml/2006/main">
            <a:r>
              <a:t>          "output": "담당자 대응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"오인식·부적절 발화와 실제 대응 결과 검토",</a:t>
            </a:r>
          </a:p>
          <a:p xmlns:a="http://schemas.openxmlformats.org/drawingml/2006/main">
            <a:r>
              <a:t>          "output":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"오인식·부적절 발화와 실제 대응 결과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"S02",</a:t>
            </a:r>
          </a:p>
          <a:p xmlns:a="http://schemas.openxmlformats.org/drawingml/2006/main">
            <a:r>
              <a:t>        "title": "NAVER · CareCall 이해관계자 연구",</a:t>
            </a:r>
          </a:p>
          <a:p xmlns:a="http://schemas.openxmlformats.org/drawingml/2006/main">
            <a:r>
              <a:t>        "url": "https://clova.ai/tech-blog/ko-clova-%EC%BC%80%EC%96%B4%EC%BD%9C-%EC%97%B0%EA%B5%AC-%EB%85%BC%EB%AC%B8-%EC%86%8C%EA%B0%9C-%EC%B4%88%EA%B1%B0%EB%8C%80-%EC%9D%B8%EA%B3%B5%EC%A7%80%EB%8A%A5-%EA%B8%B0%EB%B0%98-%EC%B1%97%EB%B4%87",</a:t>
            </a:r>
          </a:p>
          <a:p xmlns:a="http://schemas.openxmlformats.org/drawingml/2006/main">
            <a:r>
              <a:t>        "published": "2024-08-07",</a:t>
            </a:r>
          </a:p>
          <a:p xmlns:a="http://schemas.openxmlformats.org/drawingml/2006/main">
            <a:r>
              <a:t>        "level": "개발사 연구 요약 / CHI 2023",</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"자유 발화와 필수 업무 항목의 분리 및 사람에게 연결되는 경로",</a:t>
            </a:r>
          </a:p>
          <a:p xmlns:a="http://schemas.openxmlformats.org/drawingml/2006/main">
            <a:r>
              <a:t>    "local": "TS 민원 발화를 요약한 뒤 신청 목적·대상·지역의 사용자 확인",</a:t>
            </a:r>
          </a:p>
          <a:p xmlns:a="http://schemas.openxmlformats.org/drawingml/2006/main">
            <a:r>
              <a:t>    "sourceDetail": null,</a:t>
            </a:r>
          </a:p>
          <a:p xmlns:a="http://schemas.openxmlformats.org/drawingml/2006/main">
            <a:r>
              <a:t>    "narrative": [</a:t>
            </a:r>
          </a:p>
          <a:p xmlns:a="http://schemas.openxmlformats.org/drawingml/2006/main">
            <a:r>
              <a:t>      "자유 발화 중심의 안부전화와 복지 담당자의 후속 대응을 결합한 서비스. 통화 자체의 자동화보다 대상자의 상황을 파악해 필요한 확인·방문 업무로 인계하는 연결이 핵심.",</a:t>
            </a:r>
          </a:p>
          <a:p xmlns:a="http://schemas.openxmlformats.org/drawingml/2006/main">
            <a:r>
              <a:t>      "음성 대화 기록에서 상태와 확인할 내용을 정리하고 담당자가 대응 여부를 검토하는 흐름. TS 적용 설계에서는 민원 발화를 신청 목적·대상·지역 등 필수 항목으로 정리한 뒤 사용자 확인과 상담원 인계를 구성.",</a:t>
            </a:r>
          </a:p>
          <a:p xmlns:a="http://schemas.openxmlformats.org/drawingml/2006/main">
            <a:r>
              <a:t>      "인터뷰에서 보고된 부담 완화와 임상·복지 성과의 구분. 소음·방언·고령 발화의 인식 오류, 위험 신호의 미탐, 상담원이 실제 인계받았는지를 별도로 측정할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"안부전화 접점",</a:t>
            </a:r>
          </a:p>
          <a:p xmlns:a="http://schemas.openxmlformats.org/drawingml/2006/main">
            <a:r>
              <a:t>          "layer": "이용 접점",</a:t>
            </a:r>
          </a:p>
          <a:p xmlns:a="http://schemas.openxmlformats.org/drawingml/2006/main">
            <a:r>
              <a:t>          "detail": "돌봄 대상자·복지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"대상·대화 맥락",</a:t>
            </a:r>
          </a:p>
          <a:p xmlns:a="http://schemas.openxmlformats.org/drawingml/2006/main">
            <a:r>
              <a:t>          "layer": "업무 문맥",</a:t>
            </a:r>
          </a:p>
          <a:p xmlns:a="http://schemas.openxmlformats.org/drawingml/2006/main">
            <a:r>
              <a:t>          "detail": "전화 대상·대화 문맥의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"이전 대응 조회",</a:t>
            </a:r>
          </a:p>
          <a:p xmlns:a="http://schemas.openxmlformats.org/drawingml/2006/main">
            <a:r>
              <a:t>          "layer": "자료 조회",</a:t>
            </a:r>
          </a:p>
          <a:p xmlns:a="http://schemas.openxmlformats.org/drawingml/2006/main">
            <a:r>
              <a:t>          "detail": "동의받은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"대화·상태 요약",</a:t>
            </a:r>
          </a:p>
          <a:p xmlns:a="http://schemas.openxmlformats.org/drawingml/2006/main">
            <a:r>
              <a:t>          "layer": "핵심 처리",</a:t>
            </a:r>
          </a:p>
          <a:p xmlns:a="http://schemas.openxmlformats.org/drawingml/2006/main">
            <a:r>
              <a:t>          "detail": "음성 대화에서 상태와 확인 필요 내용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"위험 발화 확인",</a:t>
            </a:r>
          </a:p>
          <a:p xmlns:a="http://schemas.openxmlformats.org/drawingml/2006/main">
            <a:r>
              <a:t>          "layer": "결과 검증",</a:t>
            </a:r>
          </a:p>
          <a:p xmlns:a="http://schemas.openxmlformats.org/drawingml/2006/main">
            <a:r>
              <a:t>          "detail": "위험 신호의 사람 확인·상담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"복지 담당 확인",</a:t>
            </a:r>
          </a:p>
          <a:p xmlns:a="http://schemas.openxmlformats.org/drawingml/2006/main">
            <a:r>
              <a:t>          "layer": "사람 확인",</a:t>
            </a:r>
          </a:p>
          <a:p xmlns:a="http://schemas.openxmlformats.org/drawingml/2006/main">
            <a:r>
              <a:t>          "detail": "통화에서 식사·수면·불편 사항을 파악하고 담당자가 후속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"상담·방문 인계",</a:t>
            </a:r>
          </a:p>
          <a:p xmlns:a="http://schemas.openxmlformats.org/drawingml/2006/main">
            <a:r>
              <a:t>          "layer": "업무 연결",</a:t>
            </a:r>
          </a:p>
          <a:p xmlns:a="http://schemas.openxmlformats.org/drawingml/2006/main">
            <a:r>
              <a:t>          "detail": "담당자에게 상황 요약·확인 대상을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"조치 완료 추적",</a:t>
            </a:r>
          </a:p>
          <a:p xmlns:a="http://schemas.openxmlformats.org/drawingml/2006/main">
            <a:r>
              <a:t>          "layer": "운영 관측",</a:t>
            </a:r>
          </a:p>
          <a:p xmlns:a="http://schemas.openxmlformats.org/drawingml/2006/main">
            <a:r>
              <a:t>          "detail": "오인식·부적절 발화와 실제 대응 결과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"동의받은 대화",</a:t>
            </a:r>
          </a:p>
          <a:p xmlns:a="http://schemas.openxmlformats.org/drawingml/2006/main">
            <a:r>
              <a:t>          "layer": "데이터 원천",</a:t>
            </a:r>
          </a:p>
          <a:p xmlns:a="http://schemas.openxmlformats.org/drawingml/2006/main">
            <a:r>
              <a:t>          "detail": "대화·후속 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"민감 발화 분리",</a:t>
            </a:r>
          </a:p>
          <a:p xmlns:a="http://schemas.openxmlformats.org/drawingml/2006/main">
            <a:r>
              <a:t>          "layer": "준비·갱신",</a:t>
            </a:r>
          </a:p>
          <a:p xmlns:a="http://schemas.openxmlformats.org/drawingml/2006/main">
            <a:r>
              <a:t>          "detail": "동의 범위 내 대화와 과거 대응 기록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"대화·대응 이력",</a:t>
            </a:r>
          </a:p>
          <a:p xmlns:a="http://schemas.openxmlformats.org/drawingml/2006/main">
            <a:r>
              <a:t>          "layer": "상태·지식 저장",</a:t>
            </a:r>
          </a:p>
          <a:p xmlns:a="http://schemas.openxmlformats.org/drawingml/2006/main">
            <a:r>
              <a:t>          "detail": "원 발화 대비 상태·위험 신호 추출표와 상담 인계 수신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"동의·열람정책",</a:t>
            </a:r>
          </a:p>
          <a:p xmlns:a="http://schemas.openxmlformats.org/drawingml/2006/main">
            <a:r>
              <a:t>          "layer": "권한·정책",</a:t>
            </a:r>
          </a:p>
          <a:p xmlns:a="http://schemas.openxmlformats.org/drawingml/2006/main">
            <a:r>
              <a:t>          "detail": "방언·침묵·통화 중단·위험 발화의 부정문",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"안부전화 → LLM 대화 → 내역 열람·분석 → 복지 담당자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"전화 대상·대화 문맥의 구분",</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"동의받은 발화",</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"대화·후속 대응 기록",</a:t>
            </a:r>
          </a:p>
          <a:p xmlns:a="http://schemas.openxmlformats.org/drawingml/2006/main">
            <a:r>
              <a:t>          "check": "동의 범위 내 대화와 과거 대응 기록 구성"</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"확인 필요 대상",</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"담당자 대응 기록",</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"담당자 대응 기록",</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"안부전화 이후 필요한 복지 조치의 연결 / 자유 발화·상황 요약·후속 대응",</a:t>
            </a:r>
          </a:p>
          <a:p xmlns:a="http://schemas.openxmlformats.org/drawingml/2006/main">
            <a:r>
              <a:t>        "extension": "TS 민원 발화를 요약한 뒤 신청 목적·대상·지역의 사용자 확인"</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"방언·침묵·통화 중단·위험 발화의 부정문",</a:t>
            </a:r>
          </a:p>
          <a:p xmlns:a="http://schemas.openxmlformats.org/drawingml/2006/main">
            <a:r>
              <a:t>        "hold": "위험 신호의 사람 확인·상담 인계",</a:t>
            </a:r>
          </a:p>
          <a:p xmlns:a="http://schemas.openxmlformats.org/drawingml/2006/main">
            <a:r>
              <a:t>        "recovery": "오인식·부적절 발화와 실제 대응 결과 검토",</a:t>
            </a:r>
          </a:p>
          <a:p xmlns:a="http://schemas.openxmlformats.org/drawingml/2006/main">
            <a:r>
              <a:t>        "evidence": "원 발화 대비 상태·위험 신호 추출표와 상담 인계 수신 기록"</a:t>
            </a:r>
          </a:p>
          <a:p xmlns:a="http://schemas.openxmlformats.org/drawingml/2006/main">
            <a:r>
              <a:t>      },</a:t>
            </a:r>
          </a:p>
          <a:p xmlns:a="http://schemas.openxmlformats.org/drawingml/2006/main">
            <a:r>
              <a:t>      "data": {</a:t>
            </a:r>
          </a:p>
          <a:p xmlns:a="http://schemas.openxmlformats.org/drawingml/2006/main">
            <a:r>
              <a:t>        "source": "대화·후속 대응 기록",</a:t>
            </a:r>
          </a:p>
          <a:p xmlns:a="http://schemas.openxmlformats.org/drawingml/2006/main">
            <a:r>
              <a:t>        "prepare": "동의 범위 내 대화와 과거 대응 기록 구성",</a:t>
            </a:r>
          </a:p>
          <a:p xmlns:a="http://schemas.openxmlformats.org/drawingml/2006/main">
            <a:r>
              <a:t>        "output": "동의받은 발화",</a:t>
            </a:r>
          </a:p>
          <a:p xmlns:a="http://schemas.openxmlformats.org/drawingml/2006/main">
            <a:r>
              <a:t>        "refresh": "오인식·부적절 발화와 실제 대응 결과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"AX02",</a:t>
            </a:r>
          </a:p>
          <a:p xmlns:a="http://schemas.openxmlformats.org/drawingml/2006/main">
            <a:r>
              <a:t>    "success": [</a:t>
            </a:r>
          </a:p>
          <a:p xmlns:a="http://schemas.openxmlformats.org/drawingml/2006/main">
            <a:r>
              <a:t>      "전화 접점과 담당자 후속 대응의 결합",</a:t>
            </a:r>
          </a:p>
          <a:p xmlns:a="http://schemas.openxmlformats.org/drawingml/2006/main">
            <a:r>
              <a:t>      "이용자 상황을 반영한 대화"</a:t>
            </a:r>
          </a:p>
          <a:p xmlns:a="http://schemas.openxmlformats.org/drawingml/2006/main">
            <a:r>
              <a:t>    ],</a:t>
            </a:r>
          </a:p>
          <a:p xmlns:a="http://schemas.openxmlformats.org/drawingml/2006/main">
            <a:r>
              <a:t>    "risks": [</a:t>
            </a:r>
          </a:p>
          <a:p xmlns:a="http://schemas.openxmlformats.org/drawingml/2006/main">
            <a:r>
              <a:t>      "위험 발화의 오해·미탐 가능성",</a:t>
            </a:r>
          </a:p>
          <a:p xmlns:a="http://schemas.openxmlformats.org/drawingml/2006/main">
            <a:r>
              <a:t>      "대화 종료와 실제 복지 조치의 혼동"</a:t>
            </a:r>
          </a:p>
          <a:p xmlns:a="http://schemas.openxmlformats.org/drawingml/2006/main">
            <a:r>
              <a:t>    ],</a:t>
            </a:r>
          </a:p>
          <a:p xmlns:a="http://schemas.openxmlformats.org/drawingml/2006/main">
            <a:r>
              <a:t>    "architecture": [</a:t>
            </a:r>
          </a:p>
          <a:p xmlns:a="http://schemas.openxmlformats.org/drawingml/2006/main">
            <a:r>
              <a:t>      "안부전화",</a:t>
            </a:r>
          </a:p>
          <a:p xmlns:a="http://schemas.openxmlformats.org/drawingml/2006/main">
            <a:r>
              <a:t>      "대화·내역 분석",</a:t>
            </a:r>
          </a:p>
          <a:p xmlns:a="http://schemas.openxmlformats.org/drawingml/2006/main">
            <a:r>
              <a:t>      "대화·후속 대응 기록",</a:t>
            </a:r>
          </a:p>
          <a:p xmlns:a="http://schemas.openxmlformats.org/drawingml/2006/main">
            <a:r>
              <a:t>      "복지 담당자"</a:t>
            </a:r>
          </a:p>
          <a:p xmlns:a="http://schemas.openxmlformats.org/drawingml/2006/main">
            <a:r>
              <a:t>    ],</a:t>
            </a:r>
          </a:p>
          <a:p xmlns:a="http://schemas.openxmlformats.org/drawingml/2006/main">
            <a:r>
              <a:t>    "transfers": [</a:t>
            </a:r>
          </a:p>
          <a:p xmlns:a="http://schemas.openxmlformats.org/drawingml/2006/main">
            <a:r>
              <a:t>      "동의받은 발화",</a:t>
            </a:r>
          </a:p>
          <a:p xmlns:a="http://schemas.openxmlformats.org/drawingml/2006/main">
            <a:r>
              <a:t>      "상황 요약",</a:t>
            </a:r>
          </a:p>
          <a:p xmlns:a="http://schemas.openxmlformats.org/drawingml/2006/main">
            <a:r>
              <a:t>      "확인 필요 대상",</a:t>
            </a:r>
          </a:p>
          <a:p xmlns:a="http://schemas.openxmlformats.org/drawingml/2006/main">
            <a:r>
              <a:t>      "담당자 대응 기록"</a:t>
            </a:r>
          </a:p>
          <a:p xmlns:a="http://schemas.openxmlformats.org/drawingml/2006/main">
            <a:r>
              <a:t>    ],</a:t>
            </a:r>
          </a:p>
          <a:p xmlns:a="http://schemas.openxmlformats.org/drawingml/2006/main">
            <a:r>
              <a:t>    "control": "위험 신호의 사람 확인·상담 인계",</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NAVER · CareCall 이해관계자 연구 https://clova.ai/tech-blog/ko-clova-%EC%BC%80%EC%96%B4%EC%BD%9C-%EC%97%B0%EA%B5%AC-%EB%85%BC%EB%AC%B8-%EC%86%8C%EA%B0%9C-%EC%B4%88%EA%B1%B0%EB%8C%80-%EC%9D%B8%EA%B3%B5%EC%A7%80%EB%8A%A5-%EA%B8%B0%EB%B0%98-%EC%B1%97%EB%B4%87</a:t>
            </a:r>
          </a:p>
          <a:p xmlns:a="http://schemas.openxmlformats.org/drawingml/2006/main">
            <a:r>
              <a:t>홈페이지 https://heen1987-ops.github.io/TS-business-Plan-001/index.html?view=casebook&amp;case=AX02</a:t>
            </a:r>
          </a:p>
          <a:p xmlns:a="http://schemas.openxmlformats.org/drawingml/2006/main">
            <a:r>
              <a:t>성과 대조</a:t>
            </a:r>
          </a:p>
          <a:p xmlns:a="http://schemas.openxmlformats.org/drawingml/2006/main">
            <a:r>
              <a:t>{</a:t>
            </a:r>
          </a:p>
          <a:p xmlns:a="http://schemas.openxmlformats.org/drawingml/2006/main">
            <a:r>
              <a:t>  "caseId": "AX02",</a:t>
            </a:r>
          </a:p>
          <a:p xmlns:a="http://schemas.openxmlformats.org/drawingml/2006/main">
            <a:r>
              <a:t>  "asIs": "복지 담당자의 반복 안부전화와 대상자 상태 파악에 인력·시간 소요",</a:t>
            </a:r>
          </a:p>
          <a:p xmlns:a="http://schemas.openxmlformats.org/drawingml/2006/main">
            <a:r>
              <a:t>  "toBe": "LLM 기반 정기 전화로 자유 발화를 수집·요약하고 필요한 대화를 복지 담당자에게 인계",</a:t>
            </a:r>
          </a:p>
          <a:p xmlns:a="http://schemas.openxmlformats.org/drawingml/2006/main">
            <a:r>
              <a:t>  "expectedEffect": "안부 확인 범위 확대와 담당자의 후속 조치 집중",</a:t>
            </a:r>
          </a:p>
          <a:p xmlns:a="http://schemas.openxmlformats.org/drawingml/2006/main">
            <a:r>
              <a:t>  "observed": "개발사 질적 연구에서 담당자의 부담 완화·대상자 이해 이점 보고; 필수 질문 수집과 부적절 발화 대응의 어려움도 관찰",</a:t>
            </a:r>
          </a:p>
          <a:p xmlns:a="http://schemas.openxmlformats.org/drawingml/2006/main">
            <a:r>
              <a:t>  "verdict": "부분 성과",</a:t>
            </a:r>
          </a:p>
          <a:p xmlns:a="http://schemas.openxmlformats.org/drawingml/2006/main">
            <a:r>
              <a:t>  "verdictReason": "실무 지원 경험은 확인되나 표본이 작고 위험 대화·필수 항목 수집의 안정성 및 건강 효과는 미입증",</a:t>
            </a:r>
          </a:p>
          <a:p xmlns:a="http://schemas.openxmlformats.org/drawingml/2006/main">
            <a:r>
              <a:t>  "limits": "개발사 공개 질적 연구 기준. 임상 개선·전 지자체 운영 성과로 일반화 불가",</a:t>
            </a:r>
          </a:p>
          <a:p xmlns:a="http://schemas.openxmlformats.org/drawingml/2006/main">
            <a:r>
              <a:t>  "evidenceStage": "개발사 공개 서비스·질적 연구",</a:t>
            </a:r>
          </a:p>
          <a:p xmlns:a="http://schemas.openxmlformats.org/drawingml/2006/main">
            <a:r>
              <a:t>  "sourceUrl": "https://clova.ai/tech-blog/ko-clova-%EC%BC%80%EC%96%B4%EC%BD%9C-%EC%97%B0%EA%B5%AC-%EB%85%BC%EB%AC%B8-%EC%86%8C%EA%B0%9C-%EC%B4%88%EA%B1%B0%EB%8C%80-%EC%9D%B8%EA%B3%B5%EC%A7%80%EB%8A%A5-%EA%B8%B0%EB%B0%98-%EC%B1%97%EB%B4%87"</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"AX02",</a:t>
            </a:r>
          </a:p>
          <a:p xmlns:a="http://schemas.openxmlformats.org/drawingml/2006/main">
            <a:r>
              <a:t>    "title": "CLOVA CareCall",</a:t>
            </a:r>
          </a:p>
          <a:p xmlns:a="http://schemas.openxmlformats.org/drawingml/2006/main">
            <a:r>
              <a:t>    "region": "국내",</a:t>
            </a:r>
          </a:p>
          <a:p xmlns:a="http://schemas.openxmlformats.org/drawingml/2006/main">
            <a:r>
              <a:t>    "country": "대한민국",</a:t>
            </a:r>
          </a:p>
          <a:p xmlns:a="http://schemas.openxmlformats.org/drawingml/2006/main">
            <a:r>
              <a:t>    "result": "혼합",</a:t>
            </a:r>
          </a:p>
          <a:p xmlns:a="http://schemas.openxmlformats.org/drawingml/2006/main">
            <a:r>
              <a:t>    "kind": "음성·LLM 돌봄 서비스",</a:t>
            </a:r>
          </a:p>
          <a:p xmlns:a="http://schemas.openxmlformats.org/drawingml/2006/main">
            <a:r>
              <a:t>    "period": "CHI 2023 / 2024 소개",</a:t>
            </a:r>
          </a:p>
          <a:p xmlns:a="http://schemas.openxmlformats.org/drawingml/2006/main">
            <a:r>
              <a:t>    "sources": [</a:t>
            </a:r>
          </a:p>
          <a:p xmlns:a="http://schemas.openxmlformats.org/drawingml/2006/main">
            <a:r>
              <a:t>      "S02"</a:t>
            </a:r>
          </a:p>
          <a:p xmlns:a="http://schemas.openxmlformats.org/drawingml/2006/main">
            <a:r>
              <a:t>    ],</a:t>
            </a:r>
          </a:p>
          <a:p xmlns:a="http://schemas.openxmlformats.org/drawingml/2006/main">
            <a:r>
              <a:t>    "keywords": [</a:t>
            </a:r>
          </a:p>
          <a:p xmlns:a="http://schemas.openxmlformats.org/drawingml/2006/main">
            <a:r>
              <a:t>      "음성",</a:t>
            </a:r>
          </a:p>
          <a:p xmlns:a="http://schemas.openxmlformats.org/drawingml/2006/main">
            <a:r>
              <a:t>      "정보약자",</a:t>
            </a:r>
          </a:p>
          <a:p xmlns:a="http://schemas.openxmlformats.org/drawingml/2006/main">
            <a:r>
              <a:t>      "맞춤 서비스",</a:t>
            </a:r>
          </a:p>
          <a:p xmlns:a="http://schemas.openxmlformats.org/drawingml/2006/main">
            <a:r>
              <a:t>      "인간 개입"</a:t>
            </a:r>
          </a:p>
          <a:p xmlns:a="http://schemas.openxmlformats.org/drawingml/2006/main">
            <a:r>
              <a:t>    ],</a:t>
            </a:r>
          </a:p>
          <a:p xmlns:a="http://schemas.openxmlformats.org/drawingml/2006/main">
            <a:r>
              <a:t>    "fact": "안부전화와 복지 담당자 후속 대응의 결합; 인터뷰에서 업무 부담 완화와 사용자 이해의 이점 보고",</a:t>
            </a:r>
          </a:p>
          <a:p xmlns:a="http://schemas.openxmlformats.org/drawingml/2006/main">
            <a:r>
              <a:t>    "limit": "소규모 질적 연구 · 부적절 발화 통제와 지자체별 요구 반영의 난점 · 임상 효과 근거 아님",</a:t>
            </a:r>
          </a:p>
          <a:p xmlns:a="http://schemas.openxmlformats.org/drawingml/2006/main">
            <a:r>
              <a:t>    "flow": [</a:t>
            </a:r>
          </a:p>
          <a:p xmlns:a="http://schemas.openxmlformats.org/drawingml/2006/main">
            <a:r>
              <a:t>      "안부전화",</a:t>
            </a:r>
          </a:p>
          <a:p xmlns:a="http://schemas.openxmlformats.org/drawingml/2006/main">
            <a:r>
              <a:t>      "LLM 대화",</a:t>
            </a:r>
          </a:p>
          <a:p xmlns:a="http://schemas.openxmlformats.org/drawingml/2006/main">
            <a:r>
              <a:t>      "내역 열람·분석",</a:t>
            </a:r>
          </a:p>
          <a:p xmlns:a="http://schemas.openxmlformats.org/drawingml/2006/main">
            <a:r>
              <a:t>      "복지 담당자 대응"</a:t>
            </a:r>
          </a:p>
          <a:p xmlns:a="http://schemas.openxmlformats.org/drawingml/2006/main">
            <a:r>
              <a:t>    ],</a:t>
            </a:r>
          </a:p>
          <a:p xmlns:a="http://schemas.openxmlformats.org/drawingml/2006/main">
            <a:r>
              <a:t>    "flowBasis": "개발사 공개 서비스 구조 요약",</a:t>
            </a:r>
          </a:p>
          <a:p xmlns:a="http://schemas.openxmlformats.org/drawingml/2006/main">
            <a:r>
              <a:t>    "lesson": "자유 발화와 필수 업무 항목의 분리 및 사람에게 연결되는 경로",</a:t>
            </a:r>
          </a:p>
          <a:p xmlns:a="http://schemas.openxmlformats.org/drawingml/2006/main">
            <a:r>
              <a:t>    "local": "TS 민원 발화를 요약한 뒤 신청 목적·대상·지역의 사용자 확인",</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"한국어 음성 연계 / 발화 정리 / 필수 항목 검증 / 상담 전환",</a:t>
            </a:r>
          </a:p>
          <a:p xmlns:a="http://schemas.openxmlformats.org/drawingml/2006/main">
            <a:r>
              <a:t>    "test": "고령·소음·방언 표본의 필수 항목 정확도 및 상담 전환 성공률",</a:t>
            </a:r>
          </a:p>
          <a:p xmlns:a="http://schemas.openxmlformats.org/drawingml/2006/main">
            <a:r>
              <a:t>    "metric": "서비스 도달률 / 발화 재입력률 / 집단별 완료시간"</a:t>
            </a:r>
          </a:p>
          <a:p xmlns:a="http://schemas.openxmlformats.org/drawingml/2006/main">
            <a:r>
              <a:t>  },</a:t>
            </a:r>
          </a:p>
          <a:p xmlns:a="http://schemas.openxmlformats.org/drawingml/2006/main">
            <a:r>
              <a:t>  "design": {</a:t>
            </a:r>
          </a:p>
          <a:p xmlns:a="http://schemas.openxmlformats.org/drawingml/2006/main">
            <a:r>
              <a:t>    "id": "AX02",</a:t>
            </a:r>
          </a:p>
          <a:p xmlns:a="http://schemas.openxmlformats.org/drawingml/2006/main">
            <a:r>
              <a:t>    "canonicalId": "AX02",</a:t>
            </a:r>
          </a:p>
          <a:p xmlns:a="http://schemas.openxmlformats.org/drawingml/2006/main">
            <a:r>
              <a:t>    "purpose": "안부전화 이후 필요한 복지 조치의 연결",</a:t>
            </a:r>
          </a:p>
          <a:p xmlns:a="http://schemas.openxmlformats.org/drawingml/2006/main">
            <a:r>
              <a:t>    "users": "돌봄 대상자·복지 담당자",</a:t>
            </a:r>
          </a:p>
          <a:p xmlns:a="http://schemas.openxmlformats.org/drawingml/2006/main">
            <a:r>
              <a:t>    "scope": [</a:t>
            </a:r>
          </a:p>
          <a:p xmlns:a="http://schemas.openxmlformats.org/drawingml/2006/main">
            <a:r>
              <a:t>      "자유 발화",</a:t>
            </a:r>
          </a:p>
          <a:p xmlns:a="http://schemas.openxmlformats.org/drawingml/2006/main">
            <a:r>
              <a:t>      "상황 요약",</a:t>
            </a:r>
          </a:p>
          <a:p xmlns:a="http://schemas.openxmlformats.org/drawingml/2006/main">
            <a:r>
              <a:t>      "후속 대응"</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"안부전화",</a:t>
            </a:r>
          </a:p>
          <a:p xmlns:a="http://schemas.openxmlformats.org/drawingml/2006/main">
            <a:r>
              <a:t>        "detail": "전화 대상·대화 문맥의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"자유 발화 / 상황 요약 / 후속 대응",</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"대화·내역 분석",</a:t>
            </a:r>
          </a:p>
          <a:p xmlns:a="http://schemas.openxmlformats.org/drawingml/2006/main">
            <a:r>
              <a:t>        "detail": "음성 대화에서 상태와 확인 필요 내용 정리",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"복지 담당자",</a:t>
            </a:r>
          </a:p>
          <a:p xmlns:a="http://schemas.openxmlformats.org/drawingml/2006/main">
            <a:r>
              <a:t>        "detail": "담당자에게 상황 요약·확인 대상을 인계",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"대화·후속 대응 기록",</a:t>
            </a:r>
          </a:p>
          <a:p xmlns:a="http://schemas.openxmlformats.org/drawingml/2006/main">
            <a:r>
              <a:t>        "detail": "동의 범위 내 대화와 과거 대응 기록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"오인식·부적절 발화와 실제 대응 결과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"안부전화",</a:t>
            </a:r>
          </a:p>
          <a:p xmlns:a="http://schemas.openxmlformats.org/drawingml/2006/main">
            <a:r>
              <a:t>        "input": "전화 대상·대화 문맥의 구분",</a:t>
            </a:r>
          </a:p>
          <a:p xmlns:a="http://schemas.openxmlformats.org/drawingml/2006/main">
            <a:r>
              <a:t>        "process": "동의 범위 내 대화와 과거 대응 기록 구성",</a:t>
            </a:r>
          </a:p>
          <a:p xmlns:a="http://schemas.openxmlformats.org/drawingml/2006/main">
            <a:r>
              <a:t>        "output": "동의받은 발화"</a:t>
            </a:r>
          </a:p>
          <a:p xmlns:a="http://schemas.openxmlformats.org/drawingml/2006/main">
            <a:r>
              <a:t>      },</a:t>
            </a:r>
          </a:p>
          <a:p xmlns:a="http://schemas.openxmlformats.org/drawingml/2006/main">
            <a:r>
              <a:t>      {</a:t>
            </a:r>
          </a:p>
          <a:p xmlns:a="http://schemas.openxmlformats.org/drawingml/2006/main">
            <a:r>
              <a:t>        "title": "LLM 대화",</a:t>
            </a:r>
          </a:p>
          <a:p xmlns:a="http://schemas.openxmlformats.org/drawingml/2006/main">
            <a:r>
              <a:t>        "input": "동의받은 발화",</a:t>
            </a:r>
          </a:p>
          <a:p xmlns:a="http://schemas.openxmlformats.org/drawingml/2006/main">
            <a:r>
              <a:t>        "process": "음성 대화에서 상태와 확인 필요 내용 정리",</a:t>
            </a:r>
          </a:p>
          <a:p xmlns:a="http://schemas.openxmlformats.org/drawingml/2006/main">
            <a:r>
              <a:t>        "output": "상황 요약"</a:t>
            </a:r>
          </a:p>
          <a:p xmlns:a="http://schemas.openxmlformats.org/drawingml/2006/main">
            <a:r>
              <a:t>      },</a:t>
            </a:r>
          </a:p>
          <a:p xmlns:a="http://schemas.openxmlformats.org/drawingml/2006/main">
            <a:r>
              <a:t>      {</a:t>
            </a:r>
          </a:p>
          <a:p xmlns:a="http://schemas.openxmlformats.org/drawingml/2006/main">
            <a:r>
              <a:t>        "title": "내역 열람·분석",</a:t>
            </a:r>
          </a:p>
          <a:p xmlns:a="http://schemas.openxmlformats.org/drawingml/2006/main">
            <a:r>
              <a:t>        "input": "상황 요약",</a:t>
            </a:r>
          </a:p>
          <a:p xmlns:a="http://schemas.openxmlformats.org/drawingml/2006/main">
            <a:r>
              <a:t>        "process": "위험 신호의 사람 확인·상담 인계",</a:t>
            </a:r>
          </a:p>
          <a:p xmlns:a="http://schemas.openxmlformats.org/drawingml/2006/main">
            <a:r>
              <a:t>        "output": "확인 필요 대상"</a:t>
            </a:r>
          </a:p>
          <a:p xmlns:a="http://schemas.openxmlformats.org/drawingml/2006/main">
            <a:r>
              <a:t>      },</a:t>
            </a:r>
          </a:p>
          <a:p xmlns:a="http://schemas.openxmlformats.org/drawingml/2006/main">
            <a:r>
              <a:t>      {</a:t>
            </a:r>
          </a:p>
          <a:p xmlns:a="http://schemas.openxmlformats.org/drawingml/2006/main">
            <a:r>
              <a:t>        "title": "복지 담당자 대응",</a:t>
            </a:r>
          </a:p>
          <a:p xmlns:a="http://schemas.openxmlformats.org/drawingml/2006/main">
            <a:r>
              <a:t>        "input": "확인 필요 대상",</a:t>
            </a:r>
          </a:p>
          <a:p xmlns:a="http://schemas.openxmlformats.org/drawingml/2006/main">
            <a:r>
              <a:t>        "process": "담당자에게 상황 요약·확인 대상을 인계",</a:t>
            </a:r>
          </a:p>
          <a:p xmlns:a="http://schemas.openxmlformats.org/drawingml/2006/main">
            <a:r>
              <a:t>        "output": "담당자 대응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"통화에서 식사·수면·불편 사항을 파악하고 담당자가 후속 확인",</a:t>
            </a:r>
          </a:p>
          <a:p xmlns:a="http://schemas.openxmlformats.org/drawingml/2006/main">
            <a:r>
              <a:t>      "exception": "방언·침묵·통화 중단·위험 발화의 부정문",</a:t>
            </a:r>
          </a:p>
          <a:p xmlns:a="http://schemas.openxmlformats.org/drawingml/2006/main">
            <a:r>
              <a:t>      "evidence": "원 발화 대비 상태·위험 신호 추출표와 상담 인계 수신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"돌봄 대상자·복지 담당자",</a:t>
            </a:r>
          </a:p>
          <a:p xmlns:a="http://schemas.openxmlformats.org/drawingml/2006/main">
            <a:r>
              <a:t>          "processing": "전화 대상·대화 문맥의 구분",</a:t>
            </a:r>
          </a:p>
          <a:p xmlns:a="http://schemas.openxmlformats.org/drawingml/2006/main">
            <a:r>
              <a:t>          "output": "동의받은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"대화·후속 대응 기록",</a:t>
            </a:r>
          </a:p>
          <a:p xmlns:a="http://schemas.openxmlformats.org/drawingml/2006/main">
            <a:r>
              <a:t>          "processing": "동의 범위 내 대화와 과거 대응 기록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"동의받은 발화",</a:t>
            </a:r>
          </a:p>
          <a:p xmlns:a="http://schemas.openxmlformats.org/drawingml/2006/main">
            <a:r>
              <a:t>          "processing": "음성 대화에서 상태와 확인 필요 내용 정리",</a:t>
            </a:r>
          </a:p>
          <a:p xmlns:a="http://schemas.openxmlformats.org/drawingml/2006/main">
            <a:r>
              <a:t>          "output": "확인 필요 대상"</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"확인 필요 대상",</a:t>
            </a:r>
          </a:p>
          <a:p xmlns:a="http://schemas.openxmlformats.org/drawingml/2006/main">
            <a:r>
              <a:t>          "processing": "담당자에게 상황 요약·확인 대상을 인계",</a:t>
            </a:r>
          </a:p>
          <a:p xmlns:a="http://schemas.openxmlformats.org/drawingml/2006/main">
            <a:r>
              <a:t>          "output": "담당자 대응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"오인식·부적절 발화와 실제 대응 결과 검토",</a:t>
            </a:r>
          </a:p>
          <a:p xmlns:a="http://schemas.openxmlformats.org/drawingml/2006/main">
            <a:r>
              <a:t>          "output":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"오인식·부적절 발화와 실제 대응 결과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"S02",</a:t>
            </a:r>
          </a:p>
          <a:p xmlns:a="http://schemas.openxmlformats.org/drawingml/2006/main">
            <a:r>
              <a:t>        "title": "NAVER · CareCall 이해관계자 연구",</a:t>
            </a:r>
          </a:p>
          <a:p xmlns:a="http://schemas.openxmlformats.org/drawingml/2006/main">
            <a:r>
              <a:t>        "url": "https://clova.ai/tech-blog/ko-clova-%EC%BC%80%EC%96%B4%EC%BD%9C-%EC%97%B0%EA%B5%AC-%EB%85%BC%EB%AC%B8-%EC%86%8C%EA%B0%9C-%EC%B4%88%EA%B1%B0%EB%8C%80-%EC%9D%B8%EA%B3%B5%EC%A7%80%EB%8A%A5-%EA%B8%B0%EB%B0%98-%EC%B1%97%EB%B4%87",</a:t>
            </a:r>
          </a:p>
          <a:p xmlns:a="http://schemas.openxmlformats.org/drawingml/2006/main">
            <a:r>
              <a:t>        "published": "2024-08-07",</a:t>
            </a:r>
          </a:p>
          <a:p xmlns:a="http://schemas.openxmlformats.org/drawingml/2006/main">
            <a:r>
              <a:t>        "level": "개발사 연구 요약 / CHI 2023",</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"자유 발화와 필수 업무 항목의 분리 및 사람에게 연결되는 경로",</a:t>
            </a:r>
          </a:p>
          <a:p xmlns:a="http://schemas.openxmlformats.org/drawingml/2006/main">
            <a:r>
              <a:t>    "local": "TS 민원 발화를 요약한 뒤 신청 목적·대상·지역의 사용자 확인",</a:t>
            </a:r>
          </a:p>
          <a:p xmlns:a="http://schemas.openxmlformats.org/drawingml/2006/main">
            <a:r>
              <a:t>    "sourceDetail": null,</a:t>
            </a:r>
          </a:p>
          <a:p xmlns:a="http://schemas.openxmlformats.org/drawingml/2006/main">
            <a:r>
              <a:t>    "narrative": [</a:t>
            </a:r>
          </a:p>
          <a:p xmlns:a="http://schemas.openxmlformats.org/drawingml/2006/main">
            <a:r>
              <a:t>      "자유 발화 중심의 안부전화와 복지 담당자의 후속 대응을 결합한 서비스. 통화 자체의 자동화보다 대상자의 상황을 파악해 필요한 확인·방문 업무로 인계하는 연결이 핵심.",</a:t>
            </a:r>
          </a:p>
          <a:p xmlns:a="http://schemas.openxmlformats.org/drawingml/2006/main">
            <a:r>
              <a:t>      "음성 대화 기록에서 상태와 확인할 내용을 정리하고 담당자가 대응 여부를 검토하는 흐름. TS 적용 설계에서는 민원 발화를 신청 목적·대상·지역 등 필수 항목으로 정리한 뒤 사용자 확인과 상담원 인계를 구성.",</a:t>
            </a:r>
          </a:p>
          <a:p xmlns:a="http://schemas.openxmlformats.org/drawingml/2006/main">
            <a:r>
              <a:t>      "인터뷰에서 보고된 부담 완화와 임상·복지 성과의 구분. 소음·방언·고령 발화의 인식 오류, 위험 신호의 미탐, 상담원이 실제 인계받았는지를 별도로 측정할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"안부전화 접점",</a:t>
            </a:r>
          </a:p>
          <a:p xmlns:a="http://schemas.openxmlformats.org/drawingml/2006/main">
            <a:r>
              <a:t>          "layer": "이용 접점",</a:t>
            </a:r>
          </a:p>
          <a:p xmlns:a="http://schemas.openxmlformats.org/drawingml/2006/main">
            <a:r>
              <a:t>          "detail": "돌봄 대상자·복지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"대상·대화 맥락",</a:t>
            </a:r>
          </a:p>
          <a:p xmlns:a="http://schemas.openxmlformats.org/drawingml/2006/main">
            <a:r>
              <a:t>          "layer": "업무 문맥",</a:t>
            </a:r>
          </a:p>
          <a:p xmlns:a="http://schemas.openxmlformats.org/drawingml/2006/main">
            <a:r>
              <a:t>          "detail": "전화 대상·대화 문맥의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"이전 대응 조회",</a:t>
            </a:r>
          </a:p>
          <a:p xmlns:a="http://schemas.openxmlformats.org/drawingml/2006/main">
            <a:r>
              <a:t>          "layer": "자료 조회",</a:t>
            </a:r>
          </a:p>
          <a:p xmlns:a="http://schemas.openxmlformats.org/drawingml/2006/main">
            <a:r>
              <a:t>          "detail": "동의받은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"대화·상태 요약",</a:t>
            </a:r>
          </a:p>
          <a:p xmlns:a="http://schemas.openxmlformats.org/drawingml/2006/main">
            <a:r>
              <a:t>          "layer": "핵심 처리",</a:t>
            </a:r>
          </a:p>
          <a:p xmlns:a="http://schemas.openxmlformats.org/drawingml/2006/main">
            <a:r>
              <a:t>          "detail": "음성 대화에서 상태와 확인 필요 내용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"위험 발화 확인",</a:t>
            </a:r>
          </a:p>
          <a:p xmlns:a="http://schemas.openxmlformats.org/drawingml/2006/main">
            <a:r>
              <a:t>          "layer": "결과 검증",</a:t>
            </a:r>
          </a:p>
          <a:p xmlns:a="http://schemas.openxmlformats.org/drawingml/2006/main">
            <a:r>
              <a:t>          "detail": "위험 신호의 사람 확인·상담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"복지 담당 확인",</a:t>
            </a:r>
          </a:p>
          <a:p xmlns:a="http://schemas.openxmlformats.org/drawingml/2006/main">
            <a:r>
              <a:t>          "layer": "사람 확인",</a:t>
            </a:r>
          </a:p>
          <a:p xmlns:a="http://schemas.openxmlformats.org/drawingml/2006/main">
            <a:r>
              <a:t>          "detail": "통화에서 식사·수면·불편 사항을 파악하고 담당자가 후속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"상담·방문 인계",</a:t>
            </a:r>
          </a:p>
          <a:p xmlns:a="http://schemas.openxmlformats.org/drawingml/2006/main">
            <a:r>
              <a:t>          "layer": "업무 연결",</a:t>
            </a:r>
          </a:p>
          <a:p xmlns:a="http://schemas.openxmlformats.org/drawingml/2006/main">
            <a:r>
              <a:t>          "detail": "담당자에게 상황 요약·확인 대상을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"조치 완료 추적",</a:t>
            </a:r>
          </a:p>
          <a:p xmlns:a="http://schemas.openxmlformats.org/drawingml/2006/main">
            <a:r>
              <a:t>          "layer": "운영 관측",</a:t>
            </a:r>
          </a:p>
          <a:p xmlns:a="http://schemas.openxmlformats.org/drawingml/2006/main">
            <a:r>
              <a:t>          "detail": "오인식·부적절 발화와 실제 대응 결과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"동의받은 대화",</a:t>
            </a:r>
          </a:p>
          <a:p xmlns:a="http://schemas.openxmlformats.org/drawingml/2006/main">
            <a:r>
              <a:t>          "layer": "데이터 원천",</a:t>
            </a:r>
          </a:p>
          <a:p xmlns:a="http://schemas.openxmlformats.org/drawingml/2006/main">
            <a:r>
              <a:t>          "detail": "대화·후속 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"민감 발화 분리",</a:t>
            </a:r>
          </a:p>
          <a:p xmlns:a="http://schemas.openxmlformats.org/drawingml/2006/main">
            <a:r>
              <a:t>          "layer": "준비·갱신",</a:t>
            </a:r>
          </a:p>
          <a:p xmlns:a="http://schemas.openxmlformats.org/drawingml/2006/main">
            <a:r>
              <a:t>          "detail": "동의 범위 내 대화와 과거 대응 기록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"대화·대응 이력",</a:t>
            </a:r>
          </a:p>
          <a:p xmlns:a="http://schemas.openxmlformats.org/drawingml/2006/main">
            <a:r>
              <a:t>          "layer": "상태·지식 저장",</a:t>
            </a:r>
          </a:p>
          <a:p xmlns:a="http://schemas.openxmlformats.org/drawingml/2006/main">
            <a:r>
              <a:t>          "detail": "원 발화 대비 상태·위험 신호 추출표와 상담 인계 수신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"동의·열람정책",</a:t>
            </a:r>
          </a:p>
          <a:p xmlns:a="http://schemas.openxmlformats.org/drawingml/2006/main">
            <a:r>
              <a:t>          "layer": "권한·정책",</a:t>
            </a:r>
          </a:p>
          <a:p xmlns:a="http://schemas.openxmlformats.org/drawingml/2006/main">
            <a:r>
              <a:t>          "detail": "방언·침묵·통화 중단·위험 발화의 부정문",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"안부전화 → LLM 대화 → 내역 열람·분석 → 복지 담당자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"전화 대상·대화 문맥의 구분",</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"동의받은 발화",</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"대화·후속 대응 기록",</a:t>
            </a:r>
          </a:p>
          <a:p xmlns:a="http://schemas.openxmlformats.org/drawingml/2006/main">
            <a:r>
              <a:t>          "check": "동의 범위 내 대화와 과거 대응 기록 구성"</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"확인 필요 대상",</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"담당자 대응 기록",</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"담당자 대응 기록",</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"안부전화 이후 필요한 복지 조치의 연결 / 자유 발화·상황 요약·후속 대응",</a:t>
            </a:r>
          </a:p>
          <a:p xmlns:a="http://schemas.openxmlformats.org/drawingml/2006/main">
            <a:r>
              <a:t>        "extension": "TS 민원 발화를 요약한 뒤 신청 목적·대상·지역의 사용자 확인"</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"방언·침묵·통화 중단·위험 발화의 부정문",</a:t>
            </a:r>
          </a:p>
          <a:p xmlns:a="http://schemas.openxmlformats.org/drawingml/2006/main">
            <a:r>
              <a:t>        "hold": "위험 신호의 사람 확인·상담 인계",</a:t>
            </a:r>
          </a:p>
          <a:p xmlns:a="http://schemas.openxmlformats.org/drawingml/2006/main">
            <a:r>
              <a:t>        "recovery": "오인식·부적절 발화와 실제 대응 결과 검토",</a:t>
            </a:r>
          </a:p>
          <a:p xmlns:a="http://schemas.openxmlformats.org/drawingml/2006/main">
            <a:r>
              <a:t>        "evidence": "원 발화 대비 상태·위험 신호 추출표와 상담 인계 수신 기록"</a:t>
            </a:r>
          </a:p>
          <a:p xmlns:a="http://schemas.openxmlformats.org/drawingml/2006/main">
            <a:r>
              <a:t>      },</a:t>
            </a:r>
          </a:p>
          <a:p xmlns:a="http://schemas.openxmlformats.org/drawingml/2006/main">
            <a:r>
              <a:t>      "data": {</a:t>
            </a:r>
          </a:p>
          <a:p xmlns:a="http://schemas.openxmlformats.org/drawingml/2006/main">
            <a:r>
              <a:t>        "source": "대화·후속 대응 기록",</a:t>
            </a:r>
          </a:p>
          <a:p xmlns:a="http://schemas.openxmlformats.org/drawingml/2006/main">
            <a:r>
              <a:t>        "prepare": "동의 범위 내 대화와 과거 대응 기록 구성",</a:t>
            </a:r>
          </a:p>
          <a:p xmlns:a="http://schemas.openxmlformats.org/drawingml/2006/main">
            <a:r>
              <a:t>        "output": "동의받은 발화",</a:t>
            </a:r>
          </a:p>
          <a:p xmlns:a="http://schemas.openxmlformats.org/drawingml/2006/main">
            <a:r>
              <a:t>        "refresh": "오인식·부적절 발화와 실제 대응 결과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"AX02",</a:t>
            </a:r>
          </a:p>
          <a:p xmlns:a="http://schemas.openxmlformats.org/drawingml/2006/main">
            <a:r>
              <a:t>    "success": [</a:t>
            </a:r>
          </a:p>
          <a:p xmlns:a="http://schemas.openxmlformats.org/drawingml/2006/main">
            <a:r>
              <a:t>      "전화 접점과 담당자 후속 대응의 결합",</a:t>
            </a:r>
          </a:p>
          <a:p xmlns:a="http://schemas.openxmlformats.org/drawingml/2006/main">
            <a:r>
              <a:t>      "이용자 상황을 반영한 대화"</a:t>
            </a:r>
          </a:p>
          <a:p xmlns:a="http://schemas.openxmlformats.org/drawingml/2006/main">
            <a:r>
              <a:t>    ],</a:t>
            </a:r>
          </a:p>
          <a:p xmlns:a="http://schemas.openxmlformats.org/drawingml/2006/main">
            <a:r>
              <a:t>    "risks": [</a:t>
            </a:r>
          </a:p>
          <a:p xmlns:a="http://schemas.openxmlformats.org/drawingml/2006/main">
            <a:r>
              <a:t>      "위험 발화의 오해·미탐 가능성",</a:t>
            </a:r>
          </a:p>
          <a:p xmlns:a="http://schemas.openxmlformats.org/drawingml/2006/main">
            <a:r>
              <a:t>      "대화 종료와 실제 복지 조치의 혼동"</a:t>
            </a:r>
          </a:p>
          <a:p xmlns:a="http://schemas.openxmlformats.org/drawingml/2006/main">
            <a:r>
              <a:t>    ],</a:t>
            </a:r>
          </a:p>
          <a:p xmlns:a="http://schemas.openxmlformats.org/drawingml/2006/main">
            <a:r>
              <a:t>    "architecture": [</a:t>
            </a:r>
          </a:p>
          <a:p xmlns:a="http://schemas.openxmlformats.org/drawingml/2006/main">
            <a:r>
              <a:t>      "안부전화",</a:t>
            </a:r>
          </a:p>
          <a:p xmlns:a="http://schemas.openxmlformats.org/drawingml/2006/main">
            <a:r>
              <a:t>      "대화·내역 분석",</a:t>
            </a:r>
          </a:p>
          <a:p xmlns:a="http://schemas.openxmlformats.org/drawingml/2006/main">
            <a:r>
              <a:t>      "대화·후속 대응 기록",</a:t>
            </a:r>
          </a:p>
          <a:p xmlns:a="http://schemas.openxmlformats.org/drawingml/2006/main">
            <a:r>
              <a:t>      "복지 담당자"</a:t>
            </a:r>
          </a:p>
          <a:p xmlns:a="http://schemas.openxmlformats.org/drawingml/2006/main">
            <a:r>
              <a:t>    ],</a:t>
            </a:r>
          </a:p>
          <a:p xmlns:a="http://schemas.openxmlformats.org/drawingml/2006/main">
            <a:r>
              <a:t>    "transfers": [</a:t>
            </a:r>
          </a:p>
          <a:p xmlns:a="http://schemas.openxmlformats.org/drawingml/2006/main">
            <a:r>
              <a:t>      "동의받은 발화",</a:t>
            </a:r>
          </a:p>
          <a:p xmlns:a="http://schemas.openxmlformats.org/drawingml/2006/main">
            <a:r>
              <a:t>      "상황 요약",</a:t>
            </a:r>
          </a:p>
          <a:p xmlns:a="http://schemas.openxmlformats.org/drawingml/2006/main">
            <a:r>
              <a:t>      "확인 필요 대상",</a:t>
            </a:r>
          </a:p>
          <a:p xmlns:a="http://schemas.openxmlformats.org/drawingml/2006/main">
            <a:r>
              <a:t>      "담당자 대응 기록"</a:t>
            </a:r>
          </a:p>
          <a:p xmlns:a="http://schemas.openxmlformats.org/drawingml/2006/main">
            <a:r>
              <a:t>    ],</a:t>
            </a:r>
          </a:p>
          <a:p xmlns:a="http://schemas.openxmlformats.org/drawingml/2006/main">
            <a:r>
              <a:t>    "control": "위험 신호의 사람 확인·상담 인계",</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NAVER · CareCall 이해관계자 연구 https://clova.ai/tech-blog/ko-clova-%EC%BC%80%EC%96%B4%EC%BD%9C-%EC%97%B0%EA%B5%AC-%EB%85%BC%EB%AC%B8-%EC%86%8C%EA%B0%9C-%EC%B4%88%EA%B1%B0%EB%8C%80-%EC%9D%B8%EA%B3%B5%EC%A7%80%EB%8A%A5-%EA%B8%B0%EB%B0%98-%EC%B1%97%EB%B4%87</a:t>
            </a:r>
          </a:p>
          <a:p xmlns:a="http://schemas.openxmlformats.org/drawingml/2006/main">
            <a:r>
              <a:t>홈페이지 https://heen1987-ops.github.io/TS-business-Plan-001/index.html?view=casebook&amp;case=AX02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"AX02",</a:t>
            </a:r>
          </a:p>
          <a:p xmlns:a="http://schemas.openxmlformats.org/drawingml/2006/main">
            <a:r>
              <a:t>    "title": "CLOVA CareCall",</a:t>
            </a:r>
          </a:p>
          <a:p xmlns:a="http://schemas.openxmlformats.org/drawingml/2006/main">
            <a:r>
              <a:t>    "region": "국내",</a:t>
            </a:r>
          </a:p>
          <a:p xmlns:a="http://schemas.openxmlformats.org/drawingml/2006/main">
            <a:r>
              <a:t>    "country": "대한민국",</a:t>
            </a:r>
          </a:p>
          <a:p xmlns:a="http://schemas.openxmlformats.org/drawingml/2006/main">
            <a:r>
              <a:t>    "result": "혼합",</a:t>
            </a:r>
          </a:p>
          <a:p xmlns:a="http://schemas.openxmlformats.org/drawingml/2006/main">
            <a:r>
              <a:t>    "kind": "음성·LLM 돌봄 서비스",</a:t>
            </a:r>
          </a:p>
          <a:p xmlns:a="http://schemas.openxmlformats.org/drawingml/2006/main">
            <a:r>
              <a:t>    "period": "CHI 2023 / 2024 소개",</a:t>
            </a:r>
          </a:p>
          <a:p xmlns:a="http://schemas.openxmlformats.org/drawingml/2006/main">
            <a:r>
              <a:t>    "sources": [</a:t>
            </a:r>
          </a:p>
          <a:p xmlns:a="http://schemas.openxmlformats.org/drawingml/2006/main">
            <a:r>
              <a:t>      "S02"</a:t>
            </a:r>
          </a:p>
          <a:p xmlns:a="http://schemas.openxmlformats.org/drawingml/2006/main">
            <a:r>
              <a:t>    ],</a:t>
            </a:r>
          </a:p>
          <a:p xmlns:a="http://schemas.openxmlformats.org/drawingml/2006/main">
            <a:r>
              <a:t>    "keywords": [</a:t>
            </a:r>
          </a:p>
          <a:p xmlns:a="http://schemas.openxmlformats.org/drawingml/2006/main">
            <a:r>
              <a:t>      "음성",</a:t>
            </a:r>
          </a:p>
          <a:p xmlns:a="http://schemas.openxmlformats.org/drawingml/2006/main">
            <a:r>
              <a:t>      "정보약자",</a:t>
            </a:r>
          </a:p>
          <a:p xmlns:a="http://schemas.openxmlformats.org/drawingml/2006/main">
            <a:r>
              <a:t>      "맞춤 서비스",</a:t>
            </a:r>
          </a:p>
          <a:p xmlns:a="http://schemas.openxmlformats.org/drawingml/2006/main">
            <a:r>
              <a:t>      "인간 개입"</a:t>
            </a:r>
          </a:p>
          <a:p xmlns:a="http://schemas.openxmlformats.org/drawingml/2006/main">
            <a:r>
              <a:t>    ],</a:t>
            </a:r>
          </a:p>
          <a:p xmlns:a="http://schemas.openxmlformats.org/drawingml/2006/main">
            <a:r>
              <a:t>    "fact": "안부전화와 복지 담당자 후속 대응의 결합; 인터뷰에서 업무 부담 완화와 사용자 이해의 이점 보고",</a:t>
            </a:r>
          </a:p>
          <a:p xmlns:a="http://schemas.openxmlformats.org/drawingml/2006/main">
            <a:r>
              <a:t>    "limit": "소규모 질적 연구 · 부적절 발화 통제와 지자체별 요구 반영의 난점 · 임상 효과 근거 아님",</a:t>
            </a:r>
          </a:p>
          <a:p xmlns:a="http://schemas.openxmlformats.org/drawingml/2006/main">
            <a:r>
              <a:t>    "flow": [</a:t>
            </a:r>
          </a:p>
          <a:p xmlns:a="http://schemas.openxmlformats.org/drawingml/2006/main">
            <a:r>
              <a:t>      "안부전화",</a:t>
            </a:r>
          </a:p>
          <a:p xmlns:a="http://schemas.openxmlformats.org/drawingml/2006/main">
            <a:r>
              <a:t>      "LLM 대화",</a:t>
            </a:r>
          </a:p>
          <a:p xmlns:a="http://schemas.openxmlformats.org/drawingml/2006/main">
            <a:r>
              <a:t>      "내역 열람·분석",</a:t>
            </a:r>
          </a:p>
          <a:p xmlns:a="http://schemas.openxmlformats.org/drawingml/2006/main">
            <a:r>
              <a:t>      "복지 담당자 대응"</a:t>
            </a:r>
          </a:p>
          <a:p xmlns:a="http://schemas.openxmlformats.org/drawingml/2006/main">
            <a:r>
              <a:t>    ],</a:t>
            </a:r>
          </a:p>
          <a:p xmlns:a="http://schemas.openxmlformats.org/drawingml/2006/main">
            <a:r>
              <a:t>    "flowBasis": "개발사 공개 서비스 구조 요약",</a:t>
            </a:r>
          </a:p>
          <a:p xmlns:a="http://schemas.openxmlformats.org/drawingml/2006/main">
            <a:r>
              <a:t>    "lesson": "자유 발화와 필수 업무 항목의 분리 및 사람에게 연결되는 경로",</a:t>
            </a:r>
          </a:p>
          <a:p xmlns:a="http://schemas.openxmlformats.org/drawingml/2006/main">
            <a:r>
              <a:t>    "local": "TS 민원 발화를 요약한 뒤 신청 목적·대상·지역의 사용자 확인",</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"한국어 음성 연계 / 발화 정리 / 필수 항목 검증 / 상담 전환",</a:t>
            </a:r>
          </a:p>
          <a:p xmlns:a="http://schemas.openxmlformats.org/drawingml/2006/main">
            <a:r>
              <a:t>    "test": "고령·소음·방언 표본의 필수 항목 정확도 및 상담 전환 성공률",</a:t>
            </a:r>
          </a:p>
          <a:p xmlns:a="http://schemas.openxmlformats.org/drawingml/2006/main">
            <a:r>
              <a:t>    "metric": "서비스 도달률 / 발화 재입력률 / 집단별 완료시간"</a:t>
            </a:r>
          </a:p>
          <a:p xmlns:a="http://schemas.openxmlformats.org/drawingml/2006/main">
            <a:r>
              <a:t>  },</a:t>
            </a:r>
          </a:p>
          <a:p xmlns:a="http://schemas.openxmlformats.org/drawingml/2006/main">
            <a:r>
              <a:t>  "design": {</a:t>
            </a:r>
          </a:p>
          <a:p xmlns:a="http://schemas.openxmlformats.org/drawingml/2006/main">
            <a:r>
              <a:t>    "id": "AX02",</a:t>
            </a:r>
          </a:p>
          <a:p xmlns:a="http://schemas.openxmlformats.org/drawingml/2006/main">
            <a:r>
              <a:t>    "canonicalId": "AX02",</a:t>
            </a:r>
          </a:p>
          <a:p xmlns:a="http://schemas.openxmlformats.org/drawingml/2006/main">
            <a:r>
              <a:t>    "purpose": "안부전화 이후 필요한 복지 조치의 연결",</a:t>
            </a:r>
          </a:p>
          <a:p xmlns:a="http://schemas.openxmlformats.org/drawingml/2006/main">
            <a:r>
              <a:t>    "users": "돌봄 대상자·복지 담당자",</a:t>
            </a:r>
          </a:p>
          <a:p xmlns:a="http://schemas.openxmlformats.org/drawingml/2006/main">
            <a:r>
              <a:t>    "scope": [</a:t>
            </a:r>
          </a:p>
          <a:p xmlns:a="http://schemas.openxmlformats.org/drawingml/2006/main">
            <a:r>
              <a:t>      "자유 발화",</a:t>
            </a:r>
          </a:p>
          <a:p xmlns:a="http://schemas.openxmlformats.org/drawingml/2006/main">
            <a:r>
              <a:t>      "상황 요약",</a:t>
            </a:r>
          </a:p>
          <a:p xmlns:a="http://schemas.openxmlformats.org/drawingml/2006/main">
            <a:r>
              <a:t>      "후속 대응"</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"안부전화",</a:t>
            </a:r>
          </a:p>
          <a:p xmlns:a="http://schemas.openxmlformats.org/drawingml/2006/main">
            <a:r>
              <a:t>        "detail": "전화 대상·대화 문맥의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"자유 발화 / 상황 요약 / 후속 대응",</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"대화·내역 분석",</a:t>
            </a:r>
          </a:p>
          <a:p xmlns:a="http://schemas.openxmlformats.org/drawingml/2006/main">
            <a:r>
              <a:t>        "detail": "음성 대화에서 상태와 확인 필요 내용 정리",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"복지 담당자",</a:t>
            </a:r>
          </a:p>
          <a:p xmlns:a="http://schemas.openxmlformats.org/drawingml/2006/main">
            <a:r>
              <a:t>        "detail": "담당자에게 상황 요약·확인 대상을 인계",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"대화·후속 대응 기록",</a:t>
            </a:r>
          </a:p>
          <a:p xmlns:a="http://schemas.openxmlformats.org/drawingml/2006/main">
            <a:r>
              <a:t>        "detail": "동의 범위 내 대화와 과거 대응 기록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"오인식·부적절 발화와 실제 대응 결과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"안부전화",</a:t>
            </a:r>
          </a:p>
          <a:p xmlns:a="http://schemas.openxmlformats.org/drawingml/2006/main">
            <a:r>
              <a:t>        "input": "전화 대상·대화 문맥의 구분",</a:t>
            </a:r>
          </a:p>
          <a:p xmlns:a="http://schemas.openxmlformats.org/drawingml/2006/main">
            <a:r>
              <a:t>        "process": "동의 범위 내 대화와 과거 대응 기록 구성",</a:t>
            </a:r>
          </a:p>
          <a:p xmlns:a="http://schemas.openxmlformats.org/drawingml/2006/main">
            <a:r>
              <a:t>        "output": "동의받은 발화"</a:t>
            </a:r>
          </a:p>
          <a:p xmlns:a="http://schemas.openxmlformats.org/drawingml/2006/main">
            <a:r>
              <a:t>      },</a:t>
            </a:r>
          </a:p>
          <a:p xmlns:a="http://schemas.openxmlformats.org/drawingml/2006/main">
            <a:r>
              <a:t>      {</a:t>
            </a:r>
          </a:p>
          <a:p xmlns:a="http://schemas.openxmlformats.org/drawingml/2006/main">
            <a:r>
              <a:t>        "title": "LLM 대화",</a:t>
            </a:r>
          </a:p>
          <a:p xmlns:a="http://schemas.openxmlformats.org/drawingml/2006/main">
            <a:r>
              <a:t>        "input": "동의받은 발화",</a:t>
            </a:r>
          </a:p>
          <a:p xmlns:a="http://schemas.openxmlformats.org/drawingml/2006/main">
            <a:r>
              <a:t>        "process": "음성 대화에서 상태와 확인 필요 내용 정리",</a:t>
            </a:r>
          </a:p>
          <a:p xmlns:a="http://schemas.openxmlformats.org/drawingml/2006/main">
            <a:r>
              <a:t>        "output": "상황 요약"</a:t>
            </a:r>
          </a:p>
          <a:p xmlns:a="http://schemas.openxmlformats.org/drawingml/2006/main">
            <a:r>
              <a:t>      },</a:t>
            </a:r>
          </a:p>
          <a:p xmlns:a="http://schemas.openxmlformats.org/drawingml/2006/main">
            <a:r>
              <a:t>      {</a:t>
            </a:r>
          </a:p>
          <a:p xmlns:a="http://schemas.openxmlformats.org/drawingml/2006/main">
            <a:r>
              <a:t>        "title": "내역 열람·분석",</a:t>
            </a:r>
          </a:p>
          <a:p xmlns:a="http://schemas.openxmlformats.org/drawingml/2006/main">
            <a:r>
              <a:t>        "input": "상황 요약",</a:t>
            </a:r>
          </a:p>
          <a:p xmlns:a="http://schemas.openxmlformats.org/drawingml/2006/main">
            <a:r>
              <a:t>        "process": "위험 신호의 사람 확인·상담 인계",</a:t>
            </a:r>
          </a:p>
          <a:p xmlns:a="http://schemas.openxmlformats.org/drawingml/2006/main">
            <a:r>
              <a:t>        "output": "확인 필요 대상"</a:t>
            </a:r>
          </a:p>
          <a:p xmlns:a="http://schemas.openxmlformats.org/drawingml/2006/main">
            <a:r>
              <a:t>      },</a:t>
            </a:r>
          </a:p>
          <a:p xmlns:a="http://schemas.openxmlformats.org/drawingml/2006/main">
            <a:r>
              <a:t>      {</a:t>
            </a:r>
          </a:p>
          <a:p xmlns:a="http://schemas.openxmlformats.org/drawingml/2006/main">
            <a:r>
              <a:t>        "title": "복지 담당자 대응",</a:t>
            </a:r>
          </a:p>
          <a:p xmlns:a="http://schemas.openxmlformats.org/drawingml/2006/main">
            <a:r>
              <a:t>        "input": "확인 필요 대상",</a:t>
            </a:r>
          </a:p>
          <a:p xmlns:a="http://schemas.openxmlformats.org/drawingml/2006/main">
            <a:r>
              <a:t>        "process": "담당자에게 상황 요약·확인 대상을 인계",</a:t>
            </a:r>
          </a:p>
          <a:p xmlns:a="http://schemas.openxmlformats.org/drawingml/2006/main">
            <a:r>
              <a:t>        "output": "담당자 대응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"통화에서 식사·수면·불편 사항을 파악하고 담당자가 후속 확인",</a:t>
            </a:r>
          </a:p>
          <a:p xmlns:a="http://schemas.openxmlformats.org/drawingml/2006/main">
            <a:r>
              <a:t>      "exception": "방언·침묵·통화 중단·위험 발화의 부정문",</a:t>
            </a:r>
          </a:p>
          <a:p xmlns:a="http://schemas.openxmlformats.org/drawingml/2006/main">
            <a:r>
              <a:t>      "evidence": "원 발화 대비 상태·위험 신호 추출표와 상담 인계 수신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"돌봄 대상자·복지 담당자",</a:t>
            </a:r>
          </a:p>
          <a:p xmlns:a="http://schemas.openxmlformats.org/drawingml/2006/main">
            <a:r>
              <a:t>          "processing": "전화 대상·대화 문맥의 구분",</a:t>
            </a:r>
          </a:p>
          <a:p xmlns:a="http://schemas.openxmlformats.org/drawingml/2006/main">
            <a:r>
              <a:t>          "output": "동의받은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"대화·후속 대응 기록",</a:t>
            </a:r>
          </a:p>
          <a:p xmlns:a="http://schemas.openxmlformats.org/drawingml/2006/main">
            <a:r>
              <a:t>          "processing": "동의 범위 내 대화와 과거 대응 기록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"동의받은 발화",</a:t>
            </a:r>
          </a:p>
          <a:p xmlns:a="http://schemas.openxmlformats.org/drawingml/2006/main">
            <a:r>
              <a:t>          "processing": "음성 대화에서 상태와 확인 필요 내용 정리",</a:t>
            </a:r>
          </a:p>
          <a:p xmlns:a="http://schemas.openxmlformats.org/drawingml/2006/main">
            <a:r>
              <a:t>          "output": "확인 필요 대상"</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"확인 필요 대상",</a:t>
            </a:r>
          </a:p>
          <a:p xmlns:a="http://schemas.openxmlformats.org/drawingml/2006/main">
            <a:r>
              <a:t>          "processing": "담당자에게 상황 요약·확인 대상을 인계",</a:t>
            </a:r>
          </a:p>
          <a:p xmlns:a="http://schemas.openxmlformats.org/drawingml/2006/main">
            <a:r>
              <a:t>          "output": "담당자 대응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"오인식·부적절 발화와 실제 대응 결과 검토",</a:t>
            </a:r>
          </a:p>
          <a:p xmlns:a="http://schemas.openxmlformats.org/drawingml/2006/main">
            <a:r>
              <a:t>          "output":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"오인식·부적절 발화와 실제 대응 결과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"S02",</a:t>
            </a:r>
          </a:p>
          <a:p xmlns:a="http://schemas.openxmlformats.org/drawingml/2006/main">
            <a:r>
              <a:t>        "title": "NAVER · CareCall 이해관계자 연구",</a:t>
            </a:r>
          </a:p>
          <a:p xmlns:a="http://schemas.openxmlformats.org/drawingml/2006/main">
            <a:r>
              <a:t>        "url": "https://clova.ai/tech-blog/ko-clova-%EC%BC%80%EC%96%B4%EC%BD%9C-%EC%97%B0%EA%B5%AC-%EB%85%BC%EB%AC%B8-%EC%86%8C%EA%B0%9C-%EC%B4%88%EA%B1%B0%EB%8C%80-%EC%9D%B8%EA%B3%B5%EC%A7%80%EB%8A%A5-%EA%B8%B0%EB%B0%98-%EC%B1%97%EB%B4%87",</a:t>
            </a:r>
          </a:p>
          <a:p xmlns:a="http://schemas.openxmlformats.org/drawingml/2006/main">
            <a:r>
              <a:t>        "published": "2024-08-07",</a:t>
            </a:r>
          </a:p>
          <a:p xmlns:a="http://schemas.openxmlformats.org/drawingml/2006/main">
            <a:r>
              <a:t>        "level": "개발사 연구 요약 / CHI 2023",</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"자유 발화와 필수 업무 항목의 분리 및 사람에게 연결되는 경로",</a:t>
            </a:r>
          </a:p>
          <a:p xmlns:a="http://schemas.openxmlformats.org/drawingml/2006/main">
            <a:r>
              <a:t>    "local": "TS 민원 발화를 요약한 뒤 신청 목적·대상·지역의 사용자 확인",</a:t>
            </a:r>
          </a:p>
          <a:p xmlns:a="http://schemas.openxmlformats.org/drawingml/2006/main">
            <a:r>
              <a:t>    "sourceDetail": null,</a:t>
            </a:r>
          </a:p>
          <a:p xmlns:a="http://schemas.openxmlformats.org/drawingml/2006/main">
            <a:r>
              <a:t>    "narrative": [</a:t>
            </a:r>
          </a:p>
          <a:p xmlns:a="http://schemas.openxmlformats.org/drawingml/2006/main">
            <a:r>
              <a:t>      "자유 발화 중심의 안부전화와 복지 담당자의 후속 대응을 결합한 서비스. 통화 자체의 자동화보다 대상자의 상황을 파악해 필요한 확인·방문 업무로 인계하는 연결이 핵심.",</a:t>
            </a:r>
          </a:p>
          <a:p xmlns:a="http://schemas.openxmlformats.org/drawingml/2006/main">
            <a:r>
              <a:t>      "음성 대화 기록에서 상태와 확인할 내용을 정리하고 담당자가 대응 여부를 검토하는 흐름. TS 적용 설계에서는 민원 발화를 신청 목적·대상·지역 등 필수 항목으로 정리한 뒤 사용자 확인과 상담원 인계를 구성.",</a:t>
            </a:r>
          </a:p>
          <a:p xmlns:a="http://schemas.openxmlformats.org/drawingml/2006/main">
            <a:r>
              <a:t>      "인터뷰에서 보고된 부담 완화와 임상·복지 성과의 구분. 소음·방언·고령 발화의 인식 오류, 위험 신호의 미탐, 상담원이 실제 인계받았는지를 별도로 측정할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"안부전화 접점",</a:t>
            </a:r>
          </a:p>
          <a:p xmlns:a="http://schemas.openxmlformats.org/drawingml/2006/main">
            <a:r>
              <a:t>          "layer": "이용 접점",</a:t>
            </a:r>
          </a:p>
          <a:p xmlns:a="http://schemas.openxmlformats.org/drawingml/2006/main">
            <a:r>
              <a:t>          "detail": "돌봄 대상자·복지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"대상·대화 맥락",</a:t>
            </a:r>
          </a:p>
          <a:p xmlns:a="http://schemas.openxmlformats.org/drawingml/2006/main">
            <a:r>
              <a:t>          "layer": "업무 문맥",</a:t>
            </a:r>
          </a:p>
          <a:p xmlns:a="http://schemas.openxmlformats.org/drawingml/2006/main">
            <a:r>
              <a:t>          "detail": "전화 대상·대화 문맥의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"이전 대응 조회",</a:t>
            </a:r>
          </a:p>
          <a:p xmlns:a="http://schemas.openxmlformats.org/drawingml/2006/main">
            <a:r>
              <a:t>          "layer": "자료 조회",</a:t>
            </a:r>
          </a:p>
          <a:p xmlns:a="http://schemas.openxmlformats.org/drawingml/2006/main">
            <a:r>
              <a:t>          "detail": "동의받은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"대화·상태 요약",</a:t>
            </a:r>
          </a:p>
          <a:p xmlns:a="http://schemas.openxmlformats.org/drawingml/2006/main">
            <a:r>
              <a:t>          "layer": "핵심 처리",</a:t>
            </a:r>
          </a:p>
          <a:p xmlns:a="http://schemas.openxmlformats.org/drawingml/2006/main">
            <a:r>
              <a:t>          "detail": "음성 대화에서 상태와 확인 필요 내용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"위험 발화 확인",</a:t>
            </a:r>
          </a:p>
          <a:p xmlns:a="http://schemas.openxmlformats.org/drawingml/2006/main">
            <a:r>
              <a:t>          "layer": "결과 검증",</a:t>
            </a:r>
          </a:p>
          <a:p xmlns:a="http://schemas.openxmlformats.org/drawingml/2006/main">
            <a:r>
              <a:t>          "detail": "위험 신호의 사람 확인·상담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"복지 담당 확인",</a:t>
            </a:r>
          </a:p>
          <a:p xmlns:a="http://schemas.openxmlformats.org/drawingml/2006/main">
            <a:r>
              <a:t>          "layer": "사람 확인",</a:t>
            </a:r>
          </a:p>
          <a:p xmlns:a="http://schemas.openxmlformats.org/drawingml/2006/main">
            <a:r>
              <a:t>          "detail": "통화에서 식사·수면·불편 사항을 파악하고 담당자가 후속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"상담·방문 인계",</a:t>
            </a:r>
          </a:p>
          <a:p xmlns:a="http://schemas.openxmlformats.org/drawingml/2006/main">
            <a:r>
              <a:t>          "layer": "업무 연결",</a:t>
            </a:r>
          </a:p>
          <a:p xmlns:a="http://schemas.openxmlformats.org/drawingml/2006/main">
            <a:r>
              <a:t>          "detail": "담당자에게 상황 요약·확인 대상을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"조치 완료 추적",</a:t>
            </a:r>
          </a:p>
          <a:p xmlns:a="http://schemas.openxmlformats.org/drawingml/2006/main">
            <a:r>
              <a:t>          "layer": "운영 관측",</a:t>
            </a:r>
          </a:p>
          <a:p xmlns:a="http://schemas.openxmlformats.org/drawingml/2006/main">
            <a:r>
              <a:t>          "detail": "오인식·부적절 발화와 실제 대응 결과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"동의받은 대화",</a:t>
            </a:r>
          </a:p>
          <a:p xmlns:a="http://schemas.openxmlformats.org/drawingml/2006/main">
            <a:r>
              <a:t>          "layer": "데이터 원천",</a:t>
            </a:r>
          </a:p>
          <a:p xmlns:a="http://schemas.openxmlformats.org/drawingml/2006/main">
            <a:r>
              <a:t>          "detail": "대화·후속 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"민감 발화 분리",</a:t>
            </a:r>
          </a:p>
          <a:p xmlns:a="http://schemas.openxmlformats.org/drawingml/2006/main">
            <a:r>
              <a:t>          "layer": "준비·갱신",</a:t>
            </a:r>
          </a:p>
          <a:p xmlns:a="http://schemas.openxmlformats.org/drawingml/2006/main">
            <a:r>
              <a:t>          "detail": "동의 범위 내 대화와 과거 대응 기록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"대화·대응 이력",</a:t>
            </a:r>
          </a:p>
          <a:p xmlns:a="http://schemas.openxmlformats.org/drawingml/2006/main">
            <a:r>
              <a:t>          "layer": "상태·지식 저장",</a:t>
            </a:r>
          </a:p>
          <a:p xmlns:a="http://schemas.openxmlformats.org/drawingml/2006/main">
            <a:r>
              <a:t>          "detail": "원 발화 대비 상태·위험 신호 추출표와 상담 인계 수신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"동의·열람정책",</a:t>
            </a:r>
          </a:p>
          <a:p xmlns:a="http://schemas.openxmlformats.org/drawingml/2006/main">
            <a:r>
              <a:t>          "layer": "권한·정책",</a:t>
            </a:r>
          </a:p>
          <a:p xmlns:a="http://schemas.openxmlformats.org/drawingml/2006/main">
            <a:r>
              <a:t>          "detail": "방언·침묵·통화 중단·위험 발화의 부정문",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"안부전화 → LLM 대화 → 내역 열람·분석 → 복지 담당자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"전화 대상·대화 문맥의 구분",</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"동의받은 발화",</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"대화·후속 대응 기록",</a:t>
            </a:r>
          </a:p>
          <a:p xmlns:a="http://schemas.openxmlformats.org/drawingml/2006/main">
            <a:r>
              <a:t>          "check": "동의 범위 내 대화와 과거 대응 기록 구성"</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"확인 필요 대상",</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"담당자 대응 기록",</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"담당자 대응 기록",</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"안부전화 이후 필요한 복지 조치의 연결 / 자유 발화·상황 요약·후속 대응",</a:t>
            </a:r>
          </a:p>
          <a:p xmlns:a="http://schemas.openxmlformats.org/drawingml/2006/main">
            <a:r>
              <a:t>        "extension": "TS 민원 발화를 요약한 뒤 신청 목적·대상·지역의 사용자 확인"</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"방언·침묵·통화 중단·위험 발화의 부정문",</a:t>
            </a:r>
          </a:p>
          <a:p xmlns:a="http://schemas.openxmlformats.org/drawingml/2006/main">
            <a:r>
              <a:t>        "hold": "위험 신호의 사람 확인·상담 인계",</a:t>
            </a:r>
          </a:p>
          <a:p xmlns:a="http://schemas.openxmlformats.org/drawingml/2006/main">
            <a:r>
              <a:t>        "recovery": "오인식·부적절 발화와 실제 대응 결과 검토",</a:t>
            </a:r>
          </a:p>
          <a:p xmlns:a="http://schemas.openxmlformats.org/drawingml/2006/main">
            <a:r>
              <a:t>        "evidence": "원 발화 대비 상태·위험 신호 추출표와 상담 인계 수신 기록"</a:t>
            </a:r>
          </a:p>
          <a:p xmlns:a="http://schemas.openxmlformats.org/drawingml/2006/main">
            <a:r>
              <a:t>      },</a:t>
            </a:r>
          </a:p>
          <a:p xmlns:a="http://schemas.openxmlformats.org/drawingml/2006/main">
            <a:r>
              <a:t>      "data": {</a:t>
            </a:r>
          </a:p>
          <a:p xmlns:a="http://schemas.openxmlformats.org/drawingml/2006/main">
            <a:r>
              <a:t>        "source": "대화·후속 대응 기록",</a:t>
            </a:r>
          </a:p>
          <a:p xmlns:a="http://schemas.openxmlformats.org/drawingml/2006/main">
            <a:r>
              <a:t>        "prepare": "동의 범위 내 대화와 과거 대응 기록 구성",</a:t>
            </a:r>
          </a:p>
          <a:p xmlns:a="http://schemas.openxmlformats.org/drawingml/2006/main">
            <a:r>
              <a:t>        "output": "동의받은 발화",</a:t>
            </a:r>
          </a:p>
          <a:p xmlns:a="http://schemas.openxmlformats.org/drawingml/2006/main">
            <a:r>
              <a:t>        "refresh": "오인식·부적절 발화와 실제 대응 결과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"AX02",</a:t>
            </a:r>
          </a:p>
          <a:p xmlns:a="http://schemas.openxmlformats.org/drawingml/2006/main">
            <a:r>
              <a:t>    "success": [</a:t>
            </a:r>
          </a:p>
          <a:p xmlns:a="http://schemas.openxmlformats.org/drawingml/2006/main">
            <a:r>
              <a:t>      "전화 접점과 담당자 후속 대응의 결합",</a:t>
            </a:r>
          </a:p>
          <a:p xmlns:a="http://schemas.openxmlformats.org/drawingml/2006/main">
            <a:r>
              <a:t>      "이용자 상황을 반영한 대화"</a:t>
            </a:r>
          </a:p>
          <a:p xmlns:a="http://schemas.openxmlformats.org/drawingml/2006/main">
            <a:r>
              <a:t>    ],</a:t>
            </a:r>
          </a:p>
          <a:p xmlns:a="http://schemas.openxmlformats.org/drawingml/2006/main">
            <a:r>
              <a:t>    "risks": [</a:t>
            </a:r>
          </a:p>
          <a:p xmlns:a="http://schemas.openxmlformats.org/drawingml/2006/main">
            <a:r>
              <a:t>      "위험 발화의 오해·미탐 가능성",</a:t>
            </a:r>
          </a:p>
          <a:p xmlns:a="http://schemas.openxmlformats.org/drawingml/2006/main">
            <a:r>
              <a:t>      "대화 종료와 실제 복지 조치의 혼동"</a:t>
            </a:r>
          </a:p>
          <a:p xmlns:a="http://schemas.openxmlformats.org/drawingml/2006/main">
            <a:r>
              <a:t>    ],</a:t>
            </a:r>
          </a:p>
          <a:p xmlns:a="http://schemas.openxmlformats.org/drawingml/2006/main">
            <a:r>
              <a:t>    "architecture": [</a:t>
            </a:r>
          </a:p>
          <a:p xmlns:a="http://schemas.openxmlformats.org/drawingml/2006/main">
            <a:r>
              <a:t>      "안부전화",</a:t>
            </a:r>
          </a:p>
          <a:p xmlns:a="http://schemas.openxmlformats.org/drawingml/2006/main">
            <a:r>
              <a:t>      "대화·내역 분석",</a:t>
            </a:r>
          </a:p>
          <a:p xmlns:a="http://schemas.openxmlformats.org/drawingml/2006/main">
            <a:r>
              <a:t>      "대화·후속 대응 기록",</a:t>
            </a:r>
          </a:p>
          <a:p xmlns:a="http://schemas.openxmlformats.org/drawingml/2006/main">
            <a:r>
              <a:t>      "복지 담당자"</a:t>
            </a:r>
          </a:p>
          <a:p xmlns:a="http://schemas.openxmlformats.org/drawingml/2006/main">
            <a:r>
              <a:t>    ],</a:t>
            </a:r>
          </a:p>
          <a:p xmlns:a="http://schemas.openxmlformats.org/drawingml/2006/main">
            <a:r>
              <a:t>    "transfers": [</a:t>
            </a:r>
          </a:p>
          <a:p xmlns:a="http://schemas.openxmlformats.org/drawingml/2006/main">
            <a:r>
              <a:t>      "동의받은 발화",</a:t>
            </a:r>
          </a:p>
          <a:p xmlns:a="http://schemas.openxmlformats.org/drawingml/2006/main">
            <a:r>
              <a:t>      "상황 요약",</a:t>
            </a:r>
          </a:p>
          <a:p xmlns:a="http://schemas.openxmlformats.org/drawingml/2006/main">
            <a:r>
              <a:t>      "확인 필요 대상",</a:t>
            </a:r>
          </a:p>
          <a:p xmlns:a="http://schemas.openxmlformats.org/drawingml/2006/main">
            <a:r>
              <a:t>      "담당자 대응 기록"</a:t>
            </a:r>
          </a:p>
          <a:p xmlns:a="http://schemas.openxmlformats.org/drawingml/2006/main">
            <a:r>
              <a:t>    ],</a:t>
            </a:r>
          </a:p>
          <a:p xmlns:a="http://schemas.openxmlformats.org/drawingml/2006/main">
            <a:r>
              <a:t>    "control": "위험 신호의 사람 확인·상담 인계",</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NAVER · CareCall 이해관계자 연구 https://clova.ai/tech-blog/ko-clova-%EC%BC%80%EC%96%B4%EC%BD%9C-%EC%97%B0%EA%B5%AC-%EB%85%BC%EB%AC%B8-%EC%86%8C%EA%B0%9C-%EC%B4%88%EA%B1%B0%EB%8C%80-%EC%9D%B8%EA%B3%B5%EC%A7%80%EB%8A%A5-%EA%B8%B0%EB%B0%98-%EC%B1%97%EB%B4%87</a:t>
            </a:r>
          </a:p>
          <a:p xmlns:a="http://schemas.openxmlformats.org/drawingml/2006/main">
            <a:r>
              <a:t>홈페이지 https://heen1987-ops.github.io/TS-business-Plan-001/index.html?view=casebook&amp;case=AX02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"AX02",</a:t>
            </a:r>
          </a:p>
          <a:p xmlns:a="http://schemas.openxmlformats.org/drawingml/2006/main">
            <a:r>
              <a:t>    "title": "CLOVA CareCall",</a:t>
            </a:r>
          </a:p>
          <a:p xmlns:a="http://schemas.openxmlformats.org/drawingml/2006/main">
            <a:r>
              <a:t>    "region": "국내",</a:t>
            </a:r>
          </a:p>
          <a:p xmlns:a="http://schemas.openxmlformats.org/drawingml/2006/main">
            <a:r>
              <a:t>    "country": "대한민국",</a:t>
            </a:r>
          </a:p>
          <a:p xmlns:a="http://schemas.openxmlformats.org/drawingml/2006/main">
            <a:r>
              <a:t>    "result": "혼합",</a:t>
            </a:r>
          </a:p>
          <a:p xmlns:a="http://schemas.openxmlformats.org/drawingml/2006/main">
            <a:r>
              <a:t>    "kind": "음성·LLM 돌봄 서비스",</a:t>
            </a:r>
          </a:p>
          <a:p xmlns:a="http://schemas.openxmlformats.org/drawingml/2006/main">
            <a:r>
              <a:t>    "period": "CHI 2023 / 2024 소개",</a:t>
            </a:r>
          </a:p>
          <a:p xmlns:a="http://schemas.openxmlformats.org/drawingml/2006/main">
            <a:r>
              <a:t>    "sources": [</a:t>
            </a:r>
          </a:p>
          <a:p xmlns:a="http://schemas.openxmlformats.org/drawingml/2006/main">
            <a:r>
              <a:t>      "S02"</a:t>
            </a:r>
          </a:p>
          <a:p xmlns:a="http://schemas.openxmlformats.org/drawingml/2006/main">
            <a:r>
              <a:t>    ],</a:t>
            </a:r>
          </a:p>
          <a:p xmlns:a="http://schemas.openxmlformats.org/drawingml/2006/main">
            <a:r>
              <a:t>    "keywords": [</a:t>
            </a:r>
          </a:p>
          <a:p xmlns:a="http://schemas.openxmlformats.org/drawingml/2006/main">
            <a:r>
              <a:t>      "음성",</a:t>
            </a:r>
          </a:p>
          <a:p xmlns:a="http://schemas.openxmlformats.org/drawingml/2006/main">
            <a:r>
              <a:t>      "정보약자",</a:t>
            </a:r>
          </a:p>
          <a:p xmlns:a="http://schemas.openxmlformats.org/drawingml/2006/main">
            <a:r>
              <a:t>      "맞춤 서비스",</a:t>
            </a:r>
          </a:p>
          <a:p xmlns:a="http://schemas.openxmlformats.org/drawingml/2006/main">
            <a:r>
              <a:t>      "인간 개입"</a:t>
            </a:r>
          </a:p>
          <a:p xmlns:a="http://schemas.openxmlformats.org/drawingml/2006/main">
            <a:r>
              <a:t>    ],</a:t>
            </a:r>
          </a:p>
          <a:p xmlns:a="http://schemas.openxmlformats.org/drawingml/2006/main">
            <a:r>
              <a:t>    "fact": "안부전화와 복지 담당자 후속 대응의 결합; 인터뷰에서 업무 부담 완화와 사용자 이해의 이점 보고",</a:t>
            </a:r>
          </a:p>
          <a:p xmlns:a="http://schemas.openxmlformats.org/drawingml/2006/main">
            <a:r>
              <a:t>    "limit": "소규모 질적 연구 · 부적절 발화 통제와 지자체별 요구 반영의 난점 · 임상 효과 근거 아님",</a:t>
            </a:r>
          </a:p>
          <a:p xmlns:a="http://schemas.openxmlformats.org/drawingml/2006/main">
            <a:r>
              <a:t>    "flow": [</a:t>
            </a:r>
          </a:p>
          <a:p xmlns:a="http://schemas.openxmlformats.org/drawingml/2006/main">
            <a:r>
              <a:t>      "안부전화",</a:t>
            </a:r>
          </a:p>
          <a:p xmlns:a="http://schemas.openxmlformats.org/drawingml/2006/main">
            <a:r>
              <a:t>      "LLM 대화",</a:t>
            </a:r>
          </a:p>
          <a:p xmlns:a="http://schemas.openxmlformats.org/drawingml/2006/main">
            <a:r>
              <a:t>      "내역 열람·분석",</a:t>
            </a:r>
          </a:p>
          <a:p xmlns:a="http://schemas.openxmlformats.org/drawingml/2006/main">
            <a:r>
              <a:t>      "복지 담당자 대응"</a:t>
            </a:r>
          </a:p>
          <a:p xmlns:a="http://schemas.openxmlformats.org/drawingml/2006/main">
            <a:r>
              <a:t>    ],</a:t>
            </a:r>
          </a:p>
          <a:p xmlns:a="http://schemas.openxmlformats.org/drawingml/2006/main">
            <a:r>
              <a:t>    "flowBasis": "개발사 공개 서비스 구조 요약",</a:t>
            </a:r>
          </a:p>
          <a:p xmlns:a="http://schemas.openxmlformats.org/drawingml/2006/main">
            <a:r>
              <a:t>    "lesson": "자유 발화와 필수 업무 항목의 분리 및 사람에게 연결되는 경로",</a:t>
            </a:r>
          </a:p>
          <a:p xmlns:a="http://schemas.openxmlformats.org/drawingml/2006/main">
            <a:r>
              <a:t>    "local": "TS 민원 발화를 요약한 뒤 신청 목적·대상·지역의 사용자 확인",</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"한국어 음성 연계 / 발화 정리 / 필수 항목 검증 / 상담 전환",</a:t>
            </a:r>
          </a:p>
          <a:p xmlns:a="http://schemas.openxmlformats.org/drawingml/2006/main">
            <a:r>
              <a:t>    "test": "고령·소음·방언 표본의 필수 항목 정확도 및 상담 전환 성공률",</a:t>
            </a:r>
          </a:p>
          <a:p xmlns:a="http://schemas.openxmlformats.org/drawingml/2006/main">
            <a:r>
              <a:t>    "metric": "서비스 도달률 / 발화 재입력률 / 집단별 완료시간"</a:t>
            </a:r>
          </a:p>
          <a:p xmlns:a="http://schemas.openxmlformats.org/drawingml/2006/main">
            <a:r>
              <a:t>  },</a:t>
            </a:r>
          </a:p>
          <a:p xmlns:a="http://schemas.openxmlformats.org/drawingml/2006/main">
            <a:r>
              <a:t>  "design": {</a:t>
            </a:r>
          </a:p>
          <a:p xmlns:a="http://schemas.openxmlformats.org/drawingml/2006/main">
            <a:r>
              <a:t>    "id": "AX02",</a:t>
            </a:r>
          </a:p>
          <a:p xmlns:a="http://schemas.openxmlformats.org/drawingml/2006/main">
            <a:r>
              <a:t>    "canonicalId": "AX02",</a:t>
            </a:r>
          </a:p>
          <a:p xmlns:a="http://schemas.openxmlformats.org/drawingml/2006/main">
            <a:r>
              <a:t>    "purpose": "안부전화 이후 필요한 복지 조치의 연결",</a:t>
            </a:r>
          </a:p>
          <a:p xmlns:a="http://schemas.openxmlformats.org/drawingml/2006/main">
            <a:r>
              <a:t>    "users": "돌봄 대상자·복지 담당자",</a:t>
            </a:r>
          </a:p>
          <a:p xmlns:a="http://schemas.openxmlformats.org/drawingml/2006/main">
            <a:r>
              <a:t>    "scope": [</a:t>
            </a:r>
          </a:p>
          <a:p xmlns:a="http://schemas.openxmlformats.org/drawingml/2006/main">
            <a:r>
              <a:t>      "자유 발화",</a:t>
            </a:r>
          </a:p>
          <a:p xmlns:a="http://schemas.openxmlformats.org/drawingml/2006/main">
            <a:r>
              <a:t>      "상황 요약",</a:t>
            </a:r>
          </a:p>
          <a:p xmlns:a="http://schemas.openxmlformats.org/drawingml/2006/main">
            <a:r>
              <a:t>      "후속 대응"</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"안부전화",</a:t>
            </a:r>
          </a:p>
          <a:p xmlns:a="http://schemas.openxmlformats.org/drawingml/2006/main">
            <a:r>
              <a:t>        "detail": "전화 대상·대화 문맥의 구분",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"자유 발화 / 상황 요약 / 후속 대응",</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"대화·내역 분석",</a:t>
            </a:r>
          </a:p>
          <a:p xmlns:a="http://schemas.openxmlformats.org/drawingml/2006/main">
            <a:r>
              <a:t>        "detail": "음성 대화에서 상태와 확인 필요 내용 정리",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"복지 담당자",</a:t>
            </a:r>
          </a:p>
          <a:p xmlns:a="http://schemas.openxmlformats.org/drawingml/2006/main">
            <a:r>
              <a:t>        "detail": "담당자에게 상황 요약·확인 대상을 인계",</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"대화·후속 대응 기록",</a:t>
            </a:r>
          </a:p>
          <a:p xmlns:a="http://schemas.openxmlformats.org/drawingml/2006/main">
            <a:r>
              <a:t>        "detail": "동의 범위 내 대화와 과거 대응 기록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"오인식·부적절 발화와 실제 대응 결과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"안부전화",</a:t>
            </a:r>
          </a:p>
          <a:p xmlns:a="http://schemas.openxmlformats.org/drawingml/2006/main">
            <a:r>
              <a:t>        "input": "전화 대상·대화 문맥의 구분",</a:t>
            </a:r>
          </a:p>
          <a:p xmlns:a="http://schemas.openxmlformats.org/drawingml/2006/main">
            <a:r>
              <a:t>        "process": "동의 범위 내 대화와 과거 대응 기록 구성",</a:t>
            </a:r>
          </a:p>
          <a:p xmlns:a="http://schemas.openxmlformats.org/drawingml/2006/main">
            <a:r>
              <a:t>        "output": "동의받은 발화"</a:t>
            </a:r>
          </a:p>
          <a:p xmlns:a="http://schemas.openxmlformats.org/drawingml/2006/main">
            <a:r>
              <a:t>      },</a:t>
            </a:r>
          </a:p>
          <a:p xmlns:a="http://schemas.openxmlformats.org/drawingml/2006/main">
            <a:r>
              <a:t>      {</a:t>
            </a:r>
          </a:p>
          <a:p xmlns:a="http://schemas.openxmlformats.org/drawingml/2006/main">
            <a:r>
              <a:t>        "title": "LLM 대화",</a:t>
            </a:r>
          </a:p>
          <a:p xmlns:a="http://schemas.openxmlformats.org/drawingml/2006/main">
            <a:r>
              <a:t>        "input": "동의받은 발화",</a:t>
            </a:r>
          </a:p>
          <a:p xmlns:a="http://schemas.openxmlformats.org/drawingml/2006/main">
            <a:r>
              <a:t>        "process": "음성 대화에서 상태와 확인 필요 내용 정리",</a:t>
            </a:r>
          </a:p>
          <a:p xmlns:a="http://schemas.openxmlformats.org/drawingml/2006/main">
            <a:r>
              <a:t>        "output": "상황 요약"</a:t>
            </a:r>
          </a:p>
          <a:p xmlns:a="http://schemas.openxmlformats.org/drawingml/2006/main">
            <a:r>
              <a:t>      },</a:t>
            </a:r>
          </a:p>
          <a:p xmlns:a="http://schemas.openxmlformats.org/drawingml/2006/main">
            <a:r>
              <a:t>      {</a:t>
            </a:r>
          </a:p>
          <a:p xmlns:a="http://schemas.openxmlformats.org/drawingml/2006/main">
            <a:r>
              <a:t>        "title": "내역 열람·분석",</a:t>
            </a:r>
          </a:p>
          <a:p xmlns:a="http://schemas.openxmlformats.org/drawingml/2006/main">
            <a:r>
              <a:t>        "input": "상황 요약",</a:t>
            </a:r>
          </a:p>
          <a:p xmlns:a="http://schemas.openxmlformats.org/drawingml/2006/main">
            <a:r>
              <a:t>        "process": "위험 신호의 사람 확인·상담 인계",</a:t>
            </a:r>
          </a:p>
          <a:p xmlns:a="http://schemas.openxmlformats.org/drawingml/2006/main">
            <a:r>
              <a:t>        "output": "확인 필요 대상"</a:t>
            </a:r>
          </a:p>
          <a:p xmlns:a="http://schemas.openxmlformats.org/drawingml/2006/main">
            <a:r>
              <a:t>      },</a:t>
            </a:r>
          </a:p>
          <a:p xmlns:a="http://schemas.openxmlformats.org/drawingml/2006/main">
            <a:r>
              <a:t>      {</a:t>
            </a:r>
          </a:p>
          <a:p xmlns:a="http://schemas.openxmlformats.org/drawingml/2006/main">
            <a:r>
              <a:t>        "title": "복지 담당자 대응",</a:t>
            </a:r>
          </a:p>
          <a:p xmlns:a="http://schemas.openxmlformats.org/drawingml/2006/main">
            <a:r>
              <a:t>        "input": "확인 필요 대상",</a:t>
            </a:r>
          </a:p>
          <a:p xmlns:a="http://schemas.openxmlformats.org/drawingml/2006/main">
            <a:r>
              <a:t>        "process": "담당자에게 상황 요약·확인 대상을 인계",</a:t>
            </a:r>
          </a:p>
          <a:p xmlns:a="http://schemas.openxmlformats.org/drawingml/2006/main">
            <a:r>
              <a:t>        "output": "담당자 대응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"통화에서 식사·수면·불편 사항을 파악하고 담당자가 후속 확인",</a:t>
            </a:r>
          </a:p>
          <a:p xmlns:a="http://schemas.openxmlformats.org/drawingml/2006/main">
            <a:r>
              <a:t>      "exception": "방언·침묵·통화 중단·위험 발화의 부정문",</a:t>
            </a:r>
          </a:p>
          <a:p xmlns:a="http://schemas.openxmlformats.org/drawingml/2006/main">
            <a:r>
              <a:t>      "evidence": "원 발화 대비 상태·위험 신호 추출표와 상담 인계 수신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"돌봄 대상자·복지 담당자",</a:t>
            </a:r>
          </a:p>
          <a:p xmlns:a="http://schemas.openxmlformats.org/drawingml/2006/main">
            <a:r>
              <a:t>          "processing": "전화 대상·대화 문맥의 구분",</a:t>
            </a:r>
          </a:p>
          <a:p xmlns:a="http://schemas.openxmlformats.org/drawingml/2006/main">
            <a:r>
              <a:t>          "output": "동의받은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"대화·후속 대응 기록",</a:t>
            </a:r>
          </a:p>
          <a:p xmlns:a="http://schemas.openxmlformats.org/drawingml/2006/main">
            <a:r>
              <a:t>          "processing": "동의 범위 내 대화와 과거 대응 기록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"동의받은 발화",</a:t>
            </a:r>
          </a:p>
          <a:p xmlns:a="http://schemas.openxmlformats.org/drawingml/2006/main">
            <a:r>
              <a:t>          "processing": "음성 대화에서 상태와 확인 필요 내용 정리",</a:t>
            </a:r>
          </a:p>
          <a:p xmlns:a="http://schemas.openxmlformats.org/drawingml/2006/main">
            <a:r>
              <a:t>          "output": "확인 필요 대상"</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"확인 필요 대상",</a:t>
            </a:r>
          </a:p>
          <a:p xmlns:a="http://schemas.openxmlformats.org/drawingml/2006/main">
            <a:r>
              <a:t>          "processing": "담당자에게 상황 요약·확인 대상을 인계",</a:t>
            </a:r>
          </a:p>
          <a:p xmlns:a="http://schemas.openxmlformats.org/drawingml/2006/main">
            <a:r>
              <a:t>          "output": "담당자 대응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"오인식·부적절 발화와 실제 대응 결과 검토",</a:t>
            </a:r>
          </a:p>
          <a:p xmlns:a="http://schemas.openxmlformats.org/drawingml/2006/main">
            <a:r>
              <a:t>          "output":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"오인식·부적절 발화와 실제 대응 결과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"S02",</a:t>
            </a:r>
          </a:p>
          <a:p xmlns:a="http://schemas.openxmlformats.org/drawingml/2006/main">
            <a:r>
              <a:t>        "title": "NAVER · CareCall 이해관계자 연구",</a:t>
            </a:r>
          </a:p>
          <a:p xmlns:a="http://schemas.openxmlformats.org/drawingml/2006/main">
            <a:r>
              <a:t>        "url": "https://clova.ai/tech-blog/ko-clova-%EC%BC%80%EC%96%B4%EC%BD%9C-%EC%97%B0%EA%B5%AC-%EB%85%BC%EB%AC%B8-%EC%86%8C%EA%B0%9C-%EC%B4%88%EA%B1%B0%EB%8C%80-%EC%9D%B8%EA%B3%B5%EC%A7%80%EB%8A%A5-%EA%B8%B0%EB%B0%98-%EC%B1%97%EB%B4%87",</a:t>
            </a:r>
          </a:p>
          <a:p xmlns:a="http://schemas.openxmlformats.org/drawingml/2006/main">
            <a:r>
              <a:t>        "published": "2024-08-07",</a:t>
            </a:r>
          </a:p>
          <a:p xmlns:a="http://schemas.openxmlformats.org/drawingml/2006/main">
            <a:r>
              <a:t>        "level": "개발사 연구 요약 / CHI 2023",</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"자유 발화와 필수 업무 항목의 분리 및 사람에게 연결되는 경로",</a:t>
            </a:r>
          </a:p>
          <a:p xmlns:a="http://schemas.openxmlformats.org/drawingml/2006/main">
            <a:r>
              <a:t>    "local": "TS 민원 발화를 요약한 뒤 신청 목적·대상·지역의 사용자 확인",</a:t>
            </a:r>
          </a:p>
          <a:p xmlns:a="http://schemas.openxmlformats.org/drawingml/2006/main">
            <a:r>
              <a:t>    "sourceDetail": null,</a:t>
            </a:r>
          </a:p>
          <a:p xmlns:a="http://schemas.openxmlformats.org/drawingml/2006/main">
            <a:r>
              <a:t>    "narrative": [</a:t>
            </a:r>
          </a:p>
          <a:p xmlns:a="http://schemas.openxmlformats.org/drawingml/2006/main">
            <a:r>
              <a:t>      "자유 발화 중심의 안부전화와 복지 담당자의 후속 대응을 결합한 서비스. 통화 자체의 자동화보다 대상자의 상황을 파악해 필요한 확인·방문 업무로 인계하는 연결이 핵심.",</a:t>
            </a:r>
          </a:p>
          <a:p xmlns:a="http://schemas.openxmlformats.org/drawingml/2006/main">
            <a:r>
              <a:t>      "음성 대화 기록에서 상태와 확인할 내용을 정리하고 담당자가 대응 여부를 검토하는 흐름. TS 적용 설계에서는 민원 발화를 신청 목적·대상·지역 등 필수 항목으로 정리한 뒤 사용자 확인과 상담원 인계를 구성.",</a:t>
            </a:r>
          </a:p>
          <a:p xmlns:a="http://schemas.openxmlformats.org/drawingml/2006/main">
            <a:r>
              <a:t>      "인터뷰에서 보고된 부담 완화와 임상·복지 성과의 구분. 소음·방언·고령 발화의 인식 오류, 위험 신호의 미탐, 상담원이 실제 인계받았는지를 별도로 측정할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"안부전화 접점",</a:t>
            </a:r>
          </a:p>
          <a:p xmlns:a="http://schemas.openxmlformats.org/drawingml/2006/main">
            <a:r>
              <a:t>          "layer": "이용 접점",</a:t>
            </a:r>
          </a:p>
          <a:p xmlns:a="http://schemas.openxmlformats.org/drawingml/2006/main">
            <a:r>
              <a:t>          "detail": "돌봄 대상자·복지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"대상·대화 맥락",</a:t>
            </a:r>
          </a:p>
          <a:p xmlns:a="http://schemas.openxmlformats.org/drawingml/2006/main">
            <a:r>
              <a:t>          "layer": "업무 문맥",</a:t>
            </a:r>
          </a:p>
          <a:p xmlns:a="http://schemas.openxmlformats.org/drawingml/2006/main">
            <a:r>
              <a:t>          "detail": "전화 대상·대화 문맥의 구분",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"이전 대응 조회",</a:t>
            </a:r>
          </a:p>
          <a:p xmlns:a="http://schemas.openxmlformats.org/drawingml/2006/main">
            <a:r>
              <a:t>          "layer": "자료 조회",</a:t>
            </a:r>
          </a:p>
          <a:p xmlns:a="http://schemas.openxmlformats.org/drawingml/2006/main">
            <a:r>
              <a:t>          "detail": "동의받은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"대화·상태 요약",</a:t>
            </a:r>
          </a:p>
          <a:p xmlns:a="http://schemas.openxmlformats.org/drawingml/2006/main">
            <a:r>
              <a:t>          "layer": "핵심 처리",</a:t>
            </a:r>
          </a:p>
          <a:p xmlns:a="http://schemas.openxmlformats.org/drawingml/2006/main">
            <a:r>
              <a:t>          "detail": "음성 대화에서 상태와 확인 필요 내용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"위험 발화 확인",</a:t>
            </a:r>
          </a:p>
          <a:p xmlns:a="http://schemas.openxmlformats.org/drawingml/2006/main">
            <a:r>
              <a:t>          "layer": "결과 검증",</a:t>
            </a:r>
          </a:p>
          <a:p xmlns:a="http://schemas.openxmlformats.org/drawingml/2006/main">
            <a:r>
              <a:t>          "detail": "위험 신호의 사람 확인·상담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"복지 담당 확인",</a:t>
            </a:r>
          </a:p>
          <a:p xmlns:a="http://schemas.openxmlformats.org/drawingml/2006/main">
            <a:r>
              <a:t>          "layer": "사람 확인",</a:t>
            </a:r>
          </a:p>
          <a:p xmlns:a="http://schemas.openxmlformats.org/drawingml/2006/main">
            <a:r>
              <a:t>          "detail": "통화에서 식사·수면·불편 사항을 파악하고 담당자가 후속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"상담·방문 인계",</a:t>
            </a:r>
          </a:p>
          <a:p xmlns:a="http://schemas.openxmlformats.org/drawingml/2006/main">
            <a:r>
              <a:t>          "layer": "업무 연결",</a:t>
            </a:r>
          </a:p>
          <a:p xmlns:a="http://schemas.openxmlformats.org/drawingml/2006/main">
            <a:r>
              <a:t>          "detail": "담당자에게 상황 요약·확인 대상을 인계",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"조치 완료 추적",</a:t>
            </a:r>
          </a:p>
          <a:p xmlns:a="http://schemas.openxmlformats.org/drawingml/2006/main">
            <a:r>
              <a:t>          "layer": "운영 관측",</a:t>
            </a:r>
          </a:p>
          <a:p xmlns:a="http://schemas.openxmlformats.org/drawingml/2006/main">
            <a:r>
              <a:t>          "detail": "오인식·부적절 발화와 실제 대응 결과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"동의받은 대화",</a:t>
            </a:r>
          </a:p>
          <a:p xmlns:a="http://schemas.openxmlformats.org/drawingml/2006/main">
            <a:r>
              <a:t>          "layer": "데이터 원천",</a:t>
            </a:r>
          </a:p>
          <a:p xmlns:a="http://schemas.openxmlformats.org/drawingml/2006/main">
            <a:r>
              <a:t>          "detail": "대화·후속 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"민감 발화 분리",</a:t>
            </a:r>
          </a:p>
          <a:p xmlns:a="http://schemas.openxmlformats.org/drawingml/2006/main">
            <a:r>
              <a:t>          "layer": "준비·갱신",</a:t>
            </a:r>
          </a:p>
          <a:p xmlns:a="http://schemas.openxmlformats.org/drawingml/2006/main">
            <a:r>
              <a:t>          "detail": "동의 범위 내 대화와 과거 대응 기록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"대화·대응 이력",</a:t>
            </a:r>
          </a:p>
          <a:p xmlns:a="http://schemas.openxmlformats.org/drawingml/2006/main">
            <a:r>
              <a:t>          "layer": "상태·지식 저장",</a:t>
            </a:r>
          </a:p>
          <a:p xmlns:a="http://schemas.openxmlformats.org/drawingml/2006/main">
            <a:r>
              <a:t>          "detail": "원 발화 대비 상태·위험 신호 추출표와 상담 인계 수신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"동의·열람정책",</a:t>
            </a:r>
          </a:p>
          <a:p xmlns:a="http://schemas.openxmlformats.org/drawingml/2006/main">
            <a:r>
              <a:t>          "layer": "권한·정책",</a:t>
            </a:r>
          </a:p>
          <a:p xmlns:a="http://schemas.openxmlformats.org/drawingml/2006/main">
            <a:r>
              <a:t>          "detail": "방언·침묵·통화 중단·위험 발화의 부정문",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"안부전화 → LLM 대화 → 내역 열람·분석 → 복지 담당자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"전화 대상·대화 문맥의 구분",</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"동의받은 발화",</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"대화·후속 대응 기록",</a:t>
            </a:r>
          </a:p>
          <a:p xmlns:a="http://schemas.openxmlformats.org/drawingml/2006/main">
            <a:r>
              <a:t>          "check": "동의 범위 내 대화와 과거 대응 기록 구성"</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"확인 필요 대상",</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"담당자 대응 기록",</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"담당자 대응 기록",</a:t>
            </a:r>
          </a:p>
          <a:p xmlns:a="http://schemas.openxmlformats.org/drawingml/2006/main">
            <a:r>
              <a:t>          "check": "원 발화 대비 상태·위험 신호 추출표와 상담 인계 수신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"안부전화 이후 필요한 복지 조치의 연결 / 자유 발화·상황 요약·후속 대응",</a:t>
            </a:r>
          </a:p>
          <a:p xmlns:a="http://schemas.openxmlformats.org/drawingml/2006/main">
            <a:r>
              <a:t>        "extension": "TS 민원 발화를 요약한 뒤 신청 목적·대상·지역의 사용자 확인"</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"방언·침묵·통화 중단·위험 발화의 부정문",</a:t>
            </a:r>
          </a:p>
          <a:p xmlns:a="http://schemas.openxmlformats.org/drawingml/2006/main">
            <a:r>
              <a:t>        "hold": "위험 신호의 사람 확인·상담 인계",</a:t>
            </a:r>
          </a:p>
          <a:p xmlns:a="http://schemas.openxmlformats.org/drawingml/2006/main">
            <a:r>
              <a:t>        "recovery": "오인식·부적절 발화와 실제 대응 결과 검토",</a:t>
            </a:r>
          </a:p>
          <a:p xmlns:a="http://schemas.openxmlformats.org/drawingml/2006/main">
            <a:r>
              <a:t>        "evidence": "원 발화 대비 상태·위험 신호 추출표와 상담 인계 수신 기록"</a:t>
            </a:r>
          </a:p>
          <a:p xmlns:a="http://schemas.openxmlformats.org/drawingml/2006/main">
            <a:r>
              <a:t>      },</a:t>
            </a:r>
          </a:p>
          <a:p xmlns:a="http://schemas.openxmlformats.org/drawingml/2006/main">
            <a:r>
              <a:t>      "data": {</a:t>
            </a:r>
          </a:p>
          <a:p xmlns:a="http://schemas.openxmlformats.org/drawingml/2006/main">
            <a:r>
              <a:t>        "source": "대화·후속 대응 기록",</a:t>
            </a:r>
          </a:p>
          <a:p xmlns:a="http://schemas.openxmlformats.org/drawingml/2006/main">
            <a:r>
              <a:t>        "prepare": "동의 범위 내 대화와 과거 대응 기록 구성",</a:t>
            </a:r>
          </a:p>
          <a:p xmlns:a="http://schemas.openxmlformats.org/drawingml/2006/main">
            <a:r>
              <a:t>        "output": "동의받은 발화",</a:t>
            </a:r>
          </a:p>
          <a:p xmlns:a="http://schemas.openxmlformats.org/drawingml/2006/main">
            <a:r>
              <a:t>        "refresh": "오인식·부적절 발화와 실제 대응 결과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"AX02",</a:t>
            </a:r>
          </a:p>
          <a:p xmlns:a="http://schemas.openxmlformats.org/drawingml/2006/main">
            <a:r>
              <a:t>    "success": [</a:t>
            </a:r>
          </a:p>
          <a:p xmlns:a="http://schemas.openxmlformats.org/drawingml/2006/main">
            <a:r>
              <a:t>      "전화 접점과 담당자 후속 대응의 결합",</a:t>
            </a:r>
          </a:p>
          <a:p xmlns:a="http://schemas.openxmlformats.org/drawingml/2006/main">
            <a:r>
              <a:t>      "이용자 상황을 반영한 대화"</a:t>
            </a:r>
          </a:p>
          <a:p xmlns:a="http://schemas.openxmlformats.org/drawingml/2006/main">
            <a:r>
              <a:t>    ],</a:t>
            </a:r>
          </a:p>
          <a:p xmlns:a="http://schemas.openxmlformats.org/drawingml/2006/main">
            <a:r>
              <a:t>    "risks": [</a:t>
            </a:r>
          </a:p>
          <a:p xmlns:a="http://schemas.openxmlformats.org/drawingml/2006/main">
            <a:r>
              <a:t>      "위험 발화의 오해·미탐 가능성",</a:t>
            </a:r>
          </a:p>
          <a:p xmlns:a="http://schemas.openxmlformats.org/drawingml/2006/main">
            <a:r>
              <a:t>      "대화 종료와 실제 복지 조치의 혼동"</a:t>
            </a:r>
          </a:p>
          <a:p xmlns:a="http://schemas.openxmlformats.org/drawingml/2006/main">
            <a:r>
              <a:t>    ],</a:t>
            </a:r>
          </a:p>
          <a:p xmlns:a="http://schemas.openxmlformats.org/drawingml/2006/main">
            <a:r>
              <a:t>    "architecture": [</a:t>
            </a:r>
          </a:p>
          <a:p xmlns:a="http://schemas.openxmlformats.org/drawingml/2006/main">
            <a:r>
              <a:t>      "안부전화",</a:t>
            </a:r>
          </a:p>
          <a:p xmlns:a="http://schemas.openxmlformats.org/drawingml/2006/main">
            <a:r>
              <a:t>      "대화·내역 분석",</a:t>
            </a:r>
          </a:p>
          <a:p xmlns:a="http://schemas.openxmlformats.org/drawingml/2006/main">
            <a:r>
              <a:t>      "대화·후속 대응 기록",</a:t>
            </a:r>
          </a:p>
          <a:p xmlns:a="http://schemas.openxmlformats.org/drawingml/2006/main">
            <a:r>
              <a:t>      "복지 담당자"</a:t>
            </a:r>
          </a:p>
          <a:p xmlns:a="http://schemas.openxmlformats.org/drawingml/2006/main">
            <a:r>
              <a:t>    ],</a:t>
            </a:r>
          </a:p>
          <a:p xmlns:a="http://schemas.openxmlformats.org/drawingml/2006/main">
            <a:r>
              <a:t>    "transfers": [</a:t>
            </a:r>
          </a:p>
          <a:p xmlns:a="http://schemas.openxmlformats.org/drawingml/2006/main">
            <a:r>
              <a:t>      "동의받은 발화",</a:t>
            </a:r>
          </a:p>
          <a:p xmlns:a="http://schemas.openxmlformats.org/drawingml/2006/main">
            <a:r>
              <a:t>      "상황 요약",</a:t>
            </a:r>
          </a:p>
          <a:p xmlns:a="http://schemas.openxmlformats.org/drawingml/2006/main">
            <a:r>
              <a:t>      "확인 필요 대상",</a:t>
            </a:r>
          </a:p>
          <a:p xmlns:a="http://schemas.openxmlformats.org/drawingml/2006/main">
            <a:r>
              <a:t>      "담당자 대응 기록"</a:t>
            </a:r>
          </a:p>
          <a:p xmlns:a="http://schemas.openxmlformats.org/drawingml/2006/main">
            <a:r>
              <a:t>    ],</a:t>
            </a:r>
          </a:p>
          <a:p xmlns:a="http://schemas.openxmlformats.org/drawingml/2006/main">
            <a:r>
              <a:t>    "control": "위험 신호의 사람 확인·상담 인계",</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NAVER · CareCall 이해관계자 연구 https://clova.ai/tech-blog/ko-clova-%EC%BC%80%EC%96%B4%EC%BD%9C-%EC%97%B0%EA%B5%AC-%EB%85%BC%EB%AC%B8-%EC%86%8C%EA%B0%9C-%EC%B4%88%EA%B1%B0%EB%8C%80-%EC%9D%B8%EA%B3%B5%EC%A7%80%EB%8A%A5-%EA%B8%B0%EB%B0%98-%EC%B1%97%EB%B4%87</a:t>
            </a:r>
          </a:p>
          <a:p xmlns:a="http://schemas.openxmlformats.org/drawingml/2006/main">
            <a:r>
              <a:t>홈페이지 https://heen1987-ops.github.io/TS-business-Plan-001/index.html?view=casebook&amp;case=AX02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"AX03",</a:t>
            </a:r>
          </a:p>
          <a:p xmlns:a="http://schemas.openxmlformats.org/drawingml/2006/main">
            <a:r>
              <a:t>    "title": "이루다 개인정보 처리",</a:t>
            </a:r>
          </a:p>
          <a:p xmlns:a="http://schemas.openxmlformats.org/drawingml/2006/main">
            <a:r>
              <a:t>    "region": "국내",</a:t>
            </a:r>
          </a:p>
          <a:p xmlns:a="http://schemas.openxmlformats.org/drawingml/2006/main">
            <a:r>
              <a:t>    "country": "대한민국",</a:t>
            </a:r>
          </a:p>
          <a:p xmlns:a="http://schemas.openxmlformats.org/drawingml/2006/main">
            <a:r>
              <a:t>    "result": "실패",</a:t>
            </a:r>
          </a:p>
          <a:p xmlns:a="http://schemas.openxmlformats.org/drawingml/2006/main">
            <a:r>
              <a:t>    "kind": "학습·응답 데이터 통제",</a:t>
            </a:r>
          </a:p>
          <a:p xmlns:a="http://schemas.openxmlformats.org/drawingml/2006/main">
            <a:r>
              <a:t>    "period": "2021 조사",</a:t>
            </a:r>
          </a:p>
          <a:p xmlns:a="http://schemas.openxmlformats.org/drawingml/2006/main">
            <a:r>
              <a:t>    "sources": [</a:t>
            </a:r>
          </a:p>
          <a:p xmlns:a="http://schemas.openxmlformats.org/drawingml/2006/main">
            <a:r>
              <a:t>      "S03"</a:t>
            </a:r>
          </a:p>
          <a:p xmlns:a="http://schemas.openxmlformats.org/drawingml/2006/main">
            <a:r>
              <a:t>    ],</a:t>
            </a:r>
          </a:p>
          <a:p xmlns:a="http://schemas.openxmlformats.org/drawingml/2006/main">
            <a:r>
              <a:t>    "keywords": [</a:t>
            </a:r>
          </a:p>
          <a:p xmlns:a="http://schemas.openxmlformats.org/drawingml/2006/main">
            <a:r>
              <a:t>      "개인정보",</a:t>
            </a:r>
          </a:p>
          <a:p xmlns:a="http://schemas.openxmlformats.org/drawingml/2006/main">
            <a:r>
              <a:t>      "목적 제한",</a:t>
            </a:r>
          </a:p>
          <a:p xmlns:a="http://schemas.openxmlformats.org/drawingml/2006/main">
            <a:r>
              <a:t>      "데이터 재사용",</a:t>
            </a:r>
          </a:p>
          <a:p xmlns:a="http://schemas.openxmlformats.org/drawingml/2006/main">
            <a:r>
              <a:t>      "책임"</a:t>
            </a:r>
          </a:p>
          <a:p xmlns:a="http://schemas.openxmlformats.org/drawingml/2006/main">
            <a:r>
              <a:t>    ],</a:t>
            </a:r>
          </a:p>
          <a:p xmlns:a="http://schemas.openxmlformats.org/drawingml/2006/main">
            <a:r>
              <a:t>    "fact": "다른 서비스에서 수집한 대화의 목적 외 학습·운영 이용 등에 대한 개인정보보호위원회 제재",</a:t>
            </a:r>
          </a:p>
          <a:p xmlns:a="http://schemas.openxmlformats.org/drawingml/2006/main">
            <a:r>
              <a:t>    "limit": "2021년 조사 대상 행위 기준 · 후속 서비스 전체에 대한 평가 아님",</a:t>
            </a:r>
          </a:p>
          <a:p xmlns:a="http://schemas.openxmlformats.org/drawingml/2006/main">
            <a:r>
              <a:t>    "flow": [</a:t>
            </a:r>
          </a:p>
          <a:p xmlns:a="http://schemas.openxmlformats.org/drawingml/2006/main">
            <a:r>
              <a:t>      "원 서비스 대화",</a:t>
            </a:r>
          </a:p>
          <a:p xmlns:a="http://schemas.openxmlformats.org/drawingml/2006/main">
            <a:r>
              <a:t>      "목적 외 재사용",</a:t>
            </a:r>
          </a:p>
          <a:p xmlns:a="http://schemas.openxmlformats.org/drawingml/2006/main">
            <a:r>
              <a:t>      "학습·응답 DB",</a:t>
            </a:r>
          </a:p>
          <a:p xmlns:a="http://schemas.openxmlformats.org/drawingml/2006/main">
            <a:r>
              <a:t>      "이루다 발화"</a:t>
            </a:r>
          </a:p>
          <a:p xmlns:a="http://schemas.openxmlformats.org/drawingml/2006/main">
            <a:r>
              <a:t>    ],</a:t>
            </a:r>
          </a:p>
          <a:p xmlns:a="http://schemas.openxmlformats.org/drawingml/2006/main">
            <a:r>
              <a:t>    "flowBasis": "조사에서 확인된 처리 관계 요약 · 내부 구현 상세 미공개",</a:t>
            </a:r>
          </a:p>
          <a:p xmlns:a="http://schemas.openxmlformats.org/drawingml/2006/main">
            <a:r>
              <a:t>    "lesson": "데이터 보유와 AI 활용 권한의 분리",</a:t>
            </a:r>
          </a:p>
          <a:p xmlns:a="http://schemas.openxmlformats.org/drawingml/2006/main">
            <a:r>
              <a:t>    "local": "인사·민원 데이터의 목적·보유기간·접근정책을 별도 속성으로 관리",</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"수집 목적 태그 / 학습·검색·출력별 정책 / 삭제·회수 전파",</a:t>
            </a:r>
          </a:p>
          <a:p xmlns:a="http://schemas.openxmlformats.org/drawingml/2006/main">
            <a:r>
              <a:t>    "test": "목적 외 입력 거부·권한 회수 후 검색 및 캐시 노출 차단",</a:t>
            </a:r>
          </a:p>
          <a:p xmlns:a="http://schemas.openxmlformats.org/drawingml/2006/main">
            <a:r>
              <a:t>    "metric": "필수 거부셋 노출 건수 / 삭제 전파 지연"</a:t>
            </a:r>
          </a:p>
          <a:p xmlns:a="http://schemas.openxmlformats.org/drawingml/2006/main">
            <a:r>
              <a:t>  },</a:t>
            </a:r>
          </a:p>
          <a:p xmlns:a="http://schemas.openxmlformats.org/drawingml/2006/main">
            <a:r>
              <a:t>  "design": {</a:t>
            </a:r>
          </a:p>
          <a:p xmlns:a="http://schemas.openxmlformats.org/drawingml/2006/main">
            <a:r>
              <a:t>    "id": "AX03",</a:t>
            </a:r>
          </a:p>
          <a:p xmlns:a="http://schemas.openxmlformats.org/drawingml/2006/main">
            <a:r>
              <a:t>    "canonicalId": "AX03",</a:t>
            </a:r>
          </a:p>
          <a:p xmlns:a="http://schemas.openxmlformats.org/drawingml/2006/main">
            <a:r>
              <a:t>    "purpose": "대화 데이터의 목적 외 활용 실패 분석",</a:t>
            </a:r>
          </a:p>
          <a:p xmlns:a="http://schemas.openxmlformats.org/drawingml/2006/main">
            <a:r>
              <a:t>    "users": "서비스 이용자·데이터 관리자",</a:t>
            </a:r>
          </a:p>
          <a:p xmlns:a="http://schemas.openxmlformats.org/drawingml/2006/main">
            <a:r>
              <a:t>    "scope": [</a:t>
            </a:r>
          </a:p>
          <a:p xmlns:a="http://schemas.openxmlformats.org/drawingml/2006/main">
            <a:r>
              <a:t>      "수집 목적",</a:t>
            </a:r>
          </a:p>
          <a:p xmlns:a="http://schemas.openxmlformats.org/drawingml/2006/main">
            <a:r>
              <a:t>      "학습·응답 재사용",</a:t>
            </a:r>
          </a:p>
          <a:p xmlns:a="http://schemas.openxmlformats.org/drawingml/2006/main">
            <a:r>
              <a:t>      "삭제·회수"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"원 서비스 대화",</a:t>
            </a:r>
          </a:p>
          <a:p xmlns:a="http://schemas.openxmlformats.org/drawingml/2006/main">
            <a:r>
              <a:t>        "detail": "원 서비스 동의와 재사용 목적의 대조",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"수집 목적 / 학습·응답 재사용 / 삭제·회수",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"학습·응답 처리",</a:t>
            </a:r>
          </a:p>
          <a:p xmlns:a="http://schemas.openxmlformats.org/drawingml/2006/main">
            <a:r>
              <a:t>        "detail": "학습용·응답용 데이터 경로의 별도 심사",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"챗봇 이용자",</a:t>
            </a:r>
          </a:p>
          <a:p xmlns:a="http://schemas.openxmlformats.org/drawingml/2006/main">
            <a:r>
              <a:t>        "detail": "비허용 데이터 차단 및 기존 복제본 회수",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"대화 데이터",</a:t>
            </a:r>
          </a:p>
          <a:p xmlns:a="http://schemas.openxmlformats.org/drawingml/2006/main">
            <a:r>
              <a:t>        "detail": "원 대화의 개인정보·목적·보유기간 태깅",</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"삭제 이후 학습·검색·출력 경로의 잔존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"원 서비스 대화",</a:t>
            </a:r>
          </a:p>
          <a:p xmlns:a="http://schemas.openxmlformats.org/drawingml/2006/main">
            <a:r>
              <a:t>        "input": "원 서비스 동의와 재사용 목적의 대조",</a:t>
            </a:r>
          </a:p>
          <a:p xmlns:a="http://schemas.openxmlformats.org/drawingml/2006/main">
            <a:r>
              <a:t>        "process": "원 대화의 개인정보·목적·보유기간 태깅",</a:t>
            </a:r>
          </a:p>
          <a:p xmlns:a="http://schemas.openxmlformats.org/drawingml/2006/main">
            <a:r>
              <a:t>        "output": "대화 원문"</a:t>
            </a:r>
          </a:p>
          <a:p xmlns:a="http://schemas.openxmlformats.org/drawingml/2006/main">
            <a:r>
              <a:t>      },</a:t>
            </a:r>
          </a:p>
          <a:p xmlns:a="http://schemas.openxmlformats.org/drawingml/2006/main">
            <a:r>
              <a:t>      {</a:t>
            </a:r>
          </a:p>
          <a:p xmlns:a="http://schemas.openxmlformats.org/drawingml/2006/main">
            <a:r>
              <a:t>        "title": "목적 외 재사용",</a:t>
            </a:r>
          </a:p>
          <a:p xmlns:a="http://schemas.openxmlformats.org/drawingml/2006/main">
            <a:r>
              <a:t>        "input": "대화 원문",</a:t>
            </a:r>
          </a:p>
          <a:p xmlns:a="http://schemas.openxmlformats.org/drawingml/2006/main">
            <a:r>
              <a:t>        "process": "학습용·응답용 데이터 경로의 별도 심사",</a:t>
            </a:r>
          </a:p>
          <a:p xmlns:a="http://schemas.openxmlformats.org/drawingml/2006/main">
            <a:r>
              <a:t>        "output": "재사용 대상"</a:t>
            </a:r>
          </a:p>
          <a:p xmlns:a="http://schemas.openxmlformats.org/drawingml/2006/main">
            <a:r>
              <a:t>      },</a:t>
            </a:r>
          </a:p>
          <a:p xmlns:a="http://schemas.openxmlformats.org/drawingml/2006/main">
            <a:r>
              <a:t>      {</a:t>
            </a:r>
          </a:p>
          <a:p xmlns:a="http://schemas.openxmlformats.org/drawingml/2006/main">
            <a:r>
              <a:t>        "title": "학습·응답 DB",</a:t>
            </a:r>
          </a:p>
          <a:p xmlns:a="http://schemas.openxmlformats.org/drawingml/2006/main">
            <a:r>
              <a:t>        "input": "재사용 대상",</a:t>
            </a:r>
          </a:p>
          <a:p xmlns:a="http://schemas.openxmlformats.org/drawingml/2006/main">
            <a:r>
              <a:t>        "process": "목적·동의 범위 대사와 삭제 전파",</a:t>
            </a:r>
          </a:p>
          <a:p xmlns:a="http://schemas.openxmlformats.org/drawingml/2006/main">
            <a:r>
              <a:t>        "output": "학습·응답 자료"</a:t>
            </a:r>
          </a:p>
          <a:p xmlns:a="http://schemas.openxmlformats.org/drawingml/2006/main">
            <a:r>
              <a:t>      },</a:t>
            </a:r>
          </a:p>
          <a:p xmlns:a="http://schemas.openxmlformats.org/drawingml/2006/main">
            <a:r>
              <a:t>      {</a:t>
            </a:r>
          </a:p>
          <a:p xmlns:a="http://schemas.openxmlformats.org/drawingml/2006/main">
            <a:r>
              <a:t>        "title": "이루다 발화",</a:t>
            </a:r>
          </a:p>
          <a:p xmlns:a="http://schemas.openxmlformats.org/drawingml/2006/main">
            <a:r>
              <a:t>        "input": "학습·응답 자료",</a:t>
            </a:r>
          </a:p>
          <a:p xmlns:a="http://schemas.openxmlformats.org/drawingml/2006/main">
            <a:r>
              <a:t>        "process": "비허용 데이터 차단 및 기존 복제본 회수",</a:t>
            </a:r>
          </a:p>
          <a:p xmlns:a="http://schemas.openxmlformats.org/drawingml/2006/main">
            <a:r>
              <a:t>        "output": "생성 발화"</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"명시된 목적에 맞는 대화만 학습·검색·응답 경로에 제공",</a:t>
            </a:r>
          </a:p>
          <a:p xmlns:a="http://schemas.openxmlformats.org/drawingml/2006/main">
            <a:r>
              <a:t>      "exception": "동의 철회·다른 서비스 자료·복제된 삭제 대상",</a:t>
            </a:r>
          </a:p>
          <a:p xmlns:a="http://schemas.openxmlformats.org/drawingml/2006/main">
            <a:r>
              <a:t>      "evidence": "목적별 허용/차단 결과와 원천·색인·캐시 삭제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"서비스 이용자·데이터 관리자",</a:t>
            </a:r>
          </a:p>
          <a:p xmlns:a="http://schemas.openxmlformats.org/drawingml/2006/main">
            <a:r>
              <a:t>          "processing": "원 서비스 동의와 재사용 목적의 대조",</a:t>
            </a:r>
          </a:p>
          <a:p xmlns:a="http://schemas.openxmlformats.org/drawingml/2006/main">
            <a:r>
              <a:t>          "output": "대화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"대화 데이터",</a:t>
            </a:r>
          </a:p>
          <a:p xmlns:a="http://schemas.openxmlformats.org/drawingml/2006/main">
            <a:r>
              <a:t>          "processing": "원 대화의 개인정보·목적·보유기간 태깅",</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"대화 원문",</a:t>
            </a:r>
          </a:p>
          <a:p xmlns:a="http://schemas.openxmlformats.org/drawingml/2006/main">
            <a:r>
              <a:t>          "processing": "학습용·응답용 데이터 경로의 별도 심사",</a:t>
            </a:r>
          </a:p>
          <a:p xmlns:a="http://schemas.openxmlformats.org/drawingml/2006/main">
            <a:r>
              <a:t>          "output": "학습·응답 자료"</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"학습·응답 자료",</a:t>
            </a:r>
          </a:p>
          <a:p xmlns:a="http://schemas.openxmlformats.org/drawingml/2006/main">
            <a:r>
              <a:t>          "processing": "비허용 데이터 차단 및 기존 복제본 회수",</a:t>
            </a:r>
          </a:p>
          <a:p xmlns:a="http://schemas.openxmlformats.org/drawingml/2006/main">
            <a:r>
              <a:t>          "output": "생성 발화"</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"삭제 이후 학습·검색·출력 경로의 잔존 검사",</a:t>
            </a:r>
          </a:p>
          <a:p xmlns:a="http://schemas.openxmlformats.org/drawingml/2006/main">
            <a:r>
              <a:t>          "output": "목적별 허용/차단 결과와 원천·색인·캐시 삭제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"삭제 이후 학습·검색·출력 경로의 잔존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"S03",</a:t>
            </a:r>
          </a:p>
          <a:p xmlns:a="http://schemas.openxmlformats.org/drawingml/2006/main">
            <a:r>
              <a:t>        "title": "개인정보보호위원회 · 이루다 조사 결과",</a:t>
            </a:r>
          </a:p>
          <a:p xmlns:a="http://schemas.openxmlformats.org/drawingml/2006/main">
            <a:r>
              <a:t>        "url": "https://www.korea.kr/news/policyNewsView.do?newsId=156449232",</a:t>
            </a:r>
          </a:p>
          <a:p xmlns:a="http://schemas.openxmlformats.org/drawingml/2006/main">
            <a:r>
              <a:t>        "published": "2021-04-28",</a:t>
            </a:r>
          </a:p>
          <a:p xmlns:a="http://schemas.openxmlformats.org/drawingml/2006/main">
            <a:r>
              <a:t>        "level": "감독기관 조사",</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"데이터 보유와 AI 활용 권한의 분리",</a:t>
            </a:r>
          </a:p>
          <a:p xmlns:a="http://schemas.openxmlformats.org/drawingml/2006/main">
            <a:r>
              <a:t>    "local": "인사·민원 데이터의 목적·보유기간·접근정책을 별도 속성으로 관리",</a:t>
            </a:r>
          </a:p>
          <a:p xmlns:a="http://schemas.openxmlformats.org/drawingml/2006/main">
            <a:r>
              <a:t>    "sourceDetail": null,</a:t>
            </a:r>
          </a:p>
          <a:p xmlns:a="http://schemas.openxmlformats.org/drawingml/2006/main">
            <a:r>
              <a:t>    "narrative": [</a:t>
            </a:r>
          </a:p>
          <a:p xmlns:a="http://schemas.openxmlformats.org/drawingml/2006/main">
            <a:r>
              <a:t>      "다른 서비스에서 수집한 대화를 AI 학습·운영에 활용하는 과정의 개인정보 통제 실패 사례. 자료를 보유한다는 사실과 해당 목적의 AI 이용 권한이 일치하지 않는 문제.",</a:t>
            </a:r>
          </a:p>
          <a:p xmlns:a="http://schemas.openxmlformats.org/drawingml/2006/main">
            <a:r>
              <a:t>      "원 수집 목적·동의 범위·보유기간을 데이터에 연결하고, 학습용·검색용·출력용 경로마다 허용 여부를 판정하는 CCK 재발 방지 설계. 삭제 요청은 원본뿐 아니라 색인·캐시·복제본까지 추적하는 구조.",</a:t>
            </a:r>
          </a:p>
          <a:p xmlns:a="http://schemas.openxmlformats.org/drawingml/2006/main">
            <a:r>
              <a:t>      "TS 인사·민원 데이터의 연결 시 업무 권한과 AI 재사용 목적을 별도 속성으로 관리할 근거. 민감정보를 포함한 실제 사용자 데이터를 시험에 노출하지 않고 비허용 목적·회수 상황을 합성 자료로 재현하는 검수."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"재사용 요청",</a:t>
            </a:r>
          </a:p>
          <a:p xmlns:a="http://schemas.openxmlformats.org/drawingml/2006/main">
            <a:r>
              <a:t>          "layer": "이용 접점",</a:t>
            </a:r>
          </a:p>
          <a:p xmlns:a="http://schemas.openxmlformats.org/drawingml/2006/main">
            <a:r>
              <a:t>          "detail": "서비스 이용자·데이터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"목적·동의 범위",</a:t>
            </a:r>
          </a:p>
          <a:p xmlns:a="http://schemas.openxmlformats.org/drawingml/2006/main">
            <a:r>
              <a:t>          "layer": "업무 문맥",</a:t>
            </a:r>
          </a:p>
          <a:p xmlns:a="http://schemas.openxmlformats.org/drawingml/2006/main">
            <a:r>
              <a:t>          "detail": "원 서비스 동의와 재사용 목적의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"대상 자료 조회",</a:t>
            </a:r>
          </a:p>
          <a:p xmlns:a="http://schemas.openxmlformats.org/drawingml/2006/main">
            <a:r>
              <a:t>          "layer": "자료 조회",</a:t>
            </a:r>
          </a:p>
          <a:p xmlns:a="http://schemas.openxmlformats.org/drawingml/2006/main">
            <a:r>
              <a:t>          "detail": "대화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"학습·응답 분리",</a:t>
            </a:r>
          </a:p>
          <a:p xmlns:a="http://schemas.openxmlformats.org/drawingml/2006/main">
            <a:r>
              <a:t>          "layer": "핵심 처리",</a:t>
            </a:r>
          </a:p>
          <a:p xmlns:a="http://schemas.openxmlformats.org/drawingml/2006/main">
            <a:r>
              <a:t>          "detail": "학습용·응답용 데이터 경로의 별도 심사",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"목적 외 이용 차단",</a:t>
            </a:r>
          </a:p>
          <a:p xmlns:a="http://schemas.openxmlformats.org/drawingml/2006/main">
            <a:r>
              <a:t>          "layer": "결과 검증",</a:t>
            </a:r>
          </a:p>
          <a:p xmlns:a="http://schemas.openxmlformats.org/drawingml/2006/main">
            <a:r>
              <a:t>          "detail": "목적·동의 범위 대사와 삭제 전파",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"자료 관리자 심사",</a:t>
            </a:r>
          </a:p>
          <a:p xmlns:a="http://schemas.openxmlformats.org/drawingml/2006/main">
            <a:r>
              <a:t>          "layer": "사람 확인",</a:t>
            </a:r>
          </a:p>
          <a:p xmlns:a="http://schemas.openxmlformats.org/drawingml/2006/main">
            <a:r>
              <a:t>          "detail": "명시된 목적에 맞는 대화만 학습·검색·응답 경로에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"허용본·회수 처리",</a:t>
            </a:r>
          </a:p>
          <a:p xmlns:a="http://schemas.openxmlformats.org/drawingml/2006/main">
            <a:r>
              <a:t>          "layer": "업무 연결",</a:t>
            </a:r>
          </a:p>
          <a:p xmlns:a="http://schemas.openxmlformats.org/drawingml/2006/main">
            <a:r>
              <a:t>          "detail": "비허용 데이터 차단 및 기존 복제본 회수",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"잔존 데이터 검사",</a:t>
            </a:r>
          </a:p>
          <a:p xmlns:a="http://schemas.openxmlformats.org/drawingml/2006/main">
            <a:r>
              <a:t>          "layer": "운영 관측",</a:t>
            </a:r>
          </a:p>
          <a:p xmlns:a="http://schemas.openxmlformats.org/drawingml/2006/main">
            <a:r>
              <a:t>          "detail": "삭제 이후 학습·검색·출력 경로의 잔존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"원 서비스 대화",</a:t>
            </a:r>
          </a:p>
          <a:p xmlns:a="http://schemas.openxmlformats.org/drawingml/2006/main">
            <a:r>
              <a:t>          "layer": "데이터 원천",</a:t>
            </a:r>
          </a:p>
          <a:p xmlns:a="http://schemas.openxmlformats.org/drawingml/2006/main">
            <a:r>
              <a:t>          "detail": "대화 데이터",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"개인정보 태깅",</a:t>
            </a:r>
          </a:p>
          <a:p xmlns:a="http://schemas.openxmlformats.org/drawingml/2006/main">
            <a:r>
              <a:t>          "layer": "준비·갱신",</a:t>
            </a:r>
          </a:p>
          <a:p xmlns:a="http://schemas.openxmlformats.org/drawingml/2006/main">
            <a:r>
              <a:t>          "detail": "원 대화의 개인정보·목적·보유기간 태깅",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"복제본·판본 목록",</a:t>
            </a:r>
          </a:p>
          <a:p xmlns:a="http://schemas.openxmlformats.org/drawingml/2006/main">
            <a:r>
              <a:t>          "layer": "상태·지식 저장",</a:t>
            </a:r>
          </a:p>
          <a:p xmlns:a="http://schemas.openxmlformats.org/drawingml/2006/main">
            <a:r>
              <a:t>          "detail": "목적별 허용/차단 결과와 원천·색인·캐시 삭제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"삭제·보유정책",</a:t>
            </a:r>
          </a:p>
          <a:p xmlns:a="http://schemas.openxmlformats.org/drawingml/2006/main">
            <a:r>
              <a:t>          "layer": "권한·정책",</a:t>
            </a:r>
          </a:p>
          <a:p xmlns:a="http://schemas.openxmlformats.org/drawingml/2006/main">
            <a:r>
              <a:t>          "detail": "동의 철회·다른 서비스 자료·복제된 삭제 대상",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"원 서비스 대화 → 목적 외 재사용 → 학습·응답 DB → 이루다 발화"</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"원 서비스 동의와 재사용 목적의 대조",</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"대화 원문",</a:t>
            </a:r>
          </a:p>
          <a:p xmlns:a="http://schemas.openxmlformats.org/drawingml/2006/main">
            <a:r>
              <a:t>          "check": "목적·동의 범위 대사와 삭제 전파"</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"삭제·보유정책",</a:t>
            </a:r>
          </a:p>
          <a:p xmlns:a="http://schemas.openxmlformats.org/drawingml/2006/main">
            <a:r>
              <a:t>          "check": "목적·동의 범위 대사와 삭제 전파"</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"학습·응답 자료",</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"학습·응답 자료",</a:t>
            </a:r>
          </a:p>
          <a:p xmlns:a="http://schemas.openxmlformats.org/drawingml/2006/main">
            <a:r>
              <a:t>          "check": "동의 철회·다른 서비스 자료·복제된 삭제 대상"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"생성 발화",</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"대화 데이터의 목적 외 활용 실패 분석 / 수집 목적·학습·응답 재사용·삭제·회수",</a:t>
            </a:r>
          </a:p>
          <a:p xmlns:a="http://schemas.openxmlformats.org/drawingml/2006/main">
            <a:r>
              <a:t>        "extension": "인사·민원 데이터의 목적·보유기간·접근정책을 별도 속성으로 관리"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"동의 철회·다른 서비스 자료·복제된 삭제 대상",</a:t>
            </a:r>
          </a:p>
          <a:p xmlns:a="http://schemas.openxmlformats.org/drawingml/2006/main">
            <a:r>
              <a:t>        "hold": "목적·동의 범위 대사와 삭제 전파",</a:t>
            </a:r>
          </a:p>
          <a:p xmlns:a="http://schemas.openxmlformats.org/drawingml/2006/main">
            <a:r>
              <a:t>        "recovery": "삭제 이후 학습·검색·출력 경로의 잔존 검사",</a:t>
            </a:r>
          </a:p>
          <a:p xmlns:a="http://schemas.openxmlformats.org/drawingml/2006/main">
            <a:r>
              <a:t>        "evidence": "목적별 허용/차단 결과와 원천·색인·캐시 삭제 대사"</a:t>
            </a:r>
          </a:p>
          <a:p xmlns:a="http://schemas.openxmlformats.org/drawingml/2006/main">
            <a:r>
              <a:t>      },</a:t>
            </a:r>
          </a:p>
          <a:p xmlns:a="http://schemas.openxmlformats.org/drawingml/2006/main">
            <a:r>
              <a:t>      "data": {</a:t>
            </a:r>
          </a:p>
          <a:p xmlns:a="http://schemas.openxmlformats.org/drawingml/2006/main">
            <a:r>
              <a:t>        "source": "대화 데이터",</a:t>
            </a:r>
          </a:p>
          <a:p xmlns:a="http://schemas.openxmlformats.org/drawingml/2006/main">
            <a:r>
              <a:t>        "prepare": "원 대화의 개인정보·목적·보유기간 태깅",</a:t>
            </a:r>
          </a:p>
          <a:p xmlns:a="http://schemas.openxmlformats.org/drawingml/2006/main">
            <a:r>
              <a:t>        "output": "대화 원문",</a:t>
            </a:r>
          </a:p>
          <a:p xmlns:a="http://schemas.openxmlformats.org/drawingml/2006/main">
            <a:r>
              <a:t>        "refresh": "삭제 이후 학습·검색·출력 경로의 잔존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"AX03",</a:t>
            </a:r>
          </a:p>
          <a:p xmlns:a="http://schemas.openxmlformats.org/drawingml/2006/main">
            <a:r>
              <a:t>    "success": [</a:t>
            </a:r>
          </a:p>
          <a:p xmlns:a="http://schemas.openxmlformats.org/drawingml/2006/main">
            <a:r>
              <a:t>      "수집 목적별 데이터 분리",</a:t>
            </a:r>
          </a:p>
          <a:p xmlns:a="http://schemas.openxmlformats.org/drawingml/2006/main">
            <a:r>
              <a:t>      "이용 동의·삭제 요청의 재사용 경로 반영"</a:t>
            </a:r>
          </a:p>
          <a:p xmlns:a="http://schemas.openxmlformats.org/drawingml/2006/main">
            <a:r>
              <a:t>    ],</a:t>
            </a:r>
          </a:p>
          <a:p xmlns:a="http://schemas.openxmlformats.org/drawingml/2006/main">
            <a:r>
              <a:t>    "risks": [</a:t>
            </a:r>
          </a:p>
          <a:p xmlns:a="http://schemas.openxmlformats.org/drawingml/2006/main">
            <a:r>
              <a:t>      "다른 서비스 대화의 목적 외 이용",</a:t>
            </a:r>
          </a:p>
          <a:p xmlns:a="http://schemas.openxmlformats.org/drawingml/2006/main">
            <a:r>
              <a:t>      "학습·응답 경로의 개인정보 통제 부족"</a:t>
            </a:r>
          </a:p>
          <a:p xmlns:a="http://schemas.openxmlformats.org/drawingml/2006/main">
            <a:r>
              <a:t>    ],</a:t>
            </a:r>
          </a:p>
          <a:p xmlns:a="http://schemas.openxmlformats.org/drawingml/2006/main">
            <a:r>
              <a:t>    "architecture": [</a:t>
            </a:r>
          </a:p>
          <a:p xmlns:a="http://schemas.openxmlformats.org/drawingml/2006/main">
            <a:r>
              <a:t>      "원 서비스 대화",</a:t>
            </a:r>
          </a:p>
          <a:p xmlns:a="http://schemas.openxmlformats.org/drawingml/2006/main">
            <a:r>
              <a:t>      "학습·응답 처리",</a:t>
            </a:r>
          </a:p>
          <a:p xmlns:a="http://schemas.openxmlformats.org/drawingml/2006/main">
            <a:r>
              <a:t>      "대화 데이터",</a:t>
            </a:r>
          </a:p>
          <a:p xmlns:a="http://schemas.openxmlformats.org/drawingml/2006/main">
            <a:r>
              <a:t>      "챗봇 이용자"</a:t>
            </a:r>
          </a:p>
          <a:p xmlns:a="http://schemas.openxmlformats.org/drawingml/2006/main">
            <a:r>
              <a:t>    ],</a:t>
            </a:r>
          </a:p>
          <a:p xmlns:a="http://schemas.openxmlformats.org/drawingml/2006/main">
            <a:r>
              <a:t>    "transfers": [</a:t>
            </a:r>
          </a:p>
          <a:p xmlns:a="http://schemas.openxmlformats.org/drawingml/2006/main">
            <a:r>
              <a:t>      "대화 원문",</a:t>
            </a:r>
          </a:p>
          <a:p xmlns:a="http://schemas.openxmlformats.org/drawingml/2006/main">
            <a:r>
              <a:t>      "재사용 대상",</a:t>
            </a:r>
          </a:p>
          <a:p xmlns:a="http://schemas.openxmlformats.org/drawingml/2006/main">
            <a:r>
              <a:t>      "학습·응답 자료",</a:t>
            </a:r>
          </a:p>
          <a:p xmlns:a="http://schemas.openxmlformats.org/drawingml/2006/main">
            <a:r>
              <a:t>      "생성 발화"</a:t>
            </a:r>
          </a:p>
          <a:p xmlns:a="http://schemas.openxmlformats.org/drawingml/2006/main">
            <a:r>
              <a:t>    ],</a:t>
            </a:r>
          </a:p>
          <a:p xmlns:a="http://schemas.openxmlformats.org/drawingml/2006/main">
            <a:r>
              <a:t>    "control": "목적·동의 범위 대사와 삭제 전파",</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개인정보보호위원회 · 이루다 조사 결과 https://www.korea.kr/news/policyNewsView.do?newsId=156449232</a:t>
            </a:r>
          </a:p>
          <a:p xmlns:a="http://schemas.openxmlformats.org/drawingml/2006/main">
            <a:r>
              <a:t>홈페이지 https://heen1987-ops.github.io/TS-business-Plan-001/index.html?view=casebook&amp;case=AX03</a:t>
            </a:r>
          </a:p>
          <a:p xmlns:a="http://schemas.openxmlformats.org/drawingml/2006/main">
            <a:r>
              <a:t>한계: 2021년 조사 대상 행위 기준 · 후속 서비스 전체에 대한 평가 아님</a:t>
            </a:r>
          </a:p>
          <a:p xmlns:a="http://schemas.openxmlformats.org/drawingml/2006/main">
            <a:r>
              <a:t>재발 방지 조건: 수집 목적별 데이터 분리 / 이용 동의·삭제 요청의 재사용 경로 반영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"AX03",</a:t>
            </a:r>
          </a:p>
          <a:p xmlns:a="http://schemas.openxmlformats.org/drawingml/2006/main">
            <a:r>
              <a:t>    "title": "이루다 개인정보 처리",</a:t>
            </a:r>
          </a:p>
          <a:p xmlns:a="http://schemas.openxmlformats.org/drawingml/2006/main">
            <a:r>
              <a:t>    "region": "국내",</a:t>
            </a:r>
          </a:p>
          <a:p xmlns:a="http://schemas.openxmlformats.org/drawingml/2006/main">
            <a:r>
              <a:t>    "country": "대한민국",</a:t>
            </a:r>
          </a:p>
          <a:p xmlns:a="http://schemas.openxmlformats.org/drawingml/2006/main">
            <a:r>
              <a:t>    "result": "실패",</a:t>
            </a:r>
          </a:p>
          <a:p xmlns:a="http://schemas.openxmlformats.org/drawingml/2006/main">
            <a:r>
              <a:t>    "kind": "학습·응답 데이터 통제",</a:t>
            </a:r>
          </a:p>
          <a:p xmlns:a="http://schemas.openxmlformats.org/drawingml/2006/main">
            <a:r>
              <a:t>    "period": "2021 조사",</a:t>
            </a:r>
          </a:p>
          <a:p xmlns:a="http://schemas.openxmlformats.org/drawingml/2006/main">
            <a:r>
              <a:t>    "sources": [</a:t>
            </a:r>
          </a:p>
          <a:p xmlns:a="http://schemas.openxmlformats.org/drawingml/2006/main">
            <a:r>
              <a:t>      "S03"</a:t>
            </a:r>
          </a:p>
          <a:p xmlns:a="http://schemas.openxmlformats.org/drawingml/2006/main">
            <a:r>
              <a:t>    ],</a:t>
            </a:r>
          </a:p>
          <a:p xmlns:a="http://schemas.openxmlformats.org/drawingml/2006/main">
            <a:r>
              <a:t>    "keywords": [</a:t>
            </a:r>
          </a:p>
          <a:p xmlns:a="http://schemas.openxmlformats.org/drawingml/2006/main">
            <a:r>
              <a:t>      "개인정보",</a:t>
            </a:r>
          </a:p>
          <a:p xmlns:a="http://schemas.openxmlformats.org/drawingml/2006/main">
            <a:r>
              <a:t>      "목적 제한",</a:t>
            </a:r>
          </a:p>
          <a:p xmlns:a="http://schemas.openxmlformats.org/drawingml/2006/main">
            <a:r>
              <a:t>      "데이터 재사용",</a:t>
            </a:r>
          </a:p>
          <a:p xmlns:a="http://schemas.openxmlformats.org/drawingml/2006/main">
            <a:r>
              <a:t>      "책임"</a:t>
            </a:r>
          </a:p>
          <a:p xmlns:a="http://schemas.openxmlformats.org/drawingml/2006/main">
            <a:r>
              <a:t>    ],</a:t>
            </a:r>
          </a:p>
          <a:p xmlns:a="http://schemas.openxmlformats.org/drawingml/2006/main">
            <a:r>
              <a:t>    "fact": "다른 서비스에서 수집한 대화의 목적 외 학습·운영 이용 등에 대한 개인정보보호위원회 제재",</a:t>
            </a:r>
          </a:p>
          <a:p xmlns:a="http://schemas.openxmlformats.org/drawingml/2006/main">
            <a:r>
              <a:t>    "limit": "2021년 조사 대상 행위 기준 · 후속 서비스 전체에 대한 평가 아님",</a:t>
            </a:r>
          </a:p>
          <a:p xmlns:a="http://schemas.openxmlformats.org/drawingml/2006/main">
            <a:r>
              <a:t>    "flow": [</a:t>
            </a:r>
          </a:p>
          <a:p xmlns:a="http://schemas.openxmlformats.org/drawingml/2006/main">
            <a:r>
              <a:t>      "원 서비스 대화",</a:t>
            </a:r>
          </a:p>
          <a:p xmlns:a="http://schemas.openxmlformats.org/drawingml/2006/main">
            <a:r>
              <a:t>      "목적 외 재사용",</a:t>
            </a:r>
          </a:p>
          <a:p xmlns:a="http://schemas.openxmlformats.org/drawingml/2006/main">
            <a:r>
              <a:t>      "학습·응답 DB",</a:t>
            </a:r>
          </a:p>
          <a:p xmlns:a="http://schemas.openxmlformats.org/drawingml/2006/main">
            <a:r>
              <a:t>      "이루다 발화"</a:t>
            </a:r>
          </a:p>
          <a:p xmlns:a="http://schemas.openxmlformats.org/drawingml/2006/main">
            <a:r>
              <a:t>    ],</a:t>
            </a:r>
          </a:p>
          <a:p xmlns:a="http://schemas.openxmlformats.org/drawingml/2006/main">
            <a:r>
              <a:t>    "flowBasis": "조사에서 확인된 처리 관계 요약 · 내부 구현 상세 미공개",</a:t>
            </a:r>
          </a:p>
          <a:p xmlns:a="http://schemas.openxmlformats.org/drawingml/2006/main">
            <a:r>
              <a:t>    "lesson": "데이터 보유와 AI 활용 권한의 분리",</a:t>
            </a:r>
          </a:p>
          <a:p xmlns:a="http://schemas.openxmlformats.org/drawingml/2006/main">
            <a:r>
              <a:t>    "local": "인사·민원 데이터의 목적·보유기간·접근정책을 별도 속성으로 관리",</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"수집 목적 태그 / 학습·검색·출력별 정책 / 삭제·회수 전파",</a:t>
            </a:r>
          </a:p>
          <a:p xmlns:a="http://schemas.openxmlformats.org/drawingml/2006/main">
            <a:r>
              <a:t>    "test": "목적 외 입력 거부·권한 회수 후 검색 및 캐시 노출 차단",</a:t>
            </a:r>
          </a:p>
          <a:p xmlns:a="http://schemas.openxmlformats.org/drawingml/2006/main">
            <a:r>
              <a:t>    "metric": "필수 거부셋 노출 건수 / 삭제 전파 지연"</a:t>
            </a:r>
          </a:p>
          <a:p xmlns:a="http://schemas.openxmlformats.org/drawingml/2006/main">
            <a:r>
              <a:t>  },</a:t>
            </a:r>
          </a:p>
          <a:p xmlns:a="http://schemas.openxmlformats.org/drawingml/2006/main">
            <a:r>
              <a:t>  "design": {</a:t>
            </a:r>
          </a:p>
          <a:p xmlns:a="http://schemas.openxmlformats.org/drawingml/2006/main">
            <a:r>
              <a:t>    "id": "AX03",</a:t>
            </a:r>
          </a:p>
          <a:p xmlns:a="http://schemas.openxmlformats.org/drawingml/2006/main">
            <a:r>
              <a:t>    "canonicalId": "AX03",</a:t>
            </a:r>
          </a:p>
          <a:p xmlns:a="http://schemas.openxmlformats.org/drawingml/2006/main">
            <a:r>
              <a:t>    "purpose": "대화 데이터의 목적 외 활용 실패 분석",</a:t>
            </a:r>
          </a:p>
          <a:p xmlns:a="http://schemas.openxmlformats.org/drawingml/2006/main">
            <a:r>
              <a:t>    "users": "서비스 이용자·데이터 관리자",</a:t>
            </a:r>
          </a:p>
          <a:p xmlns:a="http://schemas.openxmlformats.org/drawingml/2006/main">
            <a:r>
              <a:t>    "scope": [</a:t>
            </a:r>
          </a:p>
          <a:p xmlns:a="http://schemas.openxmlformats.org/drawingml/2006/main">
            <a:r>
              <a:t>      "수집 목적",</a:t>
            </a:r>
          </a:p>
          <a:p xmlns:a="http://schemas.openxmlformats.org/drawingml/2006/main">
            <a:r>
              <a:t>      "학습·응답 재사용",</a:t>
            </a:r>
          </a:p>
          <a:p xmlns:a="http://schemas.openxmlformats.org/drawingml/2006/main">
            <a:r>
              <a:t>      "삭제·회수"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"원 서비스 대화",</a:t>
            </a:r>
          </a:p>
          <a:p xmlns:a="http://schemas.openxmlformats.org/drawingml/2006/main">
            <a:r>
              <a:t>        "detail": "원 서비스 동의와 재사용 목적의 대조",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"수집 목적 / 학습·응답 재사용 / 삭제·회수",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"학습·응답 처리",</a:t>
            </a:r>
          </a:p>
          <a:p xmlns:a="http://schemas.openxmlformats.org/drawingml/2006/main">
            <a:r>
              <a:t>        "detail": "학습용·응답용 데이터 경로의 별도 심사",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"챗봇 이용자",</a:t>
            </a:r>
          </a:p>
          <a:p xmlns:a="http://schemas.openxmlformats.org/drawingml/2006/main">
            <a:r>
              <a:t>        "detail": "비허용 데이터 차단 및 기존 복제본 회수",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"대화 데이터",</a:t>
            </a:r>
          </a:p>
          <a:p xmlns:a="http://schemas.openxmlformats.org/drawingml/2006/main">
            <a:r>
              <a:t>        "detail": "원 대화의 개인정보·목적·보유기간 태깅",</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"삭제 이후 학습·검색·출력 경로의 잔존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"원 서비스 대화",</a:t>
            </a:r>
          </a:p>
          <a:p xmlns:a="http://schemas.openxmlformats.org/drawingml/2006/main">
            <a:r>
              <a:t>        "input": "원 서비스 동의와 재사용 목적의 대조",</a:t>
            </a:r>
          </a:p>
          <a:p xmlns:a="http://schemas.openxmlformats.org/drawingml/2006/main">
            <a:r>
              <a:t>        "process": "원 대화의 개인정보·목적·보유기간 태깅",</a:t>
            </a:r>
          </a:p>
          <a:p xmlns:a="http://schemas.openxmlformats.org/drawingml/2006/main">
            <a:r>
              <a:t>        "output": "대화 원문"</a:t>
            </a:r>
          </a:p>
          <a:p xmlns:a="http://schemas.openxmlformats.org/drawingml/2006/main">
            <a:r>
              <a:t>      },</a:t>
            </a:r>
          </a:p>
          <a:p xmlns:a="http://schemas.openxmlformats.org/drawingml/2006/main">
            <a:r>
              <a:t>      {</a:t>
            </a:r>
          </a:p>
          <a:p xmlns:a="http://schemas.openxmlformats.org/drawingml/2006/main">
            <a:r>
              <a:t>        "title": "목적 외 재사용",</a:t>
            </a:r>
          </a:p>
          <a:p xmlns:a="http://schemas.openxmlformats.org/drawingml/2006/main">
            <a:r>
              <a:t>        "input": "대화 원문",</a:t>
            </a:r>
          </a:p>
          <a:p xmlns:a="http://schemas.openxmlformats.org/drawingml/2006/main">
            <a:r>
              <a:t>        "process": "학습용·응답용 데이터 경로의 별도 심사",</a:t>
            </a:r>
          </a:p>
          <a:p xmlns:a="http://schemas.openxmlformats.org/drawingml/2006/main">
            <a:r>
              <a:t>        "output": "재사용 대상"</a:t>
            </a:r>
          </a:p>
          <a:p xmlns:a="http://schemas.openxmlformats.org/drawingml/2006/main">
            <a:r>
              <a:t>      },</a:t>
            </a:r>
          </a:p>
          <a:p xmlns:a="http://schemas.openxmlformats.org/drawingml/2006/main">
            <a:r>
              <a:t>      {</a:t>
            </a:r>
          </a:p>
          <a:p xmlns:a="http://schemas.openxmlformats.org/drawingml/2006/main">
            <a:r>
              <a:t>        "title": "학습·응답 DB",</a:t>
            </a:r>
          </a:p>
          <a:p xmlns:a="http://schemas.openxmlformats.org/drawingml/2006/main">
            <a:r>
              <a:t>        "input": "재사용 대상",</a:t>
            </a:r>
          </a:p>
          <a:p xmlns:a="http://schemas.openxmlformats.org/drawingml/2006/main">
            <a:r>
              <a:t>        "process": "목적·동의 범위 대사와 삭제 전파",</a:t>
            </a:r>
          </a:p>
          <a:p xmlns:a="http://schemas.openxmlformats.org/drawingml/2006/main">
            <a:r>
              <a:t>        "output": "학습·응답 자료"</a:t>
            </a:r>
          </a:p>
          <a:p xmlns:a="http://schemas.openxmlformats.org/drawingml/2006/main">
            <a:r>
              <a:t>      },</a:t>
            </a:r>
          </a:p>
          <a:p xmlns:a="http://schemas.openxmlformats.org/drawingml/2006/main">
            <a:r>
              <a:t>      {</a:t>
            </a:r>
          </a:p>
          <a:p xmlns:a="http://schemas.openxmlformats.org/drawingml/2006/main">
            <a:r>
              <a:t>        "title": "이루다 발화",</a:t>
            </a:r>
          </a:p>
          <a:p xmlns:a="http://schemas.openxmlformats.org/drawingml/2006/main">
            <a:r>
              <a:t>        "input": "학습·응답 자료",</a:t>
            </a:r>
          </a:p>
          <a:p xmlns:a="http://schemas.openxmlformats.org/drawingml/2006/main">
            <a:r>
              <a:t>        "process": "비허용 데이터 차단 및 기존 복제본 회수",</a:t>
            </a:r>
          </a:p>
          <a:p xmlns:a="http://schemas.openxmlformats.org/drawingml/2006/main">
            <a:r>
              <a:t>        "output": "생성 발화"</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"명시된 목적에 맞는 대화만 학습·검색·응답 경로에 제공",</a:t>
            </a:r>
          </a:p>
          <a:p xmlns:a="http://schemas.openxmlformats.org/drawingml/2006/main">
            <a:r>
              <a:t>      "exception": "동의 철회·다른 서비스 자료·복제된 삭제 대상",</a:t>
            </a:r>
          </a:p>
          <a:p xmlns:a="http://schemas.openxmlformats.org/drawingml/2006/main">
            <a:r>
              <a:t>      "evidence": "목적별 허용/차단 결과와 원천·색인·캐시 삭제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"서비스 이용자·데이터 관리자",</a:t>
            </a:r>
          </a:p>
          <a:p xmlns:a="http://schemas.openxmlformats.org/drawingml/2006/main">
            <a:r>
              <a:t>          "processing": "원 서비스 동의와 재사용 목적의 대조",</a:t>
            </a:r>
          </a:p>
          <a:p xmlns:a="http://schemas.openxmlformats.org/drawingml/2006/main">
            <a:r>
              <a:t>          "output": "대화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"대화 데이터",</a:t>
            </a:r>
          </a:p>
          <a:p xmlns:a="http://schemas.openxmlformats.org/drawingml/2006/main">
            <a:r>
              <a:t>          "processing": "원 대화의 개인정보·목적·보유기간 태깅",</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"대화 원문",</a:t>
            </a:r>
          </a:p>
          <a:p xmlns:a="http://schemas.openxmlformats.org/drawingml/2006/main">
            <a:r>
              <a:t>          "processing": "학습용·응답용 데이터 경로의 별도 심사",</a:t>
            </a:r>
          </a:p>
          <a:p xmlns:a="http://schemas.openxmlformats.org/drawingml/2006/main">
            <a:r>
              <a:t>          "output": "학습·응답 자료"</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"학습·응답 자료",</a:t>
            </a:r>
          </a:p>
          <a:p xmlns:a="http://schemas.openxmlformats.org/drawingml/2006/main">
            <a:r>
              <a:t>          "processing": "비허용 데이터 차단 및 기존 복제본 회수",</a:t>
            </a:r>
          </a:p>
          <a:p xmlns:a="http://schemas.openxmlformats.org/drawingml/2006/main">
            <a:r>
              <a:t>          "output": "생성 발화"</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"삭제 이후 학습·검색·출력 경로의 잔존 검사",</a:t>
            </a:r>
          </a:p>
          <a:p xmlns:a="http://schemas.openxmlformats.org/drawingml/2006/main">
            <a:r>
              <a:t>          "output": "목적별 허용/차단 결과와 원천·색인·캐시 삭제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"삭제 이후 학습·검색·출력 경로의 잔존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"S03",</a:t>
            </a:r>
          </a:p>
          <a:p xmlns:a="http://schemas.openxmlformats.org/drawingml/2006/main">
            <a:r>
              <a:t>        "title": "개인정보보호위원회 · 이루다 조사 결과",</a:t>
            </a:r>
          </a:p>
          <a:p xmlns:a="http://schemas.openxmlformats.org/drawingml/2006/main">
            <a:r>
              <a:t>        "url": "https://www.korea.kr/news/policyNewsView.do?newsId=156449232",</a:t>
            </a:r>
          </a:p>
          <a:p xmlns:a="http://schemas.openxmlformats.org/drawingml/2006/main">
            <a:r>
              <a:t>        "published": "2021-04-28",</a:t>
            </a:r>
          </a:p>
          <a:p xmlns:a="http://schemas.openxmlformats.org/drawingml/2006/main">
            <a:r>
              <a:t>        "level": "감독기관 조사",</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"데이터 보유와 AI 활용 권한의 분리",</a:t>
            </a:r>
          </a:p>
          <a:p xmlns:a="http://schemas.openxmlformats.org/drawingml/2006/main">
            <a:r>
              <a:t>    "local": "인사·민원 데이터의 목적·보유기간·접근정책을 별도 속성으로 관리",</a:t>
            </a:r>
          </a:p>
          <a:p xmlns:a="http://schemas.openxmlformats.org/drawingml/2006/main">
            <a:r>
              <a:t>    "sourceDetail": null,</a:t>
            </a:r>
          </a:p>
          <a:p xmlns:a="http://schemas.openxmlformats.org/drawingml/2006/main">
            <a:r>
              <a:t>    "narrative": [</a:t>
            </a:r>
          </a:p>
          <a:p xmlns:a="http://schemas.openxmlformats.org/drawingml/2006/main">
            <a:r>
              <a:t>      "다른 서비스에서 수집한 대화를 AI 학습·운영에 활용하는 과정의 개인정보 통제 실패 사례. 자료를 보유한다는 사실과 해당 목적의 AI 이용 권한이 일치하지 않는 문제.",</a:t>
            </a:r>
          </a:p>
          <a:p xmlns:a="http://schemas.openxmlformats.org/drawingml/2006/main">
            <a:r>
              <a:t>      "원 수집 목적·동의 범위·보유기간을 데이터에 연결하고, 학습용·검색용·출력용 경로마다 허용 여부를 판정하는 CCK 재발 방지 설계. 삭제 요청은 원본뿐 아니라 색인·캐시·복제본까지 추적하는 구조.",</a:t>
            </a:r>
          </a:p>
          <a:p xmlns:a="http://schemas.openxmlformats.org/drawingml/2006/main">
            <a:r>
              <a:t>      "TS 인사·민원 데이터의 연결 시 업무 권한과 AI 재사용 목적을 별도 속성으로 관리할 근거. 민감정보를 포함한 실제 사용자 데이터를 시험에 노출하지 않고 비허용 목적·회수 상황을 합성 자료로 재현하는 검수."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"재사용 요청",</a:t>
            </a:r>
          </a:p>
          <a:p xmlns:a="http://schemas.openxmlformats.org/drawingml/2006/main">
            <a:r>
              <a:t>          "layer": "이용 접점",</a:t>
            </a:r>
          </a:p>
          <a:p xmlns:a="http://schemas.openxmlformats.org/drawingml/2006/main">
            <a:r>
              <a:t>          "detail": "서비스 이용자·데이터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"목적·동의 범위",</a:t>
            </a:r>
          </a:p>
          <a:p xmlns:a="http://schemas.openxmlformats.org/drawingml/2006/main">
            <a:r>
              <a:t>          "layer": "업무 문맥",</a:t>
            </a:r>
          </a:p>
          <a:p xmlns:a="http://schemas.openxmlformats.org/drawingml/2006/main">
            <a:r>
              <a:t>          "detail": "원 서비스 동의와 재사용 목적의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"대상 자료 조회",</a:t>
            </a:r>
          </a:p>
          <a:p xmlns:a="http://schemas.openxmlformats.org/drawingml/2006/main">
            <a:r>
              <a:t>          "layer": "자료 조회",</a:t>
            </a:r>
          </a:p>
          <a:p xmlns:a="http://schemas.openxmlformats.org/drawingml/2006/main">
            <a:r>
              <a:t>          "detail": "대화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"학습·응답 분리",</a:t>
            </a:r>
          </a:p>
          <a:p xmlns:a="http://schemas.openxmlformats.org/drawingml/2006/main">
            <a:r>
              <a:t>          "layer": "핵심 처리",</a:t>
            </a:r>
          </a:p>
          <a:p xmlns:a="http://schemas.openxmlformats.org/drawingml/2006/main">
            <a:r>
              <a:t>          "detail": "학습용·응답용 데이터 경로의 별도 심사",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"목적 외 이용 차단",</a:t>
            </a:r>
          </a:p>
          <a:p xmlns:a="http://schemas.openxmlformats.org/drawingml/2006/main">
            <a:r>
              <a:t>          "layer": "결과 검증",</a:t>
            </a:r>
          </a:p>
          <a:p xmlns:a="http://schemas.openxmlformats.org/drawingml/2006/main">
            <a:r>
              <a:t>          "detail": "목적·동의 범위 대사와 삭제 전파",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"자료 관리자 심사",</a:t>
            </a:r>
          </a:p>
          <a:p xmlns:a="http://schemas.openxmlformats.org/drawingml/2006/main">
            <a:r>
              <a:t>          "layer": "사람 확인",</a:t>
            </a:r>
          </a:p>
          <a:p xmlns:a="http://schemas.openxmlformats.org/drawingml/2006/main">
            <a:r>
              <a:t>          "detail": "명시된 목적에 맞는 대화만 학습·검색·응답 경로에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"허용본·회수 처리",</a:t>
            </a:r>
          </a:p>
          <a:p xmlns:a="http://schemas.openxmlformats.org/drawingml/2006/main">
            <a:r>
              <a:t>          "layer": "업무 연결",</a:t>
            </a:r>
          </a:p>
          <a:p xmlns:a="http://schemas.openxmlformats.org/drawingml/2006/main">
            <a:r>
              <a:t>          "detail": "비허용 데이터 차단 및 기존 복제본 회수",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"잔존 데이터 검사",</a:t>
            </a:r>
          </a:p>
          <a:p xmlns:a="http://schemas.openxmlformats.org/drawingml/2006/main">
            <a:r>
              <a:t>          "layer": "운영 관측",</a:t>
            </a:r>
          </a:p>
          <a:p xmlns:a="http://schemas.openxmlformats.org/drawingml/2006/main">
            <a:r>
              <a:t>          "detail": "삭제 이후 학습·검색·출력 경로의 잔존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"원 서비스 대화",</a:t>
            </a:r>
          </a:p>
          <a:p xmlns:a="http://schemas.openxmlformats.org/drawingml/2006/main">
            <a:r>
              <a:t>          "layer": "데이터 원천",</a:t>
            </a:r>
          </a:p>
          <a:p xmlns:a="http://schemas.openxmlformats.org/drawingml/2006/main">
            <a:r>
              <a:t>          "detail": "대화 데이터",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"개인정보 태깅",</a:t>
            </a:r>
          </a:p>
          <a:p xmlns:a="http://schemas.openxmlformats.org/drawingml/2006/main">
            <a:r>
              <a:t>          "layer": "준비·갱신",</a:t>
            </a:r>
          </a:p>
          <a:p xmlns:a="http://schemas.openxmlformats.org/drawingml/2006/main">
            <a:r>
              <a:t>          "detail": "원 대화의 개인정보·목적·보유기간 태깅",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"복제본·판본 목록",</a:t>
            </a:r>
          </a:p>
          <a:p xmlns:a="http://schemas.openxmlformats.org/drawingml/2006/main">
            <a:r>
              <a:t>          "layer": "상태·지식 저장",</a:t>
            </a:r>
          </a:p>
          <a:p xmlns:a="http://schemas.openxmlformats.org/drawingml/2006/main">
            <a:r>
              <a:t>          "detail": "목적별 허용/차단 결과와 원천·색인·캐시 삭제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"삭제·보유정책",</a:t>
            </a:r>
          </a:p>
          <a:p xmlns:a="http://schemas.openxmlformats.org/drawingml/2006/main">
            <a:r>
              <a:t>          "layer": "권한·정책",</a:t>
            </a:r>
          </a:p>
          <a:p xmlns:a="http://schemas.openxmlformats.org/drawingml/2006/main">
            <a:r>
              <a:t>          "detail": "동의 철회·다른 서비스 자료·복제된 삭제 대상",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"원 서비스 대화 → 목적 외 재사용 → 학습·응답 DB → 이루다 발화"</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"원 서비스 동의와 재사용 목적의 대조",</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"대화 원문",</a:t>
            </a:r>
          </a:p>
          <a:p xmlns:a="http://schemas.openxmlformats.org/drawingml/2006/main">
            <a:r>
              <a:t>          "check": "목적·동의 범위 대사와 삭제 전파"</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"삭제·보유정책",</a:t>
            </a:r>
          </a:p>
          <a:p xmlns:a="http://schemas.openxmlformats.org/drawingml/2006/main">
            <a:r>
              <a:t>          "check": "목적·동의 범위 대사와 삭제 전파"</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"학습·응답 자료",</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"학습·응답 자료",</a:t>
            </a:r>
          </a:p>
          <a:p xmlns:a="http://schemas.openxmlformats.org/drawingml/2006/main">
            <a:r>
              <a:t>          "check": "동의 철회·다른 서비스 자료·복제된 삭제 대상"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"생성 발화",</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"대화 데이터의 목적 외 활용 실패 분석 / 수집 목적·학습·응답 재사용·삭제·회수",</a:t>
            </a:r>
          </a:p>
          <a:p xmlns:a="http://schemas.openxmlformats.org/drawingml/2006/main">
            <a:r>
              <a:t>        "extension": "인사·민원 데이터의 목적·보유기간·접근정책을 별도 속성으로 관리"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"동의 철회·다른 서비스 자료·복제된 삭제 대상",</a:t>
            </a:r>
          </a:p>
          <a:p xmlns:a="http://schemas.openxmlformats.org/drawingml/2006/main">
            <a:r>
              <a:t>        "hold": "목적·동의 범위 대사와 삭제 전파",</a:t>
            </a:r>
          </a:p>
          <a:p xmlns:a="http://schemas.openxmlformats.org/drawingml/2006/main">
            <a:r>
              <a:t>        "recovery": "삭제 이후 학습·검색·출력 경로의 잔존 검사",</a:t>
            </a:r>
          </a:p>
          <a:p xmlns:a="http://schemas.openxmlformats.org/drawingml/2006/main">
            <a:r>
              <a:t>        "evidence": "목적별 허용/차단 결과와 원천·색인·캐시 삭제 대사"</a:t>
            </a:r>
          </a:p>
          <a:p xmlns:a="http://schemas.openxmlformats.org/drawingml/2006/main">
            <a:r>
              <a:t>      },</a:t>
            </a:r>
          </a:p>
          <a:p xmlns:a="http://schemas.openxmlformats.org/drawingml/2006/main">
            <a:r>
              <a:t>      "data": {</a:t>
            </a:r>
          </a:p>
          <a:p xmlns:a="http://schemas.openxmlformats.org/drawingml/2006/main">
            <a:r>
              <a:t>        "source": "대화 데이터",</a:t>
            </a:r>
          </a:p>
          <a:p xmlns:a="http://schemas.openxmlformats.org/drawingml/2006/main">
            <a:r>
              <a:t>        "prepare": "원 대화의 개인정보·목적·보유기간 태깅",</a:t>
            </a:r>
          </a:p>
          <a:p xmlns:a="http://schemas.openxmlformats.org/drawingml/2006/main">
            <a:r>
              <a:t>        "output": "대화 원문",</a:t>
            </a:r>
          </a:p>
          <a:p xmlns:a="http://schemas.openxmlformats.org/drawingml/2006/main">
            <a:r>
              <a:t>        "refresh": "삭제 이후 학습·검색·출력 경로의 잔존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"AX03",</a:t>
            </a:r>
          </a:p>
          <a:p xmlns:a="http://schemas.openxmlformats.org/drawingml/2006/main">
            <a:r>
              <a:t>    "success": [</a:t>
            </a:r>
          </a:p>
          <a:p xmlns:a="http://schemas.openxmlformats.org/drawingml/2006/main">
            <a:r>
              <a:t>      "수집 목적별 데이터 분리",</a:t>
            </a:r>
          </a:p>
          <a:p xmlns:a="http://schemas.openxmlformats.org/drawingml/2006/main">
            <a:r>
              <a:t>      "이용 동의·삭제 요청의 재사용 경로 반영"</a:t>
            </a:r>
          </a:p>
          <a:p xmlns:a="http://schemas.openxmlformats.org/drawingml/2006/main">
            <a:r>
              <a:t>    ],</a:t>
            </a:r>
          </a:p>
          <a:p xmlns:a="http://schemas.openxmlformats.org/drawingml/2006/main">
            <a:r>
              <a:t>    "risks": [</a:t>
            </a:r>
          </a:p>
          <a:p xmlns:a="http://schemas.openxmlformats.org/drawingml/2006/main">
            <a:r>
              <a:t>      "다른 서비스 대화의 목적 외 이용",</a:t>
            </a:r>
          </a:p>
          <a:p xmlns:a="http://schemas.openxmlformats.org/drawingml/2006/main">
            <a:r>
              <a:t>      "학습·응답 경로의 개인정보 통제 부족"</a:t>
            </a:r>
          </a:p>
          <a:p xmlns:a="http://schemas.openxmlformats.org/drawingml/2006/main">
            <a:r>
              <a:t>    ],</a:t>
            </a:r>
          </a:p>
          <a:p xmlns:a="http://schemas.openxmlformats.org/drawingml/2006/main">
            <a:r>
              <a:t>    "architecture": [</a:t>
            </a:r>
          </a:p>
          <a:p xmlns:a="http://schemas.openxmlformats.org/drawingml/2006/main">
            <a:r>
              <a:t>      "원 서비스 대화",</a:t>
            </a:r>
          </a:p>
          <a:p xmlns:a="http://schemas.openxmlformats.org/drawingml/2006/main">
            <a:r>
              <a:t>      "학습·응답 처리",</a:t>
            </a:r>
          </a:p>
          <a:p xmlns:a="http://schemas.openxmlformats.org/drawingml/2006/main">
            <a:r>
              <a:t>      "대화 데이터",</a:t>
            </a:r>
          </a:p>
          <a:p xmlns:a="http://schemas.openxmlformats.org/drawingml/2006/main">
            <a:r>
              <a:t>      "챗봇 이용자"</a:t>
            </a:r>
          </a:p>
          <a:p xmlns:a="http://schemas.openxmlformats.org/drawingml/2006/main">
            <a:r>
              <a:t>    ],</a:t>
            </a:r>
          </a:p>
          <a:p xmlns:a="http://schemas.openxmlformats.org/drawingml/2006/main">
            <a:r>
              <a:t>    "transfers": [</a:t>
            </a:r>
          </a:p>
          <a:p xmlns:a="http://schemas.openxmlformats.org/drawingml/2006/main">
            <a:r>
              <a:t>      "대화 원문",</a:t>
            </a:r>
          </a:p>
          <a:p xmlns:a="http://schemas.openxmlformats.org/drawingml/2006/main">
            <a:r>
              <a:t>      "재사용 대상",</a:t>
            </a:r>
          </a:p>
          <a:p xmlns:a="http://schemas.openxmlformats.org/drawingml/2006/main">
            <a:r>
              <a:t>      "학습·응답 자료",</a:t>
            </a:r>
          </a:p>
          <a:p xmlns:a="http://schemas.openxmlformats.org/drawingml/2006/main">
            <a:r>
              <a:t>      "생성 발화"</a:t>
            </a:r>
          </a:p>
          <a:p xmlns:a="http://schemas.openxmlformats.org/drawingml/2006/main">
            <a:r>
              <a:t>    ],</a:t>
            </a:r>
          </a:p>
          <a:p xmlns:a="http://schemas.openxmlformats.org/drawingml/2006/main">
            <a:r>
              <a:t>    "control": "목적·동의 범위 대사와 삭제 전파",</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개인정보보호위원회 · 이루다 조사 결과 https://www.korea.kr/news/policyNewsView.do?newsId=156449232</a:t>
            </a:r>
          </a:p>
          <a:p xmlns:a="http://schemas.openxmlformats.org/drawingml/2006/main">
            <a:r>
              <a:t>홈페이지 https://heen1987-ops.github.io/TS-business-Plan-001/index.html?view=casebook&amp;case=AX03</a:t>
            </a:r>
          </a:p>
          <a:p xmlns:a="http://schemas.openxmlformats.org/drawingml/2006/main">
            <a:r>
              <a:t>성과 대조</a:t>
            </a:r>
          </a:p>
          <a:p xmlns:a="http://schemas.openxmlformats.org/drawingml/2006/main">
            <a:r>
              <a:t>{</a:t>
            </a:r>
          </a:p>
          <a:p xmlns:a="http://schemas.openxmlformats.org/drawingml/2006/main">
            <a:r>
              <a:t>  "caseId": "AX03",</a:t>
            </a:r>
          </a:p>
          <a:p xmlns:a="http://schemas.openxmlformats.org/drawingml/2006/main">
            <a:r>
              <a:t>  "asIs": "다른 앱에서 수집한 사적 대화가 원 수집 목적·동의 범위에 묶여 있음",</a:t>
            </a:r>
          </a:p>
          <a:p xmlns:a="http://schemas.openxmlformats.org/drawingml/2006/main">
            <a:r>
              <a:t>  "toBe": "대규모 대화문장으로 사람 같은 챗봇 학습·응답 서비스를 제공하려는 사업 목표",</a:t>
            </a:r>
          </a:p>
          <a:p xmlns:a="http://schemas.openxmlformats.org/drawingml/2006/main">
            <a:r>
              <a:t>  "expectedEffect": "자연스러운 대화와 챗봇 이용 확대",</a:t>
            </a:r>
          </a:p>
          <a:p xmlns:a="http://schemas.openxmlformats.org/drawingml/2006/main">
            <a:r>
              <a:t>  "observed": "개인정보보호위원회가 원 서비스 대화의 목적 외 학습·운영 이용, 보호조치 미흡 등 위반을 확인하고 과징금·과태료 및 시정조치 결정",</a:t>
            </a:r>
          </a:p>
          <a:p xmlns:a="http://schemas.openxmlformats.org/drawingml/2006/main">
            <a:r>
              <a:t>  "verdict": "실패 확인",</a:t>
            </a:r>
          </a:p>
          <a:p xmlns:a="http://schemas.openxmlformats.org/drawingml/2006/main">
            <a:r>
              <a:t>  "verdictReason": "서비스 목적 달성 이전에 개인정보 처리의 적법성·통제가 감독기관 조사에서 실패로 확인",</a:t>
            </a:r>
          </a:p>
          <a:p xmlns:a="http://schemas.openxmlformats.org/drawingml/2006/main">
            <a:r>
              <a:t>  "limits": "2021년 조사 대상 처리행위의 규제 판단. 이후의 별도 제품·모델 품질 평가 아님",</a:t>
            </a:r>
          </a:p>
          <a:p xmlns:a="http://schemas.openxmlformats.org/drawingml/2006/main">
            <a:r>
              <a:t>  "evidenceStage": "감독기관 조사·제재",</a:t>
            </a:r>
          </a:p>
          <a:p xmlns:a="http://schemas.openxmlformats.org/drawingml/2006/main">
            <a:r>
              <a:t>  "sourceUrl": "https://www.korea.kr/news/policyNewsView.do?newsId=156449232"</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"AX03",</a:t>
            </a:r>
          </a:p>
          <a:p xmlns:a="http://schemas.openxmlformats.org/drawingml/2006/main">
            <a:r>
              <a:t>    "title": "이루다 개인정보 처리",</a:t>
            </a:r>
          </a:p>
          <a:p xmlns:a="http://schemas.openxmlformats.org/drawingml/2006/main">
            <a:r>
              <a:t>    "region": "국내",</a:t>
            </a:r>
          </a:p>
          <a:p xmlns:a="http://schemas.openxmlformats.org/drawingml/2006/main">
            <a:r>
              <a:t>    "country": "대한민국",</a:t>
            </a:r>
          </a:p>
          <a:p xmlns:a="http://schemas.openxmlformats.org/drawingml/2006/main">
            <a:r>
              <a:t>    "result": "실패",</a:t>
            </a:r>
          </a:p>
          <a:p xmlns:a="http://schemas.openxmlformats.org/drawingml/2006/main">
            <a:r>
              <a:t>    "kind": "학습·응답 데이터 통제",</a:t>
            </a:r>
          </a:p>
          <a:p xmlns:a="http://schemas.openxmlformats.org/drawingml/2006/main">
            <a:r>
              <a:t>    "period": "2021 조사",</a:t>
            </a:r>
          </a:p>
          <a:p xmlns:a="http://schemas.openxmlformats.org/drawingml/2006/main">
            <a:r>
              <a:t>    "sources": [</a:t>
            </a:r>
          </a:p>
          <a:p xmlns:a="http://schemas.openxmlformats.org/drawingml/2006/main">
            <a:r>
              <a:t>      "S03"</a:t>
            </a:r>
          </a:p>
          <a:p xmlns:a="http://schemas.openxmlformats.org/drawingml/2006/main">
            <a:r>
              <a:t>    ],</a:t>
            </a:r>
          </a:p>
          <a:p xmlns:a="http://schemas.openxmlformats.org/drawingml/2006/main">
            <a:r>
              <a:t>    "keywords": [</a:t>
            </a:r>
          </a:p>
          <a:p xmlns:a="http://schemas.openxmlformats.org/drawingml/2006/main">
            <a:r>
              <a:t>      "개인정보",</a:t>
            </a:r>
          </a:p>
          <a:p xmlns:a="http://schemas.openxmlformats.org/drawingml/2006/main">
            <a:r>
              <a:t>      "목적 제한",</a:t>
            </a:r>
          </a:p>
          <a:p xmlns:a="http://schemas.openxmlformats.org/drawingml/2006/main">
            <a:r>
              <a:t>      "데이터 재사용",</a:t>
            </a:r>
          </a:p>
          <a:p xmlns:a="http://schemas.openxmlformats.org/drawingml/2006/main">
            <a:r>
              <a:t>      "책임"</a:t>
            </a:r>
          </a:p>
          <a:p xmlns:a="http://schemas.openxmlformats.org/drawingml/2006/main">
            <a:r>
              <a:t>    ],</a:t>
            </a:r>
          </a:p>
          <a:p xmlns:a="http://schemas.openxmlformats.org/drawingml/2006/main">
            <a:r>
              <a:t>    "fact": "다른 서비스에서 수집한 대화의 목적 외 학습·운영 이용 등에 대한 개인정보보호위원회 제재",</a:t>
            </a:r>
          </a:p>
          <a:p xmlns:a="http://schemas.openxmlformats.org/drawingml/2006/main">
            <a:r>
              <a:t>    "limit": "2021년 조사 대상 행위 기준 · 후속 서비스 전체에 대한 평가 아님",</a:t>
            </a:r>
          </a:p>
          <a:p xmlns:a="http://schemas.openxmlformats.org/drawingml/2006/main">
            <a:r>
              <a:t>    "flow": [</a:t>
            </a:r>
          </a:p>
          <a:p xmlns:a="http://schemas.openxmlformats.org/drawingml/2006/main">
            <a:r>
              <a:t>      "원 서비스 대화",</a:t>
            </a:r>
          </a:p>
          <a:p xmlns:a="http://schemas.openxmlformats.org/drawingml/2006/main">
            <a:r>
              <a:t>      "목적 외 재사용",</a:t>
            </a:r>
          </a:p>
          <a:p xmlns:a="http://schemas.openxmlformats.org/drawingml/2006/main">
            <a:r>
              <a:t>      "학습·응답 DB",</a:t>
            </a:r>
          </a:p>
          <a:p xmlns:a="http://schemas.openxmlformats.org/drawingml/2006/main">
            <a:r>
              <a:t>      "이루다 발화"</a:t>
            </a:r>
          </a:p>
          <a:p xmlns:a="http://schemas.openxmlformats.org/drawingml/2006/main">
            <a:r>
              <a:t>    ],</a:t>
            </a:r>
          </a:p>
          <a:p xmlns:a="http://schemas.openxmlformats.org/drawingml/2006/main">
            <a:r>
              <a:t>    "flowBasis": "조사에서 확인된 처리 관계 요약 · 내부 구현 상세 미공개",</a:t>
            </a:r>
          </a:p>
          <a:p xmlns:a="http://schemas.openxmlformats.org/drawingml/2006/main">
            <a:r>
              <a:t>    "lesson": "데이터 보유와 AI 활용 권한의 분리",</a:t>
            </a:r>
          </a:p>
          <a:p xmlns:a="http://schemas.openxmlformats.org/drawingml/2006/main">
            <a:r>
              <a:t>    "local": "인사·민원 데이터의 목적·보유기간·접근정책을 별도 속성으로 관리",</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"수집 목적 태그 / 학습·검색·출력별 정책 / 삭제·회수 전파",</a:t>
            </a:r>
          </a:p>
          <a:p xmlns:a="http://schemas.openxmlformats.org/drawingml/2006/main">
            <a:r>
              <a:t>    "test": "목적 외 입력 거부·권한 회수 후 검색 및 캐시 노출 차단",</a:t>
            </a:r>
          </a:p>
          <a:p xmlns:a="http://schemas.openxmlformats.org/drawingml/2006/main">
            <a:r>
              <a:t>    "metric": "필수 거부셋 노출 건수 / 삭제 전파 지연"</a:t>
            </a:r>
          </a:p>
          <a:p xmlns:a="http://schemas.openxmlformats.org/drawingml/2006/main">
            <a:r>
              <a:t>  },</a:t>
            </a:r>
          </a:p>
          <a:p xmlns:a="http://schemas.openxmlformats.org/drawingml/2006/main">
            <a:r>
              <a:t>  "design": {</a:t>
            </a:r>
          </a:p>
          <a:p xmlns:a="http://schemas.openxmlformats.org/drawingml/2006/main">
            <a:r>
              <a:t>    "id": "AX03",</a:t>
            </a:r>
          </a:p>
          <a:p xmlns:a="http://schemas.openxmlformats.org/drawingml/2006/main">
            <a:r>
              <a:t>    "canonicalId": "AX03",</a:t>
            </a:r>
          </a:p>
          <a:p xmlns:a="http://schemas.openxmlformats.org/drawingml/2006/main">
            <a:r>
              <a:t>    "purpose": "대화 데이터의 목적 외 활용 실패 분석",</a:t>
            </a:r>
          </a:p>
          <a:p xmlns:a="http://schemas.openxmlformats.org/drawingml/2006/main">
            <a:r>
              <a:t>    "users": "서비스 이용자·데이터 관리자",</a:t>
            </a:r>
          </a:p>
          <a:p xmlns:a="http://schemas.openxmlformats.org/drawingml/2006/main">
            <a:r>
              <a:t>    "scope": [</a:t>
            </a:r>
          </a:p>
          <a:p xmlns:a="http://schemas.openxmlformats.org/drawingml/2006/main">
            <a:r>
              <a:t>      "수집 목적",</a:t>
            </a:r>
          </a:p>
          <a:p xmlns:a="http://schemas.openxmlformats.org/drawingml/2006/main">
            <a:r>
              <a:t>      "학습·응답 재사용",</a:t>
            </a:r>
          </a:p>
          <a:p xmlns:a="http://schemas.openxmlformats.org/drawingml/2006/main">
            <a:r>
              <a:t>      "삭제·회수"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"원 서비스 대화",</a:t>
            </a:r>
          </a:p>
          <a:p xmlns:a="http://schemas.openxmlformats.org/drawingml/2006/main">
            <a:r>
              <a:t>        "detail": "원 서비스 동의와 재사용 목적의 대조",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"수집 목적 / 학습·응답 재사용 / 삭제·회수",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"학습·응답 처리",</a:t>
            </a:r>
          </a:p>
          <a:p xmlns:a="http://schemas.openxmlformats.org/drawingml/2006/main">
            <a:r>
              <a:t>        "detail": "학습용·응답용 데이터 경로의 별도 심사",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"챗봇 이용자",</a:t>
            </a:r>
          </a:p>
          <a:p xmlns:a="http://schemas.openxmlformats.org/drawingml/2006/main">
            <a:r>
              <a:t>        "detail": "비허용 데이터 차단 및 기존 복제본 회수",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"대화 데이터",</a:t>
            </a:r>
          </a:p>
          <a:p xmlns:a="http://schemas.openxmlformats.org/drawingml/2006/main">
            <a:r>
              <a:t>        "detail": "원 대화의 개인정보·목적·보유기간 태깅",</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"삭제 이후 학습·검색·출력 경로의 잔존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"원 서비스 대화",</a:t>
            </a:r>
          </a:p>
          <a:p xmlns:a="http://schemas.openxmlformats.org/drawingml/2006/main">
            <a:r>
              <a:t>        "input": "원 서비스 동의와 재사용 목적의 대조",</a:t>
            </a:r>
          </a:p>
          <a:p xmlns:a="http://schemas.openxmlformats.org/drawingml/2006/main">
            <a:r>
              <a:t>        "process": "원 대화의 개인정보·목적·보유기간 태깅",</a:t>
            </a:r>
          </a:p>
          <a:p xmlns:a="http://schemas.openxmlformats.org/drawingml/2006/main">
            <a:r>
              <a:t>        "output": "대화 원문"</a:t>
            </a:r>
          </a:p>
          <a:p xmlns:a="http://schemas.openxmlformats.org/drawingml/2006/main">
            <a:r>
              <a:t>      },</a:t>
            </a:r>
          </a:p>
          <a:p xmlns:a="http://schemas.openxmlformats.org/drawingml/2006/main">
            <a:r>
              <a:t>      {</a:t>
            </a:r>
          </a:p>
          <a:p xmlns:a="http://schemas.openxmlformats.org/drawingml/2006/main">
            <a:r>
              <a:t>        "title": "목적 외 재사용",</a:t>
            </a:r>
          </a:p>
          <a:p xmlns:a="http://schemas.openxmlformats.org/drawingml/2006/main">
            <a:r>
              <a:t>        "input": "대화 원문",</a:t>
            </a:r>
          </a:p>
          <a:p xmlns:a="http://schemas.openxmlformats.org/drawingml/2006/main">
            <a:r>
              <a:t>        "process": "학습용·응답용 데이터 경로의 별도 심사",</a:t>
            </a:r>
          </a:p>
          <a:p xmlns:a="http://schemas.openxmlformats.org/drawingml/2006/main">
            <a:r>
              <a:t>        "output": "재사용 대상"</a:t>
            </a:r>
          </a:p>
          <a:p xmlns:a="http://schemas.openxmlformats.org/drawingml/2006/main">
            <a:r>
              <a:t>      },</a:t>
            </a:r>
          </a:p>
          <a:p xmlns:a="http://schemas.openxmlformats.org/drawingml/2006/main">
            <a:r>
              <a:t>      {</a:t>
            </a:r>
          </a:p>
          <a:p xmlns:a="http://schemas.openxmlformats.org/drawingml/2006/main">
            <a:r>
              <a:t>        "title": "학습·응답 DB",</a:t>
            </a:r>
          </a:p>
          <a:p xmlns:a="http://schemas.openxmlformats.org/drawingml/2006/main">
            <a:r>
              <a:t>        "input": "재사용 대상",</a:t>
            </a:r>
          </a:p>
          <a:p xmlns:a="http://schemas.openxmlformats.org/drawingml/2006/main">
            <a:r>
              <a:t>        "process": "목적·동의 범위 대사와 삭제 전파",</a:t>
            </a:r>
          </a:p>
          <a:p xmlns:a="http://schemas.openxmlformats.org/drawingml/2006/main">
            <a:r>
              <a:t>        "output": "학습·응답 자료"</a:t>
            </a:r>
          </a:p>
          <a:p xmlns:a="http://schemas.openxmlformats.org/drawingml/2006/main">
            <a:r>
              <a:t>      },</a:t>
            </a:r>
          </a:p>
          <a:p xmlns:a="http://schemas.openxmlformats.org/drawingml/2006/main">
            <a:r>
              <a:t>      {</a:t>
            </a:r>
          </a:p>
          <a:p xmlns:a="http://schemas.openxmlformats.org/drawingml/2006/main">
            <a:r>
              <a:t>        "title": "이루다 발화",</a:t>
            </a:r>
          </a:p>
          <a:p xmlns:a="http://schemas.openxmlformats.org/drawingml/2006/main">
            <a:r>
              <a:t>        "input": "학습·응답 자료",</a:t>
            </a:r>
          </a:p>
          <a:p xmlns:a="http://schemas.openxmlformats.org/drawingml/2006/main">
            <a:r>
              <a:t>        "process": "비허용 데이터 차단 및 기존 복제본 회수",</a:t>
            </a:r>
          </a:p>
          <a:p xmlns:a="http://schemas.openxmlformats.org/drawingml/2006/main">
            <a:r>
              <a:t>        "output": "생성 발화"</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"명시된 목적에 맞는 대화만 학습·검색·응답 경로에 제공",</a:t>
            </a:r>
          </a:p>
          <a:p xmlns:a="http://schemas.openxmlformats.org/drawingml/2006/main">
            <a:r>
              <a:t>      "exception": "동의 철회·다른 서비스 자료·복제된 삭제 대상",</a:t>
            </a:r>
          </a:p>
          <a:p xmlns:a="http://schemas.openxmlformats.org/drawingml/2006/main">
            <a:r>
              <a:t>      "evidence": "목적별 허용/차단 결과와 원천·색인·캐시 삭제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"서비스 이용자·데이터 관리자",</a:t>
            </a:r>
          </a:p>
          <a:p xmlns:a="http://schemas.openxmlformats.org/drawingml/2006/main">
            <a:r>
              <a:t>          "processing": "원 서비스 동의와 재사용 목적의 대조",</a:t>
            </a:r>
          </a:p>
          <a:p xmlns:a="http://schemas.openxmlformats.org/drawingml/2006/main">
            <a:r>
              <a:t>          "output": "대화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"대화 데이터",</a:t>
            </a:r>
          </a:p>
          <a:p xmlns:a="http://schemas.openxmlformats.org/drawingml/2006/main">
            <a:r>
              <a:t>          "processing": "원 대화의 개인정보·목적·보유기간 태깅",</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"대화 원문",</a:t>
            </a:r>
          </a:p>
          <a:p xmlns:a="http://schemas.openxmlformats.org/drawingml/2006/main">
            <a:r>
              <a:t>          "processing": "학습용·응답용 데이터 경로의 별도 심사",</a:t>
            </a:r>
          </a:p>
          <a:p xmlns:a="http://schemas.openxmlformats.org/drawingml/2006/main">
            <a:r>
              <a:t>          "output": "학습·응답 자료"</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"학습·응답 자료",</a:t>
            </a:r>
          </a:p>
          <a:p xmlns:a="http://schemas.openxmlformats.org/drawingml/2006/main">
            <a:r>
              <a:t>          "processing": "비허용 데이터 차단 및 기존 복제본 회수",</a:t>
            </a:r>
          </a:p>
          <a:p xmlns:a="http://schemas.openxmlformats.org/drawingml/2006/main">
            <a:r>
              <a:t>          "output": "생성 발화"</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"삭제 이후 학습·검색·출력 경로의 잔존 검사",</a:t>
            </a:r>
          </a:p>
          <a:p xmlns:a="http://schemas.openxmlformats.org/drawingml/2006/main">
            <a:r>
              <a:t>          "output": "목적별 허용/차단 결과와 원천·색인·캐시 삭제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"삭제 이후 학습·검색·출력 경로의 잔존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"S03",</a:t>
            </a:r>
          </a:p>
          <a:p xmlns:a="http://schemas.openxmlformats.org/drawingml/2006/main">
            <a:r>
              <a:t>        "title": "개인정보보호위원회 · 이루다 조사 결과",</a:t>
            </a:r>
          </a:p>
          <a:p xmlns:a="http://schemas.openxmlformats.org/drawingml/2006/main">
            <a:r>
              <a:t>        "url": "https://www.korea.kr/news/policyNewsView.do?newsId=156449232",</a:t>
            </a:r>
          </a:p>
          <a:p xmlns:a="http://schemas.openxmlformats.org/drawingml/2006/main">
            <a:r>
              <a:t>        "published": "2021-04-28",</a:t>
            </a:r>
          </a:p>
          <a:p xmlns:a="http://schemas.openxmlformats.org/drawingml/2006/main">
            <a:r>
              <a:t>        "level": "감독기관 조사",</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"데이터 보유와 AI 활용 권한의 분리",</a:t>
            </a:r>
          </a:p>
          <a:p xmlns:a="http://schemas.openxmlformats.org/drawingml/2006/main">
            <a:r>
              <a:t>    "local": "인사·민원 데이터의 목적·보유기간·접근정책을 별도 속성으로 관리",</a:t>
            </a:r>
          </a:p>
          <a:p xmlns:a="http://schemas.openxmlformats.org/drawingml/2006/main">
            <a:r>
              <a:t>    "sourceDetail": null,</a:t>
            </a:r>
          </a:p>
          <a:p xmlns:a="http://schemas.openxmlformats.org/drawingml/2006/main">
            <a:r>
              <a:t>    "narrative": [</a:t>
            </a:r>
          </a:p>
          <a:p xmlns:a="http://schemas.openxmlformats.org/drawingml/2006/main">
            <a:r>
              <a:t>      "다른 서비스에서 수집한 대화를 AI 학습·운영에 활용하는 과정의 개인정보 통제 실패 사례. 자료를 보유한다는 사실과 해당 목적의 AI 이용 권한이 일치하지 않는 문제.",</a:t>
            </a:r>
          </a:p>
          <a:p xmlns:a="http://schemas.openxmlformats.org/drawingml/2006/main">
            <a:r>
              <a:t>      "원 수집 목적·동의 범위·보유기간을 데이터에 연결하고, 학습용·검색용·출력용 경로마다 허용 여부를 판정하는 CCK 재발 방지 설계. 삭제 요청은 원본뿐 아니라 색인·캐시·복제본까지 추적하는 구조.",</a:t>
            </a:r>
          </a:p>
          <a:p xmlns:a="http://schemas.openxmlformats.org/drawingml/2006/main">
            <a:r>
              <a:t>      "TS 인사·민원 데이터의 연결 시 업무 권한과 AI 재사용 목적을 별도 속성으로 관리할 근거. 민감정보를 포함한 실제 사용자 데이터를 시험에 노출하지 않고 비허용 목적·회수 상황을 합성 자료로 재현하는 검수."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"재사용 요청",</a:t>
            </a:r>
          </a:p>
          <a:p xmlns:a="http://schemas.openxmlformats.org/drawingml/2006/main">
            <a:r>
              <a:t>          "layer": "이용 접점",</a:t>
            </a:r>
          </a:p>
          <a:p xmlns:a="http://schemas.openxmlformats.org/drawingml/2006/main">
            <a:r>
              <a:t>          "detail": "서비스 이용자·데이터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"목적·동의 범위",</a:t>
            </a:r>
          </a:p>
          <a:p xmlns:a="http://schemas.openxmlformats.org/drawingml/2006/main">
            <a:r>
              <a:t>          "layer": "업무 문맥",</a:t>
            </a:r>
          </a:p>
          <a:p xmlns:a="http://schemas.openxmlformats.org/drawingml/2006/main">
            <a:r>
              <a:t>          "detail": "원 서비스 동의와 재사용 목적의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"대상 자료 조회",</a:t>
            </a:r>
          </a:p>
          <a:p xmlns:a="http://schemas.openxmlformats.org/drawingml/2006/main">
            <a:r>
              <a:t>          "layer": "자료 조회",</a:t>
            </a:r>
          </a:p>
          <a:p xmlns:a="http://schemas.openxmlformats.org/drawingml/2006/main">
            <a:r>
              <a:t>          "detail": "대화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"학습·응답 분리",</a:t>
            </a:r>
          </a:p>
          <a:p xmlns:a="http://schemas.openxmlformats.org/drawingml/2006/main">
            <a:r>
              <a:t>          "layer": "핵심 처리",</a:t>
            </a:r>
          </a:p>
          <a:p xmlns:a="http://schemas.openxmlformats.org/drawingml/2006/main">
            <a:r>
              <a:t>          "detail": "학습용·응답용 데이터 경로의 별도 심사",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"목적 외 이용 차단",</a:t>
            </a:r>
          </a:p>
          <a:p xmlns:a="http://schemas.openxmlformats.org/drawingml/2006/main">
            <a:r>
              <a:t>          "layer": "결과 검증",</a:t>
            </a:r>
          </a:p>
          <a:p xmlns:a="http://schemas.openxmlformats.org/drawingml/2006/main">
            <a:r>
              <a:t>          "detail": "목적·동의 범위 대사와 삭제 전파",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"자료 관리자 심사",</a:t>
            </a:r>
          </a:p>
          <a:p xmlns:a="http://schemas.openxmlformats.org/drawingml/2006/main">
            <a:r>
              <a:t>          "layer": "사람 확인",</a:t>
            </a:r>
          </a:p>
          <a:p xmlns:a="http://schemas.openxmlformats.org/drawingml/2006/main">
            <a:r>
              <a:t>          "detail": "명시된 목적에 맞는 대화만 학습·검색·응답 경로에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"허용본·회수 처리",</a:t>
            </a:r>
          </a:p>
          <a:p xmlns:a="http://schemas.openxmlformats.org/drawingml/2006/main">
            <a:r>
              <a:t>          "layer": "업무 연결",</a:t>
            </a:r>
          </a:p>
          <a:p xmlns:a="http://schemas.openxmlformats.org/drawingml/2006/main">
            <a:r>
              <a:t>          "detail": "비허용 데이터 차단 및 기존 복제본 회수",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"잔존 데이터 검사",</a:t>
            </a:r>
          </a:p>
          <a:p xmlns:a="http://schemas.openxmlformats.org/drawingml/2006/main">
            <a:r>
              <a:t>          "layer": "운영 관측",</a:t>
            </a:r>
          </a:p>
          <a:p xmlns:a="http://schemas.openxmlformats.org/drawingml/2006/main">
            <a:r>
              <a:t>          "detail": "삭제 이후 학습·검색·출력 경로의 잔존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"원 서비스 대화",</a:t>
            </a:r>
          </a:p>
          <a:p xmlns:a="http://schemas.openxmlformats.org/drawingml/2006/main">
            <a:r>
              <a:t>          "layer": "데이터 원천",</a:t>
            </a:r>
          </a:p>
          <a:p xmlns:a="http://schemas.openxmlformats.org/drawingml/2006/main">
            <a:r>
              <a:t>          "detail": "대화 데이터",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"개인정보 태깅",</a:t>
            </a:r>
          </a:p>
          <a:p xmlns:a="http://schemas.openxmlformats.org/drawingml/2006/main">
            <a:r>
              <a:t>          "layer": "준비·갱신",</a:t>
            </a:r>
          </a:p>
          <a:p xmlns:a="http://schemas.openxmlformats.org/drawingml/2006/main">
            <a:r>
              <a:t>          "detail": "원 대화의 개인정보·목적·보유기간 태깅",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"복제본·판본 목록",</a:t>
            </a:r>
          </a:p>
          <a:p xmlns:a="http://schemas.openxmlformats.org/drawingml/2006/main">
            <a:r>
              <a:t>          "layer": "상태·지식 저장",</a:t>
            </a:r>
          </a:p>
          <a:p xmlns:a="http://schemas.openxmlformats.org/drawingml/2006/main">
            <a:r>
              <a:t>          "detail": "목적별 허용/차단 결과와 원천·색인·캐시 삭제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"삭제·보유정책",</a:t>
            </a:r>
          </a:p>
          <a:p xmlns:a="http://schemas.openxmlformats.org/drawingml/2006/main">
            <a:r>
              <a:t>          "layer": "권한·정책",</a:t>
            </a:r>
          </a:p>
          <a:p xmlns:a="http://schemas.openxmlformats.org/drawingml/2006/main">
            <a:r>
              <a:t>          "detail": "동의 철회·다른 서비스 자료·복제된 삭제 대상",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"원 서비스 대화 → 목적 외 재사용 → 학습·응답 DB → 이루다 발화"</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"원 서비스 동의와 재사용 목적의 대조",</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"대화 원문",</a:t>
            </a:r>
          </a:p>
          <a:p xmlns:a="http://schemas.openxmlformats.org/drawingml/2006/main">
            <a:r>
              <a:t>          "check": "목적·동의 범위 대사와 삭제 전파"</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"삭제·보유정책",</a:t>
            </a:r>
          </a:p>
          <a:p xmlns:a="http://schemas.openxmlformats.org/drawingml/2006/main">
            <a:r>
              <a:t>          "check": "목적·동의 범위 대사와 삭제 전파"</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"학습·응답 자료",</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"학습·응답 자료",</a:t>
            </a:r>
          </a:p>
          <a:p xmlns:a="http://schemas.openxmlformats.org/drawingml/2006/main">
            <a:r>
              <a:t>          "check": "동의 철회·다른 서비스 자료·복제된 삭제 대상"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"생성 발화",</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"대화 데이터의 목적 외 활용 실패 분석 / 수집 목적·학습·응답 재사용·삭제·회수",</a:t>
            </a:r>
          </a:p>
          <a:p xmlns:a="http://schemas.openxmlformats.org/drawingml/2006/main">
            <a:r>
              <a:t>        "extension": "인사·민원 데이터의 목적·보유기간·접근정책을 별도 속성으로 관리"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"동의 철회·다른 서비스 자료·복제된 삭제 대상",</a:t>
            </a:r>
          </a:p>
          <a:p xmlns:a="http://schemas.openxmlformats.org/drawingml/2006/main">
            <a:r>
              <a:t>        "hold": "목적·동의 범위 대사와 삭제 전파",</a:t>
            </a:r>
          </a:p>
          <a:p xmlns:a="http://schemas.openxmlformats.org/drawingml/2006/main">
            <a:r>
              <a:t>        "recovery": "삭제 이후 학습·검색·출력 경로의 잔존 검사",</a:t>
            </a:r>
          </a:p>
          <a:p xmlns:a="http://schemas.openxmlformats.org/drawingml/2006/main">
            <a:r>
              <a:t>        "evidence": "목적별 허용/차단 결과와 원천·색인·캐시 삭제 대사"</a:t>
            </a:r>
          </a:p>
          <a:p xmlns:a="http://schemas.openxmlformats.org/drawingml/2006/main">
            <a:r>
              <a:t>      },</a:t>
            </a:r>
          </a:p>
          <a:p xmlns:a="http://schemas.openxmlformats.org/drawingml/2006/main">
            <a:r>
              <a:t>      "data": {</a:t>
            </a:r>
          </a:p>
          <a:p xmlns:a="http://schemas.openxmlformats.org/drawingml/2006/main">
            <a:r>
              <a:t>        "source": "대화 데이터",</a:t>
            </a:r>
          </a:p>
          <a:p xmlns:a="http://schemas.openxmlformats.org/drawingml/2006/main">
            <a:r>
              <a:t>        "prepare": "원 대화의 개인정보·목적·보유기간 태깅",</a:t>
            </a:r>
          </a:p>
          <a:p xmlns:a="http://schemas.openxmlformats.org/drawingml/2006/main">
            <a:r>
              <a:t>        "output": "대화 원문",</a:t>
            </a:r>
          </a:p>
          <a:p xmlns:a="http://schemas.openxmlformats.org/drawingml/2006/main">
            <a:r>
              <a:t>        "refresh": "삭제 이후 학습·검색·출력 경로의 잔존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"AX03",</a:t>
            </a:r>
          </a:p>
          <a:p xmlns:a="http://schemas.openxmlformats.org/drawingml/2006/main">
            <a:r>
              <a:t>    "success": [</a:t>
            </a:r>
          </a:p>
          <a:p xmlns:a="http://schemas.openxmlformats.org/drawingml/2006/main">
            <a:r>
              <a:t>      "수집 목적별 데이터 분리",</a:t>
            </a:r>
          </a:p>
          <a:p xmlns:a="http://schemas.openxmlformats.org/drawingml/2006/main">
            <a:r>
              <a:t>      "이용 동의·삭제 요청의 재사용 경로 반영"</a:t>
            </a:r>
          </a:p>
          <a:p xmlns:a="http://schemas.openxmlformats.org/drawingml/2006/main">
            <a:r>
              <a:t>    ],</a:t>
            </a:r>
          </a:p>
          <a:p xmlns:a="http://schemas.openxmlformats.org/drawingml/2006/main">
            <a:r>
              <a:t>    "risks": [</a:t>
            </a:r>
          </a:p>
          <a:p xmlns:a="http://schemas.openxmlformats.org/drawingml/2006/main">
            <a:r>
              <a:t>      "다른 서비스 대화의 목적 외 이용",</a:t>
            </a:r>
          </a:p>
          <a:p xmlns:a="http://schemas.openxmlformats.org/drawingml/2006/main">
            <a:r>
              <a:t>      "학습·응답 경로의 개인정보 통제 부족"</a:t>
            </a:r>
          </a:p>
          <a:p xmlns:a="http://schemas.openxmlformats.org/drawingml/2006/main">
            <a:r>
              <a:t>    ],</a:t>
            </a:r>
          </a:p>
          <a:p xmlns:a="http://schemas.openxmlformats.org/drawingml/2006/main">
            <a:r>
              <a:t>    "architecture": [</a:t>
            </a:r>
          </a:p>
          <a:p xmlns:a="http://schemas.openxmlformats.org/drawingml/2006/main">
            <a:r>
              <a:t>      "원 서비스 대화",</a:t>
            </a:r>
          </a:p>
          <a:p xmlns:a="http://schemas.openxmlformats.org/drawingml/2006/main">
            <a:r>
              <a:t>      "학습·응답 처리",</a:t>
            </a:r>
          </a:p>
          <a:p xmlns:a="http://schemas.openxmlformats.org/drawingml/2006/main">
            <a:r>
              <a:t>      "대화 데이터",</a:t>
            </a:r>
          </a:p>
          <a:p xmlns:a="http://schemas.openxmlformats.org/drawingml/2006/main">
            <a:r>
              <a:t>      "챗봇 이용자"</a:t>
            </a:r>
          </a:p>
          <a:p xmlns:a="http://schemas.openxmlformats.org/drawingml/2006/main">
            <a:r>
              <a:t>    ],</a:t>
            </a:r>
          </a:p>
          <a:p xmlns:a="http://schemas.openxmlformats.org/drawingml/2006/main">
            <a:r>
              <a:t>    "transfers": [</a:t>
            </a:r>
          </a:p>
          <a:p xmlns:a="http://schemas.openxmlformats.org/drawingml/2006/main">
            <a:r>
              <a:t>      "대화 원문",</a:t>
            </a:r>
          </a:p>
          <a:p xmlns:a="http://schemas.openxmlformats.org/drawingml/2006/main">
            <a:r>
              <a:t>      "재사용 대상",</a:t>
            </a:r>
          </a:p>
          <a:p xmlns:a="http://schemas.openxmlformats.org/drawingml/2006/main">
            <a:r>
              <a:t>      "학습·응답 자료",</a:t>
            </a:r>
          </a:p>
          <a:p xmlns:a="http://schemas.openxmlformats.org/drawingml/2006/main">
            <a:r>
              <a:t>      "생성 발화"</a:t>
            </a:r>
          </a:p>
          <a:p xmlns:a="http://schemas.openxmlformats.org/drawingml/2006/main">
            <a:r>
              <a:t>    ],</a:t>
            </a:r>
          </a:p>
          <a:p xmlns:a="http://schemas.openxmlformats.org/drawingml/2006/main">
            <a:r>
              <a:t>    "control": "목적·동의 범위 대사와 삭제 전파",</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개인정보보호위원회 · 이루다 조사 결과 https://www.korea.kr/news/policyNewsView.do?newsId=156449232</a:t>
            </a:r>
          </a:p>
          <a:p xmlns:a="http://schemas.openxmlformats.org/drawingml/2006/main">
            <a:r>
              <a:t>홈페이지 https://heen1987-ops.github.io/TS-business-Plan-001/index.html?view=casebook&amp;case=AX03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"AX03",</a:t>
            </a:r>
          </a:p>
          <a:p xmlns:a="http://schemas.openxmlformats.org/drawingml/2006/main">
            <a:r>
              <a:t>    "title": "이루다 개인정보 처리",</a:t>
            </a:r>
          </a:p>
          <a:p xmlns:a="http://schemas.openxmlformats.org/drawingml/2006/main">
            <a:r>
              <a:t>    "region": "국내",</a:t>
            </a:r>
          </a:p>
          <a:p xmlns:a="http://schemas.openxmlformats.org/drawingml/2006/main">
            <a:r>
              <a:t>    "country": "대한민국",</a:t>
            </a:r>
          </a:p>
          <a:p xmlns:a="http://schemas.openxmlformats.org/drawingml/2006/main">
            <a:r>
              <a:t>    "result": "실패",</a:t>
            </a:r>
          </a:p>
          <a:p xmlns:a="http://schemas.openxmlformats.org/drawingml/2006/main">
            <a:r>
              <a:t>    "kind": "학습·응답 데이터 통제",</a:t>
            </a:r>
          </a:p>
          <a:p xmlns:a="http://schemas.openxmlformats.org/drawingml/2006/main">
            <a:r>
              <a:t>    "period": "2021 조사",</a:t>
            </a:r>
          </a:p>
          <a:p xmlns:a="http://schemas.openxmlformats.org/drawingml/2006/main">
            <a:r>
              <a:t>    "sources": [</a:t>
            </a:r>
          </a:p>
          <a:p xmlns:a="http://schemas.openxmlformats.org/drawingml/2006/main">
            <a:r>
              <a:t>      "S03"</a:t>
            </a:r>
          </a:p>
          <a:p xmlns:a="http://schemas.openxmlformats.org/drawingml/2006/main">
            <a:r>
              <a:t>    ],</a:t>
            </a:r>
          </a:p>
          <a:p xmlns:a="http://schemas.openxmlformats.org/drawingml/2006/main">
            <a:r>
              <a:t>    "keywords": [</a:t>
            </a:r>
          </a:p>
          <a:p xmlns:a="http://schemas.openxmlformats.org/drawingml/2006/main">
            <a:r>
              <a:t>      "개인정보",</a:t>
            </a:r>
          </a:p>
          <a:p xmlns:a="http://schemas.openxmlformats.org/drawingml/2006/main">
            <a:r>
              <a:t>      "목적 제한",</a:t>
            </a:r>
          </a:p>
          <a:p xmlns:a="http://schemas.openxmlformats.org/drawingml/2006/main">
            <a:r>
              <a:t>      "데이터 재사용",</a:t>
            </a:r>
          </a:p>
          <a:p xmlns:a="http://schemas.openxmlformats.org/drawingml/2006/main">
            <a:r>
              <a:t>      "책임"</a:t>
            </a:r>
          </a:p>
          <a:p xmlns:a="http://schemas.openxmlformats.org/drawingml/2006/main">
            <a:r>
              <a:t>    ],</a:t>
            </a:r>
          </a:p>
          <a:p xmlns:a="http://schemas.openxmlformats.org/drawingml/2006/main">
            <a:r>
              <a:t>    "fact": "다른 서비스에서 수집한 대화의 목적 외 학습·운영 이용 등에 대한 개인정보보호위원회 제재",</a:t>
            </a:r>
          </a:p>
          <a:p xmlns:a="http://schemas.openxmlformats.org/drawingml/2006/main">
            <a:r>
              <a:t>    "limit": "2021년 조사 대상 행위 기준 · 후속 서비스 전체에 대한 평가 아님",</a:t>
            </a:r>
          </a:p>
          <a:p xmlns:a="http://schemas.openxmlformats.org/drawingml/2006/main">
            <a:r>
              <a:t>    "flow": [</a:t>
            </a:r>
          </a:p>
          <a:p xmlns:a="http://schemas.openxmlformats.org/drawingml/2006/main">
            <a:r>
              <a:t>      "원 서비스 대화",</a:t>
            </a:r>
          </a:p>
          <a:p xmlns:a="http://schemas.openxmlformats.org/drawingml/2006/main">
            <a:r>
              <a:t>      "목적 외 재사용",</a:t>
            </a:r>
          </a:p>
          <a:p xmlns:a="http://schemas.openxmlformats.org/drawingml/2006/main">
            <a:r>
              <a:t>      "학습·응답 DB",</a:t>
            </a:r>
          </a:p>
          <a:p xmlns:a="http://schemas.openxmlformats.org/drawingml/2006/main">
            <a:r>
              <a:t>      "이루다 발화"</a:t>
            </a:r>
          </a:p>
          <a:p xmlns:a="http://schemas.openxmlformats.org/drawingml/2006/main">
            <a:r>
              <a:t>    ],</a:t>
            </a:r>
          </a:p>
          <a:p xmlns:a="http://schemas.openxmlformats.org/drawingml/2006/main">
            <a:r>
              <a:t>    "flowBasis": "조사에서 확인된 처리 관계 요약 · 내부 구현 상세 미공개",</a:t>
            </a:r>
          </a:p>
          <a:p xmlns:a="http://schemas.openxmlformats.org/drawingml/2006/main">
            <a:r>
              <a:t>    "lesson": "데이터 보유와 AI 활용 권한의 분리",</a:t>
            </a:r>
          </a:p>
          <a:p xmlns:a="http://schemas.openxmlformats.org/drawingml/2006/main">
            <a:r>
              <a:t>    "local": "인사·민원 데이터의 목적·보유기간·접근정책을 별도 속성으로 관리",</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"수집 목적 태그 / 학습·검색·출력별 정책 / 삭제·회수 전파",</a:t>
            </a:r>
          </a:p>
          <a:p xmlns:a="http://schemas.openxmlformats.org/drawingml/2006/main">
            <a:r>
              <a:t>    "test": "목적 외 입력 거부·권한 회수 후 검색 및 캐시 노출 차단",</a:t>
            </a:r>
          </a:p>
          <a:p xmlns:a="http://schemas.openxmlformats.org/drawingml/2006/main">
            <a:r>
              <a:t>    "metric": "필수 거부셋 노출 건수 / 삭제 전파 지연"</a:t>
            </a:r>
          </a:p>
          <a:p xmlns:a="http://schemas.openxmlformats.org/drawingml/2006/main">
            <a:r>
              <a:t>  },</a:t>
            </a:r>
          </a:p>
          <a:p xmlns:a="http://schemas.openxmlformats.org/drawingml/2006/main">
            <a:r>
              <a:t>  "design": {</a:t>
            </a:r>
          </a:p>
          <a:p xmlns:a="http://schemas.openxmlformats.org/drawingml/2006/main">
            <a:r>
              <a:t>    "id": "AX03",</a:t>
            </a:r>
          </a:p>
          <a:p xmlns:a="http://schemas.openxmlformats.org/drawingml/2006/main">
            <a:r>
              <a:t>    "canonicalId": "AX03",</a:t>
            </a:r>
          </a:p>
          <a:p xmlns:a="http://schemas.openxmlformats.org/drawingml/2006/main">
            <a:r>
              <a:t>    "purpose": "대화 데이터의 목적 외 활용 실패 분석",</a:t>
            </a:r>
          </a:p>
          <a:p xmlns:a="http://schemas.openxmlformats.org/drawingml/2006/main">
            <a:r>
              <a:t>    "users": "서비스 이용자·데이터 관리자",</a:t>
            </a:r>
          </a:p>
          <a:p xmlns:a="http://schemas.openxmlformats.org/drawingml/2006/main">
            <a:r>
              <a:t>    "scope": [</a:t>
            </a:r>
          </a:p>
          <a:p xmlns:a="http://schemas.openxmlformats.org/drawingml/2006/main">
            <a:r>
              <a:t>      "수집 목적",</a:t>
            </a:r>
          </a:p>
          <a:p xmlns:a="http://schemas.openxmlformats.org/drawingml/2006/main">
            <a:r>
              <a:t>      "학습·응답 재사용",</a:t>
            </a:r>
          </a:p>
          <a:p xmlns:a="http://schemas.openxmlformats.org/drawingml/2006/main">
            <a:r>
              <a:t>      "삭제·회수"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"원 서비스 대화",</a:t>
            </a:r>
          </a:p>
          <a:p xmlns:a="http://schemas.openxmlformats.org/drawingml/2006/main">
            <a:r>
              <a:t>        "detail": "원 서비스 동의와 재사용 목적의 대조",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"수집 목적 / 학습·응답 재사용 / 삭제·회수",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"학습·응답 처리",</a:t>
            </a:r>
          </a:p>
          <a:p xmlns:a="http://schemas.openxmlformats.org/drawingml/2006/main">
            <a:r>
              <a:t>        "detail": "학습용·응답용 데이터 경로의 별도 심사",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"챗봇 이용자",</a:t>
            </a:r>
          </a:p>
          <a:p xmlns:a="http://schemas.openxmlformats.org/drawingml/2006/main">
            <a:r>
              <a:t>        "detail": "비허용 데이터 차단 및 기존 복제본 회수",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"대화 데이터",</a:t>
            </a:r>
          </a:p>
          <a:p xmlns:a="http://schemas.openxmlformats.org/drawingml/2006/main">
            <a:r>
              <a:t>        "detail": "원 대화의 개인정보·목적·보유기간 태깅",</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"삭제 이후 학습·검색·출력 경로의 잔존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"원 서비스 대화",</a:t>
            </a:r>
          </a:p>
          <a:p xmlns:a="http://schemas.openxmlformats.org/drawingml/2006/main">
            <a:r>
              <a:t>        "input": "원 서비스 동의와 재사용 목적의 대조",</a:t>
            </a:r>
          </a:p>
          <a:p xmlns:a="http://schemas.openxmlformats.org/drawingml/2006/main">
            <a:r>
              <a:t>        "process": "원 대화의 개인정보·목적·보유기간 태깅",</a:t>
            </a:r>
          </a:p>
          <a:p xmlns:a="http://schemas.openxmlformats.org/drawingml/2006/main">
            <a:r>
              <a:t>        "output": "대화 원문"</a:t>
            </a:r>
          </a:p>
          <a:p xmlns:a="http://schemas.openxmlformats.org/drawingml/2006/main">
            <a:r>
              <a:t>      },</a:t>
            </a:r>
          </a:p>
          <a:p xmlns:a="http://schemas.openxmlformats.org/drawingml/2006/main">
            <a:r>
              <a:t>      {</a:t>
            </a:r>
          </a:p>
          <a:p xmlns:a="http://schemas.openxmlformats.org/drawingml/2006/main">
            <a:r>
              <a:t>        "title": "목적 외 재사용",</a:t>
            </a:r>
          </a:p>
          <a:p xmlns:a="http://schemas.openxmlformats.org/drawingml/2006/main">
            <a:r>
              <a:t>        "input": "대화 원문",</a:t>
            </a:r>
          </a:p>
          <a:p xmlns:a="http://schemas.openxmlformats.org/drawingml/2006/main">
            <a:r>
              <a:t>        "process": "학습용·응답용 데이터 경로의 별도 심사",</a:t>
            </a:r>
          </a:p>
          <a:p xmlns:a="http://schemas.openxmlformats.org/drawingml/2006/main">
            <a:r>
              <a:t>        "output": "재사용 대상"</a:t>
            </a:r>
          </a:p>
          <a:p xmlns:a="http://schemas.openxmlformats.org/drawingml/2006/main">
            <a:r>
              <a:t>      },</a:t>
            </a:r>
          </a:p>
          <a:p xmlns:a="http://schemas.openxmlformats.org/drawingml/2006/main">
            <a:r>
              <a:t>      {</a:t>
            </a:r>
          </a:p>
          <a:p xmlns:a="http://schemas.openxmlformats.org/drawingml/2006/main">
            <a:r>
              <a:t>        "title": "학습·응답 DB",</a:t>
            </a:r>
          </a:p>
          <a:p xmlns:a="http://schemas.openxmlformats.org/drawingml/2006/main">
            <a:r>
              <a:t>        "input": "재사용 대상",</a:t>
            </a:r>
          </a:p>
          <a:p xmlns:a="http://schemas.openxmlformats.org/drawingml/2006/main">
            <a:r>
              <a:t>        "process": "목적·동의 범위 대사와 삭제 전파",</a:t>
            </a:r>
          </a:p>
          <a:p xmlns:a="http://schemas.openxmlformats.org/drawingml/2006/main">
            <a:r>
              <a:t>        "output": "학습·응답 자료"</a:t>
            </a:r>
          </a:p>
          <a:p xmlns:a="http://schemas.openxmlformats.org/drawingml/2006/main">
            <a:r>
              <a:t>      },</a:t>
            </a:r>
          </a:p>
          <a:p xmlns:a="http://schemas.openxmlformats.org/drawingml/2006/main">
            <a:r>
              <a:t>      {</a:t>
            </a:r>
          </a:p>
          <a:p xmlns:a="http://schemas.openxmlformats.org/drawingml/2006/main">
            <a:r>
              <a:t>        "title": "이루다 발화",</a:t>
            </a:r>
          </a:p>
          <a:p xmlns:a="http://schemas.openxmlformats.org/drawingml/2006/main">
            <a:r>
              <a:t>        "input": "학습·응답 자료",</a:t>
            </a:r>
          </a:p>
          <a:p xmlns:a="http://schemas.openxmlformats.org/drawingml/2006/main">
            <a:r>
              <a:t>        "process": "비허용 데이터 차단 및 기존 복제본 회수",</a:t>
            </a:r>
          </a:p>
          <a:p xmlns:a="http://schemas.openxmlformats.org/drawingml/2006/main">
            <a:r>
              <a:t>        "output": "생성 발화"</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"명시된 목적에 맞는 대화만 학습·검색·응답 경로에 제공",</a:t>
            </a:r>
          </a:p>
          <a:p xmlns:a="http://schemas.openxmlformats.org/drawingml/2006/main">
            <a:r>
              <a:t>      "exception": "동의 철회·다른 서비스 자료·복제된 삭제 대상",</a:t>
            </a:r>
          </a:p>
          <a:p xmlns:a="http://schemas.openxmlformats.org/drawingml/2006/main">
            <a:r>
              <a:t>      "evidence": "목적별 허용/차단 결과와 원천·색인·캐시 삭제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"서비스 이용자·데이터 관리자",</a:t>
            </a:r>
          </a:p>
          <a:p xmlns:a="http://schemas.openxmlformats.org/drawingml/2006/main">
            <a:r>
              <a:t>          "processing": "원 서비스 동의와 재사용 목적의 대조",</a:t>
            </a:r>
          </a:p>
          <a:p xmlns:a="http://schemas.openxmlformats.org/drawingml/2006/main">
            <a:r>
              <a:t>          "output": "대화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"대화 데이터",</a:t>
            </a:r>
          </a:p>
          <a:p xmlns:a="http://schemas.openxmlformats.org/drawingml/2006/main">
            <a:r>
              <a:t>          "processing": "원 대화의 개인정보·목적·보유기간 태깅",</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"대화 원문",</a:t>
            </a:r>
          </a:p>
          <a:p xmlns:a="http://schemas.openxmlformats.org/drawingml/2006/main">
            <a:r>
              <a:t>          "processing": "학습용·응답용 데이터 경로의 별도 심사",</a:t>
            </a:r>
          </a:p>
          <a:p xmlns:a="http://schemas.openxmlformats.org/drawingml/2006/main">
            <a:r>
              <a:t>          "output": "학습·응답 자료"</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"학습·응답 자료",</a:t>
            </a:r>
          </a:p>
          <a:p xmlns:a="http://schemas.openxmlformats.org/drawingml/2006/main">
            <a:r>
              <a:t>          "processing": "비허용 데이터 차단 및 기존 복제본 회수",</a:t>
            </a:r>
          </a:p>
          <a:p xmlns:a="http://schemas.openxmlformats.org/drawingml/2006/main">
            <a:r>
              <a:t>          "output": "생성 발화"</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"삭제 이후 학습·검색·출력 경로의 잔존 검사",</a:t>
            </a:r>
          </a:p>
          <a:p xmlns:a="http://schemas.openxmlformats.org/drawingml/2006/main">
            <a:r>
              <a:t>          "output": "목적별 허용/차단 결과와 원천·색인·캐시 삭제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"삭제 이후 학습·검색·출력 경로의 잔존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"S03",</a:t>
            </a:r>
          </a:p>
          <a:p xmlns:a="http://schemas.openxmlformats.org/drawingml/2006/main">
            <a:r>
              <a:t>        "title": "개인정보보호위원회 · 이루다 조사 결과",</a:t>
            </a:r>
          </a:p>
          <a:p xmlns:a="http://schemas.openxmlformats.org/drawingml/2006/main">
            <a:r>
              <a:t>        "url": "https://www.korea.kr/news/policyNewsView.do?newsId=156449232",</a:t>
            </a:r>
          </a:p>
          <a:p xmlns:a="http://schemas.openxmlformats.org/drawingml/2006/main">
            <a:r>
              <a:t>        "published": "2021-04-28",</a:t>
            </a:r>
          </a:p>
          <a:p xmlns:a="http://schemas.openxmlformats.org/drawingml/2006/main">
            <a:r>
              <a:t>        "level": "감독기관 조사",</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"데이터 보유와 AI 활용 권한의 분리",</a:t>
            </a:r>
          </a:p>
          <a:p xmlns:a="http://schemas.openxmlformats.org/drawingml/2006/main">
            <a:r>
              <a:t>    "local": "인사·민원 데이터의 목적·보유기간·접근정책을 별도 속성으로 관리",</a:t>
            </a:r>
          </a:p>
          <a:p xmlns:a="http://schemas.openxmlformats.org/drawingml/2006/main">
            <a:r>
              <a:t>    "sourceDetail": null,</a:t>
            </a:r>
          </a:p>
          <a:p xmlns:a="http://schemas.openxmlformats.org/drawingml/2006/main">
            <a:r>
              <a:t>    "narrative": [</a:t>
            </a:r>
          </a:p>
          <a:p xmlns:a="http://schemas.openxmlformats.org/drawingml/2006/main">
            <a:r>
              <a:t>      "다른 서비스에서 수집한 대화를 AI 학습·운영에 활용하는 과정의 개인정보 통제 실패 사례. 자료를 보유한다는 사실과 해당 목적의 AI 이용 권한이 일치하지 않는 문제.",</a:t>
            </a:r>
          </a:p>
          <a:p xmlns:a="http://schemas.openxmlformats.org/drawingml/2006/main">
            <a:r>
              <a:t>      "원 수집 목적·동의 범위·보유기간을 데이터에 연결하고, 학습용·검색용·출력용 경로마다 허용 여부를 판정하는 CCK 재발 방지 설계. 삭제 요청은 원본뿐 아니라 색인·캐시·복제본까지 추적하는 구조.",</a:t>
            </a:r>
          </a:p>
          <a:p xmlns:a="http://schemas.openxmlformats.org/drawingml/2006/main">
            <a:r>
              <a:t>      "TS 인사·민원 데이터의 연결 시 업무 권한과 AI 재사용 목적을 별도 속성으로 관리할 근거. 민감정보를 포함한 실제 사용자 데이터를 시험에 노출하지 않고 비허용 목적·회수 상황을 합성 자료로 재현하는 검수."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"재사용 요청",</a:t>
            </a:r>
          </a:p>
          <a:p xmlns:a="http://schemas.openxmlformats.org/drawingml/2006/main">
            <a:r>
              <a:t>          "layer": "이용 접점",</a:t>
            </a:r>
          </a:p>
          <a:p xmlns:a="http://schemas.openxmlformats.org/drawingml/2006/main">
            <a:r>
              <a:t>          "detail": "서비스 이용자·데이터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"목적·동의 범위",</a:t>
            </a:r>
          </a:p>
          <a:p xmlns:a="http://schemas.openxmlformats.org/drawingml/2006/main">
            <a:r>
              <a:t>          "layer": "업무 문맥",</a:t>
            </a:r>
          </a:p>
          <a:p xmlns:a="http://schemas.openxmlformats.org/drawingml/2006/main">
            <a:r>
              <a:t>          "detail": "원 서비스 동의와 재사용 목적의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"대상 자료 조회",</a:t>
            </a:r>
          </a:p>
          <a:p xmlns:a="http://schemas.openxmlformats.org/drawingml/2006/main">
            <a:r>
              <a:t>          "layer": "자료 조회",</a:t>
            </a:r>
          </a:p>
          <a:p xmlns:a="http://schemas.openxmlformats.org/drawingml/2006/main">
            <a:r>
              <a:t>          "detail": "대화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"학습·응답 분리",</a:t>
            </a:r>
          </a:p>
          <a:p xmlns:a="http://schemas.openxmlformats.org/drawingml/2006/main">
            <a:r>
              <a:t>          "layer": "핵심 처리",</a:t>
            </a:r>
          </a:p>
          <a:p xmlns:a="http://schemas.openxmlformats.org/drawingml/2006/main">
            <a:r>
              <a:t>          "detail": "학습용·응답용 데이터 경로의 별도 심사",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"목적 외 이용 차단",</a:t>
            </a:r>
          </a:p>
          <a:p xmlns:a="http://schemas.openxmlformats.org/drawingml/2006/main">
            <a:r>
              <a:t>          "layer": "결과 검증",</a:t>
            </a:r>
          </a:p>
          <a:p xmlns:a="http://schemas.openxmlformats.org/drawingml/2006/main">
            <a:r>
              <a:t>          "detail": "목적·동의 범위 대사와 삭제 전파",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"자료 관리자 심사",</a:t>
            </a:r>
          </a:p>
          <a:p xmlns:a="http://schemas.openxmlformats.org/drawingml/2006/main">
            <a:r>
              <a:t>          "layer": "사람 확인",</a:t>
            </a:r>
          </a:p>
          <a:p xmlns:a="http://schemas.openxmlformats.org/drawingml/2006/main">
            <a:r>
              <a:t>          "detail": "명시된 목적에 맞는 대화만 학습·검색·응답 경로에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"허용본·회수 처리",</a:t>
            </a:r>
          </a:p>
          <a:p xmlns:a="http://schemas.openxmlformats.org/drawingml/2006/main">
            <a:r>
              <a:t>          "layer": "업무 연결",</a:t>
            </a:r>
          </a:p>
          <a:p xmlns:a="http://schemas.openxmlformats.org/drawingml/2006/main">
            <a:r>
              <a:t>          "detail": "비허용 데이터 차단 및 기존 복제본 회수",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"잔존 데이터 검사",</a:t>
            </a:r>
          </a:p>
          <a:p xmlns:a="http://schemas.openxmlformats.org/drawingml/2006/main">
            <a:r>
              <a:t>          "layer": "운영 관측",</a:t>
            </a:r>
          </a:p>
          <a:p xmlns:a="http://schemas.openxmlformats.org/drawingml/2006/main">
            <a:r>
              <a:t>          "detail": "삭제 이후 학습·검색·출력 경로의 잔존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"원 서비스 대화",</a:t>
            </a:r>
          </a:p>
          <a:p xmlns:a="http://schemas.openxmlformats.org/drawingml/2006/main">
            <a:r>
              <a:t>          "layer": "데이터 원천",</a:t>
            </a:r>
          </a:p>
          <a:p xmlns:a="http://schemas.openxmlformats.org/drawingml/2006/main">
            <a:r>
              <a:t>          "detail": "대화 데이터",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"개인정보 태깅",</a:t>
            </a:r>
          </a:p>
          <a:p xmlns:a="http://schemas.openxmlformats.org/drawingml/2006/main">
            <a:r>
              <a:t>          "layer": "준비·갱신",</a:t>
            </a:r>
          </a:p>
          <a:p xmlns:a="http://schemas.openxmlformats.org/drawingml/2006/main">
            <a:r>
              <a:t>          "detail": "원 대화의 개인정보·목적·보유기간 태깅",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"복제본·판본 목록",</a:t>
            </a:r>
          </a:p>
          <a:p xmlns:a="http://schemas.openxmlformats.org/drawingml/2006/main">
            <a:r>
              <a:t>          "layer": "상태·지식 저장",</a:t>
            </a:r>
          </a:p>
          <a:p xmlns:a="http://schemas.openxmlformats.org/drawingml/2006/main">
            <a:r>
              <a:t>          "detail": "목적별 허용/차단 결과와 원천·색인·캐시 삭제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"삭제·보유정책",</a:t>
            </a:r>
          </a:p>
          <a:p xmlns:a="http://schemas.openxmlformats.org/drawingml/2006/main">
            <a:r>
              <a:t>          "layer": "권한·정책",</a:t>
            </a:r>
          </a:p>
          <a:p xmlns:a="http://schemas.openxmlformats.org/drawingml/2006/main">
            <a:r>
              <a:t>          "detail": "동의 철회·다른 서비스 자료·복제된 삭제 대상",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"원 서비스 대화 → 목적 외 재사용 → 학습·응답 DB → 이루다 발화"</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"원 서비스 동의와 재사용 목적의 대조",</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"대화 원문",</a:t>
            </a:r>
          </a:p>
          <a:p xmlns:a="http://schemas.openxmlformats.org/drawingml/2006/main">
            <a:r>
              <a:t>          "check": "목적·동의 범위 대사와 삭제 전파"</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"삭제·보유정책",</a:t>
            </a:r>
          </a:p>
          <a:p xmlns:a="http://schemas.openxmlformats.org/drawingml/2006/main">
            <a:r>
              <a:t>          "check": "목적·동의 범위 대사와 삭제 전파"</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"학습·응답 자료",</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"학습·응답 자료",</a:t>
            </a:r>
          </a:p>
          <a:p xmlns:a="http://schemas.openxmlformats.org/drawingml/2006/main">
            <a:r>
              <a:t>          "check": "동의 철회·다른 서비스 자료·복제된 삭제 대상"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"생성 발화",</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"대화 데이터의 목적 외 활용 실패 분석 / 수집 목적·학습·응답 재사용·삭제·회수",</a:t>
            </a:r>
          </a:p>
          <a:p xmlns:a="http://schemas.openxmlformats.org/drawingml/2006/main">
            <a:r>
              <a:t>        "extension": "인사·민원 데이터의 목적·보유기간·접근정책을 별도 속성으로 관리"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"동의 철회·다른 서비스 자료·복제된 삭제 대상",</a:t>
            </a:r>
          </a:p>
          <a:p xmlns:a="http://schemas.openxmlformats.org/drawingml/2006/main">
            <a:r>
              <a:t>        "hold": "목적·동의 범위 대사와 삭제 전파",</a:t>
            </a:r>
          </a:p>
          <a:p xmlns:a="http://schemas.openxmlformats.org/drawingml/2006/main">
            <a:r>
              <a:t>        "recovery": "삭제 이후 학습·검색·출력 경로의 잔존 검사",</a:t>
            </a:r>
          </a:p>
          <a:p xmlns:a="http://schemas.openxmlformats.org/drawingml/2006/main">
            <a:r>
              <a:t>        "evidence": "목적별 허용/차단 결과와 원천·색인·캐시 삭제 대사"</a:t>
            </a:r>
          </a:p>
          <a:p xmlns:a="http://schemas.openxmlformats.org/drawingml/2006/main">
            <a:r>
              <a:t>      },</a:t>
            </a:r>
          </a:p>
          <a:p xmlns:a="http://schemas.openxmlformats.org/drawingml/2006/main">
            <a:r>
              <a:t>      "data": {</a:t>
            </a:r>
          </a:p>
          <a:p xmlns:a="http://schemas.openxmlformats.org/drawingml/2006/main">
            <a:r>
              <a:t>        "source": "대화 데이터",</a:t>
            </a:r>
          </a:p>
          <a:p xmlns:a="http://schemas.openxmlformats.org/drawingml/2006/main">
            <a:r>
              <a:t>        "prepare": "원 대화의 개인정보·목적·보유기간 태깅",</a:t>
            </a:r>
          </a:p>
          <a:p xmlns:a="http://schemas.openxmlformats.org/drawingml/2006/main">
            <a:r>
              <a:t>        "output": "대화 원문",</a:t>
            </a:r>
          </a:p>
          <a:p xmlns:a="http://schemas.openxmlformats.org/drawingml/2006/main">
            <a:r>
              <a:t>        "refresh": "삭제 이후 학습·검색·출력 경로의 잔존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"AX03",</a:t>
            </a:r>
          </a:p>
          <a:p xmlns:a="http://schemas.openxmlformats.org/drawingml/2006/main">
            <a:r>
              <a:t>    "success": [</a:t>
            </a:r>
          </a:p>
          <a:p xmlns:a="http://schemas.openxmlformats.org/drawingml/2006/main">
            <a:r>
              <a:t>      "수집 목적별 데이터 분리",</a:t>
            </a:r>
          </a:p>
          <a:p xmlns:a="http://schemas.openxmlformats.org/drawingml/2006/main">
            <a:r>
              <a:t>      "이용 동의·삭제 요청의 재사용 경로 반영"</a:t>
            </a:r>
          </a:p>
          <a:p xmlns:a="http://schemas.openxmlformats.org/drawingml/2006/main">
            <a:r>
              <a:t>    ],</a:t>
            </a:r>
          </a:p>
          <a:p xmlns:a="http://schemas.openxmlformats.org/drawingml/2006/main">
            <a:r>
              <a:t>    "risks": [</a:t>
            </a:r>
          </a:p>
          <a:p xmlns:a="http://schemas.openxmlformats.org/drawingml/2006/main">
            <a:r>
              <a:t>      "다른 서비스 대화의 목적 외 이용",</a:t>
            </a:r>
          </a:p>
          <a:p xmlns:a="http://schemas.openxmlformats.org/drawingml/2006/main">
            <a:r>
              <a:t>      "학습·응답 경로의 개인정보 통제 부족"</a:t>
            </a:r>
          </a:p>
          <a:p xmlns:a="http://schemas.openxmlformats.org/drawingml/2006/main">
            <a:r>
              <a:t>    ],</a:t>
            </a:r>
          </a:p>
          <a:p xmlns:a="http://schemas.openxmlformats.org/drawingml/2006/main">
            <a:r>
              <a:t>    "architecture": [</a:t>
            </a:r>
          </a:p>
          <a:p xmlns:a="http://schemas.openxmlformats.org/drawingml/2006/main">
            <a:r>
              <a:t>      "원 서비스 대화",</a:t>
            </a:r>
          </a:p>
          <a:p xmlns:a="http://schemas.openxmlformats.org/drawingml/2006/main">
            <a:r>
              <a:t>      "학습·응답 처리",</a:t>
            </a:r>
          </a:p>
          <a:p xmlns:a="http://schemas.openxmlformats.org/drawingml/2006/main">
            <a:r>
              <a:t>      "대화 데이터",</a:t>
            </a:r>
          </a:p>
          <a:p xmlns:a="http://schemas.openxmlformats.org/drawingml/2006/main">
            <a:r>
              <a:t>      "챗봇 이용자"</a:t>
            </a:r>
          </a:p>
          <a:p xmlns:a="http://schemas.openxmlformats.org/drawingml/2006/main">
            <a:r>
              <a:t>    ],</a:t>
            </a:r>
          </a:p>
          <a:p xmlns:a="http://schemas.openxmlformats.org/drawingml/2006/main">
            <a:r>
              <a:t>    "transfers": [</a:t>
            </a:r>
          </a:p>
          <a:p xmlns:a="http://schemas.openxmlformats.org/drawingml/2006/main">
            <a:r>
              <a:t>      "대화 원문",</a:t>
            </a:r>
          </a:p>
          <a:p xmlns:a="http://schemas.openxmlformats.org/drawingml/2006/main">
            <a:r>
              <a:t>      "재사용 대상",</a:t>
            </a:r>
          </a:p>
          <a:p xmlns:a="http://schemas.openxmlformats.org/drawingml/2006/main">
            <a:r>
              <a:t>      "학습·응답 자료",</a:t>
            </a:r>
          </a:p>
          <a:p xmlns:a="http://schemas.openxmlformats.org/drawingml/2006/main">
            <a:r>
              <a:t>      "생성 발화"</a:t>
            </a:r>
          </a:p>
          <a:p xmlns:a="http://schemas.openxmlformats.org/drawingml/2006/main">
            <a:r>
              <a:t>    ],</a:t>
            </a:r>
          </a:p>
          <a:p xmlns:a="http://schemas.openxmlformats.org/drawingml/2006/main">
            <a:r>
              <a:t>    "control": "목적·동의 범위 대사와 삭제 전파",</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개인정보보호위원회 · 이루다 조사 결과 https://www.korea.kr/news/policyNewsView.do?newsId=156449232</a:t>
            </a:r>
          </a:p>
          <a:p xmlns:a="http://schemas.openxmlformats.org/drawingml/2006/main">
            <a:r>
              <a:t>홈페이지 https://heen1987-ops.github.io/TS-business-Plan-001/index.html?view=casebook&amp;case=AX03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"AX03",</a:t>
            </a:r>
          </a:p>
          <a:p xmlns:a="http://schemas.openxmlformats.org/drawingml/2006/main">
            <a:r>
              <a:t>    "title": "이루다 개인정보 처리",</a:t>
            </a:r>
          </a:p>
          <a:p xmlns:a="http://schemas.openxmlformats.org/drawingml/2006/main">
            <a:r>
              <a:t>    "region": "국내",</a:t>
            </a:r>
          </a:p>
          <a:p xmlns:a="http://schemas.openxmlformats.org/drawingml/2006/main">
            <a:r>
              <a:t>    "country": "대한민국",</a:t>
            </a:r>
          </a:p>
          <a:p xmlns:a="http://schemas.openxmlformats.org/drawingml/2006/main">
            <a:r>
              <a:t>    "result": "실패",</a:t>
            </a:r>
          </a:p>
          <a:p xmlns:a="http://schemas.openxmlformats.org/drawingml/2006/main">
            <a:r>
              <a:t>    "kind": "학습·응답 데이터 통제",</a:t>
            </a:r>
          </a:p>
          <a:p xmlns:a="http://schemas.openxmlformats.org/drawingml/2006/main">
            <a:r>
              <a:t>    "period": "2021 조사",</a:t>
            </a:r>
          </a:p>
          <a:p xmlns:a="http://schemas.openxmlformats.org/drawingml/2006/main">
            <a:r>
              <a:t>    "sources": [</a:t>
            </a:r>
          </a:p>
          <a:p xmlns:a="http://schemas.openxmlformats.org/drawingml/2006/main">
            <a:r>
              <a:t>      "S03"</a:t>
            </a:r>
          </a:p>
          <a:p xmlns:a="http://schemas.openxmlformats.org/drawingml/2006/main">
            <a:r>
              <a:t>    ],</a:t>
            </a:r>
          </a:p>
          <a:p xmlns:a="http://schemas.openxmlformats.org/drawingml/2006/main">
            <a:r>
              <a:t>    "keywords": [</a:t>
            </a:r>
          </a:p>
          <a:p xmlns:a="http://schemas.openxmlformats.org/drawingml/2006/main">
            <a:r>
              <a:t>      "개인정보",</a:t>
            </a:r>
          </a:p>
          <a:p xmlns:a="http://schemas.openxmlformats.org/drawingml/2006/main">
            <a:r>
              <a:t>      "목적 제한",</a:t>
            </a:r>
          </a:p>
          <a:p xmlns:a="http://schemas.openxmlformats.org/drawingml/2006/main">
            <a:r>
              <a:t>      "데이터 재사용",</a:t>
            </a:r>
          </a:p>
          <a:p xmlns:a="http://schemas.openxmlformats.org/drawingml/2006/main">
            <a:r>
              <a:t>      "책임"</a:t>
            </a:r>
          </a:p>
          <a:p xmlns:a="http://schemas.openxmlformats.org/drawingml/2006/main">
            <a:r>
              <a:t>    ],</a:t>
            </a:r>
          </a:p>
          <a:p xmlns:a="http://schemas.openxmlformats.org/drawingml/2006/main">
            <a:r>
              <a:t>    "fact": "다른 서비스에서 수집한 대화의 목적 외 학습·운영 이용 등에 대한 개인정보보호위원회 제재",</a:t>
            </a:r>
          </a:p>
          <a:p xmlns:a="http://schemas.openxmlformats.org/drawingml/2006/main">
            <a:r>
              <a:t>    "limit": "2021년 조사 대상 행위 기준 · 후속 서비스 전체에 대한 평가 아님",</a:t>
            </a:r>
          </a:p>
          <a:p xmlns:a="http://schemas.openxmlformats.org/drawingml/2006/main">
            <a:r>
              <a:t>    "flow": [</a:t>
            </a:r>
          </a:p>
          <a:p xmlns:a="http://schemas.openxmlformats.org/drawingml/2006/main">
            <a:r>
              <a:t>      "원 서비스 대화",</a:t>
            </a:r>
          </a:p>
          <a:p xmlns:a="http://schemas.openxmlformats.org/drawingml/2006/main">
            <a:r>
              <a:t>      "목적 외 재사용",</a:t>
            </a:r>
          </a:p>
          <a:p xmlns:a="http://schemas.openxmlformats.org/drawingml/2006/main">
            <a:r>
              <a:t>      "학습·응답 DB",</a:t>
            </a:r>
          </a:p>
          <a:p xmlns:a="http://schemas.openxmlformats.org/drawingml/2006/main">
            <a:r>
              <a:t>      "이루다 발화"</a:t>
            </a:r>
          </a:p>
          <a:p xmlns:a="http://schemas.openxmlformats.org/drawingml/2006/main">
            <a:r>
              <a:t>    ],</a:t>
            </a:r>
          </a:p>
          <a:p xmlns:a="http://schemas.openxmlformats.org/drawingml/2006/main">
            <a:r>
              <a:t>    "flowBasis": "조사에서 확인된 처리 관계 요약 · 내부 구현 상세 미공개",</a:t>
            </a:r>
          </a:p>
          <a:p xmlns:a="http://schemas.openxmlformats.org/drawingml/2006/main">
            <a:r>
              <a:t>    "lesson": "데이터 보유와 AI 활용 권한의 분리",</a:t>
            </a:r>
          </a:p>
          <a:p xmlns:a="http://schemas.openxmlformats.org/drawingml/2006/main">
            <a:r>
              <a:t>    "local": "인사·민원 데이터의 목적·보유기간·접근정책을 별도 속성으로 관리",</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"수집 목적 태그 / 학습·검색·출력별 정책 / 삭제·회수 전파",</a:t>
            </a:r>
          </a:p>
          <a:p xmlns:a="http://schemas.openxmlformats.org/drawingml/2006/main">
            <a:r>
              <a:t>    "test": "목적 외 입력 거부·권한 회수 후 검색 및 캐시 노출 차단",</a:t>
            </a:r>
          </a:p>
          <a:p xmlns:a="http://schemas.openxmlformats.org/drawingml/2006/main">
            <a:r>
              <a:t>    "metric": "필수 거부셋 노출 건수 / 삭제 전파 지연"</a:t>
            </a:r>
          </a:p>
          <a:p xmlns:a="http://schemas.openxmlformats.org/drawingml/2006/main">
            <a:r>
              <a:t>  },</a:t>
            </a:r>
          </a:p>
          <a:p xmlns:a="http://schemas.openxmlformats.org/drawingml/2006/main">
            <a:r>
              <a:t>  "design": {</a:t>
            </a:r>
          </a:p>
          <a:p xmlns:a="http://schemas.openxmlformats.org/drawingml/2006/main">
            <a:r>
              <a:t>    "id": "AX03",</a:t>
            </a:r>
          </a:p>
          <a:p xmlns:a="http://schemas.openxmlformats.org/drawingml/2006/main">
            <a:r>
              <a:t>    "canonicalId": "AX03",</a:t>
            </a:r>
          </a:p>
          <a:p xmlns:a="http://schemas.openxmlformats.org/drawingml/2006/main">
            <a:r>
              <a:t>    "purpose": "대화 데이터의 목적 외 활용 실패 분석",</a:t>
            </a:r>
          </a:p>
          <a:p xmlns:a="http://schemas.openxmlformats.org/drawingml/2006/main">
            <a:r>
              <a:t>    "users": "서비스 이용자·데이터 관리자",</a:t>
            </a:r>
          </a:p>
          <a:p xmlns:a="http://schemas.openxmlformats.org/drawingml/2006/main">
            <a:r>
              <a:t>    "scope": [</a:t>
            </a:r>
          </a:p>
          <a:p xmlns:a="http://schemas.openxmlformats.org/drawingml/2006/main">
            <a:r>
              <a:t>      "수집 목적",</a:t>
            </a:r>
          </a:p>
          <a:p xmlns:a="http://schemas.openxmlformats.org/drawingml/2006/main">
            <a:r>
              <a:t>      "학습·응답 재사용",</a:t>
            </a:r>
          </a:p>
          <a:p xmlns:a="http://schemas.openxmlformats.org/drawingml/2006/main">
            <a:r>
              <a:t>      "삭제·회수"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"원 서비스 대화",</a:t>
            </a:r>
          </a:p>
          <a:p xmlns:a="http://schemas.openxmlformats.org/drawingml/2006/main">
            <a:r>
              <a:t>        "detail": "원 서비스 동의와 재사용 목적의 대조",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"수집 목적 / 학습·응답 재사용 / 삭제·회수",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"학습·응답 처리",</a:t>
            </a:r>
          </a:p>
          <a:p xmlns:a="http://schemas.openxmlformats.org/drawingml/2006/main">
            <a:r>
              <a:t>        "detail": "학습용·응답용 데이터 경로의 별도 심사",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"챗봇 이용자",</a:t>
            </a:r>
          </a:p>
          <a:p xmlns:a="http://schemas.openxmlformats.org/drawingml/2006/main">
            <a:r>
              <a:t>        "detail": "비허용 데이터 차단 및 기존 복제본 회수",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"대화 데이터",</a:t>
            </a:r>
          </a:p>
          <a:p xmlns:a="http://schemas.openxmlformats.org/drawingml/2006/main">
            <a:r>
              <a:t>        "detail": "원 대화의 개인정보·목적·보유기간 태깅",</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"삭제 이후 학습·검색·출력 경로의 잔존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"원 서비스 대화",</a:t>
            </a:r>
          </a:p>
          <a:p xmlns:a="http://schemas.openxmlformats.org/drawingml/2006/main">
            <a:r>
              <a:t>        "input": "원 서비스 동의와 재사용 목적의 대조",</a:t>
            </a:r>
          </a:p>
          <a:p xmlns:a="http://schemas.openxmlformats.org/drawingml/2006/main">
            <a:r>
              <a:t>        "process": "원 대화의 개인정보·목적·보유기간 태깅",</a:t>
            </a:r>
          </a:p>
          <a:p xmlns:a="http://schemas.openxmlformats.org/drawingml/2006/main">
            <a:r>
              <a:t>        "output": "대화 원문"</a:t>
            </a:r>
          </a:p>
          <a:p xmlns:a="http://schemas.openxmlformats.org/drawingml/2006/main">
            <a:r>
              <a:t>      },</a:t>
            </a:r>
          </a:p>
          <a:p xmlns:a="http://schemas.openxmlformats.org/drawingml/2006/main">
            <a:r>
              <a:t>      {</a:t>
            </a:r>
          </a:p>
          <a:p xmlns:a="http://schemas.openxmlformats.org/drawingml/2006/main">
            <a:r>
              <a:t>        "title": "목적 외 재사용",</a:t>
            </a:r>
          </a:p>
          <a:p xmlns:a="http://schemas.openxmlformats.org/drawingml/2006/main">
            <a:r>
              <a:t>        "input": "대화 원문",</a:t>
            </a:r>
          </a:p>
          <a:p xmlns:a="http://schemas.openxmlformats.org/drawingml/2006/main">
            <a:r>
              <a:t>        "process": "학습용·응답용 데이터 경로의 별도 심사",</a:t>
            </a:r>
          </a:p>
          <a:p xmlns:a="http://schemas.openxmlformats.org/drawingml/2006/main">
            <a:r>
              <a:t>        "output": "재사용 대상"</a:t>
            </a:r>
          </a:p>
          <a:p xmlns:a="http://schemas.openxmlformats.org/drawingml/2006/main">
            <a:r>
              <a:t>      },</a:t>
            </a:r>
          </a:p>
          <a:p xmlns:a="http://schemas.openxmlformats.org/drawingml/2006/main">
            <a:r>
              <a:t>      {</a:t>
            </a:r>
          </a:p>
          <a:p xmlns:a="http://schemas.openxmlformats.org/drawingml/2006/main">
            <a:r>
              <a:t>        "title": "학습·응답 DB",</a:t>
            </a:r>
          </a:p>
          <a:p xmlns:a="http://schemas.openxmlformats.org/drawingml/2006/main">
            <a:r>
              <a:t>        "input": "재사용 대상",</a:t>
            </a:r>
          </a:p>
          <a:p xmlns:a="http://schemas.openxmlformats.org/drawingml/2006/main">
            <a:r>
              <a:t>        "process": "목적·동의 범위 대사와 삭제 전파",</a:t>
            </a:r>
          </a:p>
          <a:p xmlns:a="http://schemas.openxmlformats.org/drawingml/2006/main">
            <a:r>
              <a:t>        "output": "학습·응답 자료"</a:t>
            </a:r>
          </a:p>
          <a:p xmlns:a="http://schemas.openxmlformats.org/drawingml/2006/main">
            <a:r>
              <a:t>      },</a:t>
            </a:r>
          </a:p>
          <a:p xmlns:a="http://schemas.openxmlformats.org/drawingml/2006/main">
            <a:r>
              <a:t>      {</a:t>
            </a:r>
          </a:p>
          <a:p xmlns:a="http://schemas.openxmlformats.org/drawingml/2006/main">
            <a:r>
              <a:t>        "title": "이루다 발화",</a:t>
            </a:r>
          </a:p>
          <a:p xmlns:a="http://schemas.openxmlformats.org/drawingml/2006/main">
            <a:r>
              <a:t>        "input": "학습·응답 자료",</a:t>
            </a:r>
          </a:p>
          <a:p xmlns:a="http://schemas.openxmlformats.org/drawingml/2006/main">
            <a:r>
              <a:t>        "process": "비허용 데이터 차단 및 기존 복제본 회수",</a:t>
            </a:r>
          </a:p>
          <a:p xmlns:a="http://schemas.openxmlformats.org/drawingml/2006/main">
            <a:r>
              <a:t>        "output": "생성 발화"</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"명시된 목적에 맞는 대화만 학습·검색·응답 경로에 제공",</a:t>
            </a:r>
          </a:p>
          <a:p xmlns:a="http://schemas.openxmlformats.org/drawingml/2006/main">
            <a:r>
              <a:t>      "exception": "동의 철회·다른 서비스 자료·복제된 삭제 대상",</a:t>
            </a:r>
          </a:p>
          <a:p xmlns:a="http://schemas.openxmlformats.org/drawingml/2006/main">
            <a:r>
              <a:t>      "evidence": "목적별 허용/차단 결과와 원천·색인·캐시 삭제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"서비스 이용자·데이터 관리자",</a:t>
            </a:r>
          </a:p>
          <a:p xmlns:a="http://schemas.openxmlformats.org/drawingml/2006/main">
            <a:r>
              <a:t>          "processing": "원 서비스 동의와 재사용 목적의 대조",</a:t>
            </a:r>
          </a:p>
          <a:p xmlns:a="http://schemas.openxmlformats.org/drawingml/2006/main">
            <a:r>
              <a:t>          "output": "대화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"대화 데이터",</a:t>
            </a:r>
          </a:p>
          <a:p xmlns:a="http://schemas.openxmlformats.org/drawingml/2006/main">
            <a:r>
              <a:t>          "processing": "원 대화의 개인정보·목적·보유기간 태깅",</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"대화 원문",</a:t>
            </a:r>
          </a:p>
          <a:p xmlns:a="http://schemas.openxmlformats.org/drawingml/2006/main">
            <a:r>
              <a:t>          "processing": "학습용·응답용 데이터 경로의 별도 심사",</a:t>
            </a:r>
          </a:p>
          <a:p xmlns:a="http://schemas.openxmlformats.org/drawingml/2006/main">
            <a:r>
              <a:t>          "output": "학습·응답 자료"</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"학습·응답 자료",</a:t>
            </a:r>
          </a:p>
          <a:p xmlns:a="http://schemas.openxmlformats.org/drawingml/2006/main">
            <a:r>
              <a:t>          "processing": "비허용 데이터 차단 및 기존 복제본 회수",</a:t>
            </a:r>
          </a:p>
          <a:p xmlns:a="http://schemas.openxmlformats.org/drawingml/2006/main">
            <a:r>
              <a:t>          "output": "생성 발화"</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"삭제 이후 학습·검색·출력 경로의 잔존 검사",</a:t>
            </a:r>
          </a:p>
          <a:p xmlns:a="http://schemas.openxmlformats.org/drawingml/2006/main">
            <a:r>
              <a:t>          "output": "목적별 허용/차단 결과와 원천·색인·캐시 삭제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"삭제 이후 학습·검색·출력 경로의 잔존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"S03",</a:t>
            </a:r>
          </a:p>
          <a:p xmlns:a="http://schemas.openxmlformats.org/drawingml/2006/main">
            <a:r>
              <a:t>        "title": "개인정보보호위원회 · 이루다 조사 결과",</a:t>
            </a:r>
          </a:p>
          <a:p xmlns:a="http://schemas.openxmlformats.org/drawingml/2006/main">
            <a:r>
              <a:t>        "url": "https://www.korea.kr/news/policyNewsView.do?newsId=156449232",</a:t>
            </a:r>
          </a:p>
          <a:p xmlns:a="http://schemas.openxmlformats.org/drawingml/2006/main">
            <a:r>
              <a:t>        "published": "2021-04-28",</a:t>
            </a:r>
          </a:p>
          <a:p xmlns:a="http://schemas.openxmlformats.org/drawingml/2006/main">
            <a:r>
              <a:t>        "level": "감독기관 조사",</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"데이터 보유와 AI 활용 권한의 분리",</a:t>
            </a:r>
          </a:p>
          <a:p xmlns:a="http://schemas.openxmlformats.org/drawingml/2006/main">
            <a:r>
              <a:t>    "local": "인사·민원 데이터의 목적·보유기간·접근정책을 별도 속성으로 관리",</a:t>
            </a:r>
          </a:p>
          <a:p xmlns:a="http://schemas.openxmlformats.org/drawingml/2006/main">
            <a:r>
              <a:t>    "sourceDetail": null,</a:t>
            </a:r>
          </a:p>
          <a:p xmlns:a="http://schemas.openxmlformats.org/drawingml/2006/main">
            <a:r>
              <a:t>    "narrative": [</a:t>
            </a:r>
          </a:p>
          <a:p xmlns:a="http://schemas.openxmlformats.org/drawingml/2006/main">
            <a:r>
              <a:t>      "다른 서비스에서 수집한 대화를 AI 학습·운영에 활용하는 과정의 개인정보 통제 실패 사례. 자료를 보유한다는 사실과 해당 목적의 AI 이용 권한이 일치하지 않는 문제.",</a:t>
            </a:r>
          </a:p>
          <a:p xmlns:a="http://schemas.openxmlformats.org/drawingml/2006/main">
            <a:r>
              <a:t>      "원 수집 목적·동의 범위·보유기간을 데이터에 연결하고, 학습용·검색용·출력용 경로마다 허용 여부를 판정하는 CCK 재발 방지 설계. 삭제 요청은 원본뿐 아니라 색인·캐시·복제본까지 추적하는 구조.",</a:t>
            </a:r>
          </a:p>
          <a:p xmlns:a="http://schemas.openxmlformats.org/drawingml/2006/main">
            <a:r>
              <a:t>      "TS 인사·민원 데이터의 연결 시 업무 권한과 AI 재사용 목적을 별도 속성으로 관리할 근거. 민감정보를 포함한 실제 사용자 데이터를 시험에 노출하지 않고 비허용 목적·회수 상황을 합성 자료로 재현하는 검수."</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"재사용 요청",</a:t>
            </a:r>
          </a:p>
          <a:p xmlns:a="http://schemas.openxmlformats.org/drawingml/2006/main">
            <a:r>
              <a:t>          "layer": "이용 접점",</a:t>
            </a:r>
          </a:p>
          <a:p xmlns:a="http://schemas.openxmlformats.org/drawingml/2006/main">
            <a:r>
              <a:t>          "detail": "서비스 이용자·데이터 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"목적·동의 범위",</a:t>
            </a:r>
          </a:p>
          <a:p xmlns:a="http://schemas.openxmlformats.org/drawingml/2006/main">
            <a:r>
              <a:t>          "layer": "업무 문맥",</a:t>
            </a:r>
          </a:p>
          <a:p xmlns:a="http://schemas.openxmlformats.org/drawingml/2006/main">
            <a:r>
              <a:t>          "detail": "원 서비스 동의와 재사용 목적의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"대상 자료 조회",</a:t>
            </a:r>
          </a:p>
          <a:p xmlns:a="http://schemas.openxmlformats.org/drawingml/2006/main">
            <a:r>
              <a:t>          "layer": "자료 조회",</a:t>
            </a:r>
          </a:p>
          <a:p xmlns:a="http://schemas.openxmlformats.org/drawingml/2006/main">
            <a:r>
              <a:t>          "detail": "대화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"학습·응답 분리",</a:t>
            </a:r>
          </a:p>
          <a:p xmlns:a="http://schemas.openxmlformats.org/drawingml/2006/main">
            <a:r>
              <a:t>          "layer": "핵심 처리",</a:t>
            </a:r>
          </a:p>
          <a:p xmlns:a="http://schemas.openxmlformats.org/drawingml/2006/main">
            <a:r>
              <a:t>          "detail": "학습용·응답용 데이터 경로의 별도 심사",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"목적 외 이용 차단",</a:t>
            </a:r>
          </a:p>
          <a:p xmlns:a="http://schemas.openxmlformats.org/drawingml/2006/main">
            <a:r>
              <a:t>          "layer": "결과 검증",</a:t>
            </a:r>
          </a:p>
          <a:p xmlns:a="http://schemas.openxmlformats.org/drawingml/2006/main">
            <a:r>
              <a:t>          "detail": "목적·동의 범위 대사와 삭제 전파",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"자료 관리자 심사",</a:t>
            </a:r>
          </a:p>
          <a:p xmlns:a="http://schemas.openxmlformats.org/drawingml/2006/main">
            <a:r>
              <a:t>          "layer": "사람 확인",</a:t>
            </a:r>
          </a:p>
          <a:p xmlns:a="http://schemas.openxmlformats.org/drawingml/2006/main">
            <a:r>
              <a:t>          "detail": "명시된 목적에 맞는 대화만 학습·검색·응답 경로에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"허용본·회수 처리",</a:t>
            </a:r>
          </a:p>
          <a:p xmlns:a="http://schemas.openxmlformats.org/drawingml/2006/main">
            <a:r>
              <a:t>          "layer": "업무 연결",</a:t>
            </a:r>
          </a:p>
          <a:p xmlns:a="http://schemas.openxmlformats.org/drawingml/2006/main">
            <a:r>
              <a:t>          "detail": "비허용 데이터 차단 및 기존 복제본 회수",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"잔존 데이터 검사",</a:t>
            </a:r>
          </a:p>
          <a:p xmlns:a="http://schemas.openxmlformats.org/drawingml/2006/main">
            <a:r>
              <a:t>          "layer": "운영 관측",</a:t>
            </a:r>
          </a:p>
          <a:p xmlns:a="http://schemas.openxmlformats.org/drawingml/2006/main">
            <a:r>
              <a:t>          "detail": "삭제 이후 학습·검색·출력 경로의 잔존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"원 서비스 대화",</a:t>
            </a:r>
          </a:p>
          <a:p xmlns:a="http://schemas.openxmlformats.org/drawingml/2006/main">
            <a:r>
              <a:t>          "layer": "데이터 원천",</a:t>
            </a:r>
          </a:p>
          <a:p xmlns:a="http://schemas.openxmlformats.org/drawingml/2006/main">
            <a:r>
              <a:t>          "detail": "대화 데이터",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"개인정보 태깅",</a:t>
            </a:r>
          </a:p>
          <a:p xmlns:a="http://schemas.openxmlformats.org/drawingml/2006/main">
            <a:r>
              <a:t>          "layer": "준비·갱신",</a:t>
            </a:r>
          </a:p>
          <a:p xmlns:a="http://schemas.openxmlformats.org/drawingml/2006/main">
            <a:r>
              <a:t>          "detail": "원 대화의 개인정보·목적·보유기간 태깅",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"복제본·판본 목록",</a:t>
            </a:r>
          </a:p>
          <a:p xmlns:a="http://schemas.openxmlformats.org/drawingml/2006/main">
            <a:r>
              <a:t>          "layer": "상태·지식 저장",</a:t>
            </a:r>
          </a:p>
          <a:p xmlns:a="http://schemas.openxmlformats.org/drawingml/2006/main">
            <a:r>
              <a:t>          "detail": "목적별 허용/차단 결과와 원천·색인·캐시 삭제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"삭제·보유정책",</a:t>
            </a:r>
          </a:p>
          <a:p xmlns:a="http://schemas.openxmlformats.org/drawingml/2006/main">
            <a:r>
              <a:t>          "layer": "권한·정책",</a:t>
            </a:r>
          </a:p>
          <a:p xmlns:a="http://schemas.openxmlformats.org/drawingml/2006/main">
            <a:r>
              <a:t>          "detail": "동의 철회·다른 서비스 자료·복제된 삭제 대상",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"원 서비스 대화 → 목적 외 재사용 → 학습·응답 DB → 이루다 발화"</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"원 서비스 동의와 재사용 목적의 대조",</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"대화 원문",</a:t>
            </a:r>
          </a:p>
          <a:p xmlns:a="http://schemas.openxmlformats.org/drawingml/2006/main">
            <a:r>
              <a:t>          "check": "목적·동의 범위 대사와 삭제 전파"</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"삭제·보유정책",</a:t>
            </a:r>
          </a:p>
          <a:p xmlns:a="http://schemas.openxmlformats.org/drawingml/2006/main">
            <a:r>
              <a:t>          "check": "목적·동의 범위 대사와 삭제 전파"</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"학습·응답 자료",</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"학습·응답 자료",</a:t>
            </a:r>
          </a:p>
          <a:p xmlns:a="http://schemas.openxmlformats.org/drawingml/2006/main">
            <a:r>
              <a:t>          "check": "동의 철회·다른 서비스 자료·복제된 삭제 대상"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"생성 발화",</a:t>
            </a:r>
          </a:p>
          <a:p xmlns:a="http://schemas.openxmlformats.org/drawingml/2006/main">
            <a:r>
              <a:t>          "check": "목적별 허용/차단 결과와 원천·색인·캐시 삭제 대사"</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"대화 데이터의 목적 외 활용 실패 분석 / 수집 목적·학습·응답 재사용·삭제·회수",</a:t>
            </a:r>
          </a:p>
          <a:p xmlns:a="http://schemas.openxmlformats.org/drawingml/2006/main">
            <a:r>
              <a:t>        "extension": "인사·민원 데이터의 목적·보유기간·접근정책을 별도 속성으로 관리"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"동의 철회·다른 서비스 자료·복제된 삭제 대상",</a:t>
            </a:r>
          </a:p>
          <a:p xmlns:a="http://schemas.openxmlformats.org/drawingml/2006/main">
            <a:r>
              <a:t>        "hold": "목적·동의 범위 대사와 삭제 전파",</a:t>
            </a:r>
          </a:p>
          <a:p xmlns:a="http://schemas.openxmlformats.org/drawingml/2006/main">
            <a:r>
              <a:t>        "recovery": "삭제 이후 학습·검색·출력 경로의 잔존 검사",</a:t>
            </a:r>
          </a:p>
          <a:p xmlns:a="http://schemas.openxmlformats.org/drawingml/2006/main">
            <a:r>
              <a:t>        "evidence": "목적별 허용/차단 결과와 원천·색인·캐시 삭제 대사"</a:t>
            </a:r>
          </a:p>
          <a:p xmlns:a="http://schemas.openxmlformats.org/drawingml/2006/main">
            <a:r>
              <a:t>      },</a:t>
            </a:r>
          </a:p>
          <a:p xmlns:a="http://schemas.openxmlformats.org/drawingml/2006/main">
            <a:r>
              <a:t>      "data": {</a:t>
            </a:r>
          </a:p>
          <a:p xmlns:a="http://schemas.openxmlformats.org/drawingml/2006/main">
            <a:r>
              <a:t>        "source": "대화 데이터",</a:t>
            </a:r>
          </a:p>
          <a:p xmlns:a="http://schemas.openxmlformats.org/drawingml/2006/main">
            <a:r>
              <a:t>        "prepare": "원 대화의 개인정보·목적·보유기간 태깅",</a:t>
            </a:r>
          </a:p>
          <a:p xmlns:a="http://schemas.openxmlformats.org/drawingml/2006/main">
            <a:r>
              <a:t>        "output": "대화 원문",</a:t>
            </a:r>
          </a:p>
          <a:p xmlns:a="http://schemas.openxmlformats.org/drawingml/2006/main">
            <a:r>
              <a:t>        "refresh": "삭제 이후 학습·검색·출력 경로의 잔존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"AX03",</a:t>
            </a:r>
          </a:p>
          <a:p xmlns:a="http://schemas.openxmlformats.org/drawingml/2006/main">
            <a:r>
              <a:t>    "success": [</a:t>
            </a:r>
          </a:p>
          <a:p xmlns:a="http://schemas.openxmlformats.org/drawingml/2006/main">
            <a:r>
              <a:t>      "수집 목적별 데이터 분리",</a:t>
            </a:r>
          </a:p>
          <a:p xmlns:a="http://schemas.openxmlformats.org/drawingml/2006/main">
            <a:r>
              <a:t>      "이용 동의·삭제 요청의 재사용 경로 반영"</a:t>
            </a:r>
          </a:p>
          <a:p xmlns:a="http://schemas.openxmlformats.org/drawingml/2006/main">
            <a:r>
              <a:t>    ],</a:t>
            </a:r>
          </a:p>
          <a:p xmlns:a="http://schemas.openxmlformats.org/drawingml/2006/main">
            <a:r>
              <a:t>    "risks": [</a:t>
            </a:r>
          </a:p>
          <a:p xmlns:a="http://schemas.openxmlformats.org/drawingml/2006/main">
            <a:r>
              <a:t>      "다른 서비스 대화의 목적 외 이용",</a:t>
            </a:r>
          </a:p>
          <a:p xmlns:a="http://schemas.openxmlformats.org/drawingml/2006/main">
            <a:r>
              <a:t>      "학습·응답 경로의 개인정보 통제 부족"</a:t>
            </a:r>
          </a:p>
          <a:p xmlns:a="http://schemas.openxmlformats.org/drawingml/2006/main">
            <a:r>
              <a:t>    ],</a:t>
            </a:r>
          </a:p>
          <a:p xmlns:a="http://schemas.openxmlformats.org/drawingml/2006/main">
            <a:r>
              <a:t>    "architecture": [</a:t>
            </a:r>
          </a:p>
          <a:p xmlns:a="http://schemas.openxmlformats.org/drawingml/2006/main">
            <a:r>
              <a:t>      "원 서비스 대화",</a:t>
            </a:r>
          </a:p>
          <a:p xmlns:a="http://schemas.openxmlformats.org/drawingml/2006/main">
            <a:r>
              <a:t>      "학습·응답 처리",</a:t>
            </a:r>
          </a:p>
          <a:p xmlns:a="http://schemas.openxmlformats.org/drawingml/2006/main">
            <a:r>
              <a:t>      "대화 데이터",</a:t>
            </a:r>
          </a:p>
          <a:p xmlns:a="http://schemas.openxmlformats.org/drawingml/2006/main">
            <a:r>
              <a:t>      "챗봇 이용자"</a:t>
            </a:r>
          </a:p>
          <a:p xmlns:a="http://schemas.openxmlformats.org/drawingml/2006/main">
            <a:r>
              <a:t>    ],</a:t>
            </a:r>
          </a:p>
          <a:p xmlns:a="http://schemas.openxmlformats.org/drawingml/2006/main">
            <a:r>
              <a:t>    "transfers": [</a:t>
            </a:r>
          </a:p>
          <a:p xmlns:a="http://schemas.openxmlformats.org/drawingml/2006/main">
            <a:r>
              <a:t>      "대화 원문",</a:t>
            </a:r>
          </a:p>
          <a:p xmlns:a="http://schemas.openxmlformats.org/drawingml/2006/main">
            <a:r>
              <a:t>      "재사용 대상",</a:t>
            </a:r>
          </a:p>
          <a:p xmlns:a="http://schemas.openxmlformats.org/drawingml/2006/main">
            <a:r>
              <a:t>      "학습·응답 자료",</a:t>
            </a:r>
          </a:p>
          <a:p xmlns:a="http://schemas.openxmlformats.org/drawingml/2006/main">
            <a:r>
              <a:t>      "생성 발화"</a:t>
            </a:r>
          </a:p>
          <a:p xmlns:a="http://schemas.openxmlformats.org/drawingml/2006/main">
            <a:r>
              <a:t>    ],</a:t>
            </a:r>
          </a:p>
          <a:p xmlns:a="http://schemas.openxmlformats.org/drawingml/2006/main">
            <a:r>
              <a:t>    "control": "목적·동의 범위 대사와 삭제 전파",</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개인정보보호위원회 · 이루다 조사 결과 https://www.korea.kr/news/policyNewsView.do?newsId=156449232</a:t>
            </a:r>
          </a:p>
          <a:p xmlns:a="http://schemas.openxmlformats.org/drawingml/2006/main">
            <a:r>
              <a:t>홈페이지 https://heen1987-ops.github.io/TS-business-Plan-001/index.html?view=casebook&amp;case=AX03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"AX04",</a:t>
            </a:r>
          </a:p>
          <a:p xmlns:a="http://schemas.openxmlformats.org/drawingml/2006/main">
            <a:r>
              <a:t>    "title": "영국 정부 M365 Copilot",</a:t>
            </a:r>
          </a:p>
          <a:p xmlns:a="http://schemas.openxmlformats.org/drawingml/2006/main">
            <a:r>
              <a:t>    "region": "해외",</a:t>
            </a:r>
          </a:p>
          <a:p xmlns:a="http://schemas.openxmlformats.org/drawingml/2006/main">
            <a:r>
              <a:t>    "country": "영국",</a:t>
            </a:r>
          </a:p>
          <a:p xmlns:a="http://schemas.openxmlformats.org/drawingml/2006/main">
            <a:r>
              <a:t>    "result": "혼합",</a:t>
            </a:r>
          </a:p>
          <a:p xmlns:a="http://schemas.openxmlformats.org/drawingml/2006/main">
            <a:r>
              <a:t>    "kind": "직원 업무 생산성 실험",</a:t>
            </a:r>
          </a:p>
          <a:p xmlns:a="http://schemas.openxmlformats.org/drawingml/2006/main">
            <a:r>
              <a:t>    "period": "2024.09–12 실험",</a:t>
            </a:r>
          </a:p>
          <a:p xmlns:a="http://schemas.openxmlformats.org/drawingml/2006/main">
            <a:r>
              <a:t>    "sources": [</a:t>
            </a:r>
          </a:p>
          <a:p xmlns:a="http://schemas.openxmlformats.org/drawingml/2006/main">
            <a:r>
              <a:t>      "S04"</a:t>
            </a:r>
          </a:p>
          <a:p xmlns:a="http://schemas.openxmlformats.org/drawingml/2006/main">
            <a:r>
              <a:t>    ],</a:t>
            </a:r>
          </a:p>
          <a:p xmlns:a="http://schemas.openxmlformats.org/drawingml/2006/main">
            <a:r>
              <a:t>    "keywords": [</a:t>
            </a:r>
          </a:p>
          <a:p xmlns:a="http://schemas.openxmlformats.org/drawingml/2006/main">
            <a:r>
              <a:t>      "업무효율",</a:t>
            </a:r>
          </a:p>
          <a:p xmlns:a="http://schemas.openxmlformats.org/drawingml/2006/main">
            <a:r>
              <a:t>      "직원",</a:t>
            </a:r>
          </a:p>
          <a:p xmlns:a="http://schemas.openxmlformats.org/drawingml/2006/main">
            <a:r>
              <a:t>      "권한",</a:t>
            </a:r>
          </a:p>
          <a:p xmlns:a="http://schemas.openxmlformats.org/drawingml/2006/main">
            <a:r>
              <a:t>      "성과 측정"</a:t>
            </a:r>
          </a:p>
          <a:p xmlns:a="http://schemas.openxmlformats.org/drawingml/2006/main">
            <a:r>
              <a:t>    ],</a:t>
            </a:r>
          </a:p>
          <a:p xmlns:a="http://schemas.openxmlformats.org/drawingml/2006/main">
            <a:r>
              <a:t>    "fact": "2만 명 규모 실험; 설문 응답자 7,115명의 자기보고 시간 절약 평균 약 26분/일",</a:t>
            </a:r>
          </a:p>
          <a:p xmlns:a="http://schemas.openxmlformats.org/drawingml/2006/main">
            <a:r>
              <a:t>    "limit": "실측 인과효과 아님 · 복잡한 맥락·데이터 업무 한계 · 기존 자료 과다공유 위험",</a:t>
            </a:r>
          </a:p>
          <a:p xmlns:a="http://schemas.openxmlformats.org/drawingml/2006/main">
            <a:r>
              <a:t>    "flow": [</a:t>
            </a:r>
          </a:p>
          <a:p xmlns:a="http://schemas.openxmlformats.org/drawingml/2006/main">
            <a:r>
              <a:t>      "직원 요청",</a:t>
            </a:r>
          </a:p>
          <a:p xmlns:a="http://schemas.openxmlformats.org/drawingml/2006/main">
            <a:r>
              <a:t>      "기존 접근권한",</a:t>
            </a:r>
          </a:p>
          <a:p xmlns:a="http://schemas.openxmlformats.org/drawingml/2006/main">
            <a:r>
              <a:t>      "업무 자료 검색",</a:t>
            </a:r>
          </a:p>
          <a:p xmlns:a="http://schemas.openxmlformats.org/drawingml/2006/main">
            <a:r>
              <a:t>      "초안·직원 검토"</a:t>
            </a:r>
          </a:p>
          <a:p xmlns:a="http://schemas.openxmlformats.org/drawingml/2006/main">
            <a:r>
              <a:t>    ],</a:t>
            </a:r>
          </a:p>
          <a:p xmlns:a="http://schemas.openxmlformats.org/drawingml/2006/main">
            <a:r>
              <a:t>    "flowBasis": "보고서의 기능·권한 설명 기반 재구성",</a:t>
            </a:r>
          </a:p>
          <a:p xmlns:a="http://schemas.openxmlformats.org/drawingml/2006/main">
            <a:r>
              <a:t>    "lesson": "사용 빈도와 실측 성과의 분리 / 기존 권한의 사전 정비",</a:t>
            </a:r>
          </a:p>
          <a:p xmlns:a="http://schemas.openxmlformats.org/drawingml/2006/main">
            <a:r>
              <a:t>    "local": "같은 요청을 부서·직무별로 분류하고 원천 접근권한을 검색 전 집행",</a:t>
            </a:r>
          </a:p>
          <a:p xmlns:a="http://schemas.openxmlformats.org/drawingml/2006/main">
            <a:r>
              <a:t>    "assets": [</a:t>
            </a:r>
          </a:p>
          <a:p xmlns:a="http://schemas.openxmlformats.org/drawingml/2006/main">
            <a:r>
              <a:t>      "CCK-01",</a:t>
            </a:r>
          </a:p>
          <a:p xmlns:a="http://schemas.openxmlformats.org/drawingml/2006/main">
            <a:r>
              <a:t>      "CCK-03"</a:t>
            </a:r>
          </a:p>
          <a:p xmlns:a="http://schemas.openxmlformats.org/drawingml/2006/main">
            <a:r>
              <a:t>    ],</a:t>
            </a:r>
          </a:p>
          <a:p xmlns:a="http://schemas.openxmlformats.org/drawingml/2006/main">
            <a:r>
              <a:t>    "delta": "로그인 ID–조직 연결 / 직무별 검색·서식 / 검토시간 포함 계측",</a:t>
            </a:r>
          </a:p>
          <a:p xmlns:a="http://schemas.openxmlformats.org/drawingml/2006/main">
            <a:r>
              <a:t>    "test": "권한 교차 시험과 동일 난도 업무의 전후·비교군 평가",</a:t>
            </a:r>
          </a:p>
          <a:p xmlns:a="http://schemas.openxmlformats.org/drawingml/2006/main">
            <a:r>
              <a:t>    "metric": "검토·재작업 포함 완료시간 / 오류율"</a:t>
            </a:r>
          </a:p>
          <a:p xmlns:a="http://schemas.openxmlformats.org/drawingml/2006/main">
            <a:r>
              <a:t>  },</a:t>
            </a:r>
          </a:p>
          <a:p xmlns:a="http://schemas.openxmlformats.org/drawingml/2006/main">
            <a:r>
              <a:t>  "design": {</a:t>
            </a:r>
          </a:p>
          <a:p xmlns:a="http://schemas.openxmlformats.org/drawingml/2006/main">
            <a:r>
              <a:t>    "id": "AX04",</a:t>
            </a:r>
          </a:p>
          <a:p xmlns:a="http://schemas.openxmlformats.org/drawingml/2006/main">
            <a:r>
              <a:t>    "canonicalId": "AX04",</a:t>
            </a:r>
          </a:p>
          <a:p xmlns:a="http://schemas.openxmlformats.org/drawingml/2006/main">
            <a:r>
              <a:t>    "purpose": "공무원 문서·회의 업무의 생성형 AI 지원",</a:t>
            </a:r>
          </a:p>
          <a:p xmlns:a="http://schemas.openxmlformats.org/drawingml/2006/main">
            <a:r>
              <a:t>    "users": "공무원·기관 운영자·평가팀",</a:t>
            </a:r>
          </a:p>
          <a:p xmlns:a="http://schemas.openxmlformats.org/drawingml/2006/main">
            <a:r>
              <a:t>    "scope": [</a:t>
            </a:r>
          </a:p>
          <a:p xmlns:a="http://schemas.openxmlformats.org/drawingml/2006/main">
            <a:r>
              <a:t>      "문서 초안",</a:t>
            </a:r>
          </a:p>
          <a:p xmlns:a="http://schemas.openxmlformats.org/drawingml/2006/main">
            <a:r>
              <a:t>      "회의 요약",</a:t>
            </a:r>
          </a:p>
          <a:p xmlns:a="http://schemas.openxmlformats.org/drawingml/2006/main">
            <a:r>
              <a:t>      "활용 효과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"공무원 M365",</a:t>
            </a:r>
          </a:p>
          <a:p xmlns:a="http://schemas.openxmlformats.org/drawingml/2006/main">
            <a:r>
              <a:t>        "detail": "직원 계정과 과업별 접근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초안 / 회의 요약 / 활용 효과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"Copilot 작성·검색",</a:t>
            </a:r>
          </a:p>
          <a:p xmlns:a="http://schemas.openxmlformats.org/drawingml/2006/main">
            <a:r>
              <a:t>        "detail": "허용 자료에 근거한 검색·요약·작성",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 검토",</a:t>
            </a:r>
          </a:p>
          <a:p xmlns:a="http://schemas.openxmlformats.org/drawingml/2006/main">
            <a:r>
              <a:t>        "detail": "직원 검토 후 공식 문서·회의 후속업무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"기존 접근 가능한 자료",</a:t>
            </a:r>
          </a:p>
          <a:p xmlns:a="http://schemas.openxmlformats.org/drawingml/2006/main">
            <a:r>
              <a:t>        "detail": "M365 문서·회의 자료의 공유범위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"검토·재작업 시간과 사용 로그의 과업별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요청",</a:t>
            </a:r>
          </a:p>
          <a:p xmlns:a="http://schemas.openxmlformats.org/drawingml/2006/main">
            <a:r>
              <a:t>        "input": "직원 계정과 과업별 접근 문맥",</a:t>
            </a:r>
          </a:p>
          <a:p xmlns:a="http://schemas.openxmlformats.org/drawingml/2006/main">
            <a:r>
              <a:t>        "process": "M365 문서·회의 자료의 공유범위 점검",</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"기존 접근권한",</a:t>
            </a:r>
          </a:p>
          <a:p xmlns:a="http://schemas.openxmlformats.org/drawingml/2006/main">
            <a:r>
              <a:t>        "input": "업무 요청",</a:t>
            </a:r>
          </a:p>
          <a:p xmlns:a="http://schemas.openxmlformats.org/drawingml/2006/main">
            <a:r>
              <a:t>        "process": "허용 자료에 근거한 검색·요약·작성",</a:t>
            </a:r>
          </a:p>
          <a:p xmlns:a="http://schemas.openxmlformats.org/drawingml/2006/main">
            <a:r>
              <a:t>        "output": "권한 내 근거"</a:t>
            </a:r>
          </a:p>
          <a:p xmlns:a="http://schemas.openxmlformats.org/drawingml/2006/main">
            <a:r>
              <a:t>      },</a:t>
            </a:r>
          </a:p>
          <a:p xmlns:a="http://schemas.openxmlformats.org/drawingml/2006/main">
            <a:r>
              <a:t>      {</a:t>
            </a:r>
          </a:p>
          <a:p xmlns:a="http://schemas.openxmlformats.org/drawingml/2006/main">
            <a:r>
              <a:t>        "title": "업무 자료 검색",</a:t>
            </a:r>
          </a:p>
          <a:p xmlns:a="http://schemas.openxmlformats.org/drawingml/2006/main">
            <a:r>
              <a:t>        "input": "권한 내 근거",</a:t>
            </a:r>
          </a:p>
          <a:p xmlns:a="http://schemas.openxmlformats.org/drawingml/2006/main">
            <a:r>
              <a:t>        "process": "정답·검토시간을 포함한 비교 평가",</a:t>
            </a:r>
          </a:p>
          <a:p xmlns:a="http://schemas.openxmlformats.org/drawingml/2006/main">
            <a:r>
              <a:t>        "output": "문서·회의 초안"</a:t>
            </a:r>
          </a:p>
          <a:p xmlns:a="http://schemas.openxmlformats.org/drawingml/2006/main">
            <a:r>
              <a:t>      },</a:t>
            </a:r>
          </a:p>
          <a:p xmlns:a="http://schemas.openxmlformats.org/drawingml/2006/main">
            <a:r>
              <a:t>      {</a:t>
            </a:r>
          </a:p>
          <a:p xmlns:a="http://schemas.openxmlformats.org/drawingml/2006/main">
            <a:r>
              <a:t>        "title": "초안·직원 검토",</a:t>
            </a:r>
          </a:p>
          <a:p xmlns:a="http://schemas.openxmlformats.org/drawingml/2006/main">
            <a:r>
              <a:t>        "input": "문서·회의 초안",</a:t>
            </a:r>
          </a:p>
          <a:p xmlns:a="http://schemas.openxmlformats.org/drawingml/2006/main">
            <a:r>
              <a:t>        "process": "직원 검토 후 공식 문서·회의 후속업무 반영",</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회의자료로 회의록 초안을 작성하고 직원이 수정·확정",</a:t>
            </a:r>
          </a:p>
          <a:p xmlns:a="http://schemas.openxmlformats.org/drawingml/2006/main">
            <a:r>
              <a:t>      "exception": "다른 부서 공유문서·누락된 발언·잘못된 할일 배정",</a:t>
            </a:r>
          </a:p>
          <a:p xmlns:a="http://schemas.openxmlformats.org/drawingml/2006/main">
            <a:r>
              <a:t>      "evidence": "권한별 결과와 검토·재작업을 포함한 과업 완료시간",</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"공무원·기관 운영자·평가팀",</a:t>
            </a:r>
          </a:p>
          <a:p xmlns:a="http://schemas.openxmlformats.org/drawingml/2006/main">
            <a:r>
              <a:t>          "processing": "직원 계정과 과업별 접근 문맥",</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"기존 접근 가능한 자료",</a:t>
            </a:r>
          </a:p>
          <a:p xmlns:a="http://schemas.openxmlformats.org/drawingml/2006/main">
            <a:r>
              <a:t>          "processing": "M365 문서·회의 자료의 공유범위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"허용 자료에 근거한 검색·요약·작성",</a:t>
            </a:r>
          </a:p>
          <a:p xmlns:a="http://schemas.openxmlformats.org/drawingml/2006/main">
            <a:r>
              <a:t>          "output": "문서·회의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"문서·회의 초안",</a:t>
            </a:r>
          </a:p>
          <a:p xmlns:a="http://schemas.openxmlformats.org/drawingml/2006/main">
            <a:r>
              <a:t>          "processing": "직원 검토 후 공식 문서·회의 후속업무 반영",</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"검토·재작업 시간과 사용 로그의 과업별 비교",</a:t>
            </a:r>
          </a:p>
          <a:p xmlns:a="http://schemas.openxmlformats.org/drawingml/2006/main">
            <a:r>
              <a:t>          "output": "권한별 결과와 검토·재작업을 포함한 과업 완료시간"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"검토·재작업 시간과 사용 로그의 과업별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"S04",</a:t>
            </a:r>
          </a:p>
          <a:p xmlns:a="http://schemas.openxmlformats.org/drawingml/2006/main">
            <a:r>
              <a:t>        "title": "영국 정부 · M365 Copilot 실험 보고서",</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"published": "2025-06-02",</a:t>
            </a:r>
          </a:p>
          <a:p xmlns:a="http://schemas.openxmlformats.org/drawingml/2006/main">
            <a:r>
              <a:t>        "level": "정부 실험 / 이용자 자기보고",</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"사용 빈도와 실측 성과의 분리 / 기존 권한의 사전 정비",</a:t>
            </a:r>
          </a:p>
          <a:p xmlns:a="http://schemas.openxmlformats.org/drawingml/2006/main">
            <a:r>
              <a:t>    "local": "같은 요청을 부서·직무별로 분류하고 원천 접근권한을 검색 전 집행",</a:t>
            </a:r>
          </a:p>
          <a:p xmlns:a="http://schemas.openxmlformats.org/drawingml/2006/main">
            <a:r>
              <a:t>    "sourceDetail": null,</a:t>
            </a:r>
          </a:p>
          <a:p xmlns:a="http://schemas.openxmlformats.org/drawingml/2006/main">
            <a:r>
              <a:t>    "narrative": [</a:t>
            </a:r>
          </a:p>
          <a:p xmlns:a="http://schemas.openxmlformats.org/drawingml/2006/main">
            <a:r>
              <a:t>      "기존 M365 문서·회의 접점에서 공무원의 작성·검색·요약을 지원한 실험. 새 업무 시스템 구축보다 직원이 이미 접근하는 자료와 협업 도구 안에 AI를 배치한 유형.",</a:t>
            </a:r>
          </a:p>
          <a:p xmlns:a="http://schemas.openxmlformats.org/drawingml/2006/main">
            <a:r>
              <a:t>      "자료 접근권한을 전제로 요청 문맥을 만들고 검색·생성 결과를 직원이 검토하는 흐름. 조직·직무별 동일 과업을 정의한 뒤 AI 사용 전후의 초안 작성, 사실 확인, 수정 시간을 함께 기록하는 CCK 비교 설계.",</a:t>
            </a:r>
          </a:p>
          <a:p xmlns:a="http://schemas.openxmlformats.org/drawingml/2006/main">
            <a:r>
              <a:t>      "설문 자기보고 절감시간을 TS의 예상 절감률로 직접 전환하지 않는 평가. 과다공유 문서, 복잡한 질의, 숙련도 차이와 재작업을 포함해 부서별 완료시간·오류율을 산정할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"M365 업무 요청",</a:t>
            </a:r>
          </a:p>
          <a:p xmlns:a="http://schemas.openxmlformats.org/drawingml/2006/main">
            <a:r>
              <a:t>          "layer": "이용 접점",</a:t>
            </a:r>
          </a:p>
          <a:p xmlns:a="http://schemas.openxmlformats.org/drawingml/2006/main">
            <a:r>
              <a:t>          "detail": "공무원·기관 운영자·평가팀",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"직원·과업 맥락",</a:t>
            </a:r>
          </a:p>
          <a:p xmlns:a="http://schemas.openxmlformats.org/drawingml/2006/main">
            <a:r>
              <a:t>          "layer": "업무 문맥",</a:t>
            </a:r>
          </a:p>
          <a:p xmlns:a="http://schemas.openxmlformats.org/drawingml/2006/main">
            <a:r>
              <a:t>          "detail": "직원 계정과 과업별 접근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"권한 내 자료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"검색·요약·작성",</a:t>
            </a:r>
          </a:p>
          <a:p xmlns:a="http://schemas.openxmlformats.org/drawingml/2006/main">
            <a:r>
              <a:t>          "layer": "핵심 처리",</a:t>
            </a:r>
          </a:p>
          <a:p xmlns:a="http://schemas.openxmlformats.org/drawingml/2006/main">
            <a:r>
              <a:t>          "detail": "허용 자료에 근거한 검색·요약·작성",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"근거·사실 대조",</a:t>
            </a:r>
          </a:p>
          <a:p xmlns:a="http://schemas.openxmlformats.org/drawingml/2006/main">
            <a:r>
              <a:t>          "layer": "결과 검증",</a:t>
            </a:r>
          </a:p>
          <a:p xmlns:a="http://schemas.openxmlformats.org/drawingml/2006/main">
            <a:r>
              <a:t>          "detail": "정답·검토시간을 포함한 비교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편집·확인",</a:t>
            </a:r>
          </a:p>
          <a:p xmlns:a="http://schemas.openxmlformats.org/drawingml/2006/main">
            <a:r>
              <a:t>          "layer": "사람 확인",</a:t>
            </a:r>
          </a:p>
          <a:p xmlns:a="http://schemas.openxmlformats.org/drawingml/2006/main">
            <a:r>
              <a:t>          "detail": "같은 회의자료로 회의록 초안을 작성하고 직원이 수정·확정",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"문서·회의 후속업무",</a:t>
            </a:r>
          </a:p>
          <a:p xmlns:a="http://schemas.openxmlformats.org/drawingml/2006/main">
            <a:r>
              <a:t>          "layer": "업무 연결",</a:t>
            </a:r>
          </a:p>
          <a:p xmlns:a="http://schemas.openxmlformats.org/drawingml/2006/main">
            <a:r>
              <a:t>          "detail": "직원 검토 후 공식 문서·회의 후속업무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"검토시간 비교",</a:t>
            </a:r>
          </a:p>
          <a:p xmlns:a="http://schemas.openxmlformats.org/drawingml/2006/main">
            <a:r>
              <a:t>          "layer": "운영 관측",</a:t>
            </a:r>
          </a:p>
          <a:p xmlns:a="http://schemas.openxmlformats.org/drawingml/2006/main">
            <a:r>
              <a:t>          "detail": "검토·재작업 시간과 사용 로그의 과업별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"문서·회의 자료",</a:t>
            </a:r>
          </a:p>
          <a:p xmlns:a="http://schemas.openxmlformats.org/drawingml/2006/main">
            <a:r>
              <a:t>          "layer": "데이터 원천",</a:t>
            </a:r>
          </a:p>
          <a:p xmlns:a="http://schemas.openxmlformats.org/drawingml/2006/main">
            <a:r>
              <a:t>          "detail": "기존 접근 가능한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"공유범위 점검",</a:t>
            </a:r>
          </a:p>
          <a:p xmlns:a="http://schemas.openxmlformats.org/drawingml/2006/main">
            <a:r>
              <a:t>          "layer": "준비·갱신",</a:t>
            </a:r>
          </a:p>
          <a:p xmlns:a="http://schemas.openxmlformats.org/drawingml/2006/main">
            <a:r>
              <a:t>          "detail": "M365 문서·회의 자료의 공유범위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"업무·평가 기록",</a:t>
            </a:r>
          </a:p>
          <a:p xmlns:a="http://schemas.openxmlformats.org/drawingml/2006/main">
            <a:r>
              <a:t>          "layer": "상태·지식 저장",</a:t>
            </a:r>
          </a:p>
          <a:p xmlns:a="http://schemas.openxmlformats.org/drawingml/2006/main">
            <a:r>
              <a:t>          "detail": "권한별 결과와 검토·재작업을 포함한 과업 완료시간",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 접근정책",</a:t>
            </a:r>
          </a:p>
          <a:p xmlns:a="http://schemas.openxmlformats.org/drawingml/2006/main">
            <a:r>
              <a:t>          "layer": "권한·정책",</a:t>
            </a:r>
          </a:p>
          <a:p xmlns:a="http://schemas.openxmlformats.org/drawingml/2006/main">
            <a:r>
              <a:t>          "detail": "다른 부서 공유문서·누락된 발언·잘못된 할일 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요청 → 기존 접근권한 → 업무 자료 검색 → 초안·직원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"직원 계정과 과업별 접근 문맥",</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요청",</a:t>
            </a:r>
          </a:p>
          <a:p xmlns:a="http://schemas.openxmlformats.org/drawingml/2006/main">
            <a:r>
              <a:t>          "check": "정답·검토시간을 포함한 비교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 접근정책",</a:t>
            </a:r>
          </a:p>
          <a:p xmlns:a="http://schemas.openxmlformats.org/drawingml/2006/main">
            <a:r>
              <a:t>          "check": "정답·검토시간을 포함한 비교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"문서·회의 초안",</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"문서·회의 초안",</a:t>
            </a:r>
          </a:p>
          <a:p xmlns:a="http://schemas.openxmlformats.org/drawingml/2006/main">
            <a:r>
              <a:t>          "check": "다른 부서 공유문서·누락된 발언·잘못된 할일 배정"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"공무원 문서·회의 업무의 생성형 AI 지원 / 문서 초안·회의 요약·활용 효과 평가",</a:t>
            </a:r>
          </a:p>
          <a:p xmlns:a="http://schemas.openxmlformats.org/drawingml/2006/main">
            <a:r>
              <a:t>        "extension": "같은 요청을 부서·직무별로 분류하고 원천 접근권한을 검색 전 집행"</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부서 공유문서·누락된 발언·잘못된 할일 배정",</a:t>
            </a:r>
          </a:p>
          <a:p xmlns:a="http://schemas.openxmlformats.org/drawingml/2006/main">
            <a:r>
              <a:t>        "hold": "정답·검토시간을 포함한 비교 평가",</a:t>
            </a:r>
          </a:p>
          <a:p xmlns:a="http://schemas.openxmlformats.org/drawingml/2006/main">
            <a:r>
              <a:t>        "recovery": "검토·재작업 시간과 사용 로그의 과업별 비교",</a:t>
            </a:r>
          </a:p>
          <a:p xmlns:a="http://schemas.openxmlformats.org/drawingml/2006/main">
            <a:r>
              <a:t>        "evidence": "권한별 결과와 검토·재작업을 포함한 과업 완료시간"</a:t>
            </a:r>
          </a:p>
          <a:p xmlns:a="http://schemas.openxmlformats.org/drawingml/2006/main">
            <a:r>
              <a:t>      },</a:t>
            </a:r>
          </a:p>
          <a:p xmlns:a="http://schemas.openxmlformats.org/drawingml/2006/main">
            <a:r>
              <a:t>      "data": {</a:t>
            </a:r>
          </a:p>
          <a:p xmlns:a="http://schemas.openxmlformats.org/drawingml/2006/main">
            <a:r>
              <a:t>        "source": "기존 접근 가능한 자료",</a:t>
            </a:r>
          </a:p>
          <a:p xmlns:a="http://schemas.openxmlformats.org/drawingml/2006/main">
            <a:r>
              <a:t>        "prepare": "M365 문서·회의 자료의 공유범위 점검",</a:t>
            </a:r>
          </a:p>
          <a:p xmlns:a="http://schemas.openxmlformats.org/drawingml/2006/main">
            <a:r>
              <a:t>        "output": "업무 요청",</a:t>
            </a:r>
          </a:p>
          <a:p xmlns:a="http://schemas.openxmlformats.org/drawingml/2006/main">
            <a:r>
              <a:t>        "refresh": "검토·재작업 시간과 사용 로그의 과업별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"AX04",</a:t>
            </a:r>
          </a:p>
          <a:p xmlns:a="http://schemas.openxmlformats.org/drawingml/2006/main">
            <a:r>
              <a:t>    "success": [</a:t>
            </a:r>
          </a:p>
          <a:p xmlns:a="http://schemas.openxmlformats.org/drawingml/2006/main">
            <a:r>
              <a:t>      "기존 문서·회의 도구 안의 지원",</a:t>
            </a:r>
          </a:p>
          <a:p xmlns:a="http://schemas.openxmlformats.org/drawingml/2006/main">
            <a:r>
              <a:t>      "실제 직원의 활용·피드백 수집"</a:t>
            </a:r>
          </a:p>
          <a:p xmlns:a="http://schemas.openxmlformats.org/drawingml/2006/main">
            <a:r>
              <a:t>    ],</a:t>
            </a:r>
          </a:p>
          <a:p xmlns:a="http://schemas.openxmlformats.org/drawingml/2006/main">
            <a:r>
              <a:t>    "risks": [</a:t>
            </a:r>
          </a:p>
          <a:p xmlns:a="http://schemas.openxmlformats.org/drawingml/2006/main">
            <a:r>
              <a:t>      "업무별 효과 편차",</a:t>
            </a:r>
          </a:p>
          <a:p xmlns:a="http://schemas.openxmlformats.org/drawingml/2006/main">
            <a:r>
              <a:t>      "자기보고 절감시간과 실측시간의 차이"</a:t>
            </a:r>
          </a:p>
          <a:p xmlns:a="http://schemas.openxmlformats.org/drawingml/2006/main">
            <a:r>
              <a:t>    ],</a:t>
            </a:r>
          </a:p>
          <a:p xmlns:a="http://schemas.openxmlformats.org/drawingml/2006/main">
            <a:r>
              <a:t>    "architecture": [</a:t>
            </a:r>
          </a:p>
          <a:p xmlns:a="http://schemas.openxmlformats.org/drawingml/2006/main">
            <a:r>
              <a:t>      "공무원 M365",</a:t>
            </a:r>
          </a:p>
          <a:p xmlns:a="http://schemas.openxmlformats.org/drawingml/2006/main">
            <a:r>
              <a:t>      "Copilot 작성·검색",</a:t>
            </a:r>
          </a:p>
          <a:p xmlns:a="http://schemas.openxmlformats.org/drawingml/2006/main">
            <a:r>
              <a:t>      "기존 접근 가능한 자료",</a:t>
            </a:r>
          </a:p>
          <a:p xmlns:a="http://schemas.openxmlformats.org/drawingml/2006/main">
            <a:r>
              <a:t>      "직원 검토"</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"권한 내 근거",</a:t>
            </a:r>
          </a:p>
          <a:p xmlns:a="http://schemas.openxmlformats.org/drawingml/2006/main">
            <a:r>
              <a:t>      "문서·회의 초안",</a:t>
            </a:r>
          </a:p>
          <a:p xmlns:a="http://schemas.openxmlformats.org/drawingml/2006/main">
            <a:r>
              <a:t>      "검토 결과"</a:t>
            </a:r>
          </a:p>
          <a:p xmlns:a="http://schemas.openxmlformats.org/drawingml/2006/main">
            <a:r>
              <a:t>    ],</a:t>
            </a:r>
          </a:p>
          <a:p xmlns:a="http://schemas.openxmlformats.org/drawingml/2006/main">
            <a:r>
              <a:t>    "control": "정답·검토시간을 포함한 비교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영국 정부 · M365 Copilot 실험 보고서 https://www.gov.uk/government/publications/microsoft-365-copilot-experiment-cross-government-findings-report/microsoft-365-copilot-experiment-cross-government-findings-report-html</a:t>
            </a:r>
          </a:p>
          <a:p xmlns:a="http://schemas.openxmlformats.org/drawingml/2006/main">
            <a:r>
              <a:t>홈페이지 https://heen1987-ops.github.io/TS-business-Plan-001/index.html?view=casebook&amp;case=AX04</a:t>
            </a:r>
          </a:p>
          <a:p xmlns:a="http://schemas.openxmlformats.org/drawingml/2006/main">
            <a:r>
              <a:t>한계: 실측 인과효과 아님 · 복잡한 맥락·데이터 업무 한계 · 기존 자료 과다공유 위험</a:t>
            </a:r>
          </a:p>
          <a:p xmlns:a="http://schemas.openxmlformats.org/drawingml/2006/main">
            <a:r>
              <a:t>실패 위험: 업무별 효과 편차 / 자기보고 절감시간과 실측시간의 차이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"AX04",</a:t>
            </a:r>
          </a:p>
          <a:p xmlns:a="http://schemas.openxmlformats.org/drawingml/2006/main">
            <a:r>
              <a:t>    "title": "영국 정부 M365 Copilot",</a:t>
            </a:r>
          </a:p>
          <a:p xmlns:a="http://schemas.openxmlformats.org/drawingml/2006/main">
            <a:r>
              <a:t>    "region": "해외",</a:t>
            </a:r>
          </a:p>
          <a:p xmlns:a="http://schemas.openxmlformats.org/drawingml/2006/main">
            <a:r>
              <a:t>    "country": "영국",</a:t>
            </a:r>
          </a:p>
          <a:p xmlns:a="http://schemas.openxmlformats.org/drawingml/2006/main">
            <a:r>
              <a:t>    "result": "혼합",</a:t>
            </a:r>
          </a:p>
          <a:p xmlns:a="http://schemas.openxmlformats.org/drawingml/2006/main">
            <a:r>
              <a:t>    "kind": "직원 업무 생산성 실험",</a:t>
            </a:r>
          </a:p>
          <a:p xmlns:a="http://schemas.openxmlformats.org/drawingml/2006/main">
            <a:r>
              <a:t>    "period": "2024.09–12 실험",</a:t>
            </a:r>
          </a:p>
          <a:p xmlns:a="http://schemas.openxmlformats.org/drawingml/2006/main">
            <a:r>
              <a:t>    "sources": [</a:t>
            </a:r>
          </a:p>
          <a:p xmlns:a="http://schemas.openxmlformats.org/drawingml/2006/main">
            <a:r>
              <a:t>      "S04"</a:t>
            </a:r>
          </a:p>
          <a:p xmlns:a="http://schemas.openxmlformats.org/drawingml/2006/main">
            <a:r>
              <a:t>    ],</a:t>
            </a:r>
          </a:p>
          <a:p xmlns:a="http://schemas.openxmlformats.org/drawingml/2006/main">
            <a:r>
              <a:t>    "keywords": [</a:t>
            </a:r>
          </a:p>
          <a:p xmlns:a="http://schemas.openxmlformats.org/drawingml/2006/main">
            <a:r>
              <a:t>      "업무효율",</a:t>
            </a:r>
          </a:p>
          <a:p xmlns:a="http://schemas.openxmlformats.org/drawingml/2006/main">
            <a:r>
              <a:t>      "직원",</a:t>
            </a:r>
          </a:p>
          <a:p xmlns:a="http://schemas.openxmlformats.org/drawingml/2006/main">
            <a:r>
              <a:t>      "권한",</a:t>
            </a:r>
          </a:p>
          <a:p xmlns:a="http://schemas.openxmlformats.org/drawingml/2006/main">
            <a:r>
              <a:t>      "성과 측정"</a:t>
            </a:r>
          </a:p>
          <a:p xmlns:a="http://schemas.openxmlformats.org/drawingml/2006/main">
            <a:r>
              <a:t>    ],</a:t>
            </a:r>
          </a:p>
          <a:p xmlns:a="http://schemas.openxmlformats.org/drawingml/2006/main">
            <a:r>
              <a:t>    "fact": "2만 명 규모 실험; 설문 응답자 7,115명의 자기보고 시간 절약 평균 약 26분/일",</a:t>
            </a:r>
          </a:p>
          <a:p xmlns:a="http://schemas.openxmlformats.org/drawingml/2006/main">
            <a:r>
              <a:t>    "limit": "실측 인과효과 아님 · 복잡한 맥락·데이터 업무 한계 · 기존 자료 과다공유 위험",</a:t>
            </a:r>
          </a:p>
          <a:p xmlns:a="http://schemas.openxmlformats.org/drawingml/2006/main">
            <a:r>
              <a:t>    "flow": [</a:t>
            </a:r>
          </a:p>
          <a:p xmlns:a="http://schemas.openxmlformats.org/drawingml/2006/main">
            <a:r>
              <a:t>      "직원 요청",</a:t>
            </a:r>
          </a:p>
          <a:p xmlns:a="http://schemas.openxmlformats.org/drawingml/2006/main">
            <a:r>
              <a:t>      "기존 접근권한",</a:t>
            </a:r>
          </a:p>
          <a:p xmlns:a="http://schemas.openxmlformats.org/drawingml/2006/main">
            <a:r>
              <a:t>      "업무 자료 검색",</a:t>
            </a:r>
          </a:p>
          <a:p xmlns:a="http://schemas.openxmlformats.org/drawingml/2006/main">
            <a:r>
              <a:t>      "초안·직원 검토"</a:t>
            </a:r>
          </a:p>
          <a:p xmlns:a="http://schemas.openxmlformats.org/drawingml/2006/main">
            <a:r>
              <a:t>    ],</a:t>
            </a:r>
          </a:p>
          <a:p xmlns:a="http://schemas.openxmlformats.org/drawingml/2006/main">
            <a:r>
              <a:t>    "flowBasis": "보고서의 기능·권한 설명 기반 재구성",</a:t>
            </a:r>
          </a:p>
          <a:p xmlns:a="http://schemas.openxmlformats.org/drawingml/2006/main">
            <a:r>
              <a:t>    "lesson": "사용 빈도와 실측 성과의 분리 / 기존 권한의 사전 정비",</a:t>
            </a:r>
          </a:p>
          <a:p xmlns:a="http://schemas.openxmlformats.org/drawingml/2006/main">
            <a:r>
              <a:t>    "local": "같은 요청을 부서·직무별로 분류하고 원천 접근권한을 검색 전 집행",</a:t>
            </a:r>
          </a:p>
          <a:p xmlns:a="http://schemas.openxmlformats.org/drawingml/2006/main">
            <a:r>
              <a:t>    "assets": [</a:t>
            </a:r>
          </a:p>
          <a:p xmlns:a="http://schemas.openxmlformats.org/drawingml/2006/main">
            <a:r>
              <a:t>      "CCK-01",</a:t>
            </a:r>
          </a:p>
          <a:p xmlns:a="http://schemas.openxmlformats.org/drawingml/2006/main">
            <a:r>
              <a:t>      "CCK-03"</a:t>
            </a:r>
          </a:p>
          <a:p xmlns:a="http://schemas.openxmlformats.org/drawingml/2006/main">
            <a:r>
              <a:t>    ],</a:t>
            </a:r>
          </a:p>
          <a:p xmlns:a="http://schemas.openxmlformats.org/drawingml/2006/main">
            <a:r>
              <a:t>    "delta": "로그인 ID–조직 연결 / 직무별 검색·서식 / 검토시간 포함 계측",</a:t>
            </a:r>
          </a:p>
          <a:p xmlns:a="http://schemas.openxmlformats.org/drawingml/2006/main">
            <a:r>
              <a:t>    "test": "권한 교차 시험과 동일 난도 업무의 전후·비교군 평가",</a:t>
            </a:r>
          </a:p>
          <a:p xmlns:a="http://schemas.openxmlformats.org/drawingml/2006/main">
            <a:r>
              <a:t>    "metric": "검토·재작업 포함 완료시간 / 오류율"</a:t>
            </a:r>
          </a:p>
          <a:p xmlns:a="http://schemas.openxmlformats.org/drawingml/2006/main">
            <a:r>
              <a:t>  },</a:t>
            </a:r>
          </a:p>
          <a:p xmlns:a="http://schemas.openxmlformats.org/drawingml/2006/main">
            <a:r>
              <a:t>  "design": {</a:t>
            </a:r>
          </a:p>
          <a:p xmlns:a="http://schemas.openxmlformats.org/drawingml/2006/main">
            <a:r>
              <a:t>    "id": "AX04",</a:t>
            </a:r>
          </a:p>
          <a:p xmlns:a="http://schemas.openxmlformats.org/drawingml/2006/main">
            <a:r>
              <a:t>    "canonicalId": "AX04",</a:t>
            </a:r>
          </a:p>
          <a:p xmlns:a="http://schemas.openxmlformats.org/drawingml/2006/main">
            <a:r>
              <a:t>    "purpose": "공무원 문서·회의 업무의 생성형 AI 지원",</a:t>
            </a:r>
          </a:p>
          <a:p xmlns:a="http://schemas.openxmlformats.org/drawingml/2006/main">
            <a:r>
              <a:t>    "users": "공무원·기관 운영자·평가팀",</a:t>
            </a:r>
          </a:p>
          <a:p xmlns:a="http://schemas.openxmlformats.org/drawingml/2006/main">
            <a:r>
              <a:t>    "scope": [</a:t>
            </a:r>
          </a:p>
          <a:p xmlns:a="http://schemas.openxmlformats.org/drawingml/2006/main">
            <a:r>
              <a:t>      "문서 초안",</a:t>
            </a:r>
          </a:p>
          <a:p xmlns:a="http://schemas.openxmlformats.org/drawingml/2006/main">
            <a:r>
              <a:t>      "회의 요약",</a:t>
            </a:r>
          </a:p>
          <a:p xmlns:a="http://schemas.openxmlformats.org/drawingml/2006/main">
            <a:r>
              <a:t>      "활용 효과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"공무원 M365",</a:t>
            </a:r>
          </a:p>
          <a:p xmlns:a="http://schemas.openxmlformats.org/drawingml/2006/main">
            <a:r>
              <a:t>        "detail": "직원 계정과 과업별 접근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초안 / 회의 요약 / 활용 효과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"Copilot 작성·검색",</a:t>
            </a:r>
          </a:p>
          <a:p xmlns:a="http://schemas.openxmlformats.org/drawingml/2006/main">
            <a:r>
              <a:t>        "detail": "허용 자료에 근거한 검색·요약·작성",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 검토",</a:t>
            </a:r>
          </a:p>
          <a:p xmlns:a="http://schemas.openxmlformats.org/drawingml/2006/main">
            <a:r>
              <a:t>        "detail": "직원 검토 후 공식 문서·회의 후속업무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"기존 접근 가능한 자료",</a:t>
            </a:r>
          </a:p>
          <a:p xmlns:a="http://schemas.openxmlformats.org/drawingml/2006/main">
            <a:r>
              <a:t>        "detail": "M365 문서·회의 자료의 공유범위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"검토·재작업 시간과 사용 로그의 과업별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요청",</a:t>
            </a:r>
          </a:p>
          <a:p xmlns:a="http://schemas.openxmlformats.org/drawingml/2006/main">
            <a:r>
              <a:t>        "input": "직원 계정과 과업별 접근 문맥",</a:t>
            </a:r>
          </a:p>
          <a:p xmlns:a="http://schemas.openxmlformats.org/drawingml/2006/main">
            <a:r>
              <a:t>        "process": "M365 문서·회의 자료의 공유범위 점검",</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"기존 접근권한",</a:t>
            </a:r>
          </a:p>
          <a:p xmlns:a="http://schemas.openxmlformats.org/drawingml/2006/main">
            <a:r>
              <a:t>        "input": "업무 요청",</a:t>
            </a:r>
          </a:p>
          <a:p xmlns:a="http://schemas.openxmlformats.org/drawingml/2006/main">
            <a:r>
              <a:t>        "process": "허용 자료에 근거한 검색·요약·작성",</a:t>
            </a:r>
          </a:p>
          <a:p xmlns:a="http://schemas.openxmlformats.org/drawingml/2006/main">
            <a:r>
              <a:t>        "output": "권한 내 근거"</a:t>
            </a:r>
          </a:p>
          <a:p xmlns:a="http://schemas.openxmlformats.org/drawingml/2006/main">
            <a:r>
              <a:t>      },</a:t>
            </a:r>
          </a:p>
          <a:p xmlns:a="http://schemas.openxmlformats.org/drawingml/2006/main">
            <a:r>
              <a:t>      {</a:t>
            </a:r>
          </a:p>
          <a:p xmlns:a="http://schemas.openxmlformats.org/drawingml/2006/main">
            <a:r>
              <a:t>        "title": "업무 자료 검색",</a:t>
            </a:r>
          </a:p>
          <a:p xmlns:a="http://schemas.openxmlformats.org/drawingml/2006/main">
            <a:r>
              <a:t>        "input": "권한 내 근거",</a:t>
            </a:r>
          </a:p>
          <a:p xmlns:a="http://schemas.openxmlformats.org/drawingml/2006/main">
            <a:r>
              <a:t>        "process": "정답·검토시간을 포함한 비교 평가",</a:t>
            </a:r>
          </a:p>
          <a:p xmlns:a="http://schemas.openxmlformats.org/drawingml/2006/main">
            <a:r>
              <a:t>        "output": "문서·회의 초안"</a:t>
            </a:r>
          </a:p>
          <a:p xmlns:a="http://schemas.openxmlformats.org/drawingml/2006/main">
            <a:r>
              <a:t>      },</a:t>
            </a:r>
          </a:p>
          <a:p xmlns:a="http://schemas.openxmlformats.org/drawingml/2006/main">
            <a:r>
              <a:t>      {</a:t>
            </a:r>
          </a:p>
          <a:p xmlns:a="http://schemas.openxmlformats.org/drawingml/2006/main">
            <a:r>
              <a:t>        "title": "초안·직원 검토",</a:t>
            </a:r>
          </a:p>
          <a:p xmlns:a="http://schemas.openxmlformats.org/drawingml/2006/main">
            <a:r>
              <a:t>        "input": "문서·회의 초안",</a:t>
            </a:r>
          </a:p>
          <a:p xmlns:a="http://schemas.openxmlformats.org/drawingml/2006/main">
            <a:r>
              <a:t>        "process": "직원 검토 후 공식 문서·회의 후속업무 반영",</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회의자료로 회의록 초안을 작성하고 직원이 수정·확정",</a:t>
            </a:r>
          </a:p>
          <a:p xmlns:a="http://schemas.openxmlformats.org/drawingml/2006/main">
            <a:r>
              <a:t>      "exception": "다른 부서 공유문서·누락된 발언·잘못된 할일 배정",</a:t>
            </a:r>
          </a:p>
          <a:p xmlns:a="http://schemas.openxmlformats.org/drawingml/2006/main">
            <a:r>
              <a:t>      "evidence": "권한별 결과와 검토·재작업을 포함한 과업 완료시간",</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"공무원·기관 운영자·평가팀",</a:t>
            </a:r>
          </a:p>
          <a:p xmlns:a="http://schemas.openxmlformats.org/drawingml/2006/main">
            <a:r>
              <a:t>          "processing": "직원 계정과 과업별 접근 문맥",</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"기존 접근 가능한 자료",</a:t>
            </a:r>
          </a:p>
          <a:p xmlns:a="http://schemas.openxmlformats.org/drawingml/2006/main">
            <a:r>
              <a:t>          "processing": "M365 문서·회의 자료의 공유범위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"허용 자료에 근거한 검색·요약·작성",</a:t>
            </a:r>
          </a:p>
          <a:p xmlns:a="http://schemas.openxmlformats.org/drawingml/2006/main">
            <a:r>
              <a:t>          "output": "문서·회의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"문서·회의 초안",</a:t>
            </a:r>
          </a:p>
          <a:p xmlns:a="http://schemas.openxmlformats.org/drawingml/2006/main">
            <a:r>
              <a:t>          "processing": "직원 검토 후 공식 문서·회의 후속업무 반영",</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"검토·재작업 시간과 사용 로그의 과업별 비교",</a:t>
            </a:r>
          </a:p>
          <a:p xmlns:a="http://schemas.openxmlformats.org/drawingml/2006/main">
            <a:r>
              <a:t>          "output": "권한별 결과와 검토·재작업을 포함한 과업 완료시간"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"검토·재작업 시간과 사용 로그의 과업별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"S04",</a:t>
            </a:r>
          </a:p>
          <a:p xmlns:a="http://schemas.openxmlformats.org/drawingml/2006/main">
            <a:r>
              <a:t>        "title": "영국 정부 · M365 Copilot 실험 보고서",</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"published": "2025-06-02",</a:t>
            </a:r>
          </a:p>
          <a:p xmlns:a="http://schemas.openxmlformats.org/drawingml/2006/main">
            <a:r>
              <a:t>        "level": "정부 실험 / 이용자 자기보고",</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"사용 빈도와 실측 성과의 분리 / 기존 권한의 사전 정비",</a:t>
            </a:r>
          </a:p>
          <a:p xmlns:a="http://schemas.openxmlformats.org/drawingml/2006/main">
            <a:r>
              <a:t>    "local": "같은 요청을 부서·직무별로 분류하고 원천 접근권한을 검색 전 집행",</a:t>
            </a:r>
          </a:p>
          <a:p xmlns:a="http://schemas.openxmlformats.org/drawingml/2006/main">
            <a:r>
              <a:t>    "sourceDetail": null,</a:t>
            </a:r>
          </a:p>
          <a:p xmlns:a="http://schemas.openxmlformats.org/drawingml/2006/main">
            <a:r>
              <a:t>    "narrative": [</a:t>
            </a:r>
          </a:p>
          <a:p xmlns:a="http://schemas.openxmlformats.org/drawingml/2006/main">
            <a:r>
              <a:t>      "기존 M365 문서·회의 접점에서 공무원의 작성·검색·요약을 지원한 실험. 새 업무 시스템 구축보다 직원이 이미 접근하는 자료와 협업 도구 안에 AI를 배치한 유형.",</a:t>
            </a:r>
          </a:p>
          <a:p xmlns:a="http://schemas.openxmlformats.org/drawingml/2006/main">
            <a:r>
              <a:t>      "자료 접근권한을 전제로 요청 문맥을 만들고 검색·생성 결과를 직원이 검토하는 흐름. 조직·직무별 동일 과업을 정의한 뒤 AI 사용 전후의 초안 작성, 사실 확인, 수정 시간을 함께 기록하는 CCK 비교 설계.",</a:t>
            </a:r>
          </a:p>
          <a:p xmlns:a="http://schemas.openxmlformats.org/drawingml/2006/main">
            <a:r>
              <a:t>      "설문 자기보고 절감시간을 TS의 예상 절감률로 직접 전환하지 않는 평가. 과다공유 문서, 복잡한 질의, 숙련도 차이와 재작업을 포함해 부서별 완료시간·오류율을 산정할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"M365 업무 요청",</a:t>
            </a:r>
          </a:p>
          <a:p xmlns:a="http://schemas.openxmlformats.org/drawingml/2006/main">
            <a:r>
              <a:t>          "layer": "이용 접점",</a:t>
            </a:r>
          </a:p>
          <a:p xmlns:a="http://schemas.openxmlformats.org/drawingml/2006/main">
            <a:r>
              <a:t>          "detail": "공무원·기관 운영자·평가팀",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"직원·과업 맥락",</a:t>
            </a:r>
          </a:p>
          <a:p xmlns:a="http://schemas.openxmlformats.org/drawingml/2006/main">
            <a:r>
              <a:t>          "layer": "업무 문맥",</a:t>
            </a:r>
          </a:p>
          <a:p xmlns:a="http://schemas.openxmlformats.org/drawingml/2006/main">
            <a:r>
              <a:t>          "detail": "직원 계정과 과업별 접근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"권한 내 자료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"검색·요약·작성",</a:t>
            </a:r>
          </a:p>
          <a:p xmlns:a="http://schemas.openxmlformats.org/drawingml/2006/main">
            <a:r>
              <a:t>          "layer": "핵심 처리",</a:t>
            </a:r>
          </a:p>
          <a:p xmlns:a="http://schemas.openxmlformats.org/drawingml/2006/main">
            <a:r>
              <a:t>          "detail": "허용 자료에 근거한 검색·요약·작성",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"근거·사실 대조",</a:t>
            </a:r>
          </a:p>
          <a:p xmlns:a="http://schemas.openxmlformats.org/drawingml/2006/main">
            <a:r>
              <a:t>          "layer": "결과 검증",</a:t>
            </a:r>
          </a:p>
          <a:p xmlns:a="http://schemas.openxmlformats.org/drawingml/2006/main">
            <a:r>
              <a:t>          "detail": "정답·검토시간을 포함한 비교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편집·확인",</a:t>
            </a:r>
          </a:p>
          <a:p xmlns:a="http://schemas.openxmlformats.org/drawingml/2006/main">
            <a:r>
              <a:t>          "layer": "사람 확인",</a:t>
            </a:r>
          </a:p>
          <a:p xmlns:a="http://schemas.openxmlformats.org/drawingml/2006/main">
            <a:r>
              <a:t>          "detail": "같은 회의자료로 회의록 초안을 작성하고 직원이 수정·확정",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"문서·회의 후속업무",</a:t>
            </a:r>
          </a:p>
          <a:p xmlns:a="http://schemas.openxmlformats.org/drawingml/2006/main">
            <a:r>
              <a:t>          "layer": "업무 연결",</a:t>
            </a:r>
          </a:p>
          <a:p xmlns:a="http://schemas.openxmlformats.org/drawingml/2006/main">
            <a:r>
              <a:t>          "detail": "직원 검토 후 공식 문서·회의 후속업무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"검토시간 비교",</a:t>
            </a:r>
          </a:p>
          <a:p xmlns:a="http://schemas.openxmlformats.org/drawingml/2006/main">
            <a:r>
              <a:t>          "layer": "운영 관측",</a:t>
            </a:r>
          </a:p>
          <a:p xmlns:a="http://schemas.openxmlformats.org/drawingml/2006/main">
            <a:r>
              <a:t>          "detail": "검토·재작업 시간과 사용 로그의 과업별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"문서·회의 자료",</a:t>
            </a:r>
          </a:p>
          <a:p xmlns:a="http://schemas.openxmlformats.org/drawingml/2006/main">
            <a:r>
              <a:t>          "layer": "데이터 원천",</a:t>
            </a:r>
          </a:p>
          <a:p xmlns:a="http://schemas.openxmlformats.org/drawingml/2006/main">
            <a:r>
              <a:t>          "detail": "기존 접근 가능한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"공유범위 점검",</a:t>
            </a:r>
          </a:p>
          <a:p xmlns:a="http://schemas.openxmlformats.org/drawingml/2006/main">
            <a:r>
              <a:t>          "layer": "준비·갱신",</a:t>
            </a:r>
          </a:p>
          <a:p xmlns:a="http://schemas.openxmlformats.org/drawingml/2006/main">
            <a:r>
              <a:t>          "detail": "M365 문서·회의 자료의 공유범위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"업무·평가 기록",</a:t>
            </a:r>
          </a:p>
          <a:p xmlns:a="http://schemas.openxmlformats.org/drawingml/2006/main">
            <a:r>
              <a:t>          "layer": "상태·지식 저장",</a:t>
            </a:r>
          </a:p>
          <a:p xmlns:a="http://schemas.openxmlformats.org/drawingml/2006/main">
            <a:r>
              <a:t>          "detail": "권한별 결과와 검토·재작업을 포함한 과업 완료시간",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 접근정책",</a:t>
            </a:r>
          </a:p>
          <a:p xmlns:a="http://schemas.openxmlformats.org/drawingml/2006/main">
            <a:r>
              <a:t>          "layer": "권한·정책",</a:t>
            </a:r>
          </a:p>
          <a:p xmlns:a="http://schemas.openxmlformats.org/drawingml/2006/main">
            <a:r>
              <a:t>          "detail": "다른 부서 공유문서·누락된 발언·잘못된 할일 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요청 → 기존 접근권한 → 업무 자료 검색 → 초안·직원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"직원 계정과 과업별 접근 문맥",</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요청",</a:t>
            </a:r>
          </a:p>
          <a:p xmlns:a="http://schemas.openxmlformats.org/drawingml/2006/main">
            <a:r>
              <a:t>          "check": "정답·검토시간을 포함한 비교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 접근정책",</a:t>
            </a:r>
          </a:p>
          <a:p xmlns:a="http://schemas.openxmlformats.org/drawingml/2006/main">
            <a:r>
              <a:t>          "check": "정답·검토시간을 포함한 비교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"문서·회의 초안",</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"문서·회의 초안",</a:t>
            </a:r>
          </a:p>
          <a:p xmlns:a="http://schemas.openxmlformats.org/drawingml/2006/main">
            <a:r>
              <a:t>          "check": "다른 부서 공유문서·누락된 발언·잘못된 할일 배정"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"공무원 문서·회의 업무의 생성형 AI 지원 / 문서 초안·회의 요약·활용 효과 평가",</a:t>
            </a:r>
          </a:p>
          <a:p xmlns:a="http://schemas.openxmlformats.org/drawingml/2006/main">
            <a:r>
              <a:t>        "extension": "같은 요청을 부서·직무별로 분류하고 원천 접근권한을 검색 전 집행"</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부서 공유문서·누락된 발언·잘못된 할일 배정",</a:t>
            </a:r>
          </a:p>
          <a:p xmlns:a="http://schemas.openxmlformats.org/drawingml/2006/main">
            <a:r>
              <a:t>        "hold": "정답·검토시간을 포함한 비교 평가",</a:t>
            </a:r>
          </a:p>
          <a:p xmlns:a="http://schemas.openxmlformats.org/drawingml/2006/main">
            <a:r>
              <a:t>        "recovery": "검토·재작업 시간과 사용 로그의 과업별 비교",</a:t>
            </a:r>
          </a:p>
          <a:p xmlns:a="http://schemas.openxmlformats.org/drawingml/2006/main">
            <a:r>
              <a:t>        "evidence": "권한별 결과와 검토·재작업을 포함한 과업 완료시간"</a:t>
            </a:r>
          </a:p>
          <a:p xmlns:a="http://schemas.openxmlformats.org/drawingml/2006/main">
            <a:r>
              <a:t>      },</a:t>
            </a:r>
          </a:p>
          <a:p xmlns:a="http://schemas.openxmlformats.org/drawingml/2006/main">
            <a:r>
              <a:t>      "data": {</a:t>
            </a:r>
          </a:p>
          <a:p xmlns:a="http://schemas.openxmlformats.org/drawingml/2006/main">
            <a:r>
              <a:t>        "source": "기존 접근 가능한 자료",</a:t>
            </a:r>
          </a:p>
          <a:p xmlns:a="http://schemas.openxmlformats.org/drawingml/2006/main">
            <a:r>
              <a:t>        "prepare": "M365 문서·회의 자료의 공유범위 점검",</a:t>
            </a:r>
          </a:p>
          <a:p xmlns:a="http://schemas.openxmlformats.org/drawingml/2006/main">
            <a:r>
              <a:t>        "output": "업무 요청",</a:t>
            </a:r>
          </a:p>
          <a:p xmlns:a="http://schemas.openxmlformats.org/drawingml/2006/main">
            <a:r>
              <a:t>        "refresh": "검토·재작업 시간과 사용 로그의 과업별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"AX04",</a:t>
            </a:r>
          </a:p>
          <a:p xmlns:a="http://schemas.openxmlformats.org/drawingml/2006/main">
            <a:r>
              <a:t>    "success": [</a:t>
            </a:r>
          </a:p>
          <a:p xmlns:a="http://schemas.openxmlformats.org/drawingml/2006/main">
            <a:r>
              <a:t>      "기존 문서·회의 도구 안의 지원",</a:t>
            </a:r>
          </a:p>
          <a:p xmlns:a="http://schemas.openxmlformats.org/drawingml/2006/main">
            <a:r>
              <a:t>      "실제 직원의 활용·피드백 수집"</a:t>
            </a:r>
          </a:p>
          <a:p xmlns:a="http://schemas.openxmlformats.org/drawingml/2006/main">
            <a:r>
              <a:t>    ],</a:t>
            </a:r>
          </a:p>
          <a:p xmlns:a="http://schemas.openxmlformats.org/drawingml/2006/main">
            <a:r>
              <a:t>    "risks": [</a:t>
            </a:r>
          </a:p>
          <a:p xmlns:a="http://schemas.openxmlformats.org/drawingml/2006/main">
            <a:r>
              <a:t>      "업무별 효과 편차",</a:t>
            </a:r>
          </a:p>
          <a:p xmlns:a="http://schemas.openxmlformats.org/drawingml/2006/main">
            <a:r>
              <a:t>      "자기보고 절감시간과 실측시간의 차이"</a:t>
            </a:r>
          </a:p>
          <a:p xmlns:a="http://schemas.openxmlformats.org/drawingml/2006/main">
            <a:r>
              <a:t>    ],</a:t>
            </a:r>
          </a:p>
          <a:p xmlns:a="http://schemas.openxmlformats.org/drawingml/2006/main">
            <a:r>
              <a:t>    "architecture": [</a:t>
            </a:r>
          </a:p>
          <a:p xmlns:a="http://schemas.openxmlformats.org/drawingml/2006/main">
            <a:r>
              <a:t>      "공무원 M365",</a:t>
            </a:r>
          </a:p>
          <a:p xmlns:a="http://schemas.openxmlformats.org/drawingml/2006/main">
            <a:r>
              <a:t>      "Copilot 작성·검색",</a:t>
            </a:r>
          </a:p>
          <a:p xmlns:a="http://schemas.openxmlformats.org/drawingml/2006/main">
            <a:r>
              <a:t>      "기존 접근 가능한 자료",</a:t>
            </a:r>
          </a:p>
          <a:p xmlns:a="http://schemas.openxmlformats.org/drawingml/2006/main">
            <a:r>
              <a:t>      "직원 검토"</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"권한 내 근거",</a:t>
            </a:r>
          </a:p>
          <a:p xmlns:a="http://schemas.openxmlformats.org/drawingml/2006/main">
            <a:r>
              <a:t>      "문서·회의 초안",</a:t>
            </a:r>
          </a:p>
          <a:p xmlns:a="http://schemas.openxmlformats.org/drawingml/2006/main">
            <a:r>
              <a:t>      "검토 결과"</a:t>
            </a:r>
          </a:p>
          <a:p xmlns:a="http://schemas.openxmlformats.org/drawingml/2006/main">
            <a:r>
              <a:t>    ],</a:t>
            </a:r>
          </a:p>
          <a:p xmlns:a="http://schemas.openxmlformats.org/drawingml/2006/main">
            <a:r>
              <a:t>    "control": "정답·검토시간을 포함한 비교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영국 정부 · M365 Copilot 실험 보고서 https://www.gov.uk/government/publications/microsoft-365-copilot-experiment-cross-government-findings-report/microsoft-365-copilot-experiment-cross-government-findings-report-html</a:t>
            </a:r>
          </a:p>
          <a:p xmlns:a="http://schemas.openxmlformats.org/drawingml/2006/main">
            <a:r>
              <a:t>홈페이지 https://heen1987-ops.github.io/TS-business-Plan-001/index.html?view=casebook&amp;case=AX04</a:t>
            </a:r>
          </a:p>
          <a:p xmlns:a="http://schemas.openxmlformats.org/drawingml/2006/main">
            <a:r>
              <a:t>성과 대조</a:t>
            </a:r>
          </a:p>
          <a:p xmlns:a="http://schemas.openxmlformats.org/drawingml/2006/main">
            <a:r>
              <a:t>{</a:t>
            </a:r>
          </a:p>
          <a:p xmlns:a="http://schemas.openxmlformats.org/drawingml/2006/main">
            <a:r>
              <a:t>  "caseId": "AX04",</a:t>
            </a:r>
          </a:p>
          <a:p xmlns:a="http://schemas.openxmlformats.org/drawingml/2006/main">
            <a:r>
              <a:t>  "asIs": "직원이 회의·메일·문서 검색과 초안 작성에 시간을 쓰고 자료 접근 범위가 기존 M365 설정에 좌우됨",</a:t>
            </a:r>
          </a:p>
          <a:p xmlns:a="http://schemas.openxmlformats.org/drawingml/2006/main">
            <a:r>
              <a:t>  "toBe": "M365 내 허용 자료 검색·요약·초안으로 여러 직군의 일상 과업 지원",</a:t>
            </a:r>
          </a:p>
          <a:p xmlns:a="http://schemas.openxmlformats.org/drawingml/2006/main">
            <a:r>
              <a:t>  "expectedEffect": "반복 업무 시간 감소·업무 만족도·전략 업무 집중도 향상",</a:t>
            </a:r>
          </a:p>
          <a:p xmlns:a="http://schemas.openxmlformats.org/drawingml/2006/main">
            <a:r>
              <a:t>  "observed": "영국 정부 2만 명 라이선스 실험에서 설문 응답자 7,115명이 하루 평균 약 26분 절약을 자기보고; 복잡한 문맥·데이터 업무와 원천 과다공유 우려도 기록",</a:t>
            </a:r>
          </a:p>
          <a:p xmlns:a="http://schemas.openxmlformats.org/drawingml/2006/main">
            <a:r>
              <a:t>  "verdict": "부분 성과",</a:t>
            </a:r>
          </a:p>
          <a:p xmlns:a="http://schemas.openxmlformats.org/drawingml/2006/main">
            <a:r>
              <a:t>  "verdictReason": "이용률과 자기보고 편익은 확인되나 최종 완료시간·품질의 통제 비교는 수행되지 않음",</a:t>
            </a:r>
          </a:p>
          <a:p xmlns:a="http://schemas.openxmlformats.org/drawingml/2006/main">
            <a:r>
              <a:t>  "limits": "26분은 이용자 추정치. 전 직원 실측 절감, 인과효과, TS 전용 목표치 아님",</a:t>
            </a:r>
          </a:p>
          <a:p xmlns:a="http://schemas.openxmlformats.org/drawingml/2006/main">
            <a:r>
              <a:t>  "metric": "하루 평균 약 26분 절약: 설문 응답자의 자기보고",</a:t>
            </a:r>
          </a:p>
          <a:p xmlns:a="http://schemas.openxmlformats.org/drawingml/2006/main">
            <a:r>
              <a:t>  "evidenceStage": "정부 실험·자기보고 평가",</a:t>
            </a:r>
          </a:p>
          <a:p xmlns:a="http://schemas.openxmlformats.org/drawingml/2006/main">
            <a:r>
              <a:t>  "sourceUrl": "https://www.gov.uk/government/publications/microsoft-365-copilot-experiment-cross-government-findings-report/microsoft-365-copilot-experiment-cross-government-findings-report-html"</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"AX04",</a:t>
            </a:r>
          </a:p>
          <a:p xmlns:a="http://schemas.openxmlformats.org/drawingml/2006/main">
            <a:r>
              <a:t>    "title": "영국 정부 M365 Copilot",</a:t>
            </a:r>
          </a:p>
          <a:p xmlns:a="http://schemas.openxmlformats.org/drawingml/2006/main">
            <a:r>
              <a:t>    "region": "해외",</a:t>
            </a:r>
          </a:p>
          <a:p xmlns:a="http://schemas.openxmlformats.org/drawingml/2006/main">
            <a:r>
              <a:t>    "country": "영국",</a:t>
            </a:r>
          </a:p>
          <a:p xmlns:a="http://schemas.openxmlformats.org/drawingml/2006/main">
            <a:r>
              <a:t>    "result": "혼합",</a:t>
            </a:r>
          </a:p>
          <a:p xmlns:a="http://schemas.openxmlformats.org/drawingml/2006/main">
            <a:r>
              <a:t>    "kind": "직원 업무 생산성 실험",</a:t>
            </a:r>
          </a:p>
          <a:p xmlns:a="http://schemas.openxmlformats.org/drawingml/2006/main">
            <a:r>
              <a:t>    "period": "2024.09–12 실험",</a:t>
            </a:r>
          </a:p>
          <a:p xmlns:a="http://schemas.openxmlformats.org/drawingml/2006/main">
            <a:r>
              <a:t>    "sources": [</a:t>
            </a:r>
          </a:p>
          <a:p xmlns:a="http://schemas.openxmlformats.org/drawingml/2006/main">
            <a:r>
              <a:t>      "S04"</a:t>
            </a:r>
          </a:p>
          <a:p xmlns:a="http://schemas.openxmlformats.org/drawingml/2006/main">
            <a:r>
              <a:t>    ],</a:t>
            </a:r>
          </a:p>
          <a:p xmlns:a="http://schemas.openxmlformats.org/drawingml/2006/main">
            <a:r>
              <a:t>    "keywords": [</a:t>
            </a:r>
          </a:p>
          <a:p xmlns:a="http://schemas.openxmlformats.org/drawingml/2006/main">
            <a:r>
              <a:t>      "업무효율",</a:t>
            </a:r>
          </a:p>
          <a:p xmlns:a="http://schemas.openxmlformats.org/drawingml/2006/main">
            <a:r>
              <a:t>      "직원",</a:t>
            </a:r>
          </a:p>
          <a:p xmlns:a="http://schemas.openxmlformats.org/drawingml/2006/main">
            <a:r>
              <a:t>      "권한",</a:t>
            </a:r>
          </a:p>
          <a:p xmlns:a="http://schemas.openxmlformats.org/drawingml/2006/main">
            <a:r>
              <a:t>      "성과 측정"</a:t>
            </a:r>
          </a:p>
          <a:p xmlns:a="http://schemas.openxmlformats.org/drawingml/2006/main">
            <a:r>
              <a:t>    ],</a:t>
            </a:r>
          </a:p>
          <a:p xmlns:a="http://schemas.openxmlformats.org/drawingml/2006/main">
            <a:r>
              <a:t>    "fact": "2만 명 규모 실험; 설문 응답자 7,115명의 자기보고 시간 절약 평균 약 26분/일",</a:t>
            </a:r>
          </a:p>
          <a:p xmlns:a="http://schemas.openxmlformats.org/drawingml/2006/main">
            <a:r>
              <a:t>    "limit": "실측 인과효과 아님 · 복잡한 맥락·데이터 업무 한계 · 기존 자료 과다공유 위험",</a:t>
            </a:r>
          </a:p>
          <a:p xmlns:a="http://schemas.openxmlformats.org/drawingml/2006/main">
            <a:r>
              <a:t>    "flow": [</a:t>
            </a:r>
          </a:p>
          <a:p xmlns:a="http://schemas.openxmlformats.org/drawingml/2006/main">
            <a:r>
              <a:t>      "직원 요청",</a:t>
            </a:r>
          </a:p>
          <a:p xmlns:a="http://schemas.openxmlformats.org/drawingml/2006/main">
            <a:r>
              <a:t>      "기존 접근권한",</a:t>
            </a:r>
          </a:p>
          <a:p xmlns:a="http://schemas.openxmlformats.org/drawingml/2006/main">
            <a:r>
              <a:t>      "업무 자료 검색",</a:t>
            </a:r>
          </a:p>
          <a:p xmlns:a="http://schemas.openxmlformats.org/drawingml/2006/main">
            <a:r>
              <a:t>      "초안·직원 검토"</a:t>
            </a:r>
          </a:p>
          <a:p xmlns:a="http://schemas.openxmlformats.org/drawingml/2006/main">
            <a:r>
              <a:t>    ],</a:t>
            </a:r>
          </a:p>
          <a:p xmlns:a="http://schemas.openxmlformats.org/drawingml/2006/main">
            <a:r>
              <a:t>    "flowBasis": "보고서의 기능·권한 설명 기반 재구성",</a:t>
            </a:r>
          </a:p>
          <a:p xmlns:a="http://schemas.openxmlformats.org/drawingml/2006/main">
            <a:r>
              <a:t>    "lesson": "사용 빈도와 실측 성과의 분리 / 기존 권한의 사전 정비",</a:t>
            </a:r>
          </a:p>
          <a:p xmlns:a="http://schemas.openxmlformats.org/drawingml/2006/main">
            <a:r>
              <a:t>    "local": "같은 요청을 부서·직무별로 분류하고 원천 접근권한을 검색 전 집행",</a:t>
            </a:r>
          </a:p>
          <a:p xmlns:a="http://schemas.openxmlformats.org/drawingml/2006/main">
            <a:r>
              <a:t>    "assets": [</a:t>
            </a:r>
          </a:p>
          <a:p xmlns:a="http://schemas.openxmlformats.org/drawingml/2006/main">
            <a:r>
              <a:t>      "CCK-01",</a:t>
            </a:r>
          </a:p>
          <a:p xmlns:a="http://schemas.openxmlformats.org/drawingml/2006/main">
            <a:r>
              <a:t>      "CCK-03"</a:t>
            </a:r>
          </a:p>
          <a:p xmlns:a="http://schemas.openxmlformats.org/drawingml/2006/main">
            <a:r>
              <a:t>    ],</a:t>
            </a:r>
          </a:p>
          <a:p xmlns:a="http://schemas.openxmlformats.org/drawingml/2006/main">
            <a:r>
              <a:t>    "delta": "로그인 ID–조직 연결 / 직무별 검색·서식 / 검토시간 포함 계측",</a:t>
            </a:r>
          </a:p>
          <a:p xmlns:a="http://schemas.openxmlformats.org/drawingml/2006/main">
            <a:r>
              <a:t>    "test": "권한 교차 시험과 동일 난도 업무의 전후·비교군 평가",</a:t>
            </a:r>
          </a:p>
          <a:p xmlns:a="http://schemas.openxmlformats.org/drawingml/2006/main">
            <a:r>
              <a:t>    "metric": "검토·재작업 포함 완료시간 / 오류율"</a:t>
            </a:r>
          </a:p>
          <a:p xmlns:a="http://schemas.openxmlformats.org/drawingml/2006/main">
            <a:r>
              <a:t>  },</a:t>
            </a:r>
          </a:p>
          <a:p xmlns:a="http://schemas.openxmlformats.org/drawingml/2006/main">
            <a:r>
              <a:t>  "design": {</a:t>
            </a:r>
          </a:p>
          <a:p xmlns:a="http://schemas.openxmlformats.org/drawingml/2006/main">
            <a:r>
              <a:t>    "id": "AX04",</a:t>
            </a:r>
          </a:p>
          <a:p xmlns:a="http://schemas.openxmlformats.org/drawingml/2006/main">
            <a:r>
              <a:t>    "canonicalId": "AX04",</a:t>
            </a:r>
          </a:p>
          <a:p xmlns:a="http://schemas.openxmlformats.org/drawingml/2006/main">
            <a:r>
              <a:t>    "purpose": "공무원 문서·회의 업무의 생성형 AI 지원",</a:t>
            </a:r>
          </a:p>
          <a:p xmlns:a="http://schemas.openxmlformats.org/drawingml/2006/main">
            <a:r>
              <a:t>    "users": "공무원·기관 운영자·평가팀",</a:t>
            </a:r>
          </a:p>
          <a:p xmlns:a="http://schemas.openxmlformats.org/drawingml/2006/main">
            <a:r>
              <a:t>    "scope": [</a:t>
            </a:r>
          </a:p>
          <a:p xmlns:a="http://schemas.openxmlformats.org/drawingml/2006/main">
            <a:r>
              <a:t>      "문서 초안",</a:t>
            </a:r>
          </a:p>
          <a:p xmlns:a="http://schemas.openxmlformats.org/drawingml/2006/main">
            <a:r>
              <a:t>      "회의 요약",</a:t>
            </a:r>
          </a:p>
          <a:p xmlns:a="http://schemas.openxmlformats.org/drawingml/2006/main">
            <a:r>
              <a:t>      "활용 효과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"공무원 M365",</a:t>
            </a:r>
          </a:p>
          <a:p xmlns:a="http://schemas.openxmlformats.org/drawingml/2006/main">
            <a:r>
              <a:t>        "detail": "직원 계정과 과업별 접근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초안 / 회의 요약 / 활용 효과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"Copilot 작성·검색",</a:t>
            </a:r>
          </a:p>
          <a:p xmlns:a="http://schemas.openxmlformats.org/drawingml/2006/main">
            <a:r>
              <a:t>        "detail": "허용 자료에 근거한 검색·요약·작성",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 검토",</a:t>
            </a:r>
          </a:p>
          <a:p xmlns:a="http://schemas.openxmlformats.org/drawingml/2006/main">
            <a:r>
              <a:t>        "detail": "직원 검토 후 공식 문서·회의 후속업무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"기존 접근 가능한 자료",</a:t>
            </a:r>
          </a:p>
          <a:p xmlns:a="http://schemas.openxmlformats.org/drawingml/2006/main">
            <a:r>
              <a:t>        "detail": "M365 문서·회의 자료의 공유범위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"검토·재작업 시간과 사용 로그의 과업별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요청",</a:t>
            </a:r>
          </a:p>
          <a:p xmlns:a="http://schemas.openxmlformats.org/drawingml/2006/main">
            <a:r>
              <a:t>        "input": "직원 계정과 과업별 접근 문맥",</a:t>
            </a:r>
          </a:p>
          <a:p xmlns:a="http://schemas.openxmlformats.org/drawingml/2006/main">
            <a:r>
              <a:t>        "process": "M365 문서·회의 자료의 공유범위 점검",</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"기존 접근권한",</a:t>
            </a:r>
          </a:p>
          <a:p xmlns:a="http://schemas.openxmlformats.org/drawingml/2006/main">
            <a:r>
              <a:t>        "input": "업무 요청",</a:t>
            </a:r>
          </a:p>
          <a:p xmlns:a="http://schemas.openxmlformats.org/drawingml/2006/main">
            <a:r>
              <a:t>        "process": "허용 자료에 근거한 검색·요약·작성",</a:t>
            </a:r>
          </a:p>
          <a:p xmlns:a="http://schemas.openxmlformats.org/drawingml/2006/main">
            <a:r>
              <a:t>        "output": "권한 내 근거"</a:t>
            </a:r>
          </a:p>
          <a:p xmlns:a="http://schemas.openxmlformats.org/drawingml/2006/main">
            <a:r>
              <a:t>      },</a:t>
            </a:r>
          </a:p>
          <a:p xmlns:a="http://schemas.openxmlformats.org/drawingml/2006/main">
            <a:r>
              <a:t>      {</a:t>
            </a:r>
          </a:p>
          <a:p xmlns:a="http://schemas.openxmlformats.org/drawingml/2006/main">
            <a:r>
              <a:t>        "title": "업무 자료 검색",</a:t>
            </a:r>
          </a:p>
          <a:p xmlns:a="http://schemas.openxmlformats.org/drawingml/2006/main">
            <a:r>
              <a:t>        "input": "권한 내 근거",</a:t>
            </a:r>
          </a:p>
          <a:p xmlns:a="http://schemas.openxmlformats.org/drawingml/2006/main">
            <a:r>
              <a:t>        "process": "정답·검토시간을 포함한 비교 평가",</a:t>
            </a:r>
          </a:p>
          <a:p xmlns:a="http://schemas.openxmlformats.org/drawingml/2006/main">
            <a:r>
              <a:t>        "output": "문서·회의 초안"</a:t>
            </a:r>
          </a:p>
          <a:p xmlns:a="http://schemas.openxmlformats.org/drawingml/2006/main">
            <a:r>
              <a:t>      },</a:t>
            </a:r>
          </a:p>
          <a:p xmlns:a="http://schemas.openxmlformats.org/drawingml/2006/main">
            <a:r>
              <a:t>      {</a:t>
            </a:r>
          </a:p>
          <a:p xmlns:a="http://schemas.openxmlformats.org/drawingml/2006/main">
            <a:r>
              <a:t>        "title": "초안·직원 검토",</a:t>
            </a:r>
          </a:p>
          <a:p xmlns:a="http://schemas.openxmlformats.org/drawingml/2006/main">
            <a:r>
              <a:t>        "input": "문서·회의 초안",</a:t>
            </a:r>
          </a:p>
          <a:p xmlns:a="http://schemas.openxmlformats.org/drawingml/2006/main">
            <a:r>
              <a:t>        "process": "직원 검토 후 공식 문서·회의 후속업무 반영",</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회의자료로 회의록 초안을 작성하고 직원이 수정·확정",</a:t>
            </a:r>
          </a:p>
          <a:p xmlns:a="http://schemas.openxmlformats.org/drawingml/2006/main">
            <a:r>
              <a:t>      "exception": "다른 부서 공유문서·누락된 발언·잘못된 할일 배정",</a:t>
            </a:r>
          </a:p>
          <a:p xmlns:a="http://schemas.openxmlformats.org/drawingml/2006/main">
            <a:r>
              <a:t>      "evidence": "권한별 결과와 검토·재작업을 포함한 과업 완료시간",</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"공무원·기관 운영자·평가팀",</a:t>
            </a:r>
          </a:p>
          <a:p xmlns:a="http://schemas.openxmlformats.org/drawingml/2006/main">
            <a:r>
              <a:t>          "processing": "직원 계정과 과업별 접근 문맥",</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"기존 접근 가능한 자료",</a:t>
            </a:r>
          </a:p>
          <a:p xmlns:a="http://schemas.openxmlformats.org/drawingml/2006/main">
            <a:r>
              <a:t>          "processing": "M365 문서·회의 자료의 공유범위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"허용 자료에 근거한 검색·요약·작성",</a:t>
            </a:r>
          </a:p>
          <a:p xmlns:a="http://schemas.openxmlformats.org/drawingml/2006/main">
            <a:r>
              <a:t>          "output": "문서·회의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"문서·회의 초안",</a:t>
            </a:r>
          </a:p>
          <a:p xmlns:a="http://schemas.openxmlformats.org/drawingml/2006/main">
            <a:r>
              <a:t>          "processing": "직원 검토 후 공식 문서·회의 후속업무 반영",</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"검토·재작업 시간과 사용 로그의 과업별 비교",</a:t>
            </a:r>
          </a:p>
          <a:p xmlns:a="http://schemas.openxmlformats.org/drawingml/2006/main">
            <a:r>
              <a:t>          "output": "권한별 결과와 검토·재작업을 포함한 과업 완료시간"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"검토·재작업 시간과 사용 로그의 과업별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"S04",</a:t>
            </a:r>
          </a:p>
          <a:p xmlns:a="http://schemas.openxmlformats.org/drawingml/2006/main">
            <a:r>
              <a:t>        "title": "영국 정부 · M365 Copilot 실험 보고서",</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"published": "2025-06-02",</a:t>
            </a:r>
          </a:p>
          <a:p xmlns:a="http://schemas.openxmlformats.org/drawingml/2006/main">
            <a:r>
              <a:t>        "level": "정부 실험 / 이용자 자기보고",</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"사용 빈도와 실측 성과의 분리 / 기존 권한의 사전 정비",</a:t>
            </a:r>
          </a:p>
          <a:p xmlns:a="http://schemas.openxmlformats.org/drawingml/2006/main">
            <a:r>
              <a:t>    "local": "같은 요청을 부서·직무별로 분류하고 원천 접근권한을 검색 전 집행",</a:t>
            </a:r>
          </a:p>
          <a:p xmlns:a="http://schemas.openxmlformats.org/drawingml/2006/main">
            <a:r>
              <a:t>    "sourceDetail": null,</a:t>
            </a:r>
          </a:p>
          <a:p xmlns:a="http://schemas.openxmlformats.org/drawingml/2006/main">
            <a:r>
              <a:t>    "narrative": [</a:t>
            </a:r>
          </a:p>
          <a:p xmlns:a="http://schemas.openxmlformats.org/drawingml/2006/main">
            <a:r>
              <a:t>      "기존 M365 문서·회의 접점에서 공무원의 작성·검색·요약을 지원한 실험. 새 업무 시스템 구축보다 직원이 이미 접근하는 자료와 협업 도구 안에 AI를 배치한 유형.",</a:t>
            </a:r>
          </a:p>
          <a:p xmlns:a="http://schemas.openxmlformats.org/drawingml/2006/main">
            <a:r>
              <a:t>      "자료 접근권한을 전제로 요청 문맥을 만들고 검색·생성 결과를 직원이 검토하는 흐름. 조직·직무별 동일 과업을 정의한 뒤 AI 사용 전후의 초안 작성, 사실 확인, 수정 시간을 함께 기록하는 CCK 비교 설계.",</a:t>
            </a:r>
          </a:p>
          <a:p xmlns:a="http://schemas.openxmlformats.org/drawingml/2006/main">
            <a:r>
              <a:t>      "설문 자기보고 절감시간을 TS의 예상 절감률로 직접 전환하지 않는 평가. 과다공유 문서, 복잡한 질의, 숙련도 차이와 재작업을 포함해 부서별 완료시간·오류율을 산정할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"M365 업무 요청",</a:t>
            </a:r>
          </a:p>
          <a:p xmlns:a="http://schemas.openxmlformats.org/drawingml/2006/main">
            <a:r>
              <a:t>          "layer": "이용 접점",</a:t>
            </a:r>
          </a:p>
          <a:p xmlns:a="http://schemas.openxmlformats.org/drawingml/2006/main">
            <a:r>
              <a:t>          "detail": "공무원·기관 운영자·평가팀",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"직원·과업 맥락",</a:t>
            </a:r>
          </a:p>
          <a:p xmlns:a="http://schemas.openxmlformats.org/drawingml/2006/main">
            <a:r>
              <a:t>          "layer": "업무 문맥",</a:t>
            </a:r>
          </a:p>
          <a:p xmlns:a="http://schemas.openxmlformats.org/drawingml/2006/main">
            <a:r>
              <a:t>          "detail": "직원 계정과 과업별 접근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"권한 내 자료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"검색·요약·작성",</a:t>
            </a:r>
          </a:p>
          <a:p xmlns:a="http://schemas.openxmlformats.org/drawingml/2006/main">
            <a:r>
              <a:t>          "layer": "핵심 처리",</a:t>
            </a:r>
          </a:p>
          <a:p xmlns:a="http://schemas.openxmlformats.org/drawingml/2006/main">
            <a:r>
              <a:t>          "detail": "허용 자료에 근거한 검색·요약·작성",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"근거·사실 대조",</a:t>
            </a:r>
          </a:p>
          <a:p xmlns:a="http://schemas.openxmlformats.org/drawingml/2006/main">
            <a:r>
              <a:t>          "layer": "결과 검증",</a:t>
            </a:r>
          </a:p>
          <a:p xmlns:a="http://schemas.openxmlformats.org/drawingml/2006/main">
            <a:r>
              <a:t>          "detail": "정답·검토시간을 포함한 비교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편집·확인",</a:t>
            </a:r>
          </a:p>
          <a:p xmlns:a="http://schemas.openxmlformats.org/drawingml/2006/main">
            <a:r>
              <a:t>          "layer": "사람 확인",</a:t>
            </a:r>
          </a:p>
          <a:p xmlns:a="http://schemas.openxmlformats.org/drawingml/2006/main">
            <a:r>
              <a:t>          "detail": "같은 회의자료로 회의록 초안을 작성하고 직원이 수정·확정",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"문서·회의 후속업무",</a:t>
            </a:r>
          </a:p>
          <a:p xmlns:a="http://schemas.openxmlformats.org/drawingml/2006/main">
            <a:r>
              <a:t>          "layer": "업무 연결",</a:t>
            </a:r>
          </a:p>
          <a:p xmlns:a="http://schemas.openxmlformats.org/drawingml/2006/main">
            <a:r>
              <a:t>          "detail": "직원 검토 후 공식 문서·회의 후속업무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"검토시간 비교",</a:t>
            </a:r>
          </a:p>
          <a:p xmlns:a="http://schemas.openxmlformats.org/drawingml/2006/main">
            <a:r>
              <a:t>          "layer": "운영 관측",</a:t>
            </a:r>
          </a:p>
          <a:p xmlns:a="http://schemas.openxmlformats.org/drawingml/2006/main">
            <a:r>
              <a:t>          "detail": "검토·재작업 시간과 사용 로그의 과업별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"문서·회의 자료",</a:t>
            </a:r>
          </a:p>
          <a:p xmlns:a="http://schemas.openxmlformats.org/drawingml/2006/main">
            <a:r>
              <a:t>          "layer": "데이터 원천",</a:t>
            </a:r>
          </a:p>
          <a:p xmlns:a="http://schemas.openxmlformats.org/drawingml/2006/main">
            <a:r>
              <a:t>          "detail": "기존 접근 가능한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"공유범위 점검",</a:t>
            </a:r>
          </a:p>
          <a:p xmlns:a="http://schemas.openxmlformats.org/drawingml/2006/main">
            <a:r>
              <a:t>          "layer": "준비·갱신",</a:t>
            </a:r>
          </a:p>
          <a:p xmlns:a="http://schemas.openxmlformats.org/drawingml/2006/main">
            <a:r>
              <a:t>          "detail": "M365 문서·회의 자료의 공유범위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"업무·평가 기록",</a:t>
            </a:r>
          </a:p>
          <a:p xmlns:a="http://schemas.openxmlformats.org/drawingml/2006/main">
            <a:r>
              <a:t>          "layer": "상태·지식 저장",</a:t>
            </a:r>
          </a:p>
          <a:p xmlns:a="http://schemas.openxmlformats.org/drawingml/2006/main">
            <a:r>
              <a:t>          "detail": "권한별 결과와 검토·재작업을 포함한 과업 완료시간",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 접근정책",</a:t>
            </a:r>
          </a:p>
          <a:p xmlns:a="http://schemas.openxmlformats.org/drawingml/2006/main">
            <a:r>
              <a:t>          "layer": "권한·정책",</a:t>
            </a:r>
          </a:p>
          <a:p xmlns:a="http://schemas.openxmlformats.org/drawingml/2006/main">
            <a:r>
              <a:t>          "detail": "다른 부서 공유문서·누락된 발언·잘못된 할일 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요청 → 기존 접근권한 → 업무 자료 검색 → 초안·직원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"직원 계정과 과업별 접근 문맥",</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요청",</a:t>
            </a:r>
          </a:p>
          <a:p xmlns:a="http://schemas.openxmlformats.org/drawingml/2006/main">
            <a:r>
              <a:t>          "check": "정답·검토시간을 포함한 비교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 접근정책",</a:t>
            </a:r>
          </a:p>
          <a:p xmlns:a="http://schemas.openxmlformats.org/drawingml/2006/main">
            <a:r>
              <a:t>          "check": "정답·검토시간을 포함한 비교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"문서·회의 초안",</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"문서·회의 초안",</a:t>
            </a:r>
          </a:p>
          <a:p xmlns:a="http://schemas.openxmlformats.org/drawingml/2006/main">
            <a:r>
              <a:t>          "check": "다른 부서 공유문서·누락된 발언·잘못된 할일 배정"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"공무원 문서·회의 업무의 생성형 AI 지원 / 문서 초안·회의 요약·활용 효과 평가",</a:t>
            </a:r>
          </a:p>
          <a:p xmlns:a="http://schemas.openxmlformats.org/drawingml/2006/main">
            <a:r>
              <a:t>        "extension": "같은 요청을 부서·직무별로 분류하고 원천 접근권한을 검색 전 집행"</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부서 공유문서·누락된 발언·잘못된 할일 배정",</a:t>
            </a:r>
          </a:p>
          <a:p xmlns:a="http://schemas.openxmlformats.org/drawingml/2006/main">
            <a:r>
              <a:t>        "hold": "정답·검토시간을 포함한 비교 평가",</a:t>
            </a:r>
          </a:p>
          <a:p xmlns:a="http://schemas.openxmlformats.org/drawingml/2006/main">
            <a:r>
              <a:t>        "recovery": "검토·재작업 시간과 사용 로그의 과업별 비교",</a:t>
            </a:r>
          </a:p>
          <a:p xmlns:a="http://schemas.openxmlformats.org/drawingml/2006/main">
            <a:r>
              <a:t>        "evidence": "권한별 결과와 검토·재작업을 포함한 과업 완료시간"</a:t>
            </a:r>
          </a:p>
          <a:p xmlns:a="http://schemas.openxmlformats.org/drawingml/2006/main">
            <a:r>
              <a:t>      },</a:t>
            </a:r>
          </a:p>
          <a:p xmlns:a="http://schemas.openxmlformats.org/drawingml/2006/main">
            <a:r>
              <a:t>      "data": {</a:t>
            </a:r>
          </a:p>
          <a:p xmlns:a="http://schemas.openxmlformats.org/drawingml/2006/main">
            <a:r>
              <a:t>        "source": "기존 접근 가능한 자료",</a:t>
            </a:r>
          </a:p>
          <a:p xmlns:a="http://schemas.openxmlformats.org/drawingml/2006/main">
            <a:r>
              <a:t>        "prepare": "M365 문서·회의 자료의 공유범위 점검",</a:t>
            </a:r>
          </a:p>
          <a:p xmlns:a="http://schemas.openxmlformats.org/drawingml/2006/main">
            <a:r>
              <a:t>        "output": "업무 요청",</a:t>
            </a:r>
          </a:p>
          <a:p xmlns:a="http://schemas.openxmlformats.org/drawingml/2006/main">
            <a:r>
              <a:t>        "refresh": "검토·재작업 시간과 사용 로그의 과업별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"AX04",</a:t>
            </a:r>
          </a:p>
          <a:p xmlns:a="http://schemas.openxmlformats.org/drawingml/2006/main">
            <a:r>
              <a:t>    "success": [</a:t>
            </a:r>
          </a:p>
          <a:p xmlns:a="http://schemas.openxmlformats.org/drawingml/2006/main">
            <a:r>
              <a:t>      "기존 문서·회의 도구 안의 지원",</a:t>
            </a:r>
          </a:p>
          <a:p xmlns:a="http://schemas.openxmlformats.org/drawingml/2006/main">
            <a:r>
              <a:t>      "실제 직원의 활용·피드백 수집"</a:t>
            </a:r>
          </a:p>
          <a:p xmlns:a="http://schemas.openxmlformats.org/drawingml/2006/main">
            <a:r>
              <a:t>    ],</a:t>
            </a:r>
          </a:p>
          <a:p xmlns:a="http://schemas.openxmlformats.org/drawingml/2006/main">
            <a:r>
              <a:t>    "risks": [</a:t>
            </a:r>
          </a:p>
          <a:p xmlns:a="http://schemas.openxmlformats.org/drawingml/2006/main">
            <a:r>
              <a:t>      "업무별 효과 편차",</a:t>
            </a:r>
          </a:p>
          <a:p xmlns:a="http://schemas.openxmlformats.org/drawingml/2006/main">
            <a:r>
              <a:t>      "자기보고 절감시간과 실측시간의 차이"</a:t>
            </a:r>
          </a:p>
          <a:p xmlns:a="http://schemas.openxmlformats.org/drawingml/2006/main">
            <a:r>
              <a:t>    ],</a:t>
            </a:r>
          </a:p>
          <a:p xmlns:a="http://schemas.openxmlformats.org/drawingml/2006/main">
            <a:r>
              <a:t>    "architecture": [</a:t>
            </a:r>
          </a:p>
          <a:p xmlns:a="http://schemas.openxmlformats.org/drawingml/2006/main">
            <a:r>
              <a:t>      "공무원 M365",</a:t>
            </a:r>
          </a:p>
          <a:p xmlns:a="http://schemas.openxmlformats.org/drawingml/2006/main">
            <a:r>
              <a:t>      "Copilot 작성·검색",</a:t>
            </a:r>
          </a:p>
          <a:p xmlns:a="http://schemas.openxmlformats.org/drawingml/2006/main">
            <a:r>
              <a:t>      "기존 접근 가능한 자료",</a:t>
            </a:r>
          </a:p>
          <a:p xmlns:a="http://schemas.openxmlformats.org/drawingml/2006/main">
            <a:r>
              <a:t>      "직원 검토"</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"권한 내 근거",</a:t>
            </a:r>
          </a:p>
          <a:p xmlns:a="http://schemas.openxmlformats.org/drawingml/2006/main">
            <a:r>
              <a:t>      "문서·회의 초안",</a:t>
            </a:r>
          </a:p>
          <a:p xmlns:a="http://schemas.openxmlformats.org/drawingml/2006/main">
            <a:r>
              <a:t>      "검토 결과"</a:t>
            </a:r>
          </a:p>
          <a:p xmlns:a="http://schemas.openxmlformats.org/drawingml/2006/main">
            <a:r>
              <a:t>    ],</a:t>
            </a:r>
          </a:p>
          <a:p xmlns:a="http://schemas.openxmlformats.org/drawingml/2006/main">
            <a:r>
              <a:t>    "control": "정답·검토시간을 포함한 비교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영국 정부 · M365 Copilot 실험 보고서 https://www.gov.uk/government/publications/microsoft-365-copilot-experiment-cross-government-findings-report/microsoft-365-copilot-experiment-cross-government-findings-report-html</a:t>
            </a:r>
          </a:p>
          <a:p xmlns:a="http://schemas.openxmlformats.org/drawingml/2006/main">
            <a:r>
              <a:t>홈페이지 https://heen1987-ops.github.io/TS-business-Plan-001/index.html?view=casebook&amp;case=AX04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"AX04",</a:t>
            </a:r>
          </a:p>
          <a:p xmlns:a="http://schemas.openxmlformats.org/drawingml/2006/main">
            <a:r>
              <a:t>    "title": "영국 정부 M365 Copilot",</a:t>
            </a:r>
          </a:p>
          <a:p xmlns:a="http://schemas.openxmlformats.org/drawingml/2006/main">
            <a:r>
              <a:t>    "region": "해외",</a:t>
            </a:r>
          </a:p>
          <a:p xmlns:a="http://schemas.openxmlformats.org/drawingml/2006/main">
            <a:r>
              <a:t>    "country": "영국",</a:t>
            </a:r>
          </a:p>
          <a:p xmlns:a="http://schemas.openxmlformats.org/drawingml/2006/main">
            <a:r>
              <a:t>    "result": "혼합",</a:t>
            </a:r>
          </a:p>
          <a:p xmlns:a="http://schemas.openxmlformats.org/drawingml/2006/main">
            <a:r>
              <a:t>    "kind": "직원 업무 생산성 실험",</a:t>
            </a:r>
          </a:p>
          <a:p xmlns:a="http://schemas.openxmlformats.org/drawingml/2006/main">
            <a:r>
              <a:t>    "period": "2024.09–12 실험",</a:t>
            </a:r>
          </a:p>
          <a:p xmlns:a="http://schemas.openxmlformats.org/drawingml/2006/main">
            <a:r>
              <a:t>    "sources": [</a:t>
            </a:r>
          </a:p>
          <a:p xmlns:a="http://schemas.openxmlformats.org/drawingml/2006/main">
            <a:r>
              <a:t>      "S04"</a:t>
            </a:r>
          </a:p>
          <a:p xmlns:a="http://schemas.openxmlformats.org/drawingml/2006/main">
            <a:r>
              <a:t>    ],</a:t>
            </a:r>
          </a:p>
          <a:p xmlns:a="http://schemas.openxmlformats.org/drawingml/2006/main">
            <a:r>
              <a:t>    "keywords": [</a:t>
            </a:r>
          </a:p>
          <a:p xmlns:a="http://schemas.openxmlformats.org/drawingml/2006/main">
            <a:r>
              <a:t>      "업무효율",</a:t>
            </a:r>
          </a:p>
          <a:p xmlns:a="http://schemas.openxmlformats.org/drawingml/2006/main">
            <a:r>
              <a:t>      "직원",</a:t>
            </a:r>
          </a:p>
          <a:p xmlns:a="http://schemas.openxmlformats.org/drawingml/2006/main">
            <a:r>
              <a:t>      "권한",</a:t>
            </a:r>
          </a:p>
          <a:p xmlns:a="http://schemas.openxmlformats.org/drawingml/2006/main">
            <a:r>
              <a:t>      "성과 측정"</a:t>
            </a:r>
          </a:p>
          <a:p xmlns:a="http://schemas.openxmlformats.org/drawingml/2006/main">
            <a:r>
              <a:t>    ],</a:t>
            </a:r>
          </a:p>
          <a:p xmlns:a="http://schemas.openxmlformats.org/drawingml/2006/main">
            <a:r>
              <a:t>    "fact": "2만 명 규모 실험; 설문 응답자 7,115명의 자기보고 시간 절약 평균 약 26분/일",</a:t>
            </a:r>
          </a:p>
          <a:p xmlns:a="http://schemas.openxmlformats.org/drawingml/2006/main">
            <a:r>
              <a:t>    "limit": "실측 인과효과 아님 · 복잡한 맥락·데이터 업무 한계 · 기존 자료 과다공유 위험",</a:t>
            </a:r>
          </a:p>
          <a:p xmlns:a="http://schemas.openxmlformats.org/drawingml/2006/main">
            <a:r>
              <a:t>    "flow": [</a:t>
            </a:r>
          </a:p>
          <a:p xmlns:a="http://schemas.openxmlformats.org/drawingml/2006/main">
            <a:r>
              <a:t>      "직원 요청",</a:t>
            </a:r>
          </a:p>
          <a:p xmlns:a="http://schemas.openxmlformats.org/drawingml/2006/main">
            <a:r>
              <a:t>      "기존 접근권한",</a:t>
            </a:r>
          </a:p>
          <a:p xmlns:a="http://schemas.openxmlformats.org/drawingml/2006/main">
            <a:r>
              <a:t>      "업무 자료 검색",</a:t>
            </a:r>
          </a:p>
          <a:p xmlns:a="http://schemas.openxmlformats.org/drawingml/2006/main">
            <a:r>
              <a:t>      "초안·직원 검토"</a:t>
            </a:r>
          </a:p>
          <a:p xmlns:a="http://schemas.openxmlformats.org/drawingml/2006/main">
            <a:r>
              <a:t>    ],</a:t>
            </a:r>
          </a:p>
          <a:p xmlns:a="http://schemas.openxmlformats.org/drawingml/2006/main">
            <a:r>
              <a:t>    "flowBasis": "보고서의 기능·권한 설명 기반 재구성",</a:t>
            </a:r>
          </a:p>
          <a:p xmlns:a="http://schemas.openxmlformats.org/drawingml/2006/main">
            <a:r>
              <a:t>    "lesson": "사용 빈도와 실측 성과의 분리 / 기존 권한의 사전 정비",</a:t>
            </a:r>
          </a:p>
          <a:p xmlns:a="http://schemas.openxmlformats.org/drawingml/2006/main">
            <a:r>
              <a:t>    "local": "같은 요청을 부서·직무별로 분류하고 원천 접근권한을 검색 전 집행",</a:t>
            </a:r>
          </a:p>
          <a:p xmlns:a="http://schemas.openxmlformats.org/drawingml/2006/main">
            <a:r>
              <a:t>    "assets": [</a:t>
            </a:r>
          </a:p>
          <a:p xmlns:a="http://schemas.openxmlformats.org/drawingml/2006/main">
            <a:r>
              <a:t>      "CCK-01",</a:t>
            </a:r>
          </a:p>
          <a:p xmlns:a="http://schemas.openxmlformats.org/drawingml/2006/main">
            <a:r>
              <a:t>      "CCK-03"</a:t>
            </a:r>
          </a:p>
          <a:p xmlns:a="http://schemas.openxmlformats.org/drawingml/2006/main">
            <a:r>
              <a:t>    ],</a:t>
            </a:r>
          </a:p>
          <a:p xmlns:a="http://schemas.openxmlformats.org/drawingml/2006/main">
            <a:r>
              <a:t>    "delta": "로그인 ID–조직 연결 / 직무별 검색·서식 / 검토시간 포함 계측",</a:t>
            </a:r>
          </a:p>
          <a:p xmlns:a="http://schemas.openxmlformats.org/drawingml/2006/main">
            <a:r>
              <a:t>    "test": "권한 교차 시험과 동일 난도 업무의 전후·비교군 평가",</a:t>
            </a:r>
          </a:p>
          <a:p xmlns:a="http://schemas.openxmlformats.org/drawingml/2006/main">
            <a:r>
              <a:t>    "metric": "검토·재작업 포함 완료시간 / 오류율"</a:t>
            </a:r>
          </a:p>
          <a:p xmlns:a="http://schemas.openxmlformats.org/drawingml/2006/main">
            <a:r>
              <a:t>  },</a:t>
            </a:r>
          </a:p>
          <a:p xmlns:a="http://schemas.openxmlformats.org/drawingml/2006/main">
            <a:r>
              <a:t>  "design": {</a:t>
            </a:r>
          </a:p>
          <a:p xmlns:a="http://schemas.openxmlformats.org/drawingml/2006/main">
            <a:r>
              <a:t>    "id": "AX04",</a:t>
            </a:r>
          </a:p>
          <a:p xmlns:a="http://schemas.openxmlformats.org/drawingml/2006/main">
            <a:r>
              <a:t>    "canonicalId": "AX04",</a:t>
            </a:r>
          </a:p>
          <a:p xmlns:a="http://schemas.openxmlformats.org/drawingml/2006/main">
            <a:r>
              <a:t>    "purpose": "공무원 문서·회의 업무의 생성형 AI 지원",</a:t>
            </a:r>
          </a:p>
          <a:p xmlns:a="http://schemas.openxmlformats.org/drawingml/2006/main">
            <a:r>
              <a:t>    "users": "공무원·기관 운영자·평가팀",</a:t>
            </a:r>
          </a:p>
          <a:p xmlns:a="http://schemas.openxmlformats.org/drawingml/2006/main">
            <a:r>
              <a:t>    "scope": [</a:t>
            </a:r>
          </a:p>
          <a:p xmlns:a="http://schemas.openxmlformats.org/drawingml/2006/main">
            <a:r>
              <a:t>      "문서 초안",</a:t>
            </a:r>
          </a:p>
          <a:p xmlns:a="http://schemas.openxmlformats.org/drawingml/2006/main">
            <a:r>
              <a:t>      "회의 요약",</a:t>
            </a:r>
          </a:p>
          <a:p xmlns:a="http://schemas.openxmlformats.org/drawingml/2006/main">
            <a:r>
              <a:t>      "활용 효과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"공무원 M365",</a:t>
            </a:r>
          </a:p>
          <a:p xmlns:a="http://schemas.openxmlformats.org/drawingml/2006/main">
            <a:r>
              <a:t>        "detail": "직원 계정과 과업별 접근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초안 / 회의 요약 / 활용 효과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"Copilot 작성·검색",</a:t>
            </a:r>
          </a:p>
          <a:p xmlns:a="http://schemas.openxmlformats.org/drawingml/2006/main">
            <a:r>
              <a:t>        "detail": "허용 자료에 근거한 검색·요약·작성",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 검토",</a:t>
            </a:r>
          </a:p>
          <a:p xmlns:a="http://schemas.openxmlformats.org/drawingml/2006/main">
            <a:r>
              <a:t>        "detail": "직원 검토 후 공식 문서·회의 후속업무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"기존 접근 가능한 자료",</a:t>
            </a:r>
          </a:p>
          <a:p xmlns:a="http://schemas.openxmlformats.org/drawingml/2006/main">
            <a:r>
              <a:t>        "detail": "M365 문서·회의 자료의 공유범위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"검토·재작업 시간과 사용 로그의 과업별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요청",</a:t>
            </a:r>
          </a:p>
          <a:p xmlns:a="http://schemas.openxmlformats.org/drawingml/2006/main">
            <a:r>
              <a:t>        "input": "직원 계정과 과업별 접근 문맥",</a:t>
            </a:r>
          </a:p>
          <a:p xmlns:a="http://schemas.openxmlformats.org/drawingml/2006/main">
            <a:r>
              <a:t>        "process": "M365 문서·회의 자료의 공유범위 점검",</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"기존 접근권한",</a:t>
            </a:r>
          </a:p>
          <a:p xmlns:a="http://schemas.openxmlformats.org/drawingml/2006/main">
            <a:r>
              <a:t>        "input": "업무 요청",</a:t>
            </a:r>
          </a:p>
          <a:p xmlns:a="http://schemas.openxmlformats.org/drawingml/2006/main">
            <a:r>
              <a:t>        "process": "허용 자료에 근거한 검색·요약·작성",</a:t>
            </a:r>
          </a:p>
          <a:p xmlns:a="http://schemas.openxmlformats.org/drawingml/2006/main">
            <a:r>
              <a:t>        "output": "권한 내 근거"</a:t>
            </a:r>
          </a:p>
          <a:p xmlns:a="http://schemas.openxmlformats.org/drawingml/2006/main">
            <a:r>
              <a:t>      },</a:t>
            </a:r>
          </a:p>
          <a:p xmlns:a="http://schemas.openxmlformats.org/drawingml/2006/main">
            <a:r>
              <a:t>      {</a:t>
            </a:r>
          </a:p>
          <a:p xmlns:a="http://schemas.openxmlformats.org/drawingml/2006/main">
            <a:r>
              <a:t>        "title": "업무 자료 검색",</a:t>
            </a:r>
          </a:p>
          <a:p xmlns:a="http://schemas.openxmlformats.org/drawingml/2006/main">
            <a:r>
              <a:t>        "input": "권한 내 근거",</a:t>
            </a:r>
          </a:p>
          <a:p xmlns:a="http://schemas.openxmlformats.org/drawingml/2006/main">
            <a:r>
              <a:t>        "process": "정답·검토시간을 포함한 비교 평가",</a:t>
            </a:r>
          </a:p>
          <a:p xmlns:a="http://schemas.openxmlformats.org/drawingml/2006/main">
            <a:r>
              <a:t>        "output": "문서·회의 초안"</a:t>
            </a:r>
          </a:p>
          <a:p xmlns:a="http://schemas.openxmlformats.org/drawingml/2006/main">
            <a:r>
              <a:t>      },</a:t>
            </a:r>
          </a:p>
          <a:p xmlns:a="http://schemas.openxmlformats.org/drawingml/2006/main">
            <a:r>
              <a:t>      {</a:t>
            </a:r>
          </a:p>
          <a:p xmlns:a="http://schemas.openxmlformats.org/drawingml/2006/main">
            <a:r>
              <a:t>        "title": "초안·직원 검토",</a:t>
            </a:r>
          </a:p>
          <a:p xmlns:a="http://schemas.openxmlformats.org/drawingml/2006/main">
            <a:r>
              <a:t>        "input": "문서·회의 초안",</a:t>
            </a:r>
          </a:p>
          <a:p xmlns:a="http://schemas.openxmlformats.org/drawingml/2006/main">
            <a:r>
              <a:t>        "process": "직원 검토 후 공식 문서·회의 후속업무 반영",</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회의자료로 회의록 초안을 작성하고 직원이 수정·확정",</a:t>
            </a:r>
          </a:p>
          <a:p xmlns:a="http://schemas.openxmlformats.org/drawingml/2006/main">
            <a:r>
              <a:t>      "exception": "다른 부서 공유문서·누락된 발언·잘못된 할일 배정",</a:t>
            </a:r>
          </a:p>
          <a:p xmlns:a="http://schemas.openxmlformats.org/drawingml/2006/main">
            <a:r>
              <a:t>      "evidence": "권한별 결과와 검토·재작업을 포함한 과업 완료시간",</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"공무원·기관 운영자·평가팀",</a:t>
            </a:r>
          </a:p>
          <a:p xmlns:a="http://schemas.openxmlformats.org/drawingml/2006/main">
            <a:r>
              <a:t>          "processing": "직원 계정과 과업별 접근 문맥",</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"기존 접근 가능한 자료",</a:t>
            </a:r>
          </a:p>
          <a:p xmlns:a="http://schemas.openxmlformats.org/drawingml/2006/main">
            <a:r>
              <a:t>          "processing": "M365 문서·회의 자료의 공유범위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"허용 자료에 근거한 검색·요약·작성",</a:t>
            </a:r>
          </a:p>
          <a:p xmlns:a="http://schemas.openxmlformats.org/drawingml/2006/main">
            <a:r>
              <a:t>          "output": "문서·회의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"문서·회의 초안",</a:t>
            </a:r>
          </a:p>
          <a:p xmlns:a="http://schemas.openxmlformats.org/drawingml/2006/main">
            <a:r>
              <a:t>          "processing": "직원 검토 후 공식 문서·회의 후속업무 반영",</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"검토·재작업 시간과 사용 로그의 과업별 비교",</a:t>
            </a:r>
          </a:p>
          <a:p xmlns:a="http://schemas.openxmlformats.org/drawingml/2006/main">
            <a:r>
              <a:t>          "output": "권한별 결과와 검토·재작업을 포함한 과업 완료시간"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"검토·재작업 시간과 사용 로그의 과업별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"S04",</a:t>
            </a:r>
          </a:p>
          <a:p xmlns:a="http://schemas.openxmlformats.org/drawingml/2006/main">
            <a:r>
              <a:t>        "title": "영국 정부 · M365 Copilot 실험 보고서",</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"published": "2025-06-02",</a:t>
            </a:r>
          </a:p>
          <a:p xmlns:a="http://schemas.openxmlformats.org/drawingml/2006/main">
            <a:r>
              <a:t>        "level": "정부 실험 / 이용자 자기보고",</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"사용 빈도와 실측 성과의 분리 / 기존 권한의 사전 정비",</a:t>
            </a:r>
          </a:p>
          <a:p xmlns:a="http://schemas.openxmlformats.org/drawingml/2006/main">
            <a:r>
              <a:t>    "local": "같은 요청을 부서·직무별로 분류하고 원천 접근권한을 검색 전 집행",</a:t>
            </a:r>
          </a:p>
          <a:p xmlns:a="http://schemas.openxmlformats.org/drawingml/2006/main">
            <a:r>
              <a:t>    "sourceDetail": null,</a:t>
            </a:r>
          </a:p>
          <a:p xmlns:a="http://schemas.openxmlformats.org/drawingml/2006/main">
            <a:r>
              <a:t>    "narrative": [</a:t>
            </a:r>
          </a:p>
          <a:p xmlns:a="http://schemas.openxmlformats.org/drawingml/2006/main">
            <a:r>
              <a:t>      "기존 M365 문서·회의 접점에서 공무원의 작성·검색·요약을 지원한 실험. 새 업무 시스템 구축보다 직원이 이미 접근하는 자료와 협업 도구 안에 AI를 배치한 유형.",</a:t>
            </a:r>
          </a:p>
          <a:p xmlns:a="http://schemas.openxmlformats.org/drawingml/2006/main">
            <a:r>
              <a:t>      "자료 접근권한을 전제로 요청 문맥을 만들고 검색·생성 결과를 직원이 검토하는 흐름. 조직·직무별 동일 과업을 정의한 뒤 AI 사용 전후의 초안 작성, 사실 확인, 수정 시간을 함께 기록하는 CCK 비교 설계.",</a:t>
            </a:r>
          </a:p>
          <a:p xmlns:a="http://schemas.openxmlformats.org/drawingml/2006/main">
            <a:r>
              <a:t>      "설문 자기보고 절감시간을 TS의 예상 절감률로 직접 전환하지 않는 평가. 과다공유 문서, 복잡한 질의, 숙련도 차이와 재작업을 포함해 부서별 완료시간·오류율을 산정할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"M365 업무 요청",</a:t>
            </a:r>
          </a:p>
          <a:p xmlns:a="http://schemas.openxmlformats.org/drawingml/2006/main">
            <a:r>
              <a:t>          "layer": "이용 접점",</a:t>
            </a:r>
          </a:p>
          <a:p xmlns:a="http://schemas.openxmlformats.org/drawingml/2006/main">
            <a:r>
              <a:t>          "detail": "공무원·기관 운영자·평가팀",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"직원·과업 맥락",</a:t>
            </a:r>
          </a:p>
          <a:p xmlns:a="http://schemas.openxmlformats.org/drawingml/2006/main">
            <a:r>
              <a:t>          "layer": "업무 문맥",</a:t>
            </a:r>
          </a:p>
          <a:p xmlns:a="http://schemas.openxmlformats.org/drawingml/2006/main">
            <a:r>
              <a:t>          "detail": "직원 계정과 과업별 접근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"권한 내 자료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"검색·요약·작성",</a:t>
            </a:r>
          </a:p>
          <a:p xmlns:a="http://schemas.openxmlformats.org/drawingml/2006/main">
            <a:r>
              <a:t>          "layer": "핵심 처리",</a:t>
            </a:r>
          </a:p>
          <a:p xmlns:a="http://schemas.openxmlformats.org/drawingml/2006/main">
            <a:r>
              <a:t>          "detail": "허용 자료에 근거한 검색·요약·작성",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"근거·사실 대조",</a:t>
            </a:r>
          </a:p>
          <a:p xmlns:a="http://schemas.openxmlformats.org/drawingml/2006/main">
            <a:r>
              <a:t>          "layer": "결과 검증",</a:t>
            </a:r>
          </a:p>
          <a:p xmlns:a="http://schemas.openxmlformats.org/drawingml/2006/main">
            <a:r>
              <a:t>          "detail": "정답·검토시간을 포함한 비교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편집·확인",</a:t>
            </a:r>
          </a:p>
          <a:p xmlns:a="http://schemas.openxmlformats.org/drawingml/2006/main">
            <a:r>
              <a:t>          "layer": "사람 확인",</a:t>
            </a:r>
          </a:p>
          <a:p xmlns:a="http://schemas.openxmlformats.org/drawingml/2006/main">
            <a:r>
              <a:t>          "detail": "같은 회의자료로 회의록 초안을 작성하고 직원이 수정·확정",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"문서·회의 후속업무",</a:t>
            </a:r>
          </a:p>
          <a:p xmlns:a="http://schemas.openxmlformats.org/drawingml/2006/main">
            <a:r>
              <a:t>          "layer": "업무 연결",</a:t>
            </a:r>
          </a:p>
          <a:p xmlns:a="http://schemas.openxmlformats.org/drawingml/2006/main">
            <a:r>
              <a:t>          "detail": "직원 검토 후 공식 문서·회의 후속업무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"검토시간 비교",</a:t>
            </a:r>
          </a:p>
          <a:p xmlns:a="http://schemas.openxmlformats.org/drawingml/2006/main">
            <a:r>
              <a:t>          "layer": "운영 관측",</a:t>
            </a:r>
          </a:p>
          <a:p xmlns:a="http://schemas.openxmlformats.org/drawingml/2006/main">
            <a:r>
              <a:t>          "detail": "검토·재작업 시간과 사용 로그의 과업별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"문서·회의 자료",</a:t>
            </a:r>
          </a:p>
          <a:p xmlns:a="http://schemas.openxmlformats.org/drawingml/2006/main">
            <a:r>
              <a:t>          "layer": "데이터 원천",</a:t>
            </a:r>
          </a:p>
          <a:p xmlns:a="http://schemas.openxmlformats.org/drawingml/2006/main">
            <a:r>
              <a:t>          "detail": "기존 접근 가능한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"공유범위 점검",</a:t>
            </a:r>
          </a:p>
          <a:p xmlns:a="http://schemas.openxmlformats.org/drawingml/2006/main">
            <a:r>
              <a:t>          "layer": "준비·갱신",</a:t>
            </a:r>
          </a:p>
          <a:p xmlns:a="http://schemas.openxmlformats.org/drawingml/2006/main">
            <a:r>
              <a:t>          "detail": "M365 문서·회의 자료의 공유범위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"업무·평가 기록",</a:t>
            </a:r>
          </a:p>
          <a:p xmlns:a="http://schemas.openxmlformats.org/drawingml/2006/main">
            <a:r>
              <a:t>          "layer": "상태·지식 저장",</a:t>
            </a:r>
          </a:p>
          <a:p xmlns:a="http://schemas.openxmlformats.org/drawingml/2006/main">
            <a:r>
              <a:t>          "detail": "권한별 결과와 검토·재작업을 포함한 과업 완료시간",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 접근정책",</a:t>
            </a:r>
          </a:p>
          <a:p xmlns:a="http://schemas.openxmlformats.org/drawingml/2006/main">
            <a:r>
              <a:t>          "layer": "권한·정책",</a:t>
            </a:r>
          </a:p>
          <a:p xmlns:a="http://schemas.openxmlformats.org/drawingml/2006/main">
            <a:r>
              <a:t>          "detail": "다른 부서 공유문서·누락된 발언·잘못된 할일 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요청 → 기존 접근권한 → 업무 자료 검색 → 초안·직원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"직원 계정과 과업별 접근 문맥",</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요청",</a:t>
            </a:r>
          </a:p>
          <a:p xmlns:a="http://schemas.openxmlformats.org/drawingml/2006/main">
            <a:r>
              <a:t>          "check": "정답·검토시간을 포함한 비교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 접근정책",</a:t>
            </a:r>
          </a:p>
          <a:p xmlns:a="http://schemas.openxmlformats.org/drawingml/2006/main">
            <a:r>
              <a:t>          "check": "정답·검토시간을 포함한 비교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"문서·회의 초안",</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"문서·회의 초안",</a:t>
            </a:r>
          </a:p>
          <a:p xmlns:a="http://schemas.openxmlformats.org/drawingml/2006/main">
            <a:r>
              <a:t>          "check": "다른 부서 공유문서·누락된 발언·잘못된 할일 배정"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"공무원 문서·회의 업무의 생성형 AI 지원 / 문서 초안·회의 요약·활용 효과 평가",</a:t>
            </a:r>
          </a:p>
          <a:p xmlns:a="http://schemas.openxmlformats.org/drawingml/2006/main">
            <a:r>
              <a:t>        "extension": "같은 요청을 부서·직무별로 분류하고 원천 접근권한을 검색 전 집행"</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부서 공유문서·누락된 발언·잘못된 할일 배정",</a:t>
            </a:r>
          </a:p>
          <a:p xmlns:a="http://schemas.openxmlformats.org/drawingml/2006/main">
            <a:r>
              <a:t>        "hold": "정답·검토시간을 포함한 비교 평가",</a:t>
            </a:r>
          </a:p>
          <a:p xmlns:a="http://schemas.openxmlformats.org/drawingml/2006/main">
            <a:r>
              <a:t>        "recovery": "검토·재작업 시간과 사용 로그의 과업별 비교",</a:t>
            </a:r>
          </a:p>
          <a:p xmlns:a="http://schemas.openxmlformats.org/drawingml/2006/main">
            <a:r>
              <a:t>        "evidence": "권한별 결과와 검토·재작업을 포함한 과업 완료시간"</a:t>
            </a:r>
          </a:p>
          <a:p xmlns:a="http://schemas.openxmlformats.org/drawingml/2006/main">
            <a:r>
              <a:t>      },</a:t>
            </a:r>
          </a:p>
          <a:p xmlns:a="http://schemas.openxmlformats.org/drawingml/2006/main">
            <a:r>
              <a:t>      "data": {</a:t>
            </a:r>
          </a:p>
          <a:p xmlns:a="http://schemas.openxmlformats.org/drawingml/2006/main">
            <a:r>
              <a:t>        "source": "기존 접근 가능한 자료",</a:t>
            </a:r>
          </a:p>
          <a:p xmlns:a="http://schemas.openxmlformats.org/drawingml/2006/main">
            <a:r>
              <a:t>        "prepare": "M365 문서·회의 자료의 공유범위 점검",</a:t>
            </a:r>
          </a:p>
          <a:p xmlns:a="http://schemas.openxmlformats.org/drawingml/2006/main">
            <a:r>
              <a:t>        "output": "업무 요청",</a:t>
            </a:r>
          </a:p>
          <a:p xmlns:a="http://schemas.openxmlformats.org/drawingml/2006/main">
            <a:r>
              <a:t>        "refresh": "검토·재작업 시간과 사용 로그의 과업별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"AX04",</a:t>
            </a:r>
          </a:p>
          <a:p xmlns:a="http://schemas.openxmlformats.org/drawingml/2006/main">
            <a:r>
              <a:t>    "success": [</a:t>
            </a:r>
          </a:p>
          <a:p xmlns:a="http://schemas.openxmlformats.org/drawingml/2006/main">
            <a:r>
              <a:t>      "기존 문서·회의 도구 안의 지원",</a:t>
            </a:r>
          </a:p>
          <a:p xmlns:a="http://schemas.openxmlformats.org/drawingml/2006/main">
            <a:r>
              <a:t>      "실제 직원의 활용·피드백 수집"</a:t>
            </a:r>
          </a:p>
          <a:p xmlns:a="http://schemas.openxmlformats.org/drawingml/2006/main">
            <a:r>
              <a:t>    ],</a:t>
            </a:r>
          </a:p>
          <a:p xmlns:a="http://schemas.openxmlformats.org/drawingml/2006/main">
            <a:r>
              <a:t>    "risks": [</a:t>
            </a:r>
          </a:p>
          <a:p xmlns:a="http://schemas.openxmlformats.org/drawingml/2006/main">
            <a:r>
              <a:t>      "업무별 효과 편차",</a:t>
            </a:r>
          </a:p>
          <a:p xmlns:a="http://schemas.openxmlformats.org/drawingml/2006/main">
            <a:r>
              <a:t>      "자기보고 절감시간과 실측시간의 차이"</a:t>
            </a:r>
          </a:p>
          <a:p xmlns:a="http://schemas.openxmlformats.org/drawingml/2006/main">
            <a:r>
              <a:t>    ],</a:t>
            </a:r>
          </a:p>
          <a:p xmlns:a="http://schemas.openxmlformats.org/drawingml/2006/main">
            <a:r>
              <a:t>    "architecture": [</a:t>
            </a:r>
          </a:p>
          <a:p xmlns:a="http://schemas.openxmlformats.org/drawingml/2006/main">
            <a:r>
              <a:t>      "공무원 M365",</a:t>
            </a:r>
          </a:p>
          <a:p xmlns:a="http://schemas.openxmlformats.org/drawingml/2006/main">
            <a:r>
              <a:t>      "Copilot 작성·검색",</a:t>
            </a:r>
          </a:p>
          <a:p xmlns:a="http://schemas.openxmlformats.org/drawingml/2006/main">
            <a:r>
              <a:t>      "기존 접근 가능한 자료",</a:t>
            </a:r>
          </a:p>
          <a:p xmlns:a="http://schemas.openxmlformats.org/drawingml/2006/main">
            <a:r>
              <a:t>      "직원 검토"</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"권한 내 근거",</a:t>
            </a:r>
          </a:p>
          <a:p xmlns:a="http://schemas.openxmlformats.org/drawingml/2006/main">
            <a:r>
              <a:t>      "문서·회의 초안",</a:t>
            </a:r>
          </a:p>
          <a:p xmlns:a="http://schemas.openxmlformats.org/drawingml/2006/main">
            <a:r>
              <a:t>      "검토 결과"</a:t>
            </a:r>
          </a:p>
          <a:p xmlns:a="http://schemas.openxmlformats.org/drawingml/2006/main">
            <a:r>
              <a:t>    ],</a:t>
            </a:r>
          </a:p>
          <a:p xmlns:a="http://schemas.openxmlformats.org/drawingml/2006/main">
            <a:r>
              <a:t>    "control": "정답·검토시간을 포함한 비교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영국 정부 · M365 Copilot 실험 보고서 https://www.gov.uk/government/publications/microsoft-365-copilot-experiment-cross-government-findings-report/microsoft-365-copilot-experiment-cross-government-findings-report-html</a:t>
            </a:r>
          </a:p>
          <a:p xmlns:a="http://schemas.openxmlformats.org/drawingml/2006/main">
            <a:r>
              <a:t>홈페이지 https://heen1987-ops.github.io/TS-business-Plan-001/index.html?view=casebook&amp;case=AX04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"AX04",</a:t>
            </a:r>
          </a:p>
          <a:p xmlns:a="http://schemas.openxmlformats.org/drawingml/2006/main">
            <a:r>
              <a:t>    "title": "영국 정부 M365 Copilot",</a:t>
            </a:r>
          </a:p>
          <a:p xmlns:a="http://schemas.openxmlformats.org/drawingml/2006/main">
            <a:r>
              <a:t>    "region": "해외",</a:t>
            </a:r>
          </a:p>
          <a:p xmlns:a="http://schemas.openxmlformats.org/drawingml/2006/main">
            <a:r>
              <a:t>    "country": "영국",</a:t>
            </a:r>
          </a:p>
          <a:p xmlns:a="http://schemas.openxmlformats.org/drawingml/2006/main">
            <a:r>
              <a:t>    "result": "혼합",</a:t>
            </a:r>
          </a:p>
          <a:p xmlns:a="http://schemas.openxmlformats.org/drawingml/2006/main">
            <a:r>
              <a:t>    "kind": "직원 업무 생산성 실험",</a:t>
            </a:r>
          </a:p>
          <a:p xmlns:a="http://schemas.openxmlformats.org/drawingml/2006/main">
            <a:r>
              <a:t>    "period": "2024.09–12 실험",</a:t>
            </a:r>
          </a:p>
          <a:p xmlns:a="http://schemas.openxmlformats.org/drawingml/2006/main">
            <a:r>
              <a:t>    "sources": [</a:t>
            </a:r>
          </a:p>
          <a:p xmlns:a="http://schemas.openxmlformats.org/drawingml/2006/main">
            <a:r>
              <a:t>      "S04"</a:t>
            </a:r>
          </a:p>
          <a:p xmlns:a="http://schemas.openxmlformats.org/drawingml/2006/main">
            <a:r>
              <a:t>    ],</a:t>
            </a:r>
          </a:p>
          <a:p xmlns:a="http://schemas.openxmlformats.org/drawingml/2006/main">
            <a:r>
              <a:t>    "keywords": [</a:t>
            </a:r>
          </a:p>
          <a:p xmlns:a="http://schemas.openxmlformats.org/drawingml/2006/main">
            <a:r>
              <a:t>      "업무효율",</a:t>
            </a:r>
          </a:p>
          <a:p xmlns:a="http://schemas.openxmlformats.org/drawingml/2006/main">
            <a:r>
              <a:t>      "직원",</a:t>
            </a:r>
          </a:p>
          <a:p xmlns:a="http://schemas.openxmlformats.org/drawingml/2006/main">
            <a:r>
              <a:t>      "권한",</a:t>
            </a:r>
          </a:p>
          <a:p xmlns:a="http://schemas.openxmlformats.org/drawingml/2006/main">
            <a:r>
              <a:t>      "성과 측정"</a:t>
            </a:r>
          </a:p>
          <a:p xmlns:a="http://schemas.openxmlformats.org/drawingml/2006/main">
            <a:r>
              <a:t>    ],</a:t>
            </a:r>
          </a:p>
          <a:p xmlns:a="http://schemas.openxmlformats.org/drawingml/2006/main">
            <a:r>
              <a:t>    "fact": "2만 명 규모 실험; 설문 응답자 7,115명의 자기보고 시간 절약 평균 약 26분/일",</a:t>
            </a:r>
          </a:p>
          <a:p xmlns:a="http://schemas.openxmlformats.org/drawingml/2006/main">
            <a:r>
              <a:t>    "limit": "실측 인과효과 아님 · 복잡한 맥락·데이터 업무 한계 · 기존 자료 과다공유 위험",</a:t>
            </a:r>
          </a:p>
          <a:p xmlns:a="http://schemas.openxmlformats.org/drawingml/2006/main">
            <a:r>
              <a:t>    "flow": [</a:t>
            </a:r>
          </a:p>
          <a:p xmlns:a="http://schemas.openxmlformats.org/drawingml/2006/main">
            <a:r>
              <a:t>      "직원 요청",</a:t>
            </a:r>
          </a:p>
          <a:p xmlns:a="http://schemas.openxmlformats.org/drawingml/2006/main">
            <a:r>
              <a:t>      "기존 접근권한",</a:t>
            </a:r>
          </a:p>
          <a:p xmlns:a="http://schemas.openxmlformats.org/drawingml/2006/main">
            <a:r>
              <a:t>      "업무 자료 검색",</a:t>
            </a:r>
          </a:p>
          <a:p xmlns:a="http://schemas.openxmlformats.org/drawingml/2006/main">
            <a:r>
              <a:t>      "초안·직원 검토"</a:t>
            </a:r>
          </a:p>
          <a:p xmlns:a="http://schemas.openxmlformats.org/drawingml/2006/main">
            <a:r>
              <a:t>    ],</a:t>
            </a:r>
          </a:p>
          <a:p xmlns:a="http://schemas.openxmlformats.org/drawingml/2006/main">
            <a:r>
              <a:t>    "flowBasis": "보고서의 기능·권한 설명 기반 재구성",</a:t>
            </a:r>
          </a:p>
          <a:p xmlns:a="http://schemas.openxmlformats.org/drawingml/2006/main">
            <a:r>
              <a:t>    "lesson": "사용 빈도와 실측 성과의 분리 / 기존 권한의 사전 정비",</a:t>
            </a:r>
          </a:p>
          <a:p xmlns:a="http://schemas.openxmlformats.org/drawingml/2006/main">
            <a:r>
              <a:t>    "local": "같은 요청을 부서·직무별로 분류하고 원천 접근권한을 검색 전 집행",</a:t>
            </a:r>
          </a:p>
          <a:p xmlns:a="http://schemas.openxmlformats.org/drawingml/2006/main">
            <a:r>
              <a:t>    "assets": [</a:t>
            </a:r>
          </a:p>
          <a:p xmlns:a="http://schemas.openxmlformats.org/drawingml/2006/main">
            <a:r>
              <a:t>      "CCK-01",</a:t>
            </a:r>
          </a:p>
          <a:p xmlns:a="http://schemas.openxmlformats.org/drawingml/2006/main">
            <a:r>
              <a:t>      "CCK-03"</a:t>
            </a:r>
          </a:p>
          <a:p xmlns:a="http://schemas.openxmlformats.org/drawingml/2006/main">
            <a:r>
              <a:t>    ],</a:t>
            </a:r>
          </a:p>
          <a:p xmlns:a="http://schemas.openxmlformats.org/drawingml/2006/main">
            <a:r>
              <a:t>    "delta": "로그인 ID–조직 연결 / 직무별 검색·서식 / 검토시간 포함 계측",</a:t>
            </a:r>
          </a:p>
          <a:p xmlns:a="http://schemas.openxmlformats.org/drawingml/2006/main">
            <a:r>
              <a:t>    "test": "권한 교차 시험과 동일 난도 업무의 전후·비교군 평가",</a:t>
            </a:r>
          </a:p>
          <a:p xmlns:a="http://schemas.openxmlformats.org/drawingml/2006/main">
            <a:r>
              <a:t>    "metric": "검토·재작업 포함 완료시간 / 오류율"</a:t>
            </a:r>
          </a:p>
          <a:p xmlns:a="http://schemas.openxmlformats.org/drawingml/2006/main">
            <a:r>
              <a:t>  },</a:t>
            </a:r>
          </a:p>
          <a:p xmlns:a="http://schemas.openxmlformats.org/drawingml/2006/main">
            <a:r>
              <a:t>  "design": {</a:t>
            </a:r>
          </a:p>
          <a:p xmlns:a="http://schemas.openxmlformats.org/drawingml/2006/main">
            <a:r>
              <a:t>    "id": "AX04",</a:t>
            </a:r>
          </a:p>
          <a:p xmlns:a="http://schemas.openxmlformats.org/drawingml/2006/main">
            <a:r>
              <a:t>    "canonicalId": "AX04",</a:t>
            </a:r>
          </a:p>
          <a:p xmlns:a="http://schemas.openxmlformats.org/drawingml/2006/main">
            <a:r>
              <a:t>    "purpose": "공무원 문서·회의 업무의 생성형 AI 지원",</a:t>
            </a:r>
          </a:p>
          <a:p xmlns:a="http://schemas.openxmlformats.org/drawingml/2006/main">
            <a:r>
              <a:t>    "users": "공무원·기관 운영자·평가팀",</a:t>
            </a:r>
          </a:p>
          <a:p xmlns:a="http://schemas.openxmlformats.org/drawingml/2006/main">
            <a:r>
              <a:t>    "scope": [</a:t>
            </a:r>
          </a:p>
          <a:p xmlns:a="http://schemas.openxmlformats.org/drawingml/2006/main">
            <a:r>
              <a:t>      "문서 초안",</a:t>
            </a:r>
          </a:p>
          <a:p xmlns:a="http://schemas.openxmlformats.org/drawingml/2006/main">
            <a:r>
              <a:t>      "회의 요약",</a:t>
            </a:r>
          </a:p>
          <a:p xmlns:a="http://schemas.openxmlformats.org/drawingml/2006/main">
            <a:r>
              <a:t>      "활용 효과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"공무원 M365",</a:t>
            </a:r>
          </a:p>
          <a:p xmlns:a="http://schemas.openxmlformats.org/drawingml/2006/main">
            <a:r>
              <a:t>        "detail": "직원 계정과 과업별 접근 문맥",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"문서 초안 / 회의 요약 / 활용 효과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"Copilot 작성·검색",</a:t>
            </a:r>
          </a:p>
          <a:p xmlns:a="http://schemas.openxmlformats.org/drawingml/2006/main">
            <a:r>
              <a:t>        "detail": "허용 자료에 근거한 검색·요약·작성",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"직원 검토",</a:t>
            </a:r>
          </a:p>
          <a:p xmlns:a="http://schemas.openxmlformats.org/drawingml/2006/main">
            <a:r>
              <a:t>        "detail": "직원 검토 후 공식 문서·회의 후속업무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"기존 접근 가능한 자료",</a:t>
            </a:r>
          </a:p>
          <a:p xmlns:a="http://schemas.openxmlformats.org/drawingml/2006/main">
            <a:r>
              <a:t>        "detail": "M365 문서·회의 자료의 공유범위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"검토·재작업 시간과 사용 로그의 과업별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"직원 요청",</a:t>
            </a:r>
          </a:p>
          <a:p xmlns:a="http://schemas.openxmlformats.org/drawingml/2006/main">
            <a:r>
              <a:t>        "input": "직원 계정과 과업별 접근 문맥",</a:t>
            </a:r>
          </a:p>
          <a:p xmlns:a="http://schemas.openxmlformats.org/drawingml/2006/main">
            <a:r>
              <a:t>        "process": "M365 문서·회의 자료의 공유범위 점검",</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"title": "기존 접근권한",</a:t>
            </a:r>
          </a:p>
          <a:p xmlns:a="http://schemas.openxmlformats.org/drawingml/2006/main">
            <a:r>
              <a:t>        "input": "업무 요청",</a:t>
            </a:r>
          </a:p>
          <a:p xmlns:a="http://schemas.openxmlformats.org/drawingml/2006/main">
            <a:r>
              <a:t>        "process": "허용 자료에 근거한 검색·요약·작성",</a:t>
            </a:r>
          </a:p>
          <a:p xmlns:a="http://schemas.openxmlformats.org/drawingml/2006/main">
            <a:r>
              <a:t>        "output": "권한 내 근거"</a:t>
            </a:r>
          </a:p>
          <a:p xmlns:a="http://schemas.openxmlformats.org/drawingml/2006/main">
            <a:r>
              <a:t>      },</a:t>
            </a:r>
          </a:p>
          <a:p xmlns:a="http://schemas.openxmlformats.org/drawingml/2006/main">
            <a:r>
              <a:t>      {</a:t>
            </a:r>
          </a:p>
          <a:p xmlns:a="http://schemas.openxmlformats.org/drawingml/2006/main">
            <a:r>
              <a:t>        "title": "업무 자료 검색",</a:t>
            </a:r>
          </a:p>
          <a:p xmlns:a="http://schemas.openxmlformats.org/drawingml/2006/main">
            <a:r>
              <a:t>        "input": "권한 내 근거",</a:t>
            </a:r>
          </a:p>
          <a:p xmlns:a="http://schemas.openxmlformats.org/drawingml/2006/main">
            <a:r>
              <a:t>        "process": "정답·검토시간을 포함한 비교 평가",</a:t>
            </a:r>
          </a:p>
          <a:p xmlns:a="http://schemas.openxmlformats.org/drawingml/2006/main">
            <a:r>
              <a:t>        "output": "문서·회의 초안"</a:t>
            </a:r>
          </a:p>
          <a:p xmlns:a="http://schemas.openxmlformats.org/drawingml/2006/main">
            <a:r>
              <a:t>      },</a:t>
            </a:r>
          </a:p>
          <a:p xmlns:a="http://schemas.openxmlformats.org/drawingml/2006/main">
            <a:r>
              <a:t>      {</a:t>
            </a:r>
          </a:p>
          <a:p xmlns:a="http://schemas.openxmlformats.org/drawingml/2006/main">
            <a:r>
              <a:t>        "title": "초안·직원 검토",</a:t>
            </a:r>
          </a:p>
          <a:p xmlns:a="http://schemas.openxmlformats.org/drawingml/2006/main">
            <a:r>
              <a:t>        "input": "문서·회의 초안",</a:t>
            </a:r>
          </a:p>
          <a:p xmlns:a="http://schemas.openxmlformats.org/drawingml/2006/main">
            <a:r>
              <a:t>        "process": "직원 검토 후 공식 문서·회의 후속업무 반영",</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회의자료로 회의록 초안을 작성하고 직원이 수정·확정",</a:t>
            </a:r>
          </a:p>
          <a:p xmlns:a="http://schemas.openxmlformats.org/drawingml/2006/main">
            <a:r>
              <a:t>      "exception": "다른 부서 공유문서·누락된 발언·잘못된 할일 배정",</a:t>
            </a:r>
          </a:p>
          <a:p xmlns:a="http://schemas.openxmlformats.org/drawingml/2006/main">
            <a:r>
              <a:t>      "evidence": "권한별 결과와 검토·재작업을 포함한 과업 완료시간",</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"공무원·기관 운영자·평가팀",</a:t>
            </a:r>
          </a:p>
          <a:p xmlns:a="http://schemas.openxmlformats.org/drawingml/2006/main">
            <a:r>
              <a:t>          "processing": "직원 계정과 과업별 접근 문맥",</a:t>
            </a:r>
          </a:p>
          <a:p xmlns:a="http://schemas.openxmlformats.org/drawingml/2006/main">
            <a:r>
              <a:t>          "output": "업무 요청"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"기존 접근 가능한 자료",</a:t>
            </a:r>
          </a:p>
          <a:p xmlns:a="http://schemas.openxmlformats.org/drawingml/2006/main">
            <a:r>
              <a:t>          "processing": "M365 문서·회의 자료의 공유범위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"업무 요청",</a:t>
            </a:r>
          </a:p>
          <a:p xmlns:a="http://schemas.openxmlformats.org/drawingml/2006/main">
            <a:r>
              <a:t>          "processing": "허용 자료에 근거한 검색·요약·작성",</a:t>
            </a:r>
          </a:p>
          <a:p xmlns:a="http://schemas.openxmlformats.org/drawingml/2006/main">
            <a:r>
              <a:t>          "output": "문서·회의 초안"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"문서·회의 초안",</a:t>
            </a:r>
          </a:p>
          <a:p xmlns:a="http://schemas.openxmlformats.org/drawingml/2006/main">
            <a:r>
              <a:t>          "processing": "직원 검토 후 공식 문서·회의 후속업무 반영",</a:t>
            </a:r>
          </a:p>
          <a:p xmlns:a="http://schemas.openxmlformats.org/drawingml/2006/main">
            <a:r>
              <a:t>          "output": "검토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"검토·재작업 시간과 사용 로그의 과업별 비교",</a:t>
            </a:r>
          </a:p>
          <a:p xmlns:a="http://schemas.openxmlformats.org/drawingml/2006/main">
            <a:r>
              <a:t>          "output": "권한별 결과와 검토·재작업을 포함한 과업 완료시간"</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"검토·재작업 시간과 사용 로그의 과업별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"S04",</a:t>
            </a:r>
          </a:p>
          <a:p xmlns:a="http://schemas.openxmlformats.org/drawingml/2006/main">
            <a:r>
              <a:t>        "title": "영국 정부 · M365 Copilot 실험 보고서",</a:t>
            </a:r>
          </a:p>
          <a:p xmlns:a="http://schemas.openxmlformats.org/drawingml/2006/main">
            <a:r>
              <a:t>        "url": "https://www.gov.uk/government/publications/microsoft-365-copilot-experiment-cross-government-findings-report/microsoft-365-copilot-experiment-cross-government-findings-report-html",</a:t>
            </a:r>
          </a:p>
          <a:p xmlns:a="http://schemas.openxmlformats.org/drawingml/2006/main">
            <a:r>
              <a:t>        "published": "2025-06-02",</a:t>
            </a:r>
          </a:p>
          <a:p xmlns:a="http://schemas.openxmlformats.org/drawingml/2006/main">
            <a:r>
              <a:t>        "level": "정부 실험 / 이용자 자기보고",</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"사용 빈도와 실측 성과의 분리 / 기존 권한의 사전 정비",</a:t>
            </a:r>
          </a:p>
          <a:p xmlns:a="http://schemas.openxmlformats.org/drawingml/2006/main">
            <a:r>
              <a:t>    "local": "같은 요청을 부서·직무별로 분류하고 원천 접근권한을 검색 전 집행",</a:t>
            </a:r>
          </a:p>
          <a:p xmlns:a="http://schemas.openxmlformats.org/drawingml/2006/main">
            <a:r>
              <a:t>    "sourceDetail": null,</a:t>
            </a:r>
          </a:p>
          <a:p xmlns:a="http://schemas.openxmlformats.org/drawingml/2006/main">
            <a:r>
              <a:t>    "narrative": [</a:t>
            </a:r>
          </a:p>
          <a:p xmlns:a="http://schemas.openxmlformats.org/drawingml/2006/main">
            <a:r>
              <a:t>      "기존 M365 문서·회의 접점에서 공무원의 작성·검색·요약을 지원한 실험. 새 업무 시스템 구축보다 직원이 이미 접근하는 자료와 협업 도구 안에 AI를 배치한 유형.",</a:t>
            </a:r>
          </a:p>
          <a:p xmlns:a="http://schemas.openxmlformats.org/drawingml/2006/main">
            <a:r>
              <a:t>      "자료 접근권한을 전제로 요청 문맥을 만들고 검색·생성 결과를 직원이 검토하는 흐름. 조직·직무별 동일 과업을 정의한 뒤 AI 사용 전후의 초안 작성, 사실 확인, 수정 시간을 함께 기록하는 CCK 비교 설계.",</a:t>
            </a:r>
          </a:p>
          <a:p xmlns:a="http://schemas.openxmlformats.org/drawingml/2006/main">
            <a:r>
              <a:t>      "설문 자기보고 절감시간을 TS의 예상 절감률로 직접 전환하지 않는 평가. 과다공유 문서, 복잡한 질의, 숙련도 차이와 재작업을 포함해 부서별 완료시간·오류율을 산정할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"M365 업무 요청",</a:t>
            </a:r>
          </a:p>
          <a:p xmlns:a="http://schemas.openxmlformats.org/drawingml/2006/main">
            <a:r>
              <a:t>          "layer": "이용 접점",</a:t>
            </a:r>
          </a:p>
          <a:p xmlns:a="http://schemas.openxmlformats.org/drawingml/2006/main">
            <a:r>
              <a:t>          "detail": "공무원·기관 운영자·평가팀",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"직원·과업 맥락",</a:t>
            </a:r>
          </a:p>
          <a:p xmlns:a="http://schemas.openxmlformats.org/drawingml/2006/main">
            <a:r>
              <a:t>          "layer": "업무 문맥",</a:t>
            </a:r>
          </a:p>
          <a:p xmlns:a="http://schemas.openxmlformats.org/drawingml/2006/main">
            <a:r>
              <a:t>          "detail": "직원 계정과 과업별 접근 문맥",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"권한 내 자료 조회",</a:t>
            </a:r>
          </a:p>
          <a:p xmlns:a="http://schemas.openxmlformats.org/drawingml/2006/main">
            <a:r>
              <a:t>          "layer": "자료 조회",</a:t>
            </a:r>
          </a:p>
          <a:p xmlns:a="http://schemas.openxmlformats.org/drawingml/2006/main">
            <a:r>
              <a:t>          "detail": "업무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"검색·요약·작성",</a:t>
            </a:r>
          </a:p>
          <a:p xmlns:a="http://schemas.openxmlformats.org/drawingml/2006/main">
            <a:r>
              <a:t>          "layer": "핵심 처리",</a:t>
            </a:r>
          </a:p>
          <a:p xmlns:a="http://schemas.openxmlformats.org/drawingml/2006/main">
            <a:r>
              <a:t>          "detail": "허용 자료에 근거한 검색·요약·작성",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"근거·사실 대조",</a:t>
            </a:r>
          </a:p>
          <a:p xmlns:a="http://schemas.openxmlformats.org/drawingml/2006/main">
            <a:r>
              <a:t>          "layer": "결과 검증",</a:t>
            </a:r>
          </a:p>
          <a:p xmlns:a="http://schemas.openxmlformats.org/drawingml/2006/main">
            <a:r>
              <a:t>          "detail": "정답·검토시간을 포함한 비교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"직원 편집·확인",</a:t>
            </a:r>
          </a:p>
          <a:p xmlns:a="http://schemas.openxmlformats.org/drawingml/2006/main">
            <a:r>
              <a:t>          "layer": "사람 확인",</a:t>
            </a:r>
          </a:p>
          <a:p xmlns:a="http://schemas.openxmlformats.org/drawingml/2006/main">
            <a:r>
              <a:t>          "detail": "같은 회의자료로 회의록 초안을 작성하고 직원이 수정·확정",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"문서·회의 후속업무",</a:t>
            </a:r>
          </a:p>
          <a:p xmlns:a="http://schemas.openxmlformats.org/drawingml/2006/main">
            <a:r>
              <a:t>          "layer": "업무 연결",</a:t>
            </a:r>
          </a:p>
          <a:p xmlns:a="http://schemas.openxmlformats.org/drawingml/2006/main">
            <a:r>
              <a:t>          "detail": "직원 검토 후 공식 문서·회의 후속업무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"검토시간 비교",</a:t>
            </a:r>
          </a:p>
          <a:p xmlns:a="http://schemas.openxmlformats.org/drawingml/2006/main">
            <a:r>
              <a:t>          "layer": "운영 관측",</a:t>
            </a:r>
          </a:p>
          <a:p xmlns:a="http://schemas.openxmlformats.org/drawingml/2006/main">
            <a:r>
              <a:t>          "detail": "검토·재작업 시간과 사용 로그의 과업별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"문서·회의 자료",</a:t>
            </a:r>
          </a:p>
          <a:p xmlns:a="http://schemas.openxmlformats.org/drawingml/2006/main">
            <a:r>
              <a:t>          "layer": "데이터 원천",</a:t>
            </a:r>
          </a:p>
          <a:p xmlns:a="http://schemas.openxmlformats.org/drawingml/2006/main">
            <a:r>
              <a:t>          "detail": "기존 접근 가능한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"공유범위 점검",</a:t>
            </a:r>
          </a:p>
          <a:p xmlns:a="http://schemas.openxmlformats.org/drawingml/2006/main">
            <a:r>
              <a:t>          "layer": "준비·갱신",</a:t>
            </a:r>
          </a:p>
          <a:p xmlns:a="http://schemas.openxmlformats.org/drawingml/2006/main">
            <a:r>
              <a:t>          "detail": "M365 문서·회의 자료의 공유범위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"업무·평가 기록",</a:t>
            </a:r>
          </a:p>
          <a:p xmlns:a="http://schemas.openxmlformats.org/drawingml/2006/main">
            <a:r>
              <a:t>          "layer": "상태·지식 저장",</a:t>
            </a:r>
          </a:p>
          <a:p xmlns:a="http://schemas.openxmlformats.org/drawingml/2006/main">
            <a:r>
              <a:t>          "detail": "권한별 결과와 검토·재작업을 포함한 과업 완료시간",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"문서 접근정책",</a:t>
            </a:r>
          </a:p>
          <a:p xmlns:a="http://schemas.openxmlformats.org/drawingml/2006/main">
            <a:r>
              <a:t>          "layer": "권한·정책",</a:t>
            </a:r>
          </a:p>
          <a:p xmlns:a="http://schemas.openxmlformats.org/drawingml/2006/main">
            <a:r>
              <a:t>          "detail": "다른 부서 공유문서·누락된 발언·잘못된 할일 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"직원 요청 → 기존 접근권한 → 업무 자료 검색 → 초안·직원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"직원 계정과 과업별 접근 문맥",</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"업무 요청",</a:t>
            </a:r>
          </a:p>
          <a:p xmlns:a="http://schemas.openxmlformats.org/drawingml/2006/main">
            <a:r>
              <a:t>          "check": "정답·검토시간을 포함한 비교 평가"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"문서 접근정책",</a:t>
            </a:r>
          </a:p>
          <a:p xmlns:a="http://schemas.openxmlformats.org/drawingml/2006/main">
            <a:r>
              <a:t>          "check": "정답·검토시간을 포함한 비교 평가"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"문서·회의 초안",</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"문서·회의 초안",</a:t>
            </a:r>
          </a:p>
          <a:p xmlns:a="http://schemas.openxmlformats.org/drawingml/2006/main">
            <a:r>
              <a:t>          "check": "다른 부서 공유문서·누락된 발언·잘못된 할일 배정"</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"검토 결과",</a:t>
            </a:r>
          </a:p>
          <a:p xmlns:a="http://schemas.openxmlformats.org/drawingml/2006/main">
            <a:r>
              <a:t>          "check": "권한별 결과와 검토·재작업을 포함한 과업 완료시간"</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"공무원 문서·회의 업무의 생성형 AI 지원 / 문서 초안·회의 요약·활용 효과 평가",</a:t>
            </a:r>
          </a:p>
          <a:p xmlns:a="http://schemas.openxmlformats.org/drawingml/2006/main">
            <a:r>
              <a:t>        "extension": "같은 요청을 부서·직무별로 분류하고 원천 접근권한을 검색 전 집행"</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부서 공유문서·누락된 발언·잘못된 할일 배정",</a:t>
            </a:r>
          </a:p>
          <a:p xmlns:a="http://schemas.openxmlformats.org/drawingml/2006/main">
            <a:r>
              <a:t>        "hold": "정답·검토시간을 포함한 비교 평가",</a:t>
            </a:r>
          </a:p>
          <a:p xmlns:a="http://schemas.openxmlformats.org/drawingml/2006/main">
            <a:r>
              <a:t>        "recovery": "검토·재작업 시간과 사용 로그의 과업별 비교",</a:t>
            </a:r>
          </a:p>
          <a:p xmlns:a="http://schemas.openxmlformats.org/drawingml/2006/main">
            <a:r>
              <a:t>        "evidence": "권한별 결과와 검토·재작업을 포함한 과업 완료시간"</a:t>
            </a:r>
          </a:p>
          <a:p xmlns:a="http://schemas.openxmlformats.org/drawingml/2006/main">
            <a:r>
              <a:t>      },</a:t>
            </a:r>
          </a:p>
          <a:p xmlns:a="http://schemas.openxmlformats.org/drawingml/2006/main">
            <a:r>
              <a:t>      "data": {</a:t>
            </a:r>
          </a:p>
          <a:p xmlns:a="http://schemas.openxmlformats.org/drawingml/2006/main">
            <a:r>
              <a:t>        "source": "기존 접근 가능한 자료",</a:t>
            </a:r>
          </a:p>
          <a:p xmlns:a="http://schemas.openxmlformats.org/drawingml/2006/main">
            <a:r>
              <a:t>        "prepare": "M365 문서·회의 자료의 공유범위 점검",</a:t>
            </a:r>
          </a:p>
          <a:p xmlns:a="http://schemas.openxmlformats.org/drawingml/2006/main">
            <a:r>
              <a:t>        "output": "업무 요청",</a:t>
            </a:r>
          </a:p>
          <a:p xmlns:a="http://schemas.openxmlformats.org/drawingml/2006/main">
            <a:r>
              <a:t>        "refresh": "검토·재작업 시간과 사용 로그의 과업별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"AX04",</a:t>
            </a:r>
          </a:p>
          <a:p xmlns:a="http://schemas.openxmlformats.org/drawingml/2006/main">
            <a:r>
              <a:t>    "success": [</a:t>
            </a:r>
          </a:p>
          <a:p xmlns:a="http://schemas.openxmlformats.org/drawingml/2006/main">
            <a:r>
              <a:t>      "기존 문서·회의 도구 안의 지원",</a:t>
            </a:r>
          </a:p>
          <a:p xmlns:a="http://schemas.openxmlformats.org/drawingml/2006/main">
            <a:r>
              <a:t>      "실제 직원의 활용·피드백 수집"</a:t>
            </a:r>
          </a:p>
          <a:p xmlns:a="http://schemas.openxmlformats.org/drawingml/2006/main">
            <a:r>
              <a:t>    ],</a:t>
            </a:r>
          </a:p>
          <a:p xmlns:a="http://schemas.openxmlformats.org/drawingml/2006/main">
            <a:r>
              <a:t>    "risks": [</a:t>
            </a:r>
          </a:p>
          <a:p xmlns:a="http://schemas.openxmlformats.org/drawingml/2006/main">
            <a:r>
              <a:t>      "업무별 효과 편차",</a:t>
            </a:r>
          </a:p>
          <a:p xmlns:a="http://schemas.openxmlformats.org/drawingml/2006/main">
            <a:r>
              <a:t>      "자기보고 절감시간과 실측시간의 차이"</a:t>
            </a:r>
          </a:p>
          <a:p xmlns:a="http://schemas.openxmlformats.org/drawingml/2006/main">
            <a:r>
              <a:t>    ],</a:t>
            </a:r>
          </a:p>
          <a:p xmlns:a="http://schemas.openxmlformats.org/drawingml/2006/main">
            <a:r>
              <a:t>    "architecture": [</a:t>
            </a:r>
          </a:p>
          <a:p xmlns:a="http://schemas.openxmlformats.org/drawingml/2006/main">
            <a:r>
              <a:t>      "공무원 M365",</a:t>
            </a:r>
          </a:p>
          <a:p xmlns:a="http://schemas.openxmlformats.org/drawingml/2006/main">
            <a:r>
              <a:t>      "Copilot 작성·검색",</a:t>
            </a:r>
          </a:p>
          <a:p xmlns:a="http://schemas.openxmlformats.org/drawingml/2006/main">
            <a:r>
              <a:t>      "기존 접근 가능한 자료",</a:t>
            </a:r>
          </a:p>
          <a:p xmlns:a="http://schemas.openxmlformats.org/drawingml/2006/main">
            <a:r>
              <a:t>      "직원 검토"</a:t>
            </a:r>
          </a:p>
          <a:p xmlns:a="http://schemas.openxmlformats.org/drawingml/2006/main">
            <a:r>
              <a:t>    ],</a:t>
            </a:r>
          </a:p>
          <a:p xmlns:a="http://schemas.openxmlformats.org/drawingml/2006/main">
            <a:r>
              <a:t>    "transfers": [</a:t>
            </a:r>
          </a:p>
          <a:p xmlns:a="http://schemas.openxmlformats.org/drawingml/2006/main">
            <a:r>
              <a:t>      "업무 요청",</a:t>
            </a:r>
          </a:p>
          <a:p xmlns:a="http://schemas.openxmlformats.org/drawingml/2006/main">
            <a:r>
              <a:t>      "권한 내 근거",</a:t>
            </a:r>
          </a:p>
          <a:p xmlns:a="http://schemas.openxmlformats.org/drawingml/2006/main">
            <a:r>
              <a:t>      "문서·회의 초안",</a:t>
            </a:r>
          </a:p>
          <a:p xmlns:a="http://schemas.openxmlformats.org/drawingml/2006/main">
            <a:r>
              <a:t>      "검토 결과"</a:t>
            </a:r>
          </a:p>
          <a:p xmlns:a="http://schemas.openxmlformats.org/drawingml/2006/main">
            <a:r>
              <a:t>    ],</a:t>
            </a:r>
          </a:p>
          <a:p xmlns:a="http://schemas.openxmlformats.org/drawingml/2006/main">
            <a:r>
              <a:t>    "control": "정답·검토시간을 포함한 비교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영국 정부 · M365 Copilot 실험 보고서 https://www.gov.uk/government/publications/microsoft-365-copilot-experiment-cross-government-findings-report/microsoft-365-copilot-experiment-cross-government-findings-report-html</a:t>
            </a:r>
          </a:p>
          <a:p xmlns:a="http://schemas.openxmlformats.org/drawingml/2006/main">
            <a:r>
              <a:t>홈페이지 https://heen1987-ops.github.io/TS-business-Plan-001/index.html?view=casebook&amp;case=AX04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"AX05",</a:t>
            </a:r>
          </a:p>
          <a:p xmlns:a="http://schemas.openxmlformats.org/drawingml/2006/main">
            <a:r>
              <a:t>    "title": "Google 데이터센터 냉각",</a:t>
            </a:r>
          </a:p>
          <a:p xmlns:a="http://schemas.openxmlformats.org/drawingml/2006/main">
            <a:r>
              <a:t>    "region": "해외",</a:t>
            </a:r>
          </a:p>
          <a:p xmlns:a="http://schemas.openxmlformats.org/drawingml/2006/main">
            <a:r>
              <a:t>    "country": "미국",</a:t>
            </a:r>
          </a:p>
          <a:p xmlns:a="http://schemas.openxmlformats.org/drawingml/2006/main">
            <a:r>
              <a:t>    "result": "성공",</a:t>
            </a:r>
          </a:p>
          <a:p xmlns:a="http://schemas.openxmlformats.org/drawingml/2006/main">
            <a:r>
              <a:t>    "kind": "AI 기반 운영 최적화",</a:t>
            </a:r>
          </a:p>
          <a:p xmlns:a="http://schemas.openxmlformats.org/drawingml/2006/main">
            <a:r>
              <a:t>    "period": "2018 운영 발표",</a:t>
            </a:r>
          </a:p>
          <a:p xmlns:a="http://schemas.openxmlformats.org/drawingml/2006/main">
            <a:r>
              <a:t>    "sources": [</a:t>
            </a:r>
          </a:p>
          <a:p xmlns:a="http://schemas.openxmlformats.org/drawingml/2006/main">
            <a:r>
              <a:t>      "S05"</a:t>
            </a:r>
          </a:p>
          <a:p xmlns:a="http://schemas.openxmlformats.org/drawingml/2006/main">
            <a:r>
              <a:t>    ],</a:t>
            </a:r>
          </a:p>
          <a:p xmlns:a="http://schemas.openxmlformats.org/drawingml/2006/main">
            <a:r>
              <a:t>    "keywords": [</a:t>
            </a:r>
          </a:p>
          <a:p xmlns:a="http://schemas.openxmlformats.org/drawingml/2006/main">
            <a:r>
              <a:t>      "에너지",</a:t>
            </a:r>
          </a:p>
          <a:p xmlns:a="http://schemas.openxmlformats.org/drawingml/2006/main">
            <a:r>
              <a:t>      "친환경",</a:t>
            </a:r>
          </a:p>
          <a:p xmlns:a="http://schemas.openxmlformats.org/drawingml/2006/main">
            <a:r>
              <a:t>      "안전 제약",</a:t>
            </a:r>
          </a:p>
          <a:p xmlns:a="http://schemas.openxmlformats.org/drawingml/2006/main">
            <a:r>
              <a:t>      "운영"</a:t>
            </a:r>
          </a:p>
          <a:p xmlns:a="http://schemas.openxmlformats.org/drawingml/2006/main">
            <a:r>
              <a:t>    ],</a:t>
            </a:r>
          </a:p>
          <a:p xmlns:a="http://schemas.openxmlformats.org/drawingml/2006/main">
            <a:r>
              <a:t>    "fact": "운영사 보고 기준 냉각 효율 지표(kW/ton)의 과거 기준 대비 약 30% 개선",</a:t>
            </a:r>
          </a:p>
          <a:p xmlns:a="http://schemas.openxmlformats.org/drawingml/2006/main">
            <a:r>
              <a:t>    "limit": "데이터센터 냉각 한정 · 총 전력·탄소·TS 절감률과 구분",</a:t>
            </a:r>
          </a:p>
          <a:p xmlns:a="http://schemas.openxmlformats.org/drawingml/2006/main">
            <a:r>
              <a:t>    "flow": [</a:t>
            </a:r>
          </a:p>
          <a:p xmlns:a="http://schemas.openxmlformats.org/drawingml/2006/main">
            <a:r>
              <a:t>      "센서 상태",</a:t>
            </a:r>
          </a:p>
          <a:p xmlns:a="http://schemas.openxmlformats.org/drawingml/2006/main">
            <a:r>
              <a:t>      "소비 예측",</a:t>
            </a:r>
          </a:p>
          <a:p xmlns:a="http://schemas.openxmlformats.org/drawingml/2006/main">
            <a:r>
              <a:t>      "안전 제약 확인",</a:t>
            </a:r>
          </a:p>
          <a:p xmlns:a="http://schemas.openxmlformats.org/drawingml/2006/main">
            <a:r>
              <a:t>      "현장 재검증·제어"</a:t>
            </a:r>
          </a:p>
          <a:p xmlns:a="http://schemas.openxmlformats.org/drawingml/2006/main">
            <a:r>
              <a:t>    ],</a:t>
            </a:r>
          </a:p>
          <a:p xmlns:a="http://schemas.openxmlformats.org/drawingml/2006/main">
            <a:r>
              <a:t>    "flowBasis": "공개 기술 구조 요약 · 운영자 수동 전환 포함",</a:t>
            </a:r>
          </a:p>
          <a:p xmlns:a="http://schemas.openxmlformats.org/drawingml/2006/main">
            <a:r>
              <a:t>    "lesson": "추천과 실행 사이의 이중 검증 및 운영자 통제",</a:t>
            </a:r>
          </a:p>
          <a:p xmlns:a="http://schemas.openxmlformats.org/drawingml/2006/main">
            <a:r>
              <a:t>    "local": "TS 탄소·에너지 근거 검증과 운행 개선 권고부터 적용",</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"원천·배출계수 판본 대사 / 계산 검증 / 권고 승인 / 계측",</a:t>
            </a:r>
          </a:p>
          <a:p xmlns:a="http://schemas.openxmlformats.org/drawingml/2006/main">
            <a:r>
              <a:t>    "test": "계수·단위·경계조건별 재계산 및 이상 입력 시 권고 보류",</a:t>
            </a:r>
          </a:p>
          <a:p xmlns:a="http://schemas.openxmlformats.org/drawingml/2006/main">
            <a:r>
              <a:t>    "metric": "검증된 활동량당 에너지 / 산식 오류율"</a:t>
            </a:r>
          </a:p>
          <a:p xmlns:a="http://schemas.openxmlformats.org/drawingml/2006/main">
            <a:r>
              <a:t>  },</a:t>
            </a:r>
          </a:p>
          <a:p xmlns:a="http://schemas.openxmlformats.org/drawingml/2006/main">
            <a:r>
              <a:t>  "design": {</a:t>
            </a:r>
          </a:p>
          <a:p xmlns:a="http://schemas.openxmlformats.org/drawingml/2006/main">
            <a:r>
              <a:t>    "id": "AX05",</a:t>
            </a:r>
          </a:p>
          <a:p xmlns:a="http://schemas.openxmlformats.org/drawingml/2006/main">
            <a:r>
              <a:t>    "canonicalId": "AX05",</a:t>
            </a:r>
          </a:p>
          <a:p xmlns:a="http://schemas.openxmlformats.org/drawingml/2006/main">
            <a:r>
              <a:t>    "purpose": "냉각 설비의 에너지 효율과 안전 제약 결합",</a:t>
            </a:r>
          </a:p>
          <a:p xmlns:a="http://schemas.openxmlformats.org/drawingml/2006/main">
            <a:r>
              <a:t>    "users": "설비 운영자·제어 담당자",</a:t>
            </a:r>
          </a:p>
          <a:p xmlns:a="http://schemas.openxmlformats.org/drawingml/2006/main">
            <a:r>
              <a:t>    "scope": [</a:t>
            </a:r>
          </a:p>
          <a:p xmlns:a="http://schemas.openxmlformats.org/drawingml/2006/main">
            <a:r>
              <a:t>      "상태 예측",</a:t>
            </a:r>
          </a:p>
          <a:p xmlns:a="http://schemas.openxmlformats.org/drawingml/2006/main">
            <a:r>
              <a:t>      "권고 검증",</a:t>
            </a:r>
          </a:p>
          <a:p xmlns:a="http://schemas.openxmlformats.org/drawingml/2006/main">
            <a:r>
              <a:t>      "현장 제어"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"냉각 센서",</a:t>
            </a:r>
          </a:p>
          <a:p xmlns:a="http://schemas.openxmlformats.org/drawingml/2006/main">
            <a:r>
              <a:t>        "detail": "센서 상태·운영 제약 수집",</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"상태 예측 / 권고 검증 / 현장 제어",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"예측·제약 최적화",</a:t>
            </a:r>
          </a:p>
          <a:p xmlns:a="http://schemas.openxmlformats.org/drawingml/2006/main">
            <a:r>
              <a:t>        "detail": "소비 예측과 허용 제어값 후보 산출",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"현장 제어기·운영자",</a:t>
            </a:r>
          </a:p>
          <a:p xmlns:a="http://schemas.openxmlformats.org/drawingml/2006/main">
            <a:r>
              <a:t>        "detail": "클라우드 검증 후 현장 제어계의 재검증",</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"센서 이력·안전 경계",</a:t>
            </a:r>
          </a:p>
          <a:p xmlns:a="http://schemas.openxmlformats.org/drawingml/2006/main">
            <a:r>
              <a:t>        "detail": "시계열 센서·운전 상태·제약조건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"운영자 수동 전환 및 제어 결과의 다음 주기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"센서 상태",</a:t>
            </a:r>
          </a:p>
          <a:p xmlns:a="http://schemas.openxmlformats.org/drawingml/2006/main">
            <a:r>
              <a:t>        "input": "센서 상태·운영 제약 수집",</a:t>
            </a:r>
          </a:p>
          <a:p xmlns:a="http://schemas.openxmlformats.org/drawingml/2006/main">
            <a:r>
              <a:t>        "process": "시계열 센서·운전 상태·제약조건 정리",</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"title": "소비 예측",</a:t>
            </a:r>
          </a:p>
          <a:p xmlns:a="http://schemas.openxmlformats.org/drawingml/2006/main">
            <a:r>
              <a:t>        "input": "센서 스냅샷",</a:t>
            </a:r>
          </a:p>
          <a:p xmlns:a="http://schemas.openxmlformats.org/drawingml/2006/main">
            <a:r>
              <a:t>        "process": "소비 예측과 허용 제어값 후보 산출",</a:t>
            </a:r>
          </a:p>
          <a:p xmlns:a="http://schemas.openxmlformats.org/drawingml/2006/main">
            <a:r>
              <a:t>        "output": "행동별 소비 예측"</a:t>
            </a:r>
          </a:p>
          <a:p xmlns:a="http://schemas.openxmlformats.org/drawingml/2006/main">
            <a:r>
              <a:t>      },</a:t>
            </a:r>
          </a:p>
          <a:p xmlns:a="http://schemas.openxmlformats.org/drawingml/2006/main">
            <a:r>
              <a:t>      {</a:t>
            </a:r>
          </a:p>
          <a:p xmlns:a="http://schemas.openxmlformats.org/drawingml/2006/main">
            <a:r>
              <a:t>        "title": "안전 제약 확인",</a:t>
            </a:r>
          </a:p>
          <a:p xmlns:a="http://schemas.openxmlformats.org/drawingml/2006/main">
            <a:r>
              <a:t>        "input": "행동별 소비 예측",</a:t>
            </a:r>
          </a:p>
          <a:p xmlns:a="http://schemas.openxmlformats.org/drawingml/2006/main">
            <a:r>
              <a:t>        "process": "현장 독립 검증·수동 전환",</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"title": "현장 재검증·제어",</a:t>
            </a:r>
          </a:p>
          <a:p xmlns:a="http://schemas.openxmlformats.org/drawingml/2006/main">
            <a:r>
              <a:t>        "input": "안전 조건 충족 명령",</a:t>
            </a:r>
          </a:p>
          <a:p xmlns:a="http://schemas.openxmlformats.org/drawingml/2006/main">
            <a:r>
              <a:t>        "process":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"현재 운전상태에서 허용범위 내 냉각 제어값 산출",</a:t>
            </a:r>
          </a:p>
          <a:p xmlns:a="http://schemas.openxmlformats.org/drawingml/2006/main">
            <a:r>
              <a:t>      "exception": "센서 결측·제어값 한계 초과·현장 검증 거부",</a:t>
            </a:r>
          </a:p>
          <a:p xmlns:a="http://schemas.openxmlformats.org/drawingml/2006/main">
            <a:r>
              <a:t>      "evidence": "제약별 통과/보류 결과와 수동 전환·제어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"설비 운영자·제어 담당자",</a:t>
            </a:r>
          </a:p>
          <a:p xmlns:a="http://schemas.openxmlformats.org/drawingml/2006/main">
            <a:r>
              <a:t>          "processing": "센서 상태·운영 제약 수집",</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"센서 이력·안전 경계",</a:t>
            </a:r>
          </a:p>
          <a:p xmlns:a="http://schemas.openxmlformats.org/drawingml/2006/main">
            <a:r>
              <a:t>          "processing": "시계열 센서·운전 상태·제약조건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"센서 스냅샷",</a:t>
            </a:r>
          </a:p>
          <a:p xmlns:a="http://schemas.openxmlformats.org/drawingml/2006/main">
            <a:r>
              <a:t>          "processing": "소비 예측과 허용 제어값 후보 산출",</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"안전 조건 충족 명령",</a:t>
            </a:r>
          </a:p>
          <a:p xmlns:a="http://schemas.openxmlformats.org/drawingml/2006/main">
            <a:r>
              <a:t>          "processing":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"운영자 수동 전환 및 제어 결과의 다음 주기 반영",</a:t>
            </a:r>
          </a:p>
          <a:p xmlns:a="http://schemas.openxmlformats.org/drawingml/2006/main">
            <a:r>
              <a:t>          "output": "제약별 통과/보류 결과와 수동 전환·제어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"운영자 수동 전환 및 제어 결과의 다음 주기 반영",</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"S05",</a:t>
            </a:r>
          </a:p>
          <a:p xmlns:a="http://schemas.openxmlformats.org/drawingml/2006/main">
            <a:r>
              <a:t>        "title": "Google DeepMind · 데이터센터 냉각 제어",</a:t>
            </a:r>
          </a:p>
          <a:p xmlns:a="http://schemas.openxmlformats.org/drawingml/2006/main">
            <a:r>
              <a:t>        "url": "https://deepmind.google/blog/safety-first-ai-for-autonomous-data-centre-cooling-and-industrial-control/",</a:t>
            </a:r>
          </a:p>
          <a:p xmlns:a="http://schemas.openxmlformats.org/drawingml/2006/main">
            <a:r>
              <a:t>        "published": "2018-08-17",</a:t>
            </a:r>
          </a:p>
          <a:p xmlns:a="http://schemas.openxmlformats.org/drawingml/2006/main">
            <a:r>
              <a:t>        "level": "운영·개발사 발표",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"추천과 실행 사이의 이중 검증 및 운영자 통제",</a:t>
            </a:r>
          </a:p>
          <a:p xmlns:a="http://schemas.openxmlformats.org/drawingml/2006/main">
            <a:r>
              <a:t>    "local": "TS 탄소·에너지 근거 검증과 운행 개선 권고부터 적용",</a:t>
            </a:r>
          </a:p>
          <a:p xmlns:a="http://schemas.openxmlformats.org/drawingml/2006/main">
            <a:r>
              <a:t>    "sourceDetail": null,</a:t>
            </a:r>
          </a:p>
          <a:p xmlns:a="http://schemas.openxmlformats.org/drawingml/2006/main">
            <a:r>
              <a:t>    "narrative": [</a:t>
            </a:r>
          </a:p>
          <a:p xmlns:a="http://schemas.openxmlformats.org/drawingml/2006/main">
            <a:r>
              <a:t>      "데이터센터 냉각의 전력 효율과 설비 안전을 함께 다룬 제어 사례. 예측 결과를 화면에 보여주는 단계에서 실제 제어에 연결할 때 필요한 독립 안전검증이 핵심.",</a:t>
            </a:r>
          </a:p>
          <a:p xmlns:a="http://schemas.openxmlformats.org/drawingml/2006/main">
            <a:r>
              <a:t>      "센서 상태에서 제어 후보를 예측한 뒤 클라우드 측 검증과 현장 제어계 검증을 거쳐 실행하는 공개 구조. 운영자의 수동 전환과 허용 경계를 별도 계층으로 유지하고 실행 결과를 다음 주기 입력에 반영.",</a:t>
            </a:r>
          </a:p>
          <a:p xmlns:a="http://schemas.openxmlformats.org/drawingml/2006/main">
            <a:r>
              <a:t>      "TS 시설·장비 업무에 적용할 경우 AI 권고와 현장 실행 승인을 분리할 근거. 에너지 기준선은 계절·부하로 나누고, 센서 누락·경계 초과·통신 장애 시 안전 상태와 수동 복귀를 먼저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"냉각 상태 입력",</a:t>
            </a:r>
          </a:p>
          <a:p xmlns:a="http://schemas.openxmlformats.org/drawingml/2006/main">
            <a:r>
              <a:t>          "layer": "이용 접점",</a:t>
            </a:r>
          </a:p>
          <a:p xmlns:a="http://schemas.openxmlformats.org/drawingml/2006/main">
            <a:r>
              <a:t>          "detail": "설비 운영자·제어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"운전·안전 경계",</a:t>
            </a:r>
          </a:p>
          <a:p xmlns:a="http://schemas.openxmlformats.org/drawingml/2006/main">
            <a:r>
              <a:t>          "layer": "업무 문맥",</a:t>
            </a:r>
          </a:p>
          <a:p xmlns:a="http://schemas.openxmlformats.org/drawingml/2006/main">
            <a:r>
              <a:t>          "detail": "센서 상태·운영 제약 수집",</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"센서 이력 조회",</a:t>
            </a:r>
          </a:p>
          <a:p xmlns:a="http://schemas.openxmlformats.org/drawingml/2006/main">
            <a:r>
              <a:t>          "layer": "자료 조회",</a:t>
            </a:r>
          </a:p>
          <a:p xmlns:a="http://schemas.openxmlformats.org/drawingml/2006/main">
            <a:r>
              <a:t>          "detail": "센서 스냅샷",</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"소비·제어값 예측",</a:t>
            </a:r>
          </a:p>
          <a:p xmlns:a="http://schemas.openxmlformats.org/drawingml/2006/main">
            <a:r>
              <a:t>          "layer": "핵심 처리",</a:t>
            </a:r>
          </a:p>
          <a:p xmlns:a="http://schemas.openxmlformats.org/drawingml/2006/main">
            <a:r>
              <a:t>          "detail": "소비 예측과 허용 제어값 후보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"클라우드 안전검증",</a:t>
            </a:r>
          </a:p>
          <a:p xmlns:a="http://schemas.openxmlformats.org/drawingml/2006/main">
            <a:r>
              <a:t>          "layer": "결과 검증",</a:t>
            </a:r>
          </a:p>
          <a:p xmlns:a="http://schemas.openxmlformats.org/drawingml/2006/main">
            <a:r>
              <a:t>          "detail": "현장 독립 검증·수동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독립 검증",</a:t>
            </a:r>
          </a:p>
          <a:p xmlns:a="http://schemas.openxmlformats.org/drawingml/2006/main">
            <a:r>
              <a:t>          "layer": "사람 확인",</a:t>
            </a:r>
          </a:p>
          <a:p xmlns:a="http://schemas.openxmlformats.org/drawingml/2006/main">
            <a:r>
              <a:t>          "detail": "현재 운전상태에서 허용범위 내 냉각 제어값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"제어·수동 전환",</a:t>
            </a:r>
          </a:p>
          <a:p xmlns:a="http://schemas.openxmlformats.org/drawingml/2006/main">
            <a:r>
              <a:t>          "layer": "업무 연결",</a:t>
            </a:r>
          </a:p>
          <a:p xmlns:a="http://schemas.openxmlformats.org/drawingml/2006/main">
            <a:r>
              <a:t>          "detail": "클라우드 검증 후 현장 제어계의 재검증",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"다음 주기 환류",</a:t>
            </a:r>
          </a:p>
          <a:p xmlns:a="http://schemas.openxmlformats.org/drawingml/2006/main">
            <a:r>
              <a:t>          "layer": "운영 관측",</a:t>
            </a:r>
          </a:p>
          <a:p xmlns:a="http://schemas.openxmlformats.org/drawingml/2006/main">
            <a:r>
              <a:t>          "detail": "운영자 수동 전환 및 제어 결과의 다음 주기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"센서·운전 자료",</a:t>
            </a:r>
          </a:p>
          <a:p xmlns:a="http://schemas.openxmlformats.org/drawingml/2006/main">
            <a:r>
              <a:t>          "layer": "데이터 원천",</a:t>
            </a:r>
          </a:p>
          <a:p xmlns:a="http://schemas.openxmlformats.org/drawingml/2006/main">
            <a:r>
              <a:t>          "detail": "센서 이력·안전 경계",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"시각·결측 정리",</a:t>
            </a:r>
          </a:p>
          <a:p xmlns:a="http://schemas.openxmlformats.org/drawingml/2006/main">
            <a:r>
              <a:t>          "layer": "준비·갱신",</a:t>
            </a:r>
          </a:p>
          <a:p xmlns:a="http://schemas.openxmlformats.org/drawingml/2006/main">
            <a:r>
              <a:t>          "detail": "시계열 센서·운전 상태·제약조건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"상태·명령 이력",</a:t>
            </a:r>
          </a:p>
          <a:p xmlns:a="http://schemas.openxmlformats.org/drawingml/2006/main">
            <a:r>
              <a:t>          "layer": "상태·지식 저장",</a:t>
            </a:r>
          </a:p>
          <a:p xmlns:a="http://schemas.openxmlformats.org/drawingml/2006/main">
            <a:r>
              <a:t>          "detail": "제약별 통과/보류 결과와 수동 전환·제어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"제어 허용경계",</a:t>
            </a:r>
          </a:p>
          <a:p xmlns:a="http://schemas.openxmlformats.org/drawingml/2006/main">
            <a:r>
              <a:t>          "layer": "권한·정책",</a:t>
            </a:r>
          </a:p>
          <a:p xmlns:a="http://schemas.openxmlformats.org/drawingml/2006/main">
            <a:r>
              <a:t>          "detail": "센서 결측·제어값 한계 초과·현장 검증 거부",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"센서 상태 → 소비 예측 → 안전 제약 확인 → 현장 재검증·제어"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"센서 이력·안전 경계",</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"안전 조건 충족 명령",</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"제어 허용경계",</a:t>
            </a:r>
          </a:p>
          <a:p xmlns:a="http://schemas.openxmlformats.org/drawingml/2006/main">
            <a:r>
              <a:t>          "check": "현장 독립 검증·수동 전환"</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"현장 검증·실행",</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"운영자 수동 전환 및 제어 결과의 다음 주기 반영",</a:t>
            </a:r>
          </a:p>
          <a:p xmlns:a="http://schemas.openxmlformats.org/drawingml/2006/main">
            <a:r>
              <a:t>          "check": "운영자 수동 전환 및 제어 결과의 다음 주기 반영"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"DeepMind 2018-08-17 안전 제어 설명",</a:t>
            </a:r>
          </a:p>
          <a:p xmlns:a="http://schemas.openxmlformats.org/drawingml/2006/main">
            <a:r>
              <a:t>        "extracted": "클라우드와 현장 제어의 독립 안전검증·수동 전환",</a:t>
            </a:r>
          </a:p>
          <a:p xmlns:a="http://schemas.openxmlformats.org/drawingml/2006/main">
            <a:r>
              <a:t>        "extension": "누락 센서·경계 초과·수동 전환의 실패 재현"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"AX05",</a:t>
            </a:r>
          </a:p>
          <a:p xmlns:a="http://schemas.openxmlformats.org/drawingml/2006/main">
            <a:r>
              <a:t>          "path": "assets/casebook-sources/AX05-01.png",</a:t>
            </a:r>
          </a:p>
          <a:p xmlns:a="http://schemas.openxmlformats.org/drawingml/2006/main">
            <a:r>
              <a:t>          "title": "냉각 설비 센서 상태 수집",</a:t>
            </a:r>
          </a:p>
          <a:p xmlns:a="http://schemas.openxmlformats.org/drawingml/2006/main">
            <a:r>
              <a:t>          "status": "DeepMind 공식 단계 그림 1/4",</a:t>
            </a:r>
          </a:p>
          <a:p xmlns:a="http://schemas.openxmlformats.org/drawingml/2006/main">
            <a:r>
              <a:t>          "caption": "5분마다 현장 센서의 냉각 상태 스냅샷 수집",</a:t>
            </a:r>
          </a:p>
          <a:p xmlns:a="http://schemas.openxmlformats.org/drawingml/2006/main">
            <a:r>
              <a:t>          "locator": "Google DeepMind 2018-08-17 / How it works 1",</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"ec28de3ccf82f230a92ff87c048ed311f0c890ebcbd9dae1882ec8a20aabd999",</a:t>
            </a:r>
          </a:p>
          <a:p xmlns:a="http://schemas.openxmlformats.org/drawingml/2006/main">
            <a:r>
              <a:t>          "explanation": {</a:t>
            </a:r>
          </a:p>
          <a:p xmlns:a="http://schemas.openxmlformats.org/drawingml/2006/main">
            <a:r>
              <a:t>            "read": "DeepMind 공식 설명의 첫 단계. 약 5분 주기로 수천 개 센서에서 냉각 설비 상태의 스냅샷을 클라우드 AI에 전달한다. 그림은 데이터 수집 경로를 보여 주며, 센서 품질검사 방식이나 실제 제어망 구성은 공개하지 않는다.",</a:t>
            </a:r>
          </a:p>
          <a:p xmlns:a="http://schemas.openxmlformats.org/drawingml/2006/main">
            <a:r>
              <a:t>            "requirements": [],</a:t>
            </a:r>
          </a:p>
          <a:p xmlns:a="http://schemas.openxmlformats.org/drawingml/2006/main">
            <a:r>
              <a:t>            "connection": "TS 적용에서는 센서·설비 ID·관측시각을 먼저 대사하고 결측·지연 데이터는 제어 후보 산출에서 제외하는 입력 계약이 필요하다."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"assets/casebook-sources/AX05-02.png",</a:t>
            </a:r>
          </a:p>
          <a:p xmlns:a="http://schemas.openxmlformats.org/drawingml/2006/main">
            <a:r>
              <a:t>          "title": "신경망 예측 단계",</a:t>
            </a:r>
          </a:p>
          <a:p xmlns:a="http://schemas.openxmlformats.org/drawingml/2006/main">
            <a:r>
              <a:t>          "status": "DeepMind 공식 단계 그림 2/4",</a:t>
            </a:r>
          </a:p>
          <a:p xmlns:a="http://schemas.openxmlformats.org/drawingml/2006/main">
            <a:r>
              <a:t>          "caption": "제어 후보별 미래 효율과 온도 예측",</a:t>
            </a:r>
          </a:p>
          <a:p xmlns:a="http://schemas.openxmlformats.org/drawingml/2006/main">
            <a:r>
              <a:t>          "locator": "Google DeepMind 2018-08-17 / How it works 2",</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"3d8852c2f9db075137fc3460ddef99acb193c4b77268f159fca9100379123d6a",</a:t>
            </a:r>
          </a:p>
          <a:p xmlns:a="http://schemas.openxmlformats.org/drawingml/2006/main">
            <a:r>
              <a:t>          "explanation": {</a:t>
            </a:r>
          </a:p>
          <a:p xmlns:a="http://schemas.openxmlformats.org/drawingml/2006/main">
            <a:r>
              <a:t>            "read": "센서 상태를 신경망에 투입해 후보 제어가 향후 에너지 효율과 온도에 미칠 영향을 예측하는 두 번째 단계. 이 그림 자체는 특정 모델의 내부 구조나 학습 데이터의 전체 구성을 설명하지 않는다.",</a:t>
            </a:r>
          </a:p>
          <a:p xmlns:a="http://schemas.openxmlformats.org/drawingml/2006/main">
            <a:r>
              <a:t>            "requirements": [],</a:t>
            </a:r>
          </a:p>
          <a:p xmlns:a="http://schemas.openxmlformats.org/drawingml/2006/main">
            <a:r>
              <a:t>            "connection": "TS의 실시간 안전 사례에 적용한다면 예측값·불확실성·적용시각을 함께 기록해 권고 결과와 이후 실제 관측의 차이를 평가해야 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"assets/casebook-sources/AX05-03.png",</a:t>
            </a:r>
          </a:p>
          <a:p xmlns:a="http://schemas.openxmlformats.org/drawingml/2006/main">
            <a:r>
              <a:t>          "title": "안전 제약 내 제어 후보 선정",</a:t>
            </a:r>
          </a:p>
          <a:p xmlns:a="http://schemas.openxmlformats.org/drawingml/2006/main">
            <a:r>
              <a:t>          "status": "DeepMind 공식 단계 그림 3/4",</a:t>
            </a:r>
          </a:p>
          <a:p xmlns:a="http://schemas.openxmlformats.org/drawingml/2006/main">
            <a:r>
              <a:t>          "caption": "안전 제약을 만족하는 후보 중 에너지 소비 최소화",</a:t>
            </a:r>
          </a:p>
          <a:p xmlns:a="http://schemas.openxmlformats.org/drawingml/2006/main">
            <a:r>
              <a:t>          "locator": "Google DeepMind 2018-08-17 / How it works 3",</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"74083db5c1f1d687580f9bb3accbd06dceaac4b89bc5d41222f4f1c1842d43c5",</a:t>
            </a:r>
          </a:p>
          <a:p xmlns:a="http://schemas.openxmlformats.org/drawingml/2006/main">
            <a:r>
              <a:t>          "explanation": {</a:t>
            </a:r>
          </a:p>
          <a:p xmlns:a="http://schemas.openxmlformats.org/drawingml/2006/main">
            <a:r>
              <a:t>            "read": "예측된 후보 중 안전 제약을 만족하면서 에너지 소비를 줄일 수 있는 조치를 선택하는 단계. 공개 설명은 후보 선정 후 클라우드 측 안전 검증을 거친다고 명시하며, 제약의 전체 수치와 규칙은 공개하지 않는다.",</a:t>
            </a:r>
          </a:p>
          <a:p xmlns:a="http://schemas.openxmlformats.org/drawingml/2006/main">
            <a:r>
              <a:t>            "requirements": [],</a:t>
            </a:r>
          </a:p>
          <a:p xmlns:a="http://schemas.openxmlformats.org/drawingml/2006/main">
            <a:r>
              <a:t>            "connection": "TS에서는 최적화 점수와 필수 안전 조건을 분리해 검수하고, 안전 경계 위반 후보는 효율이 높더라도 채택하지 않는 통제 규칙으로 전환한다."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"assets/casebook-sources/AX05-04.png",</a:t>
            </a:r>
          </a:p>
          <a:p xmlns:a="http://schemas.openxmlformats.org/drawingml/2006/main">
            <a:r>
              <a:t>          "title": "현장 제어계 독립 검증",</a:t>
            </a:r>
          </a:p>
          <a:p xmlns:a="http://schemas.openxmlformats.org/drawingml/2006/main">
            <a:r>
              <a:t>          "status": "DeepMind 공식 단계 그림 4/4",</a:t>
            </a:r>
          </a:p>
          <a:p xmlns:a="http://schemas.openxmlformats.org/drawingml/2006/main">
            <a:r>
              <a:t>          "caption": "현장 제어계가 별도 안전 제약을 확인한 뒤 실행",</a:t>
            </a:r>
          </a:p>
          <a:p xmlns:a="http://schemas.openxmlformats.org/drawingml/2006/main">
            <a:r>
              <a:t>          "locator": "Google DeepMind 2018-08-17 / How it works 4",</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"9e8e418c7a75ef3dc171194ebed38921f65c8c95e29c188fa170a4705d834d27",</a:t>
            </a:r>
          </a:p>
          <a:p xmlns:a="http://schemas.openxmlformats.org/drawingml/2006/main">
            <a:r>
              <a:t>          "explanation": {</a:t>
            </a:r>
          </a:p>
          <a:p xmlns:a="http://schemas.openxmlformats.org/drawingml/2006/main">
            <a:r>
              <a:t>            "read": "선정된 조치를 현장 제어계에 보내고, 현장 시스템이 자체 안전 제약으로 다시 확인한 뒤 실행하는 마지막 단계. 운영자는 AI 제어 모드에서 언제든 이탈할 수 있다. 원문은 매 제어 단계마다 사람의 승인을 필수로 요구하지 않는다.",</a:t>
            </a:r>
          </a:p>
          <a:p xmlns:a="http://schemas.openxmlformats.org/drawingml/2006/main">
            <a:r>
              <a:t>            "requirements": [],</a:t>
            </a:r>
          </a:p>
          <a:p xmlns:a="http://schemas.openxmlformats.org/drawingml/2006/main">
            <a:r>
              <a:t>            "connection": "TS의 안전·설비 적용에서는 현장 독립 검증, 제어 거부, 수동 전환의 기록을 분리하고 통신 장애 시 기존 제어 규칙으로 복귀하는 시험을 설계한다."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"센서 결측·제어값 한계 초과·현장 검증 거부",</a:t>
            </a:r>
          </a:p>
          <a:p xmlns:a="http://schemas.openxmlformats.org/drawingml/2006/main">
            <a:r>
              <a:t>        "hold": "현장 독립 검증·수동 전환",</a:t>
            </a:r>
          </a:p>
          <a:p xmlns:a="http://schemas.openxmlformats.org/drawingml/2006/main">
            <a:r>
              <a:t>        "recovery": "운영자 수동 전환 및 제어 결과의 다음 주기 반영",</a:t>
            </a:r>
          </a:p>
          <a:p xmlns:a="http://schemas.openxmlformats.org/drawingml/2006/main">
            <a:r>
              <a:t>        "evidence": "제약별 통과/보류 결과와 수동 전환·제어 이력"</a:t>
            </a:r>
          </a:p>
          <a:p xmlns:a="http://schemas.openxmlformats.org/drawingml/2006/main">
            <a:r>
              <a:t>      },</a:t>
            </a:r>
          </a:p>
          <a:p xmlns:a="http://schemas.openxmlformats.org/drawingml/2006/main">
            <a:r>
              <a:t>      "data": {</a:t>
            </a:r>
          </a:p>
          <a:p xmlns:a="http://schemas.openxmlformats.org/drawingml/2006/main">
            <a:r>
              <a:t>        "source": "센서 이력·안전 경계",</a:t>
            </a:r>
          </a:p>
          <a:p xmlns:a="http://schemas.openxmlformats.org/drawingml/2006/main">
            <a:r>
              <a:t>        "prepare": "시계열 센서·운전 상태·제약조건 정리",</a:t>
            </a:r>
          </a:p>
          <a:p xmlns:a="http://schemas.openxmlformats.org/drawingml/2006/main">
            <a:r>
              <a:t>        "output": "센서 스냅샷",</a:t>
            </a:r>
          </a:p>
          <a:p xmlns:a="http://schemas.openxmlformats.org/drawingml/2006/main">
            <a:r>
              <a:t>        "refresh": "운영자 수동 전환 및 제어 결과의 다음 주기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"AX05",</a:t>
            </a:r>
          </a:p>
          <a:p xmlns:a="http://schemas.openxmlformats.org/drawingml/2006/main">
            <a:r>
              <a:t>    "success": [</a:t>
            </a:r>
          </a:p>
          <a:p xmlns:a="http://schemas.openxmlformats.org/drawingml/2006/main">
            <a:r>
              <a:t>      "클라우드·현장 제어의 이중 안전검증",</a:t>
            </a:r>
          </a:p>
          <a:p xmlns:a="http://schemas.openxmlformats.org/drawingml/2006/main">
            <a:r>
              <a:t>      "운영자 수동 전환과 불확실성 제한"</a:t>
            </a:r>
          </a:p>
          <a:p xmlns:a="http://schemas.openxmlformats.org/drawingml/2006/main">
            <a:r>
              <a:t>    ],</a:t>
            </a:r>
          </a:p>
          <a:p xmlns:a="http://schemas.openxmlformats.org/drawingml/2006/main">
            <a:r>
              <a:t>    "risks": [</a:t>
            </a:r>
          </a:p>
          <a:p xmlns:a="http://schemas.openxmlformats.org/drawingml/2006/main">
            <a:r>
              <a:t>      "계절·부하에 따른 기준선 변화",</a:t>
            </a:r>
          </a:p>
          <a:p xmlns:a="http://schemas.openxmlformats.org/drawingml/2006/main">
            <a:r>
              <a:t>      "안전 한계를 넓힐 때의 제어 위험"</a:t>
            </a:r>
          </a:p>
          <a:p xmlns:a="http://schemas.openxmlformats.org/drawingml/2006/main">
            <a:r>
              <a:t>    ],</a:t>
            </a:r>
          </a:p>
          <a:p xmlns:a="http://schemas.openxmlformats.org/drawingml/2006/main">
            <a:r>
              <a:t>    "architecture": [</a:t>
            </a:r>
          </a:p>
          <a:p xmlns:a="http://schemas.openxmlformats.org/drawingml/2006/main">
            <a:r>
              <a:t>      "냉각 센서",</a:t>
            </a:r>
          </a:p>
          <a:p xmlns:a="http://schemas.openxmlformats.org/drawingml/2006/main">
            <a:r>
              <a:t>      "예측·제약 최적화",</a:t>
            </a:r>
          </a:p>
          <a:p xmlns:a="http://schemas.openxmlformats.org/drawingml/2006/main">
            <a:r>
              <a:t>      "센서 이력·안전 경계",</a:t>
            </a:r>
          </a:p>
          <a:p xmlns:a="http://schemas.openxmlformats.org/drawingml/2006/main">
            <a:r>
              <a:t>      "현장 제어기·운영자"</a:t>
            </a:r>
          </a:p>
          <a:p xmlns:a="http://schemas.openxmlformats.org/drawingml/2006/main">
            <a:r>
              <a:t>    ],</a:t>
            </a:r>
          </a:p>
          <a:p xmlns:a="http://schemas.openxmlformats.org/drawingml/2006/main">
            <a:r>
              <a:t>    "transfers": [</a:t>
            </a:r>
          </a:p>
          <a:p xmlns:a="http://schemas.openxmlformats.org/drawingml/2006/main">
            <a:r>
              <a:t>      "센서 스냅샷",</a:t>
            </a:r>
          </a:p>
          <a:p xmlns:a="http://schemas.openxmlformats.org/drawingml/2006/main">
            <a:r>
              <a:t>      "행동별 소비 예측",</a:t>
            </a:r>
          </a:p>
          <a:p xmlns:a="http://schemas.openxmlformats.org/drawingml/2006/main">
            <a:r>
              <a:t>      "안전 조건 충족 명령",</a:t>
            </a:r>
          </a:p>
          <a:p xmlns:a="http://schemas.openxmlformats.org/drawingml/2006/main">
            <a:r>
              <a:t>      "현장 검증·실행"</a:t>
            </a:r>
          </a:p>
          <a:p xmlns:a="http://schemas.openxmlformats.org/drawingml/2006/main">
            <a:r>
              <a:t>    ],</a:t>
            </a:r>
          </a:p>
          <a:p xmlns:a="http://schemas.openxmlformats.org/drawingml/2006/main">
            <a:r>
              <a:t>    "control": "현장 독립 검증·수동 전환",</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"DeepMind 안전 제어 구조 · 2018-08-17",</a:t>
            </a:r>
          </a:p>
          <a:p xmlns:a="http://schemas.openxmlformats.org/drawingml/2006/main">
            <a:r>
              <a:t>      "url": "https://deepmind.google/blog/safety-first-ai-for-autonomous-data-centre-cooling-and-industrial-control/"</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DeepMind · 데이터센터 냉각 제어 https://deepmind.google/blog/safety-first-ai-for-autonomous-data-centre-cooling-and-industrial-control/</a:t>
            </a:r>
          </a:p>
          <a:p xmlns:a="http://schemas.openxmlformats.org/drawingml/2006/main">
            <a:r>
              <a:t>홈페이지 https://heen1987-ops.github.io/TS-business-Plan-001/index.html?view=casebook&amp;case=AX05</a:t>
            </a:r>
          </a:p>
          <a:p xmlns:a="http://schemas.openxmlformats.org/drawingml/2006/main">
            <a:r>
              <a:t>한계: 데이터센터 냉각 한정 · 총 전력·탄소·TS 절감률과 구분</a:t>
            </a:r>
          </a:p>
          <a:p xmlns:a="http://schemas.openxmlformats.org/drawingml/2006/main">
            <a:r>
              <a:t>실패 위험: 계절·부하에 따른 기준선 변화 / 안전 한계를 넓힐 때의 제어 위험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"AX05",</a:t>
            </a:r>
          </a:p>
          <a:p xmlns:a="http://schemas.openxmlformats.org/drawingml/2006/main">
            <a:r>
              <a:t>    "title": "Google 데이터센터 냉각",</a:t>
            </a:r>
          </a:p>
          <a:p xmlns:a="http://schemas.openxmlformats.org/drawingml/2006/main">
            <a:r>
              <a:t>    "region": "해외",</a:t>
            </a:r>
          </a:p>
          <a:p xmlns:a="http://schemas.openxmlformats.org/drawingml/2006/main">
            <a:r>
              <a:t>    "country": "미국",</a:t>
            </a:r>
          </a:p>
          <a:p xmlns:a="http://schemas.openxmlformats.org/drawingml/2006/main">
            <a:r>
              <a:t>    "result": "성공",</a:t>
            </a:r>
          </a:p>
          <a:p xmlns:a="http://schemas.openxmlformats.org/drawingml/2006/main">
            <a:r>
              <a:t>    "kind": "AI 기반 운영 최적화",</a:t>
            </a:r>
          </a:p>
          <a:p xmlns:a="http://schemas.openxmlformats.org/drawingml/2006/main">
            <a:r>
              <a:t>    "period": "2018 운영 발표",</a:t>
            </a:r>
          </a:p>
          <a:p xmlns:a="http://schemas.openxmlformats.org/drawingml/2006/main">
            <a:r>
              <a:t>    "sources": [</a:t>
            </a:r>
          </a:p>
          <a:p xmlns:a="http://schemas.openxmlformats.org/drawingml/2006/main">
            <a:r>
              <a:t>      "S05"</a:t>
            </a:r>
          </a:p>
          <a:p xmlns:a="http://schemas.openxmlformats.org/drawingml/2006/main">
            <a:r>
              <a:t>    ],</a:t>
            </a:r>
          </a:p>
          <a:p xmlns:a="http://schemas.openxmlformats.org/drawingml/2006/main">
            <a:r>
              <a:t>    "keywords": [</a:t>
            </a:r>
          </a:p>
          <a:p xmlns:a="http://schemas.openxmlformats.org/drawingml/2006/main">
            <a:r>
              <a:t>      "에너지",</a:t>
            </a:r>
          </a:p>
          <a:p xmlns:a="http://schemas.openxmlformats.org/drawingml/2006/main">
            <a:r>
              <a:t>      "친환경",</a:t>
            </a:r>
          </a:p>
          <a:p xmlns:a="http://schemas.openxmlformats.org/drawingml/2006/main">
            <a:r>
              <a:t>      "안전 제약",</a:t>
            </a:r>
          </a:p>
          <a:p xmlns:a="http://schemas.openxmlformats.org/drawingml/2006/main">
            <a:r>
              <a:t>      "운영"</a:t>
            </a:r>
          </a:p>
          <a:p xmlns:a="http://schemas.openxmlformats.org/drawingml/2006/main">
            <a:r>
              <a:t>    ],</a:t>
            </a:r>
          </a:p>
          <a:p xmlns:a="http://schemas.openxmlformats.org/drawingml/2006/main">
            <a:r>
              <a:t>    "fact": "운영사 보고 기준 냉각 효율 지표(kW/ton)의 과거 기준 대비 약 30% 개선",</a:t>
            </a:r>
          </a:p>
          <a:p xmlns:a="http://schemas.openxmlformats.org/drawingml/2006/main">
            <a:r>
              <a:t>    "limit": "데이터센터 냉각 한정 · 총 전력·탄소·TS 절감률과 구분",</a:t>
            </a:r>
          </a:p>
          <a:p xmlns:a="http://schemas.openxmlformats.org/drawingml/2006/main">
            <a:r>
              <a:t>    "flow": [</a:t>
            </a:r>
          </a:p>
          <a:p xmlns:a="http://schemas.openxmlformats.org/drawingml/2006/main">
            <a:r>
              <a:t>      "센서 상태",</a:t>
            </a:r>
          </a:p>
          <a:p xmlns:a="http://schemas.openxmlformats.org/drawingml/2006/main">
            <a:r>
              <a:t>      "소비 예측",</a:t>
            </a:r>
          </a:p>
          <a:p xmlns:a="http://schemas.openxmlformats.org/drawingml/2006/main">
            <a:r>
              <a:t>      "안전 제약 확인",</a:t>
            </a:r>
          </a:p>
          <a:p xmlns:a="http://schemas.openxmlformats.org/drawingml/2006/main">
            <a:r>
              <a:t>      "현장 재검증·제어"</a:t>
            </a:r>
          </a:p>
          <a:p xmlns:a="http://schemas.openxmlformats.org/drawingml/2006/main">
            <a:r>
              <a:t>    ],</a:t>
            </a:r>
          </a:p>
          <a:p xmlns:a="http://schemas.openxmlformats.org/drawingml/2006/main">
            <a:r>
              <a:t>    "flowBasis": "공개 기술 구조 요약 · 운영자 수동 전환 포함",</a:t>
            </a:r>
          </a:p>
          <a:p xmlns:a="http://schemas.openxmlformats.org/drawingml/2006/main">
            <a:r>
              <a:t>    "lesson": "추천과 실행 사이의 이중 검증 및 운영자 통제",</a:t>
            </a:r>
          </a:p>
          <a:p xmlns:a="http://schemas.openxmlformats.org/drawingml/2006/main">
            <a:r>
              <a:t>    "local": "TS 탄소·에너지 근거 검증과 운행 개선 권고부터 적용",</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"원천·배출계수 판본 대사 / 계산 검증 / 권고 승인 / 계측",</a:t>
            </a:r>
          </a:p>
          <a:p xmlns:a="http://schemas.openxmlformats.org/drawingml/2006/main">
            <a:r>
              <a:t>    "test": "계수·단위·경계조건별 재계산 및 이상 입력 시 권고 보류",</a:t>
            </a:r>
          </a:p>
          <a:p xmlns:a="http://schemas.openxmlformats.org/drawingml/2006/main">
            <a:r>
              <a:t>    "metric": "검증된 활동량당 에너지 / 산식 오류율"</a:t>
            </a:r>
          </a:p>
          <a:p xmlns:a="http://schemas.openxmlformats.org/drawingml/2006/main">
            <a:r>
              <a:t>  },</a:t>
            </a:r>
          </a:p>
          <a:p xmlns:a="http://schemas.openxmlformats.org/drawingml/2006/main">
            <a:r>
              <a:t>  "design": {</a:t>
            </a:r>
          </a:p>
          <a:p xmlns:a="http://schemas.openxmlformats.org/drawingml/2006/main">
            <a:r>
              <a:t>    "id": "AX05",</a:t>
            </a:r>
          </a:p>
          <a:p xmlns:a="http://schemas.openxmlformats.org/drawingml/2006/main">
            <a:r>
              <a:t>    "canonicalId": "AX05",</a:t>
            </a:r>
          </a:p>
          <a:p xmlns:a="http://schemas.openxmlformats.org/drawingml/2006/main">
            <a:r>
              <a:t>    "purpose": "냉각 설비의 에너지 효율과 안전 제약 결합",</a:t>
            </a:r>
          </a:p>
          <a:p xmlns:a="http://schemas.openxmlformats.org/drawingml/2006/main">
            <a:r>
              <a:t>    "users": "설비 운영자·제어 담당자",</a:t>
            </a:r>
          </a:p>
          <a:p xmlns:a="http://schemas.openxmlformats.org/drawingml/2006/main">
            <a:r>
              <a:t>    "scope": [</a:t>
            </a:r>
          </a:p>
          <a:p xmlns:a="http://schemas.openxmlformats.org/drawingml/2006/main">
            <a:r>
              <a:t>      "상태 예측",</a:t>
            </a:r>
          </a:p>
          <a:p xmlns:a="http://schemas.openxmlformats.org/drawingml/2006/main">
            <a:r>
              <a:t>      "권고 검증",</a:t>
            </a:r>
          </a:p>
          <a:p xmlns:a="http://schemas.openxmlformats.org/drawingml/2006/main">
            <a:r>
              <a:t>      "현장 제어"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"냉각 센서",</a:t>
            </a:r>
          </a:p>
          <a:p xmlns:a="http://schemas.openxmlformats.org/drawingml/2006/main">
            <a:r>
              <a:t>        "detail": "센서 상태·운영 제약 수집",</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"상태 예측 / 권고 검증 / 현장 제어",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"예측·제약 최적화",</a:t>
            </a:r>
          </a:p>
          <a:p xmlns:a="http://schemas.openxmlformats.org/drawingml/2006/main">
            <a:r>
              <a:t>        "detail": "소비 예측과 허용 제어값 후보 산출",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"현장 제어기·운영자",</a:t>
            </a:r>
          </a:p>
          <a:p xmlns:a="http://schemas.openxmlformats.org/drawingml/2006/main">
            <a:r>
              <a:t>        "detail": "클라우드 검증 후 현장 제어계의 재검증",</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"센서 이력·안전 경계",</a:t>
            </a:r>
          </a:p>
          <a:p xmlns:a="http://schemas.openxmlformats.org/drawingml/2006/main">
            <a:r>
              <a:t>        "detail": "시계열 센서·운전 상태·제약조건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"운영자 수동 전환 및 제어 결과의 다음 주기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"센서 상태",</a:t>
            </a:r>
          </a:p>
          <a:p xmlns:a="http://schemas.openxmlformats.org/drawingml/2006/main">
            <a:r>
              <a:t>        "input": "센서 상태·운영 제약 수집",</a:t>
            </a:r>
          </a:p>
          <a:p xmlns:a="http://schemas.openxmlformats.org/drawingml/2006/main">
            <a:r>
              <a:t>        "process": "시계열 센서·운전 상태·제약조건 정리",</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"title": "소비 예측",</a:t>
            </a:r>
          </a:p>
          <a:p xmlns:a="http://schemas.openxmlformats.org/drawingml/2006/main">
            <a:r>
              <a:t>        "input": "센서 스냅샷",</a:t>
            </a:r>
          </a:p>
          <a:p xmlns:a="http://schemas.openxmlformats.org/drawingml/2006/main">
            <a:r>
              <a:t>        "process": "소비 예측과 허용 제어값 후보 산출",</a:t>
            </a:r>
          </a:p>
          <a:p xmlns:a="http://schemas.openxmlformats.org/drawingml/2006/main">
            <a:r>
              <a:t>        "output": "행동별 소비 예측"</a:t>
            </a:r>
          </a:p>
          <a:p xmlns:a="http://schemas.openxmlformats.org/drawingml/2006/main">
            <a:r>
              <a:t>      },</a:t>
            </a:r>
          </a:p>
          <a:p xmlns:a="http://schemas.openxmlformats.org/drawingml/2006/main">
            <a:r>
              <a:t>      {</a:t>
            </a:r>
          </a:p>
          <a:p xmlns:a="http://schemas.openxmlformats.org/drawingml/2006/main">
            <a:r>
              <a:t>        "title": "안전 제약 확인",</a:t>
            </a:r>
          </a:p>
          <a:p xmlns:a="http://schemas.openxmlformats.org/drawingml/2006/main">
            <a:r>
              <a:t>        "input": "행동별 소비 예측",</a:t>
            </a:r>
          </a:p>
          <a:p xmlns:a="http://schemas.openxmlformats.org/drawingml/2006/main">
            <a:r>
              <a:t>        "process": "현장 독립 검증·수동 전환",</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"title": "현장 재검증·제어",</a:t>
            </a:r>
          </a:p>
          <a:p xmlns:a="http://schemas.openxmlformats.org/drawingml/2006/main">
            <a:r>
              <a:t>        "input": "안전 조건 충족 명령",</a:t>
            </a:r>
          </a:p>
          <a:p xmlns:a="http://schemas.openxmlformats.org/drawingml/2006/main">
            <a:r>
              <a:t>        "process":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"현재 운전상태에서 허용범위 내 냉각 제어값 산출",</a:t>
            </a:r>
          </a:p>
          <a:p xmlns:a="http://schemas.openxmlformats.org/drawingml/2006/main">
            <a:r>
              <a:t>      "exception": "센서 결측·제어값 한계 초과·현장 검증 거부",</a:t>
            </a:r>
          </a:p>
          <a:p xmlns:a="http://schemas.openxmlformats.org/drawingml/2006/main">
            <a:r>
              <a:t>      "evidence": "제약별 통과/보류 결과와 수동 전환·제어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"설비 운영자·제어 담당자",</a:t>
            </a:r>
          </a:p>
          <a:p xmlns:a="http://schemas.openxmlformats.org/drawingml/2006/main">
            <a:r>
              <a:t>          "processing": "센서 상태·운영 제약 수집",</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"센서 이력·안전 경계",</a:t>
            </a:r>
          </a:p>
          <a:p xmlns:a="http://schemas.openxmlformats.org/drawingml/2006/main">
            <a:r>
              <a:t>          "processing": "시계열 센서·운전 상태·제약조건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"센서 스냅샷",</a:t>
            </a:r>
          </a:p>
          <a:p xmlns:a="http://schemas.openxmlformats.org/drawingml/2006/main">
            <a:r>
              <a:t>          "processing": "소비 예측과 허용 제어값 후보 산출",</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"안전 조건 충족 명령",</a:t>
            </a:r>
          </a:p>
          <a:p xmlns:a="http://schemas.openxmlformats.org/drawingml/2006/main">
            <a:r>
              <a:t>          "processing":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"운영자 수동 전환 및 제어 결과의 다음 주기 반영",</a:t>
            </a:r>
          </a:p>
          <a:p xmlns:a="http://schemas.openxmlformats.org/drawingml/2006/main">
            <a:r>
              <a:t>          "output": "제약별 통과/보류 결과와 수동 전환·제어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"운영자 수동 전환 및 제어 결과의 다음 주기 반영",</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"S05",</a:t>
            </a:r>
          </a:p>
          <a:p xmlns:a="http://schemas.openxmlformats.org/drawingml/2006/main">
            <a:r>
              <a:t>        "title": "Google DeepMind · 데이터센터 냉각 제어",</a:t>
            </a:r>
          </a:p>
          <a:p xmlns:a="http://schemas.openxmlformats.org/drawingml/2006/main">
            <a:r>
              <a:t>        "url": "https://deepmind.google/blog/safety-first-ai-for-autonomous-data-centre-cooling-and-industrial-control/",</a:t>
            </a:r>
          </a:p>
          <a:p xmlns:a="http://schemas.openxmlformats.org/drawingml/2006/main">
            <a:r>
              <a:t>        "published": "2018-08-17",</a:t>
            </a:r>
          </a:p>
          <a:p xmlns:a="http://schemas.openxmlformats.org/drawingml/2006/main">
            <a:r>
              <a:t>        "level": "운영·개발사 발표",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"추천과 실행 사이의 이중 검증 및 운영자 통제",</a:t>
            </a:r>
          </a:p>
          <a:p xmlns:a="http://schemas.openxmlformats.org/drawingml/2006/main">
            <a:r>
              <a:t>    "local": "TS 탄소·에너지 근거 검증과 운행 개선 권고부터 적용",</a:t>
            </a:r>
          </a:p>
          <a:p xmlns:a="http://schemas.openxmlformats.org/drawingml/2006/main">
            <a:r>
              <a:t>    "sourceDetail": null,</a:t>
            </a:r>
          </a:p>
          <a:p xmlns:a="http://schemas.openxmlformats.org/drawingml/2006/main">
            <a:r>
              <a:t>    "narrative": [</a:t>
            </a:r>
          </a:p>
          <a:p xmlns:a="http://schemas.openxmlformats.org/drawingml/2006/main">
            <a:r>
              <a:t>      "데이터센터 냉각의 전력 효율과 설비 안전을 함께 다룬 제어 사례. 예측 결과를 화면에 보여주는 단계에서 실제 제어에 연결할 때 필요한 독립 안전검증이 핵심.",</a:t>
            </a:r>
          </a:p>
          <a:p xmlns:a="http://schemas.openxmlformats.org/drawingml/2006/main">
            <a:r>
              <a:t>      "센서 상태에서 제어 후보를 예측한 뒤 클라우드 측 검증과 현장 제어계 검증을 거쳐 실행하는 공개 구조. 운영자의 수동 전환과 허용 경계를 별도 계층으로 유지하고 실행 결과를 다음 주기 입력에 반영.",</a:t>
            </a:r>
          </a:p>
          <a:p xmlns:a="http://schemas.openxmlformats.org/drawingml/2006/main">
            <a:r>
              <a:t>      "TS 시설·장비 업무에 적용할 경우 AI 권고와 현장 실행 승인을 분리할 근거. 에너지 기준선은 계절·부하로 나누고, 센서 누락·경계 초과·통신 장애 시 안전 상태와 수동 복귀를 먼저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"냉각 상태 입력",</a:t>
            </a:r>
          </a:p>
          <a:p xmlns:a="http://schemas.openxmlformats.org/drawingml/2006/main">
            <a:r>
              <a:t>          "layer": "이용 접점",</a:t>
            </a:r>
          </a:p>
          <a:p xmlns:a="http://schemas.openxmlformats.org/drawingml/2006/main">
            <a:r>
              <a:t>          "detail": "설비 운영자·제어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"운전·안전 경계",</a:t>
            </a:r>
          </a:p>
          <a:p xmlns:a="http://schemas.openxmlformats.org/drawingml/2006/main">
            <a:r>
              <a:t>          "layer": "업무 문맥",</a:t>
            </a:r>
          </a:p>
          <a:p xmlns:a="http://schemas.openxmlformats.org/drawingml/2006/main">
            <a:r>
              <a:t>          "detail": "센서 상태·운영 제약 수집",</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"센서 이력 조회",</a:t>
            </a:r>
          </a:p>
          <a:p xmlns:a="http://schemas.openxmlformats.org/drawingml/2006/main">
            <a:r>
              <a:t>          "layer": "자료 조회",</a:t>
            </a:r>
          </a:p>
          <a:p xmlns:a="http://schemas.openxmlformats.org/drawingml/2006/main">
            <a:r>
              <a:t>          "detail": "센서 스냅샷",</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"소비·제어값 예측",</a:t>
            </a:r>
          </a:p>
          <a:p xmlns:a="http://schemas.openxmlformats.org/drawingml/2006/main">
            <a:r>
              <a:t>          "layer": "핵심 처리",</a:t>
            </a:r>
          </a:p>
          <a:p xmlns:a="http://schemas.openxmlformats.org/drawingml/2006/main">
            <a:r>
              <a:t>          "detail": "소비 예측과 허용 제어값 후보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"클라우드 안전검증",</a:t>
            </a:r>
          </a:p>
          <a:p xmlns:a="http://schemas.openxmlformats.org/drawingml/2006/main">
            <a:r>
              <a:t>          "layer": "결과 검증",</a:t>
            </a:r>
          </a:p>
          <a:p xmlns:a="http://schemas.openxmlformats.org/drawingml/2006/main">
            <a:r>
              <a:t>          "detail": "현장 독립 검증·수동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독립 검증",</a:t>
            </a:r>
          </a:p>
          <a:p xmlns:a="http://schemas.openxmlformats.org/drawingml/2006/main">
            <a:r>
              <a:t>          "layer": "사람 확인",</a:t>
            </a:r>
          </a:p>
          <a:p xmlns:a="http://schemas.openxmlformats.org/drawingml/2006/main">
            <a:r>
              <a:t>          "detail": "현재 운전상태에서 허용범위 내 냉각 제어값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"제어·수동 전환",</a:t>
            </a:r>
          </a:p>
          <a:p xmlns:a="http://schemas.openxmlformats.org/drawingml/2006/main">
            <a:r>
              <a:t>          "layer": "업무 연결",</a:t>
            </a:r>
          </a:p>
          <a:p xmlns:a="http://schemas.openxmlformats.org/drawingml/2006/main">
            <a:r>
              <a:t>          "detail": "클라우드 검증 후 현장 제어계의 재검증",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"다음 주기 환류",</a:t>
            </a:r>
          </a:p>
          <a:p xmlns:a="http://schemas.openxmlformats.org/drawingml/2006/main">
            <a:r>
              <a:t>          "layer": "운영 관측",</a:t>
            </a:r>
          </a:p>
          <a:p xmlns:a="http://schemas.openxmlformats.org/drawingml/2006/main">
            <a:r>
              <a:t>          "detail": "운영자 수동 전환 및 제어 결과의 다음 주기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"센서·운전 자료",</a:t>
            </a:r>
          </a:p>
          <a:p xmlns:a="http://schemas.openxmlformats.org/drawingml/2006/main">
            <a:r>
              <a:t>          "layer": "데이터 원천",</a:t>
            </a:r>
          </a:p>
          <a:p xmlns:a="http://schemas.openxmlformats.org/drawingml/2006/main">
            <a:r>
              <a:t>          "detail": "센서 이력·안전 경계",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"시각·결측 정리",</a:t>
            </a:r>
          </a:p>
          <a:p xmlns:a="http://schemas.openxmlformats.org/drawingml/2006/main">
            <a:r>
              <a:t>          "layer": "준비·갱신",</a:t>
            </a:r>
          </a:p>
          <a:p xmlns:a="http://schemas.openxmlformats.org/drawingml/2006/main">
            <a:r>
              <a:t>          "detail": "시계열 센서·운전 상태·제약조건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"상태·명령 이력",</a:t>
            </a:r>
          </a:p>
          <a:p xmlns:a="http://schemas.openxmlformats.org/drawingml/2006/main">
            <a:r>
              <a:t>          "layer": "상태·지식 저장",</a:t>
            </a:r>
          </a:p>
          <a:p xmlns:a="http://schemas.openxmlformats.org/drawingml/2006/main">
            <a:r>
              <a:t>          "detail": "제약별 통과/보류 결과와 수동 전환·제어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"제어 허용경계",</a:t>
            </a:r>
          </a:p>
          <a:p xmlns:a="http://schemas.openxmlformats.org/drawingml/2006/main">
            <a:r>
              <a:t>          "layer": "권한·정책",</a:t>
            </a:r>
          </a:p>
          <a:p xmlns:a="http://schemas.openxmlformats.org/drawingml/2006/main">
            <a:r>
              <a:t>          "detail": "센서 결측·제어값 한계 초과·현장 검증 거부",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"센서 상태 → 소비 예측 → 안전 제약 확인 → 현장 재검증·제어"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"센서 이력·안전 경계",</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"안전 조건 충족 명령",</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"제어 허용경계",</a:t>
            </a:r>
          </a:p>
          <a:p xmlns:a="http://schemas.openxmlformats.org/drawingml/2006/main">
            <a:r>
              <a:t>          "check": "현장 독립 검증·수동 전환"</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"현장 검증·실행",</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"운영자 수동 전환 및 제어 결과의 다음 주기 반영",</a:t>
            </a:r>
          </a:p>
          <a:p xmlns:a="http://schemas.openxmlformats.org/drawingml/2006/main">
            <a:r>
              <a:t>          "check": "운영자 수동 전환 및 제어 결과의 다음 주기 반영"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"DeepMind 2018-08-17 안전 제어 설명",</a:t>
            </a:r>
          </a:p>
          <a:p xmlns:a="http://schemas.openxmlformats.org/drawingml/2006/main">
            <a:r>
              <a:t>        "extracted": "클라우드와 현장 제어의 독립 안전검증·수동 전환",</a:t>
            </a:r>
          </a:p>
          <a:p xmlns:a="http://schemas.openxmlformats.org/drawingml/2006/main">
            <a:r>
              <a:t>        "extension": "누락 센서·경계 초과·수동 전환의 실패 재현"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"AX05",</a:t>
            </a:r>
          </a:p>
          <a:p xmlns:a="http://schemas.openxmlformats.org/drawingml/2006/main">
            <a:r>
              <a:t>          "path": "assets/casebook-sources/AX05-01.png",</a:t>
            </a:r>
          </a:p>
          <a:p xmlns:a="http://schemas.openxmlformats.org/drawingml/2006/main">
            <a:r>
              <a:t>          "title": "냉각 설비 센서 상태 수집",</a:t>
            </a:r>
          </a:p>
          <a:p xmlns:a="http://schemas.openxmlformats.org/drawingml/2006/main">
            <a:r>
              <a:t>          "status": "DeepMind 공식 단계 그림 1/4",</a:t>
            </a:r>
          </a:p>
          <a:p xmlns:a="http://schemas.openxmlformats.org/drawingml/2006/main">
            <a:r>
              <a:t>          "caption": "5분마다 현장 센서의 냉각 상태 스냅샷 수집",</a:t>
            </a:r>
          </a:p>
          <a:p xmlns:a="http://schemas.openxmlformats.org/drawingml/2006/main">
            <a:r>
              <a:t>          "locator": "Google DeepMind 2018-08-17 / How it works 1",</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"ec28de3ccf82f230a92ff87c048ed311f0c890ebcbd9dae1882ec8a20aabd999",</a:t>
            </a:r>
          </a:p>
          <a:p xmlns:a="http://schemas.openxmlformats.org/drawingml/2006/main">
            <a:r>
              <a:t>          "explanation": {</a:t>
            </a:r>
          </a:p>
          <a:p xmlns:a="http://schemas.openxmlformats.org/drawingml/2006/main">
            <a:r>
              <a:t>            "read": "DeepMind 공식 설명의 첫 단계. 약 5분 주기로 수천 개 센서에서 냉각 설비 상태의 스냅샷을 클라우드 AI에 전달한다. 그림은 데이터 수집 경로를 보여 주며, 센서 품질검사 방식이나 실제 제어망 구성은 공개하지 않는다.",</a:t>
            </a:r>
          </a:p>
          <a:p xmlns:a="http://schemas.openxmlformats.org/drawingml/2006/main">
            <a:r>
              <a:t>            "requirements": [],</a:t>
            </a:r>
          </a:p>
          <a:p xmlns:a="http://schemas.openxmlformats.org/drawingml/2006/main">
            <a:r>
              <a:t>            "connection": "TS 적용에서는 센서·설비 ID·관측시각을 먼저 대사하고 결측·지연 데이터는 제어 후보 산출에서 제외하는 입력 계약이 필요하다."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"assets/casebook-sources/AX05-02.png",</a:t>
            </a:r>
          </a:p>
          <a:p xmlns:a="http://schemas.openxmlformats.org/drawingml/2006/main">
            <a:r>
              <a:t>          "title": "신경망 예측 단계",</a:t>
            </a:r>
          </a:p>
          <a:p xmlns:a="http://schemas.openxmlformats.org/drawingml/2006/main">
            <a:r>
              <a:t>          "status": "DeepMind 공식 단계 그림 2/4",</a:t>
            </a:r>
          </a:p>
          <a:p xmlns:a="http://schemas.openxmlformats.org/drawingml/2006/main">
            <a:r>
              <a:t>          "caption": "제어 후보별 미래 효율과 온도 예측",</a:t>
            </a:r>
          </a:p>
          <a:p xmlns:a="http://schemas.openxmlformats.org/drawingml/2006/main">
            <a:r>
              <a:t>          "locator": "Google DeepMind 2018-08-17 / How it works 2",</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"3d8852c2f9db075137fc3460ddef99acb193c4b77268f159fca9100379123d6a",</a:t>
            </a:r>
          </a:p>
          <a:p xmlns:a="http://schemas.openxmlformats.org/drawingml/2006/main">
            <a:r>
              <a:t>          "explanation": {</a:t>
            </a:r>
          </a:p>
          <a:p xmlns:a="http://schemas.openxmlformats.org/drawingml/2006/main">
            <a:r>
              <a:t>            "read": "센서 상태를 신경망에 투입해 후보 제어가 향후 에너지 효율과 온도에 미칠 영향을 예측하는 두 번째 단계. 이 그림 자체는 특정 모델의 내부 구조나 학습 데이터의 전체 구성을 설명하지 않는다.",</a:t>
            </a:r>
          </a:p>
          <a:p xmlns:a="http://schemas.openxmlformats.org/drawingml/2006/main">
            <a:r>
              <a:t>            "requirements": [],</a:t>
            </a:r>
          </a:p>
          <a:p xmlns:a="http://schemas.openxmlformats.org/drawingml/2006/main">
            <a:r>
              <a:t>            "connection": "TS의 실시간 안전 사례에 적용한다면 예측값·불확실성·적용시각을 함께 기록해 권고 결과와 이후 실제 관측의 차이를 평가해야 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"assets/casebook-sources/AX05-03.png",</a:t>
            </a:r>
          </a:p>
          <a:p xmlns:a="http://schemas.openxmlformats.org/drawingml/2006/main">
            <a:r>
              <a:t>          "title": "안전 제약 내 제어 후보 선정",</a:t>
            </a:r>
          </a:p>
          <a:p xmlns:a="http://schemas.openxmlformats.org/drawingml/2006/main">
            <a:r>
              <a:t>          "status": "DeepMind 공식 단계 그림 3/4",</a:t>
            </a:r>
          </a:p>
          <a:p xmlns:a="http://schemas.openxmlformats.org/drawingml/2006/main">
            <a:r>
              <a:t>          "caption": "안전 제약을 만족하는 후보 중 에너지 소비 최소화",</a:t>
            </a:r>
          </a:p>
          <a:p xmlns:a="http://schemas.openxmlformats.org/drawingml/2006/main">
            <a:r>
              <a:t>          "locator": "Google DeepMind 2018-08-17 / How it works 3",</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"74083db5c1f1d687580f9bb3accbd06dceaac4b89bc5d41222f4f1c1842d43c5",</a:t>
            </a:r>
          </a:p>
          <a:p xmlns:a="http://schemas.openxmlformats.org/drawingml/2006/main">
            <a:r>
              <a:t>          "explanation": {</a:t>
            </a:r>
          </a:p>
          <a:p xmlns:a="http://schemas.openxmlformats.org/drawingml/2006/main">
            <a:r>
              <a:t>            "read": "예측된 후보 중 안전 제약을 만족하면서 에너지 소비를 줄일 수 있는 조치를 선택하는 단계. 공개 설명은 후보 선정 후 클라우드 측 안전 검증을 거친다고 명시하며, 제약의 전체 수치와 규칙은 공개하지 않는다.",</a:t>
            </a:r>
          </a:p>
          <a:p xmlns:a="http://schemas.openxmlformats.org/drawingml/2006/main">
            <a:r>
              <a:t>            "requirements": [],</a:t>
            </a:r>
          </a:p>
          <a:p xmlns:a="http://schemas.openxmlformats.org/drawingml/2006/main">
            <a:r>
              <a:t>            "connection": "TS에서는 최적화 점수와 필수 안전 조건을 분리해 검수하고, 안전 경계 위반 후보는 효율이 높더라도 채택하지 않는 통제 규칙으로 전환한다."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"assets/casebook-sources/AX05-04.png",</a:t>
            </a:r>
          </a:p>
          <a:p xmlns:a="http://schemas.openxmlformats.org/drawingml/2006/main">
            <a:r>
              <a:t>          "title": "현장 제어계 독립 검증",</a:t>
            </a:r>
          </a:p>
          <a:p xmlns:a="http://schemas.openxmlformats.org/drawingml/2006/main">
            <a:r>
              <a:t>          "status": "DeepMind 공식 단계 그림 4/4",</a:t>
            </a:r>
          </a:p>
          <a:p xmlns:a="http://schemas.openxmlformats.org/drawingml/2006/main">
            <a:r>
              <a:t>          "caption": "현장 제어계가 별도 안전 제약을 확인한 뒤 실행",</a:t>
            </a:r>
          </a:p>
          <a:p xmlns:a="http://schemas.openxmlformats.org/drawingml/2006/main">
            <a:r>
              <a:t>          "locator": "Google DeepMind 2018-08-17 / How it works 4",</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"9e8e418c7a75ef3dc171194ebed38921f65c8c95e29c188fa170a4705d834d27",</a:t>
            </a:r>
          </a:p>
          <a:p xmlns:a="http://schemas.openxmlformats.org/drawingml/2006/main">
            <a:r>
              <a:t>          "explanation": {</a:t>
            </a:r>
          </a:p>
          <a:p xmlns:a="http://schemas.openxmlformats.org/drawingml/2006/main">
            <a:r>
              <a:t>            "read": "선정된 조치를 현장 제어계에 보내고, 현장 시스템이 자체 안전 제약으로 다시 확인한 뒤 실행하는 마지막 단계. 운영자는 AI 제어 모드에서 언제든 이탈할 수 있다. 원문은 매 제어 단계마다 사람의 승인을 필수로 요구하지 않는다.",</a:t>
            </a:r>
          </a:p>
          <a:p xmlns:a="http://schemas.openxmlformats.org/drawingml/2006/main">
            <a:r>
              <a:t>            "requirements": [],</a:t>
            </a:r>
          </a:p>
          <a:p xmlns:a="http://schemas.openxmlformats.org/drawingml/2006/main">
            <a:r>
              <a:t>            "connection": "TS의 안전·설비 적용에서는 현장 독립 검증, 제어 거부, 수동 전환의 기록을 분리하고 통신 장애 시 기존 제어 규칙으로 복귀하는 시험을 설계한다."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"센서 결측·제어값 한계 초과·현장 검증 거부",</a:t>
            </a:r>
          </a:p>
          <a:p xmlns:a="http://schemas.openxmlformats.org/drawingml/2006/main">
            <a:r>
              <a:t>        "hold": "현장 독립 검증·수동 전환",</a:t>
            </a:r>
          </a:p>
          <a:p xmlns:a="http://schemas.openxmlformats.org/drawingml/2006/main">
            <a:r>
              <a:t>        "recovery": "운영자 수동 전환 및 제어 결과의 다음 주기 반영",</a:t>
            </a:r>
          </a:p>
          <a:p xmlns:a="http://schemas.openxmlformats.org/drawingml/2006/main">
            <a:r>
              <a:t>        "evidence": "제약별 통과/보류 결과와 수동 전환·제어 이력"</a:t>
            </a:r>
          </a:p>
          <a:p xmlns:a="http://schemas.openxmlformats.org/drawingml/2006/main">
            <a:r>
              <a:t>      },</a:t>
            </a:r>
          </a:p>
          <a:p xmlns:a="http://schemas.openxmlformats.org/drawingml/2006/main">
            <a:r>
              <a:t>      "data": {</a:t>
            </a:r>
          </a:p>
          <a:p xmlns:a="http://schemas.openxmlformats.org/drawingml/2006/main">
            <a:r>
              <a:t>        "source": "센서 이력·안전 경계",</a:t>
            </a:r>
          </a:p>
          <a:p xmlns:a="http://schemas.openxmlformats.org/drawingml/2006/main">
            <a:r>
              <a:t>        "prepare": "시계열 센서·운전 상태·제약조건 정리",</a:t>
            </a:r>
          </a:p>
          <a:p xmlns:a="http://schemas.openxmlformats.org/drawingml/2006/main">
            <a:r>
              <a:t>        "output": "센서 스냅샷",</a:t>
            </a:r>
          </a:p>
          <a:p xmlns:a="http://schemas.openxmlformats.org/drawingml/2006/main">
            <a:r>
              <a:t>        "refresh": "운영자 수동 전환 및 제어 결과의 다음 주기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"AX05",</a:t>
            </a:r>
          </a:p>
          <a:p xmlns:a="http://schemas.openxmlformats.org/drawingml/2006/main">
            <a:r>
              <a:t>    "success": [</a:t>
            </a:r>
          </a:p>
          <a:p xmlns:a="http://schemas.openxmlformats.org/drawingml/2006/main">
            <a:r>
              <a:t>      "클라우드·현장 제어의 이중 안전검증",</a:t>
            </a:r>
          </a:p>
          <a:p xmlns:a="http://schemas.openxmlformats.org/drawingml/2006/main">
            <a:r>
              <a:t>      "운영자 수동 전환과 불확실성 제한"</a:t>
            </a:r>
          </a:p>
          <a:p xmlns:a="http://schemas.openxmlformats.org/drawingml/2006/main">
            <a:r>
              <a:t>    ],</a:t>
            </a:r>
          </a:p>
          <a:p xmlns:a="http://schemas.openxmlformats.org/drawingml/2006/main">
            <a:r>
              <a:t>    "risks": [</a:t>
            </a:r>
          </a:p>
          <a:p xmlns:a="http://schemas.openxmlformats.org/drawingml/2006/main">
            <a:r>
              <a:t>      "계절·부하에 따른 기준선 변화",</a:t>
            </a:r>
          </a:p>
          <a:p xmlns:a="http://schemas.openxmlformats.org/drawingml/2006/main">
            <a:r>
              <a:t>      "안전 한계를 넓힐 때의 제어 위험"</a:t>
            </a:r>
          </a:p>
          <a:p xmlns:a="http://schemas.openxmlformats.org/drawingml/2006/main">
            <a:r>
              <a:t>    ],</a:t>
            </a:r>
          </a:p>
          <a:p xmlns:a="http://schemas.openxmlformats.org/drawingml/2006/main">
            <a:r>
              <a:t>    "architecture": [</a:t>
            </a:r>
          </a:p>
          <a:p xmlns:a="http://schemas.openxmlformats.org/drawingml/2006/main">
            <a:r>
              <a:t>      "냉각 센서",</a:t>
            </a:r>
          </a:p>
          <a:p xmlns:a="http://schemas.openxmlformats.org/drawingml/2006/main">
            <a:r>
              <a:t>      "예측·제약 최적화",</a:t>
            </a:r>
          </a:p>
          <a:p xmlns:a="http://schemas.openxmlformats.org/drawingml/2006/main">
            <a:r>
              <a:t>      "센서 이력·안전 경계",</a:t>
            </a:r>
          </a:p>
          <a:p xmlns:a="http://schemas.openxmlformats.org/drawingml/2006/main">
            <a:r>
              <a:t>      "현장 제어기·운영자"</a:t>
            </a:r>
          </a:p>
          <a:p xmlns:a="http://schemas.openxmlformats.org/drawingml/2006/main">
            <a:r>
              <a:t>    ],</a:t>
            </a:r>
          </a:p>
          <a:p xmlns:a="http://schemas.openxmlformats.org/drawingml/2006/main">
            <a:r>
              <a:t>    "transfers": [</a:t>
            </a:r>
          </a:p>
          <a:p xmlns:a="http://schemas.openxmlformats.org/drawingml/2006/main">
            <a:r>
              <a:t>      "센서 스냅샷",</a:t>
            </a:r>
          </a:p>
          <a:p xmlns:a="http://schemas.openxmlformats.org/drawingml/2006/main">
            <a:r>
              <a:t>      "행동별 소비 예측",</a:t>
            </a:r>
          </a:p>
          <a:p xmlns:a="http://schemas.openxmlformats.org/drawingml/2006/main">
            <a:r>
              <a:t>      "안전 조건 충족 명령",</a:t>
            </a:r>
          </a:p>
          <a:p xmlns:a="http://schemas.openxmlformats.org/drawingml/2006/main">
            <a:r>
              <a:t>      "현장 검증·실행"</a:t>
            </a:r>
          </a:p>
          <a:p xmlns:a="http://schemas.openxmlformats.org/drawingml/2006/main">
            <a:r>
              <a:t>    ],</a:t>
            </a:r>
          </a:p>
          <a:p xmlns:a="http://schemas.openxmlformats.org/drawingml/2006/main">
            <a:r>
              <a:t>    "control": "현장 독립 검증·수동 전환",</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"DeepMind 안전 제어 구조 · 2018-08-17",</a:t>
            </a:r>
          </a:p>
          <a:p xmlns:a="http://schemas.openxmlformats.org/drawingml/2006/main">
            <a:r>
              <a:t>      "url": "https://deepmind.google/blog/safety-first-ai-for-autonomous-data-centre-cooling-and-industrial-control/"</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DeepMind · 데이터센터 냉각 제어 https://deepmind.google/blog/safety-first-ai-for-autonomous-data-centre-cooling-and-industrial-control/</a:t>
            </a:r>
          </a:p>
          <a:p xmlns:a="http://schemas.openxmlformats.org/drawingml/2006/main">
            <a:r>
              <a:t>홈페이지 https://heen1987-ops.github.io/TS-business-Plan-001/index.html?view=casebook&amp;case=AX05</a:t>
            </a:r>
          </a:p>
          <a:p xmlns:a="http://schemas.openxmlformats.org/drawingml/2006/main">
            <a:r>
              <a:t>성과 대조</a:t>
            </a:r>
          </a:p>
          <a:p xmlns:a="http://schemas.openxmlformats.org/drawingml/2006/main">
            <a:r>
              <a:t>{</a:t>
            </a:r>
          </a:p>
          <a:p xmlns:a="http://schemas.openxmlformats.org/drawingml/2006/main">
            <a:r>
              <a:t>  "caseId": "AX05",</a:t>
            </a:r>
          </a:p>
          <a:p xmlns:a="http://schemas.openxmlformats.org/drawingml/2006/main">
            <a:r>
              <a:t>  "asIs": "데이터센터 냉각 설정을 운영자가 수동 조정하고 AI 권고 적용에 지속 개입",</a:t>
            </a:r>
          </a:p>
          <a:p xmlns:a="http://schemas.openxmlformats.org/drawingml/2006/main">
            <a:r>
              <a:t>  "toBe": "센서 예측·클라우드 안전 제약·현장 재검증을 통과한 냉각 제어 자동화",</a:t>
            </a:r>
          </a:p>
          <a:p xmlns:a="http://schemas.openxmlformats.org/drawingml/2006/main">
            <a:r>
              <a:t>  "expectedEffect": "냉각 효율 개선과 안전한 운영 부담 경감",</a:t>
            </a:r>
          </a:p>
          <a:p xmlns:a="http://schemas.openxmlformats.org/drawingml/2006/main">
            <a:r>
              <a:t>  "observed": "운영·개발사 발표에서 과거 기준 대비 냉각 효율 지표(kW/ton) 약 30% 개선과 이중 안전 제약 공개",</a:t>
            </a:r>
          </a:p>
          <a:p xmlns:a="http://schemas.openxmlformats.org/drawingml/2006/main">
            <a:r>
              <a:t>  "verdict": "성과 확인",</a:t>
            </a:r>
          </a:p>
          <a:p xmlns:a="http://schemas.openxmlformats.org/drawingml/2006/main">
            <a:r>
              <a:t>  "verdictReason": "운영 시스템과 해당 냉각 지표의 개선이 운영사 자료에 함께 제시됨",</a:t>
            </a:r>
          </a:p>
          <a:p xmlns:a="http://schemas.openxmlformats.org/drawingml/2006/main">
            <a:r>
              <a:t>  "limits": "공급·운영사 발표의 특정 시설·지표 기준. 총 전력·탄소·다른 산업시설 절감률 아님",</a:t>
            </a:r>
          </a:p>
          <a:p xmlns:a="http://schemas.openxmlformats.org/drawingml/2006/main">
            <a:r>
              <a:t>  "metric": "냉각 효율 지표(kW/ton) 약 30% 개선: 운영사 과거 기준 대비",</a:t>
            </a:r>
          </a:p>
          <a:p xmlns:a="http://schemas.openxmlformats.org/drawingml/2006/main">
            <a:r>
              <a:t>  "evidenceStage": "운영·개발사 기술 공개 및 원문 도식",</a:t>
            </a:r>
          </a:p>
          <a:p xmlns:a="http://schemas.openxmlformats.org/drawingml/2006/main">
            <a:r>
              <a:t>  "sourceUrl": "https://deepmind.google/blog/safety-first-ai-for-autonomous-data-centre-cooling-and-industrial-control/"</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"AX05",</a:t>
            </a:r>
          </a:p>
          <a:p xmlns:a="http://schemas.openxmlformats.org/drawingml/2006/main">
            <a:r>
              <a:t>    "title": "Google 데이터센터 냉각",</a:t>
            </a:r>
          </a:p>
          <a:p xmlns:a="http://schemas.openxmlformats.org/drawingml/2006/main">
            <a:r>
              <a:t>    "region": "해외",</a:t>
            </a:r>
          </a:p>
          <a:p xmlns:a="http://schemas.openxmlformats.org/drawingml/2006/main">
            <a:r>
              <a:t>    "country": "미국",</a:t>
            </a:r>
          </a:p>
          <a:p xmlns:a="http://schemas.openxmlformats.org/drawingml/2006/main">
            <a:r>
              <a:t>    "result": "성공",</a:t>
            </a:r>
          </a:p>
          <a:p xmlns:a="http://schemas.openxmlformats.org/drawingml/2006/main">
            <a:r>
              <a:t>    "kind": "AI 기반 운영 최적화",</a:t>
            </a:r>
          </a:p>
          <a:p xmlns:a="http://schemas.openxmlformats.org/drawingml/2006/main">
            <a:r>
              <a:t>    "period": "2018 운영 발표",</a:t>
            </a:r>
          </a:p>
          <a:p xmlns:a="http://schemas.openxmlformats.org/drawingml/2006/main">
            <a:r>
              <a:t>    "sources": [</a:t>
            </a:r>
          </a:p>
          <a:p xmlns:a="http://schemas.openxmlformats.org/drawingml/2006/main">
            <a:r>
              <a:t>      "S05"</a:t>
            </a:r>
          </a:p>
          <a:p xmlns:a="http://schemas.openxmlformats.org/drawingml/2006/main">
            <a:r>
              <a:t>    ],</a:t>
            </a:r>
          </a:p>
          <a:p xmlns:a="http://schemas.openxmlformats.org/drawingml/2006/main">
            <a:r>
              <a:t>    "keywords": [</a:t>
            </a:r>
          </a:p>
          <a:p xmlns:a="http://schemas.openxmlformats.org/drawingml/2006/main">
            <a:r>
              <a:t>      "에너지",</a:t>
            </a:r>
          </a:p>
          <a:p xmlns:a="http://schemas.openxmlformats.org/drawingml/2006/main">
            <a:r>
              <a:t>      "친환경",</a:t>
            </a:r>
          </a:p>
          <a:p xmlns:a="http://schemas.openxmlformats.org/drawingml/2006/main">
            <a:r>
              <a:t>      "안전 제약",</a:t>
            </a:r>
          </a:p>
          <a:p xmlns:a="http://schemas.openxmlformats.org/drawingml/2006/main">
            <a:r>
              <a:t>      "운영"</a:t>
            </a:r>
          </a:p>
          <a:p xmlns:a="http://schemas.openxmlformats.org/drawingml/2006/main">
            <a:r>
              <a:t>    ],</a:t>
            </a:r>
          </a:p>
          <a:p xmlns:a="http://schemas.openxmlformats.org/drawingml/2006/main">
            <a:r>
              <a:t>    "fact": "운영사 보고 기준 냉각 효율 지표(kW/ton)의 과거 기준 대비 약 30% 개선",</a:t>
            </a:r>
          </a:p>
          <a:p xmlns:a="http://schemas.openxmlformats.org/drawingml/2006/main">
            <a:r>
              <a:t>    "limit": "데이터센터 냉각 한정 · 총 전력·탄소·TS 절감률과 구분",</a:t>
            </a:r>
          </a:p>
          <a:p xmlns:a="http://schemas.openxmlformats.org/drawingml/2006/main">
            <a:r>
              <a:t>    "flow": [</a:t>
            </a:r>
          </a:p>
          <a:p xmlns:a="http://schemas.openxmlformats.org/drawingml/2006/main">
            <a:r>
              <a:t>      "센서 상태",</a:t>
            </a:r>
          </a:p>
          <a:p xmlns:a="http://schemas.openxmlformats.org/drawingml/2006/main">
            <a:r>
              <a:t>      "소비 예측",</a:t>
            </a:r>
          </a:p>
          <a:p xmlns:a="http://schemas.openxmlformats.org/drawingml/2006/main">
            <a:r>
              <a:t>      "안전 제약 확인",</a:t>
            </a:r>
          </a:p>
          <a:p xmlns:a="http://schemas.openxmlformats.org/drawingml/2006/main">
            <a:r>
              <a:t>      "현장 재검증·제어"</a:t>
            </a:r>
          </a:p>
          <a:p xmlns:a="http://schemas.openxmlformats.org/drawingml/2006/main">
            <a:r>
              <a:t>    ],</a:t>
            </a:r>
          </a:p>
          <a:p xmlns:a="http://schemas.openxmlformats.org/drawingml/2006/main">
            <a:r>
              <a:t>    "flowBasis": "공개 기술 구조 요약 · 운영자 수동 전환 포함",</a:t>
            </a:r>
          </a:p>
          <a:p xmlns:a="http://schemas.openxmlformats.org/drawingml/2006/main">
            <a:r>
              <a:t>    "lesson": "추천과 실행 사이의 이중 검증 및 운영자 통제",</a:t>
            </a:r>
          </a:p>
          <a:p xmlns:a="http://schemas.openxmlformats.org/drawingml/2006/main">
            <a:r>
              <a:t>    "local": "TS 탄소·에너지 근거 검증과 운행 개선 권고부터 적용",</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"원천·배출계수 판본 대사 / 계산 검증 / 권고 승인 / 계측",</a:t>
            </a:r>
          </a:p>
          <a:p xmlns:a="http://schemas.openxmlformats.org/drawingml/2006/main">
            <a:r>
              <a:t>    "test": "계수·단위·경계조건별 재계산 및 이상 입력 시 권고 보류",</a:t>
            </a:r>
          </a:p>
          <a:p xmlns:a="http://schemas.openxmlformats.org/drawingml/2006/main">
            <a:r>
              <a:t>    "metric": "검증된 활동량당 에너지 / 산식 오류율"</a:t>
            </a:r>
          </a:p>
          <a:p xmlns:a="http://schemas.openxmlformats.org/drawingml/2006/main">
            <a:r>
              <a:t>  },</a:t>
            </a:r>
          </a:p>
          <a:p xmlns:a="http://schemas.openxmlformats.org/drawingml/2006/main">
            <a:r>
              <a:t>  "design": {</a:t>
            </a:r>
          </a:p>
          <a:p xmlns:a="http://schemas.openxmlformats.org/drawingml/2006/main">
            <a:r>
              <a:t>    "id": "AX05",</a:t>
            </a:r>
          </a:p>
          <a:p xmlns:a="http://schemas.openxmlformats.org/drawingml/2006/main">
            <a:r>
              <a:t>    "canonicalId": "AX05",</a:t>
            </a:r>
          </a:p>
          <a:p xmlns:a="http://schemas.openxmlformats.org/drawingml/2006/main">
            <a:r>
              <a:t>    "purpose": "냉각 설비의 에너지 효율과 안전 제약 결합",</a:t>
            </a:r>
          </a:p>
          <a:p xmlns:a="http://schemas.openxmlformats.org/drawingml/2006/main">
            <a:r>
              <a:t>    "users": "설비 운영자·제어 담당자",</a:t>
            </a:r>
          </a:p>
          <a:p xmlns:a="http://schemas.openxmlformats.org/drawingml/2006/main">
            <a:r>
              <a:t>    "scope": [</a:t>
            </a:r>
          </a:p>
          <a:p xmlns:a="http://schemas.openxmlformats.org/drawingml/2006/main">
            <a:r>
              <a:t>      "상태 예측",</a:t>
            </a:r>
          </a:p>
          <a:p xmlns:a="http://schemas.openxmlformats.org/drawingml/2006/main">
            <a:r>
              <a:t>      "권고 검증",</a:t>
            </a:r>
          </a:p>
          <a:p xmlns:a="http://schemas.openxmlformats.org/drawingml/2006/main">
            <a:r>
              <a:t>      "현장 제어"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"냉각 센서",</a:t>
            </a:r>
          </a:p>
          <a:p xmlns:a="http://schemas.openxmlformats.org/drawingml/2006/main">
            <a:r>
              <a:t>        "detail": "센서 상태·운영 제약 수집",</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"상태 예측 / 권고 검증 / 현장 제어",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"예측·제약 최적화",</a:t>
            </a:r>
          </a:p>
          <a:p xmlns:a="http://schemas.openxmlformats.org/drawingml/2006/main">
            <a:r>
              <a:t>        "detail": "소비 예측과 허용 제어값 후보 산출",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"현장 제어기·운영자",</a:t>
            </a:r>
          </a:p>
          <a:p xmlns:a="http://schemas.openxmlformats.org/drawingml/2006/main">
            <a:r>
              <a:t>        "detail": "클라우드 검증 후 현장 제어계의 재검증",</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"센서 이력·안전 경계",</a:t>
            </a:r>
          </a:p>
          <a:p xmlns:a="http://schemas.openxmlformats.org/drawingml/2006/main">
            <a:r>
              <a:t>        "detail": "시계열 센서·운전 상태·제약조건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"운영자 수동 전환 및 제어 결과의 다음 주기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"센서 상태",</a:t>
            </a:r>
          </a:p>
          <a:p xmlns:a="http://schemas.openxmlformats.org/drawingml/2006/main">
            <a:r>
              <a:t>        "input": "센서 상태·운영 제약 수집",</a:t>
            </a:r>
          </a:p>
          <a:p xmlns:a="http://schemas.openxmlformats.org/drawingml/2006/main">
            <a:r>
              <a:t>        "process": "시계열 센서·운전 상태·제약조건 정리",</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"title": "소비 예측",</a:t>
            </a:r>
          </a:p>
          <a:p xmlns:a="http://schemas.openxmlformats.org/drawingml/2006/main">
            <a:r>
              <a:t>        "input": "센서 스냅샷",</a:t>
            </a:r>
          </a:p>
          <a:p xmlns:a="http://schemas.openxmlformats.org/drawingml/2006/main">
            <a:r>
              <a:t>        "process": "소비 예측과 허용 제어값 후보 산출",</a:t>
            </a:r>
          </a:p>
          <a:p xmlns:a="http://schemas.openxmlformats.org/drawingml/2006/main">
            <a:r>
              <a:t>        "output": "행동별 소비 예측"</a:t>
            </a:r>
          </a:p>
          <a:p xmlns:a="http://schemas.openxmlformats.org/drawingml/2006/main">
            <a:r>
              <a:t>      },</a:t>
            </a:r>
          </a:p>
          <a:p xmlns:a="http://schemas.openxmlformats.org/drawingml/2006/main">
            <a:r>
              <a:t>      {</a:t>
            </a:r>
          </a:p>
          <a:p xmlns:a="http://schemas.openxmlformats.org/drawingml/2006/main">
            <a:r>
              <a:t>        "title": "안전 제약 확인",</a:t>
            </a:r>
          </a:p>
          <a:p xmlns:a="http://schemas.openxmlformats.org/drawingml/2006/main">
            <a:r>
              <a:t>        "input": "행동별 소비 예측",</a:t>
            </a:r>
          </a:p>
          <a:p xmlns:a="http://schemas.openxmlformats.org/drawingml/2006/main">
            <a:r>
              <a:t>        "process": "현장 독립 검증·수동 전환",</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"title": "현장 재검증·제어",</a:t>
            </a:r>
          </a:p>
          <a:p xmlns:a="http://schemas.openxmlformats.org/drawingml/2006/main">
            <a:r>
              <a:t>        "input": "안전 조건 충족 명령",</a:t>
            </a:r>
          </a:p>
          <a:p xmlns:a="http://schemas.openxmlformats.org/drawingml/2006/main">
            <a:r>
              <a:t>        "process":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"현재 운전상태에서 허용범위 내 냉각 제어값 산출",</a:t>
            </a:r>
          </a:p>
          <a:p xmlns:a="http://schemas.openxmlformats.org/drawingml/2006/main">
            <a:r>
              <a:t>      "exception": "센서 결측·제어값 한계 초과·현장 검증 거부",</a:t>
            </a:r>
          </a:p>
          <a:p xmlns:a="http://schemas.openxmlformats.org/drawingml/2006/main">
            <a:r>
              <a:t>      "evidence": "제약별 통과/보류 결과와 수동 전환·제어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"설비 운영자·제어 담당자",</a:t>
            </a:r>
          </a:p>
          <a:p xmlns:a="http://schemas.openxmlformats.org/drawingml/2006/main">
            <a:r>
              <a:t>          "processing": "센서 상태·운영 제약 수집",</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"센서 이력·안전 경계",</a:t>
            </a:r>
          </a:p>
          <a:p xmlns:a="http://schemas.openxmlformats.org/drawingml/2006/main">
            <a:r>
              <a:t>          "processing": "시계열 센서·운전 상태·제약조건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"센서 스냅샷",</a:t>
            </a:r>
          </a:p>
          <a:p xmlns:a="http://schemas.openxmlformats.org/drawingml/2006/main">
            <a:r>
              <a:t>          "processing": "소비 예측과 허용 제어값 후보 산출",</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"안전 조건 충족 명령",</a:t>
            </a:r>
          </a:p>
          <a:p xmlns:a="http://schemas.openxmlformats.org/drawingml/2006/main">
            <a:r>
              <a:t>          "processing":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"운영자 수동 전환 및 제어 결과의 다음 주기 반영",</a:t>
            </a:r>
          </a:p>
          <a:p xmlns:a="http://schemas.openxmlformats.org/drawingml/2006/main">
            <a:r>
              <a:t>          "output": "제약별 통과/보류 결과와 수동 전환·제어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"운영자 수동 전환 및 제어 결과의 다음 주기 반영",</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"S05",</a:t>
            </a:r>
          </a:p>
          <a:p xmlns:a="http://schemas.openxmlformats.org/drawingml/2006/main">
            <a:r>
              <a:t>        "title": "Google DeepMind · 데이터센터 냉각 제어",</a:t>
            </a:r>
          </a:p>
          <a:p xmlns:a="http://schemas.openxmlformats.org/drawingml/2006/main">
            <a:r>
              <a:t>        "url": "https://deepmind.google/blog/safety-first-ai-for-autonomous-data-centre-cooling-and-industrial-control/",</a:t>
            </a:r>
          </a:p>
          <a:p xmlns:a="http://schemas.openxmlformats.org/drawingml/2006/main">
            <a:r>
              <a:t>        "published": "2018-08-17",</a:t>
            </a:r>
          </a:p>
          <a:p xmlns:a="http://schemas.openxmlformats.org/drawingml/2006/main">
            <a:r>
              <a:t>        "level": "운영·개발사 발표",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"추천과 실행 사이의 이중 검증 및 운영자 통제",</a:t>
            </a:r>
          </a:p>
          <a:p xmlns:a="http://schemas.openxmlformats.org/drawingml/2006/main">
            <a:r>
              <a:t>    "local": "TS 탄소·에너지 근거 검증과 운행 개선 권고부터 적용",</a:t>
            </a:r>
          </a:p>
          <a:p xmlns:a="http://schemas.openxmlformats.org/drawingml/2006/main">
            <a:r>
              <a:t>    "sourceDetail": null,</a:t>
            </a:r>
          </a:p>
          <a:p xmlns:a="http://schemas.openxmlformats.org/drawingml/2006/main">
            <a:r>
              <a:t>    "narrative": [</a:t>
            </a:r>
          </a:p>
          <a:p xmlns:a="http://schemas.openxmlformats.org/drawingml/2006/main">
            <a:r>
              <a:t>      "데이터센터 냉각의 전력 효율과 설비 안전을 함께 다룬 제어 사례. 예측 결과를 화면에 보여주는 단계에서 실제 제어에 연결할 때 필요한 독립 안전검증이 핵심.",</a:t>
            </a:r>
          </a:p>
          <a:p xmlns:a="http://schemas.openxmlformats.org/drawingml/2006/main">
            <a:r>
              <a:t>      "센서 상태에서 제어 후보를 예측한 뒤 클라우드 측 검증과 현장 제어계 검증을 거쳐 실행하는 공개 구조. 운영자의 수동 전환과 허용 경계를 별도 계층으로 유지하고 실행 결과를 다음 주기 입력에 반영.",</a:t>
            </a:r>
          </a:p>
          <a:p xmlns:a="http://schemas.openxmlformats.org/drawingml/2006/main">
            <a:r>
              <a:t>      "TS 시설·장비 업무에 적용할 경우 AI 권고와 현장 실행 승인을 분리할 근거. 에너지 기준선은 계절·부하로 나누고, 센서 누락·경계 초과·통신 장애 시 안전 상태와 수동 복귀를 먼저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"냉각 상태 입력",</a:t>
            </a:r>
          </a:p>
          <a:p xmlns:a="http://schemas.openxmlformats.org/drawingml/2006/main">
            <a:r>
              <a:t>          "layer": "이용 접점",</a:t>
            </a:r>
          </a:p>
          <a:p xmlns:a="http://schemas.openxmlformats.org/drawingml/2006/main">
            <a:r>
              <a:t>          "detail": "설비 운영자·제어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"운전·안전 경계",</a:t>
            </a:r>
          </a:p>
          <a:p xmlns:a="http://schemas.openxmlformats.org/drawingml/2006/main">
            <a:r>
              <a:t>          "layer": "업무 문맥",</a:t>
            </a:r>
          </a:p>
          <a:p xmlns:a="http://schemas.openxmlformats.org/drawingml/2006/main">
            <a:r>
              <a:t>          "detail": "센서 상태·운영 제약 수집",</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"센서 이력 조회",</a:t>
            </a:r>
          </a:p>
          <a:p xmlns:a="http://schemas.openxmlformats.org/drawingml/2006/main">
            <a:r>
              <a:t>          "layer": "자료 조회",</a:t>
            </a:r>
          </a:p>
          <a:p xmlns:a="http://schemas.openxmlformats.org/drawingml/2006/main">
            <a:r>
              <a:t>          "detail": "센서 스냅샷",</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"소비·제어값 예측",</a:t>
            </a:r>
          </a:p>
          <a:p xmlns:a="http://schemas.openxmlformats.org/drawingml/2006/main">
            <a:r>
              <a:t>          "layer": "핵심 처리",</a:t>
            </a:r>
          </a:p>
          <a:p xmlns:a="http://schemas.openxmlformats.org/drawingml/2006/main">
            <a:r>
              <a:t>          "detail": "소비 예측과 허용 제어값 후보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"클라우드 안전검증",</a:t>
            </a:r>
          </a:p>
          <a:p xmlns:a="http://schemas.openxmlformats.org/drawingml/2006/main">
            <a:r>
              <a:t>          "layer": "결과 검증",</a:t>
            </a:r>
          </a:p>
          <a:p xmlns:a="http://schemas.openxmlformats.org/drawingml/2006/main">
            <a:r>
              <a:t>          "detail": "현장 독립 검증·수동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독립 검증",</a:t>
            </a:r>
          </a:p>
          <a:p xmlns:a="http://schemas.openxmlformats.org/drawingml/2006/main">
            <a:r>
              <a:t>          "layer": "사람 확인",</a:t>
            </a:r>
          </a:p>
          <a:p xmlns:a="http://schemas.openxmlformats.org/drawingml/2006/main">
            <a:r>
              <a:t>          "detail": "현재 운전상태에서 허용범위 내 냉각 제어값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"제어·수동 전환",</a:t>
            </a:r>
          </a:p>
          <a:p xmlns:a="http://schemas.openxmlformats.org/drawingml/2006/main">
            <a:r>
              <a:t>          "layer": "업무 연결",</a:t>
            </a:r>
          </a:p>
          <a:p xmlns:a="http://schemas.openxmlformats.org/drawingml/2006/main">
            <a:r>
              <a:t>          "detail": "클라우드 검증 후 현장 제어계의 재검증",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"다음 주기 환류",</a:t>
            </a:r>
          </a:p>
          <a:p xmlns:a="http://schemas.openxmlformats.org/drawingml/2006/main">
            <a:r>
              <a:t>          "layer": "운영 관측",</a:t>
            </a:r>
          </a:p>
          <a:p xmlns:a="http://schemas.openxmlformats.org/drawingml/2006/main">
            <a:r>
              <a:t>          "detail": "운영자 수동 전환 및 제어 결과의 다음 주기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"센서·운전 자료",</a:t>
            </a:r>
          </a:p>
          <a:p xmlns:a="http://schemas.openxmlformats.org/drawingml/2006/main">
            <a:r>
              <a:t>          "layer": "데이터 원천",</a:t>
            </a:r>
          </a:p>
          <a:p xmlns:a="http://schemas.openxmlformats.org/drawingml/2006/main">
            <a:r>
              <a:t>          "detail": "센서 이력·안전 경계",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"시각·결측 정리",</a:t>
            </a:r>
          </a:p>
          <a:p xmlns:a="http://schemas.openxmlformats.org/drawingml/2006/main">
            <a:r>
              <a:t>          "layer": "준비·갱신",</a:t>
            </a:r>
          </a:p>
          <a:p xmlns:a="http://schemas.openxmlformats.org/drawingml/2006/main">
            <a:r>
              <a:t>          "detail": "시계열 센서·운전 상태·제약조건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"상태·명령 이력",</a:t>
            </a:r>
          </a:p>
          <a:p xmlns:a="http://schemas.openxmlformats.org/drawingml/2006/main">
            <a:r>
              <a:t>          "layer": "상태·지식 저장",</a:t>
            </a:r>
          </a:p>
          <a:p xmlns:a="http://schemas.openxmlformats.org/drawingml/2006/main">
            <a:r>
              <a:t>          "detail": "제약별 통과/보류 결과와 수동 전환·제어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"제어 허용경계",</a:t>
            </a:r>
          </a:p>
          <a:p xmlns:a="http://schemas.openxmlformats.org/drawingml/2006/main">
            <a:r>
              <a:t>          "layer": "권한·정책",</a:t>
            </a:r>
          </a:p>
          <a:p xmlns:a="http://schemas.openxmlformats.org/drawingml/2006/main">
            <a:r>
              <a:t>          "detail": "센서 결측·제어값 한계 초과·현장 검증 거부",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"센서 상태 → 소비 예측 → 안전 제약 확인 → 현장 재검증·제어"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"센서 이력·안전 경계",</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"안전 조건 충족 명령",</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"제어 허용경계",</a:t>
            </a:r>
          </a:p>
          <a:p xmlns:a="http://schemas.openxmlformats.org/drawingml/2006/main">
            <a:r>
              <a:t>          "check": "현장 독립 검증·수동 전환"</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"현장 검증·실행",</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"운영자 수동 전환 및 제어 결과의 다음 주기 반영",</a:t>
            </a:r>
          </a:p>
          <a:p xmlns:a="http://schemas.openxmlformats.org/drawingml/2006/main">
            <a:r>
              <a:t>          "check": "운영자 수동 전환 및 제어 결과의 다음 주기 반영"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"DeepMind 2018-08-17 안전 제어 설명",</a:t>
            </a:r>
          </a:p>
          <a:p xmlns:a="http://schemas.openxmlformats.org/drawingml/2006/main">
            <a:r>
              <a:t>        "extracted": "클라우드와 현장 제어의 독립 안전검증·수동 전환",</a:t>
            </a:r>
          </a:p>
          <a:p xmlns:a="http://schemas.openxmlformats.org/drawingml/2006/main">
            <a:r>
              <a:t>        "extension": "누락 센서·경계 초과·수동 전환의 실패 재현"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"AX05",</a:t>
            </a:r>
          </a:p>
          <a:p xmlns:a="http://schemas.openxmlformats.org/drawingml/2006/main">
            <a:r>
              <a:t>          "path": "assets/casebook-sources/AX05-01.png",</a:t>
            </a:r>
          </a:p>
          <a:p xmlns:a="http://schemas.openxmlformats.org/drawingml/2006/main">
            <a:r>
              <a:t>          "title": "냉각 설비 센서 상태 수집",</a:t>
            </a:r>
          </a:p>
          <a:p xmlns:a="http://schemas.openxmlformats.org/drawingml/2006/main">
            <a:r>
              <a:t>          "status": "DeepMind 공식 단계 그림 1/4",</a:t>
            </a:r>
          </a:p>
          <a:p xmlns:a="http://schemas.openxmlformats.org/drawingml/2006/main">
            <a:r>
              <a:t>          "caption": "5분마다 현장 센서의 냉각 상태 스냅샷 수집",</a:t>
            </a:r>
          </a:p>
          <a:p xmlns:a="http://schemas.openxmlformats.org/drawingml/2006/main">
            <a:r>
              <a:t>          "locator": "Google DeepMind 2018-08-17 / How it works 1",</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"ec28de3ccf82f230a92ff87c048ed311f0c890ebcbd9dae1882ec8a20aabd999",</a:t>
            </a:r>
          </a:p>
          <a:p xmlns:a="http://schemas.openxmlformats.org/drawingml/2006/main">
            <a:r>
              <a:t>          "explanation": {</a:t>
            </a:r>
          </a:p>
          <a:p xmlns:a="http://schemas.openxmlformats.org/drawingml/2006/main">
            <a:r>
              <a:t>            "read": "DeepMind 공식 설명의 첫 단계. 약 5분 주기로 수천 개 센서에서 냉각 설비 상태의 스냅샷을 클라우드 AI에 전달한다. 그림은 데이터 수집 경로를 보여 주며, 센서 품질검사 방식이나 실제 제어망 구성은 공개하지 않는다.",</a:t>
            </a:r>
          </a:p>
          <a:p xmlns:a="http://schemas.openxmlformats.org/drawingml/2006/main">
            <a:r>
              <a:t>            "requirements": [],</a:t>
            </a:r>
          </a:p>
          <a:p xmlns:a="http://schemas.openxmlformats.org/drawingml/2006/main">
            <a:r>
              <a:t>            "connection": "TS 적용에서는 센서·설비 ID·관측시각을 먼저 대사하고 결측·지연 데이터는 제어 후보 산출에서 제외하는 입력 계약이 필요하다."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"assets/casebook-sources/AX05-02.png",</a:t>
            </a:r>
          </a:p>
          <a:p xmlns:a="http://schemas.openxmlformats.org/drawingml/2006/main">
            <a:r>
              <a:t>          "title": "신경망 예측 단계",</a:t>
            </a:r>
          </a:p>
          <a:p xmlns:a="http://schemas.openxmlformats.org/drawingml/2006/main">
            <a:r>
              <a:t>          "status": "DeepMind 공식 단계 그림 2/4",</a:t>
            </a:r>
          </a:p>
          <a:p xmlns:a="http://schemas.openxmlformats.org/drawingml/2006/main">
            <a:r>
              <a:t>          "caption": "제어 후보별 미래 효율과 온도 예측",</a:t>
            </a:r>
          </a:p>
          <a:p xmlns:a="http://schemas.openxmlformats.org/drawingml/2006/main">
            <a:r>
              <a:t>          "locator": "Google DeepMind 2018-08-17 / How it works 2",</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"3d8852c2f9db075137fc3460ddef99acb193c4b77268f159fca9100379123d6a",</a:t>
            </a:r>
          </a:p>
          <a:p xmlns:a="http://schemas.openxmlformats.org/drawingml/2006/main">
            <a:r>
              <a:t>          "explanation": {</a:t>
            </a:r>
          </a:p>
          <a:p xmlns:a="http://schemas.openxmlformats.org/drawingml/2006/main">
            <a:r>
              <a:t>            "read": "센서 상태를 신경망에 투입해 후보 제어가 향후 에너지 효율과 온도에 미칠 영향을 예측하는 두 번째 단계. 이 그림 자체는 특정 모델의 내부 구조나 학습 데이터의 전체 구성을 설명하지 않는다.",</a:t>
            </a:r>
          </a:p>
          <a:p xmlns:a="http://schemas.openxmlformats.org/drawingml/2006/main">
            <a:r>
              <a:t>            "requirements": [],</a:t>
            </a:r>
          </a:p>
          <a:p xmlns:a="http://schemas.openxmlformats.org/drawingml/2006/main">
            <a:r>
              <a:t>            "connection": "TS의 실시간 안전 사례에 적용한다면 예측값·불확실성·적용시각을 함께 기록해 권고 결과와 이후 실제 관측의 차이를 평가해야 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"assets/casebook-sources/AX05-03.png",</a:t>
            </a:r>
          </a:p>
          <a:p xmlns:a="http://schemas.openxmlformats.org/drawingml/2006/main">
            <a:r>
              <a:t>          "title": "안전 제약 내 제어 후보 선정",</a:t>
            </a:r>
          </a:p>
          <a:p xmlns:a="http://schemas.openxmlformats.org/drawingml/2006/main">
            <a:r>
              <a:t>          "status": "DeepMind 공식 단계 그림 3/4",</a:t>
            </a:r>
          </a:p>
          <a:p xmlns:a="http://schemas.openxmlformats.org/drawingml/2006/main">
            <a:r>
              <a:t>          "caption": "안전 제약을 만족하는 후보 중 에너지 소비 최소화",</a:t>
            </a:r>
          </a:p>
          <a:p xmlns:a="http://schemas.openxmlformats.org/drawingml/2006/main">
            <a:r>
              <a:t>          "locator": "Google DeepMind 2018-08-17 / How it works 3",</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"74083db5c1f1d687580f9bb3accbd06dceaac4b89bc5d41222f4f1c1842d43c5",</a:t>
            </a:r>
          </a:p>
          <a:p xmlns:a="http://schemas.openxmlformats.org/drawingml/2006/main">
            <a:r>
              <a:t>          "explanation": {</a:t>
            </a:r>
          </a:p>
          <a:p xmlns:a="http://schemas.openxmlformats.org/drawingml/2006/main">
            <a:r>
              <a:t>            "read": "예측된 후보 중 안전 제약을 만족하면서 에너지 소비를 줄일 수 있는 조치를 선택하는 단계. 공개 설명은 후보 선정 후 클라우드 측 안전 검증을 거친다고 명시하며, 제약의 전체 수치와 규칙은 공개하지 않는다.",</a:t>
            </a:r>
          </a:p>
          <a:p xmlns:a="http://schemas.openxmlformats.org/drawingml/2006/main">
            <a:r>
              <a:t>            "requirements": [],</a:t>
            </a:r>
          </a:p>
          <a:p xmlns:a="http://schemas.openxmlformats.org/drawingml/2006/main">
            <a:r>
              <a:t>            "connection": "TS에서는 최적화 점수와 필수 안전 조건을 분리해 검수하고, 안전 경계 위반 후보는 효율이 높더라도 채택하지 않는 통제 규칙으로 전환한다."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"assets/casebook-sources/AX05-04.png",</a:t>
            </a:r>
          </a:p>
          <a:p xmlns:a="http://schemas.openxmlformats.org/drawingml/2006/main">
            <a:r>
              <a:t>          "title": "현장 제어계 독립 검증",</a:t>
            </a:r>
          </a:p>
          <a:p xmlns:a="http://schemas.openxmlformats.org/drawingml/2006/main">
            <a:r>
              <a:t>          "status": "DeepMind 공식 단계 그림 4/4",</a:t>
            </a:r>
          </a:p>
          <a:p xmlns:a="http://schemas.openxmlformats.org/drawingml/2006/main">
            <a:r>
              <a:t>          "caption": "현장 제어계가 별도 안전 제약을 확인한 뒤 실행",</a:t>
            </a:r>
          </a:p>
          <a:p xmlns:a="http://schemas.openxmlformats.org/drawingml/2006/main">
            <a:r>
              <a:t>          "locator": "Google DeepMind 2018-08-17 / How it works 4",</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"9e8e418c7a75ef3dc171194ebed38921f65c8c95e29c188fa170a4705d834d27",</a:t>
            </a:r>
          </a:p>
          <a:p xmlns:a="http://schemas.openxmlformats.org/drawingml/2006/main">
            <a:r>
              <a:t>          "explanation": {</a:t>
            </a:r>
          </a:p>
          <a:p xmlns:a="http://schemas.openxmlformats.org/drawingml/2006/main">
            <a:r>
              <a:t>            "read": "선정된 조치를 현장 제어계에 보내고, 현장 시스템이 자체 안전 제약으로 다시 확인한 뒤 실행하는 마지막 단계. 운영자는 AI 제어 모드에서 언제든 이탈할 수 있다. 원문은 매 제어 단계마다 사람의 승인을 필수로 요구하지 않는다.",</a:t>
            </a:r>
          </a:p>
          <a:p xmlns:a="http://schemas.openxmlformats.org/drawingml/2006/main">
            <a:r>
              <a:t>            "requirements": [],</a:t>
            </a:r>
          </a:p>
          <a:p xmlns:a="http://schemas.openxmlformats.org/drawingml/2006/main">
            <a:r>
              <a:t>            "connection": "TS의 안전·설비 적용에서는 현장 독립 검증, 제어 거부, 수동 전환의 기록을 분리하고 통신 장애 시 기존 제어 규칙으로 복귀하는 시험을 설계한다."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"센서 결측·제어값 한계 초과·현장 검증 거부",</a:t>
            </a:r>
          </a:p>
          <a:p xmlns:a="http://schemas.openxmlformats.org/drawingml/2006/main">
            <a:r>
              <a:t>        "hold": "현장 독립 검증·수동 전환",</a:t>
            </a:r>
          </a:p>
          <a:p xmlns:a="http://schemas.openxmlformats.org/drawingml/2006/main">
            <a:r>
              <a:t>        "recovery": "운영자 수동 전환 및 제어 결과의 다음 주기 반영",</a:t>
            </a:r>
          </a:p>
          <a:p xmlns:a="http://schemas.openxmlformats.org/drawingml/2006/main">
            <a:r>
              <a:t>        "evidence": "제약별 통과/보류 결과와 수동 전환·제어 이력"</a:t>
            </a:r>
          </a:p>
          <a:p xmlns:a="http://schemas.openxmlformats.org/drawingml/2006/main">
            <a:r>
              <a:t>      },</a:t>
            </a:r>
          </a:p>
          <a:p xmlns:a="http://schemas.openxmlformats.org/drawingml/2006/main">
            <a:r>
              <a:t>      "data": {</a:t>
            </a:r>
          </a:p>
          <a:p xmlns:a="http://schemas.openxmlformats.org/drawingml/2006/main">
            <a:r>
              <a:t>        "source": "센서 이력·안전 경계",</a:t>
            </a:r>
          </a:p>
          <a:p xmlns:a="http://schemas.openxmlformats.org/drawingml/2006/main">
            <a:r>
              <a:t>        "prepare": "시계열 센서·운전 상태·제약조건 정리",</a:t>
            </a:r>
          </a:p>
          <a:p xmlns:a="http://schemas.openxmlformats.org/drawingml/2006/main">
            <a:r>
              <a:t>        "output": "센서 스냅샷",</a:t>
            </a:r>
          </a:p>
          <a:p xmlns:a="http://schemas.openxmlformats.org/drawingml/2006/main">
            <a:r>
              <a:t>        "refresh": "운영자 수동 전환 및 제어 결과의 다음 주기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"AX05",</a:t>
            </a:r>
          </a:p>
          <a:p xmlns:a="http://schemas.openxmlformats.org/drawingml/2006/main">
            <a:r>
              <a:t>    "success": [</a:t>
            </a:r>
          </a:p>
          <a:p xmlns:a="http://schemas.openxmlformats.org/drawingml/2006/main">
            <a:r>
              <a:t>      "클라우드·현장 제어의 이중 안전검증",</a:t>
            </a:r>
          </a:p>
          <a:p xmlns:a="http://schemas.openxmlformats.org/drawingml/2006/main">
            <a:r>
              <a:t>      "운영자 수동 전환과 불확실성 제한"</a:t>
            </a:r>
          </a:p>
          <a:p xmlns:a="http://schemas.openxmlformats.org/drawingml/2006/main">
            <a:r>
              <a:t>    ],</a:t>
            </a:r>
          </a:p>
          <a:p xmlns:a="http://schemas.openxmlformats.org/drawingml/2006/main">
            <a:r>
              <a:t>    "risks": [</a:t>
            </a:r>
          </a:p>
          <a:p xmlns:a="http://schemas.openxmlformats.org/drawingml/2006/main">
            <a:r>
              <a:t>      "계절·부하에 따른 기준선 변화",</a:t>
            </a:r>
          </a:p>
          <a:p xmlns:a="http://schemas.openxmlformats.org/drawingml/2006/main">
            <a:r>
              <a:t>      "안전 한계를 넓힐 때의 제어 위험"</a:t>
            </a:r>
          </a:p>
          <a:p xmlns:a="http://schemas.openxmlformats.org/drawingml/2006/main">
            <a:r>
              <a:t>    ],</a:t>
            </a:r>
          </a:p>
          <a:p xmlns:a="http://schemas.openxmlformats.org/drawingml/2006/main">
            <a:r>
              <a:t>    "architecture": [</a:t>
            </a:r>
          </a:p>
          <a:p xmlns:a="http://schemas.openxmlformats.org/drawingml/2006/main">
            <a:r>
              <a:t>      "냉각 센서",</a:t>
            </a:r>
          </a:p>
          <a:p xmlns:a="http://schemas.openxmlformats.org/drawingml/2006/main">
            <a:r>
              <a:t>      "예측·제약 최적화",</a:t>
            </a:r>
          </a:p>
          <a:p xmlns:a="http://schemas.openxmlformats.org/drawingml/2006/main">
            <a:r>
              <a:t>      "센서 이력·안전 경계",</a:t>
            </a:r>
          </a:p>
          <a:p xmlns:a="http://schemas.openxmlformats.org/drawingml/2006/main">
            <a:r>
              <a:t>      "현장 제어기·운영자"</a:t>
            </a:r>
          </a:p>
          <a:p xmlns:a="http://schemas.openxmlformats.org/drawingml/2006/main">
            <a:r>
              <a:t>    ],</a:t>
            </a:r>
          </a:p>
          <a:p xmlns:a="http://schemas.openxmlformats.org/drawingml/2006/main">
            <a:r>
              <a:t>    "transfers": [</a:t>
            </a:r>
          </a:p>
          <a:p xmlns:a="http://schemas.openxmlformats.org/drawingml/2006/main">
            <a:r>
              <a:t>      "센서 스냅샷",</a:t>
            </a:r>
          </a:p>
          <a:p xmlns:a="http://schemas.openxmlformats.org/drawingml/2006/main">
            <a:r>
              <a:t>      "행동별 소비 예측",</a:t>
            </a:r>
          </a:p>
          <a:p xmlns:a="http://schemas.openxmlformats.org/drawingml/2006/main">
            <a:r>
              <a:t>      "안전 조건 충족 명령",</a:t>
            </a:r>
          </a:p>
          <a:p xmlns:a="http://schemas.openxmlformats.org/drawingml/2006/main">
            <a:r>
              <a:t>      "현장 검증·실행"</a:t>
            </a:r>
          </a:p>
          <a:p xmlns:a="http://schemas.openxmlformats.org/drawingml/2006/main">
            <a:r>
              <a:t>    ],</a:t>
            </a:r>
          </a:p>
          <a:p xmlns:a="http://schemas.openxmlformats.org/drawingml/2006/main">
            <a:r>
              <a:t>    "control": "현장 독립 검증·수동 전환",</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"DeepMind 안전 제어 구조 · 2018-08-17",</a:t>
            </a:r>
          </a:p>
          <a:p xmlns:a="http://schemas.openxmlformats.org/drawingml/2006/main">
            <a:r>
              <a:t>      "url": "https://deepmind.google/blog/safety-first-ai-for-autonomous-data-centre-cooling-and-industrial-control/"</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DeepMind · 데이터센터 냉각 제어 https://deepmind.google/blog/safety-first-ai-for-autonomous-data-centre-cooling-and-industrial-control/</a:t>
            </a:r>
          </a:p>
          <a:p xmlns:a="http://schemas.openxmlformats.org/drawingml/2006/main">
            <a:r>
              <a:t>홈페이지 https://heen1987-ops.github.io/TS-business-Plan-001/index.html?view=casebook&amp;case=AX05</a:t>
            </a:r>
          </a:p>
          <a:p xmlns:a="http://schemas.openxmlformats.org/drawingml/2006/main">
            <a:r>
              <a:t>원문 도면 {"caseId":"AX05","path":"assets/casebook-sources/AX05-01.png","title":"냉각 설비 센서 상태 수집","status":"DeepMind 공식 단계 그림 1/4","caption":"5분마다 현장 센서의 냉각 상태 스냅샷 수집","locator":"Google DeepMind 2018-08-17 / How it works 1","sourceUrl":"https://deepmind.google/blog/safety-first-ai-for-autonomous-data-centre-cooling-and-industrial-control/","checked":"2026-10-16","sha256":"ec28de3ccf82f230a92ff87c048ed311f0c890ebcbd9dae1882ec8a20aabd999","explanation":{"read":"DeepMind 공식 설명의 첫 단계. 약 5분 주기로 수천 개 센서에서 냉각 설비 상태의 스냅샷을 클라우드 AI에 전달한다. 그림은 데이터 수집 경로를 보여 주며, 센서 품질검사 방식이나 실제 제어망 구성은 공개하지 않는다.","requirements":[],"connection":"TS 적용에서는 센서·설비 ID·관측시각을 먼저 대사하고 결측·지연 데이터는 제어 후보 산출에서 제외하는 입력 계약이 필요하다."}}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"AX05",</a:t>
            </a:r>
          </a:p>
          <a:p xmlns:a="http://schemas.openxmlformats.org/drawingml/2006/main">
            <a:r>
              <a:t>    "title": "Google 데이터센터 냉각",</a:t>
            </a:r>
          </a:p>
          <a:p xmlns:a="http://schemas.openxmlformats.org/drawingml/2006/main">
            <a:r>
              <a:t>    "region": "해외",</a:t>
            </a:r>
          </a:p>
          <a:p xmlns:a="http://schemas.openxmlformats.org/drawingml/2006/main">
            <a:r>
              <a:t>    "country": "미국",</a:t>
            </a:r>
          </a:p>
          <a:p xmlns:a="http://schemas.openxmlformats.org/drawingml/2006/main">
            <a:r>
              <a:t>    "result": "성공",</a:t>
            </a:r>
          </a:p>
          <a:p xmlns:a="http://schemas.openxmlformats.org/drawingml/2006/main">
            <a:r>
              <a:t>    "kind": "AI 기반 운영 최적화",</a:t>
            </a:r>
          </a:p>
          <a:p xmlns:a="http://schemas.openxmlformats.org/drawingml/2006/main">
            <a:r>
              <a:t>    "period": "2018 운영 발표",</a:t>
            </a:r>
          </a:p>
          <a:p xmlns:a="http://schemas.openxmlformats.org/drawingml/2006/main">
            <a:r>
              <a:t>    "sources": [</a:t>
            </a:r>
          </a:p>
          <a:p xmlns:a="http://schemas.openxmlformats.org/drawingml/2006/main">
            <a:r>
              <a:t>      "S05"</a:t>
            </a:r>
          </a:p>
          <a:p xmlns:a="http://schemas.openxmlformats.org/drawingml/2006/main">
            <a:r>
              <a:t>    ],</a:t>
            </a:r>
          </a:p>
          <a:p xmlns:a="http://schemas.openxmlformats.org/drawingml/2006/main">
            <a:r>
              <a:t>    "keywords": [</a:t>
            </a:r>
          </a:p>
          <a:p xmlns:a="http://schemas.openxmlformats.org/drawingml/2006/main">
            <a:r>
              <a:t>      "에너지",</a:t>
            </a:r>
          </a:p>
          <a:p xmlns:a="http://schemas.openxmlformats.org/drawingml/2006/main">
            <a:r>
              <a:t>      "친환경",</a:t>
            </a:r>
          </a:p>
          <a:p xmlns:a="http://schemas.openxmlformats.org/drawingml/2006/main">
            <a:r>
              <a:t>      "안전 제약",</a:t>
            </a:r>
          </a:p>
          <a:p xmlns:a="http://schemas.openxmlformats.org/drawingml/2006/main">
            <a:r>
              <a:t>      "운영"</a:t>
            </a:r>
          </a:p>
          <a:p xmlns:a="http://schemas.openxmlformats.org/drawingml/2006/main">
            <a:r>
              <a:t>    ],</a:t>
            </a:r>
          </a:p>
          <a:p xmlns:a="http://schemas.openxmlformats.org/drawingml/2006/main">
            <a:r>
              <a:t>    "fact": "운영사 보고 기준 냉각 효율 지표(kW/ton)의 과거 기준 대비 약 30% 개선",</a:t>
            </a:r>
          </a:p>
          <a:p xmlns:a="http://schemas.openxmlformats.org/drawingml/2006/main">
            <a:r>
              <a:t>    "limit": "데이터센터 냉각 한정 · 총 전력·탄소·TS 절감률과 구분",</a:t>
            </a:r>
          </a:p>
          <a:p xmlns:a="http://schemas.openxmlformats.org/drawingml/2006/main">
            <a:r>
              <a:t>    "flow": [</a:t>
            </a:r>
          </a:p>
          <a:p xmlns:a="http://schemas.openxmlformats.org/drawingml/2006/main">
            <a:r>
              <a:t>      "센서 상태",</a:t>
            </a:r>
          </a:p>
          <a:p xmlns:a="http://schemas.openxmlformats.org/drawingml/2006/main">
            <a:r>
              <a:t>      "소비 예측",</a:t>
            </a:r>
          </a:p>
          <a:p xmlns:a="http://schemas.openxmlformats.org/drawingml/2006/main">
            <a:r>
              <a:t>      "안전 제약 확인",</a:t>
            </a:r>
          </a:p>
          <a:p xmlns:a="http://schemas.openxmlformats.org/drawingml/2006/main">
            <a:r>
              <a:t>      "현장 재검증·제어"</a:t>
            </a:r>
          </a:p>
          <a:p xmlns:a="http://schemas.openxmlformats.org/drawingml/2006/main">
            <a:r>
              <a:t>    ],</a:t>
            </a:r>
          </a:p>
          <a:p xmlns:a="http://schemas.openxmlformats.org/drawingml/2006/main">
            <a:r>
              <a:t>    "flowBasis": "공개 기술 구조 요약 · 운영자 수동 전환 포함",</a:t>
            </a:r>
          </a:p>
          <a:p xmlns:a="http://schemas.openxmlformats.org/drawingml/2006/main">
            <a:r>
              <a:t>    "lesson": "추천과 실행 사이의 이중 검증 및 운영자 통제",</a:t>
            </a:r>
          </a:p>
          <a:p xmlns:a="http://schemas.openxmlformats.org/drawingml/2006/main">
            <a:r>
              <a:t>    "local": "TS 탄소·에너지 근거 검증과 운행 개선 권고부터 적용",</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"원천·배출계수 판본 대사 / 계산 검증 / 권고 승인 / 계측",</a:t>
            </a:r>
          </a:p>
          <a:p xmlns:a="http://schemas.openxmlformats.org/drawingml/2006/main">
            <a:r>
              <a:t>    "test": "계수·단위·경계조건별 재계산 및 이상 입력 시 권고 보류",</a:t>
            </a:r>
          </a:p>
          <a:p xmlns:a="http://schemas.openxmlformats.org/drawingml/2006/main">
            <a:r>
              <a:t>    "metric": "검증된 활동량당 에너지 / 산식 오류율"</a:t>
            </a:r>
          </a:p>
          <a:p xmlns:a="http://schemas.openxmlformats.org/drawingml/2006/main">
            <a:r>
              <a:t>  },</a:t>
            </a:r>
          </a:p>
          <a:p xmlns:a="http://schemas.openxmlformats.org/drawingml/2006/main">
            <a:r>
              <a:t>  "design": {</a:t>
            </a:r>
          </a:p>
          <a:p xmlns:a="http://schemas.openxmlformats.org/drawingml/2006/main">
            <a:r>
              <a:t>    "id": "AX05",</a:t>
            </a:r>
          </a:p>
          <a:p xmlns:a="http://schemas.openxmlformats.org/drawingml/2006/main">
            <a:r>
              <a:t>    "canonicalId": "AX05",</a:t>
            </a:r>
          </a:p>
          <a:p xmlns:a="http://schemas.openxmlformats.org/drawingml/2006/main">
            <a:r>
              <a:t>    "purpose": "냉각 설비의 에너지 효율과 안전 제약 결합",</a:t>
            </a:r>
          </a:p>
          <a:p xmlns:a="http://schemas.openxmlformats.org/drawingml/2006/main">
            <a:r>
              <a:t>    "users": "설비 운영자·제어 담당자",</a:t>
            </a:r>
          </a:p>
          <a:p xmlns:a="http://schemas.openxmlformats.org/drawingml/2006/main">
            <a:r>
              <a:t>    "scope": [</a:t>
            </a:r>
          </a:p>
          <a:p xmlns:a="http://schemas.openxmlformats.org/drawingml/2006/main">
            <a:r>
              <a:t>      "상태 예측",</a:t>
            </a:r>
          </a:p>
          <a:p xmlns:a="http://schemas.openxmlformats.org/drawingml/2006/main">
            <a:r>
              <a:t>      "권고 검증",</a:t>
            </a:r>
          </a:p>
          <a:p xmlns:a="http://schemas.openxmlformats.org/drawingml/2006/main">
            <a:r>
              <a:t>      "현장 제어"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"냉각 센서",</a:t>
            </a:r>
          </a:p>
          <a:p xmlns:a="http://schemas.openxmlformats.org/drawingml/2006/main">
            <a:r>
              <a:t>        "detail": "센서 상태·운영 제약 수집",</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"상태 예측 / 권고 검증 / 현장 제어",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"예측·제약 최적화",</a:t>
            </a:r>
          </a:p>
          <a:p xmlns:a="http://schemas.openxmlformats.org/drawingml/2006/main">
            <a:r>
              <a:t>        "detail": "소비 예측과 허용 제어값 후보 산출",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"현장 제어기·운영자",</a:t>
            </a:r>
          </a:p>
          <a:p xmlns:a="http://schemas.openxmlformats.org/drawingml/2006/main">
            <a:r>
              <a:t>        "detail": "클라우드 검증 후 현장 제어계의 재검증",</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"센서 이력·안전 경계",</a:t>
            </a:r>
          </a:p>
          <a:p xmlns:a="http://schemas.openxmlformats.org/drawingml/2006/main">
            <a:r>
              <a:t>        "detail": "시계열 센서·운전 상태·제약조건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"운영자 수동 전환 및 제어 결과의 다음 주기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"센서 상태",</a:t>
            </a:r>
          </a:p>
          <a:p xmlns:a="http://schemas.openxmlformats.org/drawingml/2006/main">
            <a:r>
              <a:t>        "input": "센서 상태·운영 제약 수집",</a:t>
            </a:r>
          </a:p>
          <a:p xmlns:a="http://schemas.openxmlformats.org/drawingml/2006/main">
            <a:r>
              <a:t>        "process": "시계열 센서·운전 상태·제약조건 정리",</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"title": "소비 예측",</a:t>
            </a:r>
          </a:p>
          <a:p xmlns:a="http://schemas.openxmlformats.org/drawingml/2006/main">
            <a:r>
              <a:t>        "input": "센서 스냅샷",</a:t>
            </a:r>
          </a:p>
          <a:p xmlns:a="http://schemas.openxmlformats.org/drawingml/2006/main">
            <a:r>
              <a:t>        "process": "소비 예측과 허용 제어값 후보 산출",</a:t>
            </a:r>
          </a:p>
          <a:p xmlns:a="http://schemas.openxmlformats.org/drawingml/2006/main">
            <a:r>
              <a:t>        "output": "행동별 소비 예측"</a:t>
            </a:r>
          </a:p>
          <a:p xmlns:a="http://schemas.openxmlformats.org/drawingml/2006/main">
            <a:r>
              <a:t>      },</a:t>
            </a:r>
          </a:p>
          <a:p xmlns:a="http://schemas.openxmlformats.org/drawingml/2006/main">
            <a:r>
              <a:t>      {</a:t>
            </a:r>
          </a:p>
          <a:p xmlns:a="http://schemas.openxmlformats.org/drawingml/2006/main">
            <a:r>
              <a:t>        "title": "안전 제약 확인",</a:t>
            </a:r>
          </a:p>
          <a:p xmlns:a="http://schemas.openxmlformats.org/drawingml/2006/main">
            <a:r>
              <a:t>        "input": "행동별 소비 예측",</a:t>
            </a:r>
          </a:p>
          <a:p xmlns:a="http://schemas.openxmlformats.org/drawingml/2006/main">
            <a:r>
              <a:t>        "process": "현장 독립 검증·수동 전환",</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"title": "현장 재검증·제어",</a:t>
            </a:r>
          </a:p>
          <a:p xmlns:a="http://schemas.openxmlformats.org/drawingml/2006/main">
            <a:r>
              <a:t>        "input": "안전 조건 충족 명령",</a:t>
            </a:r>
          </a:p>
          <a:p xmlns:a="http://schemas.openxmlformats.org/drawingml/2006/main">
            <a:r>
              <a:t>        "process":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"현재 운전상태에서 허용범위 내 냉각 제어값 산출",</a:t>
            </a:r>
          </a:p>
          <a:p xmlns:a="http://schemas.openxmlformats.org/drawingml/2006/main">
            <a:r>
              <a:t>      "exception": "센서 결측·제어값 한계 초과·현장 검증 거부",</a:t>
            </a:r>
          </a:p>
          <a:p xmlns:a="http://schemas.openxmlformats.org/drawingml/2006/main">
            <a:r>
              <a:t>      "evidence": "제약별 통과/보류 결과와 수동 전환·제어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"설비 운영자·제어 담당자",</a:t>
            </a:r>
          </a:p>
          <a:p xmlns:a="http://schemas.openxmlformats.org/drawingml/2006/main">
            <a:r>
              <a:t>          "processing": "센서 상태·운영 제약 수집",</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"센서 이력·안전 경계",</a:t>
            </a:r>
          </a:p>
          <a:p xmlns:a="http://schemas.openxmlformats.org/drawingml/2006/main">
            <a:r>
              <a:t>          "processing": "시계열 센서·운전 상태·제약조건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"센서 스냅샷",</a:t>
            </a:r>
          </a:p>
          <a:p xmlns:a="http://schemas.openxmlformats.org/drawingml/2006/main">
            <a:r>
              <a:t>          "processing": "소비 예측과 허용 제어값 후보 산출",</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"안전 조건 충족 명령",</a:t>
            </a:r>
          </a:p>
          <a:p xmlns:a="http://schemas.openxmlformats.org/drawingml/2006/main">
            <a:r>
              <a:t>          "processing":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"운영자 수동 전환 및 제어 결과의 다음 주기 반영",</a:t>
            </a:r>
          </a:p>
          <a:p xmlns:a="http://schemas.openxmlformats.org/drawingml/2006/main">
            <a:r>
              <a:t>          "output": "제약별 통과/보류 결과와 수동 전환·제어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"운영자 수동 전환 및 제어 결과의 다음 주기 반영",</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"S05",</a:t>
            </a:r>
          </a:p>
          <a:p xmlns:a="http://schemas.openxmlformats.org/drawingml/2006/main">
            <a:r>
              <a:t>        "title": "Google DeepMind · 데이터센터 냉각 제어",</a:t>
            </a:r>
          </a:p>
          <a:p xmlns:a="http://schemas.openxmlformats.org/drawingml/2006/main">
            <a:r>
              <a:t>        "url": "https://deepmind.google/blog/safety-first-ai-for-autonomous-data-centre-cooling-and-industrial-control/",</a:t>
            </a:r>
          </a:p>
          <a:p xmlns:a="http://schemas.openxmlformats.org/drawingml/2006/main">
            <a:r>
              <a:t>        "published": "2018-08-17",</a:t>
            </a:r>
          </a:p>
          <a:p xmlns:a="http://schemas.openxmlformats.org/drawingml/2006/main">
            <a:r>
              <a:t>        "level": "운영·개발사 발표",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"추천과 실행 사이의 이중 검증 및 운영자 통제",</a:t>
            </a:r>
          </a:p>
          <a:p xmlns:a="http://schemas.openxmlformats.org/drawingml/2006/main">
            <a:r>
              <a:t>    "local": "TS 탄소·에너지 근거 검증과 운행 개선 권고부터 적용",</a:t>
            </a:r>
          </a:p>
          <a:p xmlns:a="http://schemas.openxmlformats.org/drawingml/2006/main">
            <a:r>
              <a:t>    "sourceDetail": null,</a:t>
            </a:r>
          </a:p>
          <a:p xmlns:a="http://schemas.openxmlformats.org/drawingml/2006/main">
            <a:r>
              <a:t>    "narrative": [</a:t>
            </a:r>
          </a:p>
          <a:p xmlns:a="http://schemas.openxmlformats.org/drawingml/2006/main">
            <a:r>
              <a:t>      "데이터센터 냉각의 전력 효율과 설비 안전을 함께 다룬 제어 사례. 예측 결과를 화면에 보여주는 단계에서 실제 제어에 연결할 때 필요한 독립 안전검증이 핵심.",</a:t>
            </a:r>
          </a:p>
          <a:p xmlns:a="http://schemas.openxmlformats.org/drawingml/2006/main">
            <a:r>
              <a:t>      "센서 상태에서 제어 후보를 예측한 뒤 클라우드 측 검증과 현장 제어계 검증을 거쳐 실행하는 공개 구조. 운영자의 수동 전환과 허용 경계를 별도 계층으로 유지하고 실행 결과를 다음 주기 입력에 반영.",</a:t>
            </a:r>
          </a:p>
          <a:p xmlns:a="http://schemas.openxmlformats.org/drawingml/2006/main">
            <a:r>
              <a:t>      "TS 시설·장비 업무에 적용할 경우 AI 권고와 현장 실행 승인을 분리할 근거. 에너지 기준선은 계절·부하로 나누고, 센서 누락·경계 초과·통신 장애 시 안전 상태와 수동 복귀를 먼저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"냉각 상태 입력",</a:t>
            </a:r>
          </a:p>
          <a:p xmlns:a="http://schemas.openxmlformats.org/drawingml/2006/main">
            <a:r>
              <a:t>          "layer": "이용 접점",</a:t>
            </a:r>
          </a:p>
          <a:p xmlns:a="http://schemas.openxmlformats.org/drawingml/2006/main">
            <a:r>
              <a:t>          "detail": "설비 운영자·제어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"운전·안전 경계",</a:t>
            </a:r>
          </a:p>
          <a:p xmlns:a="http://schemas.openxmlformats.org/drawingml/2006/main">
            <a:r>
              <a:t>          "layer": "업무 문맥",</a:t>
            </a:r>
          </a:p>
          <a:p xmlns:a="http://schemas.openxmlformats.org/drawingml/2006/main">
            <a:r>
              <a:t>          "detail": "센서 상태·운영 제약 수집",</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"센서 이력 조회",</a:t>
            </a:r>
          </a:p>
          <a:p xmlns:a="http://schemas.openxmlformats.org/drawingml/2006/main">
            <a:r>
              <a:t>          "layer": "자료 조회",</a:t>
            </a:r>
          </a:p>
          <a:p xmlns:a="http://schemas.openxmlformats.org/drawingml/2006/main">
            <a:r>
              <a:t>          "detail": "센서 스냅샷",</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"소비·제어값 예측",</a:t>
            </a:r>
          </a:p>
          <a:p xmlns:a="http://schemas.openxmlformats.org/drawingml/2006/main">
            <a:r>
              <a:t>          "layer": "핵심 처리",</a:t>
            </a:r>
          </a:p>
          <a:p xmlns:a="http://schemas.openxmlformats.org/drawingml/2006/main">
            <a:r>
              <a:t>          "detail": "소비 예측과 허용 제어값 후보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"클라우드 안전검증",</a:t>
            </a:r>
          </a:p>
          <a:p xmlns:a="http://schemas.openxmlformats.org/drawingml/2006/main">
            <a:r>
              <a:t>          "layer": "결과 검증",</a:t>
            </a:r>
          </a:p>
          <a:p xmlns:a="http://schemas.openxmlformats.org/drawingml/2006/main">
            <a:r>
              <a:t>          "detail": "현장 독립 검증·수동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독립 검증",</a:t>
            </a:r>
          </a:p>
          <a:p xmlns:a="http://schemas.openxmlformats.org/drawingml/2006/main">
            <a:r>
              <a:t>          "layer": "사람 확인",</a:t>
            </a:r>
          </a:p>
          <a:p xmlns:a="http://schemas.openxmlformats.org/drawingml/2006/main">
            <a:r>
              <a:t>          "detail": "현재 운전상태에서 허용범위 내 냉각 제어값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"제어·수동 전환",</a:t>
            </a:r>
          </a:p>
          <a:p xmlns:a="http://schemas.openxmlformats.org/drawingml/2006/main">
            <a:r>
              <a:t>          "layer": "업무 연결",</a:t>
            </a:r>
          </a:p>
          <a:p xmlns:a="http://schemas.openxmlformats.org/drawingml/2006/main">
            <a:r>
              <a:t>          "detail": "클라우드 검증 후 현장 제어계의 재검증",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"다음 주기 환류",</a:t>
            </a:r>
          </a:p>
          <a:p xmlns:a="http://schemas.openxmlformats.org/drawingml/2006/main">
            <a:r>
              <a:t>          "layer": "운영 관측",</a:t>
            </a:r>
          </a:p>
          <a:p xmlns:a="http://schemas.openxmlformats.org/drawingml/2006/main">
            <a:r>
              <a:t>          "detail": "운영자 수동 전환 및 제어 결과의 다음 주기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"센서·운전 자료",</a:t>
            </a:r>
          </a:p>
          <a:p xmlns:a="http://schemas.openxmlformats.org/drawingml/2006/main">
            <a:r>
              <a:t>          "layer": "데이터 원천",</a:t>
            </a:r>
          </a:p>
          <a:p xmlns:a="http://schemas.openxmlformats.org/drawingml/2006/main">
            <a:r>
              <a:t>          "detail": "센서 이력·안전 경계",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"시각·결측 정리",</a:t>
            </a:r>
          </a:p>
          <a:p xmlns:a="http://schemas.openxmlformats.org/drawingml/2006/main">
            <a:r>
              <a:t>          "layer": "준비·갱신",</a:t>
            </a:r>
          </a:p>
          <a:p xmlns:a="http://schemas.openxmlformats.org/drawingml/2006/main">
            <a:r>
              <a:t>          "detail": "시계열 센서·운전 상태·제약조건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"상태·명령 이력",</a:t>
            </a:r>
          </a:p>
          <a:p xmlns:a="http://schemas.openxmlformats.org/drawingml/2006/main">
            <a:r>
              <a:t>          "layer": "상태·지식 저장",</a:t>
            </a:r>
          </a:p>
          <a:p xmlns:a="http://schemas.openxmlformats.org/drawingml/2006/main">
            <a:r>
              <a:t>          "detail": "제약별 통과/보류 결과와 수동 전환·제어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"제어 허용경계",</a:t>
            </a:r>
          </a:p>
          <a:p xmlns:a="http://schemas.openxmlformats.org/drawingml/2006/main">
            <a:r>
              <a:t>          "layer": "권한·정책",</a:t>
            </a:r>
          </a:p>
          <a:p xmlns:a="http://schemas.openxmlformats.org/drawingml/2006/main">
            <a:r>
              <a:t>          "detail": "센서 결측·제어값 한계 초과·현장 검증 거부",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"센서 상태 → 소비 예측 → 안전 제약 확인 → 현장 재검증·제어"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"센서 이력·안전 경계",</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"안전 조건 충족 명령",</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"제어 허용경계",</a:t>
            </a:r>
          </a:p>
          <a:p xmlns:a="http://schemas.openxmlformats.org/drawingml/2006/main">
            <a:r>
              <a:t>          "check": "현장 독립 검증·수동 전환"</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"현장 검증·실행",</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"운영자 수동 전환 및 제어 결과의 다음 주기 반영",</a:t>
            </a:r>
          </a:p>
          <a:p xmlns:a="http://schemas.openxmlformats.org/drawingml/2006/main">
            <a:r>
              <a:t>          "check": "운영자 수동 전환 및 제어 결과의 다음 주기 반영"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"DeepMind 2018-08-17 안전 제어 설명",</a:t>
            </a:r>
          </a:p>
          <a:p xmlns:a="http://schemas.openxmlformats.org/drawingml/2006/main">
            <a:r>
              <a:t>        "extracted": "클라우드와 현장 제어의 독립 안전검증·수동 전환",</a:t>
            </a:r>
          </a:p>
          <a:p xmlns:a="http://schemas.openxmlformats.org/drawingml/2006/main">
            <a:r>
              <a:t>        "extension": "누락 센서·경계 초과·수동 전환의 실패 재현"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"AX05",</a:t>
            </a:r>
          </a:p>
          <a:p xmlns:a="http://schemas.openxmlformats.org/drawingml/2006/main">
            <a:r>
              <a:t>          "path": "assets/casebook-sources/AX05-01.png",</a:t>
            </a:r>
          </a:p>
          <a:p xmlns:a="http://schemas.openxmlformats.org/drawingml/2006/main">
            <a:r>
              <a:t>          "title": "냉각 설비 센서 상태 수집",</a:t>
            </a:r>
          </a:p>
          <a:p xmlns:a="http://schemas.openxmlformats.org/drawingml/2006/main">
            <a:r>
              <a:t>          "status": "DeepMind 공식 단계 그림 1/4",</a:t>
            </a:r>
          </a:p>
          <a:p xmlns:a="http://schemas.openxmlformats.org/drawingml/2006/main">
            <a:r>
              <a:t>          "caption": "5분마다 현장 센서의 냉각 상태 스냅샷 수집",</a:t>
            </a:r>
          </a:p>
          <a:p xmlns:a="http://schemas.openxmlformats.org/drawingml/2006/main">
            <a:r>
              <a:t>          "locator": "Google DeepMind 2018-08-17 / How it works 1",</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"ec28de3ccf82f230a92ff87c048ed311f0c890ebcbd9dae1882ec8a20aabd999",</a:t>
            </a:r>
          </a:p>
          <a:p xmlns:a="http://schemas.openxmlformats.org/drawingml/2006/main">
            <a:r>
              <a:t>          "explanation": {</a:t>
            </a:r>
          </a:p>
          <a:p xmlns:a="http://schemas.openxmlformats.org/drawingml/2006/main">
            <a:r>
              <a:t>            "read": "DeepMind 공식 설명의 첫 단계. 약 5분 주기로 수천 개 센서에서 냉각 설비 상태의 스냅샷을 클라우드 AI에 전달한다. 그림은 데이터 수집 경로를 보여 주며, 센서 품질검사 방식이나 실제 제어망 구성은 공개하지 않는다.",</a:t>
            </a:r>
          </a:p>
          <a:p xmlns:a="http://schemas.openxmlformats.org/drawingml/2006/main">
            <a:r>
              <a:t>            "requirements": [],</a:t>
            </a:r>
          </a:p>
          <a:p xmlns:a="http://schemas.openxmlformats.org/drawingml/2006/main">
            <a:r>
              <a:t>            "connection": "TS 적용에서는 센서·설비 ID·관측시각을 먼저 대사하고 결측·지연 데이터는 제어 후보 산출에서 제외하는 입력 계약이 필요하다."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"assets/casebook-sources/AX05-02.png",</a:t>
            </a:r>
          </a:p>
          <a:p xmlns:a="http://schemas.openxmlformats.org/drawingml/2006/main">
            <a:r>
              <a:t>          "title": "신경망 예측 단계",</a:t>
            </a:r>
          </a:p>
          <a:p xmlns:a="http://schemas.openxmlformats.org/drawingml/2006/main">
            <a:r>
              <a:t>          "status": "DeepMind 공식 단계 그림 2/4",</a:t>
            </a:r>
          </a:p>
          <a:p xmlns:a="http://schemas.openxmlformats.org/drawingml/2006/main">
            <a:r>
              <a:t>          "caption": "제어 후보별 미래 효율과 온도 예측",</a:t>
            </a:r>
          </a:p>
          <a:p xmlns:a="http://schemas.openxmlformats.org/drawingml/2006/main">
            <a:r>
              <a:t>          "locator": "Google DeepMind 2018-08-17 / How it works 2",</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"3d8852c2f9db075137fc3460ddef99acb193c4b77268f159fca9100379123d6a",</a:t>
            </a:r>
          </a:p>
          <a:p xmlns:a="http://schemas.openxmlformats.org/drawingml/2006/main">
            <a:r>
              <a:t>          "explanation": {</a:t>
            </a:r>
          </a:p>
          <a:p xmlns:a="http://schemas.openxmlformats.org/drawingml/2006/main">
            <a:r>
              <a:t>            "read": "센서 상태를 신경망에 투입해 후보 제어가 향후 에너지 효율과 온도에 미칠 영향을 예측하는 두 번째 단계. 이 그림 자체는 특정 모델의 내부 구조나 학습 데이터의 전체 구성을 설명하지 않는다.",</a:t>
            </a:r>
          </a:p>
          <a:p xmlns:a="http://schemas.openxmlformats.org/drawingml/2006/main">
            <a:r>
              <a:t>            "requirements": [],</a:t>
            </a:r>
          </a:p>
          <a:p xmlns:a="http://schemas.openxmlformats.org/drawingml/2006/main">
            <a:r>
              <a:t>            "connection": "TS의 실시간 안전 사례에 적용한다면 예측값·불확실성·적용시각을 함께 기록해 권고 결과와 이후 실제 관측의 차이를 평가해야 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"assets/casebook-sources/AX05-03.png",</a:t>
            </a:r>
          </a:p>
          <a:p xmlns:a="http://schemas.openxmlformats.org/drawingml/2006/main">
            <a:r>
              <a:t>          "title": "안전 제약 내 제어 후보 선정",</a:t>
            </a:r>
          </a:p>
          <a:p xmlns:a="http://schemas.openxmlformats.org/drawingml/2006/main">
            <a:r>
              <a:t>          "status": "DeepMind 공식 단계 그림 3/4",</a:t>
            </a:r>
          </a:p>
          <a:p xmlns:a="http://schemas.openxmlformats.org/drawingml/2006/main">
            <a:r>
              <a:t>          "caption": "안전 제약을 만족하는 후보 중 에너지 소비 최소화",</a:t>
            </a:r>
          </a:p>
          <a:p xmlns:a="http://schemas.openxmlformats.org/drawingml/2006/main">
            <a:r>
              <a:t>          "locator": "Google DeepMind 2018-08-17 / How it works 3",</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"74083db5c1f1d687580f9bb3accbd06dceaac4b89bc5d41222f4f1c1842d43c5",</a:t>
            </a:r>
          </a:p>
          <a:p xmlns:a="http://schemas.openxmlformats.org/drawingml/2006/main">
            <a:r>
              <a:t>          "explanation": {</a:t>
            </a:r>
          </a:p>
          <a:p xmlns:a="http://schemas.openxmlformats.org/drawingml/2006/main">
            <a:r>
              <a:t>            "read": "예측된 후보 중 안전 제약을 만족하면서 에너지 소비를 줄일 수 있는 조치를 선택하는 단계. 공개 설명은 후보 선정 후 클라우드 측 안전 검증을 거친다고 명시하며, 제약의 전체 수치와 규칙은 공개하지 않는다.",</a:t>
            </a:r>
          </a:p>
          <a:p xmlns:a="http://schemas.openxmlformats.org/drawingml/2006/main">
            <a:r>
              <a:t>            "requirements": [],</a:t>
            </a:r>
          </a:p>
          <a:p xmlns:a="http://schemas.openxmlformats.org/drawingml/2006/main">
            <a:r>
              <a:t>            "connection": "TS에서는 최적화 점수와 필수 안전 조건을 분리해 검수하고, 안전 경계 위반 후보는 효율이 높더라도 채택하지 않는 통제 규칙으로 전환한다."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"assets/casebook-sources/AX05-04.png",</a:t>
            </a:r>
          </a:p>
          <a:p xmlns:a="http://schemas.openxmlformats.org/drawingml/2006/main">
            <a:r>
              <a:t>          "title": "현장 제어계 독립 검증",</a:t>
            </a:r>
          </a:p>
          <a:p xmlns:a="http://schemas.openxmlformats.org/drawingml/2006/main">
            <a:r>
              <a:t>          "status": "DeepMind 공식 단계 그림 4/4",</a:t>
            </a:r>
          </a:p>
          <a:p xmlns:a="http://schemas.openxmlformats.org/drawingml/2006/main">
            <a:r>
              <a:t>          "caption": "현장 제어계가 별도 안전 제약을 확인한 뒤 실행",</a:t>
            </a:r>
          </a:p>
          <a:p xmlns:a="http://schemas.openxmlformats.org/drawingml/2006/main">
            <a:r>
              <a:t>          "locator": "Google DeepMind 2018-08-17 / How it works 4",</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"9e8e418c7a75ef3dc171194ebed38921f65c8c95e29c188fa170a4705d834d27",</a:t>
            </a:r>
          </a:p>
          <a:p xmlns:a="http://schemas.openxmlformats.org/drawingml/2006/main">
            <a:r>
              <a:t>          "explanation": {</a:t>
            </a:r>
          </a:p>
          <a:p xmlns:a="http://schemas.openxmlformats.org/drawingml/2006/main">
            <a:r>
              <a:t>            "read": "선정된 조치를 현장 제어계에 보내고, 현장 시스템이 자체 안전 제약으로 다시 확인한 뒤 실행하는 마지막 단계. 운영자는 AI 제어 모드에서 언제든 이탈할 수 있다. 원문은 매 제어 단계마다 사람의 승인을 필수로 요구하지 않는다.",</a:t>
            </a:r>
          </a:p>
          <a:p xmlns:a="http://schemas.openxmlformats.org/drawingml/2006/main">
            <a:r>
              <a:t>            "requirements": [],</a:t>
            </a:r>
          </a:p>
          <a:p xmlns:a="http://schemas.openxmlformats.org/drawingml/2006/main">
            <a:r>
              <a:t>            "connection": "TS의 안전·설비 적용에서는 현장 독립 검증, 제어 거부, 수동 전환의 기록을 분리하고 통신 장애 시 기존 제어 규칙으로 복귀하는 시험을 설계한다."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"센서 결측·제어값 한계 초과·현장 검증 거부",</a:t>
            </a:r>
          </a:p>
          <a:p xmlns:a="http://schemas.openxmlformats.org/drawingml/2006/main">
            <a:r>
              <a:t>        "hold": "현장 독립 검증·수동 전환",</a:t>
            </a:r>
          </a:p>
          <a:p xmlns:a="http://schemas.openxmlformats.org/drawingml/2006/main">
            <a:r>
              <a:t>        "recovery": "운영자 수동 전환 및 제어 결과의 다음 주기 반영",</a:t>
            </a:r>
          </a:p>
          <a:p xmlns:a="http://schemas.openxmlformats.org/drawingml/2006/main">
            <a:r>
              <a:t>        "evidence": "제약별 통과/보류 결과와 수동 전환·제어 이력"</a:t>
            </a:r>
          </a:p>
          <a:p xmlns:a="http://schemas.openxmlformats.org/drawingml/2006/main">
            <a:r>
              <a:t>      },</a:t>
            </a:r>
          </a:p>
          <a:p xmlns:a="http://schemas.openxmlformats.org/drawingml/2006/main">
            <a:r>
              <a:t>      "data": {</a:t>
            </a:r>
          </a:p>
          <a:p xmlns:a="http://schemas.openxmlformats.org/drawingml/2006/main">
            <a:r>
              <a:t>        "source": "센서 이력·안전 경계",</a:t>
            </a:r>
          </a:p>
          <a:p xmlns:a="http://schemas.openxmlformats.org/drawingml/2006/main">
            <a:r>
              <a:t>        "prepare": "시계열 센서·운전 상태·제약조건 정리",</a:t>
            </a:r>
          </a:p>
          <a:p xmlns:a="http://schemas.openxmlformats.org/drawingml/2006/main">
            <a:r>
              <a:t>        "output": "센서 스냅샷",</a:t>
            </a:r>
          </a:p>
          <a:p xmlns:a="http://schemas.openxmlformats.org/drawingml/2006/main">
            <a:r>
              <a:t>        "refresh": "운영자 수동 전환 및 제어 결과의 다음 주기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"AX05",</a:t>
            </a:r>
          </a:p>
          <a:p xmlns:a="http://schemas.openxmlformats.org/drawingml/2006/main">
            <a:r>
              <a:t>    "success": [</a:t>
            </a:r>
          </a:p>
          <a:p xmlns:a="http://schemas.openxmlformats.org/drawingml/2006/main">
            <a:r>
              <a:t>      "클라우드·현장 제어의 이중 안전검증",</a:t>
            </a:r>
          </a:p>
          <a:p xmlns:a="http://schemas.openxmlformats.org/drawingml/2006/main">
            <a:r>
              <a:t>      "운영자 수동 전환과 불확실성 제한"</a:t>
            </a:r>
          </a:p>
          <a:p xmlns:a="http://schemas.openxmlformats.org/drawingml/2006/main">
            <a:r>
              <a:t>    ],</a:t>
            </a:r>
          </a:p>
          <a:p xmlns:a="http://schemas.openxmlformats.org/drawingml/2006/main">
            <a:r>
              <a:t>    "risks": [</a:t>
            </a:r>
          </a:p>
          <a:p xmlns:a="http://schemas.openxmlformats.org/drawingml/2006/main">
            <a:r>
              <a:t>      "계절·부하에 따른 기준선 변화",</a:t>
            </a:r>
          </a:p>
          <a:p xmlns:a="http://schemas.openxmlformats.org/drawingml/2006/main">
            <a:r>
              <a:t>      "안전 한계를 넓힐 때의 제어 위험"</a:t>
            </a:r>
          </a:p>
          <a:p xmlns:a="http://schemas.openxmlformats.org/drawingml/2006/main">
            <a:r>
              <a:t>    ],</a:t>
            </a:r>
          </a:p>
          <a:p xmlns:a="http://schemas.openxmlformats.org/drawingml/2006/main">
            <a:r>
              <a:t>    "architecture": [</a:t>
            </a:r>
          </a:p>
          <a:p xmlns:a="http://schemas.openxmlformats.org/drawingml/2006/main">
            <a:r>
              <a:t>      "냉각 센서",</a:t>
            </a:r>
          </a:p>
          <a:p xmlns:a="http://schemas.openxmlformats.org/drawingml/2006/main">
            <a:r>
              <a:t>      "예측·제약 최적화",</a:t>
            </a:r>
          </a:p>
          <a:p xmlns:a="http://schemas.openxmlformats.org/drawingml/2006/main">
            <a:r>
              <a:t>      "센서 이력·안전 경계",</a:t>
            </a:r>
          </a:p>
          <a:p xmlns:a="http://schemas.openxmlformats.org/drawingml/2006/main">
            <a:r>
              <a:t>      "현장 제어기·운영자"</a:t>
            </a:r>
          </a:p>
          <a:p xmlns:a="http://schemas.openxmlformats.org/drawingml/2006/main">
            <a:r>
              <a:t>    ],</a:t>
            </a:r>
          </a:p>
          <a:p xmlns:a="http://schemas.openxmlformats.org/drawingml/2006/main">
            <a:r>
              <a:t>    "transfers": [</a:t>
            </a:r>
          </a:p>
          <a:p xmlns:a="http://schemas.openxmlformats.org/drawingml/2006/main">
            <a:r>
              <a:t>      "센서 스냅샷",</a:t>
            </a:r>
          </a:p>
          <a:p xmlns:a="http://schemas.openxmlformats.org/drawingml/2006/main">
            <a:r>
              <a:t>      "행동별 소비 예측",</a:t>
            </a:r>
          </a:p>
          <a:p xmlns:a="http://schemas.openxmlformats.org/drawingml/2006/main">
            <a:r>
              <a:t>      "안전 조건 충족 명령",</a:t>
            </a:r>
          </a:p>
          <a:p xmlns:a="http://schemas.openxmlformats.org/drawingml/2006/main">
            <a:r>
              <a:t>      "현장 검증·실행"</a:t>
            </a:r>
          </a:p>
          <a:p xmlns:a="http://schemas.openxmlformats.org/drawingml/2006/main">
            <a:r>
              <a:t>    ],</a:t>
            </a:r>
          </a:p>
          <a:p xmlns:a="http://schemas.openxmlformats.org/drawingml/2006/main">
            <a:r>
              <a:t>    "control": "현장 독립 검증·수동 전환",</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"DeepMind 안전 제어 구조 · 2018-08-17",</a:t>
            </a:r>
          </a:p>
          <a:p xmlns:a="http://schemas.openxmlformats.org/drawingml/2006/main">
            <a:r>
              <a:t>      "url": "https://deepmind.google/blog/safety-first-ai-for-autonomous-data-centre-cooling-and-industrial-control/"</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DeepMind · 데이터센터 냉각 제어 https://deepmind.google/blog/safety-first-ai-for-autonomous-data-centre-cooling-and-industrial-control/</a:t>
            </a:r>
          </a:p>
          <a:p xmlns:a="http://schemas.openxmlformats.org/drawingml/2006/main">
            <a:r>
              <a:t>홈페이지 https://heen1987-ops.github.io/TS-business-Plan-001/index.html?view=casebook&amp;case=AX05</a:t>
            </a:r>
          </a:p>
          <a:p xmlns:a="http://schemas.openxmlformats.org/drawingml/2006/main">
            <a:r>
              <a:t>원문 도면 {"caseId":"AX05","path":"assets/casebook-sources/AX05-02.png","title":"신경망 예측 단계","status":"DeepMind 공식 단계 그림 2/4","caption":"제어 후보별 미래 효율과 온도 예측","locator":"Google DeepMind 2018-08-17 / How it works 2","sourceUrl":"https://deepmind.google/blog/safety-first-ai-for-autonomous-data-centre-cooling-and-industrial-control/","checked":"2026-10-16","sha256":"3d8852c2f9db075137fc3460ddef99acb193c4b77268f159fca9100379123d6a","explanation":{"read":"센서 상태를 신경망에 투입해 후보 제어가 향후 에너지 효율과 온도에 미칠 영향을 예측하는 두 번째 단계. 이 그림 자체는 특정 모델의 내부 구조나 학습 데이터의 전체 구성을 설명하지 않는다.","requirements":[],"connection":"TS의 실시간 안전 사례에 적용한다면 예측값·불확실성·적용시각을 함께 기록해 권고 결과와 이후 실제 관측의 차이를 평가해야 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"AX05",</a:t>
            </a:r>
          </a:p>
          <a:p xmlns:a="http://schemas.openxmlformats.org/drawingml/2006/main">
            <a:r>
              <a:t>    "title": "Google 데이터센터 냉각",</a:t>
            </a:r>
          </a:p>
          <a:p xmlns:a="http://schemas.openxmlformats.org/drawingml/2006/main">
            <a:r>
              <a:t>    "region": "해외",</a:t>
            </a:r>
          </a:p>
          <a:p xmlns:a="http://schemas.openxmlformats.org/drawingml/2006/main">
            <a:r>
              <a:t>    "country": "미국",</a:t>
            </a:r>
          </a:p>
          <a:p xmlns:a="http://schemas.openxmlformats.org/drawingml/2006/main">
            <a:r>
              <a:t>    "result": "성공",</a:t>
            </a:r>
          </a:p>
          <a:p xmlns:a="http://schemas.openxmlformats.org/drawingml/2006/main">
            <a:r>
              <a:t>    "kind": "AI 기반 운영 최적화",</a:t>
            </a:r>
          </a:p>
          <a:p xmlns:a="http://schemas.openxmlformats.org/drawingml/2006/main">
            <a:r>
              <a:t>    "period": "2018 운영 발표",</a:t>
            </a:r>
          </a:p>
          <a:p xmlns:a="http://schemas.openxmlformats.org/drawingml/2006/main">
            <a:r>
              <a:t>    "sources": [</a:t>
            </a:r>
          </a:p>
          <a:p xmlns:a="http://schemas.openxmlformats.org/drawingml/2006/main">
            <a:r>
              <a:t>      "S05"</a:t>
            </a:r>
          </a:p>
          <a:p xmlns:a="http://schemas.openxmlformats.org/drawingml/2006/main">
            <a:r>
              <a:t>    ],</a:t>
            </a:r>
          </a:p>
          <a:p xmlns:a="http://schemas.openxmlformats.org/drawingml/2006/main">
            <a:r>
              <a:t>    "keywords": [</a:t>
            </a:r>
          </a:p>
          <a:p xmlns:a="http://schemas.openxmlformats.org/drawingml/2006/main">
            <a:r>
              <a:t>      "에너지",</a:t>
            </a:r>
          </a:p>
          <a:p xmlns:a="http://schemas.openxmlformats.org/drawingml/2006/main">
            <a:r>
              <a:t>      "친환경",</a:t>
            </a:r>
          </a:p>
          <a:p xmlns:a="http://schemas.openxmlformats.org/drawingml/2006/main">
            <a:r>
              <a:t>      "안전 제약",</a:t>
            </a:r>
          </a:p>
          <a:p xmlns:a="http://schemas.openxmlformats.org/drawingml/2006/main">
            <a:r>
              <a:t>      "운영"</a:t>
            </a:r>
          </a:p>
          <a:p xmlns:a="http://schemas.openxmlformats.org/drawingml/2006/main">
            <a:r>
              <a:t>    ],</a:t>
            </a:r>
          </a:p>
          <a:p xmlns:a="http://schemas.openxmlformats.org/drawingml/2006/main">
            <a:r>
              <a:t>    "fact": "운영사 보고 기준 냉각 효율 지표(kW/ton)의 과거 기준 대비 약 30% 개선",</a:t>
            </a:r>
          </a:p>
          <a:p xmlns:a="http://schemas.openxmlformats.org/drawingml/2006/main">
            <a:r>
              <a:t>    "limit": "데이터센터 냉각 한정 · 총 전력·탄소·TS 절감률과 구분",</a:t>
            </a:r>
          </a:p>
          <a:p xmlns:a="http://schemas.openxmlformats.org/drawingml/2006/main">
            <a:r>
              <a:t>    "flow": [</a:t>
            </a:r>
          </a:p>
          <a:p xmlns:a="http://schemas.openxmlformats.org/drawingml/2006/main">
            <a:r>
              <a:t>      "센서 상태",</a:t>
            </a:r>
          </a:p>
          <a:p xmlns:a="http://schemas.openxmlformats.org/drawingml/2006/main">
            <a:r>
              <a:t>      "소비 예측",</a:t>
            </a:r>
          </a:p>
          <a:p xmlns:a="http://schemas.openxmlformats.org/drawingml/2006/main">
            <a:r>
              <a:t>      "안전 제약 확인",</a:t>
            </a:r>
          </a:p>
          <a:p xmlns:a="http://schemas.openxmlformats.org/drawingml/2006/main">
            <a:r>
              <a:t>      "현장 재검증·제어"</a:t>
            </a:r>
          </a:p>
          <a:p xmlns:a="http://schemas.openxmlformats.org/drawingml/2006/main">
            <a:r>
              <a:t>    ],</a:t>
            </a:r>
          </a:p>
          <a:p xmlns:a="http://schemas.openxmlformats.org/drawingml/2006/main">
            <a:r>
              <a:t>    "flowBasis": "공개 기술 구조 요약 · 운영자 수동 전환 포함",</a:t>
            </a:r>
          </a:p>
          <a:p xmlns:a="http://schemas.openxmlformats.org/drawingml/2006/main">
            <a:r>
              <a:t>    "lesson": "추천과 실행 사이의 이중 검증 및 운영자 통제",</a:t>
            </a:r>
          </a:p>
          <a:p xmlns:a="http://schemas.openxmlformats.org/drawingml/2006/main">
            <a:r>
              <a:t>    "local": "TS 탄소·에너지 근거 검증과 운행 개선 권고부터 적용",</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"원천·배출계수 판본 대사 / 계산 검증 / 권고 승인 / 계측",</a:t>
            </a:r>
          </a:p>
          <a:p xmlns:a="http://schemas.openxmlformats.org/drawingml/2006/main">
            <a:r>
              <a:t>    "test": "계수·단위·경계조건별 재계산 및 이상 입력 시 권고 보류",</a:t>
            </a:r>
          </a:p>
          <a:p xmlns:a="http://schemas.openxmlformats.org/drawingml/2006/main">
            <a:r>
              <a:t>    "metric": "검증된 활동량당 에너지 / 산식 오류율"</a:t>
            </a:r>
          </a:p>
          <a:p xmlns:a="http://schemas.openxmlformats.org/drawingml/2006/main">
            <a:r>
              <a:t>  },</a:t>
            </a:r>
          </a:p>
          <a:p xmlns:a="http://schemas.openxmlformats.org/drawingml/2006/main">
            <a:r>
              <a:t>  "design": {</a:t>
            </a:r>
          </a:p>
          <a:p xmlns:a="http://schemas.openxmlformats.org/drawingml/2006/main">
            <a:r>
              <a:t>    "id": "AX05",</a:t>
            </a:r>
          </a:p>
          <a:p xmlns:a="http://schemas.openxmlformats.org/drawingml/2006/main">
            <a:r>
              <a:t>    "canonicalId": "AX05",</a:t>
            </a:r>
          </a:p>
          <a:p xmlns:a="http://schemas.openxmlformats.org/drawingml/2006/main">
            <a:r>
              <a:t>    "purpose": "냉각 설비의 에너지 효율과 안전 제약 결합",</a:t>
            </a:r>
          </a:p>
          <a:p xmlns:a="http://schemas.openxmlformats.org/drawingml/2006/main">
            <a:r>
              <a:t>    "users": "설비 운영자·제어 담당자",</a:t>
            </a:r>
          </a:p>
          <a:p xmlns:a="http://schemas.openxmlformats.org/drawingml/2006/main">
            <a:r>
              <a:t>    "scope": [</a:t>
            </a:r>
          </a:p>
          <a:p xmlns:a="http://schemas.openxmlformats.org/drawingml/2006/main">
            <a:r>
              <a:t>      "상태 예측",</a:t>
            </a:r>
          </a:p>
          <a:p xmlns:a="http://schemas.openxmlformats.org/drawingml/2006/main">
            <a:r>
              <a:t>      "권고 검증",</a:t>
            </a:r>
          </a:p>
          <a:p xmlns:a="http://schemas.openxmlformats.org/drawingml/2006/main">
            <a:r>
              <a:t>      "현장 제어"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"냉각 센서",</a:t>
            </a:r>
          </a:p>
          <a:p xmlns:a="http://schemas.openxmlformats.org/drawingml/2006/main">
            <a:r>
              <a:t>        "detail": "센서 상태·운영 제약 수집",</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"상태 예측 / 권고 검증 / 현장 제어",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"예측·제약 최적화",</a:t>
            </a:r>
          </a:p>
          <a:p xmlns:a="http://schemas.openxmlformats.org/drawingml/2006/main">
            <a:r>
              <a:t>        "detail": "소비 예측과 허용 제어값 후보 산출",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"현장 제어기·운영자",</a:t>
            </a:r>
          </a:p>
          <a:p xmlns:a="http://schemas.openxmlformats.org/drawingml/2006/main">
            <a:r>
              <a:t>        "detail": "클라우드 검증 후 현장 제어계의 재검증",</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"센서 이력·안전 경계",</a:t>
            </a:r>
          </a:p>
          <a:p xmlns:a="http://schemas.openxmlformats.org/drawingml/2006/main">
            <a:r>
              <a:t>        "detail": "시계열 센서·운전 상태·제약조건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"운영자 수동 전환 및 제어 결과의 다음 주기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"센서 상태",</a:t>
            </a:r>
          </a:p>
          <a:p xmlns:a="http://schemas.openxmlformats.org/drawingml/2006/main">
            <a:r>
              <a:t>        "input": "센서 상태·운영 제약 수집",</a:t>
            </a:r>
          </a:p>
          <a:p xmlns:a="http://schemas.openxmlformats.org/drawingml/2006/main">
            <a:r>
              <a:t>        "process": "시계열 센서·운전 상태·제약조건 정리",</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"title": "소비 예측",</a:t>
            </a:r>
          </a:p>
          <a:p xmlns:a="http://schemas.openxmlformats.org/drawingml/2006/main">
            <a:r>
              <a:t>        "input": "센서 스냅샷",</a:t>
            </a:r>
          </a:p>
          <a:p xmlns:a="http://schemas.openxmlformats.org/drawingml/2006/main">
            <a:r>
              <a:t>        "process": "소비 예측과 허용 제어값 후보 산출",</a:t>
            </a:r>
          </a:p>
          <a:p xmlns:a="http://schemas.openxmlformats.org/drawingml/2006/main">
            <a:r>
              <a:t>        "output": "행동별 소비 예측"</a:t>
            </a:r>
          </a:p>
          <a:p xmlns:a="http://schemas.openxmlformats.org/drawingml/2006/main">
            <a:r>
              <a:t>      },</a:t>
            </a:r>
          </a:p>
          <a:p xmlns:a="http://schemas.openxmlformats.org/drawingml/2006/main">
            <a:r>
              <a:t>      {</a:t>
            </a:r>
          </a:p>
          <a:p xmlns:a="http://schemas.openxmlformats.org/drawingml/2006/main">
            <a:r>
              <a:t>        "title": "안전 제약 확인",</a:t>
            </a:r>
          </a:p>
          <a:p xmlns:a="http://schemas.openxmlformats.org/drawingml/2006/main">
            <a:r>
              <a:t>        "input": "행동별 소비 예측",</a:t>
            </a:r>
          </a:p>
          <a:p xmlns:a="http://schemas.openxmlformats.org/drawingml/2006/main">
            <a:r>
              <a:t>        "process": "현장 독립 검증·수동 전환",</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"title": "현장 재검증·제어",</a:t>
            </a:r>
          </a:p>
          <a:p xmlns:a="http://schemas.openxmlformats.org/drawingml/2006/main">
            <a:r>
              <a:t>        "input": "안전 조건 충족 명령",</a:t>
            </a:r>
          </a:p>
          <a:p xmlns:a="http://schemas.openxmlformats.org/drawingml/2006/main">
            <a:r>
              <a:t>        "process":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"현재 운전상태에서 허용범위 내 냉각 제어값 산출",</a:t>
            </a:r>
          </a:p>
          <a:p xmlns:a="http://schemas.openxmlformats.org/drawingml/2006/main">
            <a:r>
              <a:t>      "exception": "센서 결측·제어값 한계 초과·현장 검증 거부",</a:t>
            </a:r>
          </a:p>
          <a:p xmlns:a="http://schemas.openxmlformats.org/drawingml/2006/main">
            <a:r>
              <a:t>      "evidence": "제약별 통과/보류 결과와 수동 전환·제어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"설비 운영자·제어 담당자",</a:t>
            </a:r>
          </a:p>
          <a:p xmlns:a="http://schemas.openxmlformats.org/drawingml/2006/main">
            <a:r>
              <a:t>          "processing": "센서 상태·운영 제약 수집",</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"센서 이력·안전 경계",</a:t>
            </a:r>
          </a:p>
          <a:p xmlns:a="http://schemas.openxmlformats.org/drawingml/2006/main">
            <a:r>
              <a:t>          "processing": "시계열 센서·운전 상태·제약조건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"센서 스냅샷",</a:t>
            </a:r>
          </a:p>
          <a:p xmlns:a="http://schemas.openxmlformats.org/drawingml/2006/main">
            <a:r>
              <a:t>          "processing": "소비 예측과 허용 제어값 후보 산출",</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"안전 조건 충족 명령",</a:t>
            </a:r>
          </a:p>
          <a:p xmlns:a="http://schemas.openxmlformats.org/drawingml/2006/main">
            <a:r>
              <a:t>          "processing":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"운영자 수동 전환 및 제어 결과의 다음 주기 반영",</a:t>
            </a:r>
          </a:p>
          <a:p xmlns:a="http://schemas.openxmlformats.org/drawingml/2006/main">
            <a:r>
              <a:t>          "output": "제약별 통과/보류 결과와 수동 전환·제어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"운영자 수동 전환 및 제어 결과의 다음 주기 반영",</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"S05",</a:t>
            </a:r>
          </a:p>
          <a:p xmlns:a="http://schemas.openxmlformats.org/drawingml/2006/main">
            <a:r>
              <a:t>        "title": "Google DeepMind · 데이터센터 냉각 제어",</a:t>
            </a:r>
          </a:p>
          <a:p xmlns:a="http://schemas.openxmlformats.org/drawingml/2006/main">
            <a:r>
              <a:t>        "url": "https://deepmind.google/blog/safety-first-ai-for-autonomous-data-centre-cooling-and-industrial-control/",</a:t>
            </a:r>
          </a:p>
          <a:p xmlns:a="http://schemas.openxmlformats.org/drawingml/2006/main">
            <a:r>
              <a:t>        "published": "2018-08-17",</a:t>
            </a:r>
          </a:p>
          <a:p xmlns:a="http://schemas.openxmlformats.org/drawingml/2006/main">
            <a:r>
              <a:t>        "level": "운영·개발사 발표",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"추천과 실행 사이의 이중 검증 및 운영자 통제",</a:t>
            </a:r>
          </a:p>
          <a:p xmlns:a="http://schemas.openxmlformats.org/drawingml/2006/main">
            <a:r>
              <a:t>    "local": "TS 탄소·에너지 근거 검증과 운행 개선 권고부터 적용",</a:t>
            </a:r>
          </a:p>
          <a:p xmlns:a="http://schemas.openxmlformats.org/drawingml/2006/main">
            <a:r>
              <a:t>    "sourceDetail": null,</a:t>
            </a:r>
          </a:p>
          <a:p xmlns:a="http://schemas.openxmlformats.org/drawingml/2006/main">
            <a:r>
              <a:t>    "narrative": [</a:t>
            </a:r>
          </a:p>
          <a:p xmlns:a="http://schemas.openxmlformats.org/drawingml/2006/main">
            <a:r>
              <a:t>      "데이터센터 냉각의 전력 효율과 설비 안전을 함께 다룬 제어 사례. 예측 결과를 화면에 보여주는 단계에서 실제 제어에 연결할 때 필요한 독립 안전검증이 핵심.",</a:t>
            </a:r>
          </a:p>
          <a:p xmlns:a="http://schemas.openxmlformats.org/drawingml/2006/main">
            <a:r>
              <a:t>      "센서 상태에서 제어 후보를 예측한 뒤 클라우드 측 검증과 현장 제어계 검증을 거쳐 실행하는 공개 구조. 운영자의 수동 전환과 허용 경계를 별도 계층으로 유지하고 실행 결과를 다음 주기 입력에 반영.",</a:t>
            </a:r>
          </a:p>
          <a:p xmlns:a="http://schemas.openxmlformats.org/drawingml/2006/main">
            <a:r>
              <a:t>      "TS 시설·장비 업무에 적용할 경우 AI 권고와 현장 실행 승인을 분리할 근거. 에너지 기준선은 계절·부하로 나누고, 센서 누락·경계 초과·통신 장애 시 안전 상태와 수동 복귀를 먼저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"냉각 상태 입력",</a:t>
            </a:r>
          </a:p>
          <a:p xmlns:a="http://schemas.openxmlformats.org/drawingml/2006/main">
            <a:r>
              <a:t>          "layer": "이용 접점",</a:t>
            </a:r>
          </a:p>
          <a:p xmlns:a="http://schemas.openxmlformats.org/drawingml/2006/main">
            <a:r>
              <a:t>          "detail": "설비 운영자·제어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"운전·안전 경계",</a:t>
            </a:r>
          </a:p>
          <a:p xmlns:a="http://schemas.openxmlformats.org/drawingml/2006/main">
            <a:r>
              <a:t>          "layer": "업무 문맥",</a:t>
            </a:r>
          </a:p>
          <a:p xmlns:a="http://schemas.openxmlformats.org/drawingml/2006/main">
            <a:r>
              <a:t>          "detail": "센서 상태·운영 제약 수집",</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"센서 이력 조회",</a:t>
            </a:r>
          </a:p>
          <a:p xmlns:a="http://schemas.openxmlformats.org/drawingml/2006/main">
            <a:r>
              <a:t>          "layer": "자료 조회",</a:t>
            </a:r>
          </a:p>
          <a:p xmlns:a="http://schemas.openxmlformats.org/drawingml/2006/main">
            <a:r>
              <a:t>          "detail": "센서 스냅샷",</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"소비·제어값 예측",</a:t>
            </a:r>
          </a:p>
          <a:p xmlns:a="http://schemas.openxmlformats.org/drawingml/2006/main">
            <a:r>
              <a:t>          "layer": "핵심 처리",</a:t>
            </a:r>
          </a:p>
          <a:p xmlns:a="http://schemas.openxmlformats.org/drawingml/2006/main">
            <a:r>
              <a:t>          "detail": "소비 예측과 허용 제어값 후보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"클라우드 안전검증",</a:t>
            </a:r>
          </a:p>
          <a:p xmlns:a="http://schemas.openxmlformats.org/drawingml/2006/main">
            <a:r>
              <a:t>          "layer": "결과 검증",</a:t>
            </a:r>
          </a:p>
          <a:p xmlns:a="http://schemas.openxmlformats.org/drawingml/2006/main">
            <a:r>
              <a:t>          "detail": "현장 독립 검증·수동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독립 검증",</a:t>
            </a:r>
          </a:p>
          <a:p xmlns:a="http://schemas.openxmlformats.org/drawingml/2006/main">
            <a:r>
              <a:t>          "layer": "사람 확인",</a:t>
            </a:r>
          </a:p>
          <a:p xmlns:a="http://schemas.openxmlformats.org/drawingml/2006/main">
            <a:r>
              <a:t>          "detail": "현재 운전상태에서 허용범위 내 냉각 제어값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"제어·수동 전환",</a:t>
            </a:r>
          </a:p>
          <a:p xmlns:a="http://schemas.openxmlformats.org/drawingml/2006/main">
            <a:r>
              <a:t>          "layer": "업무 연결",</a:t>
            </a:r>
          </a:p>
          <a:p xmlns:a="http://schemas.openxmlformats.org/drawingml/2006/main">
            <a:r>
              <a:t>          "detail": "클라우드 검증 후 현장 제어계의 재검증",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"다음 주기 환류",</a:t>
            </a:r>
          </a:p>
          <a:p xmlns:a="http://schemas.openxmlformats.org/drawingml/2006/main">
            <a:r>
              <a:t>          "layer": "운영 관측",</a:t>
            </a:r>
          </a:p>
          <a:p xmlns:a="http://schemas.openxmlformats.org/drawingml/2006/main">
            <a:r>
              <a:t>          "detail": "운영자 수동 전환 및 제어 결과의 다음 주기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"센서·운전 자료",</a:t>
            </a:r>
          </a:p>
          <a:p xmlns:a="http://schemas.openxmlformats.org/drawingml/2006/main">
            <a:r>
              <a:t>          "layer": "데이터 원천",</a:t>
            </a:r>
          </a:p>
          <a:p xmlns:a="http://schemas.openxmlformats.org/drawingml/2006/main">
            <a:r>
              <a:t>          "detail": "센서 이력·안전 경계",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"시각·결측 정리",</a:t>
            </a:r>
          </a:p>
          <a:p xmlns:a="http://schemas.openxmlformats.org/drawingml/2006/main">
            <a:r>
              <a:t>          "layer": "준비·갱신",</a:t>
            </a:r>
          </a:p>
          <a:p xmlns:a="http://schemas.openxmlformats.org/drawingml/2006/main">
            <a:r>
              <a:t>          "detail": "시계열 센서·운전 상태·제약조건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"상태·명령 이력",</a:t>
            </a:r>
          </a:p>
          <a:p xmlns:a="http://schemas.openxmlformats.org/drawingml/2006/main">
            <a:r>
              <a:t>          "layer": "상태·지식 저장",</a:t>
            </a:r>
          </a:p>
          <a:p xmlns:a="http://schemas.openxmlformats.org/drawingml/2006/main">
            <a:r>
              <a:t>          "detail": "제약별 통과/보류 결과와 수동 전환·제어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"제어 허용경계",</a:t>
            </a:r>
          </a:p>
          <a:p xmlns:a="http://schemas.openxmlformats.org/drawingml/2006/main">
            <a:r>
              <a:t>          "layer": "권한·정책",</a:t>
            </a:r>
          </a:p>
          <a:p xmlns:a="http://schemas.openxmlformats.org/drawingml/2006/main">
            <a:r>
              <a:t>          "detail": "센서 결측·제어값 한계 초과·현장 검증 거부",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"센서 상태 → 소비 예측 → 안전 제약 확인 → 현장 재검증·제어"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"센서 이력·안전 경계",</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"안전 조건 충족 명령",</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"제어 허용경계",</a:t>
            </a:r>
          </a:p>
          <a:p xmlns:a="http://schemas.openxmlformats.org/drawingml/2006/main">
            <a:r>
              <a:t>          "check": "현장 독립 검증·수동 전환"</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"현장 검증·실행",</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"운영자 수동 전환 및 제어 결과의 다음 주기 반영",</a:t>
            </a:r>
          </a:p>
          <a:p xmlns:a="http://schemas.openxmlformats.org/drawingml/2006/main">
            <a:r>
              <a:t>          "check": "운영자 수동 전환 및 제어 결과의 다음 주기 반영"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"DeepMind 2018-08-17 안전 제어 설명",</a:t>
            </a:r>
          </a:p>
          <a:p xmlns:a="http://schemas.openxmlformats.org/drawingml/2006/main">
            <a:r>
              <a:t>        "extracted": "클라우드와 현장 제어의 독립 안전검증·수동 전환",</a:t>
            </a:r>
          </a:p>
          <a:p xmlns:a="http://schemas.openxmlformats.org/drawingml/2006/main">
            <a:r>
              <a:t>        "extension": "누락 센서·경계 초과·수동 전환의 실패 재현"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"AX05",</a:t>
            </a:r>
          </a:p>
          <a:p xmlns:a="http://schemas.openxmlformats.org/drawingml/2006/main">
            <a:r>
              <a:t>          "path": "assets/casebook-sources/AX05-01.png",</a:t>
            </a:r>
          </a:p>
          <a:p xmlns:a="http://schemas.openxmlformats.org/drawingml/2006/main">
            <a:r>
              <a:t>          "title": "냉각 설비 센서 상태 수집",</a:t>
            </a:r>
          </a:p>
          <a:p xmlns:a="http://schemas.openxmlformats.org/drawingml/2006/main">
            <a:r>
              <a:t>          "status": "DeepMind 공식 단계 그림 1/4",</a:t>
            </a:r>
          </a:p>
          <a:p xmlns:a="http://schemas.openxmlformats.org/drawingml/2006/main">
            <a:r>
              <a:t>          "caption": "5분마다 현장 센서의 냉각 상태 스냅샷 수집",</a:t>
            </a:r>
          </a:p>
          <a:p xmlns:a="http://schemas.openxmlformats.org/drawingml/2006/main">
            <a:r>
              <a:t>          "locator": "Google DeepMind 2018-08-17 / How it works 1",</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"ec28de3ccf82f230a92ff87c048ed311f0c890ebcbd9dae1882ec8a20aabd999",</a:t>
            </a:r>
          </a:p>
          <a:p xmlns:a="http://schemas.openxmlformats.org/drawingml/2006/main">
            <a:r>
              <a:t>          "explanation": {</a:t>
            </a:r>
          </a:p>
          <a:p xmlns:a="http://schemas.openxmlformats.org/drawingml/2006/main">
            <a:r>
              <a:t>            "read": "DeepMind 공식 설명의 첫 단계. 약 5분 주기로 수천 개 센서에서 냉각 설비 상태의 스냅샷을 클라우드 AI에 전달한다. 그림은 데이터 수집 경로를 보여 주며, 센서 품질검사 방식이나 실제 제어망 구성은 공개하지 않는다.",</a:t>
            </a:r>
          </a:p>
          <a:p xmlns:a="http://schemas.openxmlformats.org/drawingml/2006/main">
            <a:r>
              <a:t>            "requirements": [],</a:t>
            </a:r>
          </a:p>
          <a:p xmlns:a="http://schemas.openxmlformats.org/drawingml/2006/main">
            <a:r>
              <a:t>            "connection": "TS 적용에서는 센서·설비 ID·관측시각을 먼저 대사하고 결측·지연 데이터는 제어 후보 산출에서 제외하는 입력 계약이 필요하다."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"assets/casebook-sources/AX05-02.png",</a:t>
            </a:r>
          </a:p>
          <a:p xmlns:a="http://schemas.openxmlformats.org/drawingml/2006/main">
            <a:r>
              <a:t>          "title": "신경망 예측 단계",</a:t>
            </a:r>
          </a:p>
          <a:p xmlns:a="http://schemas.openxmlformats.org/drawingml/2006/main">
            <a:r>
              <a:t>          "status": "DeepMind 공식 단계 그림 2/4",</a:t>
            </a:r>
          </a:p>
          <a:p xmlns:a="http://schemas.openxmlformats.org/drawingml/2006/main">
            <a:r>
              <a:t>          "caption": "제어 후보별 미래 효율과 온도 예측",</a:t>
            </a:r>
          </a:p>
          <a:p xmlns:a="http://schemas.openxmlformats.org/drawingml/2006/main">
            <a:r>
              <a:t>          "locator": "Google DeepMind 2018-08-17 / How it works 2",</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"3d8852c2f9db075137fc3460ddef99acb193c4b77268f159fca9100379123d6a",</a:t>
            </a:r>
          </a:p>
          <a:p xmlns:a="http://schemas.openxmlformats.org/drawingml/2006/main">
            <a:r>
              <a:t>          "explanation": {</a:t>
            </a:r>
          </a:p>
          <a:p xmlns:a="http://schemas.openxmlformats.org/drawingml/2006/main">
            <a:r>
              <a:t>            "read": "센서 상태를 신경망에 투입해 후보 제어가 향후 에너지 효율과 온도에 미칠 영향을 예측하는 두 번째 단계. 이 그림 자체는 특정 모델의 내부 구조나 학습 데이터의 전체 구성을 설명하지 않는다.",</a:t>
            </a:r>
          </a:p>
          <a:p xmlns:a="http://schemas.openxmlformats.org/drawingml/2006/main">
            <a:r>
              <a:t>            "requirements": [],</a:t>
            </a:r>
          </a:p>
          <a:p xmlns:a="http://schemas.openxmlformats.org/drawingml/2006/main">
            <a:r>
              <a:t>            "connection": "TS의 실시간 안전 사례에 적용한다면 예측값·불확실성·적용시각을 함께 기록해 권고 결과와 이후 실제 관측의 차이를 평가해야 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"assets/casebook-sources/AX05-03.png",</a:t>
            </a:r>
          </a:p>
          <a:p xmlns:a="http://schemas.openxmlformats.org/drawingml/2006/main">
            <a:r>
              <a:t>          "title": "안전 제약 내 제어 후보 선정",</a:t>
            </a:r>
          </a:p>
          <a:p xmlns:a="http://schemas.openxmlformats.org/drawingml/2006/main">
            <a:r>
              <a:t>          "status": "DeepMind 공식 단계 그림 3/4",</a:t>
            </a:r>
          </a:p>
          <a:p xmlns:a="http://schemas.openxmlformats.org/drawingml/2006/main">
            <a:r>
              <a:t>          "caption": "안전 제약을 만족하는 후보 중 에너지 소비 최소화",</a:t>
            </a:r>
          </a:p>
          <a:p xmlns:a="http://schemas.openxmlformats.org/drawingml/2006/main">
            <a:r>
              <a:t>          "locator": "Google DeepMind 2018-08-17 / How it works 3",</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"74083db5c1f1d687580f9bb3accbd06dceaac4b89bc5d41222f4f1c1842d43c5",</a:t>
            </a:r>
          </a:p>
          <a:p xmlns:a="http://schemas.openxmlformats.org/drawingml/2006/main">
            <a:r>
              <a:t>          "explanation": {</a:t>
            </a:r>
          </a:p>
          <a:p xmlns:a="http://schemas.openxmlformats.org/drawingml/2006/main">
            <a:r>
              <a:t>            "read": "예측된 후보 중 안전 제약을 만족하면서 에너지 소비를 줄일 수 있는 조치를 선택하는 단계. 공개 설명은 후보 선정 후 클라우드 측 안전 검증을 거친다고 명시하며, 제약의 전체 수치와 규칙은 공개하지 않는다.",</a:t>
            </a:r>
          </a:p>
          <a:p xmlns:a="http://schemas.openxmlformats.org/drawingml/2006/main">
            <a:r>
              <a:t>            "requirements": [],</a:t>
            </a:r>
          </a:p>
          <a:p xmlns:a="http://schemas.openxmlformats.org/drawingml/2006/main">
            <a:r>
              <a:t>            "connection": "TS에서는 최적화 점수와 필수 안전 조건을 분리해 검수하고, 안전 경계 위반 후보는 효율이 높더라도 채택하지 않는 통제 규칙으로 전환한다."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"assets/casebook-sources/AX05-04.png",</a:t>
            </a:r>
          </a:p>
          <a:p xmlns:a="http://schemas.openxmlformats.org/drawingml/2006/main">
            <a:r>
              <a:t>          "title": "현장 제어계 독립 검증",</a:t>
            </a:r>
          </a:p>
          <a:p xmlns:a="http://schemas.openxmlformats.org/drawingml/2006/main">
            <a:r>
              <a:t>          "status": "DeepMind 공식 단계 그림 4/4",</a:t>
            </a:r>
          </a:p>
          <a:p xmlns:a="http://schemas.openxmlformats.org/drawingml/2006/main">
            <a:r>
              <a:t>          "caption": "현장 제어계가 별도 안전 제약을 확인한 뒤 실행",</a:t>
            </a:r>
          </a:p>
          <a:p xmlns:a="http://schemas.openxmlformats.org/drawingml/2006/main">
            <a:r>
              <a:t>          "locator": "Google DeepMind 2018-08-17 / How it works 4",</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"9e8e418c7a75ef3dc171194ebed38921f65c8c95e29c188fa170a4705d834d27",</a:t>
            </a:r>
          </a:p>
          <a:p xmlns:a="http://schemas.openxmlformats.org/drawingml/2006/main">
            <a:r>
              <a:t>          "explanation": {</a:t>
            </a:r>
          </a:p>
          <a:p xmlns:a="http://schemas.openxmlformats.org/drawingml/2006/main">
            <a:r>
              <a:t>            "read": "선정된 조치를 현장 제어계에 보내고, 현장 시스템이 자체 안전 제약으로 다시 확인한 뒤 실행하는 마지막 단계. 운영자는 AI 제어 모드에서 언제든 이탈할 수 있다. 원문은 매 제어 단계마다 사람의 승인을 필수로 요구하지 않는다.",</a:t>
            </a:r>
          </a:p>
          <a:p xmlns:a="http://schemas.openxmlformats.org/drawingml/2006/main">
            <a:r>
              <a:t>            "requirements": [],</a:t>
            </a:r>
          </a:p>
          <a:p xmlns:a="http://schemas.openxmlformats.org/drawingml/2006/main">
            <a:r>
              <a:t>            "connection": "TS의 안전·설비 적용에서는 현장 독립 검증, 제어 거부, 수동 전환의 기록을 분리하고 통신 장애 시 기존 제어 규칙으로 복귀하는 시험을 설계한다."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"센서 결측·제어값 한계 초과·현장 검증 거부",</a:t>
            </a:r>
          </a:p>
          <a:p xmlns:a="http://schemas.openxmlformats.org/drawingml/2006/main">
            <a:r>
              <a:t>        "hold": "현장 독립 검증·수동 전환",</a:t>
            </a:r>
          </a:p>
          <a:p xmlns:a="http://schemas.openxmlformats.org/drawingml/2006/main">
            <a:r>
              <a:t>        "recovery": "운영자 수동 전환 및 제어 결과의 다음 주기 반영",</a:t>
            </a:r>
          </a:p>
          <a:p xmlns:a="http://schemas.openxmlformats.org/drawingml/2006/main">
            <a:r>
              <a:t>        "evidence": "제약별 통과/보류 결과와 수동 전환·제어 이력"</a:t>
            </a:r>
          </a:p>
          <a:p xmlns:a="http://schemas.openxmlformats.org/drawingml/2006/main">
            <a:r>
              <a:t>      },</a:t>
            </a:r>
          </a:p>
          <a:p xmlns:a="http://schemas.openxmlformats.org/drawingml/2006/main">
            <a:r>
              <a:t>      "data": {</a:t>
            </a:r>
          </a:p>
          <a:p xmlns:a="http://schemas.openxmlformats.org/drawingml/2006/main">
            <a:r>
              <a:t>        "source": "센서 이력·안전 경계",</a:t>
            </a:r>
          </a:p>
          <a:p xmlns:a="http://schemas.openxmlformats.org/drawingml/2006/main">
            <a:r>
              <a:t>        "prepare": "시계열 센서·운전 상태·제약조건 정리",</a:t>
            </a:r>
          </a:p>
          <a:p xmlns:a="http://schemas.openxmlformats.org/drawingml/2006/main">
            <a:r>
              <a:t>        "output": "센서 스냅샷",</a:t>
            </a:r>
          </a:p>
          <a:p xmlns:a="http://schemas.openxmlformats.org/drawingml/2006/main">
            <a:r>
              <a:t>        "refresh": "운영자 수동 전환 및 제어 결과의 다음 주기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"AX05",</a:t>
            </a:r>
          </a:p>
          <a:p xmlns:a="http://schemas.openxmlformats.org/drawingml/2006/main">
            <a:r>
              <a:t>    "success": [</a:t>
            </a:r>
          </a:p>
          <a:p xmlns:a="http://schemas.openxmlformats.org/drawingml/2006/main">
            <a:r>
              <a:t>      "클라우드·현장 제어의 이중 안전검증",</a:t>
            </a:r>
          </a:p>
          <a:p xmlns:a="http://schemas.openxmlformats.org/drawingml/2006/main">
            <a:r>
              <a:t>      "운영자 수동 전환과 불확실성 제한"</a:t>
            </a:r>
          </a:p>
          <a:p xmlns:a="http://schemas.openxmlformats.org/drawingml/2006/main">
            <a:r>
              <a:t>    ],</a:t>
            </a:r>
          </a:p>
          <a:p xmlns:a="http://schemas.openxmlformats.org/drawingml/2006/main">
            <a:r>
              <a:t>    "risks": [</a:t>
            </a:r>
          </a:p>
          <a:p xmlns:a="http://schemas.openxmlformats.org/drawingml/2006/main">
            <a:r>
              <a:t>      "계절·부하에 따른 기준선 변화",</a:t>
            </a:r>
          </a:p>
          <a:p xmlns:a="http://schemas.openxmlformats.org/drawingml/2006/main">
            <a:r>
              <a:t>      "안전 한계를 넓힐 때의 제어 위험"</a:t>
            </a:r>
          </a:p>
          <a:p xmlns:a="http://schemas.openxmlformats.org/drawingml/2006/main">
            <a:r>
              <a:t>    ],</a:t>
            </a:r>
          </a:p>
          <a:p xmlns:a="http://schemas.openxmlformats.org/drawingml/2006/main">
            <a:r>
              <a:t>    "architecture": [</a:t>
            </a:r>
          </a:p>
          <a:p xmlns:a="http://schemas.openxmlformats.org/drawingml/2006/main">
            <a:r>
              <a:t>      "냉각 센서",</a:t>
            </a:r>
          </a:p>
          <a:p xmlns:a="http://schemas.openxmlformats.org/drawingml/2006/main">
            <a:r>
              <a:t>      "예측·제약 최적화",</a:t>
            </a:r>
          </a:p>
          <a:p xmlns:a="http://schemas.openxmlformats.org/drawingml/2006/main">
            <a:r>
              <a:t>      "센서 이력·안전 경계",</a:t>
            </a:r>
          </a:p>
          <a:p xmlns:a="http://schemas.openxmlformats.org/drawingml/2006/main">
            <a:r>
              <a:t>      "현장 제어기·운영자"</a:t>
            </a:r>
          </a:p>
          <a:p xmlns:a="http://schemas.openxmlformats.org/drawingml/2006/main">
            <a:r>
              <a:t>    ],</a:t>
            </a:r>
          </a:p>
          <a:p xmlns:a="http://schemas.openxmlformats.org/drawingml/2006/main">
            <a:r>
              <a:t>    "transfers": [</a:t>
            </a:r>
          </a:p>
          <a:p xmlns:a="http://schemas.openxmlformats.org/drawingml/2006/main">
            <a:r>
              <a:t>      "센서 스냅샷",</a:t>
            </a:r>
          </a:p>
          <a:p xmlns:a="http://schemas.openxmlformats.org/drawingml/2006/main">
            <a:r>
              <a:t>      "행동별 소비 예측",</a:t>
            </a:r>
          </a:p>
          <a:p xmlns:a="http://schemas.openxmlformats.org/drawingml/2006/main">
            <a:r>
              <a:t>      "안전 조건 충족 명령",</a:t>
            </a:r>
          </a:p>
          <a:p xmlns:a="http://schemas.openxmlformats.org/drawingml/2006/main">
            <a:r>
              <a:t>      "현장 검증·실행"</a:t>
            </a:r>
          </a:p>
          <a:p xmlns:a="http://schemas.openxmlformats.org/drawingml/2006/main">
            <a:r>
              <a:t>    ],</a:t>
            </a:r>
          </a:p>
          <a:p xmlns:a="http://schemas.openxmlformats.org/drawingml/2006/main">
            <a:r>
              <a:t>    "control": "현장 독립 검증·수동 전환",</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"DeepMind 안전 제어 구조 · 2018-08-17",</a:t>
            </a:r>
          </a:p>
          <a:p xmlns:a="http://schemas.openxmlformats.org/drawingml/2006/main">
            <a:r>
              <a:t>      "url": "https://deepmind.google/blog/safety-first-ai-for-autonomous-data-centre-cooling-and-industrial-control/"</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DeepMind · 데이터센터 냉각 제어 https://deepmind.google/blog/safety-first-ai-for-autonomous-data-centre-cooling-and-industrial-control/</a:t>
            </a:r>
          </a:p>
          <a:p xmlns:a="http://schemas.openxmlformats.org/drawingml/2006/main">
            <a:r>
              <a:t>홈페이지 https://heen1987-ops.github.io/TS-business-Plan-001/index.html?view=casebook&amp;case=AX05</a:t>
            </a:r>
          </a:p>
          <a:p xmlns:a="http://schemas.openxmlformats.org/drawingml/2006/main">
            <a:r>
              <a:t>원문 도면 {"caseId":"AX05","path":"assets/casebook-sources/AX05-03.png","title":"안전 제약 내 제어 후보 선정","status":"DeepMind 공식 단계 그림 3/4","caption":"안전 제약을 만족하는 후보 중 에너지 소비 최소화","locator":"Google DeepMind 2018-08-17 / How it works 3","sourceUrl":"https://deepmind.google/blog/safety-first-ai-for-autonomous-data-centre-cooling-and-industrial-control/","checked":"2026-10-16","sha256":"74083db5c1f1d687580f9bb3accbd06dceaac4b89bc5d41222f4f1c1842d43c5","explanation":{"read":"예측된 후보 중 안전 제약을 만족하면서 에너지 소비를 줄일 수 있는 조치를 선택하는 단계. 공개 설명은 후보 선정 후 클라우드 측 안전 검증을 거친다고 명시하며, 제약의 전체 수치와 규칙은 공개하지 않는다.","requirements":[],"connection":"TS에서는 최적화 점수와 필수 안전 조건을 분리해 검수하고, 안전 경계 위반 후보는 효율이 높더라도 채택하지 않는 통제 규칙으로 전환한다."}}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"AX05",</a:t>
            </a:r>
          </a:p>
          <a:p xmlns:a="http://schemas.openxmlformats.org/drawingml/2006/main">
            <a:r>
              <a:t>    "title": "Google 데이터센터 냉각",</a:t>
            </a:r>
          </a:p>
          <a:p xmlns:a="http://schemas.openxmlformats.org/drawingml/2006/main">
            <a:r>
              <a:t>    "region": "해외",</a:t>
            </a:r>
          </a:p>
          <a:p xmlns:a="http://schemas.openxmlformats.org/drawingml/2006/main">
            <a:r>
              <a:t>    "country": "미국",</a:t>
            </a:r>
          </a:p>
          <a:p xmlns:a="http://schemas.openxmlformats.org/drawingml/2006/main">
            <a:r>
              <a:t>    "result": "성공",</a:t>
            </a:r>
          </a:p>
          <a:p xmlns:a="http://schemas.openxmlformats.org/drawingml/2006/main">
            <a:r>
              <a:t>    "kind": "AI 기반 운영 최적화",</a:t>
            </a:r>
          </a:p>
          <a:p xmlns:a="http://schemas.openxmlformats.org/drawingml/2006/main">
            <a:r>
              <a:t>    "period": "2018 운영 발표",</a:t>
            </a:r>
          </a:p>
          <a:p xmlns:a="http://schemas.openxmlformats.org/drawingml/2006/main">
            <a:r>
              <a:t>    "sources": [</a:t>
            </a:r>
          </a:p>
          <a:p xmlns:a="http://schemas.openxmlformats.org/drawingml/2006/main">
            <a:r>
              <a:t>      "S05"</a:t>
            </a:r>
          </a:p>
          <a:p xmlns:a="http://schemas.openxmlformats.org/drawingml/2006/main">
            <a:r>
              <a:t>    ],</a:t>
            </a:r>
          </a:p>
          <a:p xmlns:a="http://schemas.openxmlformats.org/drawingml/2006/main">
            <a:r>
              <a:t>    "keywords": [</a:t>
            </a:r>
          </a:p>
          <a:p xmlns:a="http://schemas.openxmlformats.org/drawingml/2006/main">
            <a:r>
              <a:t>      "에너지",</a:t>
            </a:r>
          </a:p>
          <a:p xmlns:a="http://schemas.openxmlformats.org/drawingml/2006/main">
            <a:r>
              <a:t>      "친환경",</a:t>
            </a:r>
          </a:p>
          <a:p xmlns:a="http://schemas.openxmlformats.org/drawingml/2006/main">
            <a:r>
              <a:t>      "안전 제약",</a:t>
            </a:r>
          </a:p>
          <a:p xmlns:a="http://schemas.openxmlformats.org/drawingml/2006/main">
            <a:r>
              <a:t>      "운영"</a:t>
            </a:r>
          </a:p>
          <a:p xmlns:a="http://schemas.openxmlformats.org/drawingml/2006/main">
            <a:r>
              <a:t>    ],</a:t>
            </a:r>
          </a:p>
          <a:p xmlns:a="http://schemas.openxmlformats.org/drawingml/2006/main">
            <a:r>
              <a:t>    "fact": "운영사 보고 기준 냉각 효율 지표(kW/ton)의 과거 기준 대비 약 30% 개선",</a:t>
            </a:r>
          </a:p>
          <a:p xmlns:a="http://schemas.openxmlformats.org/drawingml/2006/main">
            <a:r>
              <a:t>    "limit": "데이터센터 냉각 한정 · 총 전력·탄소·TS 절감률과 구분",</a:t>
            </a:r>
          </a:p>
          <a:p xmlns:a="http://schemas.openxmlformats.org/drawingml/2006/main">
            <a:r>
              <a:t>    "flow": [</a:t>
            </a:r>
          </a:p>
          <a:p xmlns:a="http://schemas.openxmlformats.org/drawingml/2006/main">
            <a:r>
              <a:t>      "센서 상태",</a:t>
            </a:r>
          </a:p>
          <a:p xmlns:a="http://schemas.openxmlformats.org/drawingml/2006/main">
            <a:r>
              <a:t>      "소비 예측",</a:t>
            </a:r>
          </a:p>
          <a:p xmlns:a="http://schemas.openxmlformats.org/drawingml/2006/main">
            <a:r>
              <a:t>      "안전 제약 확인",</a:t>
            </a:r>
          </a:p>
          <a:p xmlns:a="http://schemas.openxmlformats.org/drawingml/2006/main">
            <a:r>
              <a:t>      "현장 재검증·제어"</a:t>
            </a:r>
          </a:p>
          <a:p xmlns:a="http://schemas.openxmlformats.org/drawingml/2006/main">
            <a:r>
              <a:t>    ],</a:t>
            </a:r>
          </a:p>
          <a:p xmlns:a="http://schemas.openxmlformats.org/drawingml/2006/main">
            <a:r>
              <a:t>    "flowBasis": "공개 기술 구조 요약 · 운영자 수동 전환 포함",</a:t>
            </a:r>
          </a:p>
          <a:p xmlns:a="http://schemas.openxmlformats.org/drawingml/2006/main">
            <a:r>
              <a:t>    "lesson": "추천과 실행 사이의 이중 검증 및 운영자 통제",</a:t>
            </a:r>
          </a:p>
          <a:p xmlns:a="http://schemas.openxmlformats.org/drawingml/2006/main">
            <a:r>
              <a:t>    "local": "TS 탄소·에너지 근거 검증과 운행 개선 권고부터 적용",</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"원천·배출계수 판본 대사 / 계산 검증 / 권고 승인 / 계측",</a:t>
            </a:r>
          </a:p>
          <a:p xmlns:a="http://schemas.openxmlformats.org/drawingml/2006/main">
            <a:r>
              <a:t>    "test": "계수·단위·경계조건별 재계산 및 이상 입력 시 권고 보류",</a:t>
            </a:r>
          </a:p>
          <a:p xmlns:a="http://schemas.openxmlformats.org/drawingml/2006/main">
            <a:r>
              <a:t>    "metric": "검증된 활동량당 에너지 / 산식 오류율"</a:t>
            </a:r>
          </a:p>
          <a:p xmlns:a="http://schemas.openxmlformats.org/drawingml/2006/main">
            <a:r>
              <a:t>  },</a:t>
            </a:r>
          </a:p>
          <a:p xmlns:a="http://schemas.openxmlformats.org/drawingml/2006/main">
            <a:r>
              <a:t>  "design": {</a:t>
            </a:r>
          </a:p>
          <a:p xmlns:a="http://schemas.openxmlformats.org/drawingml/2006/main">
            <a:r>
              <a:t>    "id": "AX05",</a:t>
            </a:r>
          </a:p>
          <a:p xmlns:a="http://schemas.openxmlformats.org/drawingml/2006/main">
            <a:r>
              <a:t>    "canonicalId": "AX05",</a:t>
            </a:r>
          </a:p>
          <a:p xmlns:a="http://schemas.openxmlformats.org/drawingml/2006/main">
            <a:r>
              <a:t>    "purpose": "냉각 설비의 에너지 효율과 안전 제약 결합",</a:t>
            </a:r>
          </a:p>
          <a:p xmlns:a="http://schemas.openxmlformats.org/drawingml/2006/main">
            <a:r>
              <a:t>    "users": "설비 운영자·제어 담당자",</a:t>
            </a:r>
          </a:p>
          <a:p xmlns:a="http://schemas.openxmlformats.org/drawingml/2006/main">
            <a:r>
              <a:t>    "scope": [</a:t>
            </a:r>
          </a:p>
          <a:p xmlns:a="http://schemas.openxmlformats.org/drawingml/2006/main">
            <a:r>
              <a:t>      "상태 예측",</a:t>
            </a:r>
          </a:p>
          <a:p xmlns:a="http://schemas.openxmlformats.org/drawingml/2006/main">
            <a:r>
              <a:t>      "권고 검증",</a:t>
            </a:r>
          </a:p>
          <a:p xmlns:a="http://schemas.openxmlformats.org/drawingml/2006/main">
            <a:r>
              <a:t>      "현장 제어"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"냉각 센서",</a:t>
            </a:r>
          </a:p>
          <a:p xmlns:a="http://schemas.openxmlformats.org/drawingml/2006/main">
            <a:r>
              <a:t>        "detail": "센서 상태·운영 제약 수집",</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"상태 예측 / 권고 검증 / 현장 제어",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"예측·제약 최적화",</a:t>
            </a:r>
          </a:p>
          <a:p xmlns:a="http://schemas.openxmlformats.org/drawingml/2006/main">
            <a:r>
              <a:t>        "detail": "소비 예측과 허용 제어값 후보 산출",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"현장 제어기·운영자",</a:t>
            </a:r>
          </a:p>
          <a:p xmlns:a="http://schemas.openxmlformats.org/drawingml/2006/main">
            <a:r>
              <a:t>        "detail": "클라우드 검증 후 현장 제어계의 재검증",</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"센서 이력·안전 경계",</a:t>
            </a:r>
          </a:p>
          <a:p xmlns:a="http://schemas.openxmlformats.org/drawingml/2006/main">
            <a:r>
              <a:t>        "detail": "시계열 센서·운전 상태·제약조건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"운영자 수동 전환 및 제어 결과의 다음 주기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"센서 상태",</a:t>
            </a:r>
          </a:p>
          <a:p xmlns:a="http://schemas.openxmlformats.org/drawingml/2006/main">
            <a:r>
              <a:t>        "input": "센서 상태·운영 제약 수집",</a:t>
            </a:r>
          </a:p>
          <a:p xmlns:a="http://schemas.openxmlformats.org/drawingml/2006/main">
            <a:r>
              <a:t>        "process": "시계열 센서·운전 상태·제약조건 정리",</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"title": "소비 예측",</a:t>
            </a:r>
          </a:p>
          <a:p xmlns:a="http://schemas.openxmlformats.org/drawingml/2006/main">
            <a:r>
              <a:t>        "input": "센서 스냅샷",</a:t>
            </a:r>
          </a:p>
          <a:p xmlns:a="http://schemas.openxmlformats.org/drawingml/2006/main">
            <a:r>
              <a:t>        "process": "소비 예측과 허용 제어값 후보 산출",</a:t>
            </a:r>
          </a:p>
          <a:p xmlns:a="http://schemas.openxmlformats.org/drawingml/2006/main">
            <a:r>
              <a:t>        "output": "행동별 소비 예측"</a:t>
            </a:r>
          </a:p>
          <a:p xmlns:a="http://schemas.openxmlformats.org/drawingml/2006/main">
            <a:r>
              <a:t>      },</a:t>
            </a:r>
          </a:p>
          <a:p xmlns:a="http://schemas.openxmlformats.org/drawingml/2006/main">
            <a:r>
              <a:t>      {</a:t>
            </a:r>
          </a:p>
          <a:p xmlns:a="http://schemas.openxmlformats.org/drawingml/2006/main">
            <a:r>
              <a:t>        "title": "안전 제약 확인",</a:t>
            </a:r>
          </a:p>
          <a:p xmlns:a="http://schemas.openxmlformats.org/drawingml/2006/main">
            <a:r>
              <a:t>        "input": "행동별 소비 예측",</a:t>
            </a:r>
          </a:p>
          <a:p xmlns:a="http://schemas.openxmlformats.org/drawingml/2006/main">
            <a:r>
              <a:t>        "process": "현장 독립 검증·수동 전환",</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"title": "현장 재검증·제어",</a:t>
            </a:r>
          </a:p>
          <a:p xmlns:a="http://schemas.openxmlformats.org/drawingml/2006/main">
            <a:r>
              <a:t>        "input": "안전 조건 충족 명령",</a:t>
            </a:r>
          </a:p>
          <a:p xmlns:a="http://schemas.openxmlformats.org/drawingml/2006/main">
            <a:r>
              <a:t>        "process":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"현재 운전상태에서 허용범위 내 냉각 제어값 산출",</a:t>
            </a:r>
          </a:p>
          <a:p xmlns:a="http://schemas.openxmlformats.org/drawingml/2006/main">
            <a:r>
              <a:t>      "exception": "센서 결측·제어값 한계 초과·현장 검증 거부",</a:t>
            </a:r>
          </a:p>
          <a:p xmlns:a="http://schemas.openxmlformats.org/drawingml/2006/main">
            <a:r>
              <a:t>      "evidence": "제약별 통과/보류 결과와 수동 전환·제어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"설비 운영자·제어 담당자",</a:t>
            </a:r>
          </a:p>
          <a:p xmlns:a="http://schemas.openxmlformats.org/drawingml/2006/main">
            <a:r>
              <a:t>          "processing": "센서 상태·운영 제약 수집",</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"센서 이력·안전 경계",</a:t>
            </a:r>
          </a:p>
          <a:p xmlns:a="http://schemas.openxmlformats.org/drawingml/2006/main">
            <a:r>
              <a:t>          "processing": "시계열 센서·운전 상태·제약조건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"센서 스냅샷",</a:t>
            </a:r>
          </a:p>
          <a:p xmlns:a="http://schemas.openxmlformats.org/drawingml/2006/main">
            <a:r>
              <a:t>          "processing": "소비 예측과 허용 제어값 후보 산출",</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"안전 조건 충족 명령",</a:t>
            </a:r>
          </a:p>
          <a:p xmlns:a="http://schemas.openxmlformats.org/drawingml/2006/main">
            <a:r>
              <a:t>          "processing":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"운영자 수동 전환 및 제어 결과의 다음 주기 반영",</a:t>
            </a:r>
          </a:p>
          <a:p xmlns:a="http://schemas.openxmlformats.org/drawingml/2006/main">
            <a:r>
              <a:t>          "output": "제약별 통과/보류 결과와 수동 전환·제어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"운영자 수동 전환 및 제어 결과의 다음 주기 반영",</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"S05",</a:t>
            </a:r>
          </a:p>
          <a:p xmlns:a="http://schemas.openxmlformats.org/drawingml/2006/main">
            <a:r>
              <a:t>        "title": "Google DeepMind · 데이터센터 냉각 제어",</a:t>
            </a:r>
          </a:p>
          <a:p xmlns:a="http://schemas.openxmlformats.org/drawingml/2006/main">
            <a:r>
              <a:t>        "url": "https://deepmind.google/blog/safety-first-ai-for-autonomous-data-centre-cooling-and-industrial-control/",</a:t>
            </a:r>
          </a:p>
          <a:p xmlns:a="http://schemas.openxmlformats.org/drawingml/2006/main">
            <a:r>
              <a:t>        "published": "2018-08-17",</a:t>
            </a:r>
          </a:p>
          <a:p xmlns:a="http://schemas.openxmlformats.org/drawingml/2006/main">
            <a:r>
              <a:t>        "level": "운영·개발사 발표",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"추천과 실행 사이의 이중 검증 및 운영자 통제",</a:t>
            </a:r>
          </a:p>
          <a:p xmlns:a="http://schemas.openxmlformats.org/drawingml/2006/main">
            <a:r>
              <a:t>    "local": "TS 탄소·에너지 근거 검증과 운행 개선 권고부터 적용",</a:t>
            </a:r>
          </a:p>
          <a:p xmlns:a="http://schemas.openxmlformats.org/drawingml/2006/main">
            <a:r>
              <a:t>    "sourceDetail": null,</a:t>
            </a:r>
          </a:p>
          <a:p xmlns:a="http://schemas.openxmlformats.org/drawingml/2006/main">
            <a:r>
              <a:t>    "narrative": [</a:t>
            </a:r>
          </a:p>
          <a:p xmlns:a="http://schemas.openxmlformats.org/drawingml/2006/main">
            <a:r>
              <a:t>      "데이터센터 냉각의 전력 효율과 설비 안전을 함께 다룬 제어 사례. 예측 결과를 화면에 보여주는 단계에서 실제 제어에 연결할 때 필요한 독립 안전검증이 핵심.",</a:t>
            </a:r>
          </a:p>
          <a:p xmlns:a="http://schemas.openxmlformats.org/drawingml/2006/main">
            <a:r>
              <a:t>      "센서 상태에서 제어 후보를 예측한 뒤 클라우드 측 검증과 현장 제어계 검증을 거쳐 실행하는 공개 구조. 운영자의 수동 전환과 허용 경계를 별도 계층으로 유지하고 실행 결과를 다음 주기 입력에 반영.",</a:t>
            </a:r>
          </a:p>
          <a:p xmlns:a="http://schemas.openxmlformats.org/drawingml/2006/main">
            <a:r>
              <a:t>      "TS 시설·장비 업무에 적용할 경우 AI 권고와 현장 실행 승인을 분리할 근거. 에너지 기준선은 계절·부하로 나누고, 센서 누락·경계 초과·통신 장애 시 안전 상태와 수동 복귀를 먼저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"냉각 상태 입력",</a:t>
            </a:r>
          </a:p>
          <a:p xmlns:a="http://schemas.openxmlformats.org/drawingml/2006/main">
            <a:r>
              <a:t>          "layer": "이용 접점",</a:t>
            </a:r>
          </a:p>
          <a:p xmlns:a="http://schemas.openxmlformats.org/drawingml/2006/main">
            <a:r>
              <a:t>          "detail": "설비 운영자·제어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"운전·안전 경계",</a:t>
            </a:r>
          </a:p>
          <a:p xmlns:a="http://schemas.openxmlformats.org/drawingml/2006/main">
            <a:r>
              <a:t>          "layer": "업무 문맥",</a:t>
            </a:r>
          </a:p>
          <a:p xmlns:a="http://schemas.openxmlformats.org/drawingml/2006/main">
            <a:r>
              <a:t>          "detail": "센서 상태·운영 제약 수집",</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"센서 이력 조회",</a:t>
            </a:r>
          </a:p>
          <a:p xmlns:a="http://schemas.openxmlformats.org/drawingml/2006/main">
            <a:r>
              <a:t>          "layer": "자료 조회",</a:t>
            </a:r>
          </a:p>
          <a:p xmlns:a="http://schemas.openxmlformats.org/drawingml/2006/main">
            <a:r>
              <a:t>          "detail": "센서 스냅샷",</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"소비·제어값 예측",</a:t>
            </a:r>
          </a:p>
          <a:p xmlns:a="http://schemas.openxmlformats.org/drawingml/2006/main">
            <a:r>
              <a:t>          "layer": "핵심 처리",</a:t>
            </a:r>
          </a:p>
          <a:p xmlns:a="http://schemas.openxmlformats.org/drawingml/2006/main">
            <a:r>
              <a:t>          "detail": "소비 예측과 허용 제어값 후보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"클라우드 안전검증",</a:t>
            </a:r>
          </a:p>
          <a:p xmlns:a="http://schemas.openxmlformats.org/drawingml/2006/main">
            <a:r>
              <a:t>          "layer": "결과 검증",</a:t>
            </a:r>
          </a:p>
          <a:p xmlns:a="http://schemas.openxmlformats.org/drawingml/2006/main">
            <a:r>
              <a:t>          "detail": "현장 독립 검증·수동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독립 검증",</a:t>
            </a:r>
          </a:p>
          <a:p xmlns:a="http://schemas.openxmlformats.org/drawingml/2006/main">
            <a:r>
              <a:t>          "layer": "사람 확인",</a:t>
            </a:r>
          </a:p>
          <a:p xmlns:a="http://schemas.openxmlformats.org/drawingml/2006/main">
            <a:r>
              <a:t>          "detail": "현재 운전상태에서 허용범위 내 냉각 제어값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"제어·수동 전환",</a:t>
            </a:r>
          </a:p>
          <a:p xmlns:a="http://schemas.openxmlformats.org/drawingml/2006/main">
            <a:r>
              <a:t>          "layer": "업무 연결",</a:t>
            </a:r>
          </a:p>
          <a:p xmlns:a="http://schemas.openxmlformats.org/drawingml/2006/main">
            <a:r>
              <a:t>          "detail": "클라우드 검증 후 현장 제어계의 재검증",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"다음 주기 환류",</a:t>
            </a:r>
          </a:p>
          <a:p xmlns:a="http://schemas.openxmlformats.org/drawingml/2006/main">
            <a:r>
              <a:t>          "layer": "운영 관측",</a:t>
            </a:r>
          </a:p>
          <a:p xmlns:a="http://schemas.openxmlformats.org/drawingml/2006/main">
            <a:r>
              <a:t>          "detail": "운영자 수동 전환 및 제어 결과의 다음 주기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"센서·운전 자료",</a:t>
            </a:r>
          </a:p>
          <a:p xmlns:a="http://schemas.openxmlformats.org/drawingml/2006/main">
            <a:r>
              <a:t>          "layer": "데이터 원천",</a:t>
            </a:r>
          </a:p>
          <a:p xmlns:a="http://schemas.openxmlformats.org/drawingml/2006/main">
            <a:r>
              <a:t>          "detail": "센서 이력·안전 경계",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"시각·결측 정리",</a:t>
            </a:r>
          </a:p>
          <a:p xmlns:a="http://schemas.openxmlformats.org/drawingml/2006/main">
            <a:r>
              <a:t>          "layer": "준비·갱신",</a:t>
            </a:r>
          </a:p>
          <a:p xmlns:a="http://schemas.openxmlformats.org/drawingml/2006/main">
            <a:r>
              <a:t>          "detail": "시계열 센서·운전 상태·제약조건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"상태·명령 이력",</a:t>
            </a:r>
          </a:p>
          <a:p xmlns:a="http://schemas.openxmlformats.org/drawingml/2006/main">
            <a:r>
              <a:t>          "layer": "상태·지식 저장",</a:t>
            </a:r>
          </a:p>
          <a:p xmlns:a="http://schemas.openxmlformats.org/drawingml/2006/main">
            <a:r>
              <a:t>          "detail": "제약별 통과/보류 결과와 수동 전환·제어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"제어 허용경계",</a:t>
            </a:r>
          </a:p>
          <a:p xmlns:a="http://schemas.openxmlformats.org/drawingml/2006/main">
            <a:r>
              <a:t>          "layer": "권한·정책",</a:t>
            </a:r>
          </a:p>
          <a:p xmlns:a="http://schemas.openxmlformats.org/drawingml/2006/main">
            <a:r>
              <a:t>          "detail": "센서 결측·제어값 한계 초과·현장 검증 거부",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"센서 상태 → 소비 예측 → 안전 제약 확인 → 현장 재검증·제어"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"센서 이력·안전 경계",</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"안전 조건 충족 명령",</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"제어 허용경계",</a:t>
            </a:r>
          </a:p>
          <a:p xmlns:a="http://schemas.openxmlformats.org/drawingml/2006/main">
            <a:r>
              <a:t>          "check": "현장 독립 검증·수동 전환"</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"현장 검증·실행",</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"운영자 수동 전환 및 제어 결과의 다음 주기 반영",</a:t>
            </a:r>
          </a:p>
          <a:p xmlns:a="http://schemas.openxmlformats.org/drawingml/2006/main">
            <a:r>
              <a:t>          "check": "운영자 수동 전환 및 제어 결과의 다음 주기 반영"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"DeepMind 2018-08-17 안전 제어 설명",</a:t>
            </a:r>
          </a:p>
          <a:p xmlns:a="http://schemas.openxmlformats.org/drawingml/2006/main">
            <a:r>
              <a:t>        "extracted": "클라우드와 현장 제어의 독립 안전검증·수동 전환",</a:t>
            </a:r>
          </a:p>
          <a:p xmlns:a="http://schemas.openxmlformats.org/drawingml/2006/main">
            <a:r>
              <a:t>        "extension": "누락 센서·경계 초과·수동 전환의 실패 재현"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"AX05",</a:t>
            </a:r>
          </a:p>
          <a:p xmlns:a="http://schemas.openxmlformats.org/drawingml/2006/main">
            <a:r>
              <a:t>          "path": "assets/casebook-sources/AX05-01.png",</a:t>
            </a:r>
          </a:p>
          <a:p xmlns:a="http://schemas.openxmlformats.org/drawingml/2006/main">
            <a:r>
              <a:t>          "title": "냉각 설비 센서 상태 수집",</a:t>
            </a:r>
          </a:p>
          <a:p xmlns:a="http://schemas.openxmlformats.org/drawingml/2006/main">
            <a:r>
              <a:t>          "status": "DeepMind 공식 단계 그림 1/4",</a:t>
            </a:r>
          </a:p>
          <a:p xmlns:a="http://schemas.openxmlformats.org/drawingml/2006/main">
            <a:r>
              <a:t>          "caption": "5분마다 현장 센서의 냉각 상태 스냅샷 수집",</a:t>
            </a:r>
          </a:p>
          <a:p xmlns:a="http://schemas.openxmlformats.org/drawingml/2006/main">
            <a:r>
              <a:t>          "locator": "Google DeepMind 2018-08-17 / How it works 1",</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"ec28de3ccf82f230a92ff87c048ed311f0c890ebcbd9dae1882ec8a20aabd999",</a:t>
            </a:r>
          </a:p>
          <a:p xmlns:a="http://schemas.openxmlformats.org/drawingml/2006/main">
            <a:r>
              <a:t>          "explanation": {</a:t>
            </a:r>
          </a:p>
          <a:p xmlns:a="http://schemas.openxmlformats.org/drawingml/2006/main">
            <a:r>
              <a:t>            "read": "DeepMind 공식 설명의 첫 단계. 약 5분 주기로 수천 개 센서에서 냉각 설비 상태의 스냅샷을 클라우드 AI에 전달한다. 그림은 데이터 수집 경로를 보여 주며, 센서 품질검사 방식이나 실제 제어망 구성은 공개하지 않는다.",</a:t>
            </a:r>
          </a:p>
          <a:p xmlns:a="http://schemas.openxmlformats.org/drawingml/2006/main">
            <a:r>
              <a:t>            "requirements": [],</a:t>
            </a:r>
          </a:p>
          <a:p xmlns:a="http://schemas.openxmlformats.org/drawingml/2006/main">
            <a:r>
              <a:t>            "connection": "TS 적용에서는 센서·설비 ID·관측시각을 먼저 대사하고 결측·지연 데이터는 제어 후보 산출에서 제외하는 입력 계약이 필요하다."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"assets/casebook-sources/AX05-02.png",</a:t>
            </a:r>
          </a:p>
          <a:p xmlns:a="http://schemas.openxmlformats.org/drawingml/2006/main">
            <a:r>
              <a:t>          "title": "신경망 예측 단계",</a:t>
            </a:r>
          </a:p>
          <a:p xmlns:a="http://schemas.openxmlformats.org/drawingml/2006/main">
            <a:r>
              <a:t>          "status": "DeepMind 공식 단계 그림 2/4",</a:t>
            </a:r>
          </a:p>
          <a:p xmlns:a="http://schemas.openxmlformats.org/drawingml/2006/main">
            <a:r>
              <a:t>          "caption": "제어 후보별 미래 효율과 온도 예측",</a:t>
            </a:r>
          </a:p>
          <a:p xmlns:a="http://schemas.openxmlformats.org/drawingml/2006/main">
            <a:r>
              <a:t>          "locator": "Google DeepMind 2018-08-17 / How it works 2",</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"3d8852c2f9db075137fc3460ddef99acb193c4b77268f159fca9100379123d6a",</a:t>
            </a:r>
          </a:p>
          <a:p xmlns:a="http://schemas.openxmlformats.org/drawingml/2006/main">
            <a:r>
              <a:t>          "explanation": {</a:t>
            </a:r>
          </a:p>
          <a:p xmlns:a="http://schemas.openxmlformats.org/drawingml/2006/main">
            <a:r>
              <a:t>            "read": "센서 상태를 신경망에 투입해 후보 제어가 향후 에너지 효율과 온도에 미칠 영향을 예측하는 두 번째 단계. 이 그림 자체는 특정 모델의 내부 구조나 학습 데이터의 전체 구성을 설명하지 않는다.",</a:t>
            </a:r>
          </a:p>
          <a:p xmlns:a="http://schemas.openxmlformats.org/drawingml/2006/main">
            <a:r>
              <a:t>            "requirements": [],</a:t>
            </a:r>
          </a:p>
          <a:p xmlns:a="http://schemas.openxmlformats.org/drawingml/2006/main">
            <a:r>
              <a:t>            "connection": "TS의 실시간 안전 사례에 적용한다면 예측값·불확실성·적용시각을 함께 기록해 권고 결과와 이후 실제 관측의 차이를 평가해야 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"assets/casebook-sources/AX05-03.png",</a:t>
            </a:r>
          </a:p>
          <a:p xmlns:a="http://schemas.openxmlformats.org/drawingml/2006/main">
            <a:r>
              <a:t>          "title": "안전 제약 내 제어 후보 선정",</a:t>
            </a:r>
          </a:p>
          <a:p xmlns:a="http://schemas.openxmlformats.org/drawingml/2006/main">
            <a:r>
              <a:t>          "status": "DeepMind 공식 단계 그림 3/4",</a:t>
            </a:r>
          </a:p>
          <a:p xmlns:a="http://schemas.openxmlformats.org/drawingml/2006/main">
            <a:r>
              <a:t>          "caption": "안전 제약을 만족하는 후보 중 에너지 소비 최소화",</a:t>
            </a:r>
          </a:p>
          <a:p xmlns:a="http://schemas.openxmlformats.org/drawingml/2006/main">
            <a:r>
              <a:t>          "locator": "Google DeepMind 2018-08-17 / How it works 3",</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"74083db5c1f1d687580f9bb3accbd06dceaac4b89bc5d41222f4f1c1842d43c5",</a:t>
            </a:r>
          </a:p>
          <a:p xmlns:a="http://schemas.openxmlformats.org/drawingml/2006/main">
            <a:r>
              <a:t>          "explanation": {</a:t>
            </a:r>
          </a:p>
          <a:p xmlns:a="http://schemas.openxmlformats.org/drawingml/2006/main">
            <a:r>
              <a:t>            "read": "예측된 후보 중 안전 제약을 만족하면서 에너지 소비를 줄일 수 있는 조치를 선택하는 단계. 공개 설명은 후보 선정 후 클라우드 측 안전 검증을 거친다고 명시하며, 제약의 전체 수치와 규칙은 공개하지 않는다.",</a:t>
            </a:r>
          </a:p>
          <a:p xmlns:a="http://schemas.openxmlformats.org/drawingml/2006/main">
            <a:r>
              <a:t>            "requirements": [],</a:t>
            </a:r>
          </a:p>
          <a:p xmlns:a="http://schemas.openxmlformats.org/drawingml/2006/main">
            <a:r>
              <a:t>            "connection": "TS에서는 최적화 점수와 필수 안전 조건을 분리해 검수하고, 안전 경계 위반 후보는 효율이 높더라도 채택하지 않는 통제 규칙으로 전환한다."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"assets/casebook-sources/AX05-04.png",</a:t>
            </a:r>
          </a:p>
          <a:p xmlns:a="http://schemas.openxmlformats.org/drawingml/2006/main">
            <a:r>
              <a:t>          "title": "현장 제어계 독립 검증",</a:t>
            </a:r>
          </a:p>
          <a:p xmlns:a="http://schemas.openxmlformats.org/drawingml/2006/main">
            <a:r>
              <a:t>          "status": "DeepMind 공식 단계 그림 4/4",</a:t>
            </a:r>
          </a:p>
          <a:p xmlns:a="http://schemas.openxmlformats.org/drawingml/2006/main">
            <a:r>
              <a:t>          "caption": "현장 제어계가 별도 안전 제약을 확인한 뒤 실행",</a:t>
            </a:r>
          </a:p>
          <a:p xmlns:a="http://schemas.openxmlformats.org/drawingml/2006/main">
            <a:r>
              <a:t>          "locator": "Google DeepMind 2018-08-17 / How it works 4",</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"9e8e418c7a75ef3dc171194ebed38921f65c8c95e29c188fa170a4705d834d27",</a:t>
            </a:r>
          </a:p>
          <a:p xmlns:a="http://schemas.openxmlformats.org/drawingml/2006/main">
            <a:r>
              <a:t>          "explanation": {</a:t>
            </a:r>
          </a:p>
          <a:p xmlns:a="http://schemas.openxmlformats.org/drawingml/2006/main">
            <a:r>
              <a:t>            "read": "선정된 조치를 현장 제어계에 보내고, 현장 시스템이 자체 안전 제약으로 다시 확인한 뒤 실행하는 마지막 단계. 운영자는 AI 제어 모드에서 언제든 이탈할 수 있다. 원문은 매 제어 단계마다 사람의 승인을 필수로 요구하지 않는다.",</a:t>
            </a:r>
          </a:p>
          <a:p xmlns:a="http://schemas.openxmlformats.org/drawingml/2006/main">
            <a:r>
              <a:t>            "requirements": [],</a:t>
            </a:r>
          </a:p>
          <a:p xmlns:a="http://schemas.openxmlformats.org/drawingml/2006/main">
            <a:r>
              <a:t>            "connection": "TS의 안전·설비 적용에서는 현장 독립 검증, 제어 거부, 수동 전환의 기록을 분리하고 통신 장애 시 기존 제어 규칙으로 복귀하는 시험을 설계한다."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"센서 결측·제어값 한계 초과·현장 검증 거부",</a:t>
            </a:r>
          </a:p>
          <a:p xmlns:a="http://schemas.openxmlformats.org/drawingml/2006/main">
            <a:r>
              <a:t>        "hold": "현장 독립 검증·수동 전환",</a:t>
            </a:r>
          </a:p>
          <a:p xmlns:a="http://schemas.openxmlformats.org/drawingml/2006/main">
            <a:r>
              <a:t>        "recovery": "운영자 수동 전환 및 제어 결과의 다음 주기 반영",</a:t>
            </a:r>
          </a:p>
          <a:p xmlns:a="http://schemas.openxmlformats.org/drawingml/2006/main">
            <a:r>
              <a:t>        "evidence": "제약별 통과/보류 결과와 수동 전환·제어 이력"</a:t>
            </a:r>
          </a:p>
          <a:p xmlns:a="http://schemas.openxmlformats.org/drawingml/2006/main">
            <a:r>
              <a:t>      },</a:t>
            </a:r>
          </a:p>
          <a:p xmlns:a="http://schemas.openxmlformats.org/drawingml/2006/main">
            <a:r>
              <a:t>      "data": {</a:t>
            </a:r>
          </a:p>
          <a:p xmlns:a="http://schemas.openxmlformats.org/drawingml/2006/main">
            <a:r>
              <a:t>        "source": "센서 이력·안전 경계",</a:t>
            </a:r>
          </a:p>
          <a:p xmlns:a="http://schemas.openxmlformats.org/drawingml/2006/main">
            <a:r>
              <a:t>        "prepare": "시계열 센서·운전 상태·제약조건 정리",</a:t>
            </a:r>
          </a:p>
          <a:p xmlns:a="http://schemas.openxmlformats.org/drawingml/2006/main">
            <a:r>
              <a:t>        "output": "센서 스냅샷",</a:t>
            </a:r>
          </a:p>
          <a:p xmlns:a="http://schemas.openxmlformats.org/drawingml/2006/main">
            <a:r>
              <a:t>        "refresh": "운영자 수동 전환 및 제어 결과의 다음 주기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"AX05",</a:t>
            </a:r>
          </a:p>
          <a:p xmlns:a="http://schemas.openxmlformats.org/drawingml/2006/main">
            <a:r>
              <a:t>    "success": [</a:t>
            </a:r>
          </a:p>
          <a:p xmlns:a="http://schemas.openxmlformats.org/drawingml/2006/main">
            <a:r>
              <a:t>      "클라우드·현장 제어의 이중 안전검증",</a:t>
            </a:r>
          </a:p>
          <a:p xmlns:a="http://schemas.openxmlformats.org/drawingml/2006/main">
            <a:r>
              <a:t>      "운영자 수동 전환과 불확실성 제한"</a:t>
            </a:r>
          </a:p>
          <a:p xmlns:a="http://schemas.openxmlformats.org/drawingml/2006/main">
            <a:r>
              <a:t>    ],</a:t>
            </a:r>
          </a:p>
          <a:p xmlns:a="http://schemas.openxmlformats.org/drawingml/2006/main">
            <a:r>
              <a:t>    "risks": [</a:t>
            </a:r>
          </a:p>
          <a:p xmlns:a="http://schemas.openxmlformats.org/drawingml/2006/main">
            <a:r>
              <a:t>      "계절·부하에 따른 기준선 변화",</a:t>
            </a:r>
          </a:p>
          <a:p xmlns:a="http://schemas.openxmlformats.org/drawingml/2006/main">
            <a:r>
              <a:t>      "안전 한계를 넓힐 때의 제어 위험"</a:t>
            </a:r>
          </a:p>
          <a:p xmlns:a="http://schemas.openxmlformats.org/drawingml/2006/main">
            <a:r>
              <a:t>    ],</a:t>
            </a:r>
          </a:p>
          <a:p xmlns:a="http://schemas.openxmlformats.org/drawingml/2006/main">
            <a:r>
              <a:t>    "architecture": [</a:t>
            </a:r>
          </a:p>
          <a:p xmlns:a="http://schemas.openxmlformats.org/drawingml/2006/main">
            <a:r>
              <a:t>      "냉각 센서",</a:t>
            </a:r>
          </a:p>
          <a:p xmlns:a="http://schemas.openxmlformats.org/drawingml/2006/main">
            <a:r>
              <a:t>      "예측·제약 최적화",</a:t>
            </a:r>
          </a:p>
          <a:p xmlns:a="http://schemas.openxmlformats.org/drawingml/2006/main">
            <a:r>
              <a:t>      "센서 이력·안전 경계",</a:t>
            </a:r>
          </a:p>
          <a:p xmlns:a="http://schemas.openxmlformats.org/drawingml/2006/main">
            <a:r>
              <a:t>      "현장 제어기·운영자"</a:t>
            </a:r>
          </a:p>
          <a:p xmlns:a="http://schemas.openxmlformats.org/drawingml/2006/main">
            <a:r>
              <a:t>    ],</a:t>
            </a:r>
          </a:p>
          <a:p xmlns:a="http://schemas.openxmlformats.org/drawingml/2006/main">
            <a:r>
              <a:t>    "transfers": [</a:t>
            </a:r>
          </a:p>
          <a:p xmlns:a="http://schemas.openxmlformats.org/drawingml/2006/main">
            <a:r>
              <a:t>      "센서 스냅샷",</a:t>
            </a:r>
          </a:p>
          <a:p xmlns:a="http://schemas.openxmlformats.org/drawingml/2006/main">
            <a:r>
              <a:t>      "행동별 소비 예측",</a:t>
            </a:r>
          </a:p>
          <a:p xmlns:a="http://schemas.openxmlformats.org/drawingml/2006/main">
            <a:r>
              <a:t>      "안전 조건 충족 명령",</a:t>
            </a:r>
          </a:p>
          <a:p xmlns:a="http://schemas.openxmlformats.org/drawingml/2006/main">
            <a:r>
              <a:t>      "현장 검증·실행"</a:t>
            </a:r>
          </a:p>
          <a:p xmlns:a="http://schemas.openxmlformats.org/drawingml/2006/main">
            <a:r>
              <a:t>    ],</a:t>
            </a:r>
          </a:p>
          <a:p xmlns:a="http://schemas.openxmlformats.org/drawingml/2006/main">
            <a:r>
              <a:t>    "control": "현장 독립 검증·수동 전환",</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"DeepMind 안전 제어 구조 · 2018-08-17",</a:t>
            </a:r>
          </a:p>
          <a:p xmlns:a="http://schemas.openxmlformats.org/drawingml/2006/main">
            <a:r>
              <a:t>      "url": "https://deepmind.google/blog/safety-first-ai-for-autonomous-data-centre-cooling-and-industrial-control/"</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DeepMind · 데이터센터 냉각 제어 https://deepmind.google/blog/safety-first-ai-for-autonomous-data-centre-cooling-and-industrial-control/</a:t>
            </a:r>
          </a:p>
          <a:p xmlns:a="http://schemas.openxmlformats.org/drawingml/2006/main">
            <a:r>
              <a:t>홈페이지 https://heen1987-ops.github.io/TS-business-Plan-001/index.html?view=casebook&amp;case=AX05</a:t>
            </a:r>
          </a:p>
          <a:p xmlns:a="http://schemas.openxmlformats.org/drawingml/2006/main">
            <a:r>
              <a:t>원문 도면 {"caseId":"AX05","path":"assets/casebook-sources/AX05-04.png","title":"현장 제어계 독립 검증","status":"DeepMind 공식 단계 그림 4/4","caption":"현장 제어계가 별도 안전 제약을 확인한 뒤 실행","locator":"Google DeepMind 2018-08-17 / How it works 4","sourceUrl":"https://deepmind.google/blog/safety-first-ai-for-autonomous-data-centre-cooling-and-industrial-control/","checked":"2026-10-16","sha256":"9e8e418c7a75ef3dc171194ebed38921f65c8c95e29c188fa170a4705d834d27","explanation":{"read":"선정된 조치를 현장 제어계에 보내고, 현장 시스템이 자체 안전 제약으로 다시 확인한 뒤 실행하는 마지막 단계. 운영자는 AI 제어 모드에서 언제든 이탈할 수 있다. 원문은 매 제어 단계마다 사람의 승인을 필수로 요구하지 않는다.","requirements":[],"connection":"TS의 안전·설비 적용에서는 현장 독립 검증, 제어 거부, 수동 전환의 기록을 분리하고 통신 장애 시 기존 제어 규칙으로 복귀하는 시험을 설계한다."}}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"AX05",</a:t>
            </a:r>
          </a:p>
          <a:p xmlns:a="http://schemas.openxmlformats.org/drawingml/2006/main">
            <a:r>
              <a:t>    "title": "Google 데이터센터 냉각",</a:t>
            </a:r>
          </a:p>
          <a:p xmlns:a="http://schemas.openxmlformats.org/drawingml/2006/main">
            <a:r>
              <a:t>    "region": "해외",</a:t>
            </a:r>
          </a:p>
          <a:p xmlns:a="http://schemas.openxmlformats.org/drawingml/2006/main">
            <a:r>
              <a:t>    "country": "미국",</a:t>
            </a:r>
          </a:p>
          <a:p xmlns:a="http://schemas.openxmlformats.org/drawingml/2006/main">
            <a:r>
              <a:t>    "result": "성공",</a:t>
            </a:r>
          </a:p>
          <a:p xmlns:a="http://schemas.openxmlformats.org/drawingml/2006/main">
            <a:r>
              <a:t>    "kind": "AI 기반 운영 최적화",</a:t>
            </a:r>
          </a:p>
          <a:p xmlns:a="http://schemas.openxmlformats.org/drawingml/2006/main">
            <a:r>
              <a:t>    "period": "2018 운영 발표",</a:t>
            </a:r>
          </a:p>
          <a:p xmlns:a="http://schemas.openxmlformats.org/drawingml/2006/main">
            <a:r>
              <a:t>    "sources": [</a:t>
            </a:r>
          </a:p>
          <a:p xmlns:a="http://schemas.openxmlformats.org/drawingml/2006/main">
            <a:r>
              <a:t>      "S05"</a:t>
            </a:r>
          </a:p>
          <a:p xmlns:a="http://schemas.openxmlformats.org/drawingml/2006/main">
            <a:r>
              <a:t>    ],</a:t>
            </a:r>
          </a:p>
          <a:p xmlns:a="http://schemas.openxmlformats.org/drawingml/2006/main">
            <a:r>
              <a:t>    "keywords": [</a:t>
            </a:r>
          </a:p>
          <a:p xmlns:a="http://schemas.openxmlformats.org/drawingml/2006/main">
            <a:r>
              <a:t>      "에너지",</a:t>
            </a:r>
          </a:p>
          <a:p xmlns:a="http://schemas.openxmlformats.org/drawingml/2006/main">
            <a:r>
              <a:t>      "친환경",</a:t>
            </a:r>
          </a:p>
          <a:p xmlns:a="http://schemas.openxmlformats.org/drawingml/2006/main">
            <a:r>
              <a:t>      "안전 제약",</a:t>
            </a:r>
          </a:p>
          <a:p xmlns:a="http://schemas.openxmlformats.org/drawingml/2006/main">
            <a:r>
              <a:t>      "운영"</a:t>
            </a:r>
          </a:p>
          <a:p xmlns:a="http://schemas.openxmlformats.org/drawingml/2006/main">
            <a:r>
              <a:t>    ],</a:t>
            </a:r>
          </a:p>
          <a:p xmlns:a="http://schemas.openxmlformats.org/drawingml/2006/main">
            <a:r>
              <a:t>    "fact": "운영사 보고 기준 냉각 효율 지표(kW/ton)의 과거 기준 대비 약 30% 개선",</a:t>
            </a:r>
          </a:p>
          <a:p xmlns:a="http://schemas.openxmlformats.org/drawingml/2006/main">
            <a:r>
              <a:t>    "limit": "데이터센터 냉각 한정 · 총 전력·탄소·TS 절감률과 구분",</a:t>
            </a:r>
          </a:p>
          <a:p xmlns:a="http://schemas.openxmlformats.org/drawingml/2006/main">
            <a:r>
              <a:t>    "flow": [</a:t>
            </a:r>
          </a:p>
          <a:p xmlns:a="http://schemas.openxmlformats.org/drawingml/2006/main">
            <a:r>
              <a:t>      "센서 상태",</a:t>
            </a:r>
          </a:p>
          <a:p xmlns:a="http://schemas.openxmlformats.org/drawingml/2006/main">
            <a:r>
              <a:t>      "소비 예측",</a:t>
            </a:r>
          </a:p>
          <a:p xmlns:a="http://schemas.openxmlformats.org/drawingml/2006/main">
            <a:r>
              <a:t>      "안전 제약 확인",</a:t>
            </a:r>
          </a:p>
          <a:p xmlns:a="http://schemas.openxmlformats.org/drawingml/2006/main">
            <a:r>
              <a:t>      "현장 재검증·제어"</a:t>
            </a:r>
          </a:p>
          <a:p xmlns:a="http://schemas.openxmlformats.org/drawingml/2006/main">
            <a:r>
              <a:t>    ],</a:t>
            </a:r>
          </a:p>
          <a:p xmlns:a="http://schemas.openxmlformats.org/drawingml/2006/main">
            <a:r>
              <a:t>    "flowBasis": "공개 기술 구조 요약 · 운영자 수동 전환 포함",</a:t>
            </a:r>
          </a:p>
          <a:p xmlns:a="http://schemas.openxmlformats.org/drawingml/2006/main">
            <a:r>
              <a:t>    "lesson": "추천과 실행 사이의 이중 검증 및 운영자 통제",</a:t>
            </a:r>
          </a:p>
          <a:p xmlns:a="http://schemas.openxmlformats.org/drawingml/2006/main">
            <a:r>
              <a:t>    "local": "TS 탄소·에너지 근거 검증과 운행 개선 권고부터 적용",</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"원천·배출계수 판본 대사 / 계산 검증 / 권고 승인 / 계측",</a:t>
            </a:r>
          </a:p>
          <a:p xmlns:a="http://schemas.openxmlformats.org/drawingml/2006/main">
            <a:r>
              <a:t>    "test": "계수·단위·경계조건별 재계산 및 이상 입력 시 권고 보류",</a:t>
            </a:r>
          </a:p>
          <a:p xmlns:a="http://schemas.openxmlformats.org/drawingml/2006/main">
            <a:r>
              <a:t>    "metric": "검증된 활동량당 에너지 / 산식 오류율"</a:t>
            </a:r>
          </a:p>
          <a:p xmlns:a="http://schemas.openxmlformats.org/drawingml/2006/main">
            <a:r>
              <a:t>  },</a:t>
            </a:r>
          </a:p>
          <a:p xmlns:a="http://schemas.openxmlformats.org/drawingml/2006/main">
            <a:r>
              <a:t>  "design": {</a:t>
            </a:r>
          </a:p>
          <a:p xmlns:a="http://schemas.openxmlformats.org/drawingml/2006/main">
            <a:r>
              <a:t>    "id": "AX05",</a:t>
            </a:r>
          </a:p>
          <a:p xmlns:a="http://schemas.openxmlformats.org/drawingml/2006/main">
            <a:r>
              <a:t>    "canonicalId": "AX05",</a:t>
            </a:r>
          </a:p>
          <a:p xmlns:a="http://schemas.openxmlformats.org/drawingml/2006/main">
            <a:r>
              <a:t>    "purpose": "냉각 설비의 에너지 효율과 안전 제약 결합",</a:t>
            </a:r>
          </a:p>
          <a:p xmlns:a="http://schemas.openxmlformats.org/drawingml/2006/main">
            <a:r>
              <a:t>    "users": "설비 운영자·제어 담당자",</a:t>
            </a:r>
          </a:p>
          <a:p xmlns:a="http://schemas.openxmlformats.org/drawingml/2006/main">
            <a:r>
              <a:t>    "scope": [</a:t>
            </a:r>
          </a:p>
          <a:p xmlns:a="http://schemas.openxmlformats.org/drawingml/2006/main">
            <a:r>
              <a:t>      "상태 예측",</a:t>
            </a:r>
          </a:p>
          <a:p xmlns:a="http://schemas.openxmlformats.org/drawingml/2006/main">
            <a:r>
              <a:t>      "권고 검증",</a:t>
            </a:r>
          </a:p>
          <a:p xmlns:a="http://schemas.openxmlformats.org/drawingml/2006/main">
            <a:r>
              <a:t>      "현장 제어"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"냉각 센서",</a:t>
            </a:r>
          </a:p>
          <a:p xmlns:a="http://schemas.openxmlformats.org/drawingml/2006/main">
            <a:r>
              <a:t>        "detail": "센서 상태·운영 제약 수집",</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"상태 예측 / 권고 검증 / 현장 제어",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"예측·제약 최적화",</a:t>
            </a:r>
          </a:p>
          <a:p xmlns:a="http://schemas.openxmlformats.org/drawingml/2006/main">
            <a:r>
              <a:t>        "detail": "소비 예측과 허용 제어값 후보 산출",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"현장 제어기·운영자",</a:t>
            </a:r>
          </a:p>
          <a:p xmlns:a="http://schemas.openxmlformats.org/drawingml/2006/main">
            <a:r>
              <a:t>        "detail": "클라우드 검증 후 현장 제어계의 재검증",</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"센서 이력·안전 경계",</a:t>
            </a:r>
          </a:p>
          <a:p xmlns:a="http://schemas.openxmlformats.org/drawingml/2006/main">
            <a:r>
              <a:t>        "detail": "시계열 센서·운전 상태·제약조건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"운영자 수동 전환 및 제어 결과의 다음 주기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"센서 상태",</a:t>
            </a:r>
          </a:p>
          <a:p xmlns:a="http://schemas.openxmlformats.org/drawingml/2006/main">
            <a:r>
              <a:t>        "input": "센서 상태·운영 제약 수집",</a:t>
            </a:r>
          </a:p>
          <a:p xmlns:a="http://schemas.openxmlformats.org/drawingml/2006/main">
            <a:r>
              <a:t>        "process": "시계열 센서·운전 상태·제약조건 정리",</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"title": "소비 예측",</a:t>
            </a:r>
          </a:p>
          <a:p xmlns:a="http://schemas.openxmlformats.org/drawingml/2006/main">
            <a:r>
              <a:t>        "input": "센서 스냅샷",</a:t>
            </a:r>
          </a:p>
          <a:p xmlns:a="http://schemas.openxmlformats.org/drawingml/2006/main">
            <a:r>
              <a:t>        "process": "소비 예측과 허용 제어값 후보 산출",</a:t>
            </a:r>
          </a:p>
          <a:p xmlns:a="http://schemas.openxmlformats.org/drawingml/2006/main">
            <a:r>
              <a:t>        "output": "행동별 소비 예측"</a:t>
            </a:r>
          </a:p>
          <a:p xmlns:a="http://schemas.openxmlformats.org/drawingml/2006/main">
            <a:r>
              <a:t>      },</a:t>
            </a:r>
          </a:p>
          <a:p xmlns:a="http://schemas.openxmlformats.org/drawingml/2006/main">
            <a:r>
              <a:t>      {</a:t>
            </a:r>
          </a:p>
          <a:p xmlns:a="http://schemas.openxmlformats.org/drawingml/2006/main">
            <a:r>
              <a:t>        "title": "안전 제약 확인",</a:t>
            </a:r>
          </a:p>
          <a:p xmlns:a="http://schemas.openxmlformats.org/drawingml/2006/main">
            <a:r>
              <a:t>        "input": "행동별 소비 예측",</a:t>
            </a:r>
          </a:p>
          <a:p xmlns:a="http://schemas.openxmlformats.org/drawingml/2006/main">
            <a:r>
              <a:t>        "process": "현장 독립 검증·수동 전환",</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"title": "현장 재검증·제어",</a:t>
            </a:r>
          </a:p>
          <a:p xmlns:a="http://schemas.openxmlformats.org/drawingml/2006/main">
            <a:r>
              <a:t>        "input": "안전 조건 충족 명령",</a:t>
            </a:r>
          </a:p>
          <a:p xmlns:a="http://schemas.openxmlformats.org/drawingml/2006/main">
            <a:r>
              <a:t>        "process":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"현재 운전상태에서 허용범위 내 냉각 제어값 산출",</a:t>
            </a:r>
          </a:p>
          <a:p xmlns:a="http://schemas.openxmlformats.org/drawingml/2006/main">
            <a:r>
              <a:t>      "exception": "센서 결측·제어값 한계 초과·현장 검증 거부",</a:t>
            </a:r>
          </a:p>
          <a:p xmlns:a="http://schemas.openxmlformats.org/drawingml/2006/main">
            <a:r>
              <a:t>      "evidence": "제약별 통과/보류 결과와 수동 전환·제어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"설비 운영자·제어 담당자",</a:t>
            </a:r>
          </a:p>
          <a:p xmlns:a="http://schemas.openxmlformats.org/drawingml/2006/main">
            <a:r>
              <a:t>          "processing": "센서 상태·운영 제약 수집",</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"센서 이력·안전 경계",</a:t>
            </a:r>
          </a:p>
          <a:p xmlns:a="http://schemas.openxmlformats.org/drawingml/2006/main">
            <a:r>
              <a:t>          "processing": "시계열 센서·운전 상태·제약조건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"센서 스냅샷",</a:t>
            </a:r>
          </a:p>
          <a:p xmlns:a="http://schemas.openxmlformats.org/drawingml/2006/main">
            <a:r>
              <a:t>          "processing": "소비 예측과 허용 제어값 후보 산출",</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"안전 조건 충족 명령",</a:t>
            </a:r>
          </a:p>
          <a:p xmlns:a="http://schemas.openxmlformats.org/drawingml/2006/main">
            <a:r>
              <a:t>          "processing":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"운영자 수동 전환 및 제어 결과의 다음 주기 반영",</a:t>
            </a:r>
          </a:p>
          <a:p xmlns:a="http://schemas.openxmlformats.org/drawingml/2006/main">
            <a:r>
              <a:t>          "output": "제약별 통과/보류 결과와 수동 전환·제어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"운영자 수동 전환 및 제어 결과의 다음 주기 반영",</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"S05",</a:t>
            </a:r>
          </a:p>
          <a:p xmlns:a="http://schemas.openxmlformats.org/drawingml/2006/main">
            <a:r>
              <a:t>        "title": "Google DeepMind · 데이터센터 냉각 제어",</a:t>
            </a:r>
          </a:p>
          <a:p xmlns:a="http://schemas.openxmlformats.org/drawingml/2006/main">
            <a:r>
              <a:t>        "url": "https://deepmind.google/blog/safety-first-ai-for-autonomous-data-centre-cooling-and-industrial-control/",</a:t>
            </a:r>
          </a:p>
          <a:p xmlns:a="http://schemas.openxmlformats.org/drawingml/2006/main">
            <a:r>
              <a:t>        "published": "2018-08-17",</a:t>
            </a:r>
          </a:p>
          <a:p xmlns:a="http://schemas.openxmlformats.org/drawingml/2006/main">
            <a:r>
              <a:t>        "level": "운영·개발사 발표",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"추천과 실행 사이의 이중 검증 및 운영자 통제",</a:t>
            </a:r>
          </a:p>
          <a:p xmlns:a="http://schemas.openxmlformats.org/drawingml/2006/main">
            <a:r>
              <a:t>    "local": "TS 탄소·에너지 근거 검증과 운행 개선 권고부터 적용",</a:t>
            </a:r>
          </a:p>
          <a:p xmlns:a="http://schemas.openxmlformats.org/drawingml/2006/main">
            <a:r>
              <a:t>    "sourceDetail": null,</a:t>
            </a:r>
          </a:p>
          <a:p xmlns:a="http://schemas.openxmlformats.org/drawingml/2006/main">
            <a:r>
              <a:t>    "narrative": [</a:t>
            </a:r>
          </a:p>
          <a:p xmlns:a="http://schemas.openxmlformats.org/drawingml/2006/main">
            <a:r>
              <a:t>      "데이터센터 냉각의 전력 효율과 설비 안전을 함께 다룬 제어 사례. 예측 결과를 화면에 보여주는 단계에서 실제 제어에 연결할 때 필요한 독립 안전검증이 핵심.",</a:t>
            </a:r>
          </a:p>
          <a:p xmlns:a="http://schemas.openxmlformats.org/drawingml/2006/main">
            <a:r>
              <a:t>      "센서 상태에서 제어 후보를 예측한 뒤 클라우드 측 검증과 현장 제어계 검증을 거쳐 실행하는 공개 구조. 운영자의 수동 전환과 허용 경계를 별도 계층으로 유지하고 실행 결과를 다음 주기 입력에 반영.",</a:t>
            </a:r>
          </a:p>
          <a:p xmlns:a="http://schemas.openxmlformats.org/drawingml/2006/main">
            <a:r>
              <a:t>      "TS 시설·장비 업무에 적용할 경우 AI 권고와 현장 실행 승인을 분리할 근거. 에너지 기준선은 계절·부하로 나누고, 센서 누락·경계 초과·통신 장애 시 안전 상태와 수동 복귀를 먼저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"냉각 상태 입력",</a:t>
            </a:r>
          </a:p>
          <a:p xmlns:a="http://schemas.openxmlformats.org/drawingml/2006/main">
            <a:r>
              <a:t>          "layer": "이용 접점",</a:t>
            </a:r>
          </a:p>
          <a:p xmlns:a="http://schemas.openxmlformats.org/drawingml/2006/main">
            <a:r>
              <a:t>          "detail": "설비 운영자·제어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"운전·안전 경계",</a:t>
            </a:r>
          </a:p>
          <a:p xmlns:a="http://schemas.openxmlformats.org/drawingml/2006/main">
            <a:r>
              <a:t>          "layer": "업무 문맥",</a:t>
            </a:r>
          </a:p>
          <a:p xmlns:a="http://schemas.openxmlformats.org/drawingml/2006/main">
            <a:r>
              <a:t>          "detail": "센서 상태·운영 제약 수집",</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"센서 이력 조회",</a:t>
            </a:r>
          </a:p>
          <a:p xmlns:a="http://schemas.openxmlformats.org/drawingml/2006/main">
            <a:r>
              <a:t>          "layer": "자료 조회",</a:t>
            </a:r>
          </a:p>
          <a:p xmlns:a="http://schemas.openxmlformats.org/drawingml/2006/main">
            <a:r>
              <a:t>          "detail": "센서 스냅샷",</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"소비·제어값 예측",</a:t>
            </a:r>
          </a:p>
          <a:p xmlns:a="http://schemas.openxmlformats.org/drawingml/2006/main">
            <a:r>
              <a:t>          "layer": "핵심 처리",</a:t>
            </a:r>
          </a:p>
          <a:p xmlns:a="http://schemas.openxmlformats.org/drawingml/2006/main">
            <a:r>
              <a:t>          "detail": "소비 예측과 허용 제어값 후보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"클라우드 안전검증",</a:t>
            </a:r>
          </a:p>
          <a:p xmlns:a="http://schemas.openxmlformats.org/drawingml/2006/main">
            <a:r>
              <a:t>          "layer": "결과 검증",</a:t>
            </a:r>
          </a:p>
          <a:p xmlns:a="http://schemas.openxmlformats.org/drawingml/2006/main">
            <a:r>
              <a:t>          "detail": "현장 독립 검증·수동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독립 검증",</a:t>
            </a:r>
          </a:p>
          <a:p xmlns:a="http://schemas.openxmlformats.org/drawingml/2006/main">
            <a:r>
              <a:t>          "layer": "사람 확인",</a:t>
            </a:r>
          </a:p>
          <a:p xmlns:a="http://schemas.openxmlformats.org/drawingml/2006/main">
            <a:r>
              <a:t>          "detail": "현재 운전상태에서 허용범위 내 냉각 제어값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"제어·수동 전환",</a:t>
            </a:r>
          </a:p>
          <a:p xmlns:a="http://schemas.openxmlformats.org/drawingml/2006/main">
            <a:r>
              <a:t>          "layer": "업무 연결",</a:t>
            </a:r>
          </a:p>
          <a:p xmlns:a="http://schemas.openxmlformats.org/drawingml/2006/main">
            <a:r>
              <a:t>          "detail": "클라우드 검증 후 현장 제어계의 재검증",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"다음 주기 환류",</a:t>
            </a:r>
          </a:p>
          <a:p xmlns:a="http://schemas.openxmlformats.org/drawingml/2006/main">
            <a:r>
              <a:t>          "layer": "운영 관측",</a:t>
            </a:r>
          </a:p>
          <a:p xmlns:a="http://schemas.openxmlformats.org/drawingml/2006/main">
            <a:r>
              <a:t>          "detail": "운영자 수동 전환 및 제어 결과의 다음 주기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"센서·운전 자료",</a:t>
            </a:r>
          </a:p>
          <a:p xmlns:a="http://schemas.openxmlformats.org/drawingml/2006/main">
            <a:r>
              <a:t>          "layer": "데이터 원천",</a:t>
            </a:r>
          </a:p>
          <a:p xmlns:a="http://schemas.openxmlformats.org/drawingml/2006/main">
            <a:r>
              <a:t>          "detail": "센서 이력·안전 경계",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"시각·결측 정리",</a:t>
            </a:r>
          </a:p>
          <a:p xmlns:a="http://schemas.openxmlformats.org/drawingml/2006/main">
            <a:r>
              <a:t>          "layer": "준비·갱신",</a:t>
            </a:r>
          </a:p>
          <a:p xmlns:a="http://schemas.openxmlformats.org/drawingml/2006/main">
            <a:r>
              <a:t>          "detail": "시계열 센서·운전 상태·제약조건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"상태·명령 이력",</a:t>
            </a:r>
          </a:p>
          <a:p xmlns:a="http://schemas.openxmlformats.org/drawingml/2006/main">
            <a:r>
              <a:t>          "layer": "상태·지식 저장",</a:t>
            </a:r>
          </a:p>
          <a:p xmlns:a="http://schemas.openxmlformats.org/drawingml/2006/main">
            <a:r>
              <a:t>          "detail": "제약별 통과/보류 결과와 수동 전환·제어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"제어 허용경계",</a:t>
            </a:r>
          </a:p>
          <a:p xmlns:a="http://schemas.openxmlformats.org/drawingml/2006/main">
            <a:r>
              <a:t>          "layer": "권한·정책",</a:t>
            </a:r>
          </a:p>
          <a:p xmlns:a="http://schemas.openxmlformats.org/drawingml/2006/main">
            <a:r>
              <a:t>          "detail": "센서 결측·제어값 한계 초과·현장 검증 거부",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"센서 상태 → 소비 예측 → 안전 제약 확인 → 현장 재검증·제어"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"센서 이력·안전 경계",</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"안전 조건 충족 명령",</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"제어 허용경계",</a:t>
            </a:r>
          </a:p>
          <a:p xmlns:a="http://schemas.openxmlformats.org/drawingml/2006/main">
            <a:r>
              <a:t>          "check": "현장 독립 검증·수동 전환"</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"현장 검증·실행",</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"운영자 수동 전환 및 제어 결과의 다음 주기 반영",</a:t>
            </a:r>
          </a:p>
          <a:p xmlns:a="http://schemas.openxmlformats.org/drawingml/2006/main">
            <a:r>
              <a:t>          "check": "운영자 수동 전환 및 제어 결과의 다음 주기 반영"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"DeepMind 2018-08-17 안전 제어 설명",</a:t>
            </a:r>
          </a:p>
          <a:p xmlns:a="http://schemas.openxmlformats.org/drawingml/2006/main">
            <a:r>
              <a:t>        "extracted": "클라우드와 현장 제어의 독립 안전검증·수동 전환",</a:t>
            </a:r>
          </a:p>
          <a:p xmlns:a="http://schemas.openxmlformats.org/drawingml/2006/main">
            <a:r>
              <a:t>        "extension": "누락 센서·경계 초과·수동 전환의 실패 재현"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"AX05",</a:t>
            </a:r>
          </a:p>
          <a:p xmlns:a="http://schemas.openxmlformats.org/drawingml/2006/main">
            <a:r>
              <a:t>          "path": "assets/casebook-sources/AX05-01.png",</a:t>
            </a:r>
          </a:p>
          <a:p xmlns:a="http://schemas.openxmlformats.org/drawingml/2006/main">
            <a:r>
              <a:t>          "title": "냉각 설비 센서 상태 수집",</a:t>
            </a:r>
          </a:p>
          <a:p xmlns:a="http://schemas.openxmlformats.org/drawingml/2006/main">
            <a:r>
              <a:t>          "status": "DeepMind 공식 단계 그림 1/4",</a:t>
            </a:r>
          </a:p>
          <a:p xmlns:a="http://schemas.openxmlformats.org/drawingml/2006/main">
            <a:r>
              <a:t>          "caption": "5분마다 현장 센서의 냉각 상태 스냅샷 수집",</a:t>
            </a:r>
          </a:p>
          <a:p xmlns:a="http://schemas.openxmlformats.org/drawingml/2006/main">
            <a:r>
              <a:t>          "locator": "Google DeepMind 2018-08-17 / How it works 1",</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"ec28de3ccf82f230a92ff87c048ed311f0c890ebcbd9dae1882ec8a20aabd999",</a:t>
            </a:r>
          </a:p>
          <a:p xmlns:a="http://schemas.openxmlformats.org/drawingml/2006/main">
            <a:r>
              <a:t>          "explanation": {</a:t>
            </a:r>
          </a:p>
          <a:p xmlns:a="http://schemas.openxmlformats.org/drawingml/2006/main">
            <a:r>
              <a:t>            "read": "DeepMind 공식 설명의 첫 단계. 약 5분 주기로 수천 개 센서에서 냉각 설비 상태의 스냅샷을 클라우드 AI에 전달한다. 그림은 데이터 수집 경로를 보여 주며, 센서 품질검사 방식이나 실제 제어망 구성은 공개하지 않는다.",</a:t>
            </a:r>
          </a:p>
          <a:p xmlns:a="http://schemas.openxmlformats.org/drawingml/2006/main">
            <a:r>
              <a:t>            "requirements": [],</a:t>
            </a:r>
          </a:p>
          <a:p xmlns:a="http://schemas.openxmlformats.org/drawingml/2006/main">
            <a:r>
              <a:t>            "connection": "TS 적용에서는 센서·설비 ID·관측시각을 먼저 대사하고 결측·지연 데이터는 제어 후보 산출에서 제외하는 입력 계약이 필요하다."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"assets/casebook-sources/AX05-02.png",</a:t>
            </a:r>
          </a:p>
          <a:p xmlns:a="http://schemas.openxmlformats.org/drawingml/2006/main">
            <a:r>
              <a:t>          "title": "신경망 예측 단계",</a:t>
            </a:r>
          </a:p>
          <a:p xmlns:a="http://schemas.openxmlformats.org/drawingml/2006/main">
            <a:r>
              <a:t>          "status": "DeepMind 공식 단계 그림 2/4",</a:t>
            </a:r>
          </a:p>
          <a:p xmlns:a="http://schemas.openxmlformats.org/drawingml/2006/main">
            <a:r>
              <a:t>          "caption": "제어 후보별 미래 효율과 온도 예측",</a:t>
            </a:r>
          </a:p>
          <a:p xmlns:a="http://schemas.openxmlformats.org/drawingml/2006/main">
            <a:r>
              <a:t>          "locator": "Google DeepMind 2018-08-17 / How it works 2",</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"3d8852c2f9db075137fc3460ddef99acb193c4b77268f159fca9100379123d6a",</a:t>
            </a:r>
          </a:p>
          <a:p xmlns:a="http://schemas.openxmlformats.org/drawingml/2006/main">
            <a:r>
              <a:t>          "explanation": {</a:t>
            </a:r>
          </a:p>
          <a:p xmlns:a="http://schemas.openxmlformats.org/drawingml/2006/main">
            <a:r>
              <a:t>            "read": "센서 상태를 신경망에 투입해 후보 제어가 향후 에너지 효율과 온도에 미칠 영향을 예측하는 두 번째 단계. 이 그림 자체는 특정 모델의 내부 구조나 학습 데이터의 전체 구성을 설명하지 않는다.",</a:t>
            </a:r>
          </a:p>
          <a:p xmlns:a="http://schemas.openxmlformats.org/drawingml/2006/main">
            <a:r>
              <a:t>            "requirements": [],</a:t>
            </a:r>
          </a:p>
          <a:p xmlns:a="http://schemas.openxmlformats.org/drawingml/2006/main">
            <a:r>
              <a:t>            "connection": "TS의 실시간 안전 사례에 적용한다면 예측값·불확실성·적용시각을 함께 기록해 권고 결과와 이후 실제 관측의 차이를 평가해야 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"assets/casebook-sources/AX05-03.png",</a:t>
            </a:r>
          </a:p>
          <a:p xmlns:a="http://schemas.openxmlformats.org/drawingml/2006/main">
            <a:r>
              <a:t>          "title": "안전 제약 내 제어 후보 선정",</a:t>
            </a:r>
          </a:p>
          <a:p xmlns:a="http://schemas.openxmlformats.org/drawingml/2006/main">
            <a:r>
              <a:t>          "status": "DeepMind 공식 단계 그림 3/4",</a:t>
            </a:r>
          </a:p>
          <a:p xmlns:a="http://schemas.openxmlformats.org/drawingml/2006/main">
            <a:r>
              <a:t>          "caption": "안전 제약을 만족하는 후보 중 에너지 소비 최소화",</a:t>
            </a:r>
          </a:p>
          <a:p xmlns:a="http://schemas.openxmlformats.org/drawingml/2006/main">
            <a:r>
              <a:t>          "locator": "Google DeepMind 2018-08-17 / How it works 3",</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"74083db5c1f1d687580f9bb3accbd06dceaac4b89bc5d41222f4f1c1842d43c5",</a:t>
            </a:r>
          </a:p>
          <a:p xmlns:a="http://schemas.openxmlformats.org/drawingml/2006/main">
            <a:r>
              <a:t>          "explanation": {</a:t>
            </a:r>
          </a:p>
          <a:p xmlns:a="http://schemas.openxmlformats.org/drawingml/2006/main">
            <a:r>
              <a:t>            "read": "예측된 후보 중 안전 제약을 만족하면서 에너지 소비를 줄일 수 있는 조치를 선택하는 단계. 공개 설명은 후보 선정 후 클라우드 측 안전 검증을 거친다고 명시하며, 제약의 전체 수치와 규칙은 공개하지 않는다.",</a:t>
            </a:r>
          </a:p>
          <a:p xmlns:a="http://schemas.openxmlformats.org/drawingml/2006/main">
            <a:r>
              <a:t>            "requirements": [],</a:t>
            </a:r>
          </a:p>
          <a:p xmlns:a="http://schemas.openxmlformats.org/drawingml/2006/main">
            <a:r>
              <a:t>            "connection": "TS에서는 최적화 점수와 필수 안전 조건을 분리해 검수하고, 안전 경계 위반 후보는 효율이 높더라도 채택하지 않는 통제 규칙으로 전환한다."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"assets/casebook-sources/AX05-04.png",</a:t>
            </a:r>
          </a:p>
          <a:p xmlns:a="http://schemas.openxmlformats.org/drawingml/2006/main">
            <a:r>
              <a:t>          "title": "현장 제어계 독립 검증",</a:t>
            </a:r>
          </a:p>
          <a:p xmlns:a="http://schemas.openxmlformats.org/drawingml/2006/main">
            <a:r>
              <a:t>          "status": "DeepMind 공식 단계 그림 4/4",</a:t>
            </a:r>
          </a:p>
          <a:p xmlns:a="http://schemas.openxmlformats.org/drawingml/2006/main">
            <a:r>
              <a:t>          "caption": "현장 제어계가 별도 안전 제약을 확인한 뒤 실행",</a:t>
            </a:r>
          </a:p>
          <a:p xmlns:a="http://schemas.openxmlformats.org/drawingml/2006/main">
            <a:r>
              <a:t>          "locator": "Google DeepMind 2018-08-17 / How it works 4",</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"9e8e418c7a75ef3dc171194ebed38921f65c8c95e29c188fa170a4705d834d27",</a:t>
            </a:r>
          </a:p>
          <a:p xmlns:a="http://schemas.openxmlformats.org/drawingml/2006/main">
            <a:r>
              <a:t>          "explanation": {</a:t>
            </a:r>
          </a:p>
          <a:p xmlns:a="http://schemas.openxmlformats.org/drawingml/2006/main">
            <a:r>
              <a:t>            "read": "선정된 조치를 현장 제어계에 보내고, 현장 시스템이 자체 안전 제약으로 다시 확인한 뒤 실행하는 마지막 단계. 운영자는 AI 제어 모드에서 언제든 이탈할 수 있다. 원문은 매 제어 단계마다 사람의 승인을 필수로 요구하지 않는다.",</a:t>
            </a:r>
          </a:p>
          <a:p xmlns:a="http://schemas.openxmlformats.org/drawingml/2006/main">
            <a:r>
              <a:t>            "requirements": [],</a:t>
            </a:r>
          </a:p>
          <a:p xmlns:a="http://schemas.openxmlformats.org/drawingml/2006/main">
            <a:r>
              <a:t>            "connection": "TS의 안전·설비 적용에서는 현장 독립 검증, 제어 거부, 수동 전환의 기록을 분리하고 통신 장애 시 기존 제어 규칙으로 복귀하는 시험을 설계한다."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"센서 결측·제어값 한계 초과·현장 검증 거부",</a:t>
            </a:r>
          </a:p>
          <a:p xmlns:a="http://schemas.openxmlformats.org/drawingml/2006/main">
            <a:r>
              <a:t>        "hold": "현장 독립 검증·수동 전환",</a:t>
            </a:r>
          </a:p>
          <a:p xmlns:a="http://schemas.openxmlformats.org/drawingml/2006/main">
            <a:r>
              <a:t>        "recovery": "운영자 수동 전환 및 제어 결과의 다음 주기 반영",</a:t>
            </a:r>
          </a:p>
          <a:p xmlns:a="http://schemas.openxmlformats.org/drawingml/2006/main">
            <a:r>
              <a:t>        "evidence": "제약별 통과/보류 결과와 수동 전환·제어 이력"</a:t>
            </a:r>
          </a:p>
          <a:p xmlns:a="http://schemas.openxmlformats.org/drawingml/2006/main">
            <a:r>
              <a:t>      },</a:t>
            </a:r>
          </a:p>
          <a:p xmlns:a="http://schemas.openxmlformats.org/drawingml/2006/main">
            <a:r>
              <a:t>      "data": {</a:t>
            </a:r>
          </a:p>
          <a:p xmlns:a="http://schemas.openxmlformats.org/drawingml/2006/main">
            <a:r>
              <a:t>        "source": "센서 이력·안전 경계",</a:t>
            </a:r>
          </a:p>
          <a:p xmlns:a="http://schemas.openxmlformats.org/drawingml/2006/main">
            <a:r>
              <a:t>        "prepare": "시계열 센서·운전 상태·제약조건 정리",</a:t>
            </a:r>
          </a:p>
          <a:p xmlns:a="http://schemas.openxmlformats.org/drawingml/2006/main">
            <a:r>
              <a:t>        "output": "센서 스냅샷",</a:t>
            </a:r>
          </a:p>
          <a:p xmlns:a="http://schemas.openxmlformats.org/drawingml/2006/main">
            <a:r>
              <a:t>        "refresh": "운영자 수동 전환 및 제어 결과의 다음 주기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"AX05",</a:t>
            </a:r>
          </a:p>
          <a:p xmlns:a="http://schemas.openxmlformats.org/drawingml/2006/main">
            <a:r>
              <a:t>    "success": [</a:t>
            </a:r>
          </a:p>
          <a:p xmlns:a="http://schemas.openxmlformats.org/drawingml/2006/main">
            <a:r>
              <a:t>      "클라우드·현장 제어의 이중 안전검증",</a:t>
            </a:r>
          </a:p>
          <a:p xmlns:a="http://schemas.openxmlformats.org/drawingml/2006/main">
            <a:r>
              <a:t>      "운영자 수동 전환과 불확실성 제한"</a:t>
            </a:r>
          </a:p>
          <a:p xmlns:a="http://schemas.openxmlformats.org/drawingml/2006/main">
            <a:r>
              <a:t>    ],</a:t>
            </a:r>
          </a:p>
          <a:p xmlns:a="http://schemas.openxmlformats.org/drawingml/2006/main">
            <a:r>
              <a:t>    "risks": [</a:t>
            </a:r>
          </a:p>
          <a:p xmlns:a="http://schemas.openxmlformats.org/drawingml/2006/main">
            <a:r>
              <a:t>      "계절·부하에 따른 기준선 변화",</a:t>
            </a:r>
          </a:p>
          <a:p xmlns:a="http://schemas.openxmlformats.org/drawingml/2006/main">
            <a:r>
              <a:t>      "안전 한계를 넓힐 때의 제어 위험"</a:t>
            </a:r>
          </a:p>
          <a:p xmlns:a="http://schemas.openxmlformats.org/drawingml/2006/main">
            <a:r>
              <a:t>    ],</a:t>
            </a:r>
          </a:p>
          <a:p xmlns:a="http://schemas.openxmlformats.org/drawingml/2006/main">
            <a:r>
              <a:t>    "architecture": [</a:t>
            </a:r>
          </a:p>
          <a:p xmlns:a="http://schemas.openxmlformats.org/drawingml/2006/main">
            <a:r>
              <a:t>      "냉각 센서",</a:t>
            </a:r>
          </a:p>
          <a:p xmlns:a="http://schemas.openxmlformats.org/drawingml/2006/main">
            <a:r>
              <a:t>      "예측·제약 최적화",</a:t>
            </a:r>
          </a:p>
          <a:p xmlns:a="http://schemas.openxmlformats.org/drawingml/2006/main">
            <a:r>
              <a:t>      "센서 이력·안전 경계",</a:t>
            </a:r>
          </a:p>
          <a:p xmlns:a="http://schemas.openxmlformats.org/drawingml/2006/main">
            <a:r>
              <a:t>      "현장 제어기·운영자"</a:t>
            </a:r>
          </a:p>
          <a:p xmlns:a="http://schemas.openxmlformats.org/drawingml/2006/main">
            <a:r>
              <a:t>    ],</a:t>
            </a:r>
          </a:p>
          <a:p xmlns:a="http://schemas.openxmlformats.org/drawingml/2006/main">
            <a:r>
              <a:t>    "transfers": [</a:t>
            </a:r>
          </a:p>
          <a:p xmlns:a="http://schemas.openxmlformats.org/drawingml/2006/main">
            <a:r>
              <a:t>      "센서 스냅샷",</a:t>
            </a:r>
          </a:p>
          <a:p xmlns:a="http://schemas.openxmlformats.org/drawingml/2006/main">
            <a:r>
              <a:t>      "행동별 소비 예측",</a:t>
            </a:r>
          </a:p>
          <a:p xmlns:a="http://schemas.openxmlformats.org/drawingml/2006/main">
            <a:r>
              <a:t>      "안전 조건 충족 명령",</a:t>
            </a:r>
          </a:p>
          <a:p xmlns:a="http://schemas.openxmlformats.org/drawingml/2006/main">
            <a:r>
              <a:t>      "현장 검증·실행"</a:t>
            </a:r>
          </a:p>
          <a:p xmlns:a="http://schemas.openxmlformats.org/drawingml/2006/main">
            <a:r>
              <a:t>    ],</a:t>
            </a:r>
          </a:p>
          <a:p xmlns:a="http://schemas.openxmlformats.org/drawingml/2006/main">
            <a:r>
              <a:t>    "control": "현장 독립 검증·수동 전환",</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"DeepMind 안전 제어 구조 · 2018-08-17",</a:t>
            </a:r>
          </a:p>
          <a:p xmlns:a="http://schemas.openxmlformats.org/drawingml/2006/main">
            <a:r>
              <a:t>      "url": "https://deepmind.google/blog/safety-first-ai-for-autonomous-data-centre-cooling-and-industrial-control/"</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DeepMind · 데이터센터 냉각 제어 https://deepmind.google/blog/safety-first-ai-for-autonomous-data-centre-cooling-and-industrial-control/</a:t>
            </a:r>
          </a:p>
          <a:p xmlns:a="http://schemas.openxmlformats.org/drawingml/2006/main">
            <a:r>
              <a:t>홈페이지 https://heen1987-ops.github.io/TS-business-Plan-001/index.html?view=casebook&amp;case=AX05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"AX05",</a:t>
            </a:r>
          </a:p>
          <a:p xmlns:a="http://schemas.openxmlformats.org/drawingml/2006/main">
            <a:r>
              <a:t>    "title": "Google 데이터센터 냉각",</a:t>
            </a:r>
          </a:p>
          <a:p xmlns:a="http://schemas.openxmlformats.org/drawingml/2006/main">
            <a:r>
              <a:t>    "region": "해외",</a:t>
            </a:r>
          </a:p>
          <a:p xmlns:a="http://schemas.openxmlformats.org/drawingml/2006/main">
            <a:r>
              <a:t>    "country": "미국",</a:t>
            </a:r>
          </a:p>
          <a:p xmlns:a="http://schemas.openxmlformats.org/drawingml/2006/main">
            <a:r>
              <a:t>    "result": "성공",</a:t>
            </a:r>
          </a:p>
          <a:p xmlns:a="http://schemas.openxmlformats.org/drawingml/2006/main">
            <a:r>
              <a:t>    "kind": "AI 기반 운영 최적화",</a:t>
            </a:r>
          </a:p>
          <a:p xmlns:a="http://schemas.openxmlformats.org/drawingml/2006/main">
            <a:r>
              <a:t>    "period": "2018 운영 발표",</a:t>
            </a:r>
          </a:p>
          <a:p xmlns:a="http://schemas.openxmlformats.org/drawingml/2006/main">
            <a:r>
              <a:t>    "sources": [</a:t>
            </a:r>
          </a:p>
          <a:p xmlns:a="http://schemas.openxmlformats.org/drawingml/2006/main">
            <a:r>
              <a:t>      "S05"</a:t>
            </a:r>
          </a:p>
          <a:p xmlns:a="http://schemas.openxmlformats.org/drawingml/2006/main">
            <a:r>
              <a:t>    ],</a:t>
            </a:r>
          </a:p>
          <a:p xmlns:a="http://schemas.openxmlformats.org/drawingml/2006/main">
            <a:r>
              <a:t>    "keywords": [</a:t>
            </a:r>
          </a:p>
          <a:p xmlns:a="http://schemas.openxmlformats.org/drawingml/2006/main">
            <a:r>
              <a:t>      "에너지",</a:t>
            </a:r>
          </a:p>
          <a:p xmlns:a="http://schemas.openxmlformats.org/drawingml/2006/main">
            <a:r>
              <a:t>      "친환경",</a:t>
            </a:r>
          </a:p>
          <a:p xmlns:a="http://schemas.openxmlformats.org/drawingml/2006/main">
            <a:r>
              <a:t>      "안전 제약",</a:t>
            </a:r>
          </a:p>
          <a:p xmlns:a="http://schemas.openxmlformats.org/drawingml/2006/main">
            <a:r>
              <a:t>      "운영"</a:t>
            </a:r>
          </a:p>
          <a:p xmlns:a="http://schemas.openxmlformats.org/drawingml/2006/main">
            <a:r>
              <a:t>    ],</a:t>
            </a:r>
          </a:p>
          <a:p xmlns:a="http://schemas.openxmlformats.org/drawingml/2006/main">
            <a:r>
              <a:t>    "fact": "운영사 보고 기준 냉각 효율 지표(kW/ton)의 과거 기준 대비 약 30% 개선",</a:t>
            </a:r>
          </a:p>
          <a:p xmlns:a="http://schemas.openxmlformats.org/drawingml/2006/main">
            <a:r>
              <a:t>    "limit": "데이터센터 냉각 한정 · 총 전력·탄소·TS 절감률과 구분",</a:t>
            </a:r>
          </a:p>
          <a:p xmlns:a="http://schemas.openxmlformats.org/drawingml/2006/main">
            <a:r>
              <a:t>    "flow": [</a:t>
            </a:r>
          </a:p>
          <a:p xmlns:a="http://schemas.openxmlformats.org/drawingml/2006/main">
            <a:r>
              <a:t>      "센서 상태",</a:t>
            </a:r>
          </a:p>
          <a:p xmlns:a="http://schemas.openxmlformats.org/drawingml/2006/main">
            <a:r>
              <a:t>      "소비 예측",</a:t>
            </a:r>
          </a:p>
          <a:p xmlns:a="http://schemas.openxmlformats.org/drawingml/2006/main">
            <a:r>
              <a:t>      "안전 제약 확인",</a:t>
            </a:r>
          </a:p>
          <a:p xmlns:a="http://schemas.openxmlformats.org/drawingml/2006/main">
            <a:r>
              <a:t>      "현장 재검증·제어"</a:t>
            </a:r>
          </a:p>
          <a:p xmlns:a="http://schemas.openxmlformats.org/drawingml/2006/main">
            <a:r>
              <a:t>    ],</a:t>
            </a:r>
          </a:p>
          <a:p xmlns:a="http://schemas.openxmlformats.org/drawingml/2006/main">
            <a:r>
              <a:t>    "flowBasis": "공개 기술 구조 요약 · 운영자 수동 전환 포함",</a:t>
            </a:r>
          </a:p>
          <a:p xmlns:a="http://schemas.openxmlformats.org/drawingml/2006/main">
            <a:r>
              <a:t>    "lesson": "추천과 실행 사이의 이중 검증 및 운영자 통제",</a:t>
            </a:r>
          </a:p>
          <a:p xmlns:a="http://schemas.openxmlformats.org/drawingml/2006/main">
            <a:r>
              <a:t>    "local": "TS 탄소·에너지 근거 검증과 운행 개선 권고부터 적용",</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"원천·배출계수 판본 대사 / 계산 검증 / 권고 승인 / 계측",</a:t>
            </a:r>
          </a:p>
          <a:p xmlns:a="http://schemas.openxmlformats.org/drawingml/2006/main">
            <a:r>
              <a:t>    "test": "계수·단위·경계조건별 재계산 및 이상 입력 시 권고 보류",</a:t>
            </a:r>
          </a:p>
          <a:p xmlns:a="http://schemas.openxmlformats.org/drawingml/2006/main">
            <a:r>
              <a:t>    "metric": "검증된 활동량당 에너지 / 산식 오류율"</a:t>
            </a:r>
          </a:p>
          <a:p xmlns:a="http://schemas.openxmlformats.org/drawingml/2006/main">
            <a:r>
              <a:t>  },</a:t>
            </a:r>
          </a:p>
          <a:p xmlns:a="http://schemas.openxmlformats.org/drawingml/2006/main">
            <a:r>
              <a:t>  "design": {</a:t>
            </a:r>
          </a:p>
          <a:p xmlns:a="http://schemas.openxmlformats.org/drawingml/2006/main">
            <a:r>
              <a:t>    "id": "AX05",</a:t>
            </a:r>
          </a:p>
          <a:p xmlns:a="http://schemas.openxmlformats.org/drawingml/2006/main">
            <a:r>
              <a:t>    "canonicalId": "AX05",</a:t>
            </a:r>
          </a:p>
          <a:p xmlns:a="http://schemas.openxmlformats.org/drawingml/2006/main">
            <a:r>
              <a:t>    "purpose": "냉각 설비의 에너지 효율과 안전 제약 결합",</a:t>
            </a:r>
          </a:p>
          <a:p xmlns:a="http://schemas.openxmlformats.org/drawingml/2006/main">
            <a:r>
              <a:t>    "users": "설비 운영자·제어 담당자",</a:t>
            </a:r>
          </a:p>
          <a:p xmlns:a="http://schemas.openxmlformats.org/drawingml/2006/main">
            <a:r>
              <a:t>    "scope": [</a:t>
            </a:r>
          </a:p>
          <a:p xmlns:a="http://schemas.openxmlformats.org/drawingml/2006/main">
            <a:r>
              <a:t>      "상태 예측",</a:t>
            </a:r>
          </a:p>
          <a:p xmlns:a="http://schemas.openxmlformats.org/drawingml/2006/main">
            <a:r>
              <a:t>      "권고 검증",</a:t>
            </a:r>
          </a:p>
          <a:p xmlns:a="http://schemas.openxmlformats.org/drawingml/2006/main">
            <a:r>
              <a:t>      "현장 제어"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"냉각 센서",</a:t>
            </a:r>
          </a:p>
          <a:p xmlns:a="http://schemas.openxmlformats.org/drawingml/2006/main">
            <a:r>
              <a:t>        "detail": "센서 상태·운영 제약 수집",</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"상태 예측 / 권고 검증 / 현장 제어",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"예측·제약 최적화",</a:t>
            </a:r>
          </a:p>
          <a:p xmlns:a="http://schemas.openxmlformats.org/drawingml/2006/main">
            <a:r>
              <a:t>        "detail": "소비 예측과 허용 제어값 후보 산출",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"현장 제어기·운영자",</a:t>
            </a:r>
          </a:p>
          <a:p xmlns:a="http://schemas.openxmlformats.org/drawingml/2006/main">
            <a:r>
              <a:t>        "detail": "클라우드 검증 후 현장 제어계의 재검증",</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"센서 이력·안전 경계",</a:t>
            </a:r>
          </a:p>
          <a:p xmlns:a="http://schemas.openxmlformats.org/drawingml/2006/main">
            <a:r>
              <a:t>        "detail": "시계열 센서·운전 상태·제약조건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"운영자 수동 전환 및 제어 결과의 다음 주기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"센서 상태",</a:t>
            </a:r>
          </a:p>
          <a:p xmlns:a="http://schemas.openxmlformats.org/drawingml/2006/main">
            <a:r>
              <a:t>        "input": "센서 상태·운영 제약 수집",</a:t>
            </a:r>
          </a:p>
          <a:p xmlns:a="http://schemas.openxmlformats.org/drawingml/2006/main">
            <a:r>
              <a:t>        "process": "시계열 센서·운전 상태·제약조건 정리",</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"title": "소비 예측",</a:t>
            </a:r>
          </a:p>
          <a:p xmlns:a="http://schemas.openxmlformats.org/drawingml/2006/main">
            <a:r>
              <a:t>        "input": "센서 스냅샷",</a:t>
            </a:r>
          </a:p>
          <a:p xmlns:a="http://schemas.openxmlformats.org/drawingml/2006/main">
            <a:r>
              <a:t>        "process": "소비 예측과 허용 제어값 후보 산출",</a:t>
            </a:r>
          </a:p>
          <a:p xmlns:a="http://schemas.openxmlformats.org/drawingml/2006/main">
            <a:r>
              <a:t>        "output": "행동별 소비 예측"</a:t>
            </a:r>
          </a:p>
          <a:p xmlns:a="http://schemas.openxmlformats.org/drawingml/2006/main">
            <a:r>
              <a:t>      },</a:t>
            </a:r>
          </a:p>
          <a:p xmlns:a="http://schemas.openxmlformats.org/drawingml/2006/main">
            <a:r>
              <a:t>      {</a:t>
            </a:r>
          </a:p>
          <a:p xmlns:a="http://schemas.openxmlformats.org/drawingml/2006/main">
            <a:r>
              <a:t>        "title": "안전 제약 확인",</a:t>
            </a:r>
          </a:p>
          <a:p xmlns:a="http://schemas.openxmlformats.org/drawingml/2006/main">
            <a:r>
              <a:t>        "input": "행동별 소비 예측",</a:t>
            </a:r>
          </a:p>
          <a:p xmlns:a="http://schemas.openxmlformats.org/drawingml/2006/main">
            <a:r>
              <a:t>        "process": "현장 독립 검증·수동 전환",</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"title": "현장 재검증·제어",</a:t>
            </a:r>
          </a:p>
          <a:p xmlns:a="http://schemas.openxmlformats.org/drawingml/2006/main">
            <a:r>
              <a:t>        "input": "안전 조건 충족 명령",</a:t>
            </a:r>
          </a:p>
          <a:p xmlns:a="http://schemas.openxmlformats.org/drawingml/2006/main">
            <a:r>
              <a:t>        "process":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"현재 운전상태에서 허용범위 내 냉각 제어값 산출",</a:t>
            </a:r>
          </a:p>
          <a:p xmlns:a="http://schemas.openxmlformats.org/drawingml/2006/main">
            <a:r>
              <a:t>      "exception": "센서 결측·제어값 한계 초과·현장 검증 거부",</a:t>
            </a:r>
          </a:p>
          <a:p xmlns:a="http://schemas.openxmlformats.org/drawingml/2006/main">
            <a:r>
              <a:t>      "evidence": "제약별 통과/보류 결과와 수동 전환·제어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"설비 운영자·제어 담당자",</a:t>
            </a:r>
          </a:p>
          <a:p xmlns:a="http://schemas.openxmlformats.org/drawingml/2006/main">
            <a:r>
              <a:t>          "processing": "센서 상태·운영 제약 수집",</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"센서 이력·안전 경계",</a:t>
            </a:r>
          </a:p>
          <a:p xmlns:a="http://schemas.openxmlformats.org/drawingml/2006/main">
            <a:r>
              <a:t>          "processing": "시계열 센서·운전 상태·제약조건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"센서 스냅샷",</a:t>
            </a:r>
          </a:p>
          <a:p xmlns:a="http://schemas.openxmlformats.org/drawingml/2006/main">
            <a:r>
              <a:t>          "processing": "소비 예측과 허용 제어값 후보 산출",</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"안전 조건 충족 명령",</a:t>
            </a:r>
          </a:p>
          <a:p xmlns:a="http://schemas.openxmlformats.org/drawingml/2006/main">
            <a:r>
              <a:t>          "processing":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"운영자 수동 전환 및 제어 결과의 다음 주기 반영",</a:t>
            </a:r>
          </a:p>
          <a:p xmlns:a="http://schemas.openxmlformats.org/drawingml/2006/main">
            <a:r>
              <a:t>          "output": "제약별 통과/보류 결과와 수동 전환·제어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"운영자 수동 전환 및 제어 결과의 다음 주기 반영",</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"S05",</a:t>
            </a:r>
          </a:p>
          <a:p xmlns:a="http://schemas.openxmlformats.org/drawingml/2006/main">
            <a:r>
              <a:t>        "title": "Google DeepMind · 데이터센터 냉각 제어",</a:t>
            </a:r>
          </a:p>
          <a:p xmlns:a="http://schemas.openxmlformats.org/drawingml/2006/main">
            <a:r>
              <a:t>        "url": "https://deepmind.google/blog/safety-first-ai-for-autonomous-data-centre-cooling-and-industrial-control/",</a:t>
            </a:r>
          </a:p>
          <a:p xmlns:a="http://schemas.openxmlformats.org/drawingml/2006/main">
            <a:r>
              <a:t>        "published": "2018-08-17",</a:t>
            </a:r>
          </a:p>
          <a:p xmlns:a="http://schemas.openxmlformats.org/drawingml/2006/main">
            <a:r>
              <a:t>        "level": "운영·개발사 발표",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"추천과 실행 사이의 이중 검증 및 운영자 통제",</a:t>
            </a:r>
          </a:p>
          <a:p xmlns:a="http://schemas.openxmlformats.org/drawingml/2006/main">
            <a:r>
              <a:t>    "local": "TS 탄소·에너지 근거 검증과 운행 개선 권고부터 적용",</a:t>
            </a:r>
          </a:p>
          <a:p xmlns:a="http://schemas.openxmlformats.org/drawingml/2006/main">
            <a:r>
              <a:t>    "sourceDetail": null,</a:t>
            </a:r>
          </a:p>
          <a:p xmlns:a="http://schemas.openxmlformats.org/drawingml/2006/main">
            <a:r>
              <a:t>    "narrative": [</a:t>
            </a:r>
          </a:p>
          <a:p xmlns:a="http://schemas.openxmlformats.org/drawingml/2006/main">
            <a:r>
              <a:t>      "데이터센터 냉각의 전력 효율과 설비 안전을 함께 다룬 제어 사례. 예측 결과를 화면에 보여주는 단계에서 실제 제어에 연결할 때 필요한 독립 안전검증이 핵심.",</a:t>
            </a:r>
          </a:p>
          <a:p xmlns:a="http://schemas.openxmlformats.org/drawingml/2006/main">
            <a:r>
              <a:t>      "센서 상태에서 제어 후보를 예측한 뒤 클라우드 측 검증과 현장 제어계 검증을 거쳐 실행하는 공개 구조. 운영자의 수동 전환과 허용 경계를 별도 계층으로 유지하고 실행 결과를 다음 주기 입력에 반영.",</a:t>
            </a:r>
          </a:p>
          <a:p xmlns:a="http://schemas.openxmlformats.org/drawingml/2006/main">
            <a:r>
              <a:t>      "TS 시설·장비 업무에 적용할 경우 AI 권고와 현장 실행 승인을 분리할 근거. 에너지 기준선은 계절·부하로 나누고, 센서 누락·경계 초과·통신 장애 시 안전 상태와 수동 복귀를 먼저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"냉각 상태 입력",</a:t>
            </a:r>
          </a:p>
          <a:p xmlns:a="http://schemas.openxmlformats.org/drawingml/2006/main">
            <a:r>
              <a:t>          "layer": "이용 접점",</a:t>
            </a:r>
          </a:p>
          <a:p xmlns:a="http://schemas.openxmlformats.org/drawingml/2006/main">
            <a:r>
              <a:t>          "detail": "설비 운영자·제어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"운전·안전 경계",</a:t>
            </a:r>
          </a:p>
          <a:p xmlns:a="http://schemas.openxmlformats.org/drawingml/2006/main">
            <a:r>
              <a:t>          "layer": "업무 문맥",</a:t>
            </a:r>
          </a:p>
          <a:p xmlns:a="http://schemas.openxmlformats.org/drawingml/2006/main">
            <a:r>
              <a:t>          "detail": "센서 상태·운영 제약 수집",</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"센서 이력 조회",</a:t>
            </a:r>
          </a:p>
          <a:p xmlns:a="http://schemas.openxmlformats.org/drawingml/2006/main">
            <a:r>
              <a:t>          "layer": "자료 조회",</a:t>
            </a:r>
          </a:p>
          <a:p xmlns:a="http://schemas.openxmlformats.org/drawingml/2006/main">
            <a:r>
              <a:t>          "detail": "센서 스냅샷",</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"소비·제어값 예측",</a:t>
            </a:r>
          </a:p>
          <a:p xmlns:a="http://schemas.openxmlformats.org/drawingml/2006/main">
            <a:r>
              <a:t>          "layer": "핵심 처리",</a:t>
            </a:r>
          </a:p>
          <a:p xmlns:a="http://schemas.openxmlformats.org/drawingml/2006/main">
            <a:r>
              <a:t>          "detail": "소비 예측과 허용 제어값 후보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"클라우드 안전검증",</a:t>
            </a:r>
          </a:p>
          <a:p xmlns:a="http://schemas.openxmlformats.org/drawingml/2006/main">
            <a:r>
              <a:t>          "layer": "결과 검증",</a:t>
            </a:r>
          </a:p>
          <a:p xmlns:a="http://schemas.openxmlformats.org/drawingml/2006/main">
            <a:r>
              <a:t>          "detail": "현장 독립 검증·수동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독립 검증",</a:t>
            </a:r>
          </a:p>
          <a:p xmlns:a="http://schemas.openxmlformats.org/drawingml/2006/main">
            <a:r>
              <a:t>          "layer": "사람 확인",</a:t>
            </a:r>
          </a:p>
          <a:p xmlns:a="http://schemas.openxmlformats.org/drawingml/2006/main">
            <a:r>
              <a:t>          "detail": "현재 운전상태에서 허용범위 내 냉각 제어값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"제어·수동 전환",</a:t>
            </a:r>
          </a:p>
          <a:p xmlns:a="http://schemas.openxmlformats.org/drawingml/2006/main">
            <a:r>
              <a:t>          "layer": "업무 연결",</a:t>
            </a:r>
          </a:p>
          <a:p xmlns:a="http://schemas.openxmlformats.org/drawingml/2006/main">
            <a:r>
              <a:t>          "detail": "클라우드 검증 후 현장 제어계의 재검증",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"다음 주기 환류",</a:t>
            </a:r>
          </a:p>
          <a:p xmlns:a="http://schemas.openxmlformats.org/drawingml/2006/main">
            <a:r>
              <a:t>          "layer": "운영 관측",</a:t>
            </a:r>
          </a:p>
          <a:p xmlns:a="http://schemas.openxmlformats.org/drawingml/2006/main">
            <a:r>
              <a:t>          "detail": "운영자 수동 전환 및 제어 결과의 다음 주기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"센서·운전 자료",</a:t>
            </a:r>
          </a:p>
          <a:p xmlns:a="http://schemas.openxmlformats.org/drawingml/2006/main">
            <a:r>
              <a:t>          "layer": "데이터 원천",</a:t>
            </a:r>
          </a:p>
          <a:p xmlns:a="http://schemas.openxmlformats.org/drawingml/2006/main">
            <a:r>
              <a:t>          "detail": "센서 이력·안전 경계",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"시각·결측 정리",</a:t>
            </a:r>
          </a:p>
          <a:p xmlns:a="http://schemas.openxmlformats.org/drawingml/2006/main">
            <a:r>
              <a:t>          "layer": "준비·갱신",</a:t>
            </a:r>
          </a:p>
          <a:p xmlns:a="http://schemas.openxmlformats.org/drawingml/2006/main">
            <a:r>
              <a:t>          "detail": "시계열 센서·운전 상태·제약조건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"상태·명령 이력",</a:t>
            </a:r>
          </a:p>
          <a:p xmlns:a="http://schemas.openxmlformats.org/drawingml/2006/main">
            <a:r>
              <a:t>          "layer": "상태·지식 저장",</a:t>
            </a:r>
          </a:p>
          <a:p xmlns:a="http://schemas.openxmlformats.org/drawingml/2006/main">
            <a:r>
              <a:t>          "detail": "제약별 통과/보류 결과와 수동 전환·제어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"제어 허용경계",</a:t>
            </a:r>
          </a:p>
          <a:p xmlns:a="http://schemas.openxmlformats.org/drawingml/2006/main">
            <a:r>
              <a:t>          "layer": "권한·정책",</a:t>
            </a:r>
          </a:p>
          <a:p xmlns:a="http://schemas.openxmlformats.org/drawingml/2006/main">
            <a:r>
              <a:t>          "detail": "센서 결측·제어값 한계 초과·현장 검증 거부",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"센서 상태 → 소비 예측 → 안전 제약 확인 → 현장 재검증·제어"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"센서 이력·안전 경계",</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"안전 조건 충족 명령",</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"제어 허용경계",</a:t>
            </a:r>
          </a:p>
          <a:p xmlns:a="http://schemas.openxmlformats.org/drawingml/2006/main">
            <a:r>
              <a:t>          "check": "현장 독립 검증·수동 전환"</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"현장 검증·실행",</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"운영자 수동 전환 및 제어 결과의 다음 주기 반영",</a:t>
            </a:r>
          </a:p>
          <a:p xmlns:a="http://schemas.openxmlformats.org/drawingml/2006/main">
            <a:r>
              <a:t>          "check": "운영자 수동 전환 및 제어 결과의 다음 주기 반영"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"DeepMind 2018-08-17 안전 제어 설명",</a:t>
            </a:r>
          </a:p>
          <a:p xmlns:a="http://schemas.openxmlformats.org/drawingml/2006/main">
            <a:r>
              <a:t>        "extracted": "클라우드와 현장 제어의 독립 안전검증·수동 전환",</a:t>
            </a:r>
          </a:p>
          <a:p xmlns:a="http://schemas.openxmlformats.org/drawingml/2006/main">
            <a:r>
              <a:t>        "extension": "누락 센서·경계 초과·수동 전환의 실패 재현"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"AX05",</a:t>
            </a:r>
          </a:p>
          <a:p xmlns:a="http://schemas.openxmlformats.org/drawingml/2006/main">
            <a:r>
              <a:t>          "path": "assets/casebook-sources/AX05-01.png",</a:t>
            </a:r>
          </a:p>
          <a:p xmlns:a="http://schemas.openxmlformats.org/drawingml/2006/main">
            <a:r>
              <a:t>          "title": "냉각 설비 센서 상태 수집",</a:t>
            </a:r>
          </a:p>
          <a:p xmlns:a="http://schemas.openxmlformats.org/drawingml/2006/main">
            <a:r>
              <a:t>          "status": "DeepMind 공식 단계 그림 1/4",</a:t>
            </a:r>
          </a:p>
          <a:p xmlns:a="http://schemas.openxmlformats.org/drawingml/2006/main">
            <a:r>
              <a:t>          "caption": "5분마다 현장 센서의 냉각 상태 스냅샷 수집",</a:t>
            </a:r>
          </a:p>
          <a:p xmlns:a="http://schemas.openxmlformats.org/drawingml/2006/main">
            <a:r>
              <a:t>          "locator": "Google DeepMind 2018-08-17 / How it works 1",</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"ec28de3ccf82f230a92ff87c048ed311f0c890ebcbd9dae1882ec8a20aabd999",</a:t>
            </a:r>
          </a:p>
          <a:p xmlns:a="http://schemas.openxmlformats.org/drawingml/2006/main">
            <a:r>
              <a:t>          "explanation": {</a:t>
            </a:r>
          </a:p>
          <a:p xmlns:a="http://schemas.openxmlformats.org/drawingml/2006/main">
            <a:r>
              <a:t>            "read": "DeepMind 공식 설명의 첫 단계. 약 5분 주기로 수천 개 센서에서 냉각 설비 상태의 스냅샷을 클라우드 AI에 전달한다. 그림은 데이터 수집 경로를 보여 주며, 센서 품질검사 방식이나 실제 제어망 구성은 공개하지 않는다.",</a:t>
            </a:r>
          </a:p>
          <a:p xmlns:a="http://schemas.openxmlformats.org/drawingml/2006/main">
            <a:r>
              <a:t>            "requirements": [],</a:t>
            </a:r>
          </a:p>
          <a:p xmlns:a="http://schemas.openxmlformats.org/drawingml/2006/main">
            <a:r>
              <a:t>            "connection": "TS 적용에서는 센서·설비 ID·관측시각을 먼저 대사하고 결측·지연 데이터는 제어 후보 산출에서 제외하는 입력 계약이 필요하다."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"assets/casebook-sources/AX05-02.png",</a:t>
            </a:r>
          </a:p>
          <a:p xmlns:a="http://schemas.openxmlformats.org/drawingml/2006/main">
            <a:r>
              <a:t>          "title": "신경망 예측 단계",</a:t>
            </a:r>
          </a:p>
          <a:p xmlns:a="http://schemas.openxmlformats.org/drawingml/2006/main">
            <a:r>
              <a:t>          "status": "DeepMind 공식 단계 그림 2/4",</a:t>
            </a:r>
          </a:p>
          <a:p xmlns:a="http://schemas.openxmlformats.org/drawingml/2006/main">
            <a:r>
              <a:t>          "caption": "제어 후보별 미래 효율과 온도 예측",</a:t>
            </a:r>
          </a:p>
          <a:p xmlns:a="http://schemas.openxmlformats.org/drawingml/2006/main">
            <a:r>
              <a:t>          "locator": "Google DeepMind 2018-08-17 / How it works 2",</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"3d8852c2f9db075137fc3460ddef99acb193c4b77268f159fca9100379123d6a",</a:t>
            </a:r>
          </a:p>
          <a:p xmlns:a="http://schemas.openxmlformats.org/drawingml/2006/main">
            <a:r>
              <a:t>          "explanation": {</a:t>
            </a:r>
          </a:p>
          <a:p xmlns:a="http://schemas.openxmlformats.org/drawingml/2006/main">
            <a:r>
              <a:t>            "read": "센서 상태를 신경망에 투입해 후보 제어가 향후 에너지 효율과 온도에 미칠 영향을 예측하는 두 번째 단계. 이 그림 자체는 특정 모델의 내부 구조나 학습 데이터의 전체 구성을 설명하지 않는다.",</a:t>
            </a:r>
          </a:p>
          <a:p xmlns:a="http://schemas.openxmlformats.org/drawingml/2006/main">
            <a:r>
              <a:t>            "requirements": [],</a:t>
            </a:r>
          </a:p>
          <a:p xmlns:a="http://schemas.openxmlformats.org/drawingml/2006/main">
            <a:r>
              <a:t>            "connection": "TS의 실시간 안전 사례에 적용한다면 예측값·불확실성·적용시각을 함께 기록해 권고 결과와 이후 실제 관측의 차이를 평가해야 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"assets/casebook-sources/AX05-03.png",</a:t>
            </a:r>
          </a:p>
          <a:p xmlns:a="http://schemas.openxmlformats.org/drawingml/2006/main">
            <a:r>
              <a:t>          "title": "안전 제약 내 제어 후보 선정",</a:t>
            </a:r>
          </a:p>
          <a:p xmlns:a="http://schemas.openxmlformats.org/drawingml/2006/main">
            <a:r>
              <a:t>          "status": "DeepMind 공식 단계 그림 3/4",</a:t>
            </a:r>
          </a:p>
          <a:p xmlns:a="http://schemas.openxmlformats.org/drawingml/2006/main">
            <a:r>
              <a:t>          "caption": "안전 제약을 만족하는 후보 중 에너지 소비 최소화",</a:t>
            </a:r>
          </a:p>
          <a:p xmlns:a="http://schemas.openxmlformats.org/drawingml/2006/main">
            <a:r>
              <a:t>          "locator": "Google DeepMind 2018-08-17 / How it works 3",</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"74083db5c1f1d687580f9bb3accbd06dceaac4b89bc5d41222f4f1c1842d43c5",</a:t>
            </a:r>
          </a:p>
          <a:p xmlns:a="http://schemas.openxmlformats.org/drawingml/2006/main">
            <a:r>
              <a:t>          "explanation": {</a:t>
            </a:r>
          </a:p>
          <a:p xmlns:a="http://schemas.openxmlformats.org/drawingml/2006/main">
            <a:r>
              <a:t>            "read": "예측된 후보 중 안전 제약을 만족하면서 에너지 소비를 줄일 수 있는 조치를 선택하는 단계. 공개 설명은 후보 선정 후 클라우드 측 안전 검증을 거친다고 명시하며, 제약의 전체 수치와 규칙은 공개하지 않는다.",</a:t>
            </a:r>
          </a:p>
          <a:p xmlns:a="http://schemas.openxmlformats.org/drawingml/2006/main">
            <a:r>
              <a:t>            "requirements": [],</a:t>
            </a:r>
          </a:p>
          <a:p xmlns:a="http://schemas.openxmlformats.org/drawingml/2006/main">
            <a:r>
              <a:t>            "connection": "TS에서는 최적화 점수와 필수 안전 조건을 분리해 검수하고, 안전 경계 위반 후보는 효율이 높더라도 채택하지 않는 통제 규칙으로 전환한다."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"assets/casebook-sources/AX05-04.png",</a:t>
            </a:r>
          </a:p>
          <a:p xmlns:a="http://schemas.openxmlformats.org/drawingml/2006/main">
            <a:r>
              <a:t>          "title": "현장 제어계 독립 검증",</a:t>
            </a:r>
          </a:p>
          <a:p xmlns:a="http://schemas.openxmlformats.org/drawingml/2006/main">
            <a:r>
              <a:t>          "status": "DeepMind 공식 단계 그림 4/4",</a:t>
            </a:r>
          </a:p>
          <a:p xmlns:a="http://schemas.openxmlformats.org/drawingml/2006/main">
            <a:r>
              <a:t>          "caption": "현장 제어계가 별도 안전 제약을 확인한 뒤 실행",</a:t>
            </a:r>
          </a:p>
          <a:p xmlns:a="http://schemas.openxmlformats.org/drawingml/2006/main">
            <a:r>
              <a:t>          "locator": "Google DeepMind 2018-08-17 / How it works 4",</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"9e8e418c7a75ef3dc171194ebed38921f65c8c95e29c188fa170a4705d834d27",</a:t>
            </a:r>
          </a:p>
          <a:p xmlns:a="http://schemas.openxmlformats.org/drawingml/2006/main">
            <a:r>
              <a:t>          "explanation": {</a:t>
            </a:r>
          </a:p>
          <a:p xmlns:a="http://schemas.openxmlformats.org/drawingml/2006/main">
            <a:r>
              <a:t>            "read": "선정된 조치를 현장 제어계에 보내고, 현장 시스템이 자체 안전 제약으로 다시 확인한 뒤 실행하는 마지막 단계. 운영자는 AI 제어 모드에서 언제든 이탈할 수 있다. 원문은 매 제어 단계마다 사람의 승인을 필수로 요구하지 않는다.",</a:t>
            </a:r>
          </a:p>
          <a:p xmlns:a="http://schemas.openxmlformats.org/drawingml/2006/main">
            <a:r>
              <a:t>            "requirements": [],</a:t>
            </a:r>
          </a:p>
          <a:p xmlns:a="http://schemas.openxmlformats.org/drawingml/2006/main">
            <a:r>
              <a:t>            "connection": "TS의 안전·설비 적용에서는 현장 독립 검증, 제어 거부, 수동 전환의 기록을 분리하고 통신 장애 시 기존 제어 규칙으로 복귀하는 시험을 설계한다."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"센서 결측·제어값 한계 초과·현장 검증 거부",</a:t>
            </a:r>
          </a:p>
          <a:p xmlns:a="http://schemas.openxmlformats.org/drawingml/2006/main">
            <a:r>
              <a:t>        "hold": "현장 독립 검증·수동 전환",</a:t>
            </a:r>
          </a:p>
          <a:p xmlns:a="http://schemas.openxmlformats.org/drawingml/2006/main">
            <a:r>
              <a:t>        "recovery": "운영자 수동 전환 및 제어 결과의 다음 주기 반영",</a:t>
            </a:r>
          </a:p>
          <a:p xmlns:a="http://schemas.openxmlformats.org/drawingml/2006/main">
            <a:r>
              <a:t>        "evidence": "제약별 통과/보류 결과와 수동 전환·제어 이력"</a:t>
            </a:r>
          </a:p>
          <a:p xmlns:a="http://schemas.openxmlformats.org/drawingml/2006/main">
            <a:r>
              <a:t>      },</a:t>
            </a:r>
          </a:p>
          <a:p xmlns:a="http://schemas.openxmlformats.org/drawingml/2006/main">
            <a:r>
              <a:t>      "data": {</a:t>
            </a:r>
          </a:p>
          <a:p xmlns:a="http://schemas.openxmlformats.org/drawingml/2006/main">
            <a:r>
              <a:t>        "source": "센서 이력·안전 경계",</a:t>
            </a:r>
          </a:p>
          <a:p xmlns:a="http://schemas.openxmlformats.org/drawingml/2006/main">
            <a:r>
              <a:t>        "prepare": "시계열 센서·운전 상태·제약조건 정리",</a:t>
            </a:r>
          </a:p>
          <a:p xmlns:a="http://schemas.openxmlformats.org/drawingml/2006/main">
            <a:r>
              <a:t>        "output": "센서 스냅샷",</a:t>
            </a:r>
          </a:p>
          <a:p xmlns:a="http://schemas.openxmlformats.org/drawingml/2006/main">
            <a:r>
              <a:t>        "refresh": "운영자 수동 전환 및 제어 결과의 다음 주기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"AX05",</a:t>
            </a:r>
          </a:p>
          <a:p xmlns:a="http://schemas.openxmlformats.org/drawingml/2006/main">
            <a:r>
              <a:t>    "success": [</a:t>
            </a:r>
          </a:p>
          <a:p xmlns:a="http://schemas.openxmlformats.org/drawingml/2006/main">
            <a:r>
              <a:t>      "클라우드·현장 제어의 이중 안전검증",</a:t>
            </a:r>
          </a:p>
          <a:p xmlns:a="http://schemas.openxmlformats.org/drawingml/2006/main">
            <a:r>
              <a:t>      "운영자 수동 전환과 불확실성 제한"</a:t>
            </a:r>
          </a:p>
          <a:p xmlns:a="http://schemas.openxmlformats.org/drawingml/2006/main">
            <a:r>
              <a:t>    ],</a:t>
            </a:r>
          </a:p>
          <a:p xmlns:a="http://schemas.openxmlformats.org/drawingml/2006/main">
            <a:r>
              <a:t>    "risks": [</a:t>
            </a:r>
          </a:p>
          <a:p xmlns:a="http://schemas.openxmlformats.org/drawingml/2006/main">
            <a:r>
              <a:t>      "계절·부하에 따른 기준선 변화",</a:t>
            </a:r>
          </a:p>
          <a:p xmlns:a="http://schemas.openxmlformats.org/drawingml/2006/main">
            <a:r>
              <a:t>      "안전 한계를 넓힐 때의 제어 위험"</a:t>
            </a:r>
          </a:p>
          <a:p xmlns:a="http://schemas.openxmlformats.org/drawingml/2006/main">
            <a:r>
              <a:t>    ],</a:t>
            </a:r>
          </a:p>
          <a:p xmlns:a="http://schemas.openxmlformats.org/drawingml/2006/main">
            <a:r>
              <a:t>    "architecture": [</a:t>
            </a:r>
          </a:p>
          <a:p xmlns:a="http://schemas.openxmlformats.org/drawingml/2006/main">
            <a:r>
              <a:t>      "냉각 센서",</a:t>
            </a:r>
          </a:p>
          <a:p xmlns:a="http://schemas.openxmlformats.org/drawingml/2006/main">
            <a:r>
              <a:t>      "예측·제약 최적화",</a:t>
            </a:r>
          </a:p>
          <a:p xmlns:a="http://schemas.openxmlformats.org/drawingml/2006/main">
            <a:r>
              <a:t>      "센서 이력·안전 경계",</a:t>
            </a:r>
          </a:p>
          <a:p xmlns:a="http://schemas.openxmlformats.org/drawingml/2006/main">
            <a:r>
              <a:t>      "현장 제어기·운영자"</a:t>
            </a:r>
          </a:p>
          <a:p xmlns:a="http://schemas.openxmlformats.org/drawingml/2006/main">
            <a:r>
              <a:t>    ],</a:t>
            </a:r>
          </a:p>
          <a:p xmlns:a="http://schemas.openxmlformats.org/drawingml/2006/main">
            <a:r>
              <a:t>    "transfers": [</a:t>
            </a:r>
          </a:p>
          <a:p xmlns:a="http://schemas.openxmlformats.org/drawingml/2006/main">
            <a:r>
              <a:t>      "센서 스냅샷",</a:t>
            </a:r>
          </a:p>
          <a:p xmlns:a="http://schemas.openxmlformats.org/drawingml/2006/main">
            <a:r>
              <a:t>      "행동별 소비 예측",</a:t>
            </a:r>
          </a:p>
          <a:p xmlns:a="http://schemas.openxmlformats.org/drawingml/2006/main">
            <a:r>
              <a:t>      "안전 조건 충족 명령",</a:t>
            </a:r>
          </a:p>
          <a:p xmlns:a="http://schemas.openxmlformats.org/drawingml/2006/main">
            <a:r>
              <a:t>      "현장 검증·실행"</a:t>
            </a:r>
          </a:p>
          <a:p xmlns:a="http://schemas.openxmlformats.org/drawingml/2006/main">
            <a:r>
              <a:t>    ],</a:t>
            </a:r>
          </a:p>
          <a:p xmlns:a="http://schemas.openxmlformats.org/drawingml/2006/main">
            <a:r>
              <a:t>    "control": "현장 독립 검증·수동 전환",</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"DeepMind 안전 제어 구조 · 2018-08-17",</a:t>
            </a:r>
          </a:p>
          <a:p xmlns:a="http://schemas.openxmlformats.org/drawingml/2006/main">
            <a:r>
              <a:t>      "url": "https://deepmind.google/blog/safety-first-ai-for-autonomous-data-centre-cooling-and-industrial-control/"</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DeepMind · 데이터센터 냉각 제어 https://deepmind.google/blog/safety-first-ai-for-autonomous-data-centre-cooling-and-industrial-control/</a:t>
            </a:r>
          </a:p>
          <a:p xmlns:a="http://schemas.openxmlformats.org/drawingml/2006/main">
            <a:r>
              <a:t>홈페이지 https://heen1987-ops.github.io/TS-business-Plan-001/index.html?view=casebook&amp;case=AX05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"AX05",</a:t>
            </a:r>
          </a:p>
          <a:p xmlns:a="http://schemas.openxmlformats.org/drawingml/2006/main">
            <a:r>
              <a:t>    "title": "Google 데이터센터 냉각",</a:t>
            </a:r>
          </a:p>
          <a:p xmlns:a="http://schemas.openxmlformats.org/drawingml/2006/main">
            <a:r>
              <a:t>    "region": "해외",</a:t>
            </a:r>
          </a:p>
          <a:p xmlns:a="http://schemas.openxmlformats.org/drawingml/2006/main">
            <a:r>
              <a:t>    "country": "미국",</a:t>
            </a:r>
          </a:p>
          <a:p xmlns:a="http://schemas.openxmlformats.org/drawingml/2006/main">
            <a:r>
              <a:t>    "result": "성공",</a:t>
            </a:r>
          </a:p>
          <a:p xmlns:a="http://schemas.openxmlformats.org/drawingml/2006/main">
            <a:r>
              <a:t>    "kind": "AI 기반 운영 최적화",</a:t>
            </a:r>
          </a:p>
          <a:p xmlns:a="http://schemas.openxmlformats.org/drawingml/2006/main">
            <a:r>
              <a:t>    "period": "2018 운영 발표",</a:t>
            </a:r>
          </a:p>
          <a:p xmlns:a="http://schemas.openxmlformats.org/drawingml/2006/main">
            <a:r>
              <a:t>    "sources": [</a:t>
            </a:r>
          </a:p>
          <a:p xmlns:a="http://schemas.openxmlformats.org/drawingml/2006/main">
            <a:r>
              <a:t>      "S05"</a:t>
            </a:r>
          </a:p>
          <a:p xmlns:a="http://schemas.openxmlformats.org/drawingml/2006/main">
            <a:r>
              <a:t>    ],</a:t>
            </a:r>
          </a:p>
          <a:p xmlns:a="http://schemas.openxmlformats.org/drawingml/2006/main">
            <a:r>
              <a:t>    "keywords": [</a:t>
            </a:r>
          </a:p>
          <a:p xmlns:a="http://schemas.openxmlformats.org/drawingml/2006/main">
            <a:r>
              <a:t>      "에너지",</a:t>
            </a:r>
          </a:p>
          <a:p xmlns:a="http://schemas.openxmlformats.org/drawingml/2006/main">
            <a:r>
              <a:t>      "친환경",</a:t>
            </a:r>
          </a:p>
          <a:p xmlns:a="http://schemas.openxmlformats.org/drawingml/2006/main">
            <a:r>
              <a:t>      "안전 제약",</a:t>
            </a:r>
          </a:p>
          <a:p xmlns:a="http://schemas.openxmlformats.org/drawingml/2006/main">
            <a:r>
              <a:t>      "운영"</a:t>
            </a:r>
          </a:p>
          <a:p xmlns:a="http://schemas.openxmlformats.org/drawingml/2006/main">
            <a:r>
              <a:t>    ],</a:t>
            </a:r>
          </a:p>
          <a:p xmlns:a="http://schemas.openxmlformats.org/drawingml/2006/main">
            <a:r>
              <a:t>    "fact": "운영사 보고 기준 냉각 효율 지표(kW/ton)의 과거 기준 대비 약 30% 개선",</a:t>
            </a:r>
          </a:p>
          <a:p xmlns:a="http://schemas.openxmlformats.org/drawingml/2006/main">
            <a:r>
              <a:t>    "limit": "데이터센터 냉각 한정 · 총 전력·탄소·TS 절감률과 구분",</a:t>
            </a:r>
          </a:p>
          <a:p xmlns:a="http://schemas.openxmlformats.org/drawingml/2006/main">
            <a:r>
              <a:t>    "flow": [</a:t>
            </a:r>
          </a:p>
          <a:p xmlns:a="http://schemas.openxmlformats.org/drawingml/2006/main">
            <a:r>
              <a:t>      "센서 상태",</a:t>
            </a:r>
          </a:p>
          <a:p xmlns:a="http://schemas.openxmlformats.org/drawingml/2006/main">
            <a:r>
              <a:t>      "소비 예측",</a:t>
            </a:r>
          </a:p>
          <a:p xmlns:a="http://schemas.openxmlformats.org/drawingml/2006/main">
            <a:r>
              <a:t>      "안전 제약 확인",</a:t>
            </a:r>
          </a:p>
          <a:p xmlns:a="http://schemas.openxmlformats.org/drawingml/2006/main">
            <a:r>
              <a:t>      "현장 재검증·제어"</a:t>
            </a:r>
          </a:p>
          <a:p xmlns:a="http://schemas.openxmlformats.org/drawingml/2006/main">
            <a:r>
              <a:t>    ],</a:t>
            </a:r>
          </a:p>
          <a:p xmlns:a="http://schemas.openxmlformats.org/drawingml/2006/main">
            <a:r>
              <a:t>    "flowBasis": "공개 기술 구조 요약 · 운영자 수동 전환 포함",</a:t>
            </a:r>
          </a:p>
          <a:p xmlns:a="http://schemas.openxmlformats.org/drawingml/2006/main">
            <a:r>
              <a:t>    "lesson": "추천과 실행 사이의 이중 검증 및 운영자 통제",</a:t>
            </a:r>
          </a:p>
          <a:p xmlns:a="http://schemas.openxmlformats.org/drawingml/2006/main">
            <a:r>
              <a:t>    "local": "TS 탄소·에너지 근거 검증과 운행 개선 권고부터 적용",</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"원천·배출계수 판본 대사 / 계산 검증 / 권고 승인 / 계측",</a:t>
            </a:r>
          </a:p>
          <a:p xmlns:a="http://schemas.openxmlformats.org/drawingml/2006/main">
            <a:r>
              <a:t>    "test": "계수·단위·경계조건별 재계산 및 이상 입력 시 권고 보류",</a:t>
            </a:r>
          </a:p>
          <a:p xmlns:a="http://schemas.openxmlformats.org/drawingml/2006/main">
            <a:r>
              <a:t>    "metric": "검증된 활동량당 에너지 / 산식 오류율"</a:t>
            </a:r>
          </a:p>
          <a:p xmlns:a="http://schemas.openxmlformats.org/drawingml/2006/main">
            <a:r>
              <a:t>  },</a:t>
            </a:r>
          </a:p>
          <a:p xmlns:a="http://schemas.openxmlformats.org/drawingml/2006/main">
            <a:r>
              <a:t>  "design": {</a:t>
            </a:r>
          </a:p>
          <a:p xmlns:a="http://schemas.openxmlformats.org/drawingml/2006/main">
            <a:r>
              <a:t>    "id": "AX05",</a:t>
            </a:r>
          </a:p>
          <a:p xmlns:a="http://schemas.openxmlformats.org/drawingml/2006/main">
            <a:r>
              <a:t>    "canonicalId": "AX05",</a:t>
            </a:r>
          </a:p>
          <a:p xmlns:a="http://schemas.openxmlformats.org/drawingml/2006/main">
            <a:r>
              <a:t>    "purpose": "냉각 설비의 에너지 효율과 안전 제약 결합",</a:t>
            </a:r>
          </a:p>
          <a:p xmlns:a="http://schemas.openxmlformats.org/drawingml/2006/main">
            <a:r>
              <a:t>    "users": "설비 운영자·제어 담당자",</a:t>
            </a:r>
          </a:p>
          <a:p xmlns:a="http://schemas.openxmlformats.org/drawingml/2006/main">
            <a:r>
              <a:t>    "scope": [</a:t>
            </a:r>
          </a:p>
          <a:p xmlns:a="http://schemas.openxmlformats.org/drawingml/2006/main">
            <a:r>
              <a:t>      "상태 예측",</a:t>
            </a:r>
          </a:p>
          <a:p xmlns:a="http://schemas.openxmlformats.org/drawingml/2006/main">
            <a:r>
              <a:t>      "권고 검증",</a:t>
            </a:r>
          </a:p>
          <a:p xmlns:a="http://schemas.openxmlformats.org/drawingml/2006/main">
            <a:r>
              <a:t>      "현장 제어"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"냉각 센서",</a:t>
            </a:r>
          </a:p>
          <a:p xmlns:a="http://schemas.openxmlformats.org/drawingml/2006/main">
            <a:r>
              <a:t>        "detail": "센서 상태·운영 제약 수집",</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"상태 예측 / 권고 검증 / 현장 제어",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"예측·제약 최적화",</a:t>
            </a:r>
          </a:p>
          <a:p xmlns:a="http://schemas.openxmlformats.org/drawingml/2006/main">
            <a:r>
              <a:t>        "detail": "소비 예측과 허용 제어값 후보 산출",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"현장 제어기·운영자",</a:t>
            </a:r>
          </a:p>
          <a:p xmlns:a="http://schemas.openxmlformats.org/drawingml/2006/main">
            <a:r>
              <a:t>        "detail": "클라우드 검증 후 현장 제어계의 재검증",</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"센서 이력·안전 경계",</a:t>
            </a:r>
          </a:p>
          <a:p xmlns:a="http://schemas.openxmlformats.org/drawingml/2006/main">
            <a:r>
              <a:t>        "detail": "시계열 센서·운전 상태·제약조건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"운영자 수동 전환 및 제어 결과의 다음 주기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"센서 상태",</a:t>
            </a:r>
          </a:p>
          <a:p xmlns:a="http://schemas.openxmlformats.org/drawingml/2006/main">
            <a:r>
              <a:t>        "input": "센서 상태·운영 제약 수집",</a:t>
            </a:r>
          </a:p>
          <a:p xmlns:a="http://schemas.openxmlformats.org/drawingml/2006/main">
            <a:r>
              <a:t>        "process": "시계열 센서·운전 상태·제약조건 정리",</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"title": "소비 예측",</a:t>
            </a:r>
          </a:p>
          <a:p xmlns:a="http://schemas.openxmlformats.org/drawingml/2006/main">
            <a:r>
              <a:t>        "input": "센서 스냅샷",</a:t>
            </a:r>
          </a:p>
          <a:p xmlns:a="http://schemas.openxmlformats.org/drawingml/2006/main">
            <a:r>
              <a:t>        "process": "소비 예측과 허용 제어값 후보 산출",</a:t>
            </a:r>
          </a:p>
          <a:p xmlns:a="http://schemas.openxmlformats.org/drawingml/2006/main">
            <a:r>
              <a:t>        "output": "행동별 소비 예측"</a:t>
            </a:r>
          </a:p>
          <a:p xmlns:a="http://schemas.openxmlformats.org/drawingml/2006/main">
            <a:r>
              <a:t>      },</a:t>
            </a:r>
          </a:p>
          <a:p xmlns:a="http://schemas.openxmlformats.org/drawingml/2006/main">
            <a:r>
              <a:t>      {</a:t>
            </a:r>
          </a:p>
          <a:p xmlns:a="http://schemas.openxmlformats.org/drawingml/2006/main">
            <a:r>
              <a:t>        "title": "안전 제약 확인",</a:t>
            </a:r>
          </a:p>
          <a:p xmlns:a="http://schemas.openxmlformats.org/drawingml/2006/main">
            <a:r>
              <a:t>        "input": "행동별 소비 예측",</a:t>
            </a:r>
          </a:p>
          <a:p xmlns:a="http://schemas.openxmlformats.org/drawingml/2006/main">
            <a:r>
              <a:t>        "process": "현장 독립 검증·수동 전환",</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"title": "현장 재검증·제어",</a:t>
            </a:r>
          </a:p>
          <a:p xmlns:a="http://schemas.openxmlformats.org/drawingml/2006/main">
            <a:r>
              <a:t>        "input": "안전 조건 충족 명령",</a:t>
            </a:r>
          </a:p>
          <a:p xmlns:a="http://schemas.openxmlformats.org/drawingml/2006/main">
            <a:r>
              <a:t>        "process":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"현재 운전상태에서 허용범위 내 냉각 제어값 산출",</a:t>
            </a:r>
          </a:p>
          <a:p xmlns:a="http://schemas.openxmlformats.org/drawingml/2006/main">
            <a:r>
              <a:t>      "exception": "센서 결측·제어값 한계 초과·현장 검증 거부",</a:t>
            </a:r>
          </a:p>
          <a:p xmlns:a="http://schemas.openxmlformats.org/drawingml/2006/main">
            <a:r>
              <a:t>      "evidence": "제약별 통과/보류 결과와 수동 전환·제어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"설비 운영자·제어 담당자",</a:t>
            </a:r>
          </a:p>
          <a:p xmlns:a="http://schemas.openxmlformats.org/drawingml/2006/main">
            <a:r>
              <a:t>          "processing": "센서 상태·운영 제약 수집",</a:t>
            </a:r>
          </a:p>
          <a:p xmlns:a="http://schemas.openxmlformats.org/drawingml/2006/main">
            <a:r>
              <a:t>          "output": "센서 스냅샷"</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"센서 이력·안전 경계",</a:t>
            </a:r>
          </a:p>
          <a:p xmlns:a="http://schemas.openxmlformats.org/drawingml/2006/main">
            <a:r>
              <a:t>          "processing": "시계열 센서·운전 상태·제약조건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"센서 스냅샷",</a:t>
            </a:r>
          </a:p>
          <a:p xmlns:a="http://schemas.openxmlformats.org/drawingml/2006/main">
            <a:r>
              <a:t>          "processing": "소비 예측과 허용 제어값 후보 산출",</a:t>
            </a:r>
          </a:p>
          <a:p xmlns:a="http://schemas.openxmlformats.org/drawingml/2006/main">
            <a:r>
              <a:t>          "output": "안전 조건 충족 명령"</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"안전 조건 충족 명령",</a:t>
            </a:r>
          </a:p>
          <a:p xmlns:a="http://schemas.openxmlformats.org/drawingml/2006/main">
            <a:r>
              <a:t>          "processing": "클라우드 검증 후 현장 제어계의 재검증",</a:t>
            </a:r>
          </a:p>
          <a:p xmlns:a="http://schemas.openxmlformats.org/drawingml/2006/main">
            <a:r>
              <a:t>          "output": "현장 검증·실행"</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"운영자 수동 전환 및 제어 결과의 다음 주기 반영",</a:t>
            </a:r>
          </a:p>
          <a:p xmlns:a="http://schemas.openxmlformats.org/drawingml/2006/main">
            <a:r>
              <a:t>          "output": "제약별 통과/보류 결과와 수동 전환·제어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"운영자 수동 전환 및 제어 결과의 다음 주기 반영",</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"S05",</a:t>
            </a:r>
          </a:p>
          <a:p xmlns:a="http://schemas.openxmlformats.org/drawingml/2006/main">
            <a:r>
              <a:t>        "title": "Google DeepMind · 데이터센터 냉각 제어",</a:t>
            </a:r>
          </a:p>
          <a:p xmlns:a="http://schemas.openxmlformats.org/drawingml/2006/main">
            <a:r>
              <a:t>        "url": "https://deepmind.google/blog/safety-first-ai-for-autonomous-data-centre-cooling-and-industrial-control/",</a:t>
            </a:r>
          </a:p>
          <a:p xmlns:a="http://schemas.openxmlformats.org/drawingml/2006/main">
            <a:r>
              <a:t>        "published": "2018-08-17",</a:t>
            </a:r>
          </a:p>
          <a:p xmlns:a="http://schemas.openxmlformats.org/drawingml/2006/main">
            <a:r>
              <a:t>        "level": "운영·개발사 발표",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"추천과 실행 사이의 이중 검증 및 운영자 통제",</a:t>
            </a:r>
          </a:p>
          <a:p xmlns:a="http://schemas.openxmlformats.org/drawingml/2006/main">
            <a:r>
              <a:t>    "local": "TS 탄소·에너지 근거 검증과 운행 개선 권고부터 적용",</a:t>
            </a:r>
          </a:p>
          <a:p xmlns:a="http://schemas.openxmlformats.org/drawingml/2006/main">
            <a:r>
              <a:t>    "sourceDetail": null,</a:t>
            </a:r>
          </a:p>
          <a:p xmlns:a="http://schemas.openxmlformats.org/drawingml/2006/main">
            <a:r>
              <a:t>    "narrative": [</a:t>
            </a:r>
          </a:p>
          <a:p xmlns:a="http://schemas.openxmlformats.org/drawingml/2006/main">
            <a:r>
              <a:t>      "데이터센터 냉각의 전력 효율과 설비 안전을 함께 다룬 제어 사례. 예측 결과를 화면에 보여주는 단계에서 실제 제어에 연결할 때 필요한 독립 안전검증이 핵심.",</a:t>
            </a:r>
          </a:p>
          <a:p xmlns:a="http://schemas.openxmlformats.org/drawingml/2006/main">
            <a:r>
              <a:t>      "센서 상태에서 제어 후보를 예측한 뒤 클라우드 측 검증과 현장 제어계 검증을 거쳐 실행하는 공개 구조. 운영자의 수동 전환과 허용 경계를 별도 계층으로 유지하고 실행 결과를 다음 주기 입력에 반영.",</a:t>
            </a:r>
          </a:p>
          <a:p xmlns:a="http://schemas.openxmlformats.org/drawingml/2006/main">
            <a:r>
              <a:t>      "TS 시설·장비 업무에 적용할 경우 AI 권고와 현장 실행 승인을 분리할 근거. 에너지 기준선은 계절·부하로 나누고, 센서 누락·경계 초과·통신 장애 시 안전 상태와 수동 복귀를 먼저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"냉각 상태 입력",</a:t>
            </a:r>
          </a:p>
          <a:p xmlns:a="http://schemas.openxmlformats.org/drawingml/2006/main">
            <a:r>
              <a:t>          "layer": "이용 접점",</a:t>
            </a:r>
          </a:p>
          <a:p xmlns:a="http://schemas.openxmlformats.org/drawingml/2006/main">
            <a:r>
              <a:t>          "detail": "설비 운영자·제어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"운전·안전 경계",</a:t>
            </a:r>
          </a:p>
          <a:p xmlns:a="http://schemas.openxmlformats.org/drawingml/2006/main">
            <a:r>
              <a:t>          "layer": "업무 문맥",</a:t>
            </a:r>
          </a:p>
          <a:p xmlns:a="http://schemas.openxmlformats.org/drawingml/2006/main">
            <a:r>
              <a:t>          "detail": "센서 상태·운영 제약 수집",</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"센서 이력 조회",</a:t>
            </a:r>
          </a:p>
          <a:p xmlns:a="http://schemas.openxmlformats.org/drawingml/2006/main">
            <a:r>
              <a:t>          "layer": "자료 조회",</a:t>
            </a:r>
          </a:p>
          <a:p xmlns:a="http://schemas.openxmlformats.org/drawingml/2006/main">
            <a:r>
              <a:t>          "detail": "센서 스냅샷",</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"소비·제어값 예측",</a:t>
            </a:r>
          </a:p>
          <a:p xmlns:a="http://schemas.openxmlformats.org/drawingml/2006/main">
            <a:r>
              <a:t>          "layer": "핵심 처리",</a:t>
            </a:r>
          </a:p>
          <a:p xmlns:a="http://schemas.openxmlformats.org/drawingml/2006/main">
            <a:r>
              <a:t>          "detail": "소비 예측과 허용 제어값 후보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"클라우드 안전검증",</a:t>
            </a:r>
          </a:p>
          <a:p xmlns:a="http://schemas.openxmlformats.org/drawingml/2006/main">
            <a:r>
              <a:t>          "layer": "결과 검증",</a:t>
            </a:r>
          </a:p>
          <a:p xmlns:a="http://schemas.openxmlformats.org/drawingml/2006/main">
            <a:r>
              <a:t>          "detail": "현장 독립 검증·수동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독립 검증",</a:t>
            </a:r>
          </a:p>
          <a:p xmlns:a="http://schemas.openxmlformats.org/drawingml/2006/main">
            <a:r>
              <a:t>          "layer": "사람 확인",</a:t>
            </a:r>
          </a:p>
          <a:p xmlns:a="http://schemas.openxmlformats.org/drawingml/2006/main">
            <a:r>
              <a:t>          "detail": "현재 운전상태에서 허용범위 내 냉각 제어값 산출",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"제어·수동 전환",</a:t>
            </a:r>
          </a:p>
          <a:p xmlns:a="http://schemas.openxmlformats.org/drawingml/2006/main">
            <a:r>
              <a:t>          "layer": "업무 연결",</a:t>
            </a:r>
          </a:p>
          <a:p xmlns:a="http://schemas.openxmlformats.org/drawingml/2006/main">
            <a:r>
              <a:t>          "detail": "클라우드 검증 후 현장 제어계의 재검증",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"다음 주기 환류",</a:t>
            </a:r>
          </a:p>
          <a:p xmlns:a="http://schemas.openxmlformats.org/drawingml/2006/main">
            <a:r>
              <a:t>          "layer": "운영 관측",</a:t>
            </a:r>
          </a:p>
          <a:p xmlns:a="http://schemas.openxmlformats.org/drawingml/2006/main">
            <a:r>
              <a:t>          "detail": "운영자 수동 전환 및 제어 결과의 다음 주기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"센서·운전 자료",</a:t>
            </a:r>
          </a:p>
          <a:p xmlns:a="http://schemas.openxmlformats.org/drawingml/2006/main">
            <a:r>
              <a:t>          "layer": "데이터 원천",</a:t>
            </a:r>
          </a:p>
          <a:p xmlns:a="http://schemas.openxmlformats.org/drawingml/2006/main">
            <a:r>
              <a:t>          "detail": "센서 이력·안전 경계",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"시각·결측 정리",</a:t>
            </a:r>
          </a:p>
          <a:p xmlns:a="http://schemas.openxmlformats.org/drawingml/2006/main">
            <a:r>
              <a:t>          "layer": "준비·갱신",</a:t>
            </a:r>
          </a:p>
          <a:p xmlns:a="http://schemas.openxmlformats.org/drawingml/2006/main">
            <a:r>
              <a:t>          "detail": "시계열 센서·운전 상태·제약조건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"상태·명령 이력",</a:t>
            </a:r>
          </a:p>
          <a:p xmlns:a="http://schemas.openxmlformats.org/drawingml/2006/main">
            <a:r>
              <a:t>          "layer": "상태·지식 저장",</a:t>
            </a:r>
          </a:p>
          <a:p xmlns:a="http://schemas.openxmlformats.org/drawingml/2006/main">
            <a:r>
              <a:t>          "detail": "제약별 통과/보류 결과와 수동 전환·제어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"제어 허용경계",</a:t>
            </a:r>
          </a:p>
          <a:p xmlns:a="http://schemas.openxmlformats.org/drawingml/2006/main">
            <a:r>
              <a:t>          "layer": "권한·정책",</a:t>
            </a:r>
          </a:p>
          <a:p xmlns:a="http://schemas.openxmlformats.org/drawingml/2006/main">
            <a:r>
              <a:t>          "detail": "센서 결측·제어값 한계 초과·현장 검증 거부",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"센서 상태 → 소비 예측 → 안전 제약 확인 → 현장 재검증·제어"</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"센서 이력·안전 경계",</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"시계열 센서·운전 상태·제약조건 정리"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"안전 조건 충족 명령",</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"제어 허용경계",</a:t>
            </a:r>
          </a:p>
          <a:p xmlns:a="http://schemas.openxmlformats.org/drawingml/2006/main">
            <a:r>
              <a:t>          "check": "현장 독립 검증·수동 전환"</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"현장 검증·실행",</a:t>
            </a:r>
          </a:p>
          <a:p xmlns:a="http://schemas.openxmlformats.org/drawingml/2006/main">
            <a:r>
              <a:t>          "check": "제약별 통과/보류 결과와 수동 전환·제어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"운영자 수동 전환 및 제어 결과의 다음 주기 반영",</a:t>
            </a:r>
          </a:p>
          <a:p xmlns:a="http://schemas.openxmlformats.org/drawingml/2006/main">
            <a:r>
              <a:t>          "check": "운영자 수동 전환 및 제어 결과의 다음 주기 반영"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"DeepMind 2018-08-17 안전 제어 설명",</a:t>
            </a:r>
          </a:p>
          <a:p xmlns:a="http://schemas.openxmlformats.org/drawingml/2006/main">
            <a:r>
              <a:t>        "extracted": "클라우드와 현장 제어의 독립 안전검증·수동 전환",</a:t>
            </a:r>
          </a:p>
          <a:p xmlns:a="http://schemas.openxmlformats.org/drawingml/2006/main">
            <a:r>
              <a:t>        "extension": "누락 센서·경계 초과·수동 전환의 실패 재현"</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"AX05",</a:t>
            </a:r>
          </a:p>
          <a:p xmlns:a="http://schemas.openxmlformats.org/drawingml/2006/main">
            <a:r>
              <a:t>          "path": "assets/casebook-sources/AX05-01.png",</a:t>
            </a:r>
          </a:p>
          <a:p xmlns:a="http://schemas.openxmlformats.org/drawingml/2006/main">
            <a:r>
              <a:t>          "title": "냉각 설비 센서 상태 수집",</a:t>
            </a:r>
          </a:p>
          <a:p xmlns:a="http://schemas.openxmlformats.org/drawingml/2006/main">
            <a:r>
              <a:t>          "status": "DeepMind 공식 단계 그림 1/4",</a:t>
            </a:r>
          </a:p>
          <a:p xmlns:a="http://schemas.openxmlformats.org/drawingml/2006/main">
            <a:r>
              <a:t>          "caption": "5분마다 현장 센서의 냉각 상태 스냅샷 수집",</a:t>
            </a:r>
          </a:p>
          <a:p xmlns:a="http://schemas.openxmlformats.org/drawingml/2006/main">
            <a:r>
              <a:t>          "locator": "Google DeepMind 2018-08-17 / How it works 1",</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"ec28de3ccf82f230a92ff87c048ed311f0c890ebcbd9dae1882ec8a20aabd999",</a:t>
            </a:r>
          </a:p>
          <a:p xmlns:a="http://schemas.openxmlformats.org/drawingml/2006/main">
            <a:r>
              <a:t>          "explanation": {</a:t>
            </a:r>
          </a:p>
          <a:p xmlns:a="http://schemas.openxmlformats.org/drawingml/2006/main">
            <a:r>
              <a:t>            "read": "DeepMind 공식 설명의 첫 단계. 약 5분 주기로 수천 개 센서에서 냉각 설비 상태의 스냅샷을 클라우드 AI에 전달한다. 그림은 데이터 수집 경로를 보여 주며, 센서 품질검사 방식이나 실제 제어망 구성은 공개하지 않는다.",</a:t>
            </a:r>
          </a:p>
          <a:p xmlns:a="http://schemas.openxmlformats.org/drawingml/2006/main">
            <a:r>
              <a:t>            "requirements": [],</a:t>
            </a:r>
          </a:p>
          <a:p xmlns:a="http://schemas.openxmlformats.org/drawingml/2006/main">
            <a:r>
              <a:t>            "connection": "TS 적용에서는 센서·설비 ID·관측시각을 먼저 대사하고 결측·지연 데이터는 제어 후보 산출에서 제외하는 입력 계약이 필요하다."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"assets/casebook-sources/AX05-02.png",</a:t>
            </a:r>
          </a:p>
          <a:p xmlns:a="http://schemas.openxmlformats.org/drawingml/2006/main">
            <a:r>
              <a:t>          "title": "신경망 예측 단계",</a:t>
            </a:r>
          </a:p>
          <a:p xmlns:a="http://schemas.openxmlformats.org/drawingml/2006/main">
            <a:r>
              <a:t>          "status": "DeepMind 공식 단계 그림 2/4",</a:t>
            </a:r>
          </a:p>
          <a:p xmlns:a="http://schemas.openxmlformats.org/drawingml/2006/main">
            <a:r>
              <a:t>          "caption": "제어 후보별 미래 효율과 온도 예측",</a:t>
            </a:r>
          </a:p>
          <a:p xmlns:a="http://schemas.openxmlformats.org/drawingml/2006/main">
            <a:r>
              <a:t>          "locator": "Google DeepMind 2018-08-17 / How it works 2",</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"3d8852c2f9db075137fc3460ddef99acb193c4b77268f159fca9100379123d6a",</a:t>
            </a:r>
          </a:p>
          <a:p xmlns:a="http://schemas.openxmlformats.org/drawingml/2006/main">
            <a:r>
              <a:t>          "explanation": {</a:t>
            </a:r>
          </a:p>
          <a:p xmlns:a="http://schemas.openxmlformats.org/drawingml/2006/main">
            <a:r>
              <a:t>            "read": "센서 상태를 신경망에 투입해 후보 제어가 향후 에너지 효율과 온도에 미칠 영향을 예측하는 두 번째 단계. 이 그림 자체는 특정 모델의 내부 구조나 학습 데이터의 전체 구성을 설명하지 않는다.",</a:t>
            </a:r>
          </a:p>
          <a:p xmlns:a="http://schemas.openxmlformats.org/drawingml/2006/main">
            <a:r>
              <a:t>            "requirements": [],</a:t>
            </a:r>
          </a:p>
          <a:p xmlns:a="http://schemas.openxmlformats.org/drawingml/2006/main">
            <a:r>
              <a:t>            "connection": "TS의 실시간 안전 사례에 적용한다면 예측값·불확실성·적용시각을 함께 기록해 권고 결과와 이후 실제 관측의 차이를 평가해야 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"assets/casebook-sources/AX05-03.png",</a:t>
            </a:r>
          </a:p>
          <a:p xmlns:a="http://schemas.openxmlformats.org/drawingml/2006/main">
            <a:r>
              <a:t>          "title": "안전 제약 내 제어 후보 선정",</a:t>
            </a:r>
          </a:p>
          <a:p xmlns:a="http://schemas.openxmlformats.org/drawingml/2006/main">
            <a:r>
              <a:t>          "status": "DeepMind 공식 단계 그림 3/4",</a:t>
            </a:r>
          </a:p>
          <a:p xmlns:a="http://schemas.openxmlformats.org/drawingml/2006/main">
            <a:r>
              <a:t>          "caption": "안전 제약을 만족하는 후보 중 에너지 소비 최소화",</a:t>
            </a:r>
          </a:p>
          <a:p xmlns:a="http://schemas.openxmlformats.org/drawingml/2006/main">
            <a:r>
              <a:t>          "locator": "Google DeepMind 2018-08-17 / How it works 3",</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"74083db5c1f1d687580f9bb3accbd06dceaac4b89bc5d41222f4f1c1842d43c5",</a:t>
            </a:r>
          </a:p>
          <a:p xmlns:a="http://schemas.openxmlformats.org/drawingml/2006/main">
            <a:r>
              <a:t>          "explanation": {</a:t>
            </a:r>
          </a:p>
          <a:p xmlns:a="http://schemas.openxmlformats.org/drawingml/2006/main">
            <a:r>
              <a:t>            "read": "예측된 후보 중 안전 제약을 만족하면서 에너지 소비를 줄일 수 있는 조치를 선택하는 단계. 공개 설명은 후보 선정 후 클라우드 측 안전 검증을 거친다고 명시하며, 제약의 전체 수치와 규칙은 공개하지 않는다.",</a:t>
            </a:r>
          </a:p>
          <a:p xmlns:a="http://schemas.openxmlformats.org/drawingml/2006/main">
            <a:r>
              <a:t>            "requirements": [],</a:t>
            </a:r>
          </a:p>
          <a:p xmlns:a="http://schemas.openxmlformats.org/drawingml/2006/main">
            <a:r>
              <a:t>            "connection": "TS에서는 최적화 점수와 필수 안전 조건을 분리해 검수하고, 안전 경계 위반 후보는 효율이 높더라도 채택하지 않는 통제 규칙으로 전환한다."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"path": "assets/casebook-sources/AX05-04.png",</a:t>
            </a:r>
          </a:p>
          <a:p xmlns:a="http://schemas.openxmlformats.org/drawingml/2006/main">
            <a:r>
              <a:t>          "title": "현장 제어계 독립 검증",</a:t>
            </a:r>
          </a:p>
          <a:p xmlns:a="http://schemas.openxmlformats.org/drawingml/2006/main">
            <a:r>
              <a:t>          "status": "DeepMind 공식 단계 그림 4/4",</a:t>
            </a:r>
          </a:p>
          <a:p xmlns:a="http://schemas.openxmlformats.org/drawingml/2006/main">
            <a:r>
              <a:t>          "caption": "현장 제어계가 별도 안전 제약을 확인한 뒤 실행",</a:t>
            </a:r>
          </a:p>
          <a:p xmlns:a="http://schemas.openxmlformats.org/drawingml/2006/main">
            <a:r>
              <a:t>          "locator": "Google DeepMind 2018-08-17 / How it works 4",</a:t>
            </a:r>
          </a:p>
          <a:p xmlns:a="http://schemas.openxmlformats.org/drawingml/2006/main">
            <a:r>
              <a:t>          "sourceUrl": "https://deepmind.google/blog/safety-first-ai-for-autonomous-data-centre-cooling-and-industrial-control/",</a:t>
            </a:r>
          </a:p>
          <a:p xmlns:a="http://schemas.openxmlformats.org/drawingml/2006/main">
            <a:r>
              <a:t>          "checked": "2026-10-16",</a:t>
            </a:r>
          </a:p>
          <a:p xmlns:a="http://schemas.openxmlformats.org/drawingml/2006/main">
            <a:r>
              <a:t>          "sha256": "9e8e418c7a75ef3dc171194ebed38921f65c8c95e29c188fa170a4705d834d27",</a:t>
            </a:r>
          </a:p>
          <a:p xmlns:a="http://schemas.openxmlformats.org/drawingml/2006/main">
            <a:r>
              <a:t>          "explanation": {</a:t>
            </a:r>
          </a:p>
          <a:p xmlns:a="http://schemas.openxmlformats.org/drawingml/2006/main">
            <a:r>
              <a:t>            "read": "선정된 조치를 현장 제어계에 보내고, 현장 시스템이 자체 안전 제약으로 다시 확인한 뒤 실행하는 마지막 단계. 운영자는 AI 제어 모드에서 언제든 이탈할 수 있다. 원문은 매 제어 단계마다 사람의 승인을 필수로 요구하지 않는다.",</a:t>
            </a:r>
          </a:p>
          <a:p xmlns:a="http://schemas.openxmlformats.org/drawingml/2006/main">
            <a:r>
              <a:t>            "requirements": [],</a:t>
            </a:r>
          </a:p>
          <a:p xmlns:a="http://schemas.openxmlformats.org/drawingml/2006/main">
            <a:r>
              <a:t>            "connection": "TS의 안전·설비 적용에서는 현장 독립 검증, 제어 거부, 수동 전환의 기록을 분리하고 통신 장애 시 기존 제어 규칙으로 복귀하는 시험을 설계한다."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"센서 결측·제어값 한계 초과·현장 검증 거부",</a:t>
            </a:r>
          </a:p>
          <a:p xmlns:a="http://schemas.openxmlformats.org/drawingml/2006/main">
            <a:r>
              <a:t>        "hold": "현장 독립 검증·수동 전환",</a:t>
            </a:r>
          </a:p>
          <a:p xmlns:a="http://schemas.openxmlformats.org/drawingml/2006/main">
            <a:r>
              <a:t>        "recovery": "운영자 수동 전환 및 제어 결과의 다음 주기 반영",</a:t>
            </a:r>
          </a:p>
          <a:p xmlns:a="http://schemas.openxmlformats.org/drawingml/2006/main">
            <a:r>
              <a:t>        "evidence": "제약별 통과/보류 결과와 수동 전환·제어 이력"</a:t>
            </a:r>
          </a:p>
          <a:p xmlns:a="http://schemas.openxmlformats.org/drawingml/2006/main">
            <a:r>
              <a:t>      },</a:t>
            </a:r>
          </a:p>
          <a:p xmlns:a="http://schemas.openxmlformats.org/drawingml/2006/main">
            <a:r>
              <a:t>      "data": {</a:t>
            </a:r>
          </a:p>
          <a:p xmlns:a="http://schemas.openxmlformats.org/drawingml/2006/main">
            <a:r>
              <a:t>        "source": "센서 이력·안전 경계",</a:t>
            </a:r>
          </a:p>
          <a:p xmlns:a="http://schemas.openxmlformats.org/drawingml/2006/main">
            <a:r>
              <a:t>        "prepare": "시계열 센서·운전 상태·제약조건 정리",</a:t>
            </a:r>
          </a:p>
          <a:p xmlns:a="http://schemas.openxmlformats.org/drawingml/2006/main">
            <a:r>
              <a:t>        "output": "센서 스냅샷",</a:t>
            </a:r>
          </a:p>
          <a:p xmlns:a="http://schemas.openxmlformats.org/drawingml/2006/main">
            <a:r>
              <a:t>        "refresh": "운영자 수동 전환 및 제어 결과의 다음 주기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"AX05",</a:t>
            </a:r>
          </a:p>
          <a:p xmlns:a="http://schemas.openxmlformats.org/drawingml/2006/main">
            <a:r>
              <a:t>    "success": [</a:t>
            </a:r>
          </a:p>
          <a:p xmlns:a="http://schemas.openxmlformats.org/drawingml/2006/main">
            <a:r>
              <a:t>      "클라우드·현장 제어의 이중 안전검증",</a:t>
            </a:r>
          </a:p>
          <a:p xmlns:a="http://schemas.openxmlformats.org/drawingml/2006/main">
            <a:r>
              <a:t>      "운영자 수동 전환과 불확실성 제한"</a:t>
            </a:r>
          </a:p>
          <a:p xmlns:a="http://schemas.openxmlformats.org/drawingml/2006/main">
            <a:r>
              <a:t>    ],</a:t>
            </a:r>
          </a:p>
          <a:p xmlns:a="http://schemas.openxmlformats.org/drawingml/2006/main">
            <a:r>
              <a:t>    "risks": [</a:t>
            </a:r>
          </a:p>
          <a:p xmlns:a="http://schemas.openxmlformats.org/drawingml/2006/main">
            <a:r>
              <a:t>      "계절·부하에 따른 기준선 변화",</a:t>
            </a:r>
          </a:p>
          <a:p xmlns:a="http://schemas.openxmlformats.org/drawingml/2006/main">
            <a:r>
              <a:t>      "안전 한계를 넓힐 때의 제어 위험"</a:t>
            </a:r>
          </a:p>
          <a:p xmlns:a="http://schemas.openxmlformats.org/drawingml/2006/main">
            <a:r>
              <a:t>    ],</a:t>
            </a:r>
          </a:p>
          <a:p xmlns:a="http://schemas.openxmlformats.org/drawingml/2006/main">
            <a:r>
              <a:t>    "architecture": [</a:t>
            </a:r>
          </a:p>
          <a:p xmlns:a="http://schemas.openxmlformats.org/drawingml/2006/main">
            <a:r>
              <a:t>      "냉각 센서",</a:t>
            </a:r>
          </a:p>
          <a:p xmlns:a="http://schemas.openxmlformats.org/drawingml/2006/main">
            <a:r>
              <a:t>      "예측·제약 최적화",</a:t>
            </a:r>
          </a:p>
          <a:p xmlns:a="http://schemas.openxmlformats.org/drawingml/2006/main">
            <a:r>
              <a:t>      "센서 이력·안전 경계",</a:t>
            </a:r>
          </a:p>
          <a:p xmlns:a="http://schemas.openxmlformats.org/drawingml/2006/main">
            <a:r>
              <a:t>      "현장 제어기·운영자"</a:t>
            </a:r>
          </a:p>
          <a:p xmlns:a="http://schemas.openxmlformats.org/drawingml/2006/main">
            <a:r>
              <a:t>    ],</a:t>
            </a:r>
          </a:p>
          <a:p xmlns:a="http://schemas.openxmlformats.org/drawingml/2006/main">
            <a:r>
              <a:t>    "transfers": [</a:t>
            </a:r>
          </a:p>
          <a:p xmlns:a="http://schemas.openxmlformats.org/drawingml/2006/main">
            <a:r>
              <a:t>      "센서 스냅샷",</a:t>
            </a:r>
          </a:p>
          <a:p xmlns:a="http://schemas.openxmlformats.org/drawingml/2006/main">
            <a:r>
              <a:t>      "행동별 소비 예측",</a:t>
            </a:r>
          </a:p>
          <a:p xmlns:a="http://schemas.openxmlformats.org/drawingml/2006/main">
            <a:r>
              <a:t>      "안전 조건 충족 명령",</a:t>
            </a:r>
          </a:p>
          <a:p xmlns:a="http://schemas.openxmlformats.org/drawingml/2006/main">
            <a:r>
              <a:t>      "현장 검증·실행"</a:t>
            </a:r>
          </a:p>
          <a:p xmlns:a="http://schemas.openxmlformats.org/drawingml/2006/main">
            <a:r>
              <a:t>    ],</a:t>
            </a:r>
          </a:p>
          <a:p xmlns:a="http://schemas.openxmlformats.org/drawingml/2006/main">
            <a:r>
              <a:t>    "control": "현장 독립 검증·수동 전환",</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"DeepMind 안전 제어 구조 · 2018-08-17",</a:t>
            </a:r>
          </a:p>
          <a:p xmlns:a="http://schemas.openxmlformats.org/drawingml/2006/main">
            <a:r>
              <a:t>      "url": "https://deepmind.google/blog/safety-first-ai-for-autonomous-data-centre-cooling-and-industrial-control/"</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DeepMind · 데이터센터 냉각 제어 https://deepmind.google/blog/safety-first-ai-for-autonomous-data-centre-cooling-and-industrial-control/</a:t>
            </a:r>
          </a:p>
          <a:p xmlns:a="http://schemas.openxmlformats.org/drawingml/2006/main">
            <a:r>
              <a:t>홈페이지 https://heen1987-ops.github.io/TS-business-Plan-001/index.html?view=casebook&amp;case=AX05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"AX06",</a:t>
            </a:r>
          </a:p>
          <a:p xmlns:a="http://schemas.openxmlformats.org/drawingml/2006/main">
            <a:r>
              <a:t>    "title": "GOV.UK Chat",</a:t>
            </a:r>
          </a:p>
          <a:p xmlns:a="http://schemas.openxmlformats.org/drawingml/2006/main">
            <a:r>
              <a:t>    "region": "해외",</a:t>
            </a:r>
          </a:p>
          <a:p xmlns:a="http://schemas.openxmlformats.org/drawingml/2006/main">
            <a:r>
              <a:t>    "country": "영국",</a:t>
            </a:r>
          </a:p>
          <a:p xmlns:a="http://schemas.openxmlformats.org/drawingml/2006/main">
            <a:r>
              <a:t>    "result": "혼합",</a:t>
            </a:r>
          </a:p>
          <a:p xmlns:a="http://schemas.openxmlformats.org/drawingml/2006/main">
            <a:r>
              <a:t>    "kind": "정부 안내 RAG 실증",</a:t>
            </a:r>
          </a:p>
          <a:p xmlns:a="http://schemas.openxmlformats.org/drawingml/2006/main">
            <a:r>
              <a:t>    "period": "2025 기술 기록 / 2026 실증",</a:t>
            </a:r>
          </a:p>
          <a:p xmlns:a="http://schemas.openxmlformats.org/drawingml/2006/main">
            <a:r>
              <a:t>    "sources": [</a:t>
            </a:r>
          </a:p>
          <a:p xmlns:a="http://schemas.openxmlformats.org/drawingml/2006/main">
            <a:r>
              <a:t>      "S06",</a:t>
            </a:r>
          </a:p>
          <a:p xmlns:a="http://schemas.openxmlformats.org/drawingml/2006/main">
            <a:r>
              <a:t>      "S07"</a:t>
            </a:r>
          </a:p>
          <a:p xmlns:a="http://schemas.openxmlformats.org/drawingml/2006/main">
            <a:r>
              <a:t>    ],</a:t>
            </a:r>
          </a:p>
          <a:p xmlns:a="http://schemas.openxmlformats.org/drawingml/2006/main">
            <a:r>
              <a:t>    "keywords": [</a:t>
            </a:r>
          </a:p>
          <a:p xmlns:a="http://schemas.openxmlformats.org/drawingml/2006/main">
            <a:r>
              <a:t>      "민원",</a:t>
            </a:r>
          </a:p>
          <a:p xmlns:a="http://schemas.openxmlformats.org/drawingml/2006/main">
            <a:r>
              <a:t>      "공공정보",</a:t>
            </a:r>
          </a:p>
          <a:p xmlns:a="http://schemas.openxmlformats.org/drawingml/2006/main">
            <a:r>
              <a:t>      "자연어 탐색",</a:t>
            </a:r>
          </a:p>
          <a:p xmlns:a="http://schemas.openxmlformats.org/drawingml/2006/main">
            <a:r>
              <a:t>      "서비스 접근"</a:t>
            </a:r>
          </a:p>
          <a:p xmlns:a="http://schemas.openxmlformats.org/drawingml/2006/main">
            <a:r>
              <a:t>    ],</a:t>
            </a:r>
          </a:p>
          <a:p xmlns:a="http://schemas.openxmlformats.org/drawingml/2006/main">
            <a:r>
              <a:t>    "fact": "iOS 실증 641명·4주·2,670개 질문; 안내 편의와 응답속도·업무 범위의 개선 과제 확인",</a:t>
            </a:r>
          </a:p>
          <a:p xmlns:a="http://schemas.openxmlformats.org/drawingml/2006/main">
            <a:r>
              <a:t>    "limit": "공개 안내 검색 범위 · 개인 업무 처리와 담당자 인계는 당시 지원·개선 범위 구분",</a:t>
            </a:r>
          </a:p>
          <a:p xmlns:a="http://schemas.openxmlformats.org/drawingml/2006/main">
            <a:r>
              <a:t>    "flow": [</a:t>
            </a:r>
          </a:p>
          <a:p xmlns:a="http://schemas.openxmlformats.org/drawingml/2006/main">
            <a:r>
              <a:t>      "질문 분류",</a:t>
            </a:r>
          </a:p>
          <a:p xmlns:a="http://schemas.openxmlformats.org/drawingml/2006/main">
            <a:r>
              <a:t>      "GOV.UK 자료 검색",</a:t>
            </a:r>
          </a:p>
          <a:p xmlns:a="http://schemas.openxmlformats.org/drawingml/2006/main">
            <a:r>
              <a:t>      "근거 기반 응답",</a:t>
            </a:r>
          </a:p>
          <a:p xmlns:a="http://schemas.openxmlformats.org/drawingml/2006/main">
            <a:r>
              <a:t>      "공식 안내 확인"</a:t>
            </a:r>
          </a:p>
          <a:p xmlns:a="http://schemas.openxmlformats.org/drawingml/2006/main">
            <a:r>
              <a:t>    ],</a:t>
            </a:r>
          </a:p>
          <a:p xmlns:a="http://schemas.openxmlformats.org/drawingml/2006/main">
            <a:r>
              <a:t>    "flowBasis": "공개 RAG 구조와 실증 결과의 요약",</a:t>
            </a:r>
          </a:p>
          <a:p xmlns:a="http://schemas.openxmlformats.org/drawingml/2006/main">
            <a:r>
              <a:t>    "lesson": "공식 서비스 목록·정확도·수행 경계의 명시",</a:t>
            </a:r>
          </a:p>
          <a:p xmlns:a="http://schemas.openxmlformats.org/drawingml/2006/main">
            <a:r>
              <a:t>    "local": "TS 공개 서비스 카탈로그와 소관 부서 연결 / 메뉴를 유지한 프롬프트·음성 진입",</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"공개·내부 지식 분리 / 서비스 라우터 / 필수 입력 확인 / 인증·전송 연계",</a:t>
            </a:r>
          </a:p>
          <a:p xmlns:a="http://schemas.openxmlformats.org/drawingml/2006/main">
            <a:r>
              <a:t>    "test": "실제 메뉴 대비 업무 도달률·완료시간 및 잘못된 기관 안내 검증",</a:t>
            </a:r>
          </a:p>
          <a:p xmlns:a="http://schemas.openxmlformats.org/drawingml/2006/main">
            <a:r>
              <a:t>    "metric": "정확한 서비스 도달률 / 포기율 / 응답 p95"</a:t>
            </a:r>
          </a:p>
          <a:p xmlns:a="http://schemas.openxmlformats.org/drawingml/2006/main">
            <a:r>
              <a:t>  },</a:t>
            </a:r>
          </a:p>
          <a:p xmlns:a="http://schemas.openxmlformats.org/drawingml/2006/main">
            <a:r>
              <a:t>  "design": {</a:t>
            </a:r>
          </a:p>
          <a:p xmlns:a="http://schemas.openxmlformats.org/drawingml/2006/main">
            <a:r>
              <a:t>    "id": "AX06",</a:t>
            </a:r>
          </a:p>
          <a:p xmlns:a="http://schemas.openxmlformats.org/drawingml/2006/main">
            <a:r>
              <a:t>    "canonicalId": "AX06",</a:t>
            </a:r>
          </a:p>
          <a:p xmlns:a="http://schemas.openxmlformats.org/drawingml/2006/main">
            <a:r>
              <a:t>    "purpose": "공식 정부 안내를 자연어로 탐색하는 접점",</a:t>
            </a:r>
          </a:p>
          <a:p xmlns:a="http://schemas.openxmlformats.org/drawingml/2006/main">
            <a:r>
              <a:t>    "users": "국민·GOV.UK 운영팀",</a:t>
            </a:r>
          </a:p>
          <a:p xmlns:a="http://schemas.openxmlformats.org/drawingml/2006/main">
            <a:r>
              <a:t>    "scope": [</a:t>
            </a:r>
          </a:p>
          <a:p xmlns:a="http://schemas.openxmlformats.org/drawingml/2006/main">
            <a:r>
              <a:t>      "공식 지식 검색",</a:t>
            </a:r>
          </a:p>
          <a:p xmlns:a="http://schemas.openxmlformats.org/drawingml/2006/main">
            <a:r>
              <a:t>      "출처 답변",</a:t>
            </a:r>
          </a:p>
          <a:p xmlns:a="http://schemas.openxmlformats.org/drawingml/2006/main">
            <a:r>
              <a:t>      "서비스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"GOV.UK 앱",</a:t>
            </a:r>
          </a:p>
          <a:p xmlns:a="http://schemas.openxmlformats.org/drawingml/2006/main">
            <a:r>
              <a:t>        "detail": "앱 질문과 이전 대화의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"공식 지식 검색 / 출처 답변 / 서비스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"Rails·Claude / Bedrock",</a:t>
            </a:r>
          </a:p>
          <a:p xmlns:a="http://schemas.openxmlformats.org/drawingml/2006/main">
            <a:r>
              <a:t>        "detail": "질문 처리·검색·Claude 응답의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"이용자·운영자",</a:t>
            </a:r>
          </a:p>
          <a:p xmlns:a="http://schemas.openxmlformats.org/drawingml/2006/main">
            <a:r>
              <a:t>        "detail": "출처가 있는 답변과 공식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"OpenSearch·품질 분석 기록",</a:t>
            </a:r>
          </a:p>
          <a:p xmlns:a="http://schemas.openxmlformats.org/drawingml/2006/main">
            <a:r>
              <a:t>        "detail": "공개 콘텐츠 선별·벡터화·OpenSearch 저장",</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"관리 도구·BigQuery 기반 품질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"질문 분류",</a:t>
            </a:r>
          </a:p>
          <a:p xmlns:a="http://schemas.openxmlformats.org/drawingml/2006/main">
            <a:r>
              <a:t>        "input": "앱 질문과 이전 대화의 문맥 구성",</a:t>
            </a:r>
          </a:p>
          <a:p xmlns:a="http://schemas.openxmlformats.org/drawingml/2006/main">
            <a:r>
              <a:t>        "process": "공개 콘텐츠 선별·벡터화·OpenSearch 저장",</a:t>
            </a:r>
          </a:p>
          <a:p xmlns:a="http://schemas.openxmlformats.org/drawingml/2006/main">
            <a:r>
              <a:t>        "output": "질문·의도"</a:t>
            </a:r>
          </a:p>
          <a:p xmlns:a="http://schemas.openxmlformats.org/drawingml/2006/main">
            <a:r>
              <a:t>      },</a:t>
            </a:r>
          </a:p>
          <a:p xmlns:a="http://schemas.openxmlformats.org/drawingml/2006/main">
            <a:r>
              <a:t>      {</a:t>
            </a:r>
          </a:p>
          <a:p xmlns:a="http://schemas.openxmlformats.org/drawingml/2006/main">
            <a:r>
              <a:t>        "title": "GOV.UK 자료 검색",</a:t>
            </a:r>
          </a:p>
          <a:p xmlns:a="http://schemas.openxmlformats.org/drawingml/2006/main">
            <a:r>
              <a:t>        "input": "질문·의도",</a:t>
            </a:r>
          </a:p>
          <a:p xmlns:a="http://schemas.openxmlformats.org/drawingml/2006/main">
            <a:r>
              <a:t>        "process": "질문 처리·검색·Claude 응답의 조정",</a:t>
            </a:r>
          </a:p>
          <a:p xmlns:a="http://schemas.openxmlformats.org/drawingml/2006/main">
            <a:r>
              <a:t>        "output": "공식 문서 조각"</a:t>
            </a:r>
          </a:p>
          <a:p xmlns:a="http://schemas.openxmlformats.org/drawingml/2006/main">
            <a:r>
              <a:t>      },</a:t>
            </a:r>
          </a:p>
          <a:p xmlns:a="http://schemas.openxmlformats.org/drawingml/2006/main">
            <a:r>
              <a:t>      {</a:t>
            </a:r>
          </a:p>
          <a:p xmlns:a="http://schemas.openxmlformats.org/drawingml/2006/main">
            <a:r>
              <a:t>        "title": "근거 기반 응답",</a:t>
            </a:r>
          </a:p>
          <a:p xmlns:a="http://schemas.openxmlformats.org/drawingml/2006/main">
            <a:r>
              <a:t>        "input": "공식 문서 조각",</a:t>
            </a:r>
          </a:p>
          <a:p xmlns:a="http://schemas.openxmlformats.org/drawingml/2006/main">
            <a:r>
              <a:t>        "process": "질문 분류·응답 품질 평가",</a:t>
            </a:r>
          </a:p>
          <a:p xmlns:a="http://schemas.openxmlformats.org/drawingml/2006/main">
            <a:r>
              <a:t>        "output": "출처 포함 답변"</a:t>
            </a:r>
          </a:p>
          <a:p xmlns:a="http://schemas.openxmlformats.org/drawingml/2006/main">
            <a:r>
              <a:t>      },</a:t>
            </a:r>
          </a:p>
          <a:p xmlns:a="http://schemas.openxmlformats.org/drawingml/2006/main">
            <a:r>
              <a:t>      {</a:t>
            </a:r>
          </a:p>
          <a:p xmlns:a="http://schemas.openxmlformats.org/drawingml/2006/main">
            <a:r>
              <a:t>        "title": "공식 안내 확인",</a:t>
            </a:r>
          </a:p>
          <a:p xmlns:a="http://schemas.openxmlformats.org/drawingml/2006/main">
            <a:r>
              <a:t>        "input": "출처 포함 답변",</a:t>
            </a:r>
          </a:p>
          <a:p xmlns:a="http://schemas.openxmlformats.org/drawingml/2006/main">
            <a:r>
              <a:t>        "process": "출처가 있는 답변과 공식 안내 페이지 제공",</a:t>
            </a:r>
          </a:p>
          <a:p xmlns:a="http://schemas.openxmlformats.org/drawingml/2006/main">
            <a:r>
              <a:t>        "output": "원문·공식 서비스"</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"신청 방법을 질문하고 근거 안내와 해당 공식 페이지 확인",</a:t>
            </a:r>
          </a:p>
          <a:p xmlns:a="http://schemas.openxmlformats.org/drawingml/2006/main">
            <a:r>
              <a:t>      "exception": "범위 밖 질문·상충 안내·개인 업무의 실행 요청",</a:t>
            </a:r>
          </a:p>
          <a:p xmlns:a="http://schemas.openxmlformats.org/drawingml/2006/main">
            <a:r>
              <a:t>      "evidence": "정답 안내 페이지·근거 문단·응답 보류·처리시간 대조",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"국민·GOV.UK 운영팀",</a:t>
            </a:r>
          </a:p>
          <a:p xmlns:a="http://schemas.openxmlformats.org/drawingml/2006/main">
            <a:r>
              <a:t>          "processing": "앱 질문과 이전 대화의 문맥 구성",</a:t>
            </a:r>
          </a:p>
          <a:p xmlns:a="http://schemas.openxmlformats.org/drawingml/2006/main">
            <a:r>
              <a:t>          "output": "질문·의도"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"OpenSearch·품질 분석 기록",</a:t>
            </a:r>
          </a:p>
          <a:p xmlns:a="http://schemas.openxmlformats.org/drawingml/2006/main">
            <a:r>
              <a:t>          "processing": "공개 콘텐츠 선별·벡터화·OpenSearch 저장",</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"질문·의도",</a:t>
            </a:r>
          </a:p>
          <a:p xmlns:a="http://schemas.openxmlformats.org/drawingml/2006/main">
            <a:r>
              <a:t>          "processing": "질문 처리·검색·Claude 응답의 조정",</a:t>
            </a:r>
          </a:p>
          <a:p xmlns:a="http://schemas.openxmlformats.org/drawingml/2006/main">
            <a:r>
              <a:t>          "output": "출처 포함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"출처 포함 답변",</a:t>
            </a:r>
          </a:p>
          <a:p xmlns:a="http://schemas.openxmlformats.org/drawingml/2006/main">
            <a:r>
              <a:t>          "processing": "출처가 있는 답변과 공식 안내 페이지 제공",</a:t>
            </a:r>
          </a:p>
          <a:p xmlns:a="http://schemas.openxmlformats.org/drawingml/2006/main">
            <a:r>
              <a:t>          "output": "원문·공식 서비스"</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"관리 도구·BigQuery 기반 품질 분석",</a:t>
            </a:r>
          </a:p>
          <a:p xmlns:a="http://schemas.openxmlformats.org/drawingml/2006/main">
            <a:r>
              <a:t>          "output": "정답 안내 페이지·근거 문단·응답 보류·처리시간 대조"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"관리 도구·BigQuery 기반 품질 분석",</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"S06",</a:t>
            </a:r>
          </a:p>
          <a:p xmlns:a="http://schemas.openxmlformats.org/drawingml/2006/main">
            <a:r>
              <a:t>        "title": "GDS · GOV.UK Chat 이용자 실증",</a:t>
            </a:r>
          </a:p>
          <a:p xmlns:a="http://schemas.openxmlformats.org/drawingml/2006/main">
            <a:r>
              <a:t>        "url": "https://insidegovuk.blog.gov.uk/2026/03/16/5-things-we-learned-testing-gov-uk-chat-an-ai-assistant-for-government/",</a:t>
            </a:r>
          </a:p>
          <a:p xmlns:a="http://schemas.openxmlformats.org/drawingml/2006/main">
            <a:r>
              <a:t>        "published": "2026-03-16",</a:t>
            </a:r>
          </a:p>
          <a:p xmlns:a="http://schemas.openxmlformats.org/drawingml/2006/main">
            <a:r>
              <a:t>        "level": "정부 실증 보고",</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"id": "S07",</a:t>
            </a:r>
          </a:p>
          <a:p xmlns:a="http://schemas.openxmlformats.org/drawingml/2006/main">
            <a:r>
              <a:t>        "title": "DSIT · GOV.UK Chat 알고리즘 공개 기록",</a:t>
            </a:r>
          </a:p>
          <a:p xmlns:a="http://schemas.openxmlformats.org/drawingml/2006/main">
            <a:r>
              <a:t>        "url": "https://www.gov.uk/algorithmic-transparency-records/dsit-gov-dot-uk-chat",</a:t>
            </a:r>
          </a:p>
          <a:p xmlns:a="http://schemas.openxmlformats.org/drawingml/2006/main">
            <a:r>
              <a:t>        "published": "2025-10-07",</a:t>
            </a:r>
          </a:p>
          <a:p xmlns:a="http://schemas.openxmlformats.org/drawingml/2006/main">
            <a:r>
              <a:t>        "level": "정부 기술·책임 공개",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"공식 서비스 목록·정확도·수행 경계의 명시",</a:t>
            </a:r>
          </a:p>
          <a:p xmlns:a="http://schemas.openxmlformats.org/drawingml/2006/main">
            <a:r>
              <a:t>    "local": "TS 공개 서비스 카탈로그와 소관 부서 연결 / 메뉴를 유지한 프롬프트·음성 진입",</a:t>
            </a:r>
          </a:p>
          <a:p xmlns:a="http://schemas.openxmlformats.org/drawingml/2006/main">
            <a:r>
              <a:t>    "sourceDetail": null,</a:t>
            </a:r>
          </a:p>
          <a:p xmlns:a="http://schemas.openxmlformats.org/drawingml/2006/main">
            <a:r>
              <a:t>    "narrative": [</a:t>
            </a:r>
          </a:p>
          <a:p xmlns:a="http://schemas.openxmlformats.org/drawingml/2006/main">
            <a:r>
              <a:t>      "정부 안내 페이지를 이용자가 직접 탐색하는 과정에 자연어 질의 접점을 추가한 사례. 질문에 대한 설명과 실제 공공서비스 신청은 별도 단계이며 원문·공식 서비스로의 이동이 중요한 완료조건.",</a:t>
            </a:r>
          </a:p>
          <a:p xmlns:a="http://schemas.openxmlformats.org/drawingml/2006/main">
            <a:r>
              <a:t>      "공개 기술기록의 Rails·Claude/Bedrock·OpenSearch·BigQuery를 기준으로 콘텐츠 준비, 질의 검색, 응답 생성, 품질 관측을 구분. 2023년 파일럿 설계와 2025년 공개 기술기록은 판본이 다른 자료로 취급.",</a:t>
            </a:r>
          </a:p>
          <a:p xmlns:a="http://schemas.openxmlformats.org/drawingml/2006/main">
            <a:r>
              <a:t>      "CCK에서는 TS 메뉴를 없애기보다 질문의 소관·지역·자격을 정리하고 검증된 메뉴에 연결하는 방식으로 현지화. 근거 없음·범위 밖 질의·느린 응답·틀린 신청 경로를 별도 과업으로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"GOV.UK 앱 질의",</a:t>
            </a:r>
          </a:p>
          <a:p xmlns:a="http://schemas.openxmlformats.org/drawingml/2006/main">
            <a:r>
              <a:t>          "layer": "이용 접점",</a:t>
            </a:r>
          </a:p>
          <a:p xmlns:a="http://schemas.openxmlformats.org/drawingml/2006/main">
            <a:r>
              <a:t>          "detail": "국민·GOV.UK 운영팀",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"질문·대화 문맥",</a:t>
            </a:r>
          </a:p>
          <a:p xmlns:a="http://schemas.openxmlformats.org/drawingml/2006/main">
            <a:r>
              <a:t>          "layer": "업무 문맥",</a:t>
            </a:r>
          </a:p>
          <a:p xmlns:a="http://schemas.openxmlformats.org/drawingml/2006/main">
            <a:r>
              <a:t>          "detail": "앱 질문과 이전 대화의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"OpenSearch 검색",</a:t>
            </a:r>
          </a:p>
          <a:p xmlns:a="http://schemas.openxmlformats.org/drawingml/2006/main">
            <a:r>
              <a:t>          "layer": "자료 조회",</a:t>
            </a:r>
          </a:p>
          <a:p xmlns:a="http://schemas.openxmlformats.org/drawingml/2006/main">
            <a:r>
              <a:t>          "detail": "질문·의도",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"Claude / Bedrock",</a:t>
            </a:r>
          </a:p>
          <a:p xmlns:a="http://schemas.openxmlformats.org/drawingml/2006/main">
            <a:r>
              <a:t>          "layer": "핵심 처리",</a:t>
            </a:r>
          </a:p>
          <a:p xmlns:a="http://schemas.openxmlformats.org/drawingml/2006/main">
            <a:r>
              <a:t>          "detail": "질문 처리·검색·Claude 응답의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"범위·근거 검사",</a:t>
            </a:r>
          </a:p>
          <a:p xmlns:a="http://schemas.openxmlformats.org/drawingml/2006/main">
            <a:r>
              <a:t>          "layer": "결과 검증",</a:t>
            </a:r>
          </a:p>
          <a:p xmlns:a="http://schemas.openxmlformats.org/drawingml/2006/main">
            <a:r>
              <a:t>          "detail": "질문 분류·응답 품질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원문 확인",</a:t>
            </a:r>
          </a:p>
          <a:p xmlns:a="http://schemas.openxmlformats.org/drawingml/2006/main">
            <a:r>
              <a:t>          "layer": "사람 확인",</a:t>
            </a:r>
          </a:p>
          <a:p xmlns:a="http://schemas.openxmlformats.org/drawingml/2006/main">
            <a:r>
              <a:t>          "detail": "신청 방법을 질문하고 근거 안내와 해당 공식 페이지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서비스 연결",</a:t>
            </a:r>
          </a:p>
          <a:p xmlns:a="http://schemas.openxmlformats.org/drawingml/2006/main">
            <a:r>
              <a:t>          "layer": "업무 연결",</a:t>
            </a:r>
          </a:p>
          <a:p xmlns:a="http://schemas.openxmlformats.org/drawingml/2006/main">
            <a:r>
              <a:t>          "detail": "출처가 있는 답변과 공식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"BigQuery 품질 분석",</a:t>
            </a:r>
          </a:p>
          <a:p xmlns:a="http://schemas.openxmlformats.org/drawingml/2006/main">
            <a:r>
              <a:t>          "layer": "운영 관측",</a:t>
            </a:r>
          </a:p>
          <a:p xmlns:a="http://schemas.openxmlformats.org/drawingml/2006/main">
            <a:r>
              <a:t>          "detail": "관리 도구·BigQuery 기반 품질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"GOV.UK 콘텐츠",</a:t>
            </a:r>
          </a:p>
          <a:p xmlns:a="http://schemas.openxmlformats.org/drawingml/2006/main">
            <a:r>
              <a:t>          "layer": "데이터 원천",</a:t>
            </a:r>
          </a:p>
          <a:p xmlns:a="http://schemas.openxmlformats.org/drawingml/2006/main">
            <a:r>
              <a:t>          "detail": "OpenSearch·품질 분석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"선별·청킹·벡터화",</a:t>
            </a:r>
          </a:p>
          <a:p xmlns:a="http://schemas.openxmlformats.org/drawingml/2006/main">
            <a:r>
              <a:t>          "layer": "준비·갱신",</a:t>
            </a:r>
          </a:p>
          <a:p xmlns:a="http://schemas.openxmlformats.org/drawingml/2006/main">
            <a:r>
              <a:t>          "detail": "공개 콘텐츠 선별·벡터화·OpenSearch 저장",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"OpenSearch 색인",</a:t>
            </a:r>
          </a:p>
          <a:p xmlns:a="http://schemas.openxmlformats.org/drawingml/2006/main">
            <a:r>
              <a:t>          "layer": "상태·지식 저장",</a:t>
            </a:r>
          </a:p>
          <a:p xmlns:a="http://schemas.openxmlformats.org/drawingml/2006/main">
            <a:r>
              <a:t>          "detail": "정답 안내 페이지·근거 문단·응답 보류·처리시간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 범위·안전정책",</a:t>
            </a:r>
          </a:p>
          <a:p xmlns:a="http://schemas.openxmlformats.org/drawingml/2006/main">
            <a:r>
              <a:t>          "layer": "권한·정책",</a:t>
            </a:r>
          </a:p>
          <a:p xmlns:a="http://schemas.openxmlformats.org/drawingml/2006/main">
            <a:r>
              <a:t>          "detail": "범위 밖 질문·상충 안내·개인 업무의 실행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"품질 로그"</a:t>
            </a:r>
          </a:p>
          <a:p xmlns:a="http://schemas.openxmlformats.org/drawingml/2006/main">
            <a:r>
              <a:t>          }</a:t>
            </a:r>
          </a:p>
          <a:p xmlns:a="http://schemas.openxmlformats.org/drawingml/2006/main">
            <a:r>
              <a:t>        ],</a:t>
            </a:r>
          </a:p>
          <a:p xmlns:a="http://schemas.openxmlformats.org/drawingml/2006/main">
            <a:r>
              <a:t>        "summary": "질문 분류 → GOV.UK 자료 검색 → 근거 기반 응답 → 공식 안내 확인"</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"OpenSearch·품질 분석 기록",</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"앱 질문과 이전 대화의 문맥 구성",</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"정답 안내 페이지·근거 문단·응답 보류·처리시간 대조",</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"공식 문서 조각",</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"출처 포함 답변",</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"ATRS 2025-10-07",</a:t>
            </a:r>
          </a:p>
          <a:p xmlns:a="http://schemas.openxmlformats.org/drawingml/2006/main">
            <a:r>
              <a:t>        "extracted": "Rails·Claude/Bedrock·OpenSearch·BigQuery 공개 구성",</a:t>
            </a:r>
          </a:p>
          <a:p xmlns:a="http://schemas.openxmlformats.org/drawingml/2006/main">
            <a:r>
              <a:t>        "extension": "질문·검색·근거·원문 이동의 추적 ID 연결"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"AX06",</a:t>
            </a:r>
          </a:p>
          <a:p xmlns:a="http://schemas.openxmlformats.org/drawingml/2006/main">
            <a:r>
              <a:t>          "path": "assets/casebook-sources/AX06-01.png",</a:t>
            </a:r>
          </a:p>
          <a:p xmlns:a="http://schemas.openxmlformats.org/drawingml/2006/main">
            <a:r>
              <a:t>          "title": "GOV.UK Chat 2025년 공개 베타 구성",</a:t>
            </a:r>
          </a:p>
          <a:p xmlns:a="http://schemas.openxmlformats.org/drawingml/2006/main">
            <a:r>
              <a:t>          "status": "영국 정부 ATRS 공식 C4 아키텍처",</a:t>
            </a:r>
          </a:p>
          <a:p xmlns:a="http://schemas.openxmlformats.org/drawingml/2006/main">
            <a:r>
              <a:t>          "caption": "앱·인증·Rails·Bedrock·OpenSearch·PostgreSQL·BigQuery의 운영 경계",</a:t>
            </a:r>
          </a:p>
          <a:p xmlns:a="http://schemas.openxmlformats.org/drawingml/2006/main">
            <a:r>
              <a:t>          "locator": "DSIT ATRS 2025-10-07 / 4.1.1 System Architecture / August 2025 public beta",</a:t>
            </a:r>
          </a:p>
          <a:p xmlns:a="http://schemas.openxmlformats.org/drawingml/2006/main">
            <a:r>
              <a:t>          "sourceUrl": "https://www.gov.uk/algorithmic-transparency-records/dsit-gov-dot-uk-chat",</a:t>
            </a:r>
          </a:p>
          <a:p xmlns:a="http://schemas.openxmlformats.org/drawingml/2006/main">
            <a:r>
              <a:t>          "checked": "2026-10-16",</a:t>
            </a:r>
          </a:p>
          <a:p xmlns:a="http://schemas.openxmlformats.org/drawingml/2006/main">
            <a:r>
              <a:t>          "sha256": "8efe82dfdfa8df7ee5312dd13369be76aaf53cb39df42957cad9be1de605fc25",</a:t>
            </a:r>
          </a:p>
          <a:p xmlns:a="http://schemas.openxmlformats.org/drawingml/2006/main">
            <a:r>
              <a:t>          "explanation": {</a:t>
            </a:r>
          </a:p>
          <a:p xmlns:a="http://schemas.openxmlformats.org/drawingml/2006/main">
            <a:r>
              <a:t>            "read": "영국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a:t>
            </a:r>
          </a:p>
          <a:p xmlns:a="http://schemas.openxmlformats.org/drawingml/2006/main">
            <a:r>
              <a:t>            "requirements": [],</a:t>
            </a:r>
          </a:p>
          <a:p xmlns:a="http://schemas.openxmlformats.org/drawingml/2006/main">
            <a:r>
              <a:t>            "connection": "TS 대민 서비스에서는 로그인·공개 콘텐츠·대화 생성·품질 분석의 경계를 구분하고, 검색 원문과 응답·로그의 식별자 및 보존 정책을 별도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"path": "assets/casebook-sources/AX06-02.png",</a:t>
            </a:r>
          </a:p>
          <a:p xmlns:a="http://schemas.openxmlformats.org/drawingml/2006/main">
            <a:r>
              <a:t>          "title": "GOV.UK Chat 초기 파일럿 구성",</a:t>
            </a:r>
          </a:p>
          <a:p xmlns:a="http://schemas.openxmlformats.org/drawingml/2006/main">
            <a:r>
              <a:t>          "status": "영국 정부 개발문서 초기 설계도",</a:t>
            </a:r>
          </a:p>
          <a:p xmlns:a="http://schemas.openxmlformats.org/drawingml/2006/main">
            <a:r>
              <a:t>          "caption": "2023년 파일럿의 Rails·Redis·PostgreSQL·OpenAI·OpenSearch 계획. 2025년 운영 구성과 구분",</a:t>
            </a:r>
          </a:p>
          <a:p xmlns:a="http://schemas.openxmlformats.org/drawingml/2006/main">
            <a:r>
              <a:t>          "locator": "govuk-chat ADR-0001 / Pilot Technical Architecture",</a:t>
            </a:r>
          </a:p>
          <a:p xmlns:a="http://schemas.openxmlformats.org/drawingml/2006/main">
            <a:r>
              <a:t>          "sourceUrl": "https://docs.publishing.service.gov.uk/repos/govuk-chat/adr/0001-pilot-technical-architecture.html",</a:t>
            </a:r>
          </a:p>
          <a:p xmlns:a="http://schemas.openxmlformats.org/drawingml/2006/main">
            <a:r>
              <a:t>          "checked": "2026-10-16",</a:t>
            </a:r>
          </a:p>
          <a:p xmlns:a="http://schemas.openxmlformats.org/drawingml/2006/main">
            <a:r>
              <a:t>          "sha256": "220db41f02597aff9a66bca8744a6772cdc9190c34324538f7862519fb434fc2",</a:t>
            </a:r>
          </a:p>
          <a:p xmlns:a="http://schemas.openxmlformats.org/drawingml/2006/main">
            <a:r>
              <a:t>          "explanation": {</a:t>
            </a:r>
          </a:p>
          <a:p xmlns:a="http://schemas.openxmlformats.org/drawingml/2006/main">
            <a:r>
              <a:t>            "read": "GOV.UK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a:t>
            </a:r>
          </a:p>
          <a:p xmlns:a="http://schemas.openxmlformats.org/drawingml/2006/main">
            <a:r>
              <a:t>            "requirements": [],</a:t>
            </a:r>
          </a:p>
          <a:p xmlns:a="http://schemas.openxmlformats.org/drawingml/2006/main">
            <a:r>
              <a:t>            "connection": "TS 고도화 시 파일럿과 운영 구성의 차이를 사례로 삼아 모델·인증·색인 교체 가능성을 인터페이스와 운영 이력에 반영한다."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"범위 밖 질문·상충 안내·개인 업무의 실행 요청",</a:t>
            </a:r>
          </a:p>
          <a:p xmlns:a="http://schemas.openxmlformats.org/drawingml/2006/main">
            <a:r>
              <a:t>        "hold": "질문 분류·응답 품질 평가",</a:t>
            </a:r>
          </a:p>
          <a:p xmlns:a="http://schemas.openxmlformats.org/drawingml/2006/main">
            <a:r>
              <a:t>        "recovery": "관리 도구·BigQuery 기반 품질 분석",</a:t>
            </a:r>
          </a:p>
          <a:p xmlns:a="http://schemas.openxmlformats.org/drawingml/2006/main">
            <a:r>
              <a:t>        "evidence": "정답 안내 페이지·근거 문단·응답 보류·처리시간 대조"</a:t>
            </a:r>
          </a:p>
          <a:p xmlns:a="http://schemas.openxmlformats.org/drawingml/2006/main">
            <a:r>
              <a:t>      },</a:t>
            </a:r>
          </a:p>
          <a:p xmlns:a="http://schemas.openxmlformats.org/drawingml/2006/main">
            <a:r>
              <a:t>      "data": {</a:t>
            </a:r>
          </a:p>
          <a:p xmlns:a="http://schemas.openxmlformats.org/drawingml/2006/main">
            <a:r>
              <a:t>        "source": "OpenSearch·품질 분석 기록",</a:t>
            </a:r>
          </a:p>
          <a:p xmlns:a="http://schemas.openxmlformats.org/drawingml/2006/main">
            <a:r>
              <a:t>        "prepare": "공개 콘텐츠 선별·벡터화·OpenSearch 저장",</a:t>
            </a:r>
          </a:p>
          <a:p xmlns:a="http://schemas.openxmlformats.org/drawingml/2006/main">
            <a:r>
              <a:t>        "output": "질문·의도",</a:t>
            </a:r>
          </a:p>
          <a:p xmlns:a="http://schemas.openxmlformats.org/drawingml/2006/main">
            <a:r>
              <a:t>        "refresh": "관리 도구·BigQuery 기반 품질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"AX06",</a:t>
            </a:r>
          </a:p>
          <a:p xmlns:a="http://schemas.openxmlformats.org/drawingml/2006/main">
            <a:r>
              <a:t>    "success": [</a:t>
            </a:r>
          </a:p>
          <a:p xmlns:a="http://schemas.openxmlformats.org/drawingml/2006/main">
            <a:r>
              <a:t>      "공식 안내 자료에 한정한 검색",</a:t>
            </a:r>
          </a:p>
          <a:p xmlns:a="http://schemas.openxmlformats.org/drawingml/2006/main">
            <a:r>
              <a:t>      "출처 링크와 기존 탐색 경로 병행"</a:t>
            </a:r>
          </a:p>
          <a:p xmlns:a="http://schemas.openxmlformats.org/drawingml/2006/main">
            <a:r>
              <a:t>    ],</a:t>
            </a:r>
          </a:p>
          <a:p xmlns:a="http://schemas.openxmlformats.org/drawingml/2006/main">
            <a:r>
              <a:t>    "risks": [</a:t>
            </a:r>
          </a:p>
          <a:p xmlns:a="http://schemas.openxmlformats.org/drawingml/2006/main">
            <a:r>
              <a:t>      "업무 범위 밖 질문",</a:t>
            </a:r>
          </a:p>
          <a:p xmlns:a="http://schemas.openxmlformats.org/drawingml/2006/main">
            <a:r>
              <a:t>      "응답속도·안내와 실제 처리의 간극"</a:t>
            </a:r>
          </a:p>
          <a:p xmlns:a="http://schemas.openxmlformats.org/drawingml/2006/main">
            <a:r>
              <a:t>    ],</a:t>
            </a:r>
          </a:p>
          <a:p xmlns:a="http://schemas.openxmlformats.org/drawingml/2006/main">
            <a:r>
              <a:t>    "architecture": [</a:t>
            </a:r>
          </a:p>
          <a:p xmlns:a="http://schemas.openxmlformats.org/drawingml/2006/main">
            <a:r>
              <a:t>      "GOV.UK 앱",</a:t>
            </a:r>
          </a:p>
          <a:p xmlns:a="http://schemas.openxmlformats.org/drawingml/2006/main">
            <a:r>
              <a:t>      "Rails·Claude / Bedrock",</a:t>
            </a:r>
          </a:p>
          <a:p xmlns:a="http://schemas.openxmlformats.org/drawingml/2006/main">
            <a:r>
              <a:t>      "OpenSearch·품질 분석 기록",</a:t>
            </a:r>
          </a:p>
          <a:p xmlns:a="http://schemas.openxmlformats.org/drawingml/2006/main">
            <a:r>
              <a:t>      "이용자·운영자"</a:t>
            </a:r>
          </a:p>
          <a:p xmlns:a="http://schemas.openxmlformats.org/drawingml/2006/main">
            <a:r>
              <a:t>    ],</a:t>
            </a:r>
          </a:p>
          <a:p xmlns:a="http://schemas.openxmlformats.org/drawingml/2006/main">
            <a:r>
              <a:t>    "transfers": [</a:t>
            </a:r>
          </a:p>
          <a:p xmlns:a="http://schemas.openxmlformats.org/drawingml/2006/main">
            <a:r>
              <a:t>      "질문·의도",</a:t>
            </a:r>
          </a:p>
          <a:p xmlns:a="http://schemas.openxmlformats.org/drawingml/2006/main">
            <a:r>
              <a:t>      "공식 문서 조각",</a:t>
            </a:r>
          </a:p>
          <a:p xmlns:a="http://schemas.openxmlformats.org/drawingml/2006/main">
            <a:r>
              <a:t>      "출처 포함 답변",</a:t>
            </a:r>
          </a:p>
          <a:p xmlns:a="http://schemas.openxmlformats.org/drawingml/2006/main">
            <a:r>
              <a:t>      "원문·공식 서비스"</a:t>
            </a:r>
          </a:p>
          <a:p xmlns:a="http://schemas.openxmlformats.org/drawingml/2006/main">
            <a:r>
              <a:t>    ],</a:t>
            </a:r>
          </a:p>
          <a:p xmlns:a="http://schemas.openxmlformats.org/drawingml/2006/main">
            <a:r>
              <a:t>    "control": "질문 분류·응답 품질 평가",</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GDS · GOV.UK Chat 이용자 실증 https://insidegovuk.blog.gov.uk/2026/03/16/5-things-we-learned-testing-gov-uk-chat-an-ai-assistant-for-government/</a:t>
            </a:r>
          </a:p>
          <a:p xmlns:a="http://schemas.openxmlformats.org/drawingml/2006/main">
            <a:r>
              <a:t>DSIT · GOV.UK Chat 알고리즘 공개 기록 https://www.gov.uk/algorithmic-transparency-records/dsit-gov-dot-uk-chat</a:t>
            </a:r>
          </a:p>
          <a:p xmlns:a="http://schemas.openxmlformats.org/drawingml/2006/main">
            <a:r>
              <a:t>홈페이지 https://heen1987-ops.github.io/TS-business-Plan-001/index.html?view=casebook&amp;case=AX06</a:t>
            </a:r>
          </a:p>
          <a:p xmlns:a="http://schemas.openxmlformats.org/drawingml/2006/main">
            <a:r>
              <a:t>한계: 공개 안내 검색 범위 · 개인 업무 처리와 담당자 인계는 당시 지원·개선 범위 구분</a:t>
            </a:r>
          </a:p>
          <a:p xmlns:a="http://schemas.openxmlformats.org/drawingml/2006/main">
            <a:r>
              <a:t>실패 위험: 업무 범위 밖 질문 / 응답속도·안내와 실제 처리의 간극</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"AX06",</a:t>
            </a:r>
          </a:p>
          <a:p xmlns:a="http://schemas.openxmlformats.org/drawingml/2006/main">
            <a:r>
              <a:t>    "title": "GOV.UK Chat",</a:t>
            </a:r>
          </a:p>
          <a:p xmlns:a="http://schemas.openxmlformats.org/drawingml/2006/main">
            <a:r>
              <a:t>    "region": "해외",</a:t>
            </a:r>
          </a:p>
          <a:p xmlns:a="http://schemas.openxmlformats.org/drawingml/2006/main">
            <a:r>
              <a:t>    "country": "영국",</a:t>
            </a:r>
          </a:p>
          <a:p xmlns:a="http://schemas.openxmlformats.org/drawingml/2006/main">
            <a:r>
              <a:t>    "result": "혼합",</a:t>
            </a:r>
          </a:p>
          <a:p xmlns:a="http://schemas.openxmlformats.org/drawingml/2006/main">
            <a:r>
              <a:t>    "kind": "정부 안내 RAG 실증",</a:t>
            </a:r>
          </a:p>
          <a:p xmlns:a="http://schemas.openxmlformats.org/drawingml/2006/main">
            <a:r>
              <a:t>    "period": "2025 기술 기록 / 2026 실증",</a:t>
            </a:r>
          </a:p>
          <a:p xmlns:a="http://schemas.openxmlformats.org/drawingml/2006/main">
            <a:r>
              <a:t>    "sources": [</a:t>
            </a:r>
          </a:p>
          <a:p xmlns:a="http://schemas.openxmlformats.org/drawingml/2006/main">
            <a:r>
              <a:t>      "S06",</a:t>
            </a:r>
          </a:p>
          <a:p xmlns:a="http://schemas.openxmlformats.org/drawingml/2006/main">
            <a:r>
              <a:t>      "S07"</a:t>
            </a:r>
          </a:p>
          <a:p xmlns:a="http://schemas.openxmlformats.org/drawingml/2006/main">
            <a:r>
              <a:t>    ],</a:t>
            </a:r>
          </a:p>
          <a:p xmlns:a="http://schemas.openxmlformats.org/drawingml/2006/main">
            <a:r>
              <a:t>    "keywords": [</a:t>
            </a:r>
          </a:p>
          <a:p xmlns:a="http://schemas.openxmlformats.org/drawingml/2006/main">
            <a:r>
              <a:t>      "민원",</a:t>
            </a:r>
          </a:p>
          <a:p xmlns:a="http://schemas.openxmlformats.org/drawingml/2006/main">
            <a:r>
              <a:t>      "공공정보",</a:t>
            </a:r>
          </a:p>
          <a:p xmlns:a="http://schemas.openxmlformats.org/drawingml/2006/main">
            <a:r>
              <a:t>      "자연어 탐색",</a:t>
            </a:r>
          </a:p>
          <a:p xmlns:a="http://schemas.openxmlformats.org/drawingml/2006/main">
            <a:r>
              <a:t>      "서비스 접근"</a:t>
            </a:r>
          </a:p>
          <a:p xmlns:a="http://schemas.openxmlformats.org/drawingml/2006/main">
            <a:r>
              <a:t>    ],</a:t>
            </a:r>
          </a:p>
          <a:p xmlns:a="http://schemas.openxmlformats.org/drawingml/2006/main">
            <a:r>
              <a:t>    "fact": "iOS 실증 641명·4주·2,670개 질문; 안내 편의와 응답속도·업무 범위의 개선 과제 확인",</a:t>
            </a:r>
          </a:p>
          <a:p xmlns:a="http://schemas.openxmlformats.org/drawingml/2006/main">
            <a:r>
              <a:t>    "limit": "공개 안내 검색 범위 · 개인 업무 처리와 담당자 인계는 당시 지원·개선 범위 구분",</a:t>
            </a:r>
          </a:p>
          <a:p xmlns:a="http://schemas.openxmlformats.org/drawingml/2006/main">
            <a:r>
              <a:t>    "flow": [</a:t>
            </a:r>
          </a:p>
          <a:p xmlns:a="http://schemas.openxmlformats.org/drawingml/2006/main">
            <a:r>
              <a:t>      "질문 분류",</a:t>
            </a:r>
          </a:p>
          <a:p xmlns:a="http://schemas.openxmlformats.org/drawingml/2006/main">
            <a:r>
              <a:t>      "GOV.UK 자료 검색",</a:t>
            </a:r>
          </a:p>
          <a:p xmlns:a="http://schemas.openxmlformats.org/drawingml/2006/main">
            <a:r>
              <a:t>      "근거 기반 응답",</a:t>
            </a:r>
          </a:p>
          <a:p xmlns:a="http://schemas.openxmlformats.org/drawingml/2006/main">
            <a:r>
              <a:t>      "공식 안내 확인"</a:t>
            </a:r>
          </a:p>
          <a:p xmlns:a="http://schemas.openxmlformats.org/drawingml/2006/main">
            <a:r>
              <a:t>    ],</a:t>
            </a:r>
          </a:p>
          <a:p xmlns:a="http://schemas.openxmlformats.org/drawingml/2006/main">
            <a:r>
              <a:t>    "flowBasis": "공개 RAG 구조와 실증 결과의 요약",</a:t>
            </a:r>
          </a:p>
          <a:p xmlns:a="http://schemas.openxmlformats.org/drawingml/2006/main">
            <a:r>
              <a:t>    "lesson": "공식 서비스 목록·정확도·수행 경계의 명시",</a:t>
            </a:r>
          </a:p>
          <a:p xmlns:a="http://schemas.openxmlformats.org/drawingml/2006/main">
            <a:r>
              <a:t>    "local": "TS 공개 서비스 카탈로그와 소관 부서 연결 / 메뉴를 유지한 프롬프트·음성 진입",</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"공개·내부 지식 분리 / 서비스 라우터 / 필수 입력 확인 / 인증·전송 연계",</a:t>
            </a:r>
          </a:p>
          <a:p xmlns:a="http://schemas.openxmlformats.org/drawingml/2006/main">
            <a:r>
              <a:t>    "test": "실제 메뉴 대비 업무 도달률·완료시간 및 잘못된 기관 안내 검증",</a:t>
            </a:r>
          </a:p>
          <a:p xmlns:a="http://schemas.openxmlformats.org/drawingml/2006/main">
            <a:r>
              <a:t>    "metric": "정확한 서비스 도달률 / 포기율 / 응답 p95"</a:t>
            </a:r>
          </a:p>
          <a:p xmlns:a="http://schemas.openxmlformats.org/drawingml/2006/main">
            <a:r>
              <a:t>  },</a:t>
            </a:r>
          </a:p>
          <a:p xmlns:a="http://schemas.openxmlformats.org/drawingml/2006/main">
            <a:r>
              <a:t>  "design": {</a:t>
            </a:r>
          </a:p>
          <a:p xmlns:a="http://schemas.openxmlformats.org/drawingml/2006/main">
            <a:r>
              <a:t>    "id": "AX06",</a:t>
            </a:r>
          </a:p>
          <a:p xmlns:a="http://schemas.openxmlformats.org/drawingml/2006/main">
            <a:r>
              <a:t>    "canonicalId": "AX06",</a:t>
            </a:r>
          </a:p>
          <a:p xmlns:a="http://schemas.openxmlformats.org/drawingml/2006/main">
            <a:r>
              <a:t>    "purpose": "공식 정부 안내를 자연어로 탐색하는 접점",</a:t>
            </a:r>
          </a:p>
          <a:p xmlns:a="http://schemas.openxmlformats.org/drawingml/2006/main">
            <a:r>
              <a:t>    "users": "국민·GOV.UK 운영팀",</a:t>
            </a:r>
          </a:p>
          <a:p xmlns:a="http://schemas.openxmlformats.org/drawingml/2006/main">
            <a:r>
              <a:t>    "scope": [</a:t>
            </a:r>
          </a:p>
          <a:p xmlns:a="http://schemas.openxmlformats.org/drawingml/2006/main">
            <a:r>
              <a:t>      "공식 지식 검색",</a:t>
            </a:r>
          </a:p>
          <a:p xmlns:a="http://schemas.openxmlformats.org/drawingml/2006/main">
            <a:r>
              <a:t>      "출처 답변",</a:t>
            </a:r>
          </a:p>
          <a:p xmlns:a="http://schemas.openxmlformats.org/drawingml/2006/main">
            <a:r>
              <a:t>      "서비스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"GOV.UK 앱",</a:t>
            </a:r>
          </a:p>
          <a:p xmlns:a="http://schemas.openxmlformats.org/drawingml/2006/main">
            <a:r>
              <a:t>        "detail": "앱 질문과 이전 대화의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"공식 지식 검색 / 출처 답변 / 서비스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"Rails·Claude / Bedrock",</a:t>
            </a:r>
          </a:p>
          <a:p xmlns:a="http://schemas.openxmlformats.org/drawingml/2006/main">
            <a:r>
              <a:t>        "detail": "질문 처리·검색·Claude 응답의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"이용자·운영자",</a:t>
            </a:r>
          </a:p>
          <a:p xmlns:a="http://schemas.openxmlformats.org/drawingml/2006/main">
            <a:r>
              <a:t>        "detail": "출처가 있는 답변과 공식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"OpenSearch·품질 분석 기록",</a:t>
            </a:r>
          </a:p>
          <a:p xmlns:a="http://schemas.openxmlformats.org/drawingml/2006/main">
            <a:r>
              <a:t>        "detail": "공개 콘텐츠 선별·벡터화·OpenSearch 저장",</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"관리 도구·BigQuery 기반 품질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"질문 분류",</a:t>
            </a:r>
          </a:p>
          <a:p xmlns:a="http://schemas.openxmlformats.org/drawingml/2006/main">
            <a:r>
              <a:t>        "input": "앱 질문과 이전 대화의 문맥 구성",</a:t>
            </a:r>
          </a:p>
          <a:p xmlns:a="http://schemas.openxmlformats.org/drawingml/2006/main">
            <a:r>
              <a:t>        "process": "공개 콘텐츠 선별·벡터화·OpenSearch 저장",</a:t>
            </a:r>
          </a:p>
          <a:p xmlns:a="http://schemas.openxmlformats.org/drawingml/2006/main">
            <a:r>
              <a:t>        "output": "질문·의도"</a:t>
            </a:r>
          </a:p>
          <a:p xmlns:a="http://schemas.openxmlformats.org/drawingml/2006/main">
            <a:r>
              <a:t>      },</a:t>
            </a:r>
          </a:p>
          <a:p xmlns:a="http://schemas.openxmlformats.org/drawingml/2006/main">
            <a:r>
              <a:t>      {</a:t>
            </a:r>
          </a:p>
          <a:p xmlns:a="http://schemas.openxmlformats.org/drawingml/2006/main">
            <a:r>
              <a:t>        "title": "GOV.UK 자료 검색",</a:t>
            </a:r>
          </a:p>
          <a:p xmlns:a="http://schemas.openxmlformats.org/drawingml/2006/main">
            <a:r>
              <a:t>        "input": "질문·의도",</a:t>
            </a:r>
          </a:p>
          <a:p xmlns:a="http://schemas.openxmlformats.org/drawingml/2006/main">
            <a:r>
              <a:t>        "process": "질문 처리·검색·Claude 응답의 조정",</a:t>
            </a:r>
          </a:p>
          <a:p xmlns:a="http://schemas.openxmlformats.org/drawingml/2006/main">
            <a:r>
              <a:t>        "output": "공식 문서 조각"</a:t>
            </a:r>
          </a:p>
          <a:p xmlns:a="http://schemas.openxmlformats.org/drawingml/2006/main">
            <a:r>
              <a:t>      },</a:t>
            </a:r>
          </a:p>
          <a:p xmlns:a="http://schemas.openxmlformats.org/drawingml/2006/main">
            <a:r>
              <a:t>      {</a:t>
            </a:r>
          </a:p>
          <a:p xmlns:a="http://schemas.openxmlformats.org/drawingml/2006/main">
            <a:r>
              <a:t>        "title": "근거 기반 응답",</a:t>
            </a:r>
          </a:p>
          <a:p xmlns:a="http://schemas.openxmlformats.org/drawingml/2006/main">
            <a:r>
              <a:t>        "input": "공식 문서 조각",</a:t>
            </a:r>
          </a:p>
          <a:p xmlns:a="http://schemas.openxmlformats.org/drawingml/2006/main">
            <a:r>
              <a:t>        "process": "질문 분류·응답 품질 평가",</a:t>
            </a:r>
          </a:p>
          <a:p xmlns:a="http://schemas.openxmlformats.org/drawingml/2006/main">
            <a:r>
              <a:t>        "output": "출처 포함 답변"</a:t>
            </a:r>
          </a:p>
          <a:p xmlns:a="http://schemas.openxmlformats.org/drawingml/2006/main">
            <a:r>
              <a:t>      },</a:t>
            </a:r>
          </a:p>
          <a:p xmlns:a="http://schemas.openxmlformats.org/drawingml/2006/main">
            <a:r>
              <a:t>      {</a:t>
            </a:r>
          </a:p>
          <a:p xmlns:a="http://schemas.openxmlformats.org/drawingml/2006/main">
            <a:r>
              <a:t>        "title": "공식 안내 확인",</a:t>
            </a:r>
          </a:p>
          <a:p xmlns:a="http://schemas.openxmlformats.org/drawingml/2006/main">
            <a:r>
              <a:t>        "input": "출처 포함 답변",</a:t>
            </a:r>
          </a:p>
          <a:p xmlns:a="http://schemas.openxmlformats.org/drawingml/2006/main">
            <a:r>
              <a:t>        "process": "출처가 있는 답변과 공식 안내 페이지 제공",</a:t>
            </a:r>
          </a:p>
          <a:p xmlns:a="http://schemas.openxmlformats.org/drawingml/2006/main">
            <a:r>
              <a:t>        "output": "원문·공식 서비스"</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"신청 방법을 질문하고 근거 안내와 해당 공식 페이지 확인",</a:t>
            </a:r>
          </a:p>
          <a:p xmlns:a="http://schemas.openxmlformats.org/drawingml/2006/main">
            <a:r>
              <a:t>      "exception": "범위 밖 질문·상충 안내·개인 업무의 실행 요청",</a:t>
            </a:r>
          </a:p>
          <a:p xmlns:a="http://schemas.openxmlformats.org/drawingml/2006/main">
            <a:r>
              <a:t>      "evidence": "정답 안내 페이지·근거 문단·응답 보류·처리시간 대조",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"국민·GOV.UK 운영팀",</a:t>
            </a:r>
          </a:p>
          <a:p xmlns:a="http://schemas.openxmlformats.org/drawingml/2006/main">
            <a:r>
              <a:t>          "processing": "앱 질문과 이전 대화의 문맥 구성",</a:t>
            </a:r>
          </a:p>
          <a:p xmlns:a="http://schemas.openxmlformats.org/drawingml/2006/main">
            <a:r>
              <a:t>          "output": "질문·의도"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"OpenSearch·품질 분석 기록",</a:t>
            </a:r>
          </a:p>
          <a:p xmlns:a="http://schemas.openxmlformats.org/drawingml/2006/main">
            <a:r>
              <a:t>          "processing": "공개 콘텐츠 선별·벡터화·OpenSearch 저장",</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"질문·의도",</a:t>
            </a:r>
          </a:p>
          <a:p xmlns:a="http://schemas.openxmlformats.org/drawingml/2006/main">
            <a:r>
              <a:t>          "processing": "질문 처리·검색·Claude 응답의 조정",</a:t>
            </a:r>
          </a:p>
          <a:p xmlns:a="http://schemas.openxmlformats.org/drawingml/2006/main">
            <a:r>
              <a:t>          "output": "출처 포함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"출처 포함 답변",</a:t>
            </a:r>
          </a:p>
          <a:p xmlns:a="http://schemas.openxmlformats.org/drawingml/2006/main">
            <a:r>
              <a:t>          "processing": "출처가 있는 답변과 공식 안내 페이지 제공",</a:t>
            </a:r>
          </a:p>
          <a:p xmlns:a="http://schemas.openxmlformats.org/drawingml/2006/main">
            <a:r>
              <a:t>          "output": "원문·공식 서비스"</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"관리 도구·BigQuery 기반 품질 분석",</a:t>
            </a:r>
          </a:p>
          <a:p xmlns:a="http://schemas.openxmlformats.org/drawingml/2006/main">
            <a:r>
              <a:t>          "output": "정답 안내 페이지·근거 문단·응답 보류·처리시간 대조"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"관리 도구·BigQuery 기반 품질 분석",</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"S06",</a:t>
            </a:r>
          </a:p>
          <a:p xmlns:a="http://schemas.openxmlformats.org/drawingml/2006/main">
            <a:r>
              <a:t>        "title": "GDS · GOV.UK Chat 이용자 실증",</a:t>
            </a:r>
          </a:p>
          <a:p xmlns:a="http://schemas.openxmlformats.org/drawingml/2006/main">
            <a:r>
              <a:t>        "url": "https://insidegovuk.blog.gov.uk/2026/03/16/5-things-we-learned-testing-gov-uk-chat-an-ai-assistant-for-government/",</a:t>
            </a:r>
          </a:p>
          <a:p xmlns:a="http://schemas.openxmlformats.org/drawingml/2006/main">
            <a:r>
              <a:t>        "published": "2026-03-16",</a:t>
            </a:r>
          </a:p>
          <a:p xmlns:a="http://schemas.openxmlformats.org/drawingml/2006/main">
            <a:r>
              <a:t>        "level": "정부 실증 보고",</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"id": "S07",</a:t>
            </a:r>
          </a:p>
          <a:p xmlns:a="http://schemas.openxmlformats.org/drawingml/2006/main">
            <a:r>
              <a:t>        "title": "DSIT · GOV.UK Chat 알고리즘 공개 기록",</a:t>
            </a:r>
          </a:p>
          <a:p xmlns:a="http://schemas.openxmlformats.org/drawingml/2006/main">
            <a:r>
              <a:t>        "url": "https://www.gov.uk/algorithmic-transparency-records/dsit-gov-dot-uk-chat",</a:t>
            </a:r>
          </a:p>
          <a:p xmlns:a="http://schemas.openxmlformats.org/drawingml/2006/main">
            <a:r>
              <a:t>        "published": "2025-10-07",</a:t>
            </a:r>
          </a:p>
          <a:p xmlns:a="http://schemas.openxmlformats.org/drawingml/2006/main">
            <a:r>
              <a:t>        "level": "정부 기술·책임 공개",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"공식 서비스 목록·정확도·수행 경계의 명시",</a:t>
            </a:r>
          </a:p>
          <a:p xmlns:a="http://schemas.openxmlformats.org/drawingml/2006/main">
            <a:r>
              <a:t>    "local": "TS 공개 서비스 카탈로그와 소관 부서 연결 / 메뉴를 유지한 프롬프트·음성 진입",</a:t>
            </a:r>
          </a:p>
          <a:p xmlns:a="http://schemas.openxmlformats.org/drawingml/2006/main">
            <a:r>
              <a:t>    "sourceDetail": null,</a:t>
            </a:r>
          </a:p>
          <a:p xmlns:a="http://schemas.openxmlformats.org/drawingml/2006/main">
            <a:r>
              <a:t>    "narrative": [</a:t>
            </a:r>
          </a:p>
          <a:p xmlns:a="http://schemas.openxmlformats.org/drawingml/2006/main">
            <a:r>
              <a:t>      "정부 안내 페이지를 이용자가 직접 탐색하는 과정에 자연어 질의 접점을 추가한 사례. 질문에 대한 설명과 실제 공공서비스 신청은 별도 단계이며 원문·공식 서비스로의 이동이 중요한 완료조건.",</a:t>
            </a:r>
          </a:p>
          <a:p xmlns:a="http://schemas.openxmlformats.org/drawingml/2006/main">
            <a:r>
              <a:t>      "공개 기술기록의 Rails·Claude/Bedrock·OpenSearch·BigQuery를 기준으로 콘텐츠 준비, 질의 검색, 응답 생성, 품질 관측을 구분. 2023년 파일럿 설계와 2025년 공개 기술기록은 판본이 다른 자료로 취급.",</a:t>
            </a:r>
          </a:p>
          <a:p xmlns:a="http://schemas.openxmlformats.org/drawingml/2006/main">
            <a:r>
              <a:t>      "CCK에서는 TS 메뉴를 없애기보다 질문의 소관·지역·자격을 정리하고 검증된 메뉴에 연결하는 방식으로 현지화. 근거 없음·범위 밖 질의·느린 응답·틀린 신청 경로를 별도 과업으로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"GOV.UK 앱 질의",</a:t>
            </a:r>
          </a:p>
          <a:p xmlns:a="http://schemas.openxmlformats.org/drawingml/2006/main">
            <a:r>
              <a:t>          "layer": "이용 접점",</a:t>
            </a:r>
          </a:p>
          <a:p xmlns:a="http://schemas.openxmlformats.org/drawingml/2006/main">
            <a:r>
              <a:t>          "detail": "국민·GOV.UK 운영팀",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"질문·대화 문맥",</a:t>
            </a:r>
          </a:p>
          <a:p xmlns:a="http://schemas.openxmlformats.org/drawingml/2006/main">
            <a:r>
              <a:t>          "layer": "업무 문맥",</a:t>
            </a:r>
          </a:p>
          <a:p xmlns:a="http://schemas.openxmlformats.org/drawingml/2006/main">
            <a:r>
              <a:t>          "detail": "앱 질문과 이전 대화의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"OpenSearch 검색",</a:t>
            </a:r>
          </a:p>
          <a:p xmlns:a="http://schemas.openxmlformats.org/drawingml/2006/main">
            <a:r>
              <a:t>          "layer": "자료 조회",</a:t>
            </a:r>
          </a:p>
          <a:p xmlns:a="http://schemas.openxmlformats.org/drawingml/2006/main">
            <a:r>
              <a:t>          "detail": "질문·의도",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"Claude / Bedrock",</a:t>
            </a:r>
          </a:p>
          <a:p xmlns:a="http://schemas.openxmlformats.org/drawingml/2006/main">
            <a:r>
              <a:t>          "layer": "핵심 처리",</a:t>
            </a:r>
          </a:p>
          <a:p xmlns:a="http://schemas.openxmlformats.org/drawingml/2006/main">
            <a:r>
              <a:t>          "detail": "질문 처리·검색·Claude 응답의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"범위·근거 검사",</a:t>
            </a:r>
          </a:p>
          <a:p xmlns:a="http://schemas.openxmlformats.org/drawingml/2006/main">
            <a:r>
              <a:t>          "layer": "결과 검증",</a:t>
            </a:r>
          </a:p>
          <a:p xmlns:a="http://schemas.openxmlformats.org/drawingml/2006/main">
            <a:r>
              <a:t>          "detail": "질문 분류·응답 품질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원문 확인",</a:t>
            </a:r>
          </a:p>
          <a:p xmlns:a="http://schemas.openxmlformats.org/drawingml/2006/main">
            <a:r>
              <a:t>          "layer": "사람 확인",</a:t>
            </a:r>
          </a:p>
          <a:p xmlns:a="http://schemas.openxmlformats.org/drawingml/2006/main">
            <a:r>
              <a:t>          "detail": "신청 방법을 질문하고 근거 안내와 해당 공식 페이지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서비스 연결",</a:t>
            </a:r>
          </a:p>
          <a:p xmlns:a="http://schemas.openxmlformats.org/drawingml/2006/main">
            <a:r>
              <a:t>          "layer": "업무 연결",</a:t>
            </a:r>
          </a:p>
          <a:p xmlns:a="http://schemas.openxmlformats.org/drawingml/2006/main">
            <a:r>
              <a:t>          "detail": "출처가 있는 답변과 공식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"BigQuery 품질 분석",</a:t>
            </a:r>
          </a:p>
          <a:p xmlns:a="http://schemas.openxmlformats.org/drawingml/2006/main">
            <a:r>
              <a:t>          "layer": "운영 관측",</a:t>
            </a:r>
          </a:p>
          <a:p xmlns:a="http://schemas.openxmlformats.org/drawingml/2006/main">
            <a:r>
              <a:t>          "detail": "관리 도구·BigQuery 기반 품질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"GOV.UK 콘텐츠",</a:t>
            </a:r>
          </a:p>
          <a:p xmlns:a="http://schemas.openxmlformats.org/drawingml/2006/main">
            <a:r>
              <a:t>          "layer": "데이터 원천",</a:t>
            </a:r>
          </a:p>
          <a:p xmlns:a="http://schemas.openxmlformats.org/drawingml/2006/main">
            <a:r>
              <a:t>          "detail": "OpenSearch·품질 분석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"선별·청킹·벡터화",</a:t>
            </a:r>
          </a:p>
          <a:p xmlns:a="http://schemas.openxmlformats.org/drawingml/2006/main">
            <a:r>
              <a:t>          "layer": "준비·갱신",</a:t>
            </a:r>
          </a:p>
          <a:p xmlns:a="http://schemas.openxmlformats.org/drawingml/2006/main">
            <a:r>
              <a:t>          "detail": "공개 콘텐츠 선별·벡터화·OpenSearch 저장",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"OpenSearch 색인",</a:t>
            </a:r>
          </a:p>
          <a:p xmlns:a="http://schemas.openxmlformats.org/drawingml/2006/main">
            <a:r>
              <a:t>          "layer": "상태·지식 저장",</a:t>
            </a:r>
          </a:p>
          <a:p xmlns:a="http://schemas.openxmlformats.org/drawingml/2006/main">
            <a:r>
              <a:t>          "detail": "정답 안내 페이지·근거 문단·응답 보류·처리시간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 범위·안전정책",</a:t>
            </a:r>
          </a:p>
          <a:p xmlns:a="http://schemas.openxmlformats.org/drawingml/2006/main">
            <a:r>
              <a:t>          "layer": "권한·정책",</a:t>
            </a:r>
          </a:p>
          <a:p xmlns:a="http://schemas.openxmlformats.org/drawingml/2006/main">
            <a:r>
              <a:t>          "detail": "범위 밖 질문·상충 안내·개인 업무의 실행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"품질 로그"</a:t>
            </a:r>
          </a:p>
          <a:p xmlns:a="http://schemas.openxmlformats.org/drawingml/2006/main">
            <a:r>
              <a:t>          }</a:t>
            </a:r>
          </a:p>
          <a:p xmlns:a="http://schemas.openxmlformats.org/drawingml/2006/main">
            <a:r>
              <a:t>        ],</a:t>
            </a:r>
          </a:p>
          <a:p xmlns:a="http://schemas.openxmlformats.org/drawingml/2006/main">
            <a:r>
              <a:t>        "summary": "질문 분류 → GOV.UK 자료 검색 → 근거 기반 응답 → 공식 안내 확인"</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"OpenSearch·품질 분석 기록",</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"앱 질문과 이전 대화의 문맥 구성",</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"정답 안내 페이지·근거 문단·응답 보류·처리시간 대조",</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"공식 문서 조각",</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"출처 포함 답변",</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"ATRS 2025-10-07",</a:t>
            </a:r>
          </a:p>
          <a:p xmlns:a="http://schemas.openxmlformats.org/drawingml/2006/main">
            <a:r>
              <a:t>        "extracted": "Rails·Claude/Bedrock·OpenSearch·BigQuery 공개 구성",</a:t>
            </a:r>
          </a:p>
          <a:p xmlns:a="http://schemas.openxmlformats.org/drawingml/2006/main">
            <a:r>
              <a:t>        "extension": "질문·검색·근거·원문 이동의 추적 ID 연결"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"AX06",</a:t>
            </a:r>
          </a:p>
          <a:p xmlns:a="http://schemas.openxmlformats.org/drawingml/2006/main">
            <a:r>
              <a:t>          "path": "assets/casebook-sources/AX06-01.png",</a:t>
            </a:r>
          </a:p>
          <a:p xmlns:a="http://schemas.openxmlformats.org/drawingml/2006/main">
            <a:r>
              <a:t>          "title": "GOV.UK Chat 2025년 공개 베타 구성",</a:t>
            </a:r>
          </a:p>
          <a:p xmlns:a="http://schemas.openxmlformats.org/drawingml/2006/main">
            <a:r>
              <a:t>          "status": "영국 정부 ATRS 공식 C4 아키텍처",</a:t>
            </a:r>
          </a:p>
          <a:p xmlns:a="http://schemas.openxmlformats.org/drawingml/2006/main">
            <a:r>
              <a:t>          "caption": "앱·인증·Rails·Bedrock·OpenSearch·PostgreSQL·BigQuery의 운영 경계",</a:t>
            </a:r>
          </a:p>
          <a:p xmlns:a="http://schemas.openxmlformats.org/drawingml/2006/main">
            <a:r>
              <a:t>          "locator": "DSIT ATRS 2025-10-07 / 4.1.1 System Architecture / August 2025 public beta",</a:t>
            </a:r>
          </a:p>
          <a:p xmlns:a="http://schemas.openxmlformats.org/drawingml/2006/main">
            <a:r>
              <a:t>          "sourceUrl": "https://www.gov.uk/algorithmic-transparency-records/dsit-gov-dot-uk-chat",</a:t>
            </a:r>
          </a:p>
          <a:p xmlns:a="http://schemas.openxmlformats.org/drawingml/2006/main">
            <a:r>
              <a:t>          "checked": "2026-10-16",</a:t>
            </a:r>
          </a:p>
          <a:p xmlns:a="http://schemas.openxmlformats.org/drawingml/2006/main">
            <a:r>
              <a:t>          "sha256": "8efe82dfdfa8df7ee5312dd13369be76aaf53cb39df42957cad9be1de605fc25",</a:t>
            </a:r>
          </a:p>
          <a:p xmlns:a="http://schemas.openxmlformats.org/drawingml/2006/main">
            <a:r>
              <a:t>          "explanation": {</a:t>
            </a:r>
          </a:p>
          <a:p xmlns:a="http://schemas.openxmlformats.org/drawingml/2006/main">
            <a:r>
              <a:t>            "read": "영국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a:t>
            </a:r>
          </a:p>
          <a:p xmlns:a="http://schemas.openxmlformats.org/drawingml/2006/main">
            <a:r>
              <a:t>            "requirements": [],</a:t>
            </a:r>
          </a:p>
          <a:p xmlns:a="http://schemas.openxmlformats.org/drawingml/2006/main">
            <a:r>
              <a:t>            "connection": "TS 대민 서비스에서는 로그인·공개 콘텐츠·대화 생성·품질 분석의 경계를 구분하고, 검색 원문과 응답·로그의 식별자 및 보존 정책을 별도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"path": "assets/casebook-sources/AX06-02.png",</a:t>
            </a:r>
          </a:p>
          <a:p xmlns:a="http://schemas.openxmlformats.org/drawingml/2006/main">
            <a:r>
              <a:t>          "title": "GOV.UK Chat 초기 파일럿 구성",</a:t>
            </a:r>
          </a:p>
          <a:p xmlns:a="http://schemas.openxmlformats.org/drawingml/2006/main">
            <a:r>
              <a:t>          "status": "영국 정부 개발문서 초기 설계도",</a:t>
            </a:r>
          </a:p>
          <a:p xmlns:a="http://schemas.openxmlformats.org/drawingml/2006/main">
            <a:r>
              <a:t>          "caption": "2023년 파일럿의 Rails·Redis·PostgreSQL·OpenAI·OpenSearch 계획. 2025년 운영 구성과 구분",</a:t>
            </a:r>
          </a:p>
          <a:p xmlns:a="http://schemas.openxmlformats.org/drawingml/2006/main">
            <a:r>
              <a:t>          "locator": "govuk-chat ADR-0001 / Pilot Technical Architecture",</a:t>
            </a:r>
          </a:p>
          <a:p xmlns:a="http://schemas.openxmlformats.org/drawingml/2006/main">
            <a:r>
              <a:t>          "sourceUrl": "https://docs.publishing.service.gov.uk/repos/govuk-chat/adr/0001-pilot-technical-architecture.html",</a:t>
            </a:r>
          </a:p>
          <a:p xmlns:a="http://schemas.openxmlformats.org/drawingml/2006/main">
            <a:r>
              <a:t>          "checked": "2026-10-16",</a:t>
            </a:r>
          </a:p>
          <a:p xmlns:a="http://schemas.openxmlformats.org/drawingml/2006/main">
            <a:r>
              <a:t>          "sha256": "220db41f02597aff9a66bca8744a6772cdc9190c34324538f7862519fb434fc2",</a:t>
            </a:r>
          </a:p>
          <a:p xmlns:a="http://schemas.openxmlformats.org/drawingml/2006/main">
            <a:r>
              <a:t>          "explanation": {</a:t>
            </a:r>
          </a:p>
          <a:p xmlns:a="http://schemas.openxmlformats.org/drawingml/2006/main">
            <a:r>
              <a:t>            "read": "GOV.UK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a:t>
            </a:r>
          </a:p>
          <a:p xmlns:a="http://schemas.openxmlformats.org/drawingml/2006/main">
            <a:r>
              <a:t>            "requirements": [],</a:t>
            </a:r>
          </a:p>
          <a:p xmlns:a="http://schemas.openxmlformats.org/drawingml/2006/main">
            <a:r>
              <a:t>            "connection": "TS 고도화 시 파일럿과 운영 구성의 차이를 사례로 삼아 모델·인증·색인 교체 가능성을 인터페이스와 운영 이력에 반영한다."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"범위 밖 질문·상충 안내·개인 업무의 실행 요청",</a:t>
            </a:r>
          </a:p>
          <a:p xmlns:a="http://schemas.openxmlformats.org/drawingml/2006/main">
            <a:r>
              <a:t>        "hold": "질문 분류·응답 품질 평가",</a:t>
            </a:r>
          </a:p>
          <a:p xmlns:a="http://schemas.openxmlformats.org/drawingml/2006/main">
            <a:r>
              <a:t>        "recovery": "관리 도구·BigQuery 기반 품질 분석",</a:t>
            </a:r>
          </a:p>
          <a:p xmlns:a="http://schemas.openxmlformats.org/drawingml/2006/main">
            <a:r>
              <a:t>        "evidence": "정답 안내 페이지·근거 문단·응답 보류·처리시간 대조"</a:t>
            </a:r>
          </a:p>
          <a:p xmlns:a="http://schemas.openxmlformats.org/drawingml/2006/main">
            <a:r>
              <a:t>      },</a:t>
            </a:r>
          </a:p>
          <a:p xmlns:a="http://schemas.openxmlformats.org/drawingml/2006/main">
            <a:r>
              <a:t>      "data": {</a:t>
            </a:r>
          </a:p>
          <a:p xmlns:a="http://schemas.openxmlformats.org/drawingml/2006/main">
            <a:r>
              <a:t>        "source": "OpenSearch·품질 분석 기록",</a:t>
            </a:r>
          </a:p>
          <a:p xmlns:a="http://schemas.openxmlformats.org/drawingml/2006/main">
            <a:r>
              <a:t>        "prepare": "공개 콘텐츠 선별·벡터화·OpenSearch 저장",</a:t>
            </a:r>
          </a:p>
          <a:p xmlns:a="http://schemas.openxmlformats.org/drawingml/2006/main">
            <a:r>
              <a:t>        "output": "질문·의도",</a:t>
            </a:r>
          </a:p>
          <a:p xmlns:a="http://schemas.openxmlformats.org/drawingml/2006/main">
            <a:r>
              <a:t>        "refresh": "관리 도구·BigQuery 기반 품질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"AX06",</a:t>
            </a:r>
          </a:p>
          <a:p xmlns:a="http://schemas.openxmlformats.org/drawingml/2006/main">
            <a:r>
              <a:t>    "success": [</a:t>
            </a:r>
          </a:p>
          <a:p xmlns:a="http://schemas.openxmlformats.org/drawingml/2006/main">
            <a:r>
              <a:t>      "공식 안내 자료에 한정한 검색",</a:t>
            </a:r>
          </a:p>
          <a:p xmlns:a="http://schemas.openxmlformats.org/drawingml/2006/main">
            <a:r>
              <a:t>      "출처 링크와 기존 탐색 경로 병행"</a:t>
            </a:r>
          </a:p>
          <a:p xmlns:a="http://schemas.openxmlformats.org/drawingml/2006/main">
            <a:r>
              <a:t>    ],</a:t>
            </a:r>
          </a:p>
          <a:p xmlns:a="http://schemas.openxmlformats.org/drawingml/2006/main">
            <a:r>
              <a:t>    "risks": [</a:t>
            </a:r>
          </a:p>
          <a:p xmlns:a="http://schemas.openxmlformats.org/drawingml/2006/main">
            <a:r>
              <a:t>      "업무 범위 밖 질문",</a:t>
            </a:r>
          </a:p>
          <a:p xmlns:a="http://schemas.openxmlformats.org/drawingml/2006/main">
            <a:r>
              <a:t>      "응답속도·안내와 실제 처리의 간극"</a:t>
            </a:r>
          </a:p>
          <a:p xmlns:a="http://schemas.openxmlformats.org/drawingml/2006/main">
            <a:r>
              <a:t>    ],</a:t>
            </a:r>
          </a:p>
          <a:p xmlns:a="http://schemas.openxmlformats.org/drawingml/2006/main">
            <a:r>
              <a:t>    "architecture": [</a:t>
            </a:r>
          </a:p>
          <a:p xmlns:a="http://schemas.openxmlformats.org/drawingml/2006/main">
            <a:r>
              <a:t>      "GOV.UK 앱",</a:t>
            </a:r>
          </a:p>
          <a:p xmlns:a="http://schemas.openxmlformats.org/drawingml/2006/main">
            <a:r>
              <a:t>      "Rails·Claude / Bedrock",</a:t>
            </a:r>
          </a:p>
          <a:p xmlns:a="http://schemas.openxmlformats.org/drawingml/2006/main">
            <a:r>
              <a:t>      "OpenSearch·품질 분석 기록",</a:t>
            </a:r>
          </a:p>
          <a:p xmlns:a="http://schemas.openxmlformats.org/drawingml/2006/main">
            <a:r>
              <a:t>      "이용자·운영자"</a:t>
            </a:r>
          </a:p>
          <a:p xmlns:a="http://schemas.openxmlformats.org/drawingml/2006/main">
            <a:r>
              <a:t>    ],</a:t>
            </a:r>
          </a:p>
          <a:p xmlns:a="http://schemas.openxmlformats.org/drawingml/2006/main">
            <a:r>
              <a:t>    "transfers": [</a:t>
            </a:r>
          </a:p>
          <a:p xmlns:a="http://schemas.openxmlformats.org/drawingml/2006/main">
            <a:r>
              <a:t>      "질문·의도",</a:t>
            </a:r>
          </a:p>
          <a:p xmlns:a="http://schemas.openxmlformats.org/drawingml/2006/main">
            <a:r>
              <a:t>      "공식 문서 조각",</a:t>
            </a:r>
          </a:p>
          <a:p xmlns:a="http://schemas.openxmlformats.org/drawingml/2006/main">
            <a:r>
              <a:t>      "출처 포함 답변",</a:t>
            </a:r>
          </a:p>
          <a:p xmlns:a="http://schemas.openxmlformats.org/drawingml/2006/main">
            <a:r>
              <a:t>      "원문·공식 서비스"</a:t>
            </a:r>
          </a:p>
          <a:p xmlns:a="http://schemas.openxmlformats.org/drawingml/2006/main">
            <a:r>
              <a:t>    ],</a:t>
            </a:r>
          </a:p>
          <a:p xmlns:a="http://schemas.openxmlformats.org/drawingml/2006/main">
            <a:r>
              <a:t>    "control": "질문 분류·응답 품질 평가",</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GDS · GOV.UK Chat 이용자 실증 https://insidegovuk.blog.gov.uk/2026/03/16/5-things-we-learned-testing-gov-uk-chat-an-ai-assistant-for-government/</a:t>
            </a:r>
          </a:p>
          <a:p xmlns:a="http://schemas.openxmlformats.org/drawingml/2006/main">
            <a:r>
              <a:t>DSIT · GOV.UK Chat 알고리즘 공개 기록 https://www.gov.uk/algorithmic-transparency-records/dsit-gov-dot-uk-chat</a:t>
            </a:r>
          </a:p>
          <a:p xmlns:a="http://schemas.openxmlformats.org/drawingml/2006/main">
            <a:r>
              <a:t>홈페이지 https://heen1987-ops.github.io/TS-business-Plan-001/index.html?view=casebook&amp;case=AX06</a:t>
            </a:r>
          </a:p>
          <a:p xmlns:a="http://schemas.openxmlformats.org/drawingml/2006/main">
            <a:r>
              <a:t>성과 대조</a:t>
            </a:r>
          </a:p>
          <a:p xmlns:a="http://schemas.openxmlformats.org/drawingml/2006/main">
            <a:r>
              <a:t>{</a:t>
            </a:r>
          </a:p>
          <a:p xmlns:a="http://schemas.openxmlformats.org/drawingml/2006/main">
            <a:r>
              <a:t>  "caseId": "AX06",</a:t>
            </a:r>
          </a:p>
          <a:p xmlns:a="http://schemas.openxmlformats.org/drawingml/2006/main">
            <a:r>
              <a:t>  "asIs": "국민이 GOV.UK 여러 안내 문서를 찾아 자신의 질문과 소관 서비스를 대조",</a:t>
            </a:r>
          </a:p>
          <a:p xmlns:a="http://schemas.openxmlformats.org/drawingml/2006/main">
            <a:r>
              <a:t>  "toBe": "선별된 공식 콘텐츠를 검색해 대화형으로 안내하고 출처·서비스 경계를 제시",</a:t>
            </a:r>
          </a:p>
          <a:p xmlns:a="http://schemas.openxmlformats.org/drawingml/2006/main">
            <a:r>
              <a:t>  "expectedEffect": "안내 탐색 시간 단축과 적합한 공공서비스 도달률 향상",</a:t>
            </a:r>
          </a:p>
          <a:p xmlns:a="http://schemas.openxmlformats.org/drawingml/2006/main">
            <a:r>
              <a:t>  "observed": "GDS가 iOS 이용자 641명·4주·2,670개 질문을 실증; 안내 편의 의견과 함께 속도·업무 범위·신뢰성 개선 과제 공개",</a:t>
            </a:r>
          </a:p>
          <a:p xmlns:a="http://schemas.openxmlformats.org/drawingml/2006/main">
            <a:r>
              <a:t>  "verdict": "부분 성과",</a:t>
            </a:r>
          </a:p>
          <a:p xmlns:a="http://schemas.openxmlformats.org/drawingml/2006/main">
            <a:r>
              <a:t>  "verdictReason": "대화형 안내의 사용 가능성은 확인됐으나 개인 업무 처리 완료와 광범위한 정확도는 아직 실증 범위 밖",</a:t>
            </a:r>
          </a:p>
          <a:p xmlns:a="http://schemas.openxmlformats.org/drawingml/2006/main">
            <a:r>
              <a:t>  "limits": "공개 안내 검색 실증 기준. 인증·신청·처리 자동화의 성공 증거 아님",</a:t>
            </a:r>
          </a:p>
          <a:p xmlns:a="http://schemas.openxmlformats.org/drawingml/2006/main">
            <a:r>
              <a:t>  "evidenceStage": "정부 운영 구조·이용자 실증 공개",</a:t>
            </a:r>
          </a:p>
          <a:p xmlns:a="http://schemas.openxmlformats.org/drawingml/2006/main">
            <a:r>
              <a:t>  "sourceUrl": "https://insidegovuk.blog.gov.uk/2026/03/16/5-things-we-learned-testing-gov-uk-chat-an-ai-assistant-for-government/"</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"AX06",</a:t>
            </a:r>
          </a:p>
          <a:p xmlns:a="http://schemas.openxmlformats.org/drawingml/2006/main">
            <a:r>
              <a:t>    "title": "GOV.UK Chat",</a:t>
            </a:r>
          </a:p>
          <a:p xmlns:a="http://schemas.openxmlformats.org/drawingml/2006/main">
            <a:r>
              <a:t>    "region": "해외",</a:t>
            </a:r>
          </a:p>
          <a:p xmlns:a="http://schemas.openxmlformats.org/drawingml/2006/main">
            <a:r>
              <a:t>    "country": "영국",</a:t>
            </a:r>
          </a:p>
          <a:p xmlns:a="http://schemas.openxmlformats.org/drawingml/2006/main">
            <a:r>
              <a:t>    "result": "혼합",</a:t>
            </a:r>
          </a:p>
          <a:p xmlns:a="http://schemas.openxmlformats.org/drawingml/2006/main">
            <a:r>
              <a:t>    "kind": "정부 안내 RAG 실증",</a:t>
            </a:r>
          </a:p>
          <a:p xmlns:a="http://schemas.openxmlformats.org/drawingml/2006/main">
            <a:r>
              <a:t>    "period": "2025 기술 기록 / 2026 실증",</a:t>
            </a:r>
          </a:p>
          <a:p xmlns:a="http://schemas.openxmlformats.org/drawingml/2006/main">
            <a:r>
              <a:t>    "sources": [</a:t>
            </a:r>
          </a:p>
          <a:p xmlns:a="http://schemas.openxmlformats.org/drawingml/2006/main">
            <a:r>
              <a:t>      "S06",</a:t>
            </a:r>
          </a:p>
          <a:p xmlns:a="http://schemas.openxmlformats.org/drawingml/2006/main">
            <a:r>
              <a:t>      "S07"</a:t>
            </a:r>
          </a:p>
          <a:p xmlns:a="http://schemas.openxmlformats.org/drawingml/2006/main">
            <a:r>
              <a:t>    ],</a:t>
            </a:r>
          </a:p>
          <a:p xmlns:a="http://schemas.openxmlformats.org/drawingml/2006/main">
            <a:r>
              <a:t>    "keywords": [</a:t>
            </a:r>
          </a:p>
          <a:p xmlns:a="http://schemas.openxmlformats.org/drawingml/2006/main">
            <a:r>
              <a:t>      "민원",</a:t>
            </a:r>
          </a:p>
          <a:p xmlns:a="http://schemas.openxmlformats.org/drawingml/2006/main">
            <a:r>
              <a:t>      "공공정보",</a:t>
            </a:r>
          </a:p>
          <a:p xmlns:a="http://schemas.openxmlformats.org/drawingml/2006/main">
            <a:r>
              <a:t>      "자연어 탐색",</a:t>
            </a:r>
          </a:p>
          <a:p xmlns:a="http://schemas.openxmlformats.org/drawingml/2006/main">
            <a:r>
              <a:t>      "서비스 접근"</a:t>
            </a:r>
          </a:p>
          <a:p xmlns:a="http://schemas.openxmlformats.org/drawingml/2006/main">
            <a:r>
              <a:t>    ],</a:t>
            </a:r>
          </a:p>
          <a:p xmlns:a="http://schemas.openxmlformats.org/drawingml/2006/main">
            <a:r>
              <a:t>    "fact": "iOS 실증 641명·4주·2,670개 질문; 안내 편의와 응답속도·업무 범위의 개선 과제 확인",</a:t>
            </a:r>
          </a:p>
          <a:p xmlns:a="http://schemas.openxmlformats.org/drawingml/2006/main">
            <a:r>
              <a:t>    "limit": "공개 안내 검색 범위 · 개인 업무 처리와 담당자 인계는 당시 지원·개선 범위 구분",</a:t>
            </a:r>
          </a:p>
          <a:p xmlns:a="http://schemas.openxmlformats.org/drawingml/2006/main">
            <a:r>
              <a:t>    "flow": [</a:t>
            </a:r>
          </a:p>
          <a:p xmlns:a="http://schemas.openxmlformats.org/drawingml/2006/main">
            <a:r>
              <a:t>      "질문 분류",</a:t>
            </a:r>
          </a:p>
          <a:p xmlns:a="http://schemas.openxmlformats.org/drawingml/2006/main">
            <a:r>
              <a:t>      "GOV.UK 자료 검색",</a:t>
            </a:r>
          </a:p>
          <a:p xmlns:a="http://schemas.openxmlformats.org/drawingml/2006/main">
            <a:r>
              <a:t>      "근거 기반 응답",</a:t>
            </a:r>
          </a:p>
          <a:p xmlns:a="http://schemas.openxmlformats.org/drawingml/2006/main">
            <a:r>
              <a:t>      "공식 안내 확인"</a:t>
            </a:r>
          </a:p>
          <a:p xmlns:a="http://schemas.openxmlformats.org/drawingml/2006/main">
            <a:r>
              <a:t>    ],</a:t>
            </a:r>
          </a:p>
          <a:p xmlns:a="http://schemas.openxmlformats.org/drawingml/2006/main">
            <a:r>
              <a:t>    "flowBasis": "공개 RAG 구조와 실증 결과의 요약",</a:t>
            </a:r>
          </a:p>
          <a:p xmlns:a="http://schemas.openxmlformats.org/drawingml/2006/main">
            <a:r>
              <a:t>    "lesson": "공식 서비스 목록·정확도·수행 경계의 명시",</a:t>
            </a:r>
          </a:p>
          <a:p xmlns:a="http://schemas.openxmlformats.org/drawingml/2006/main">
            <a:r>
              <a:t>    "local": "TS 공개 서비스 카탈로그와 소관 부서 연결 / 메뉴를 유지한 프롬프트·음성 진입",</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"공개·내부 지식 분리 / 서비스 라우터 / 필수 입력 확인 / 인증·전송 연계",</a:t>
            </a:r>
          </a:p>
          <a:p xmlns:a="http://schemas.openxmlformats.org/drawingml/2006/main">
            <a:r>
              <a:t>    "test": "실제 메뉴 대비 업무 도달률·완료시간 및 잘못된 기관 안내 검증",</a:t>
            </a:r>
          </a:p>
          <a:p xmlns:a="http://schemas.openxmlformats.org/drawingml/2006/main">
            <a:r>
              <a:t>    "metric": "정확한 서비스 도달률 / 포기율 / 응답 p95"</a:t>
            </a:r>
          </a:p>
          <a:p xmlns:a="http://schemas.openxmlformats.org/drawingml/2006/main">
            <a:r>
              <a:t>  },</a:t>
            </a:r>
          </a:p>
          <a:p xmlns:a="http://schemas.openxmlformats.org/drawingml/2006/main">
            <a:r>
              <a:t>  "design": {</a:t>
            </a:r>
          </a:p>
          <a:p xmlns:a="http://schemas.openxmlformats.org/drawingml/2006/main">
            <a:r>
              <a:t>    "id": "AX06",</a:t>
            </a:r>
          </a:p>
          <a:p xmlns:a="http://schemas.openxmlformats.org/drawingml/2006/main">
            <a:r>
              <a:t>    "canonicalId": "AX06",</a:t>
            </a:r>
          </a:p>
          <a:p xmlns:a="http://schemas.openxmlformats.org/drawingml/2006/main">
            <a:r>
              <a:t>    "purpose": "공식 정부 안내를 자연어로 탐색하는 접점",</a:t>
            </a:r>
          </a:p>
          <a:p xmlns:a="http://schemas.openxmlformats.org/drawingml/2006/main">
            <a:r>
              <a:t>    "users": "국민·GOV.UK 운영팀",</a:t>
            </a:r>
          </a:p>
          <a:p xmlns:a="http://schemas.openxmlformats.org/drawingml/2006/main">
            <a:r>
              <a:t>    "scope": [</a:t>
            </a:r>
          </a:p>
          <a:p xmlns:a="http://schemas.openxmlformats.org/drawingml/2006/main">
            <a:r>
              <a:t>      "공식 지식 검색",</a:t>
            </a:r>
          </a:p>
          <a:p xmlns:a="http://schemas.openxmlformats.org/drawingml/2006/main">
            <a:r>
              <a:t>      "출처 답변",</a:t>
            </a:r>
          </a:p>
          <a:p xmlns:a="http://schemas.openxmlformats.org/drawingml/2006/main">
            <a:r>
              <a:t>      "서비스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"GOV.UK 앱",</a:t>
            </a:r>
          </a:p>
          <a:p xmlns:a="http://schemas.openxmlformats.org/drawingml/2006/main">
            <a:r>
              <a:t>        "detail": "앱 질문과 이전 대화의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"공식 지식 검색 / 출처 답변 / 서비스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"Rails·Claude / Bedrock",</a:t>
            </a:r>
          </a:p>
          <a:p xmlns:a="http://schemas.openxmlformats.org/drawingml/2006/main">
            <a:r>
              <a:t>        "detail": "질문 처리·검색·Claude 응답의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"이용자·운영자",</a:t>
            </a:r>
          </a:p>
          <a:p xmlns:a="http://schemas.openxmlformats.org/drawingml/2006/main">
            <a:r>
              <a:t>        "detail": "출처가 있는 답변과 공식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"OpenSearch·품질 분석 기록",</a:t>
            </a:r>
          </a:p>
          <a:p xmlns:a="http://schemas.openxmlformats.org/drawingml/2006/main">
            <a:r>
              <a:t>        "detail": "공개 콘텐츠 선별·벡터화·OpenSearch 저장",</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"관리 도구·BigQuery 기반 품질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"질문 분류",</a:t>
            </a:r>
          </a:p>
          <a:p xmlns:a="http://schemas.openxmlformats.org/drawingml/2006/main">
            <a:r>
              <a:t>        "input": "앱 질문과 이전 대화의 문맥 구성",</a:t>
            </a:r>
          </a:p>
          <a:p xmlns:a="http://schemas.openxmlformats.org/drawingml/2006/main">
            <a:r>
              <a:t>        "process": "공개 콘텐츠 선별·벡터화·OpenSearch 저장",</a:t>
            </a:r>
          </a:p>
          <a:p xmlns:a="http://schemas.openxmlformats.org/drawingml/2006/main">
            <a:r>
              <a:t>        "output": "질문·의도"</a:t>
            </a:r>
          </a:p>
          <a:p xmlns:a="http://schemas.openxmlformats.org/drawingml/2006/main">
            <a:r>
              <a:t>      },</a:t>
            </a:r>
          </a:p>
          <a:p xmlns:a="http://schemas.openxmlformats.org/drawingml/2006/main">
            <a:r>
              <a:t>      {</a:t>
            </a:r>
          </a:p>
          <a:p xmlns:a="http://schemas.openxmlformats.org/drawingml/2006/main">
            <a:r>
              <a:t>        "title": "GOV.UK 자료 검색",</a:t>
            </a:r>
          </a:p>
          <a:p xmlns:a="http://schemas.openxmlformats.org/drawingml/2006/main">
            <a:r>
              <a:t>        "input": "질문·의도",</a:t>
            </a:r>
          </a:p>
          <a:p xmlns:a="http://schemas.openxmlformats.org/drawingml/2006/main">
            <a:r>
              <a:t>        "process": "질문 처리·검색·Claude 응답의 조정",</a:t>
            </a:r>
          </a:p>
          <a:p xmlns:a="http://schemas.openxmlformats.org/drawingml/2006/main">
            <a:r>
              <a:t>        "output": "공식 문서 조각"</a:t>
            </a:r>
          </a:p>
          <a:p xmlns:a="http://schemas.openxmlformats.org/drawingml/2006/main">
            <a:r>
              <a:t>      },</a:t>
            </a:r>
          </a:p>
          <a:p xmlns:a="http://schemas.openxmlformats.org/drawingml/2006/main">
            <a:r>
              <a:t>      {</a:t>
            </a:r>
          </a:p>
          <a:p xmlns:a="http://schemas.openxmlformats.org/drawingml/2006/main">
            <a:r>
              <a:t>        "title": "근거 기반 응답",</a:t>
            </a:r>
          </a:p>
          <a:p xmlns:a="http://schemas.openxmlformats.org/drawingml/2006/main">
            <a:r>
              <a:t>        "input": "공식 문서 조각",</a:t>
            </a:r>
          </a:p>
          <a:p xmlns:a="http://schemas.openxmlformats.org/drawingml/2006/main">
            <a:r>
              <a:t>        "process": "질문 분류·응답 품질 평가",</a:t>
            </a:r>
          </a:p>
          <a:p xmlns:a="http://schemas.openxmlformats.org/drawingml/2006/main">
            <a:r>
              <a:t>        "output": "출처 포함 답변"</a:t>
            </a:r>
          </a:p>
          <a:p xmlns:a="http://schemas.openxmlformats.org/drawingml/2006/main">
            <a:r>
              <a:t>      },</a:t>
            </a:r>
          </a:p>
          <a:p xmlns:a="http://schemas.openxmlformats.org/drawingml/2006/main">
            <a:r>
              <a:t>      {</a:t>
            </a:r>
          </a:p>
          <a:p xmlns:a="http://schemas.openxmlformats.org/drawingml/2006/main">
            <a:r>
              <a:t>        "title": "공식 안내 확인",</a:t>
            </a:r>
          </a:p>
          <a:p xmlns:a="http://schemas.openxmlformats.org/drawingml/2006/main">
            <a:r>
              <a:t>        "input": "출처 포함 답변",</a:t>
            </a:r>
          </a:p>
          <a:p xmlns:a="http://schemas.openxmlformats.org/drawingml/2006/main">
            <a:r>
              <a:t>        "process": "출처가 있는 답변과 공식 안내 페이지 제공",</a:t>
            </a:r>
          </a:p>
          <a:p xmlns:a="http://schemas.openxmlformats.org/drawingml/2006/main">
            <a:r>
              <a:t>        "output": "원문·공식 서비스"</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"신청 방법을 질문하고 근거 안내와 해당 공식 페이지 확인",</a:t>
            </a:r>
          </a:p>
          <a:p xmlns:a="http://schemas.openxmlformats.org/drawingml/2006/main">
            <a:r>
              <a:t>      "exception": "범위 밖 질문·상충 안내·개인 업무의 실행 요청",</a:t>
            </a:r>
          </a:p>
          <a:p xmlns:a="http://schemas.openxmlformats.org/drawingml/2006/main">
            <a:r>
              <a:t>      "evidence": "정답 안내 페이지·근거 문단·응답 보류·처리시간 대조",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"국민·GOV.UK 운영팀",</a:t>
            </a:r>
          </a:p>
          <a:p xmlns:a="http://schemas.openxmlformats.org/drawingml/2006/main">
            <a:r>
              <a:t>          "processing": "앱 질문과 이전 대화의 문맥 구성",</a:t>
            </a:r>
          </a:p>
          <a:p xmlns:a="http://schemas.openxmlformats.org/drawingml/2006/main">
            <a:r>
              <a:t>          "output": "질문·의도"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"OpenSearch·품질 분석 기록",</a:t>
            </a:r>
          </a:p>
          <a:p xmlns:a="http://schemas.openxmlformats.org/drawingml/2006/main">
            <a:r>
              <a:t>          "processing": "공개 콘텐츠 선별·벡터화·OpenSearch 저장",</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"질문·의도",</a:t>
            </a:r>
          </a:p>
          <a:p xmlns:a="http://schemas.openxmlformats.org/drawingml/2006/main">
            <a:r>
              <a:t>          "processing": "질문 처리·검색·Claude 응답의 조정",</a:t>
            </a:r>
          </a:p>
          <a:p xmlns:a="http://schemas.openxmlformats.org/drawingml/2006/main">
            <a:r>
              <a:t>          "output": "출처 포함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"출처 포함 답변",</a:t>
            </a:r>
          </a:p>
          <a:p xmlns:a="http://schemas.openxmlformats.org/drawingml/2006/main">
            <a:r>
              <a:t>          "processing": "출처가 있는 답변과 공식 안내 페이지 제공",</a:t>
            </a:r>
          </a:p>
          <a:p xmlns:a="http://schemas.openxmlformats.org/drawingml/2006/main">
            <a:r>
              <a:t>          "output": "원문·공식 서비스"</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"관리 도구·BigQuery 기반 품질 분석",</a:t>
            </a:r>
          </a:p>
          <a:p xmlns:a="http://schemas.openxmlformats.org/drawingml/2006/main">
            <a:r>
              <a:t>          "output": "정답 안내 페이지·근거 문단·응답 보류·처리시간 대조"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"관리 도구·BigQuery 기반 품질 분석",</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"S06",</a:t>
            </a:r>
          </a:p>
          <a:p xmlns:a="http://schemas.openxmlformats.org/drawingml/2006/main">
            <a:r>
              <a:t>        "title": "GDS · GOV.UK Chat 이용자 실증",</a:t>
            </a:r>
          </a:p>
          <a:p xmlns:a="http://schemas.openxmlformats.org/drawingml/2006/main">
            <a:r>
              <a:t>        "url": "https://insidegovuk.blog.gov.uk/2026/03/16/5-things-we-learned-testing-gov-uk-chat-an-ai-assistant-for-government/",</a:t>
            </a:r>
          </a:p>
          <a:p xmlns:a="http://schemas.openxmlformats.org/drawingml/2006/main">
            <a:r>
              <a:t>        "published": "2026-03-16",</a:t>
            </a:r>
          </a:p>
          <a:p xmlns:a="http://schemas.openxmlformats.org/drawingml/2006/main">
            <a:r>
              <a:t>        "level": "정부 실증 보고",</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"id": "S07",</a:t>
            </a:r>
          </a:p>
          <a:p xmlns:a="http://schemas.openxmlformats.org/drawingml/2006/main">
            <a:r>
              <a:t>        "title": "DSIT · GOV.UK Chat 알고리즘 공개 기록",</a:t>
            </a:r>
          </a:p>
          <a:p xmlns:a="http://schemas.openxmlformats.org/drawingml/2006/main">
            <a:r>
              <a:t>        "url": "https://www.gov.uk/algorithmic-transparency-records/dsit-gov-dot-uk-chat",</a:t>
            </a:r>
          </a:p>
          <a:p xmlns:a="http://schemas.openxmlformats.org/drawingml/2006/main">
            <a:r>
              <a:t>        "published": "2025-10-07",</a:t>
            </a:r>
          </a:p>
          <a:p xmlns:a="http://schemas.openxmlformats.org/drawingml/2006/main">
            <a:r>
              <a:t>        "level": "정부 기술·책임 공개",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"공식 서비스 목록·정확도·수행 경계의 명시",</a:t>
            </a:r>
          </a:p>
          <a:p xmlns:a="http://schemas.openxmlformats.org/drawingml/2006/main">
            <a:r>
              <a:t>    "local": "TS 공개 서비스 카탈로그와 소관 부서 연결 / 메뉴를 유지한 프롬프트·음성 진입",</a:t>
            </a:r>
          </a:p>
          <a:p xmlns:a="http://schemas.openxmlformats.org/drawingml/2006/main">
            <a:r>
              <a:t>    "sourceDetail": null,</a:t>
            </a:r>
          </a:p>
          <a:p xmlns:a="http://schemas.openxmlformats.org/drawingml/2006/main">
            <a:r>
              <a:t>    "narrative": [</a:t>
            </a:r>
          </a:p>
          <a:p xmlns:a="http://schemas.openxmlformats.org/drawingml/2006/main">
            <a:r>
              <a:t>      "정부 안내 페이지를 이용자가 직접 탐색하는 과정에 자연어 질의 접점을 추가한 사례. 질문에 대한 설명과 실제 공공서비스 신청은 별도 단계이며 원문·공식 서비스로의 이동이 중요한 완료조건.",</a:t>
            </a:r>
          </a:p>
          <a:p xmlns:a="http://schemas.openxmlformats.org/drawingml/2006/main">
            <a:r>
              <a:t>      "공개 기술기록의 Rails·Claude/Bedrock·OpenSearch·BigQuery를 기준으로 콘텐츠 준비, 질의 검색, 응답 생성, 품질 관측을 구분. 2023년 파일럿 설계와 2025년 공개 기술기록은 판본이 다른 자료로 취급.",</a:t>
            </a:r>
          </a:p>
          <a:p xmlns:a="http://schemas.openxmlformats.org/drawingml/2006/main">
            <a:r>
              <a:t>      "CCK에서는 TS 메뉴를 없애기보다 질문의 소관·지역·자격을 정리하고 검증된 메뉴에 연결하는 방식으로 현지화. 근거 없음·범위 밖 질의·느린 응답·틀린 신청 경로를 별도 과업으로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"GOV.UK 앱 질의",</a:t>
            </a:r>
          </a:p>
          <a:p xmlns:a="http://schemas.openxmlformats.org/drawingml/2006/main">
            <a:r>
              <a:t>          "layer": "이용 접점",</a:t>
            </a:r>
          </a:p>
          <a:p xmlns:a="http://schemas.openxmlformats.org/drawingml/2006/main">
            <a:r>
              <a:t>          "detail": "국민·GOV.UK 운영팀",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"질문·대화 문맥",</a:t>
            </a:r>
          </a:p>
          <a:p xmlns:a="http://schemas.openxmlformats.org/drawingml/2006/main">
            <a:r>
              <a:t>          "layer": "업무 문맥",</a:t>
            </a:r>
          </a:p>
          <a:p xmlns:a="http://schemas.openxmlformats.org/drawingml/2006/main">
            <a:r>
              <a:t>          "detail": "앱 질문과 이전 대화의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"OpenSearch 검색",</a:t>
            </a:r>
          </a:p>
          <a:p xmlns:a="http://schemas.openxmlformats.org/drawingml/2006/main">
            <a:r>
              <a:t>          "layer": "자료 조회",</a:t>
            </a:r>
          </a:p>
          <a:p xmlns:a="http://schemas.openxmlformats.org/drawingml/2006/main">
            <a:r>
              <a:t>          "detail": "질문·의도",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"Claude / Bedrock",</a:t>
            </a:r>
          </a:p>
          <a:p xmlns:a="http://schemas.openxmlformats.org/drawingml/2006/main">
            <a:r>
              <a:t>          "layer": "핵심 처리",</a:t>
            </a:r>
          </a:p>
          <a:p xmlns:a="http://schemas.openxmlformats.org/drawingml/2006/main">
            <a:r>
              <a:t>          "detail": "질문 처리·검색·Claude 응답의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"범위·근거 검사",</a:t>
            </a:r>
          </a:p>
          <a:p xmlns:a="http://schemas.openxmlformats.org/drawingml/2006/main">
            <a:r>
              <a:t>          "layer": "결과 검증",</a:t>
            </a:r>
          </a:p>
          <a:p xmlns:a="http://schemas.openxmlformats.org/drawingml/2006/main">
            <a:r>
              <a:t>          "detail": "질문 분류·응답 품질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원문 확인",</a:t>
            </a:r>
          </a:p>
          <a:p xmlns:a="http://schemas.openxmlformats.org/drawingml/2006/main">
            <a:r>
              <a:t>          "layer": "사람 확인",</a:t>
            </a:r>
          </a:p>
          <a:p xmlns:a="http://schemas.openxmlformats.org/drawingml/2006/main">
            <a:r>
              <a:t>          "detail": "신청 방법을 질문하고 근거 안내와 해당 공식 페이지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서비스 연결",</a:t>
            </a:r>
          </a:p>
          <a:p xmlns:a="http://schemas.openxmlformats.org/drawingml/2006/main">
            <a:r>
              <a:t>          "layer": "업무 연결",</a:t>
            </a:r>
          </a:p>
          <a:p xmlns:a="http://schemas.openxmlformats.org/drawingml/2006/main">
            <a:r>
              <a:t>          "detail": "출처가 있는 답변과 공식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"BigQuery 품질 분석",</a:t>
            </a:r>
          </a:p>
          <a:p xmlns:a="http://schemas.openxmlformats.org/drawingml/2006/main">
            <a:r>
              <a:t>          "layer": "운영 관측",</a:t>
            </a:r>
          </a:p>
          <a:p xmlns:a="http://schemas.openxmlformats.org/drawingml/2006/main">
            <a:r>
              <a:t>          "detail": "관리 도구·BigQuery 기반 품질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"GOV.UK 콘텐츠",</a:t>
            </a:r>
          </a:p>
          <a:p xmlns:a="http://schemas.openxmlformats.org/drawingml/2006/main">
            <a:r>
              <a:t>          "layer": "데이터 원천",</a:t>
            </a:r>
          </a:p>
          <a:p xmlns:a="http://schemas.openxmlformats.org/drawingml/2006/main">
            <a:r>
              <a:t>          "detail": "OpenSearch·품질 분석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"선별·청킹·벡터화",</a:t>
            </a:r>
          </a:p>
          <a:p xmlns:a="http://schemas.openxmlformats.org/drawingml/2006/main">
            <a:r>
              <a:t>          "layer": "준비·갱신",</a:t>
            </a:r>
          </a:p>
          <a:p xmlns:a="http://schemas.openxmlformats.org/drawingml/2006/main">
            <a:r>
              <a:t>          "detail": "공개 콘텐츠 선별·벡터화·OpenSearch 저장",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"OpenSearch 색인",</a:t>
            </a:r>
          </a:p>
          <a:p xmlns:a="http://schemas.openxmlformats.org/drawingml/2006/main">
            <a:r>
              <a:t>          "layer": "상태·지식 저장",</a:t>
            </a:r>
          </a:p>
          <a:p xmlns:a="http://schemas.openxmlformats.org/drawingml/2006/main">
            <a:r>
              <a:t>          "detail": "정답 안내 페이지·근거 문단·응답 보류·처리시간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 범위·안전정책",</a:t>
            </a:r>
          </a:p>
          <a:p xmlns:a="http://schemas.openxmlformats.org/drawingml/2006/main">
            <a:r>
              <a:t>          "layer": "권한·정책",</a:t>
            </a:r>
          </a:p>
          <a:p xmlns:a="http://schemas.openxmlformats.org/drawingml/2006/main">
            <a:r>
              <a:t>          "detail": "범위 밖 질문·상충 안내·개인 업무의 실행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"품질 로그"</a:t>
            </a:r>
          </a:p>
          <a:p xmlns:a="http://schemas.openxmlformats.org/drawingml/2006/main">
            <a:r>
              <a:t>          }</a:t>
            </a:r>
          </a:p>
          <a:p xmlns:a="http://schemas.openxmlformats.org/drawingml/2006/main">
            <a:r>
              <a:t>        ],</a:t>
            </a:r>
          </a:p>
          <a:p xmlns:a="http://schemas.openxmlformats.org/drawingml/2006/main">
            <a:r>
              <a:t>        "summary": "질문 분류 → GOV.UK 자료 검색 → 근거 기반 응답 → 공식 안내 확인"</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"OpenSearch·품질 분석 기록",</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"앱 질문과 이전 대화의 문맥 구성",</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"정답 안내 페이지·근거 문단·응답 보류·처리시간 대조",</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"공식 문서 조각",</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"출처 포함 답변",</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"ATRS 2025-10-07",</a:t>
            </a:r>
          </a:p>
          <a:p xmlns:a="http://schemas.openxmlformats.org/drawingml/2006/main">
            <a:r>
              <a:t>        "extracted": "Rails·Claude/Bedrock·OpenSearch·BigQuery 공개 구성",</a:t>
            </a:r>
          </a:p>
          <a:p xmlns:a="http://schemas.openxmlformats.org/drawingml/2006/main">
            <a:r>
              <a:t>        "extension": "질문·검색·근거·원문 이동의 추적 ID 연결"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"AX06",</a:t>
            </a:r>
          </a:p>
          <a:p xmlns:a="http://schemas.openxmlformats.org/drawingml/2006/main">
            <a:r>
              <a:t>          "path": "assets/casebook-sources/AX06-01.png",</a:t>
            </a:r>
          </a:p>
          <a:p xmlns:a="http://schemas.openxmlformats.org/drawingml/2006/main">
            <a:r>
              <a:t>          "title": "GOV.UK Chat 2025년 공개 베타 구성",</a:t>
            </a:r>
          </a:p>
          <a:p xmlns:a="http://schemas.openxmlformats.org/drawingml/2006/main">
            <a:r>
              <a:t>          "status": "영국 정부 ATRS 공식 C4 아키텍처",</a:t>
            </a:r>
          </a:p>
          <a:p xmlns:a="http://schemas.openxmlformats.org/drawingml/2006/main">
            <a:r>
              <a:t>          "caption": "앱·인증·Rails·Bedrock·OpenSearch·PostgreSQL·BigQuery의 운영 경계",</a:t>
            </a:r>
          </a:p>
          <a:p xmlns:a="http://schemas.openxmlformats.org/drawingml/2006/main">
            <a:r>
              <a:t>          "locator": "DSIT ATRS 2025-10-07 / 4.1.1 System Architecture / August 2025 public beta",</a:t>
            </a:r>
          </a:p>
          <a:p xmlns:a="http://schemas.openxmlformats.org/drawingml/2006/main">
            <a:r>
              <a:t>          "sourceUrl": "https://www.gov.uk/algorithmic-transparency-records/dsit-gov-dot-uk-chat",</a:t>
            </a:r>
          </a:p>
          <a:p xmlns:a="http://schemas.openxmlformats.org/drawingml/2006/main">
            <a:r>
              <a:t>          "checked": "2026-10-16",</a:t>
            </a:r>
          </a:p>
          <a:p xmlns:a="http://schemas.openxmlformats.org/drawingml/2006/main">
            <a:r>
              <a:t>          "sha256": "8efe82dfdfa8df7ee5312dd13369be76aaf53cb39df42957cad9be1de605fc25",</a:t>
            </a:r>
          </a:p>
          <a:p xmlns:a="http://schemas.openxmlformats.org/drawingml/2006/main">
            <a:r>
              <a:t>          "explanation": {</a:t>
            </a:r>
          </a:p>
          <a:p xmlns:a="http://schemas.openxmlformats.org/drawingml/2006/main">
            <a:r>
              <a:t>            "read": "영국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a:t>
            </a:r>
          </a:p>
          <a:p xmlns:a="http://schemas.openxmlformats.org/drawingml/2006/main">
            <a:r>
              <a:t>            "requirements": [],</a:t>
            </a:r>
          </a:p>
          <a:p xmlns:a="http://schemas.openxmlformats.org/drawingml/2006/main">
            <a:r>
              <a:t>            "connection": "TS 대민 서비스에서는 로그인·공개 콘텐츠·대화 생성·품질 분석의 경계를 구분하고, 검색 원문과 응답·로그의 식별자 및 보존 정책을 별도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"path": "assets/casebook-sources/AX06-02.png",</a:t>
            </a:r>
          </a:p>
          <a:p xmlns:a="http://schemas.openxmlformats.org/drawingml/2006/main">
            <a:r>
              <a:t>          "title": "GOV.UK Chat 초기 파일럿 구성",</a:t>
            </a:r>
          </a:p>
          <a:p xmlns:a="http://schemas.openxmlformats.org/drawingml/2006/main">
            <a:r>
              <a:t>          "status": "영국 정부 개발문서 초기 설계도",</a:t>
            </a:r>
          </a:p>
          <a:p xmlns:a="http://schemas.openxmlformats.org/drawingml/2006/main">
            <a:r>
              <a:t>          "caption": "2023년 파일럿의 Rails·Redis·PostgreSQL·OpenAI·OpenSearch 계획. 2025년 운영 구성과 구분",</a:t>
            </a:r>
          </a:p>
          <a:p xmlns:a="http://schemas.openxmlformats.org/drawingml/2006/main">
            <a:r>
              <a:t>          "locator": "govuk-chat ADR-0001 / Pilot Technical Architecture",</a:t>
            </a:r>
          </a:p>
          <a:p xmlns:a="http://schemas.openxmlformats.org/drawingml/2006/main">
            <a:r>
              <a:t>          "sourceUrl": "https://docs.publishing.service.gov.uk/repos/govuk-chat/adr/0001-pilot-technical-architecture.html",</a:t>
            </a:r>
          </a:p>
          <a:p xmlns:a="http://schemas.openxmlformats.org/drawingml/2006/main">
            <a:r>
              <a:t>          "checked": "2026-10-16",</a:t>
            </a:r>
          </a:p>
          <a:p xmlns:a="http://schemas.openxmlformats.org/drawingml/2006/main">
            <a:r>
              <a:t>          "sha256": "220db41f02597aff9a66bca8744a6772cdc9190c34324538f7862519fb434fc2",</a:t>
            </a:r>
          </a:p>
          <a:p xmlns:a="http://schemas.openxmlformats.org/drawingml/2006/main">
            <a:r>
              <a:t>          "explanation": {</a:t>
            </a:r>
          </a:p>
          <a:p xmlns:a="http://schemas.openxmlformats.org/drawingml/2006/main">
            <a:r>
              <a:t>            "read": "GOV.UK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a:t>
            </a:r>
          </a:p>
          <a:p xmlns:a="http://schemas.openxmlformats.org/drawingml/2006/main">
            <a:r>
              <a:t>            "requirements": [],</a:t>
            </a:r>
          </a:p>
          <a:p xmlns:a="http://schemas.openxmlformats.org/drawingml/2006/main">
            <a:r>
              <a:t>            "connection": "TS 고도화 시 파일럿과 운영 구성의 차이를 사례로 삼아 모델·인증·색인 교체 가능성을 인터페이스와 운영 이력에 반영한다."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"범위 밖 질문·상충 안내·개인 업무의 실행 요청",</a:t>
            </a:r>
          </a:p>
          <a:p xmlns:a="http://schemas.openxmlformats.org/drawingml/2006/main">
            <a:r>
              <a:t>        "hold": "질문 분류·응답 품질 평가",</a:t>
            </a:r>
          </a:p>
          <a:p xmlns:a="http://schemas.openxmlformats.org/drawingml/2006/main">
            <a:r>
              <a:t>        "recovery": "관리 도구·BigQuery 기반 품질 분석",</a:t>
            </a:r>
          </a:p>
          <a:p xmlns:a="http://schemas.openxmlformats.org/drawingml/2006/main">
            <a:r>
              <a:t>        "evidence": "정답 안내 페이지·근거 문단·응답 보류·처리시간 대조"</a:t>
            </a:r>
          </a:p>
          <a:p xmlns:a="http://schemas.openxmlformats.org/drawingml/2006/main">
            <a:r>
              <a:t>      },</a:t>
            </a:r>
          </a:p>
          <a:p xmlns:a="http://schemas.openxmlformats.org/drawingml/2006/main">
            <a:r>
              <a:t>      "data": {</a:t>
            </a:r>
          </a:p>
          <a:p xmlns:a="http://schemas.openxmlformats.org/drawingml/2006/main">
            <a:r>
              <a:t>        "source": "OpenSearch·품질 분석 기록",</a:t>
            </a:r>
          </a:p>
          <a:p xmlns:a="http://schemas.openxmlformats.org/drawingml/2006/main">
            <a:r>
              <a:t>        "prepare": "공개 콘텐츠 선별·벡터화·OpenSearch 저장",</a:t>
            </a:r>
          </a:p>
          <a:p xmlns:a="http://schemas.openxmlformats.org/drawingml/2006/main">
            <a:r>
              <a:t>        "output": "질문·의도",</a:t>
            </a:r>
          </a:p>
          <a:p xmlns:a="http://schemas.openxmlformats.org/drawingml/2006/main">
            <a:r>
              <a:t>        "refresh": "관리 도구·BigQuery 기반 품질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"AX06",</a:t>
            </a:r>
          </a:p>
          <a:p xmlns:a="http://schemas.openxmlformats.org/drawingml/2006/main">
            <a:r>
              <a:t>    "success": [</a:t>
            </a:r>
          </a:p>
          <a:p xmlns:a="http://schemas.openxmlformats.org/drawingml/2006/main">
            <a:r>
              <a:t>      "공식 안내 자료에 한정한 검색",</a:t>
            </a:r>
          </a:p>
          <a:p xmlns:a="http://schemas.openxmlformats.org/drawingml/2006/main">
            <a:r>
              <a:t>      "출처 링크와 기존 탐색 경로 병행"</a:t>
            </a:r>
          </a:p>
          <a:p xmlns:a="http://schemas.openxmlformats.org/drawingml/2006/main">
            <a:r>
              <a:t>    ],</a:t>
            </a:r>
          </a:p>
          <a:p xmlns:a="http://schemas.openxmlformats.org/drawingml/2006/main">
            <a:r>
              <a:t>    "risks": [</a:t>
            </a:r>
          </a:p>
          <a:p xmlns:a="http://schemas.openxmlformats.org/drawingml/2006/main">
            <a:r>
              <a:t>      "업무 범위 밖 질문",</a:t>
            </a:r>
          </a:p>
          <a:p xmlns:a="http://schemas.openxmlformats.org/drawingml/2006/main">
            <a:r>
              <a:t>      "응답속도·안내와 실제 처리의 간극"</a:t>
            </a:r>
          </a:p>
          <a:p xmlns:a="http://schemas.openxmlformats.org/drawingml/2006/main">
            <a:r>
              <a:t>    ],</a:t>
            </a:r>
          </a:p>
          <a:p xmlns:a="http://schemas.openxmlformats.org/drawingml/2006/main">
            <a:r>
              <a:t>    "architecture": [</a:t>
            </a:r>
          </a:p>
          <a:p xmlns:a="http://schemas.openxmlformats.org/drawingml/2006/main">
            <a:r>
              <a:t>      "GOV.UK 앱",</a:t>
            </a:r>
          </a:p>
          <a:p xmlns:a="http://schemas.openxmlformats.org/drawingml/2006/main">
            <a:r>
              <a:t>      "Rails·Claude / Bedrock",</a:t>
            </a:r>
          </a:p>
          <a:p xmlns:a="http://schemas.openxmlformats.org/drawingml/2006/main">
            <a:r>
              <a:t>      "OpenSearch·품질 분석 기록",</a:t>
            </a:r>
          </a:p>
          <a:p xmlns:a="http://schemas.openxmlformats.org/drawingml/2006/main">
            <a:r>
              <a:t>      "이용자·운영자"</a:t>
            </a:r>
          </a:p>
          <a:p xmlns:a="http://schemas.openxmlformats.org/drawingml/2006/main">
            <a:r>
              <a:t>    ],</a:t>
            </a:r>
          </a:p>
          <a:p xmlns:a="http://schemas.openxmlformats.org/drawingml/2006/main">
            <a:r>
              <a:t>    "transfers": [</a:t>
            </a:r>
          </a:p>
          <a:p xmlns:a="http://schemas.openxmlformats.org/drawingml/2006/main">
            <a:r>
              <a:t>      "질문·의도",</a:t>
            </a:r>
          </a:p>
          <a:p xmlns:a="http://schemas.openxmlformats.org/drawingml/2006/main">
            <a:r>
              <a:t>      "공식 문서 조각",</a:t>
            </a:r>
          </a:p>
          <a:p xmlns:a="http://schemas.openxmlformats.org/drawingml/2006/main">
            <a:r>
              <a:t>      "출처 포함 답변",</a:t>
            </a:r>
          </a:p>
          <a:p xmlns:a="http://schemas.openxmlformats.org/drawingml/2006/main">
            <a:r>
              <a:t>      "원문·공식 서비스"</a:t>
            </a:r>
          </a:p>
          <a:p xmlns:a="http://schemas.openxmlformats.org/drawingml/2006/main">
            <a:r>
              <a:t>    ],</a:t>
            </a:r>
          </a:p>
          <a:p xmlns:a="http://schemas.openxmlformats.org/drawingml/2006/main">
            <a:r>
              <a:t>    "control": "질문 분류·응답 품질 평가",</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GDS · GOV.UK Chat 이용자 실증 https://insidegovuk.blog.gov.uk/2026/03/16/5-things-we-learned-testing-gov-uk-chat-an-ai-assistant-for-government/</a:t>
            </a:r>
          </a:p>
          <a:p xmlns:a="http://schemas.openxmlformats.org/drawingml/2006/main">
            <a:r>
              <a:t>DSIT · GOV.UK Chat 알고리즘 공개 기록 https://www.gov.uk/algorithmic-transparency-records/dsit-gov-dot-uk-chat</a:t>
            </a:r>
          </a:p>
          <a:p xmlns:a="http://schemas.openxmlformats.org/drawingml/2006/main">
            <a:r>
              <a:t>홈페이지 https://heen1987-ops.github.io/TS-business-Plan-001/index.html?view=casebook&amp;case=AX06</a:t>
            </a:r>
          </a:p>
          <a:p xmlns:a="http://schemas.openxmlformats.org/drawingml/2006/main">
            <a:r>
              <a:t>원문 도면 {"caseId":"AX06","path":"assets/casebook-sources/AX06-01.png","title":"GOV.UK Chat 2025년 공개 베타 구성","status":"영국 정부 ATRS 공식 C4 아키텍처","caption":"앱·인증·Rails·Bedrock·OpenSearch·PostgreSQL·BigQuery의 운영 경계","locator":"DSIT ATRS 2025-10-07 / 4.1.1 System Architecture / August 2025 public beta","sourceUrl":"https://www.gov.uk/algorithmic-transparency-records/dsit-gov-dot-uk-chat","checked":"2026-10-16","sha256":"8efe82dfdfa8df7ee5312dd13369be76aaf53cb39df42957cad9be1de605fc25","explanation":{"read":"영국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없다.","requirements":[],"connection":"TS 대민 서비스에서는 로그인·공개 콘텐츠·대화 생성·품질 분석의 경계를 구분하고, 검색 원문과 응답·로그의 식별자 및 보존 정책을 별도 검수한다."}}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"AX06",</a:t>
            </a:r>
          </a:p>
          <a:p xmlns:a="http://schemas.openxmlformats.org/drawingml/2006/main">
            <a:r>
              <a:t>    "title": "GOV.UK Chat",</a:t>
            </a:r>
          </a:p>
          <a:p xmlns:a="http://schemas.openxmlformats.org/drawingml/2006/main">
            <a:r>
              <a:t>    "region": "해외",</a:t>
            </a:r>
          </a:p>
          <a:p xmlns:a="http://schemas.openxmlformats.org/drawingml/2006/main">
            <a:r>
              <a:t>    "country": "영국",</a:t>
            </a:r>
          </a:p>
          <a:p xmlns:a="http://schemas.openxmlformats.org/drawingml/2006/main">
            <a:r>
              <a:t>    "result": "혼합",</a:t>
            </a:r>
          </a:p>
          <a:p xmlns:a="http://schemas.openxmlformats.org/drawingml/2006/main">
            <a:r>
              <a:t>    "kind": "정부 안내 RAG 실증",</a:t>
            </a:r>
          </a:p>
          <a:p xmlns:a="http://schemas.openxmlformats.org/drawingml/2006/main">
            <a:r>
              <a:t>    "period": "2025 기술 기록 / 2026 실증",</a:t>
            </a:r>
          </a:p>
          <a:p xmlns:a="http://schemas.openxmlformats.org/drawingml/2006/main">
            <a:r>
              <a:t>    "sources": [</a:t>
            </a:r>
          </a:p>
          <a:p xmlns:a="http://schemas.openxmlformats.org/drawingml/2006/main">
            <a:r>
              <a:t>      "S06",</a:t>
            </a:r>
          </a:p>
          <a:p xmlns:a="http://schemas.openxmlformats.org/drawingml/2006/main">
            <a:r>
              <a:t>      "S07"</a:t>
            </a:r>
          </a:p>
          <a:p xmlns:a="http://schemas.openxmlformats.org/drawingml/2006/main">
            <a:r>
              <a:t>    ],</a:t>
            </a:r>
          </a:p>
          <a:p xmlns:a="http://schemas.openxmlformats.org/drawingml/2006/main">
            <a:r>
              <a:t>    "keywords": [</a:t>
            </a:r>
          </a:p>
          <a:p xmlns:a="http://schemas.openxmlformats.org/drawingml/2006/main">
            <a:r>
              <a:t>      "민원",</a:t>
            </a:r>
          </a:p>
          <a:p xmlns:a="http://schemas.openxmlformats.org/drawingml/2006/main">
            <a:r>
              <a:t>      "공공정보",</a:t>
            </a:r>
          </a:p>
          <a:p xmlns:a="http://schemas.openxmlformats.org/drawingml/2006/main">
            <a:r>
              <a:t>      "자연어 탐색",</a:t>
            </a:r>
          </a:p>
          <a:p xmlns:a="http://schemas.openxmlformats.org/drawingml/2006/main">
            <a:r>
              <a:t>      "서비스 접근"</a:t>
            </a:r>
          </a:p>
          <a:p xmlns:a="http://schemas.openxmlformats.org/drawingml/2006/main">
            <a:r>
              <a:t>    ],</a:t>
            </a:r>
          </a:p>
          <a:p xmlns:a="http://schemas.openxmlformats.org/drawingml/2006/main">
            <a:r>
              <a:t>    "fact": "iOS 실증 641명·4주·2,670개 질문; 안내 편의와 응답속도·업무 범위의 개선 과제 확인",</a:t>
            </a:r>
          </a:p>
          <a:p xmlns:a="http://schemas.openxmlformats.org/drawingml/2006/main">
            <a:r>
              <a:t>    "limit": "공개 안내 검색 범위 · 개인 업무 처리와 담당자 인계는 당시 지원·개선 범위 구분",</a:t>
            </a:r>
          </a:p>
          <a:p xmlns:a="http://schemas.openxmlformats.org/drawingml/2006/main">
            <a:r>
              <a:t>    "flow": [</a:t>
            </a:r>
          </a:p>
          <a:p xmlns:a="http://schemas.openxmlformats.org/drawingml/2006/main">
            <a:r>
              <a:t>      "질문 분류",</a:t>
            </a:r>
          </a:p>
          <a:p xmlns:a="http://schemas.openxmlformats.org/drawingml/2006/main">
            <a:r>
              <a:t>      "GOV.UK 자료 검색",</a:t>
            </a:r>
          </a:p>
          <a:p xmlns:a="http://schemas.openxmlformats.org/drawingml/2006/main">
            <a:r>
              <a:t>      "근거 기반 응답",</a:t>
            </a:r>
          </a:p>
          <a:p xmlns:a="http://schemas.openxmlformats.org/drawingml/2006/main">
            <a:r>
              <a:t>      "공식 안내 확인"</a:t>
            </a:r>
          </a:p>
          <a:p xmlns:a="http://schemas.openxmlformats.org/drawingml/2006/main">
            <a:r>
              <a:t>    ],</a:t>
            </a:r>
          </a:p>
          <a:p xmlns:a="http://schemas.openxmlformats.org/drawingml/2006/main">
            <a:r>
              <a:t>    "flowBasis": "공개 RAG 구조와 실증 결과의 요약",</a:t>
            </a:r>
          </a:p>
          <a:p xmlns:a="http://schemas.openxmlformats.org/drawingml/2006/main">
            <a:r>
              <a:t>    "lesson": "공식 서비스 목록·정확도·수행 경계의 명시",</a:t>
            </a:r>
          </a:p>
          <a:p xmlns:a="http://schemas.openxmlformats.org/drawingml/2006/main">
            <a:r>
              <a:t>    "local": "TS 공개 서비스 카탈로그와 소관 부서 연결 / 메뉴를 유지한 프롬프트·음성 진입",</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"공개·내부 지식 분리 / 서비스 라우터 / 필수 입력 확인 / 인증·전송 연계",</a:t>
            </a:r>
          </a:p>
          <a:p xmlns:a="http://schemas.openxmlformats.org/drawingml/2006/main">
            <a:r>
              <a:t>    "test": "실제 메뉴 대비 업무 도달률·완료시간 및 잘못된 기관 안내 검증",</a:t>
            </a:r>
          </a:p>
          <a:p xmlns:a="http://schemas.openxmlformats.org/drawingml/2006/main">
            <a:r>
              <a:t>    "metric": "정확한 서비스 도달률 / 포기율 / 응답 p95"</a:t>
            </a:r>
          </a:p>
          <a:p xmlns:a="http://schemas.openxmlformats.org/drawingml/2006/main">
            <a:r>
              <a:t>  },</a:t>
            </a:r>
          </a:p>
          <a:p xmlns:a="http://schemas.openxmlformats.org/drawingml/2006/main">
            <a:r>
              <a:t>  "design": {</a:t>
            </a:r>
          </a:p>
          <a:p xmlns:a="http://schemas.openxmlformats.org/drawingml/2006/main">
            <a:r>
              <a:t>    "id": "AX06",</a:t>
            </a:r>
          </a:p>
          <a:p xmlns:a="http://schemas.openxmlformats.org/drawingml/2006/main">
            <a:r>
              <a:t>    "canonicalId": "AX06",</a:t>
            </a:r>
          </a:p>
          <a:p xmlns:a="http://schemas.openxmlformats.org/drawingml/2006/main">
            <a:r>
              <a:t>    "purpose": "공식 정부 안내를 자연어로 탐색하는 접점",</a:t>
            </a:r>
          </a:p>
          <a:p xmlns:a="http://schemas.openxmlformats.org/drawingml/2006/main">
            <a:r>
              <a:t>    "users": "국민·GOV.UK 운영팀",</a:t>
            </a:r>
          </a:p>
          <a:p xmlns:a="http://schemas.openxmlformats.org/drawingml/2006/main">
            <a:r>
              <a:t>    "scope": [</a:t>
            </a:r>
          </a:p>
          <a:p xmlns:a="http://schemas.openxmlformats.org/drawingml/2006/main">
            <a:r>
              <a:t>      "공식 지식 검색",</a:t>
            </a:r>
          </a:p>
          <a:p xmlns:a="http://schemas.openxmlformats.org/drawingml/2006/main">
            <a:r>
              <a:t>      "출처 답변",</a:t>
            </a:r>
          </a:p>
          <a:p xmlns:a="http://schemas.openxmlformats.org/drawingml/2006/main">
            <a:r>
              <a:t>      "서비스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"GOV.UK 앱",</a:t>
            </a:r>
          </a:p>
          <a:p xmlns:a="http://schemas.openxmlformats.org/drawingml/2006/main">
            <a:r>
              <a:t>        "detail": "앱 질문과 이전 대화의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"공식 지식 검색 / 출처 답변 / 서비스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"Rails·Claude / Bedrock",</a:t>
            </a:r>
          </a:p>
          <a:p xmlns:a="http://schemas.openxmlformats.org/drawingml/2006/main">
            <a:r>
              <a:t>        "detail": "질문 처리·검색·Claude 응답의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"이용자·운영자",</a:t>
            </a:r>
          </a:p>
          <a:p xmlns:a="http://schemas.openxmlformats.org/drawingml/2006/main">
            <a:r>
              <a:t>        "detail": "출처가 있는 답변과 공식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"OpenSearch·품질 분석 기록",</a:t>
            </a:r>
          </a:p>
          <a:p xmlns:a="http://schemas.openxmlformats.org/drawingml/2006/main">
            <a:r>
              <a:t>        "detail": "공개 콘텐츠 선별·벡터화·OpenSearch 저장",</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"관리 도구·BigQuery 기반 품질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"질문 분류",</a:t>
            </a:r>
          </a:p>
          <a:p xmlns:a="http://schemas.openxmlformats.org/drawingml/2006/main">
            <a:r>
              <a:t>        "input": "앱 질문과 이전 대화의 문맥 구성",</a:t>
            </a:r>
          </a:p>
          <a:p xmlns:a="http://schemas.openxmlformats.org/drawingml/2006/main">
            <a:r>
              <a:t>        "process": "공개 콘텐츠 선별·벡터화·OpenSearch 저장",</a:t>
            </a:r>
          </a:p>
          <a:p xmlns:a="http://schemas.openxmlformats.org/drawingml/2006/main">
            <a:r>
              <a:t>        "output": "질문·의도"</a:t>
            </a:r>
          </a:p>
          <a:p xmlns:a="http://schemas.openxmlformats.org/drawingml/2006/main">
            <a:r>
              <a:t>      },</a:t>
            </a:r>
          </a:p>
          <a:p xmlns:a="http://schemas.openxmlformats.org/drawingml/2006/main">
            <a:r>
              <a:t>      {</a:t>
            </a:r>
          </a:p>
          <a:p xmlns:a="http://schemas.openxmlformats.org/drawingml/2006/main">
            <a:r>
              <a:t>        "title": "GOV.UK 자료 검색",</a:t>
            </a:r>
          </a:p>
          <a:p xmlns:a="http://schemas.openxmlformats.org/drawingml/2006/main">
            <a:r>
              <a:t>        "input": "질문·의도",</a:t>
            </a:r>
          </a:p>
          <a:p xmlns:a="http://schemas.openxmlformats.org/drawingml/2006/main">
            <a:r>
              <a:t>        "process": "질문 처리·검색·Claude 응답의 조정",</a:t>
            </a:r>
          </a:p>
          <a:p xmlns:a="http://schemas.openxmlformats.org/drawingml/2006/main">
            <a:r>
              <a:t>        "output": "공식 문서 조각"</a:t>
            </a:r>
          </a:p>
          <a:p xmlns:a="http://schemas.openxmlformats.org/drawingml/2006/main">
            <a:r>
              <a:t>      },</a:t>
            </a:r>
          </a:p>
          <a:p xmlns:a="http://schemas.openxmlformats.org/drawingml/2006/main">
            <a:r>
              <a:t>      {</a:t>
            </a:r>
          </a:p>
          <a:p xmlns:a="http://schemas.openxmlformats.org/drawingml/2006/main">
            <a:r>
              <a:t>        "title": "근거 기반 응답",</a:t>
            </a:r>
          </a:p>
          <a:p xmlns:a="http://schemas.openxmlformats.org/drawingml/2006/main">
            <a:r>
              <a:t>        "input": "공식 문서 조각",</a:t>
            </a:r>
          </a:p>
          <a:p xmlns:a="http://schemas.openxmlformats.org/drawingml/2006/main">
            <a:r>
              <a:t>        "process": "질문 분류·응답 품질 평가",</a:t>
            </a:r>
          </a:p>
          <a:p xmlns:a="http://schemas.openxmlformats.org/drawingml/2006/main">
            <a:r>
              <a:t>        "output": "출처 포함 답변"</a:t>
            </a:r>
          </a:p>
          <a:p xmlns:a="http://schemas.openxmlformats.org/drawingml/2006/main">
            <a:r>
              <a:t>      },</a:t>
            </a:r>
          </a:p>
          <a:p xmlns:a="http://schemas.openxmlformats.org/drawingml/2006/main">
            <a:r>
              <a:t>      {</a:t>
            </a:r>
          </a:p>
          <a:p xmlns:a="http://schemas.openxmlformats.org/drawingml/2006/main">
            <a:r>
              <a:t>        "title": "공식 안내 확인",</a:t>
            </a:r>
          </a:p>
          <a:p xmlns:a="http://schemas.openxmlformats.org/drawingml/2006/main">
            <a:r>
              <a:t>        "input": "출처 포함 답변",</a:t>
            </a:r>
          </a:p>
          <a:p xmlns:a="http://schemas.openxmlformats.org/drawingml/2006/main">
            <a:r>
              <a:t>        "process": "출처가 있는 답변과 공식 안내 페이지 제공",</a:t>
            </a:r>
          </a:p>
          <a:p xmlns:a="http://schemas.openxmlformats.org/drawingml/2006/main">
            <a:r>
              <a:t>        "output": "원문·공식 서비스"</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"신청 방법을 질문하고 근거 안내와 해당 공식 페이지 확인",</a:t>
            </a:r>
          </a:p>
          <a:p xmlns:a="http://schemas.openxmlformats.org/drawingml/2006/main">
            <a:r>
              <a:t>      "exception": "범위 밖 질문·상충 안내·개인 업무의 실행 요청",</a:t>
            </a:r>
          </a:p>
          <a:p xmlns:a="http://schemas.openxmlformats.org/drawingml/2006/main">
            <a:r>
              <a:t>      "evidence": "정답 안내 페이지·근거 문단·응답 보류·처리시간 대조",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"국민·GOV.UK 운영팀",</a:t>
            </a:r>
          </a:p>
          <a:p xmlns:a="http://schemas.openxmlformats.org/drawingml/2006/main">
            <a:r>
              <a:t>          "processing": "앱 질문과 이전 대화의 문맥 구성",</a:t>
            </a:r>
          </a:p>
          <a:p xmlns:a="http://schemas.openxmlformats.org/drawingml/2006/main">
            <a:r>
              <a:t>          "output": "질문·의도"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"OpenSearch·품질 분석 기록",</a:t>
            </a:r>
          </a:p>
          <a:p xmlns:a="http://schemas.openxmlformats.org/drawingml/2006/main">
            <a:r>
              <a:t>          "processing": "공개 콘텐츠 선별·벡터화·OpenSearch 저장",</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"질문·의도",</a:t>
            </a:r>
          </a:p>
          <a:p xmlns:a="http://schemas.openxmlformats.org/drawingml/2006/main">
            <a:r>
              <a:t>          "processing": "질문 처리·검색·Claude 응답의 조정",</a:t>
            </a:r>
          </a:p>
          <a:p xmlns:a="http://schemas.openxmlformats.org/drawingml/2006/main">
            <a:r>
              <a:t>          "output": "출처 포함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"출처 포함 답변",</a:t>
            </a:r>
          </a:p>
          <a:p xmlns:a="http://schemas.openxmlformats.org/drawingml/2006/main">
            <a:r>
              <a:t>          "processing": "출처가 있는 답변과 공식 안내 페이지 제공",</a:t>
            </a:r>
          </a:p>
          <a:p xmlns:a="http://schemas.openxmlformats.org/drawingml/2006/main">
            <a:r>
              <a:t>          "output": "원문·공식 서비스"</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"관리 도구·BigQuery 기반 품질 분석",</a:t>
            </a:r>
          </a:p>
          <a:p xmlns:a="http://schemas.openxmlformats.org/drawingml/2006/main">
            <a:r>
              <a:t>          "output": "정답 안내 페이지·근거 문단·응답 보류·처리시간 대조"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"관리 도구·BigQuery 기반 품질 분석",</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"S06",</a:t>
            </a:r>
          </a:p>
          <a:p xmlns:a="http://schemas.openxmlformats.org/drawingml/2006/main">
            <a:r>
              <a:t>        "title": "GDS · GOV.UK Chat 이용자 실증",</a:t>
            </a:r>
          </a:p>
          <a:p xmlns:a="http://schemas.openxmlformats.org/drawingml/2006/main">
            <a:r>
              <a:t>        "url": "https://insidegovuk.blog.gov.uk/2026/03/16/5-things-we-learned-testing-gov-uk-chat-an-ai-assistant-for-government/",</a:t>
            </a:r>
          </a:p>
          <a:p xmlns:a="http://schemas.openxmlformats.org/drawingml/2006/main">
            <a:r>
              <a:t>        "published": "2026-03-16",</a:t>
            </a:r>
          </a:p>
          <a:p xmlns:a="http://schemas.openxmlformats.org/drawingml/2006/main">
            <a:r>
              <a:t>        "level": "정부 실증 보고",</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"id": "S07",</a:t>
            </a:r>
          </a:p>
          <a:p xmlns:a="http://schemas.openxmlformats.org/drawingml/2006/main">
            <a:r>
              <a:t>        "title": "DSIT · GOV.UK Chat 알고리즘 공개 기록",</a:t>
            </a:r>
          </a:p>
          <a:p xmlns:a="http://schemas.openxmlformats.org/drawingml/2006/main">
            <a:r>
              <a:t>        "url": "https://www.gov.uk/algorithmic-transparency-records/dsit-gov-dot-uk-chat",</a:t>
            </a:r>
          </a:p>
          <a:p xmlns:a="http://schemas.openxmlformats.org/drawingml/2006/main">
            <a:r>
              <a:t>        "published": "2025-10-07",</a:t>
            </a:r>
          </a:p>
          <a:p xmlns:a="http://schemas.openxmlformats.org/drawingml/2006/main">
            <a:r>
              <a:t>        "level": "정부 기술·책임 공개",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"공식 서비스 목록·정확도·수행 경계의 명시",</a:t>
            </a:r>
          </a:p>
          <a:p xmlns:a="http://schemas.openxmlformats.org/drawingml/2006/main">
            <a:r>
              <a:t>    "local": "TS 공개 서비스 카탈로그와 소관 부서 연결 / 메뉴를 유지한 프롬프트·음성 진입",</a:t>
            </a:r>
          </a:p>
          <a:p xmlns:a="http://schemas.openxmlformats.org/drawingml/2006/main">
            <a:r>
              <a:t>    "sourceDetail": null,</a:t>
            </a:r>
          </a:p>
          <a:p xmlns:a="http://schemas.openxmlformats.org/drawingml/2006/main">
            <a:r>
              <a:t>    "narrative": [</a:t>
            </a:r>
          </a:p>
          <a:p xmlns:a="http://schemas.openxmlformats.org/drawingml/2006/main">
            <a:r>
              <a:t>      "정부 안내 페이지를 이용자가 직접 탐색하는 과정에 자연어 질의 접점을 추가한 사례. 질문에 대한 설명과 실제 공공서비스 신청은 별도 단계이며 원문·공식 서비스로의 이동이 중요한 완료조건.",</a:t>
            </a:r>
          </a:p>
          <a:p xmlns:a="http://schemas.openxmlformats.org/drawingml/2006/main">
            <a:r>
              <a:t>      "공개 기술기록의 Rails·Claude/Bedrock·OpenSearch·BigQuery를 기준으로 콘텐츠 준비, 질의 검색, 응답 생성, 품질 관측을 구분. 2023년 파일럿 설계와 2025년 공개 기술기록은 판본이 다른 자료로 취급.",</a:t>
            </a:r>
          </a:p>
          <a:p xmlns:a="http://schemas.openxmlformats.org/drawingml/2006/main">
            <a:r>
              <a:t>      "CCK에서는 TS 메뉴를 없애기보다 질문의 소관·지역·자격을 정리하고 검증된 메뉴에 연결하는 방식으로 현지화. 근거 없음·범위 밖 질의·느린 응답·틀린 신청 경로를 별도 과업으로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"GOV.UK 앱 질의",</a:t>
            </a:r>
          </a:p>
          <a:p xmlns:a="http://schemas.openxmlformats.org/drawingml/2006/main">
            <a:r>
              <a:t>          "layer": "이용 접점",</a:t>
            </a:r>
          </a:p>
          <a:p xmlns:a="http://schemas.openxmlformats.org/drawingml/2006/main">
            <a:r>
              <a:t>          "detail": "국민·GOV.UK 운영팀",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"질문·대화 문맥",</a:t>
            </a:r>
          </a:p>
          <a:p xmlns:a="http://schemas.openxmlformats.org/drawingml/2006/main">
            <a:r>
              <a:t>          "layer": "업무 문맥",</a:t>
            </a:r>
          </a:p>
          <a:p xmlns:a="http://schemas.openxmlformats.org/drawingml/2006/main">
            <a:r>
              <a:t>          "detail": "앱 질문과 이전 대화의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"OpenSearch 검색",</a:t>
            </a:r>
          </a:p>
          <a:p xmlns:a="http://schemas.openxmlformats.org/drawingml/2006/main">
            <a:r>
              <a:t>          "layer": "자료 조회",</a:t>
            </a:r>
          </a:p>
          <a:p xmlns:a="http://schemas.openxmlformats.org/drawingml/2006/main">
            <a:r>
              <a:t>          "detail": "질문·의도",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"Claude / Bedrock",</a:t>
            </a:r>
          </a:p>
          <a:p xmlns:a="http://schemas.openxmlformats.org/drawingml/2006/main">
            <a:r>
              <a:t>          "layer": "핵심 처리",</a:t>
            </a:r>
          </a:p>
          <a:p xmlns:a="http://schemas.openxmlformats.org/drawingml/2006/main">
            <a:r>
              <a:t>          "detail": "질문 처리·검색·Claude 응답의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"범위·근거 검사",</a:t>
            </a:r>
          </a:p>
          <a:p xmlns:a="http://schemas.openxmlformats.org/drawingml/2006/main">
            <a:r>
              <a:t>          "layer": "결과 검증",</a:t>
            </a:r>
          </a:p>
          <a:p xmlns:a="http://schemas.openxmlformats.org/drawingml/2006/main">
            <a:r>
              <a:t>          "detail": "질문 분류·응답 품질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원문 확인",</a:t>
            </a:r>
          </a:p>
          <a:p xmlns:a="http://schemas.openxmlformats.org/drawingml/2006/main">
            <a:r>
              <a:t>          "layer": "사람 확인",</a:t>
            </a:r>
          </a:p>
          <a:p xmlns:a="http://schemas.openxmlformats.org/drawingml/2006/main">
            <a:r>
              <a:t>          "detail": "신청 방법을 질문하고 근거 안내와 해당 공식 페이지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서비스 연결",</a:t>
            </a:r>
          </a:p>
          <a:p xmlns:a="http://schemas.openxmlformats.org/drawingml/2006/main">
            <a:r>
              <a:t>          "layer": "업무 연결",</a:t>
            </a:r>
          </a:p>
          <a:p xmlns:a="http://schemas.openxmlformats.org/drawingml/2006/main">
            <a:r>
              <a:t>          "detail": "출처가 있는 답변과 공식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"BigQuery 품질 분석",</a:t>
            </a:r>
          </a:p>
          <a:p xmlns:a="http://schemas.openxmlformats.org/drawingml/2006/main">
            <a:r>
              <a:t>          "layer": "운영 관측",</a:t>
            </a:r>
          </a:p>
          <a:p xmlns:a="http://schemas.openxmlformats.org/drawingml/2006/main">
            <a:r>
              <a:t>          "detail": "관리 도구·BigQuery 기반 품질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"GOV.UK 콘텐츠",</a:t>
            </a:r>
          </a:p>
          <a:p xmlns:a="http://schemas.openxmlformats.org/drawingml/2006/main">
            <a:r>
              <a:t>          "layer": "데이터 원천",</a:t>
            </a:r>
          </a:p>
          <a:p xmlns:a="http://schemas.openxmlformats.org/drawingml/2006/main">
            <a:r>
              <a:t>          "detail": "OpenSearch·품질 분석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"선별·청킹·벡터화",</a:t>
            </a:r>
          </a:p>
          <a:p xmlns:a="http://schemas.openxmlformats.org/drawingml/2006/main">
            <a:r>
              <a:t>          "layer": "준비·갱신",</a:t>
            </a:r>
          </a:p>
          <a:p xmlns:a="http://schemas.openxmlformats.org/drawingml/2006/main">
            <a:r>
              <a:t>          "detail": "공개 콘텐츠 선별·벡터화·OpenSearch 저장",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"OpenSearch 색인",</a:t>
            </a:r>
          </a:p>
          <a:p xmlns:a="http://schemas.openxmlformats.org/drawingml/2006/main">
            <a:r>
              <a:t>          "layer": "상태·지식 저장",</a:t>
            </a:r>
          </a:p>
          <a:p xmlns:a="http://schemas.openxmlformats.org/drawingml/2006/main">
            <a:r>
              <a:t>          "detail": "정답 안내 페이지·근거 문단·응답 보류·처리시간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 범위·안전정책",</a:t>
            </a:r>
          </a:p>
          <a:p xmlns:a="http://schemas.openxmlformats.org/drawingml/2006/main">
            <a:r>
              <a:t>          "layer": "권한·정책",</a:t>
            </a:r>
          </a:p>
          <a:p xmlns:a="http://schemas.openxmlformats.org/drawingml/2006/main">
            <a:r>
              <a:t>          "detail": "범위 밖 질문·상충 안내·개인 업무의 실행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"품질 로그"</a:t>
            </a:r>
          </a:p>
          <a:p xmlns:a="http://schemas.openxmlformats.org/drawingml/2006/main">
            <a:r>
              <a:t>          }</a:t>
            </a:r>
          </a:p>
          <a:p xmlns:a="http://schemas.openxmlformats.org/drawingml/2006/main">
            <a:r>
              <a:t>        ],</a:t>
            </a:r>
          </a:p>
          <a:p xmlns:a="http://schemas.openxmlformats.org/drawingml/2006/main">
            <a:r>
              <a:t>        "summary": "질문 분류 → GOV.UK 자료 검색 → 근거 기반 응답 → 공식 안내 확인"</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"OpenSearch·품질 분석 기록",</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"앱 질문과 이전 대화의 문맥 구성",</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"정답 안내 페이지·근거 문단·응답 보류·처리시간 대조",</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"공식 문서 조각",</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"출처 포함 답변",</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"ATRS 2025-10-07",</a:t>
            </a:r>
          </a:p>
          <a:p xmlns:a="http://schemas.openxmlformats.org/drawingml/2006/main">
            <a:r>
              <a:t>        "extracted": "Rails·Claude/Bedrock·OpenSearch·BigQuery 공개 구성",</a:t>
            </a:r>
          </a:p>
          <a:p xmlns:a="http://schemas.openxmlformats.org/drawingml/2006/main">
            <a:r>
              <a:t>        "extension": "질문·검색·근거·원문 이동의 추적 ID 연결"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"AX06",</a:t>
            </a:r>
          </a:p>
          <a:p xmlns:a="http://schemas.openxmlformats.org/drawingml/2006/main">
            <a:r>
              <a:t>          "path": "assets/casebook-sources/AX06-01.png",</a:t>
            </a:r>
          </a:p>
          <a:p xmlns:a="http://schemas.openxmlformats.org/drawingml/2006/main">
            <a:r>
              <a:t>          "title": "GOV.UK Chat 2025년 공개 베타 구성",</a:t>
            </a:r>
          </a:p>
          <a:p xmlns:a="http://schemas.openxmlformats.org/drawingml/2006/main">
            <a:r>
              <a:t>          "status": "영국 정부 ATRS 공식 C4 아키텍처",</a:t>
            </a:r>
          </a:p>
          <a:p xmlns:a="http://schemas.openxmlformats.org/drawingml/2006/main">
            <a:r>
              <a:t>          "caption": "앱·인증·Rails·Bedrock·OpenSearch·PostgreSQL·BigQuery의 운영 경계",</a:t>
            </a:r>
          </a:p>
          <a:p xmlns:a="http://schemas.openxmlformats.org/drawingml/2006/main">
            <a:r>
              <a:t>          "locator": "DSIT ATRS 2025-10-07 / 4.1.1 System Architecture / August 2025 public beta",</a:t>
            </a:r>
          </a:p>
          <a:p xmlns:a="http://schemas.openxmlformats.org/drawingml/2006/main">
            <a:r>
              <a:t>          "sourceUrl": "https://www.gov.uk/algorithmic-transparency-records/dsit-gov-dot-uk-chat",</a:t>
            </a:r>
          </a:p>
          <a:p xmlns:a="http://schemas.openxmlformats.org/drawingml/2006/main">
            <a:r>
              <a:t>          "checked": "2026-10-16",</a:t>
            </a:r>
          </a:p>
          <a:p xmlns:a="http://schemas.openxmlformats.org/drawingml/2006/main">
            <a:r>
              <a:t>          "sha256": "8efe82dfdfa8df7ee5312dd13369be76aaf53cb39df42957cad9be1de605fc25",</a:t>
            </a:r>
          </a:p>
          <a:p xmlns:a="http://schemas.openxmlformats.org/drawingml/2006/main">
            <a:r>
              <a:t>          "explanation": {</a:t>
            </a:r>
          </a:p>
          <a:p xmlns:a="http://schemas.openxmlformats.org/drawingml/2006/main">
            <a:r>
              <a:t>            "read": "영국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a:t>
            </a:r>
          </a:p>
          <a:p xmlns:a="http://schemas.openxmlformats.org/drawingml/2006/main">
            <a:r>
              <a:t>            "requirements": [],</a:t>
            </a:r>
          </a:p>
          <a:p xmlns:a="http://schemas.openxmlformats.org/drawingml/2006/main">
            <a:r>
              <a:t>            "connection": "TS 대민 서비스에서는 로그인·공개 콘텐츠·대화 생성·품질 분석의 경계를 구분하고, 검색 원문과 응답·로그의 식별자 및 보존 정책을 별도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"path": "assets/casebook-sources/AX06-02.png",</a:t>
            </a:r>
          </a:p>
          <a:p xmlns:a="http://schemas.openxmlformats.org/drawingml/2006/main">
            <a:r>
              <a:t>          "title": "GOV.UK Chat 초기 파일럿 구성",</a:t>
            </a:r>
          </a:p>
          <a:p xmlns:a="http://schemas.openxmlformats.org/drawingml/2006/main">
            <a:r>
              <a:t>          "status": "영국 정부 개발문서 초기 설계도",</a:t>
            </a:r>
          </a:p>
          <a:p xmlns:a="http://schemas.openxmlformats.org/drawingml/2006/main">
            <a:r>
              <a:t>          "caption": "2023년 파일럿의 Rails·Redis·PostgreSQL·OpenAI·OpenSearch 계획. 2025년 운영 구성과 구분",</a:t>
            </a:r>
          </a:p>
          <a:p xmlns:a="http://schemas.openxmlformats.org/drawingml/2006/main">
            <a:r>
              <a:t>          "locator": "govuk-chat ADR-0001 / Pilot Technical Architecture",</a:t>
            </a:r>
          </a:p>
          <a:p xmlns:a="http://schemas.openxmlformats.org/drawingml/2006/main">
            <a:r>
              <a:t>          "sourceUrl": "https://docs.publishing.service.gov.uk/repos/govuk-chat/adr/0001-pilot-technical-architecture.html",</a:t>
            </a:r>
          </a:p>
          <a:p xmlns:a="http://schemas.openxmlformats.org/drawingml/2006/main">
            <a:r>
              <a:t>          "checked": "2026-10-16",</a:t>
            </a:r>
          </a:p>
          <a:p xmlns:a="http://schemas.openxmlformats.org/drawingml/2006/main">
            <a:r>
              <a:t>          "sha256": "220db41f02597aff9a66bca8744a6772cdc9190c34324538f7862519fb434fc2",</a:t>
            </a:r>
          </a:p>
          <a:p xmlns:a="http://schemas.openxmlformats.org/drawingml/2006/main">
            <a:r>
              <a:t>          "explanation": {</a:t>
            </a:r>
          </a:p>
          <a:p xmlns:a="http://schemas.openxmlformats.org/drawingml/2006/main">
            <a:r>
              <a:t>            "read": "GOV.UK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a:t>
            </a:r>
          </a:p>
          <a:p xmlns:a="http://schemas.openxmlformats.org/drawingml/2006/main">
            <a:r>
              <a:t>            "requirements": [],</a:t>
            </a:r>
          </a:p>
          <a:p xmlns:a="http://schemas.openxmlformats.org/drawingml/2006/main">
            <a:r>
              <a:t>            "connection": "TS 고도화 시 파일럿과 운영 구성의 차이를 사례로 삼아 모델·인증·색인 교체 가능성을 인터페이스와 운영 이력에 반영한다."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"범위 밖 질문·상충 안내·개인 업무의 실행 요청",</a:t>
            </a:r>
          </a:p>
          <a:p xmlns:a="http://schemas.openxmlformats.org/drawingml/2006/main">
            <a:r>
              <a:t>        "hold": "질문 분류·응답 품질 평가",</a:t>
            </a:r>
          </a:p>
          <a:p xmlns:a="http://schemas.openxmlformats.org/drawingml/2006/main">
            <a:r>
              <a:t>        "recovery": "관리 도구·BigQuery 기반 품질 분석",</a:t>
            </a:r>
          </a:p>
          <a:p xmlns:a="http://schemas.openxmlformats.org/drawingml/2006/main">
            <a:r>
              <a:t>        "evidence": "정답 안내 페이지·근거 문단·응답 보류·처리시간 대조"</a:t>
            </a:r>
          </a:p>
          <a:p xmlns:a="http://schemas.openxmlformats.org/drawingml/2006/main">
            <a:r>
              <a:t>      },</a:t>
            </a:r>
          </a:p>
          <a:p xmlns:a="http://schemas.openxmlformats.org/drawingml/2006/main">
            <a:r>
              <a:t>      "data": {</a:t>
            </a:r>
          </a:p>
          <a:p xmlns:a="http://schemas.openxmlformats.org/drawingml/2006/main">
            <a:r>
              <a:t>        "source": "OpenSearch·품질 분석 기록",</a:t>
            </a:r>
          </a:p>
          <a:p xmlns:a="http://schemas.openxmlformats.org/drawingml/2006/main">
            <a:r>
              <a:t>        "prepare": "공개 콘텐츠 선별·벡터화·OpenSearch 저장",</a:t>
            </a:r>
          </a:p>
          <a:p xmlns:a="http://schemas.openxmlformats.org/drawingml/2006/main">
            <a:r>
              <a:t>        "output": "질문·의도",</a:t>
            </a:r>
          </a:p>
          <a:p xmlns:a="http://schemas.openxmlformats.org/drawingml/2006/main">
            <a:r>
              <a:t>        "refresh": "관리 도구·BigQuery 기반 품질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"AX06",</a:t>
            </a:r>
          </a:p>
          <a:p xmlns:a="http://schemas.openxmlformats.org/drawingml/2006/main">
            <a:r>
              <a:t>    "success": [</a:t>
            </a:r>
          </a:p>
          <a:p xmlns:a="http://schemas.openxmlformats.org/drawingml/2006/main">
            <a:r>
              <a:t>      "공식 안내 자료에 한정한 검색",</a:t>
            </a:r>
          </a:p>
          <a:p xmlns:a="http://schemas.openxmlformats.org/drawingml/2006/main">
            <a:r>
              <a:t>      "출처 링크와 기존 탐색 경로 병행"</a:t>
            </a:r>
          </a:p>
          <a:p xmlns:a="http://schemas.openxmlformats.org/drawingml/2006/main">
            <a:r>
              <a:t>    ],</a:t>
            </a:r>
          </a:p>
          <a:p xmlns:a="http://schemas.openxmlformats.org/drawingml/2006/main">
            <a:r>
              <a:t>    "risks": [</a:t>
            </a:r>
          </a:p>
          <a:p xmlns:a="http://schemas.openxmlformats.org/drawingml/2006/main">
            <a:r>
              <a:t>      "업무 범위 밖 질문",</a:t>
            </a:r>
          </a:p>
          <a:p xmlns:a="http://schemas.openxmlformats.org/drawingml/2006/main">
            <a:r>
              <a:t>      "응답속도·안내와 실제 처리의 간극"</a:t>
            </a:r>
          </a:p>
          <a:p xmlns:a="http://schemas.openxmlformats.org/drawingml/2006/main">
            <a:r>
              <a:t>    ],</a:t>
            </a:r>
          </a:p>
          <a:p xmlns:a="http://schemas.openxmlformats.org/drawingml/2006/main">
            <a:r>
              <a:t>    "architecture": [</a:t>
            </a:r>
          </a:p>
          <a:p xmlns:a="http://schemas.openxmlformats.org/drawingml/2006/main">
            <a:r>
              <a:t>      "GOV.UK 앱",</a:t>
            </a:r>
          </a:p>
          <a:p xmlns:a="http://schemas.openxmlformats.org/drawingml/2006/main">
            <a:r>
              <a:t>      "Rails·Claude / Bedrock",</a:t>
            </a:r>
          </a:p>
          <a:p xmlns:a="http://schemas.openxmlformats.org/drawingml/2006/main">
            <a:r>
              <a:t>      "OpenSearch·품질 분석 기록",</a:t>
            </a:r>
          </a:p>
          <a:p xmlns:a="http://schemas.openxmlformats.org/drawingml/2006/main">
            <a:r>
              <a:t>      "이용자·운영자"</a:t>
            </a:r>
          </a:p>
          <a:p xmlns:a="http://schemas.openxmlformats.org/drawingml/2006/main">
            <a:r>
              <a:t>    ],</a:t>
            </a:r>
          </a:p>
          <a:p xmlns:a="http://schemas.openxmlformats.org/drawingml/2006/main">
            <a:r>
              <a:t>    "transfers": [</a:t>
            </a:r>
          </a:p>
          <a:p xmlns:a="http://schemas.openxmlformats.org/drawingml/2006/main">
            <a:r>
              <a:t>      "질문·의도",</a:t>
            </a:r>
          </a:p>
          <a:p xmlns:a="http://schemas.openxmlformats.org/drawingml/2006/main">
            <a:r>
              <a:t>      "공식 문서 조각",</a:t>
            </a:r>
          </a:p>
          <a:p xmlns:a="http://schemas.openxmlformats.org/drawingml/2006/main">
            <a:r>
              <a:t>      "출처 포함 답변",</a:t>
            </a:r>
          </a:p>
          <a:p xmlns:a="http://schemas.openxmlformats.org/drawingml/2006/main">
            <a:r>
              <a:t>      "원문·공식 서비스"</a:t>
            </a:r>
          </a:p>
          <a:p xmlns:a="http://schemas.openxmlformats.org/drawingml/2006/main">
            <a:r>
              <a:t>    ],</a:t>
            </a:r>
          </a:p>
          <a:p xmlns:a="http://schemas.openxmlformats.org/drawingml/2006/main">
            <a:r>
              <a:t>    "control": "질문 분류·응답 품질 평가",</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GDS · GOV.UK Chat 이용자 실증 https://insidegovuk.blog.gov.uk/2026/03/16/5-things-we-learned-testing-gov-uk-chat-an-ai-assistant-for-government/</a:t>
            </a:r>
          </a:p>
          <a:p xmlns:a="http://schemas.openxmlformats.org/drawingml/2006/main">
            <a:r>
              <a:t>DSIT · GOV.UK Chat 알고리즘 공개 기록 https://www.gov.uk/algorithmic-transparency-records/dsit-gov-dot-uk-chat</a:t>
            </a:r>
          </a:p>
          <a:p xmlns:a="http://schemas.openxmlformats.org/drawingml/2006/main">
            <a:r>
              <a:t>홈페이지 https://heen1987-ops.github.io/TS-business-Plan-001/index.html?view=casebook&amp;case=AX06</a:t>
            </a:r>
          </a:p>
          <a:p xmlns:a="http://schemas.openxmlformats.org/drawingml/2006/main">
            <a:r>
              <a:t>원문 도면 {"caseId":"AX06","path":"assets/casebook-sources/AX06-02.png","title":"GOV.UK Chat 초기 파일럿 구성","status":"영국 정부 개발문서 초기 설계도","caption":"2023년 파일럿의 Rails·Redis·PostgreSQL·OpenAI·OpenSearch 계획. 2025년 운영 구성과 구분","locator":"govuk-chat ADR-0001 / Pilot Technical Architecture","sourceUrl":"https://docs.publishing.service.gov.uk/repos/govuk-chat/adr/0001-pilot-technical-architecture.html","checked":"2026-10-16","sha256":"220db41f02597aff9a66bca8744a6772cdc9190c34324538f7862519fb434fc2","explanation":{"read":"GOV.UK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된다.","requirements":[],"connection":"TS 고도화 시 파일럿과 운영 구성의 차이를 사례로 삼아 모델·인증·색인 교체 가능성을 인터페이스와 운영 이력에 반영한다."}}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"AX06",</a:t>
            </a:r>
          </a:p>
          <a:p xmlns:a="http://schemas.openxmlformats.org/drawingml/2006/main">
            <a:r>
              <a:t>    "title": "GOV.UK Chat",</a:t>
            </a:r>
          </a:p>
          <a:p xmlns:a="http://schemas.openxmlformats.org/drawingml/2006/main">
            <a:r>
              <a:t>    "region": "해외",</a:t>
            </a:r>
          </a:p>
          <a:p xmlns:a="http://schemas.openxmlformats.org/drawingml/2006/main">
            <a:r>
              <a:t>    "country": "영국",</a:t>
            </a:r>
          </a:p>
          <a:p xmlns:a="http://schemas.openxmlformats.org/drawingml/2006/main">
            <a:r>
              <a:t>    "result": "혼합",</a:t>
            </a:r>
          </a:p>
          <a:p xmlns:a="http://schemas.openxmlformats.org/drawingml/2006/main">
            <a:r>
              <a:t>    "kind": "정부 안내 RAG 실증",</a:t>
            </a:r>
          </a:p>
          <a:p xmlns:a="http://schemas.openxmlformats.org/drawingml/2006/main">
            <a:r>
              <a:t>    "period": "2025 기술 기록 / 2026 실증",</a:t>
            </a:r>
          </a:p>
          <a:p xmlns:a="http://schemas.openxmlformats.org/drawingml/2006/main">
            <a:r>
              <a:t>    "sources": [</a:t>
            </a:r>
          </a:p>
          <a:p xmlns:a="http://schemas.openxmlformats.org/drawingml/2006/main">
            <a:r>
              <a:t>      "S06",</a:t>
            </a:r>
          </a:p>
          <a:p xmlns:a="http://schemas.openxmlformats.org/drawingml/2006/main">
            <a:r>
              <a:t>      "S07"</a:t>
            </a:r>
          </a:p>
          <a:p xmlns:a="http://schemas.openxmlformats.org/drawingml/2006/main">
            <a:r>
              <a:t>    ],</a:t>
            </a:r>
          </a:p>
          <a:p xmlns:a="http://schemas.openxmlformats.org/drawingml/2006/main">
            <a:r>
              <a:t>    "keywords": [</a:t>
            </a:r>
          </a:p>
          <a:p xmlns:a="http://schemas.openxmlformats.org/drawingml/2006/main">
            <a:r>
              <a:t>      "민원",</a:t>
            </a:r>
          </a:p>
          <a:p xmlns:a="http://schemas.openxmlformats.org/drawingml/2006/main">
            <a:r>
              <a:t>      "공공정보",</a:t>
            </a:r>
          </a:p>
          <a:p xmlns:a="http://schemas.openxmlformats.org/drawingml/2006/main">
            <a:r>
              <a:t>      "자연어 탐색",</a:t>
            </a:r>
          </a:p>
          <a:p xmlns:a="http://schemas.openxmlformats.org/drawingml/2006/main">
            <a:r>
              <a:t>      "서비스 접근"</a:t>
            </a:r>
          </a:p>
          <a:p xmlns:a="http://schemas.openxmlformats.org/drawingml/2006/main">
            <a:r>
              <a:t>    ],</a:t>
            </a:r>
          </a:p>
          <a:p xmlns:a="http://schemas.openxmlformats.org/drawingml/2006/main">
            <a:r>
              <a:t>    "fact": "iOS 실증 641명·4주·2,670개 질문; 안내 편의와 응답속도·업무 범위의 개선 과제 확인",</a:t>
            </a:r>
          </a:p>
          <a:p xmlns:a="http://schemas.openxmlformats.org/drawingml/2006/main">
            <a:r>
              <a:t>    "limit": "공개 안내 검색 범위 · 개인 업무 처리와 담당자 인계는 당시 지원·개선 범위 구분",</a:t>
            </a:r>
          </a:p>
          <a:p xmlns:a="http://schemas.openxmlformats.org/drawingml/2006/main">
            <a:r>
              <a:t>    "flow": [</a:t>
            </a:r>
          </a:p>
          <a:p xmlns:a="http://schemas.openxmlformats.org/drawingml/2006/main">
            <a:r>
              <a:t>      "질문 분류",</a:t>
            </a:r>
          </a:p>
          <a:p xmlns:a="http://schemas.openxmlformats.org/drawingml/2006/main">
            <a:r>
              <a:t>      "GOV.UK 자료 검색",</a:t>
            </a:r>
          </a:p>
          <a:p xmlns:a="http://schemas.openxmlformats.org/drawingml/2006/main">
            <a:r>
              <a:t>      "근거 기반 응답",</a:t>
            </a:r>
          </a:p>
          <a:p xmlns:a="http://schemas.openxmlformats.org/drawingml/2006/main">
            <a:r>
              <a:t>      "공식 안내 확인"</a:t>
            </a:r>
          </a:p>
          <a:p xmlns:a="http://schemas.openxmlformats.org/drawingml/2006/main">
            <a:r>
              <a:t>    ],</a:t>
            </a:r>
          </a:p>
          <a:p xmlns:a="http://schemas.openxmlformats.org/drawingml/2006/main">
            <a:r>
              <a:t>    "flowBasis": "공개 RAG 구조와 실증 결과의 요약",</a:t>
            </a:r>
          </a:p>
          <a:p xmlns:a="http://schemas.openxmlformats.org/drawingml/2006/main">
            <a:r>
              <a:t>    "lesson": "공식 서비스 목록·정확도·수행 경계의 명시",</a:t>
            </a:r>
          </a:p>
          <a:p xmlns:a="http://schemas.openxmlformats.org/drawingml/2006/main">
            <a:r>
              <a:t>    "local": "TS 공개 서비스 카탈로그와 소관 부서 연결 / 메뉴를 유지한 프롬프트·음성 진입",</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"공개·내부 지식 분리 / 서비스 라우터 / 필수 입력 확인 / 인증·전송 연계",</a:t>
            </a:r>
          </a:p>
          <a:p xmlns:a="http://schemas.openxmlformats.org/drawingml/2006/main">
            <a:r>
              <a:t>    "test": "실제 메뉴 대비 업무 도달률·완료시간 및 잘못된 기관 안내 검증",</a:t>
            </a:r>
          </a:p>
          <a:p xmlns:a="http://schemas.openxmlformats.org/drawingml/2006/main">
            <a:r>
              <a:t>    "metric": "정확한 서비스 도달률 / 포기율 / 응답 p95"</a:t>
            </a:r>
          </a:p>
          <a:p xmlns:a="http://schemas.openxmlformats.org/drawingml/2006/main">
            <a:r>
              <a:t>  },</a:t>
            </a:r>
          </a:p>
          <a:p xmlns:a="http://schemas.openxmlformats.org/drawingml/2006/main">
            <a:r>
              <a:t>  "design": {</a:t>
            </a:r>
          </a:p>
          <a:p xmlns:a="http://schemas.openxmlformats.org/drawingml/2006/main">
            <a:r>
              <a:t>    "id": "AX06",</a:t>
            </a:r>
          </a:p>
          <a:p xmlns:a="http://schemas.openxmlformats.org/drawingml/2006/main">
            <a:r>
              <a:t>    "canonicalId": "AX06",</a:t>
            </a:r>
          </a:p>
          <a:p xmlns:a="http://schemas.openxmlformats.org/drawingml/2006/main">
            <a:r>
              <a:t>    "purpose": "공식 정부 안내를 자연어로 탐색하는 접점",</a:t>
            </a:r>
          </a:p>
          <a:p xmlns:a="http://schemas.openxmlformats.org/drawingml/2006/main">
            <a:r>
              <a:t>    "users": "국민·GOV.UK 운영팀",</a:t>
            </a:r>
          </a:p>
          <a:p xmlns:a="http://schemas.openxmlformats.org/drawingml/2006/main">
            <a:r>
              <a:t>    "scope": [</a:t>
            </a:r>
          </a:p>
          <a:p xmlns:a="http://schemas.openxmlformats.org/drawingml/2006/main">
            <a:r>
              <a:t>      "공식 지식 검색",</a:t>
            </a:r>
          </a:p>
          <a:p xmlns:a="http://schemas.openxmlformats.org/drawingml/2006/main">
            <a:r>
              <a:t>      "출처 답변",</a:t>
            </a:r>
          </a:p>
          <a:p xmlns:a="http://schemas.openxmlformats.org/drawingml/2006/main">
            <a:r>
              <a:t>      "서비스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"GOV.UK 앱",</a:t>
            </a:r>
          </a:p>
          <a:p xmlns:a="http://schemas.openxmlformats.org/drawingml/2006/main">
            <a:r>
              <a:t>        "detail": "앱 질문과 이전 대화의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"공식 지식 검색 / 출처 답변 / 서비스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"Rails·Claude / Bedrock",</a:t>
            </a:r>
          </a:p>
          <a:p xmlns:a="http://schemas.openxmlformats.org/drawingml/2006/main">
            <a:r>
              <a:t>        "detail": "질문 처리·검색·Claude 응답의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"이용자·운영자",</a:t>
            </a:r>
          </a:p>
          <a:p xmlns:a="http://schemas.openxmlformats.org/drawingml/2006/main">
            <a:r>
              <a:t>        "detail": "출처가 있는 답변과 공식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"OpenSearch·품질 분석 기록",</a:t>
            </a:r>
          </a:p>
          <a:p xmlns:a="http://schemas.openxmlformats.org/drawingml/2006/main">
            <a:r>
              <a:t>        "detail": "공개 콘텐츠 선별·벡터화·OpenSearch 저장",</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"관리 도구·BigQuery 기반 품질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"질문 분류",</a:t>
            </a:r>
          </a:p>
          <a:p xmlns:a="http://schemas.openxmlformats.org/drawingml/2006/main">
            <a:r>
              <a:t>        "input": "앱 질문과 이전 대화의 문맥 구성",</a:t>
            </a:r>
          </a:p>
          <a:p xmlns:a="http://schemas.openxmlformats.org/drawingml/2006/main">
            <a:r>
              <a:t>        "process": "공개 콘텐츠 선별·벡터화·OpenSearch 저장",</a:t>
            </a:r>
          </a:p>
          <a:p xmlns:a="http://schemas.openxmlformats.org/drawingml/2006/main">
            <a:r>
              <a:t>        "output": "질문·의도"</a:t>
            </a:r>
          </a:p>
          <a:p xmlns:a="http://schemas.openxmlformats.org/drawingml/2006/main">
            <a:r>
              <a:t>      },</a:t>
            </a:r>
          </a:p>
          <a:p xmlns:a="http://schemas.openxmlformats.org/drawingml/2006/main">
            <a:r>
              <a:t>      {</a:t>
            </a:r>
          </a:p>
          <a:p xmlns:a="http://schemas.openxmlformats.org/drawingml/2006/main">
            <a:r>
              <a:t>        "title": "GOV.UK 자료 검색",</a:t>
            </a:r>
          </a:p>
          <a:p xmlns:a="http://schemas.openxmlformats.org/drawingml/2006/main">
            <a:r>
              <a:t>        "input": "질문·의도",</a:t>
            </a:r>
          </a:p>
          <a:p xmlns:a="http://schemas.openxmlformats.org/drawingml/2006/main">
            <a:r>
              <a:t>        "process": "질문 처리·검색·Claude 응답의 조정",</a:t>
            </a:r>
          </a:p>
          <a:p xmlns:a="http://schemas.openxmlformats.org/drawingml/2006/main">
            <a:r>
              <a:t>        "output": "공식 문서 조각"</a:t>
            </a:r>
          </a:p>
          <a:p xmlns:a="http://schemas.openxmlformats.org/drawingml/2006/main">
            <a:r>
              <a:t>      },</a:t>
            </a:r>
          </a:p>
          <a:p xmlns:a="http://schemas.openxmlformats.org/drawingml/2006/main">
            <a:r>
              <a:t>      {</a:t>
            </a:r>
          </a:p>
          <a:p xmlns:a="http://schemas.openxmlformats.org/drawingml/2006/main">
            <a:r>
              <a:t>        "title": "근거 기반 응답",</a:t>
            </a:r>
          </a:p>
          <a:p xmlns:a="http://schemas.openxmlformats.org/drawingml/2006/main">
            <a:r>
              <a:t>        "input": "공식 문서 조각",</a:t>
            </a:r>
          </a:p>
          <a:p xmlns:a="http://schemas.openxmlformats.org/drawingml/2006/main">
            <a:r>
              <a:t>        "process": "질문 분류·응답 품질 평가",</a:t>
            </a:r>
          </a:p>
          <a:p xmlns:a="http://schemas.openxmlformats.org/drawingml/2006/main">
            <a:r>
              <a:t>        "output": "출처 포함 답변"</a:t>
            </a:r>
          </a:p>
          <a:p xmlns:a="http://schemas.openxmlformats.org/drawingml/2006/main">
            <a:r>
              <a:t>      },</a:t>
            </a:r>
          </a:p>
          <a:p xmlns:a="http://schemas.openxmlformats.org/drawingml/2006/main">
            <a:r>
              <a:t>      {</a:t>
            </a:r>
          </a:p>
          <a:p xmlns:a="http://schemas.openxmlformats.org/drawingml/2006/main">
            <a:r>
              <a:t>        "title": "공식 안내 확인",</a:t>
            </a:r>
          </a:p>
          <a:p xmlns:a="http://schemas.openxmlformats.org/drawingml/2006/main">
            <a:r>
              <a:t>        "input": "출처 포함 답변",</a:t>
            </a:r>
          </a:p>
          <a:p xmlns:a="http://schemas.openxmlformats.org/drawingml/2006/main">
            <a:r>
              <a:t>        "process": "출처가 있는 답변과 공식 안내 페이지 제공",</a:t>
            </a:r>
          </a:p>
          <a:p xmlns:a="http://schemas.openxmlformats.org/drawingml/2006/main">
            <a:r>
              <a:t>        "output": "원문·공식 서비스"</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"신청 방법을 질문하고 근거 안내와 해당 공식 페이지 확인",</a:t>
            </a:r>
          </a:p>
          <a:p xmlns:a="http://schemas.openxmlformats.org/drawingml/2006/main">
            <a:r>
              <a:t>      "exception": "범위 밖 질문·상충 안내·개인 업무의 실행 요청",</a:t>
            </a:r>
          </a:p>
          <a:p xmlns:a="http://schemas.openxmlformats.org/drawingml/2006/main">
            <a:r>
              <a:t>      "evidence": "정답 안내 페이지·근거 문단·응답 보류·처리시간 대조",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"국민·GOV.UK 운영팀",</a:t>
            </a:r>
          </a:p>
          <a:p xmlns:a="http://schemas.openxmlformats.org/drawingml/2006/main">
            <a:r>
              <a:t>          "processing": "앱 질문과 이전 대화의 문맥 구성",</a:t>
            </a:r>
          </a:p>
          <a:p xmlns:a="http://schemas.openxmlformats.org/drawingml/2006/main">
            <a:r>
              <a:t>          "output": "질문·의도"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"OpenSearch·품질 분석 기록",</a:t>
            </a:r>
          </a:p>
          <a:p xmlns:a="http://schemas.openxmlformats.org/drawingml/2006/main">
            <a:r>
              <a:t>          "processing": "공개 콘텐츠 선별·벡터화·OpenSearch 저장",</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"질문·의도",</a:t>
            </a:r>
          </a:p>
          <a:p xmlns:a="http://schemas.openxmlformats.org/drawingml/2006/main">
            <a:r>
              <a:t>          "processing": "질문 처리·검색·Claude 응답의 조정",</a:t>
            </a:r>
          </a:p>
          <a:p xmlns:a="http://schemas.openxmlformats.org/drawingml/2006/main">
            <a:r>
              <a:t>          "output": "출처 포함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"출처 포함 답변",</a:t>
            </a:r>
          </a:p>
          <a:p xmlns:a="http://schemas.openxmlformats.org/drawingml/2006/main">
            <a:r>
              <a:t>          "processing": "출처가 있는 답변과 공식 안내 페이지 제공",</a:t>
            </a:r>
          </a:p>
          <a:p xmlns:a="http://schemas.openxmlformats.org/drawingml/2006/main">
            <a:r>
              <a:t>          "output": "원문·공식 서비스"</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"관리 도구·BigQuery 기반 품질 분석",</a:t>
            </a:r>
          </a:p>
          <a:p xmlns:a="http://schemas.openxmlformats.org/drawingml/2006/main">
            <a:r>
              <a:t>          "output": "정답 안내 페이지·근거 문단·응답 보류·처리시간 대조"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"관리 도구·BigQuery 기반 품질 분석",</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"S06",</a:t>
            </a:r>
          </a:p>
          <a:p xmlns:a="http://schemas.openxmlformats.org/drawingml/2006/main">
            <a:r>
              <a:t>        "title": "GDS · GOV.UK Chat 이용자 실증",</a:t>
            </a:r>
          </a:p>
          <a:p xmlns:a="http://schemas.openxmlformats.org/drawingml/2006/main">
            <a:r>
              <a:t>        "url": "https://insidegovuk.blog.gov.uk/2026/03/16/5-things-we-learned-testing-gov-uk-chat-an-ai-assistant-for-government/",</a:t>
            </a:r>
          </a:p>
          <a:p xmlns:a="http://schemas.openxmlformats.org/drawingml/2006/main">
            <a:r>
              <a:t>        "published": "2026-03-16",</a:t>
            </a:r>
          </a:p>
          <a:p xmlns:a="http://schemas.openxmlformats.org/drawingml/2006/main">
            <a:r>
              <a:t>        "level": "정부 실증 보고",</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"id": "S07",</a:t>
            </a:r>
          </a:p>
          <a:p xmlns:a="http://schemas.openxmlformats.org/drawingml/2006/main">
            <a:r>
              <a:t>        "title": "DSIT · GOV.UK Chat 알고리즘 공개 기록",</a:t>
            </a:r>
          </a:p>
          <a:p xmlns:a="http://schemas.openxmlformats.org/drawingml/2006/main">
            <a:r>
              <a:t>        "url": "https://www.gov.uk/algorithmic-transparency-records/dsit-gov-dot-uk-chat",</a:t>
            </a:r>
          </a:p>
          <a:p xmlns:a="http://schemas.openxmlformats.org/drawingml/2006/main">
            <a:r>
              <a:t>        "published": "2025-10-07",</a:t>
            </a:r>
          </a:p>
          <a:p xmlns:a="http://schemas.openxmlformats.org/drawingml/2006/main">
            <a:r>
              <a:t>        "level": "정부 기술·책임 공개",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"공식 서비스 목록·정확도·수행 경계의 명시",</a:t>
            </a:r>
          </a:p>
          <a:p xmlns:a="http://schemas.openxmlformats.org/drawingml/2006/main">
            <a:r>
              <a:t>    "local": "TS 공개 서비스 카탈로그와 소관 부서 연결 / 메뉴를 유지한 프롬프트·음성 진입",</a:t>
            </a:r>
          </a:p>
          <a:p xmlns:a="http://schemas.openxmlformats.org/drawingml/2006/main">
            <a:r>
              <a:t>    "sourceDetail": null,</a:t>
            </a:r>
          </a:p>
          <a:p xmlns:a="http://schemas.openxmlformats.org/drawingml/2006/main">
            <a:r>
              <a:t>    "narrative": [</a:t>
            </a:r>
          </a:p>
          <a:p xmlns:a="http://schemas.openxmlformats.org/drawingml/2006/main">
            <a:r>
              <a:t>      "정부 안내 페이지를 이용자가 직접 탐색하는 과정에 자연어 질의 접점을 추가한 사례. 질문에 대한 설명과 실제 공공서비스 신청은 별도 단계이며 원문·공식 서비스로의 이동이 중요한 완료조건.",</a:t>
            </a:r>
          </a:p>
          <a:p xmlns:a="http://schemas.openxmlformats.org/drawingml/2006/main">
            <a:r>
              <a:t>      "공개 기술기록의 Rails·Claude/Bedrock·OpenSearch·BigQuery를 기준으로 콘텐츠 준비, 질의 검색, 응답 생성, 품질 관측을 구분. 2023년 파일럿 설계와 2025년 공개 기술기록은 판본이 다른 자료로 취급.",</a:t>
            </a:r>
          </a:p>
          <a:p xmlns:a="http://schemas.openxmlformats.org/drawingml/2006/main">
            <a:r>
              <a:t>      "CCK에서는 TS 메뉴를 없애기보다 질문의 소관·지역·자격을 정리하고 검증된 메뉴에 연결하는 방식으로 현지화. 근거 없음·범위 밖 질의·느린 응답·틀린 신청 경로를 별도 과업으로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"GOV.UK 앱 질의",</a:t>
            </a:r>
          </a:p>
          <a:p xmlns:a="http://schemas.openxmlformats.org/drawingml/2006/main">
            <a:r>
              <a:t>          "layer": "이용 접점",</a:t>
            </a:r>
          </a:p>
          <a:p xmlns:a="http://schemas.openxmlformats.org/drawingml/2006/main">
            <a:r>
              <a:t>          "detail": "국민·GOV.UK 운영팀",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"질문·대화 문맥",</a:t>
            </a:r>
          </a:p>
          <a:p xmlns:a="http://schemas.openxmlformats.org/drawingml/2006/main">
            <a:r>
              <a:t>          "layer": "업무 문맥",</a:t>
            </a:r>
          </a:p>
          <a:p xmlns:a="http://schemas.openxmlformats.org/drawingml/2006/main">
            <a:r>
              <a:t>          "detail": "앱 질문과 이전 대화의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"OpenSearch 검색",</a:t>
            </a:r>
          </a:p>
          <a:p xmlns:a="http://schemas.openxmlformats.org/drawingml/2006/main">
            <a:r>
              <a:t>          "layer": "자료 조회",</a:t>
            </a:r>
          </a:p>
          <a:p xmlns:a="http://schemas.openxmlformats.org/drawingml/2006/main">
            <a:r>
              <a:t>          "detail": "질문·의도",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"Claude / Bedrock",</a:t>
            </a:r>
          </a:p>
          <a:p xmlns:a="http://schemas.openxmlformats.org/drawingml/2006/main">
            <a:r>
              <a:t>          "layer": "핵심 처리",</a:t>
            </a:r>
          </a:p>
          <a:p xmlns:a="http://schemas.openxmlformats.org/drawingml/2006/main">
            <a:r>
              <a:t>          "detail": "질문 처리·검색·Claude 응답의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"범위·근거 검사",</a:t>
            </a:r>
          </a:p>
          <a:p xmlns:a="http://schemas.openxmlformats.org/drawingml/2006/main">
            <a:r>
              <a:t>          "layer": "결과 검증",</a:t>
            </a:r>
          </a:p>
          <a:p xmlns:a="http://schemas.openxmlformats.org/drawingml/2006/main">
            <a:r>
              <a:t>          "detail": "질문 분류·응답 품질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원문 확인",</a:t>
            </a:r>
          </a:p>
          <a:p xmlns:a="http://schemas.openxmlformats.org/drawingml/2006/main">
            <a:r>
              <a:t>          "layer": "사람 확인",</a:t>
            </a:r>
          </a:p>
          <a:p xmlns:a="http://schemas.openxmlformats.org/drawingml/2006/main">
            <a:r>
              <a:t>          "detail": "신청 방법을 질문하고 근거 안내와 해당 공식 페이지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서비스 연결",</a:t>
            </a:r>
          </a:p>
          <a:p xmlns:a="http://schemas.openxmlformats.org/drawingml/2006/main">
            <a:r>
              <a:t>          "layer": "업무 연결",</a:t>
            </a:r>
          </a:p>
          <a:p xmlns:a="http://schemas.openxmlformats.org/drawingml/2006/main">
            <a:r>
              <a:t>          "detail": "출처가 있는 답변과 공식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"BigQuery 품질 분석",</a:t>
            </a:r>
          </a:p>
          <a:p xmlns:a="http://schemas.openxmlformats.org/drawingml/2006/main">
            <a:r>
              <a:t>          "layer": "운영 관측",</a:t>
            </a:r>
          </a:p>
          <a:p xmlns:a="http://schemas.openxmlformats.org/drawingml/2006/main">
            <a:r>
              <a:t>          "detail": "관리 도구·BigQuery 기반 품질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"GOV.UK 콘텐츠",</a:t>
            </a:r>
          </a:p>
          <a:p xmlns:a="http://schemas.openxmlformats.org/drawingml/2006/main">
            <a:r>
              <a:t>          "layer": "데이터 원천",</a:t>
            </a:r>
          </a:p>
          <a:p xmlns:a="http://schemas.openxmlformats.org/drawingml/2006/main">
            <a:r>
              <a:t>          "detail": "OpenSearch·품질 분석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"선별·청킹·벡터화",</a:t>
            </a:r>
          </a:p>
          <a:p xmlns:a="http://schemas.openxmlformats.org/drawingml/2006/main">
            <a:r>
              <a:t>          "layer": "준비·갱신",</a:t>
            </a:r>
          </a:p>
          <a:p xmlns:a="http://schemas.openxmlformats.org/drawingml/2006/main">
            <a:r>
              <a:t>          "detail": "공개 콘텐츠 선별·벡터화·OpenSearch 저장",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"OpenSearch 색인",</a:t>
            </a:r>
          </a:p>
          <a:p xmlns:a="http://schemas.openxmlformats.org/drawingml/2006/main">
            <a:r>
              <a:t>          "layer": "상태·지식 저장",</a:t>
            </a:r>
          </a:p>
          <a:p xmlns:a="http://schemas.openxmlformats.org/drawingml/2006/main">
            <a:r>
              <a:t>          "detail": "정답 안내 페이지·근거 문단·응답 보류·처리시간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 범위·안전정책",</a:t>
            </a:r>
          </a:p>
          <a:p xmlns:a="http://schemas.openxmlformats.org/drawingml/2006/main">
            <a:r>
              <a:t>          "layer": "권한·정책",</a:t>
            </a:r>
          </a:p>
          <a:p xmlns:a="http://schemas.openxmlformats.org/drawingml/2006/main">
            <a:r>
              <a:t>          "detail": "범위 밖 질문·상충 안내·개인 업무의 실행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"품질 로그"</a:t>
            </a:r>
          </a:p>
          <a:p xmlns:a="http://schemas.openxmlformats.org/drawingml/2006/main">
            <a:r>
              <a:t>          }</a:t>
            </a:r>
          </a:p>
          <a:p xmlns:a="http://schemas.openxmlformats.org/drawingml/2006/main">
            <a:r>
              <a:t>        ],</a:t>
            </a:r>
          </a:p>
          <a:p xmlns:a="http://schemas.openxmlformats.org/drawingml/2006/main">
            <a:r>
              <a:t>        "summary": "질문 분류 → GOV.UK 자료 검색 → 근거 기반 응답 → 공식 안내 확인"</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"OpenSearch·품질 분석 기록",</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"앱 질문과 이전 대화의 문맥 구성",</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"정답 안내 페이지·근거 문단·응답 보류·처리시간 대조",</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"공식 문서 조각",</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"출처 포함 답변",</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"ATRS 2025-10-07",</a:t>
            </a:r>
          </a:p>
          <a:p xmlns:a="http://schemas.openxmlformats.org/drawingml/2006/main">
            <a:r>
              <a:t>        "extracted": "Rails·Claude/Bedrock·OpenSearch·BigQuery 공개 구성",</a:t>
            </a:r>
          </a:p>
          <a:p xmlns:a="http://schemas.openxmlformats.org/drawingml/2006/main">
            <a:r>
              <a:t>        "extension": "질문·검색·근거·원문 이동의 추적 ID 연결"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"AX06",</a:t>
            </a:r>
          </a:p>
          <a:p xmlns:a="http://schemas.openxmlformats.org/drawingml/2006/main">
            <a:r>
              <a:t>          "path": "assets/casebook-sources/AX06-01.png",</a:t>
            </a:r>
          </a:p>
          <a:p xmlns:a="http://schemas.openxmlformats.org/drawingml/2006/main">
            <a:r>
              <a:t>          "title": "GOV.UK Chat 2025년 공개 베타 구성",</a:t>
            </a:r>
          </a:p>
          <a:p xmlns:a="http://schemas.openxmlformats.org/drawingml/2006/main">
            <a:r>
              <a:t>          "status": "영국 정부 ATRS 공식 C4 아키텍처",</a:t>
            </a:r>
          </a:p>
          <a:p xmlns:a="http://schemas.openxmlformats.org/drawingml/2006/main">
            <a:r>
              <a:t>          "caption": "앱·인증·Rails·Bedrock·OpenSearch·PostgreSQL·BigQuery의 운영 경계",</a:t>
            </a:r>
          </a:p>
          <a:p xmlns:a="http://schemas.openxmlformats.org/drawingml/2006/main">
            <a:r>
              <a:t>          "locator": "DSIT ATRS 2025-10-07 / 4.1.1 System Architecture / August 2025 public beta",</a:t>
            </a:r>
          </a:p>
          <a:p xmlns:a="http://schemas.openxmlformats.org/drawingml/2006/main">
            <a:r>
              <a:t>          "sourceUrl": "https://www.gov.uk/algorithmic-transparency-records/dsit-gov-dot-uk-chat",</a:t>
            </a:r>
          </a:p>
          <a:p xmlns:a="http://schemas.openxmlformats.org/drawingml/2006/main">
            <a:r>
              <a:t>          "checked": "2026-10-16",</a:t>
            </a:r>
          </a:p>
          <a:p xmlns:a="http://schemas.openxmlformats.org/drawingml/2006/main">
            <a:r>
              <a:t>          "sha256": "8efe82dfdfa8df7ee5312dd13369be76aaf53cb39df42957cad9be1de605fc25",</a:t>
            </a:r>
          </a:p>
          <a:p xmlns:a="http://schemas.openxmlformats.org/drawingml/2006/main">
            <a:r>
              <a:t>          "explanation": {</a:t>
            </a:r>
          </a:p>
          <a:p xmlns:a="http://schemas.openxmlformats.org/drawingml/2006/main">
            <a:r>
              <a:t>            "read": "영국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a:t>
            </a:r>
          </a:p>
          <a:p xmlns:a="http://schemas.openxmlformats.org/drawingml/2006/main">
            <a:r>
              <a:t>            "requirements": [],</a:t>
            </a:r>
          </a:p>
          <a:p xmlns:a="http://schemas.openxmlformats.org/drawingml/2006/main">
            <a:r>
              <a:t>            "connection": "TS 대민 서비스에서는 로그인·공개 콘텐츠·대화 생성·품질 분석의 경계를 구분하고, 검색 원문과 응답·로그의 식별자 및 보존 정책을 별도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"path": "assets/casebook-sources/AX06-02.png",</a:t>
            </a:r>
          </a:p>
          <a:p xmlns:a="http://schemas.openxmlformats.org/drawingml/2006/main">
            <a:r>
              <a:t>          "title": "GOV.UK Chat 초기 파일럿 구성",</a:t>
            </a:r>
          </a:p>
          <a:p xmlns:a="http://schemas.openxmlformats.org/drawingml/2006/main">
            <a:r>
              <a:t>          "status": "영국 정부 개발문서 초기 설계도",</a:t>
            </a:r>
          </a:p>
          <a:p xmlns:a="http://schemas.openxmlformats.org/drawingml/2006/main">
            <a:r>
              <a:t>          "caption": "2023년 파일럿의 Rails·Redis·PostgreSQL·OpenAI·OpenSearch 계획. 2025년 운영 구성과 구분",</a:t>
            </a:r>
          </a:p>
          <a:p xmlns:a="http://schemas.openxmlformats.org/drawingml/2006/main">
            <a:r>
              <a:t>          "locator": "govuk-chat ADR-0001 / Pilot Technical Architecture",</a:t>
            </a:r>
          </a:p>
          <a:p xmlns:a="http://schemas.openxmlformats.org/drawingml/2006/main">
            <a:r>
              <a:t>          "sourceUrl": "https://docs.publishing.service.gov.uk/repos/govuk-chat/adr/0001-pilot-technical-architecture.html",</a:t>
            </a:r>
          </a:p>
          <a:p xmlns:a="http://schemas.openxmlformats.org/drawingml/2006/main">
            <a:r>
              <a:t>          "checked": "2026-10-16",</a:t>
            </a:r>
          </a:p>
          <a:p xmlns:a="http://schemas.openxmlformats.org/drawingml/2006/main">
            <a:r>
              <a:t>          "sha256": "220db41f02597aff9a66bca8744a6772cdc9190c34324538f7862519fb434fc2",</a:t>
            </a:r>
          </a:p>
          <a:p xmlns:a="http://schemas.openxmlformats.org/drawingml/2006/main">
            <a:r>
              <a:t>          "explanation": {</a:t>
            </a:r>
          </a:p>
          <a:p xmlns:a="http://schemas.openxmlformats.org/drawingml/2006/main">
            <a:r>
              <a:t>            "read": "GOV.UK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a:t>
            </a:r>
          </a:p>
          <a:p xmlns:a="http://schemas.openxmlformats.org/drawingml/2006/main">
            <a:r>
              <a:t>            "requirements": [],</a:t>
            </a:r>
          </a:p>
          <a:p xmlns:a="http://schemas.openxmlformats.org/drawingml/2006/main">
            <a:r>
              <a:t>            "connection": "TS 고도화 시 파일럿과 운영 구성의 차이를 사례로 삼아 모델·인증·색인 교체 가능성을 인터페이스와 운영 이력에 반영한다."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"범위 밖 질문·상충 안내·개인 업무의 실행 요청",</a:t>
            </a:r>
          </a:p>
          <a:p xmlns:a="http://schemas.openxmlformats.org/drawingml/2006/main">
            <a:r>
              <a:t>        "hold": "질문 분류·응답 품질 평가",</a:t>
            </a:r>
          </a:p>
          <a:p xmlns:a="http://schemas.openxmlformats.org/drawingml/2006/main">
            <a:r>
              <a:t>        "recovery": "관리 도구·BigQuery 기반 품질 분석",</a:t>
            </a:r>
          </a:p>
          <a:p xmlns:a="http://schemas.openxmlformats.org/drawingml/2006/main">
            <a:r>
              <a:t>        "evidence": "정답 안내 페이지·근거 문단·응답 보류·처리시간 대조"</a:t>
            </a:r>
          </a:p>
          <a:p xmlns:a="http://schemas.openxmlformats.org/drawingml/2006/main">
            <a:r>
              <a:t>      },</a:t>
            </a:r>
          </a:p>
          <a:p xmlns:a="http://schemas.openxmlformats.org/drawingml/2006/main">
            <a:r>
              <a:t>      "data": {</a:t>
            </a:r>
          </a:p>
          <a:p xmlns:a="http://schemas.openxmlformats.org/drawingml/2006/main">
            <a:r>
              <a:t>        "source": "OpenSearch·품질 분석 기록",</a:t>
            </a:r>
          </a:p>
          <a:p xmlns:a="http://schemas.openxmlformats.org/drawingml/2006/main">
            <a:r>
              <a:t>        "prepare": "공개 콘텐츠 선별·벡터화·OpenSearch 저장",</a:t>
            </a:r>
          </a:p>
          <a:p xmlns:a="http://schemas.openxmlformats.org/drawingml/2006/main">
            <a:r>
              <a:t>        "output": "질문·의도",</a:t>
            </a:r>
          </a:p>
          <a:p xmlns:a="http://schemas.openxmlformats.org/drawingml/2006/main">
            <a:r>
              <a:t>        "refresh": "관리 도구·BigQuery 기반 품질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"AX06",</a:t>
            </a:r>
          </a:p>
          <a:p xmlns:a="http://schemas.openxmlformats.org/drawingml/2006/main">
            <a:r>
              <a:t>    "success": [</a:t>
            </a:r>
          </a:p>
          <a:p xmlns:a="http://schemas.openxmlformats.org/drawingml/2006/main">
            <a:r>
              <a:t>      "공식 안내 자료에 한정한 검색",</a:t>
            </a:r>
          </a:p>
          <a:p xmlns:a="http://schemas.openxmlformats.org/drawingml/2006/main">
            <a:r>
              <a:t>      "출처 링크와 기존 탐색 경로 병행"</a:t>
            </a:r>
          </a:p>
          <a:p xmlns:a="http://schemas.openxmlformats.org/drawingml/2006/main">
            <a:r>
              <a:t>    ],</a:t>
            </a:r>
          </a:p>
          <a:p xmlns:a="http://schemas.openxmlformats.org/drawingml/2006/main">
            <a:r>
              <a:t>    "risks": [</a:t>
            </a:r>
          </a:p>
          <a:p xmlns:a="http://schemas.openxmlformats.org/drawingml/2006/main">
            <a:r>
              <a:t>      "업무 범위 밖 질문",</a:t>
            </a:r>
          </a:p>
          <a:p xmlns:a="http://schemas.openxmlformats.org/drawingml/2006/main">
            <a:r>
              <a:t>      "응답속도·안내와 실제 처리의 간극"</a:t>
            </a:r>
          </a:p>
          <a:p xmlns:a="http://schemas.openxmlformats.org/drawingml/2006/main">
            <a:r>
              <a:t>    ],</a:t>
            </a:r>
          </a:p>
          <a:p xmlns:a="http://schemas.openxmlformats.org/drawingml/2006/main">
            <a:r>
              <a:t>    "architecture": [</a:t>
            </a:r>
          </a:p>
          <a:p xmlns:a="http://schemas.openxmlformats.org/drawingml/2006/main">
            <a:r>
              <a:t>      "GOV.UK 앱",</a:t>
            </a:r>
          </a:p>
          <a:p xmlns:a="http://schemas.openxmlformats.org/drawingml/2006/main">
            <a:r>
              <a:t>      "Rails·Claude / Bedrock",</a:t>
            </a:r>
          </a:p>
          <a:p xmlns:a="http://schemas.openxmlformats.org/drawingml/2006/main">
            <a:r>
              <a:t>      "OpenSearch·품질 분석 기록",</a:t>
            </a:r>
          </a:p>
          <a:p xmlns:a="http://schemas.openxmlformats.org/drawingml/2006/main">
            <a:r>
              <a:t>      "이용자·운영자"</a:t>
            </a:r>
          </a:p>
          <a:p xmlns:a="http://schemas.openxmlformats.org/drawingml/2006/main">
            <a:r>
              <a:t>    ],</a:t>
            </a:r>
          </a:p>
          <a:p xmlns:a="http://schemas.openxmlformats.org/drawingml/2006/main">
            <a:r>
              <a:t>    "transfers": [</a:t>
            </a:r>
          </a:p>
          <a:p xmlns:a="http://schemas.openxmlformats.org/drawingml/2006/main">
            <a:r>
              <a:t>      "질문·의도",</a:t>
            </a:r>
          </a:p>
          <a:p xmlns:a="http://schemas.openxmlformats.org/drawingml/2006/main">
            <a:r>
              <a:t>      "공식 문서 조각",</a:t>
            </a:r>
          </a:p>
          <a:p xmlns:a="http://schemas.openxmlformats.org/drawingml/2006/main">
            <a:r>
              <a:t>      "출처 포함 답변",</a:t>
            </a:r>
          </a:p>
          <a:p xmlns:a="http://schemas.openxmlformats.org/drawingml/2006/main">
            <a:r>
              <a:t>      "원문·공식 서비스"</a:t>
            </a:r>
          </a:p>
          <a:p xmlns:a="http://schemas.openxmlformats.org/drawingml/2006/main">
            <a:r>
              <a:t>    ],</a:t>
            </a:r>
          </a:p>
          <a:p xmlns:a="http://schemas.openxmlformats.org/drawingml/2006/main">
            <a:r>
              <a:t>    "control": "질문 분류·응답 품질 평가",</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GDS · GOV.UK Chat 이용자 실증 https://insidegovuk.blog.gov.uk/2026/03/16/5-things-we-learned-testing-gov-uk-chat-an-ai-assistant-for-government/</a:t>
            </a:r>
          </a:p>
          <a:p xmlns:a="http://schemas.openxmlformats.org/drawingml/2006/main">
            <a:r>
              <a:t>DSIT · GOV.UK Chat 알고리즘 공개 기록 https://www.gov.uk/algorithmic-transparency-records/dsit-gov-dot-uk-chat</a:t>
            </a:r>
          </a:p>
          <a:p xmlns:a="http://schemas.openxmlformats.org/drawingml/2006/main">
            <a:r>
              <a:t>홈페이지 https://heen1987-ops.github.io/TS-business-Plan-001/index.html?view=casebook&amp;case=AX06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"AX06",</a:t>
            </a:r>
          </a:p>
          <a:p xmlns:a="http://schemas.openxmlformats.org/drawingml/2006/main">
            <a:r>
              <a:t>    "title": "GOV.UK Chat",</a:t>
            </a:r>
          </a:p>
          <a:p xmlns:a="http://schemas.openxmlformats.org/drawingml/2006/main">
            <a:r>
              <a:t>    "region": "해외",</a:t>
            </a:r>
          </a:p>
          <a:p xmlns:a="http://schemas.openxmlformats.org/drawingml/2006/main">
            <a:r>
              <a:t>    "country": "영국",</a:t>
            </a:r>
          </a:p>
          <a:p xmlns:a="http://schemas.openxmlformats.org/drawingml/2006/main">
            <a:r>
              <a:t>    "result": "혼합",</a:t>
            </a:r>
          </a:p>
          <a:p xmlns:a="http://schemas.openxmlformats.org/drawingml/2006/main">
            <a:r>
              <a:t>    "kind": "정부 안내 RAG 실증",</a:t>
            </a:r>
          </a:p>
          <a:p xmlns:a="http://schemas.openxmlformats.org/drawingml/2006/main">
            <a:r>
              <a:t>    "period": "2025 기술 기록 / 2026 실증",</a:t>
            </a:r>
          </a:p>
          <a:p xmlns:a="http://schemas.openxmlformats.org/drawingml/2006/main">
            <a:r>
              <a:t>    "sources": [</a:t>
            </a:r>
          </a:p>
          <a:p xmlns:a="http://schemas.openxmlformats.org/drawingml/2006/main">
            <a:r>
              <a:t>      "S06",</a:t>
            </a:r>
          </a:p>
          <a:p xmlns:a="http://schemas.openxmlformats.org/drawingml/2006/main">
            <a:r>
              <a:t>      "S07"</a:t>
            </a:r>
          </a:p>
          <a:p xmlns:a="http://schemas.openxmlformats.org/drawingml/2006/main">
            <a:r>
              <a:t>    ],</a:t>
            </a:r>
          </a:p>
          <a:p xmlns:a="http://schemas.openxmlformats.org/drawingml/2006/main">
            <a:r>
              <a:t>    "keywords": [</a:t>
            </a:r>
          </a:p>
          <a:p xmlns:a="http://schemas.openxmlformats.org/drawingml/2006/main">
            <a:r>
              <a:t>      "민원",</a:t>
            </a:r>
          </a:p>
          <a:p xmlns:a="http://schemas.openxmlformats.org/drawingml/2006/main">
            <a:r>
              <a:t>      "공공정보",</a:t>
            </a:r>
          </a:p>
          <a:p xmlns:a="http://schemas.openxmlformats.org/drawingml/2006/main">
            <a:r>
              <a:t>      "자연어 탐색",</a:t>
            </a:r>
          </a:p>
          <a:p xmlns:a="http://schemas.openxmlformats.org/drawingml/2006/main">
            <a:r>
              <a:t>      "서비스 접근"</a:t>
            </a:r>
          </a:p>
          <a:p xmlns:a="http://schemas.openxmlformats.org/drawingml/2006/main">
            <a:r>
              <a:t>    ],</a:t>
            </a:r>
          </a:p>
          <a:p xmlns:a="http://schemas.openxmlformats.org/drawingml/2006/main">
            <a:r>
              <a:t>    "fact": "iOS 실증 641명·4주·2,670개 질문; 안내 편의와 응답속도·업무 범위의 개선 과제 확인",</a:t>
            </a:r>
          </a:p>
          <a:p xmlns:a="http://schemas.openxmlformats.org/drawingml/2006/main">
            <a:r>
              <a:t>    "limit": "공개 안내 검색 범위 · 개인 업무 처리와 담당자 인계는 당시 지원·개선 범위 구분",</a:t>
            </a:r>
          </a:p>
          <a:p xmlns:a="http://schemas.openxmlformats.org/drawingml/2006/main">
            <a:r>
              <a:t>    "flow": [</a:t>
            </a:r>
          </a:p>
          <a:p xmlns:a="http://schemas.openxmlformats.org/drawingml/2006/main">
            <a:r>
              <a:t>      "질문 분류",</a:t>
            </a:r>
          </a:p>
          <a:p xmlns:a="http://schemas.openxmlformats.org/drawingml/2006/main">
            <a:r>
              <a:t>      "GOV.UK 자료 검색",</a:t>
            </a:r>
          </a:p>
          <a:p xmlns:a="http://schemas.openxmlformats.org/drawingml/2006/main">
            <a:r>
              <a:t>      "근거 기반 응답",</a:t>
            </a:r>
          </a:p>
          <a:p xmlns:a="http://schemas.openxmlformats.org/drawingml/2006/main">
            <a:r>
              <a:t>      "공식 안내 확인"</a:t>
            </a:r>
          </a:p>
          <a:p xmlns:a="http://schemas.openxmlformats.org/drawingml/2006/main">
            <a:r>
              <a:t>    ],</a:t>
            </a:r>
          </a:p>
          <a:p xmlns:a="http://schemas.openxmlformats.org/drawingml/2006/main">
            <a:r>
              <a:t>    "flowBasis": "공개 RAG 구조와 실증 결과의 요약",</a:t>
            </a:r>
          </a:p>
          <a:p xmlns:a="http://schemas.openxmlformats.org/drawingml/2006/main">
            <a:r>
              <a:t>    "lesson": "공식 서비스 목록·정확도·수행 경계의 명시",</a:t>
            </a:r>
          </a:p>
          <a:p xmlns:a="http://schemas.openxmlformats.org/drawingml/2006/main">
            <a:r>
              <a:t>    "local": "TS 공개 서비스 카탈로그와 소관 부서 연결 / 메뉴를 유지한 프롬프트·음성 진입",</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"공개·내부 지식 분리 / 서비스 라우터 / 필수 입력 확인 / 인증·전송 연계",</a:t>
            </a:r>
          </a:p>
          <a:p xmlns:a="http://schemas.openxmlformats.org/drawingml/2006/main">
            <a:r>
              <a:t>    "test": "실제 메뉴 대비 업무 도달률·완료시간 및 잘못된 기관 안내 검증",</a:t>
            </a:r>
          </a:p>
          <a:p xmlns:a="http://schemas.openxmlformats.org/drawingml/2006/main">
            <a:r>
              <a:t>    "metric": "정확한 서비스 도달률 / 포기율 / 응답 p95"</a:t>
            </a:r>
          </a:p>
          <a:p xmlns:a="http://schemas.openxmlformats.org/drawingml/2006/main">
            <a:r>
              <a:t>  },</a:t>
            </a:r>
          </a:p>
          <a:p xmlns:a="http://schemas.openxmlformats.org/drawingml/2006/main">
            <a:r>
              <a:t>  "design": {</a:t>
            </a:r>
          </a:p>
          <a:p xmlns:a="http://schemas.openxmlformats.org/drawingml/2006/main">
            <a:r>
              <a:t>    "id": "AX06",</a:t>
            </a:r>
          </a:p>
          <a:p xmlns:a="http://schemas.openxmlformats.org/drawingml/2006/main">
            <a:r>
              <a:t>    "canonicalId": "AX06",</a:t>
            </a:r>
          </a:p>
          <a:p xmlns:a="http://schemas.openxmlformats.org/drawingml/2006/main">
            <a:r>
              <a:t>    "purpose": "공식 정부 안내를 자연어로 탐색하는 접점",</a:t>
            </a:r>
          </a:p>
          <a:p xmlns:a="http://schemas.openxmlformats.org/drawingml/2006/main">
            <a:r>
              <a:t>    "users": "국민·GOV.UK 운영팀",</a:t>
            </a:r>
          </a:p>
          <a:p xmlns:a="http://schemas.openxmlformats.org/drawingml/2006/main">
            <a:r>
              <a:t>    "scope": [</a:t>
            </a:r>
          </a:p>
          <a:p xmlns:a="http://schemas.openxmlformats.org/drawingml/2006/main">
            <a:r>
              <a:t>      "공식 지식 검색",</a:t>
            </a:r>
          </a:p>
          <a:p xmlns:a="http://schemas.openxmlformats.org/drawingml/2006/main">
            <a:r>
              <a:t>      "출처 답변",</a:t>
            </a:r>
          </a:p>
          <a:p xmlns:a="http://schemas.openxmlformats.org/drawingml/2006/main">
            <a:r>
              <a:t>      "서비스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"GOV.UK 앱",</a:t>
            </a:r>
          </a:p>
          <a:p xmlns:a="http://schemas.openxmlformats.org/drawingml/2006/main">
            <a:r>
              <a:t>        "detail": "앱 질문과 이전 대화의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"공식 지식 검색 / 출처 답변 / 서비스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"Rails·Claude / Bedrock",</a:t>
            </a:r>
          </a:p>
          <a:p xmlns:a="http://schemas.openxmlformats.org/drawingml/2006/main">
            <a:r>
              <a:t>        "detail": "질문 처리·검색·Claude 응답의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"이용자·운영자",</a:t>
            </a:r>
          </a:p>
          <a:p xmlns:a="http://schemas.openxmlformats.org/drawingml/2006/main">
            <a:r>
              <a:t>        "detail": "출처가 있는 답변과 공식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"OpenSearch·품질 분석 기록",</a:t>
            </a:r>
          </a:p>
          <a:p xmlns:a="http://schemas.openxmlformats.org/drawingml/2006/main">
            <a:r>
              <a:t>        "detail": "공개 콘텐츠 선별·벡터화·OpenSearch 저장",</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"관리 도구·BigQuery 기반 품질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"질문 분류",</a:t>
            </a:r>
          </a:p>
          <a:p xmlns:a="http://schemas.openxmlformats.org/drawingml/2006/main">
            <a:r>
              <a:t>        "input": "앱 질문과 이전 대화의 문맥 구성",</a:t>
            </a:r>
          </a:p>
          <a:p xmlns:a="http://schemas.openxmlformats.org/drawingml/2006/main">
            <a:r>
              <a:t>        "process": "공개 콘텐츠 선별·벡터화·OpenSearch 저장",</a:t>
            </a:r>
          </a:p>
          <a:p xmlns:a="http://schemas.openxmlformats.org/drawingml/2006/main">
            <a:r>
              <a:t>        "output": "질문·의도"</a:t>
            </a:r>
          </a:p>
          <a:p xmlns:a="http://schemas.openxmlformats.org/drawingml/2006/main">
            <a:r>
              <a:t>      },</a:t>
            </a:r>
          </a:p>
          <a:p xmlns:a="http://schemas.openxmlformats.org/drawingml/2006/main">
            <a:r>
              <a:t>      {</a:t>
            </a:r>
          </a:p>
          <a:p xmlns:a="http://schemas.openxmlformats.org/drawingml/2006/main">
            <a:r>
              <a:t>        "title": "GOV.UK 자료 검색",</a:t>
            </a:r>
          </a:p>
          <a:p xmlns:a="http://schemas.openxmlformats.org/drawingml/2006/main">
            <a:r>
              <a:t>        "input": "질문·의도",</a:t>
            </a:r>
          </a:p>
          <a:p xmlns:a="http://schemas.openxmlformats.org/drawingml/2006/main">
            <a:r>
              <a:t>        "process": "질문 처리·검색·Claude 응답의 조정",</a:t>
            </a:r>
          </a:p>
          <a:p xmlns:a="http://schemas.openxmlformats.org/drawingml/2006/main">
            <a:r>
              <a:t>        "output": "공식 문서 조각"</a:t>
            </a:r>
          </a:p>
          <a:p xmlns:a="http://schemas.openxmlformats.org/drawingml/2006/main">
            <a:r>
              <a:t>      },</a:t>
            </a:r>
          </a:p>
          <a:p xmlns:a="http://schemas.openxmlformats.org/drawingml/2006/main">
            <a:r>
              <a:t>      {</a:t>
            </a:r>
          </a:p>
          <a:p xmlns:a="http://schemas.openxmlformats.org/drawingml/2006/main">
            <a:r>
              <a:t>        "title": "근거 기반 응답",</a:t>
            </a:r>
          </a:p>
          <a:p xmlns:a="http://schemas.openxmlformats.org/drawingml/2006/main">
            <a:r>
              <a:t>        "input": "공식 문서 조각",</a:t>
            </a:r>
          </a:p>
          <a:p xmlns:a="http://schemas.openxmlformats.org/drawingml/2006/main">
            <a:r>
              <a:t>        "process": "질문 분류·응답 품질 평가",</a:t>
            </a:r>
          </a:p>
          <a:p xmlns:a="http://schemas.openxmlformats.org/drawingml/2006/main">
            <a:r>
              <a:t>        "output": "출처 포함 답변"</a:t>
            </a:r>
          </a:p>
          <a:p xmlns:a="http://schemas.openxmlformats.org/drawingml/2006/main">
            <a:r>
              <a:t>      },</a:t>
            </a:r>
          </a:p>
          <a:p xmlns:a="http://schemas.openxmlformats.org/drawingml/2006/main">
            <a:r>
              <a:t>      {</a:t>
            </a:r>
          </a:p>
          <a:p xmlns:a="http://schemas.openxmlformats.org/drawingml/2006/main">
            <a:r>
              <a:t>        "title": "공식 안내 확인",</a:t>
            </a:r>
          </a:p>
          <a:p xmlns:a="http://schemas.openxmlformats.org/drawingml/2006/main">
            <a:r>
              <a:t>        "input": "출처 포함 답변",</a:t>
            </a:r>
          </a:p>
          <a:p xmlns:a="http://schemas.openxmlformats.org/drawingml/2006/main">
            <a:r>
              <a:t>        "process": "출처가 있는 답변과 공식 안내 페이지 제공",</a:t>
            </a:r>
          </a:p>
          <a:p xmlns:a="http://schemas.openxmlformats.org/drawingml/2006/main">
            <a:r>
              <a:t>        "output": "원문·공식 서비스"</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"신청 방법을 질문하고 근거 안내와 해당 공식 페이지 확인",</a:t>
            </a:r>
          </a:p>
          <a:p xmlns:a="http://schemas.openxmlformats.org/drawingml/2006/main">
            <a:r>
              <a:t>      "exception": "범위 밖 질문·상충 안내·개인 업무의 실행 요청",</a:t>
            </a:r>
          </a:p>
          <a:p xmlns:a="http://schemas.openxmlformats.org/drawingml/2006/main">
            <a:r>
              <a:t>      "evidence": "정답 안내 페이지·근거 문단·응답 보류·처리시간 대조",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"국민·GOV.UK 운영팀",</a:t>
            </a:r>
          </a:p>
          <a:p xmlns:a="http://schemas.openxmlformats.org/drawingml/2006/main">
            <a:r>
              <a:t>          "processing": "앱 질문과 이전 대화의 문맥 구성",</a:t>
            </a:r>
          </a:p>
          <a:p xmlns:a="http://schemas.openxmlformats.org/drawingml/2006/main">
            <a:r>
              <a:t>          "output": "질문·의도"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"OpenSearch·품질 분석 기록",</a:t>
            </a:r>
          </a:p>
          <a:p xmlns:a="http://schemas.openxmlformats.org/drawingml/2006/main">
            <a:r>
              <a:t>          "processing": "공개 콘텐츠 선별·벡터화·OpenSearch 저장",</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"질문·의도",</a:t>
            </a:r>
          </a:p>
          <a:p xmlns:a="http://schemas.openxmlformats.org/drawingml/2006/main">
            <a:r>
              <a:t>          "processing": "질문 처리·검색·Claude 응답의 조정",</a:t>
            </a:r>
          </a:p>
          <a:p xmlns:a="http://schemas.openxmlformats.org/drawingml/2006/main">
            <a:r>
              <a:t>          "output": "출처 포함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"출처 포함 답변",</a:t>
            </a:r>
          </a:p>
          <a:p xmlns:a="http://schemas.openxmlformats.org/drawingml/2006/main">
            <a:r>
              <a:t>          "processing": "출처가 있는 답변과 공식 안내 페이지 제공",</a:t>
            </a:r>
          </a:p>
          <a:p xmlns:a="http://schemas.openxmlformats.org/drawingml/2006/main">
            <a:r>
              <a:t>          "output": "원문·공식 서비스"</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"관리 도구·BigQuery 기반 품질 분석",</a:t>
            </a:r>
          </a:p>
          <a:p xmlns:a="http://schemas.openxmlformats.org/drawingml/2006/main">
            <a:r>
              <a:t>          "output": "정답 안내 페이지·근거 문단·응답 보류·처리시간 대조"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"관리 도구·BigQuery 기반 품질 분석",</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"S06",</a:t>
            </a:r>
          </a:p>
          <a:p xmlns:a="http://schemas.openxmlformats.org/drawingml/2006/main">
            <a:r>
              <a:t>        "title": "GDS · GOV.UK Chat 이용자 실증",</a:t>
            </a:r>
          </a:p>
          <a:p xmlns:a="http://schemas.openxmlformats.org/drawingml/2006/main">
            <a:r>
              <a:t>        "url": "https://insidegovuk.blog.gov.uk/2026/03/16/5-things-we-learned-testing-gov-uk-chat-an-ai-assistant-for-government/",</a:t>
            </a:r>
          </a:p>
          <a:p xmlns:a="http://schemas.openxmlformats.org/drawingml/2006/main">
            <a:r>
              <a:t>        "published": "2026-03-16",</a:t>
            </a:r>
          </a:p>
          <a:p xmlns:a="http://schemas.openxmlformats.org/drawingml/2006/main">
            <a:r>
              <a:t>        "level": "정부 실증 보고",</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"id": "S07",</a:t>
            </a:r>
          </a:p>
          <a:p xmlns:a="http://schemas.openxmlformats.org/drawingml/2006/main">
            <a:r>
              <a:t>        "title": "DSIT · GOV.UK Chat 알고리즘 공개 기록",</a:t>
            </a:r>
          </a:p>
          <a:p xmlns:a="http://schemas.openxmlformats.org/drawingml/2006/main">
            <a:r>
              <a:t>        "url": "https://www.gov.uk/algorithmic-transparency-records/dsit-gov-dot-uk-chat",</a:t>
            </a:r>
          </a:p>
          <a:p xmlns:a="http://schemas.openxmlformats.org/drawingml/2006/main">
            <a:r>
              <a:t>        "published": "2025-10-07",</a:t>
            </a:r>
          </a:p>
          <a:p xmlns:a="http://schemas.openxmlformats.org/drawingml/2006/main">
            <a:r>
              <a:t>        "level": "정부 기술·책임 공개",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"공식 서비스 목록·정확도·수행 경계의 명시",</a:t>
            </a:r>
          </a:p>
          <a:p xmlns:a="http://schemas.openxmlformats.org/drawingml/2006/main">
            <a:r>
              <a:t>    "local": "TS 공개 서비스 카탈로그와 소관 부서 연결 / 메뉴를 유지한 프롬프트·음성 진입",</a:t>
            </a:r>
          </a:p>
          <a:p xmlns:a="http://schemas.openxmlformats.org/drawingml/2006/main">
            <a:r>
              <a:t>    "sourceDetail": null,</a:t>
            </a:r>
          </a:p>
          <a:p xmlns:a="http://schemas.openxmlformats.org/drawingml/2006/main">
            <a:r>
              <a:t>    "narrative": [</a:t>
            </a:r>
          </a:p>
          <a:p xmlns:a="http://schemas.openxmlformats.org/drawingml/2006/main">
            <a:r>
              <a:t>      "정부 안내 페이지를 이용자가 직접 탐색하는 과정에 자연어 질의 접점을 추가한 사례. 질문에 대한 설명과 실제 공공서비스 신청은 별도 단계이며 원문·공식 서비스로의 이동이 중요한 완료조건.",</a:t>
            </a:r>
          </a:p>
          <a:p xmlns:a="http://schemas.openxmlformats.org/drawingml/2006/main">
            <a:r>
              <a:t>      "공개 기술기록의 Rails·Claude/Bedrock·OpenSearch·BigQuery를 기준으로 콘텐츠 준비, 질의 검색, 응답 생성, 품질 관측을 구분. 2023년 파일럿 설계와 2025년 공개 기술기록은 판본이 다른 자료로 취급.",</a:t>
            </a:r>
          </a:p>
          <a:p xmlns:a="http://schemas.openxmlformats.org/drawingml/2006/main">
            <a:r>
              <a:t>      "CCK에서는 TS 메뉴를 없애기보다 질문의 소관·지역·자격을 정리하고 검증된 메뉴에 연결하는 방식으로 현지화. 근거 없음·범위 밖 질의·느린 응답·틀린 신청 경로를 별도 과업으로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"GOV.UK 앱 질의",</a:t>
            </a:r>
          </a:p>
          <a:p xmlns:a="http://schemas.openxmlformats.org/drawingml/2006/main">
            <a:r>
              <a:t>          "layer": "이용 접점",</a:t>
            </a:r>
          </a:p>
          <a:p xmlns:a="http://schemas.openxmlformats.org/drawingml/2006/main">
            <a:r>
              <a:t>          "detail": "국민·GOV.UK 운영팀",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"질문·대화 문맥",</a:t>
            </a:r>
          </a:p>
          <a:p xmlns:a="http://schemas.openxmlformats.org/drawingml/2006/main">
            <a:r>
              <a:t>          "layer": "업무 문맥",</a:t>
            </a:r>
          </a:p>
          <a:p xmlns:a="http://schemas.openxmlformats.org/drawingml/2006/main">
            <a:r>
              <a:t>          "detail": "앱 질문과 이전 대화의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"OpenSearch 검색",</a:t>
            </a:r>
          </a:p>
          <a:p xmlns:a="http://schemas.openxmlformats.org/drawingml/2006/main">
            <a:r>
              <a:t>          "layer": "자료 조회",</a:t>
            </a:r>
          </a:p>
          <a:p xmlns:a="http://schemas.openxmlformats.org/drawingml/2006/main">
            <a:r>
              <a:t>          "detail": "질문·의도",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"Claude / Bedrock",</a:t>
            </a:r>
          </a:p>
          <a:p xmlns:a="http://schemas.openxmlformats.org/drawingml/2006/main">
            <a:r>
              <a:t>          "layer": "핵심 처리",</a:t>
            </a:r>
          </a:p>
          <a:p xmlns:a="http://schemas.openxmlformats.org/drawingml/2006/main">
            <a:r>
              <a:t>          "detail": "질문 처리·검색·Claude 응답의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"범위·근거 검사",</a:t>
            </a:r>
          </a:p>
          <a:p xmlns:a="http://schemas.openxmlformats.org/drawingml/2006/main">
            <a:r>
              <a:t>          "layer": "결과 검증",</a:t>
            </a:r>
          </a:p>
          <a:p xmlns:a="http://schemas.openxmlformats.org/drawingml/2006/main">
            <a:r>
              <a:t>          "detail": "질문 분류·응답 품질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원문 확인",</a:t>
            </a:r>
          </a:p>
          <a:p xmlns:a="http://schemas.openxmlformats.org/drawingml/2006/main">
            <a:r>
              <a:t>          "layer": "사람 확인",</a:t>
            </a:r>
          </a:p>
          <a:p xmlns:a="http://schemas.openxmlformats.org/drawingml/2006/main">
            <a:r>
              <a:t>          "detail": "신청 방법을 질문하고 근거 안내와 해당 공식 페이지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서비스 연결",</a:t>
            </a:r>
          </a:p>
          <a:p xmlns:a="http://schemas.openxmlformats.org/drawingml/2006/main">
            <a:r>
              <a:t>          "layer": "업무 연결",</a:t>
            </a:r>
          </a:p>
          <a:p xmlns:a="http://schemas.openxmlformats.org/drawingml/2006/main">
            <a:r>
              <a:t>          "detail": "출처가 있는 답변과 공식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"BigQuery 품질 분석",</a:t>
            </a:r>
          </a:p>
          <a:p xmlns:a="http://schemas.openxmlformats.org/drawingml/2006/main">
            <a:r>
              <a:t>          "layer": "운영 관측",</a:t>
            </a:r>
          </a:p>
          <a:p xmlns:a="http://schemas.openxmlformats.org/drawingml/2006/main">
            <a:r>
              <a:t>          "detail": "관리 도구·BigQuery 기반 품질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"GOV.UK 콘텐츠",</a:t>
            </a:r>
          </a:p>
          <a:p xmlns:a="http://schemas.openxmlformats.org/drawingml/2006/main">
            <a:r>
              <a:t>          "layer": "데이터 원천",</a:t>
            </a:r>
          </a:p>
          <a:p xmlns:a="http://schemas.openxmlformats.org/drawingml/2006/main">
            <a:r>
              <a:t>          "detail": "OpenSearch·품질 분석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"선별·청킹·벡터화",</a:t>
            </a:r>
          </a:p>
          <a:p xmlns:a="http://schemas.openxmlformats.org/drawingml/2006/main">
            <a:r>
              <a:t>          "layer": "준비·갱신",</a:t>
            </a:r>
          </a:p>
          <a:p xmlns:a="http://schemas.openxmlformats.org/drawingml/2006/main">
            <a:r>
              <a:t>          "detail": "공개 콘텐츠 선별·벡터화·OpenSearch 저장",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"OpenSearch 색인",</a:t>
            </a:r>
          </a:p>
          <a:p xmlns:a="http://schemas.openxmlformats.org/drawingml/2006/main">
            <a:r>
              <a:t>          "layer": "상태·지식 저장",</a:t>
            </a:r>
          </a:p>
          <a:p xmlns:a="http://schemas.openxmlformats.org/drawingml/2006/main">
            <a:r>
              <a:t>          "detail": "정답 안내 페이지·근거 문단·응답 보류·처리시간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 범위·안전정책",</a:t>
            </a:r>
          </a:p>
          <a:p xmlns:a="http://schemas.openxmlformats.org/drawingml/2006/main">
            <a:r>
              <a:t>          "layer": "권한·정책",</a:t>
            </a:r>
          </a:p>
          <a:p xmlns:a="http://schemas.openxmlformats.org/drawingml/2006/main">
            <a:r>
              <a:t>          "detail": "범위 밖 질문·상충 안내·개인 업무의 실행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"품질 로그"</a:t>
            </a:r>
          </a:p>
          <a:p xmlns:a="http://schemas.openxmlformats.org/drawingml/2006/main">
            <a:r>
              <a:t>          }</a:t>
            </a:r>
          </a:p>
          <a:p xmlns:a="http://schemas.openxmlformats.org/drawingml/2006/main">
            <a:r>
              <a:t>        ],</a:t>
            </a:r>
          </a:p>
          <a:p xmlns:a="http://schemas.openxmlformats.org/drawingml/2006/main">
            <a:r>
              <a:t>        "summary": "질문 분류 → GOV.UK 자료 검색 → 근거 기반 응답 → 공식 안내 확인"</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"OpenSearch·품질 분석 기록",</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"앱 질문과 이전 대화의 문맥 구성",</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"정답 안내 페이지·근거 문단·응답 보류·처리시간 대조",</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"공식 문서 조각",</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"출처 포함 답변",</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"ATRS 2025-10-07",</a:t>
            </a:r>
          </a:p>
          <a:p xmlns:a="http://schemas.openxmlformats.org/drawingml/2006/main">
            <a:r>
              <a:t>        "extracted": "Rails·Claude/Bedrock·OpenSearch·BigQuery 공개 구성",</a:t>
            </a:r>
          </a:p>
          <a:p xmlns:a="http://schemas.openxmlformats.org/drawingml/2006/main">
            <a:r>
              <a:t>        "extension": "질문·검색·근거·원문 이동의 추적 ID 연결"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"AX06",</a:t>
            </a:r>
          </a:p>
          <a:p xmlns:a="http://schemas.openxmlformats.org/drawingml/2006/main">
            <a:r>
              <a:t>          "path": "assets/casebook-sources/AX06-01.png",</a:t>
            </a:r>
          </a:p>
          <a:p xmlns:a="http://schemas.openxmlformats.org/drawingml/2006/main">
            <a:r>
              <a:t>          "title": "GOV.UK Chat 2025년 공개 베타 구성",</a:t>
            </a:r>
          </a:p>
          <a:p xmlns:a="http://schemas.openxmlformats.org/drawingml/2006/main">
            <a:r>
              <a:t>          "status": "영국 정부 ATRS 공식 C4 아키텍처",</a:t>
            </a:r>
          </a:p>
          <a:p xmlns:a="http://schemas.openxmlformats.org/drawingml/2006/main">
            <a:r>
              <a:t>          "caption": "앱·인증·Rails·Bedrock·OpenSearch·PostgreSQL·BigQuery의 운영 경계",</a:t>
            </a:r>
          </a:p>
          <a:p xmlns:a="http://schemas.openxmlformats.org/drawingml/2006/main">
            <a:r>
              <a:t>          "locator": "DSIT ATRS 2025-10-07 / 4.1.1 System Architecture / August 2025 public beta",</a:t>
            </a:r>
          </a:p>
          <a:p xmlns:a="http://schemas.openxmlformats.org/drawingml/2006/main">
            <a:r>
              <a:t>          "sourceUrl": "https://www.gov.uk/algorithmic-transparency-records/dsit-gov-dot-uk-chat",</a:t>
            </a:r>
          </a:p>
          <a:p xmlns:a="http://schemas.openxmlformats.org/drawingml/2006/main">
            <a:r>
              <a:t>          "checked": "2026-10-16",</a:t>
            </a:r>
          </a:p>
          <a:p xmlns:a="http://schemas.openxmlformats.org/drawingml/2006/main">
            <a:r>
              <a:t>          "sha256": "8efe82dfdfa8df7ee5312dd13369be76aaf53cb39df42957cad9be1de605fc25",</a:t>
            </a:r>
          </a:p>
          <a:p xmlns:a="http://schemas.openxmlformats.org/drawingml/2006/main">
            <a:r>
              <a:t>          "explanation": {</a:t>
            </a:r>
          </a:p>
          <a:p xmlns:a="http://schemas.openxmlformats.org/drawingml/2006/main">
            <a:r>
              <a:t>            "read": "영국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a:t>
            </a:r>
          </a:p>
          <a:p xmlns:a="http://schemas.openxmlformats.org/drawingml/2006/main">
            <a:r>
              <a:t>            "requirements": [],</a:t>
            </a:r>
          </a:p>
          <a:p xmlns:a="http://schemas.openxmlformats.org/drawingml/2006/main">
            <a:r>
              <a:t>            "connection": "TS 대민 서비스에서는 로그인·공개 콘텐츠·대화 생성·품질 분석의 경계를 구분하고, 검색 원문과 응답·로그의 식별자 및 보존 정책을 별도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"path": "assets/casebook-sources/AX06-02.png",</a:t>
            </a:r>
          </a:p>
          <a:p xmlns:a="http://schemas.openxmlformats.org/drawingml/2006/main">
            <a:r>
              <a:t>          "title": "GOV.UK Chat 초기 파일럿 구성",</a:t>
            </a:r>
          </a:p>
          <a:p xmlns:a="http://schemas.openxmlformats.org/drawingml/2006/main">
            <a:r>
              <a:t>          "status": "영국 정부 개발문서 초기 설계도",</a:t>
            </a:r>
          </a:p>
          <a:p xmlns:a="http://schemas.openxmlformats.org/drawingml/2006/main">
            <a:r>
              <a:t>          "caption": "2023년 파일럿의 Rails·Redis·PostgreSQL·OpenAI·OpenSearch 계획. 2025년 운영 구성과 구분",</a:t>
            </a:r>
          </a:p>
          <a:p xmlns:a="http://schemas.openxmlformats.org/drawingml/2006/main">
            <a:r>
              <a:t>          "locator": "govuk-chat ADR-0001 / Pilot Technical Architecture",</a:t>
            </a:r>
          </a:p>
          <a:p xmlns:a="http://schemas.openxmlformats.org/drawingml/2006/main">
            <a:r>
              <a:t>          "sourceUrl": "https://docs.publishing.service.gov.uk/repos/govuk-chat/adr/0001-pilot-technical-architecture.html",</a:t>
            </a:r>
          </a:p>
          <a:p xmlns:a="http://schemas.openxmlformats.org/drawingml/2006/main">
            <a:r>
              <a:t>          "checked": "2026-10-16",</a:t>
            </a:r>
          </a:p>
          <a:p xmlns:a="http://schemas.openxmlformats.org/drawingml/2006/main">
            <a:r>
              <a:t>          "sha256": "220db41f02597aff9a66bca8744a6772cdc9190c34324538f7862519fb434fc2",</a:t>
            </a:r>
          </a:p>
          <a:p xmlns:a="http://schemas.openxmlformats.org/drawingml/2006/main">
            <a:r>
              <a:t>          "explanation": {</a:t>
            </a:r>
          </a:p>
          <a:p xmlns:a="http://schemas.openxmlformats.org/drawingml/2006/main">
            <a:r>
              <a:t>            "read": "GOV.UK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a:t>
            </a:r>
          </a:p>
          <a:p xmlns:a="http://schemas.openxmlformats.org/drawingml/2006/main">
            <a:r>
              <a:t>            "requirements": [],</a:t>
            </a:r>
          </a:p>
          <a:p xmlns:a="http://schemas.openxmlformats.org/drawingml/2006/main">
            <a:r>
              <a:t>            "connection": "TS 고도화 시 파일럿과 운영 구성의 차이를 사례로 삼아 모델·인증·색인 교체 가능성을 인터페이스와 운영 이력에 반영한다."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"범위 밖 질문·상충 안내·개인 업무의 실행 요청",</a:t>
            </a:r>
          </a:p>
          <a:p xmlns:a="http://schemas.openxmlformats.org/drawingml/2006/main">
            <a:r>
              <a:t>        "hold": "질문 분류·응답 품질 평가",</a:t>
            </a:r>
          </a:p>
          <a:p xmlns:a="http://schemas.openxmlformats.org/drawingml/2006/main">
            <a:r>
              <a:t>        "recovery": "관리 도구·BigQuery 기반 품질 분석",</a:t>
            </a:r>
          </a:p>
          <a:p xmlns:a="http://schemas.openxmlformats.org/drawingml/2006/main">
            <a:r>
              <a:t>        "evidence": "정답 안내 페이지·근거 문단·응답 보류·처리시간 대조"</a:t>
            </a:r>
          </a:p>
          <a:p xmlns:a="http://schemas.openxmlformats.org/drawingml/2006/main">
            <a:r>
              <a:t>      },</a:t>
            </a:r>
          </a:p>
          <a:p xmlns:a="http://schemas.openxmlformats.org/drawingml/2006/main">
            <a:r>
              <a:t>      "data": {</a:t>
            </a:r>
          </a:p>
          <a:p xmlns:a="http://schemas.openxmlformats.org/drawingml/2006/main">
            <a:r>
              <a:t>        "source": "OpenSearch·품질 분석 기록",</a:t>
            </a:r>
          </a:p>
          <a:p xmlns:a="http://schemas.openxmlformats.org/drawingml/2006/main">
            <a:r>
              <a:t>        "prepare": "공개 콘텐츠 선별·벡터화·OpenSearch 저장",</a:t>
            </a:r>
          </a:p>
          <a:p xmlns:a="http://schemas.openxmlformats.org/drawingml/2006/main">
            <a:r>
              <a:t>        "output": "질문·의도",</a:t>
            </a:r>
          </a:p>
          <a:p xmlns:a="http://schemas.openxmlformats.org/drawingml/2006/main">
            <a:r>
              <a:t>        "refresh": "관리 도구·BigQuery 기반 품질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"AX06",</a:t>
            </a:r>
          </a:p>
          <a:p xmlns:a="http://schemas.openxmlformats.org/drawingml/2006/main">
            <a:r>
              <a:t>    "success": [</a:t>
            </a:r>
          </a:p>
          <a:p xmlns:a="http://schemas.openxmlformats.org/drawingml/2006/main">
            <a:r>
              <a:t>      "공식 안내 자료에 한정한 검색",</a:t>
            </a:r>
          </a:p>
          <a:p xmlns:a="http://schemas.openxmlformats.org/drawingml/2006/main">
            <a:r>
              <a:t>      "출처 링크와 기존 탐색 경로 병행"</a:t>
            </a:r>
          </a:p>
          <a:p xmlns:a="http://schemas.openxmlformats.org/drawingml/2006/main">
            <a:r>
              <a:t>    ],</a:t>
            </a:r>
          </a:p>
          <a:p xmlns:a="http://schemas.openxmlformats.org/drawingml/2006/main">
            <a:r>
              <a:t>    "risks": [</a:t>
            </a:r>
          </a:p>
          <a:p xmlns:a="http://schemas.openxmlformats.org/drawingml/2006/main">
            <a:r>
              <a:t>      "업무 범위 밖 질문",</a:t>
            </a:r>
          </a:p>
          <a:p xmlns:a="http://schemas.openxmlformats.org/drawingml/2006/main">
            <a:r>
              <a:t>      "응답속도·안내와 실제 처리의 간극"</a:t>
            </a:r>
          </a:p>
          <a:p xmlns:a="http://schemas.openxmlformats.org/drawingml/2006/main">
            <a:r>
              <a:t>    ],</a:t>
            </a:r>
          </a:p>
          <a:p xmlns:a="http://schemas.openxmlformats.org/drawingml/2006/main">
            <a:r>
              <a:t>    "architecture": [</a:t>
            </a:r>
          </a:p>
          <a:p xmlns:a="http://schemas.openxmlformats.org/drawingml/2006/main">
            <a:r>
              <a:t>      "GOV.UK 앱",</a:t>
            </a:r>
          </a:p>
          <a:p xmlns:a="http://schemas.openxmlformats.org/drawingml/2006/main">
            <a:r>
              <a:t>      "Rails·Claude / Bedrock",</a:t>
            </a:r>
          </a:p>
          <a:p xmlns:a="http://schemas.openxmlformats.org/drawingml/2006/main">
            <a:r>
              <a:t>      "OpenSearch·품질 분석 기록",</a:t>
            </a:r>
          </a:p>
          <a:p xmlns:a="http://schemas.openxmlformats.org/drawingml/2006/main">
            <a:r>
              <a:t>      "이용자·운영자"</a:t>
            </a:r>
          </a:p>
          <a:p xmlns:a="http://schemas.openxmlformats.org/drawingml/2006/main">
            <a:r>
              <a:t>    ],</a:t>
            </a:r>
          </a:p>
          <a:p xmlns:a="http://schemas.openxmlformats.org/drawingml/2006/main">
            <a:r>
              <a:t>    "transfers": [</a:t>
            </a:r>
          </a:p>
          <a:p xmlns:a="http://schemas.openxmlformats.org/drawingml/2006/main">
            <a:r>
              <a:t>      "질문·의도",</a:t>
            </a:r>
          </a:p>
          <a:p xmlns:a="http://schemas.openxmlformats.org/drawingml/2006/main">
            <a:r>
              <a:t>      "공식 문서 조각",</a:t>
            </a:r>
          </a:p>
          <a:p xmlns:a="http://schemas.openxmlformats.org/drawingml/2006/main">
            <a:r>
              <a:t>      "출처 포함 답변",</a:t>
            </a:r>
          </a:p>
          <a:p xmlns:a="http://schemas.openxmlformats.org/drawingml/2006/main">
            <a:r>
              <a:t>      "원문·공식 서비스"</a:t>
            </a:r>
          </a:p>
          <a:p xmlns:a="http://schemas.openxmlformats.org/drawingml/2006/main">
            <a:r>
              <a:t>    ],</a:t>
            </a:r>
          </a:p>
          <a:p xmlns:a="http://schemas.openxmlformats.org/drawingml/2006/main">
            <a:r>
              <a:t>    "control": "질문 분류·응답 품질 평가",</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GDS · GOV.UK Chat 이용자 실증 https://insidegovuk.blog.gov.uk/2026/03/16/5-things-we-learned-testing-gov-uk-chat-an-ai-assistant-for-government/</a:t>
            </a:r>
          </a:p>
          <a:p xmlns:a="http://schemas.openxmlformats.org/drawingml/2006/main">
            <a:r>
              <a:t>DSIT · GOV.UK Chat 알고리즘 공개 기록 https://www.gov.uk/algorithmic-transparency-records/dsit-gov-dot-uk-chat</a:t>
            </a:r>
          </a:p>
          <a:p xmlns:a="http://schemas.openxmlformats.org/drawingml/2006/main">
            <a:r>
              <a:t>홈페이지 https://heen1987-ops.github.io/TS-business-Plan-001/index.html?view=casebook&amp;case=AX06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"AX06",</a:t>
            </a:r>
          </a:p>
          <a:p xmlns:a="http://schemas.openxmlformats.org/drawingml/2006/main">
            <a:r>
              <a:t>    "title": "GOV.UK Chat",</a:t>
            </a:r>
          </a:p>
          <a:p xmlns:a="http://schemas.openxmlformats.org/drawingml/2006/main">
            <a:r>
              <a:t>    "region": "해외",</a:t>
            </a:r>
          </a:p>
          <a:p xmlns:a="http://schemas.openxmlformats.org/drawingml/2006/main">
            <a:r>
              <a:t>    "country": "영국",</a:t>
            </a:r>
          </a:p>
          <a:p xmlns:a="http://schemas.openxmlformats.org/drawingml/2006/main">
            <a:r>
              <a:t>    "result": "혼합",</a:t>
            </a:r>
          </a:p>
          <a:p xmlns:a="http://schemas.openxmlformats.org/drawingml/2006/main">
            <a:r>
              <a:t>    "kind": "정부 안내 RAG 실증",</a:t>
            </a:r>
          </a:p>
          <a:p xmlns:a="http://schemas.openxmlformats.org/drawingml/2006/main">
            <a:r>
              <a:t>    "period": "2025 기술 기록 / 2026 실증",</a:t>
            </a:r>
          </a:p>
          <a:p xmlns:a="http://schemas.openxmlformats.org/drawingml/2006/main">
            <a:r>
              <a:t>    "sources": [</a:t>
            </a:r>
          </a:p>
          <a:p xmlns:a="http://schemas.openxmlformats.org/drawingml/2006/main">
            <a:r>
              <a:t>      "S06",</a:t>
            </a:r>
          </a:p>
          <a:p xmlns:a="http://schemas.openxmlformats.org/drawingml/2006/main">
            <a:r>
              <a:t>      "S07"</a:t>
            </a:r>
          </a:p>
          <a:p xmlns:a="http://schemas.openxmlformats.org/drawingml/2006/main">
            <a:r>
              <a:t>    ],</a:t>
            </a:r>
          </a:p>
          <a:p xmlns:a="http://schemas.openxmlformats.org/drawingml/2006/main">
            <a:r>
              <a:t>    "keywords": [</a:t>
            </a:r>
          </a:p>
          <a:p xmlns:a="http://schemas.openxmlformats.org/drawingml/2006/main">
            <a:r>
              <a:t>      "민원",</a:t>
            </a:r>
          </a:p>
          <a:p xmlns:a="http://schemas.openxmlformats.org/drawingml/2006/main">
            <a:r>
              <a:t>      "공공정보",</a:t>
            </a:r>
          </a:p>
          <a:p xmlns:a="http://schemas.openxmlformats.org/drawingml/2006/main">
            <a:r>
              <a:t>      "자연어 탐색",</a:t>
            </a:r>
          </a:p>
          <a:p xmlns:a="http://schemas.openxmlformats.org/drawingml/2006/main">
            <a:r>
              <a:t>      "서비스 접근"</a:t>
            </a:r>
          </a:p>
          <a:p xmlns:a="http://schemas.openxmlformats.org/drawingml/2006/main">
            <a:r>
              <a:t>    ],</a:t>
            </a:r>
          </a:p>
          <a:p xmlns:a="http://schemas.openxmlformats.org/drawingml/2006/main">
            <a:r>
              <a:t>    "fact": "iOS 실증 641명·4주·2,670개 질문; 안내 편의와 응답속도·업무 범위의 개선 과제 확인",</a:t>
            </a:r>
          </a:p>
          <a:p xmlns:a="http://schemas.openxmlformats.org/drawingml/2006/main">
            <a:r>
              <a:t>    "limit": "공개 안내 검색 범위 · 개인 업무 처리와 담당자 인계는 당시 지원·개선 범위 구분",</a:t>
            </a:r>
          </a:p>
          <a:p xmlns:a="http://schemas.openxmlformats.org/drawingml/2006/main">
            <a:r>
              <a:t>    "flow": [</a:t>
            </a:r>
          </a:p>
          <a:p xmlns:a="http://schemas.openxmlformats.org/drawingml/2006/main">
            <a:r>
              <a:t>      "질문 분류",</a:t>
            </a:r>
          </a:p>
          <a:p xmlns:a="http://schemas.openxmlformats.org/drawingml/2006/main">
            <a:r>
              <a:t>      "GOV.UK 자료 검색",</a:t>
            </a:r>
          </a:p>
          <a:p xmlns:a="http://schemas.openxmlformats.org/drawingml/2006/main">
            <a:r>
              <a:t>      "근거 기반 응답",</a:t>
            </a:r>
          </a:p>
          <a:p xmlns:a="http://schemas.openxmlformats.org/drawingml/2006/main">
            <a:r>
              <a:t>      "공식 안내 확인"</a:t>
            </a:r>
          </a:p>
          <a:p xmlns:a="http://schemas.openxmlformats.org/drawingml/2006/main">
            <a:r>
              <a:t>    ],</a:t>
            </a:r>
          </a:p>
          <a:p xmlns:a="http://schemas.openxmlformats.org/drawingml/2006/main">
            <a:r>
              <a:t>    "flowBasis": "공개 RAG 구조와 실증 결과의 요약",</a:t>
            </a:r>
          </a:p>
          <a:p xmlns:a="http://schemas.openxmlformats.org/drawingml/2006/main">
            <a:r>
              <a:t>    "lesson": "공식 서비스 목록·정확도·수행 경계의 명시",</a:t>
            </a:r>
          </a:p>
          <a:p xmlns:a="http://schemas.openxmlformats.org/drawingml/2006/main">
            <a:r>
              <a:t>    "local": "TS 공개 서비스 카탈로그와 소관 부서 연결 / 메뉴를 유지한 프롬프트·음성 진입",</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"공개·내부 지식 분리 / 서비스 라우터 / 필수 입력 확인 / 인증·전송 연계",</a:t>
            </a:r>
          </a:p>
          <a:p xmlns:a="http://schemas.openxmlformats.org/drawingml/2006/main">
            <a:r>
              <a:t>    "test": "실제 메뉴 대비 업무 도달률·완료시간 및 잘못된 기관 안내 검증",</a:t>
            </a:r>
          </a:p>
          <a:p xmlns:a="http://schemas.openxmlformats.org/drawingml/2006/main">
            <a:r>
              <a:t>    "metric": "정확한 서비스 도달률 / 포기율 / 응답 p95"</a:t>
            </a:r>
          </a:p>
          <a:p xmlns:a="http://schemas.openxmlformats.org/drawingml/2006/main">
            <a:r>
              <a:t>  },</a:t>
            </a:r>
          </a:p>
          <a:p xmlns:a="http://schemas.openxmlformats.org/drawingml/2006/main">
            <a:r>
              <a:t>  "design": {</a:t>
            </a:r>
          </a:p>
          <a:p xmlns:a="http://schemas.openxmlformats.org/drawingml/2006/main">
            <a:r>
              <a:t>    "id": "AX06",</a:t>
            </a:r>
          </a:p>
          <a:p xmlns:a="http://schemas.openxmlformats.org/drawingml/2006/main">
            <a:r>
              <a:t>    "canonicalId": "AX06",</a:t>
            </a:r>
          </a:p>
          <a:p xmlns:a="http://schemas.openxmlformats.org/drawingml/2006/main">
            <a:r>
              <a:t>    "purpose": "공식 정부 안내를 자연어로 탐색하는 접점",</a:t>
            </a:r>
          </a:p>
          <a:p xmlns:a="http://schemas.openxmlformats.org/drawingml/2006/main">
            <a:r>
              <a:t>    "users": "국민·GOV.UK 운영팀",</a:t>
            </a:r>
          </a:p>
          <a:p xmlns:a="http://schemas.openxmlformats.org/drawingml/2006/main">
            <a:r>
              <a:t>    "scope": [</a:t>
            </a:r>
          </a:p>
          <a:p xmlns:a="http://schemas.openxmlformats.org/drawingml/2006/main">
            <a:r>
              <a:t>      "공식 지식 검색",</a:t>
            </a:r>
          </a:p>
          <a:p xmlns:a="http://schemas.openxmlformats.org/drawingml/2006/main">
            <a:r>
              <a:t>      "출처 답변",</a:t>
            </a:r>
          </a:p>
          <a:p xmlns:a="http://schemas.openxmlformats.org/drawingml/2006/main">
            <a:r>
              <a:t>      "서비스 안내"</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"GOV.UK 앱",</a:t>
            </a:r>
          </a:p>
          <a:p xmlns:a="http://schemas.openxmlformats.org/drawingml/2006/main">
            <a:r>
              <a:t>        "detail": "앱 질문과 이전 대화의 문맥 구성",</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"공식 지식 검색 / 출처 답변 / 서비스 안내",</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"Rails·Claude / Bedrock",</a:t>
            </a:r>
          </a:p>
          <a:p xmlns:a="http://schemas.openxmlformats.org/drawingml/2006/main">
            <a:r>
              <a:t>        "detail": "질문 처리·검색·Claude 응답의 조정",</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"이용자·운영자",</a:t>
            </a:r>
          </a:p>
          <a:p xmlns:a="http://schemas.openxmlformats.org/drawingml/2006/main">
            <a:r>
              <a:t>        "detail": "출처가 있는 답변과 공식 안내 페이지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"OpenSearch·품질 분석 기록",</a:t>
            </a:r>
          </a:p>
          <a:p xmlns:a="http://schemas.openxmlformats.org/drawingml/2006/main">
            <a:r>
              <a:t>        "detail": "공개 콘텐츠 선별·벡터화·OpenSearch 저장",</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"관리 도구·BigQuery 기반 품질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"질문 분류",</a:t>
            </a:r>
          </a:p>
          <a:p xmlns:a="http://schemas.openxmlformats.org/drawingml/2006/main">
            <a:r>
              <a:t>        "input": "앱 질문과 이전 대화의 문맥 구성",</a:t>
            </a:r>
          </a:p>
          <a:p xmlns:a="http://schemas.openxmlformats.org/drawingml/2006/main">
            <a:r>
              <a:t>        "process": "공개 콘텐츠 선별·벡터화·OpenSearch 저장",</a:t>
            </a:r>
          </a:p>
          <a:p xmlns:a="http://schemas.openxmlformats.org/drawingml/2006/main">
            <a:r>
              <a:t>        "output": "질문·의도"</a:t>
            </a:r>
          </a:p>
          <a:p xmlns:a="http://schemas.openxmlformats.org/drawingml/2006/main">
            <a:r>
              <a:t>      },</a:t>
            </a:r>
          </a:p>
          <a:p xmlns:a="http://schemas.openxmlformats.org/drawingml/2006/main">
            <a:r>
              <a:t>      {</a:t>
            </a:r>
          </a:p>
          <a:p xmlns:a="http://schemas.openxmlformats.org/drawingml/2006/main">
            <a:r>
              <a:t>        "title": "GOV.UK 자료 검색",</a:t>
            </a:r>
          </a:p>
          <a:p xmlns:a="http://schemas.openxmlformats.org/drawingml/2006/main">
            <a:r>
              <a:t>        "input": "질문·의도",</a:t>
            </a:r>
          </a:p>
          <a:p xmlns:a="http://schemas.openxmlformats.org/drawingml/2006/main">
            <a:r>
              <a:t>        "process": "질문 처리·검색·Claude 응답의 조정",</a:t>
            </a:r>
          </a:p>
          <a:p xmlns:a="http://schemas.openxmlformats.org/drawingml/2006/main">
            <a:r>
              <a:t>        "output": "공식 문서 조각"</a:t>
            </a:r>
          </a:p>
          <a:p xmlns:a="http://schemas.openxmlformats.org/drawingml/2006/main">
            <a:r>
              <a:t>      },</a:t>
            </a:r>
          </a:p>
          <a:p xmlns:a="http://schemas.openxmlformats.org/drawingml/2006/main">
            <a:r>
              <a:t>      {</a:t>
            </a:r>
          </a:p>
          <a:p xmlns:a="http://schemas.openxmlformats.org/drawingml/2006/main">
            <a:r>
              <a:t>        "title": "근거 기반 응답",</a:t>
            </a:r>
          </a:p>
          <a:p xmlns:a="http://schemas.openxmlformats.org/drawingml/2006/main">
            <a:r>
              <a:t>        "input": "공식 문서 조각",</a:t>
            </a:r>
          </a:p>
          <a:p xmlns:a="http://schemas.openxmlformats.org/drawingml/2006/main">
            <a:r>
              <a:t>        "process": "질문 분류·응답 품질 평가",</a:t>
            </a:r>
          </a:p>
          <a:p xmlns:a="http://schemas.openxmlformats.org/drawingml/2006/main">
            <a:r>
              <a:t>        "output": "출처 포함 답변"</a:t>
            </a:r>
          </a:p>
          <a:p xmlns:a="http://schemas.openxmlformats.org/drawingml/2006/main">
            <a:r>
              <a:t>      },</a:t>
            </a:r>
          </a:p>
          <a:p xmlns:a="http://schemas.openxmlformats.org/drawingml/2006/main">
            <a:r>
              <a:t>      {</a:t>
            </a:r>
          </a:p>
          <a:p xmlns:a="http://schemas.openxmlformats.org/drawingml/2006/main">
            <a:r>
              <a:t>        "title": "공식 안내 확인",</a:t>
            </a:r>
          </a:p>
          <a:p xmlns:a="http://schemas.openxmlformats.org/drawingml/2006/main">
            <a:r>
              <a:t>        "input": "출처 포함 답변",</a:t>
            </a:r>
          </a:p>
          <a:p xmlns:a="http://schemas.openxmlformats.org/drawingml/2006/main">
            <a:r>
              <a:t>        "process": "출처가 있는 답변과 공식 안내 페이지 제공",</a:t>
            </a:r>
          </a:p>
          <a:p xmlns:a="http://schemas.openxmlformats.org/drawingml/2006/main">
            <a:r>
              <a:t>        "output": "원문·공식 서비스"</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"신청 방법을 질문하고 근거 안내와 해당 공식 페이지 확인",</a:t>
            </a:r>
          </a:p>
          <a:p xmlns:a="http://schemas.openxmlformats.org/drawingml/2006/main">
            <a:r>
              <a:t>      "exception": "범위 밖 질문·상충 안내·개인 업무의 실행 요청",</a:t>
            </a:r>
          </a:p>
          <a:p xmlns:a="http://schemas.openxmlformats.org/drawingml/2006/main">
            <a:r>
              <a:t>      "evidence": "정답 안내 페이지·근거 문단·응답 보류·처리시간 대조",</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"국민·GOV.UK 운영팀",</a:t>
            </a:r>
          </a:p>
          <a:p xmlns:a="http://schemas.openxmlformats.org/drawingml/2006/main">
            <a:r>
              <a:t>          "processing": "앱 질문과 이전 대화의 문맥 구성",</a:t>
            </a:r>
          </a:p>
          <a:p xmlns:a="http://schemas.openxmlformats.org/drawingml/2006/main">
            <a:r>
              <a:t>          "output": "질문·의도"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"OpenSearch·품질 분석 기록",</a:t>
            </a:r>
          </a:p>
          <a:p xmlns:a="http://schemas.openxmlformats.org/drawingml/2006/main">
            <a:r>
              <a:t>          "processing": "공개 콘텐츠 선별·벡터화·OpenSearch 저장",</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"질문·의도",</a:t>
            </a:r>
          </a:p>
          <a:p xmlns:a="http://schemas.openxmlformats.org/drawingml/2006/main">
            <a:r>
              <a:t>          "processing": "질문 처리·검색·Claude 응답의 조정",</a:t>
            </a:r>
          </a:p>
          <a:p xmlns:a="http://schemas.openxmlformats.org/drawingml/2006/main">
            <a:r>
              <a:t>          "output": "출처 포함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"출처 포함 답변",</a:t>
            </a:r>
          </a:p>
          <a:p xmlns:a="http://schemas.openxmlformats.org/drawingml/2006/main">
            <a:r>
              <a:t>          "processing": "출처가 있는 답변과 공식 안내 페이지 제공",</a:t>
            </a:r>
          </a:p>
          <a:p xmlns:a="http://schemas.openxmlformats.org/drawingml/2006/main">
            <a:r>
              <a:t>          "output": "원문·공식 서비스"</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"관리 도구·BigQuery 기반 품질 분석",</a:t>
            </a:r>
          </a:p>
          <a:p xmlns:a="http://schemas.openxmlformats.org/drawingml/2006/main">
            <a:r>
              <a:t>          "output": "정답 안내 페이지·근거 문단·응답 보류·처리시간 대조"</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"관리 도구·BigQuery 기반 품질 분석",</a:t>
            </a:r>
          </a:p>
          <a:p xmlns:a="http://schemas.openxmlformats.org/drawingml/2006/main">
            <a:r>
              <a:t>    "status": "공개자료 기반 추론 설계",</a:t>
            </a:r>
          </a:p>
          <a:p xmlns:a="http://schemas.openxmlformats.org/drawingml/2006/main">
            <a:r>
              <a:t>    "basis": "공개 기술 설명 + 연결 구조 추론",</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"S06",</a:t>
            </a:r>
          </a:p>
          <a:p xmlns:a="http://schemas.openxmlformats.org/drawingml/2006/main">
            <a:r>
              <a:t>        "title": "GDS · GOV.UK Chat 이용자 실증",</a:t>
            </a:r>
          </a:p>
          <a:p xmlns:a="http://schemas.openxmlformats.org/drawingml/2006/main">
            <a:r>
              <a:t>        "url": "https://insidegovuk.blog.gov.uk/2026/03/16/5-things-we-learned-testing-gov-uk-chat-an-ai-assistant-for-government/",</a:t>
            </a:r>
          </a:p>
          <a:p xmlns:a="http://schemas.openxmlformats.org/drawingml/2006/main">
            <a:r>
              <a:t>        "published": "2026-03-16",</a:t>
            </a:r>
          </a:p>
          <a:p xmlns:a="http://schemas.openxmlformats.org/drawingml/2006/main">
            <a:r>
              <a:t>        "level": "정부 실증 보고",</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"id": "S07",</a:t>
            </a:r>
          </a:p>
          <a:p xmlns:a="http://schemas.openxmlformats.org/drawingml/2006/main">
            <a:r>
              <a:t>        "title": "DSIT · GOV.UK Chat 알고리즘 공개 기록",</a:t>
            </a:r>
          </a:p>
          <a:p xmlns:a="http://schemas.openxmlformats.org/drawingml/2006/main">
            <a:r>
              <a:t>        "url": "https://www.gov.uk/algorithmic-transparency-records/dsit-gov-dot-uk-chat",</a:t>
            </a:r>
          </a:p>
          <a:p xmlns:a="http://schemas.openxmlformats.org/drawingml/2006/main">
            <a:r>
              <a:t>        "published": "2025-10-07",</a:t>
            </a:r>
          </a:p>
          <a:p xmlns:a="http://schemas.openxmlformats.org/drawingml/2006/main">
            <a:r>
              <a:t>        "level": "정부 기술·책임 공개",</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"공식 서비스 목록·정확도·수행 경계의 명시",</a:t>
            </a:r>
          </a:p>
          <a:p xmlns:a="http://schemas.openxmlformats.org/drawingml/2006/main">
            <a:r>
              <a:t>    "local": "TS 공개 서비스 카탈로그와 소관 부서 연결 / 메뉴를 유지한 프롬프트·음성 진입",</a:t>
            </a:r>
          </a:p>
          <a:p xmlns:a="http://schemas.openxmlformats.org/drawingml/2006/main">
            <a:r>
              <a:t>    "sourceDetail": null,</a:t>
            </a:r>
          </a:p>
          <a:p xmlns:a="http://schemas.openxmlformats.org/drawingml/2006/main">
            <a:r>
              <a:t>    "narrative": [</a:t>
            </a:r>
          </a:p>
          <a:p xmlns:a="http://schemas.openxmlformats.org/drawingml/2006/main">
            <a:r>
              <a:t>      "정부 안내 페이지를 이용자가 직접 탐색하는 과정에 자연어 질의 접점을 추가한 사례. 질문에 대한 설명과 실제 공공서비스 신청은 별도 단계이며 원문·공식 서비스로의 이동이 중요한 완료조건.",</a:t>
            </a:r>
          </a:p>
          <a:p xmlns:a="http://schemas.openxmlformats.org/drawingml/2006/main">
            <a:r>
              <a:t>      "공개 기술기록의 Rails·Claude/Bedrock·OpenSearch·BigQuery를 기준으로 콘텐츠 준비, 질의 검색, 응답 생성, 품질 관측을 구분. 2023년 파일럿 설계와 2025년 공개 기술기록은 판본이 다른 자료로 취급.",</a:t>
            </a:r>
          </a:p>
          <a:p xmlns:a="http://schemas.openxmlformats.org/drawingml/2006/main">
            <a:r>
              <a:t>      "CCK에서는 TS 메뉴를 없애기보다 질문의 소관·지역·자격을 정리하고 검증된 메뉴에 연결하는 방식으로 현지화. 근거 없음·범위 밖 질의·느린 응답·틀린 신청 경로를 별도 과업으로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"GOV.UK 앱 질의",</a:t>
            </a:r>
          </a:p>
          <a:p xmlns:a="http://schemas.openxmlformats.org/drawingml/2006/main">
            <a:r>
              <a:t>          "layer": "이용 접점",</a:t>
            </a:r>
          </a:p>
          <a:p xmlns:a="http://schemas.openxmlformats.org/drawingml/2006/main">
            <a:r>
              <a:t>          "detail": "국민·GOV.UK 운영팀",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"질문·대화 문맥",</a:t>
            </a:r>
          </a:p>
          <a:p xmlns:a="http://schemas.openxmlformats.org/drawingml/2006/main">
            <a:r>
              <a:t>          "layer": "업무 문맥",</a:t>
            </a:r>
          </a:p>
          <a:p xmlns:a="http://schemas.openxmlformats.org/drawingml/2006/main">
            <a:r>
              <a:t>          "detail": "앱 질문과 이전 대화의 문맥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"OpenSearch 검색",</a:t>
            </a:r>
          </a:p>
          <a:p xmlns:a="http://schemas.openxmlformats.org/drawingml/2006/main">
            <a:r>
              <a:t>          "layer": "자료 조회",</a:t>
            </a:r>
          </a:p>
          <a:p xmlns:a="http://schemas.openxmlformats.org/drawingml/2006/main">
            <a:r>
              <a:t>          "detail": "질문·의도",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"Claude / Bedrock",</a:t>
            </a:r>
          </a:p>
          <a:p xmlns:a="http://schemas.openxmlformats.org/drawingml/2006/main">
            <a:r>
              <a:t>          "layer": "핵심 처리",</a:t>
            </a:r>
          </a:p>
          <a:p xmlns:a="http://schemas.openxmlformats.org/drawingml/2006/main">
            <a:r>
              <a:t>          "detail": "질문 처리·검색·Claude 응답의 조정",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"범위·근거 검사",</a:t>
            </a:r>
          </a:p>
          <a:p xmlns:a="http://schemas.openxmlformats.org/drawingml/2006/main">
            <a:r>
              <a:t>          "layer": "결과 검증",</a:t>
            </a:r>
          </a:p>
          <a:p xmlns:a="http://schemas.openxmlformats.org/drawingml/2006/main">
            <a:r>
              <a:t>          "detail": "질문 분류·응답 품질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 원문 확인",</a:t>
            </a:r>
          </a:p>
          <a:p xmlns:a="http://schemas.openxmlformats.org/drawingml/2006/main">
            <a:r>
              <a:t>          "layer": "사람 확인",</a:t>
            </a:r>
          </a:p>
          <a:p xmlns:a="http://schemas.openxmlformats.org/drawingml/2006/main">
            <a:r>
              <a:t>          "detail": "신청 방법을 질문하고 근거 안내와 해당 공식 페이지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"공식 서비스 연결",</a:t>
            </a:r>
          </a:p>
          <a:p xmlns:a="http://schemas.openxmlformats.org/drawingml/2006/main">
            <a:r>
              <a:t>          "layer": "업무 연결",</a:t>
            </a:r>
          </a:p>
          <a:p xmlns:a="http://schemas.openxmlformats.org/drawingml/2006/main">
            <a:r>
              <a:t>          "detail": "출처가 있는 답변과 공식 안내 페이지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"BigQuery 품질 분석",</a:t>
            </a:r>
          </a:p>
          <a:p xmlns:a="http://schemas.openxmlformats.org/drawingml/2006/main">
            <a:r>
              <a:t>          "layer": "운영 관측",</a:t>
            </a:r>
          </a:p>
          <a:p xmlns:a="http://schemas.openxmlformats.org/drawingml/2006/main">
            <a:r>
              <a:t>          "detail": "관리 도구·BigQuery 기반 품질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"GOV.UK 콘텐츠",</a:t>
            </a:r>
          </a:p>
          <a:p xmlns:a="http://schemas.openxmlformats.org/drawingml/2006/main">
            <a:r>
              <a:t>          "layer": "데이터 원천",</a:t>
            </a:r>
          </a:p>
          <a:p xmlns:a="http://schemas.openxmlformats.org/drawingml/2006/main">
            <a:r>
              <a:t>          "detail": "OpenSearch·품질 분석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"선별·청킹·벡터화",</a:t>
            </a:r>
          </a:p>
          <a:p xmlns:a="http://schemas.openxmlformats.org/drawingml/2006/main">
            <a:r>
              <a:t>          "layer": "준비·갱신",</a:t>
            </a:r>
          </a:p>
          <a:p xmlns:a="http://schemas.openxmlformats.org/drawingml/2006/main">
            <a:r>
              <a:t>          "detail": "공개 콘텐츠 선별·벡터화·OpenSearch 저장",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"OpenSearch 색인",</a:t>
            </a:r>
          </a:p>
          <a:p xmlns:a="http://schemas.openxmlformats.org/drawingml/2006/main">
            <a:r>
              <a:t>          "layer": "상태·지식 저장",</a:t>
            </a:r>
          </a:p>
          <a:p xmlns:a="http://schemas.openxmlformats.org/drawingml/2006/main">
            <a:r>
              <a:t>          "detail": "정답 안내 페이지·근거 문단·응답 보류·처리시간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"지식 범위·안전정책",</a:t>
            </a:r>
          </a:p>
          <a:p xmlns:a="http://schemas.openxmlformats.org/drawingml/2006/main">
            <a:r>
              <a:t>          "layer": "권한·정책",</a:t>
            </a:r>
          </a:p>
          <a:p xmlns:a="http://schemas.openxmlformats.org/drawingml/2006/main">
            <a:r>
              <a:t>          "detail": "범위 밖 질문·상충 안내·개인 업무의 실행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"품질 로그"</a:t>
            </a:r>
          </a:p>
          <a:p xmlns:a="http://schemas.openxmlformats.org/drawingml/2006/main">
            <a:r>
              <a:t>          }</a:t>
            </a:r>
          </a:p>
          <a:p xmlns:a="http://schemas.openxmlformats.org/drawingml/2006/main">
            <a:r>
              <a:t>        ],</a:t>
            </a:r>
          </a:p>
          <a:p xmlns:a="http://schemas.openxmlformats.org/drawingml/2006/main">
            <a:r>
              <a:t>        "summary": "질문 분류 → GOV.UK 자료 검색 → 근거 기반 응답 → 공식 안내 확인"</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"OpenSearch·품질 분석 기록",</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"앱 질문과 이전 대화의 문맥 구성",</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"정답 안내 페이지·근거 문단·응답 보류·처리시간 대조",</a:t>
            </a:r>
          </a:p>
          <a:p xmlns:a="http://schemas.openxmlformats.org/drawingml/2006/main">
            <a:r>
              <a:t>          "check": "공개 콘텐츠 선별·벡터화·OpenSearch 저장"</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"공식 문서 조각",</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"출처 포함 답변",</a:t>
            </a:r>
          </a:p>
          <a:p xmlns:a="http://schemas.openxmlformats.org/drawingml/2006/main">
            <a:r>
              <a:t>          "check": "정답 안내 페이지·근거 문단·응답 보류·처리시간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"ATRS 2025-10-07",</a:t>
            </a:r>
          </a:p>
          <a:p xmlns:a="http://schemas.openxmlformats.org/drawingml/2006/main">
            <a:r>
              <a:t>        "extracted": "Rails·Claude/Bedrock·OpenSearch·BigQuery 공개 구성",</a:t>
            </a:r>
          </a:p>
          <a:p xmlns:a="http://schemas.openxmlformats.org/drawingml/2006/main">
            <a:r>
              <a:t>        "extension": "질문·검색·근거·원문 이동의 추적 ID 연결"</a:t>
            </a:r>
          </a:p>
          <a:p xmlns:a="http://schemas.openxmlformats.org/drawingml/2006/main">
            <a:r>
              <a:t>      },</a:t>
            </a:r>
          </a:p>
          <a:p xmlns:a="http://schemas.openxmlformats.org/drawingml/2006/main">
            <a:r>
              <a:t>      "figures": [</a:t>
            </a:r>
          </a:p>
          <a:p xmlns:a="http://schemas.openxmlformats.org/drawingml/2006/main">
            <a:r>
              <a:t>        {</a:t>
            </a:r>
          </a:p>
          <a:p xmlns:a="http://schemas.openxmlformats.org/drawingml/2006/main">
            <a:r>
              <a:t>          "caseId": "AX06",</a:t>
            </a:r>
          </a:p>
          <a:p xmlns:a="http://schemas.openxmlformats.org/drawingml/2006/main">
            <a:r>
              <a:t>          "path": "assets/casebook-sources/AX06-01.png",</a:t>
            </a:r>
          </a:p>
          <a:p xmlns:a="http://schemas.openxmlformats.org/drawingml/2006/main">
            <a:r>
              <a:t>          "title": "GOV.UK Chat 2025년 공개 베타 구성",</a:t>
            </a:r>
          </a:p>
          <a:p xmlns:a="http://schemas.openxmlformats.org/drawingml/2006/main">
            <a:r>
              <a:t>          "status": "영국 정부 ATRS 공식 C4 아키텍처",</a:t>
            </a:r>
          </a:p>
          <a:p xmlns:a="http://schemas.openxmlformats.org/drawingml/2006/main">
            <a:r>
              <a:t>          "caption": "앱·인증·Rails·Bedrock·OpenSearch·PostgreSQL·BigQuery의 운영 경계",</a:t>
            </a:r>
          </a:p>
          <a:p xmlns:a="http://schemas.openxmlformats.org/drawingml/2006/main">
            <a:r>
              <a:t>          "locator": "DSIT ATRS 2025-10-07 / 4.1.1 System Architecture / August 2025 public beta",</a:t>
            </a:r>
          </a:p>
          <a:p xmlns:a="http://schemas.openxmlformats.org/drawingml/2006/main">
            <a:r>
              <a:t>          "sourceUrl": "https://www.gov.uk/algorithmic-transparency-records/dsit-gov-dot-uk-chat",</a:t>
            </a:r>
          </a:p>
          <a:p xmlns:a="http://schemas.openxmlformats.org/drawingml/2006/main">
            <a:r>
              <a:t>          "checked": "2026-10-16",</a:t>
            </a:r>
          </a:p>
          <a:p xmlns:a="http://schemas.openxmlformats.org/drawingml/2006/main">
            <a:r>
              <a:t>          "sha256": "8efe82dfdfa8df7ee5312dd13369be76aaf53cb39df42957cad9be1de605fc25",</a:t>
            </a:r>
          </a:p>
          <a:p xmlns:a="http://schemas.openxmlformats.org/drawingml/2006/main">
            <a:r>
              <a:t>          "explanation": {</a:t>
            </a:r>
          </a:p>
          <a:p xmlns:a="http://schemas.openxmlformats.org/drawingml/2006/main">
            <a:r>
              <a:t>            "read": "영국 정부 ATRS가 공개한 2025년 8월 베타의 C4 시스템 문맥도. GOV.UK 앱·AWS Cognito 인증·Rails 대화/관리 앱·Bedrock 모델·OpenSearch 검색·PostgreSQL/Redis 저장·BigQuery 품질 분석의 연결을 보여 준다. 이는 특정 시점의 공개 베타 구성이며 이후 모든 버전의 확정 배치로 일반화할 수 없다.",</a:t>
            </a:r>
          </a:p>
          <a:p xmlns:a="http://schemas.openxmlformats.org/drawingml/2006/main">
            <a:r>
              <a:t>            "requirements": [],</a:t>
            </a:r>
          </a:p>
          <a:p xmlns:a="http://schemas.openxmlformats.org/drawingml/2006/main">
            <a:r>
              <a:t>            "connection": "TS 대민 서비스에서는 로그인·공개 콘텐츠·대화 생성·품질 분석의 경계를 구분하고, 검색 원문과 응답·로그의 식별자 및 보존 정책을 별도 검수한다."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"path": "assets/casebook-sources/AX06-02.png",</a:t>
            </a:r>
          </a:p>
          <a:p xmlns:a="http://schemas.openxmlformats.org/drawingml/2006/main">
            <a:r>
              <a:t>          "title": "GOV.UK Chat 초기 파일럿 구성",</a:t>
            </a:r>
          </a:p>
          <a:p xmlns:a="http://schemas.openxmlformats.org/drawingml/2006/main">
            <a:r>
              <a:t>          "status": "영국 정부 개발문서 초기 설계도",</a:t>
            </a:r>
          </a:p>
          <a:p xmlns:a="http://schemas.openxmlformats.org/drawingml/2006/main">
            <a:r>
              <a:t>          "caption": "2023년 파일럿의 Rails·Redis·PostgreSQL·OpenAI·OpenSearch 계획. 2025년 운영 구성과 구분",</a:t>
            </a:r>
          </a:p>
          <a:p xmlns:a="http://schemas.openxmlformats.org/drawingml/2006/main">
            <a:r>
              <a:t>          "locator": "govuk-chat ADR-0001 / Pilot Technical Architecture",</a:t>
            </a:r>
          </a:p>
          <a:p xmlns:a="http://schemas.openxmlformats.org/drawingml/2006/main">
            <a:r>
              <a:t>          "sourceUrl": "https://docs.publishing.service.gov.uk/repos/govuk-chat/adr/0001-pilot-technical-architecture.html",</a:t>
            </a:r>
          </a:p>
          <a:p xmlns:a="http://schemas.openxmlformats.org/drawingml/2006/main">
            <a:r>
              <a:t>          "checked": "2026-10-16",</a:t>
            </a:r>
          </a:p>
          <a:p xmlns:a="http://schemas.openxmlformats.org/drawingml/2006/main">
            <a:r>
              <a:t>          "sha256": "220db41f02597aff9a66bca8744a6772cdc9190c34324538f7862519fb434fc2",</a:t>
            </a:r>
          </a:p>
          <a:p xmlns:a="http://schemas.openxmlformats.org/drawingml/2006/main">
            <a:r>
              <a:t>          "explanation": {</a:t>
            </a:r>
          </a:p>
          <a:p xmlns:a="http://schemas.openxmlformats.org/drawingml/2006/main">
            <a:r>
              <a:t>            "read": "GOV.UK Chat 개발 문서의 초기 파일럿 설계. 단일 Rails 코드베이스, Redis 작업 큐, PostgreSQL, OpenAI 후보 모델, OpenSearch 후보 색인, Publishing API 변경 큐를 담고 있다. 2025년 베타의 Bedrock·Cognito 구성보다 앞선 설계안이며 현재 운영 구성으로 읽으면 안 된다.",</a:t>
            </a:r>
          </a:p>
          <a:p xmlns:a="http://schemas.openxmlformats.org/drawingml/2006/main">
            <a:r>
              <a:t>            "requirements": [],</a:t>
            </a:r>
          </a:p>
          <a:p xmlns:a="http://schemas.openxmlformats.org/drawingml/2006/main">
            <a:r>
              <a:t>            "connection": "TS 고도화 시 파일럿과 운영 구성의 차이를 사례로 삼아 모델·인증·색인 교체 가능성을 인터페이스와 운영 이력에 반영한다."</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"범위 밖 질문·상충 안내·개인 업무의 실행 요청",</a:t>
            </a:r>
          </a:p>
          <a:p xmlns:a="http://schemas.openxmlformats.org/drawingml/2006/main">
            <a:r>
              <a:t>        "hold": "질문 분류·응답 품질 평가",</a:t>
            </a:r>
          </a:p>
          <a:p xmlns:a="http://schemas.openxmlformats.org/drawingml/2006/main">
            <a:r>
              <a:t>        "recovery": "관리 도구·BigQuery 기반 품질 분석",</a:t>
            </a:r>
          </a:p>
          <a:p xmlns:a="http://schemas.openxmlformats.org/drawingml/2006/main">
            <a:r>
              <a:t>        "evidence": "정답 안내 페이지·근거 문단·응답 보류·처리시간 대조"</a:t>
            </a:r>
          </a:p>
          <a:p xmlns:a="http://schemas.openxmlformats.org/drawingml/2006/main">
            <a:r>
              <a:t>      },</a:t>
            </a:r>
          </a:p>
          <a:p xmlns:a="http://schemas.openxmlformats.org/drawingml/2006/main">
            <a:r>
              <a:t>      "data": {</a:t>
            </a:r>
          </a:p>
          <a:p xmlns:a="http://schemas.openxmlformats.org/drawingml/2006/main">
            <a:r>
              <a:t>        "source": "OpenSearch·품질 분석 기록",</a:t>
            </a:r>
          </a:p>
          <a:p xmlns:a="http://schemas.openxmlformats.org/drawingml/2006/main">
            <a:r>
              <a:t>        "prepare": "공개 콘텐츠 선별·벡터화·OpenSearch 저장",</a:t>
            </a:r>
          </a:p>
          <a:p xmlns:a="http://schemas.openxmlformats.org/drawingml/2006/main">
            <a:r>
              <a:t>        "output": "질문·의도",</a:t>
            </a:r>
          </a:p>
          <a:p xmlns:a="http://schemas.openxmlformats.org/drawingml/2006/main">
            <a:r>
              <a:t>        "refresh": "관리 도구·BigQuery 기반 품질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"AX06",</a:t>
            </a:r>
          </a:p>
          <a:p xmlns:a="http://schemas.openxmlformats.org/drawingml/2006/main">
            <a:r>
              <a:t>    "success": [</a:t>
            </a:r>
          </a:p>
          <a:p xmlns:a="http://schemas.openxmlformats.org/drawingml/2006/main">
            <a:r>
              <a:t>      "공식 안내 자료에 한정한 검색",</a:t>
            </a:r>
          </a:p>
          <a:p xmlns:a="http://schemas.openxmlformats.org/drawingml/2006/main">
            <a:r>
              <a:t>      "출처 링크와 기존 탐색 경로 병행"</a:t>
            </a:r>
          </a:p>
          <a:p xmlns:a="http://schemas.openxmlformats.org/drawingml/2006/main">
            <a:r>
              <a:t>    ],</a:t>
            </a:r>
          </a:p>
          <a:p xmlns:a="http://schemas.openxmlformats.org/drawingml/2006/main">
            <a:r>
              <a:t>    "risks": [</a:t>
            </a:r>
          </a:p>
          <a:p xmlns:a="http://schemas.openxmlformats.org/drawingml/2006/main">
            <a:r>
              <a:t>      "업무 범위 밖 질문",</a:t>
            </a:r>
          </a:p>
          <a:p xmlns:a="http://schemas.openxmlformats.org/drawingml/2006/main">
            <a:r>
              <a:t>      "응답속도·안내와 실제 처리의 간극"</a:t>
            </a:r>
          </a:p>
          <a:p xmlns:a="http://schemas.openxmlformats.org/drawingml/2006/main">
            <a:r>
              <a:t>    ],</a:t>
            </a:r>
          </a:p>
          <a:p xmlns:a="http://schemas.openxmlformats.org/drawingml/2006/main">
            <a:r>
              <a:t>    "architecture": [</a:t>
            </a:r>
          </a:p>
          <a:p xmlns:a="http://schemas.openxmlformats.org/drawingml/2006/main">
            <a:r>
              <a:t>      "GOV.UK 앱",</a:t>
            </a:r>
          </a:p>
          <a:p xmlns:a="http://schemas.openxmlformats.org/drawingml/2006/main">
            <a:r>
              <a:t>      "Rails·Claude / Bedrock",</a:t>
            </a:r>
          </a:p>
          <a:p xmlns:a="http://schemas.openxmlformats.org/drawingml/2006/main">
            <a:r>
              <a:t>      "OpenSearch·품질 분석 기록",</a:t>
            </a:r>
          </a:p>
          <a:p xmlns:a="http://schemas.openxmlformats.org/drawingml/2006/main">
            <a:r>
              <a:t>      "이용자·운영자"</a:t>
            </a:r>
          </a:p>
          <a:p xmlns:a="http://schemas.openxmlformats.org/drawingml/2006/main">
            <a:r>
              <a:t>    ],</a:t>
            </a:r>
          </a:p>
          <a:p xmlns:a="http://schemas.openxmlformats.org/drawingml/2006/main">
            <a:r>
              <a:t>    "transfers": [</a:t>
            </a:r>
          </a:p>
          <a:p xmlns:a="http://schemas.openxmlformats.org/drawingml/2006/main">
            <a:r>
              <a:t>      "질문·의도",</a:t>
            </a:r>
          </a:p>
          <a:p xmlns:a="http://schemas.openxmlformats.org/drawingml/2006/main">
            <a:r>
              <a:t>      "공식 문서 조각",</a:t>
            </a:r>
          </a:p>
          <a:p xmlns:a="http://schemas.openxmlformats.org/drawingml/2006/main">
            <a:r>
              <a:t>      "출처 포함 답변",</a:t>
            </a:r>
          </a:p>
          <a:p xmlns:a="http://schemas.openxmlformats.org/drawingml/2006/main">
            <a:r>
              <a:t>      "원문·공식 서비스"</a:t>
            </a:r>
          </a:p>
          <a:p xmlns:a="http://schemas.openxmlformats.org/drawingml/2006/main">
            <a:r>
              <a:t>    ],</a:t>
            </a:r>
          </a:p>
          <a:p xmlns:a="http://schemas.openxmlformats.org/drawingml/2006/main">
            <a:r>
              <a:t>    "control": "질문 분류·응답 품질 평가",</a:t>
            </a:r>
          </a:p>
          <a:p xmlns:a="http://schemas.openxmlformats.org/drawingml/2006/main">
            <a:r>
              <a:t>    "analysis": "공개 내용에 근거한 CCK 분석",</a:t>
            </a:r>
          </a:p>
          <a:p xmlns:a="http://schemas.openxmlformats.org/drawingml/2006/main">
            <a:r>
              <a:t>    "diagramBasis": "공개 기술 설명 요약",</a:t>
            </a:r>
          </a:p>
          <a:p xmlns:a="http://schemas.openxmlformats.org/drawingml/2006/main">
            <a:r>
              <a:t>    "structureSource": {</a:t>
            </a:r>
          </a:p>
          <a:p xmlns:a="http://schemas.openxmlformats.org/drawingml/2006/main">
            <a:r>
              <a:t>      "title": "GOV.UK Chat 기술 공개 기록 · 2025-10-07",</a:t>
            </a:r>
          </a:p>
          <a:p xmlns:a="http://schemas.openxmlformats.org/drawingml/2006/main">
            <a:r>
              <a:t>      "url": "https://www.gov.uk/algorithmic-transparency-records/dsit-gov-dot-uk-chat"</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GDS · GOV.UK Chat 이용자 실증 https://insidegovuk.blog.gov.uk/2026/03/16/5-things-we-learned-testing-gov-uk-chat-an-ai-assistant-for-government/</a:t>
            </a:r>
          </a:p>
          <a:p xmlns:a="http://schemas.openxmlformats.org/drawingml/2006/main">
            <a:r>
              <a:t>DSIT · GOV.UK Chat 알고리즘 공개 기록 https://www.gov.uk/algorithmic-transparency-records/dsit-gov-dot-uk-chat</a:t>
            </a:r>
          </a:p>
          <a:p xmlns:a="http://schemas.openxmlformats.org/drawingml/2006/main">
            <a:r>
              <a:t>홈페이지 https://heen1987-ops.github.io/TS-business-Plan-001/index.html?view=casebook&amp;case=AX06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"AX07",</a:t>
            </a:r>
          </a:p>
          <a:p xmlns:a="http://schemas.openxmlformats.org/drawingml/2006/main">
            <a:r>
              <a:t>    "title": "호주 Robodebt",</a:t>
            </a:r>
          </a:p>
          <a:p xmlns:a="http://schemas.openxmlformats.org/drawingml/2006/main">
            <a:r>
              <a:t>    "region": "해외",</a:t>
            </a:r>
          </a:p>
          <a:p xmlns:a="http://schemas.openxmlformats.org/drawingml/2006/main">
            <a:r>
              <a:t>    "country": "호주",</a:t>
            </a:r>
          </a:p>
          <a:p xmlns:a="http://schemas.openxmlformats.org/drawingml/2006/main">
            <a:r>
              <a:t>    "result": "실패",</a:t>
            </a:r>
          </a:p>
          <a:p xmlns:a="http://schemas.openxmlformats.org/drawingml/2006/main">
            <a:r>
              <a:t>    "kind": "행정 자동화·책임 통제",</a:t>
            </a:r>
          </a:p>
          <a:p xmlns:a="http://schemas.openxmlformats.org/drawingml/2006/main">
            <a:r>
              <a:t>    "period": "2023 최종 조사",</a:t>
            </a:r>
          </a:p>
          <a:p xmlns:a="http://schemas.openxmlformats.org/drawingml/2006/main">
            <a:r>
              <a:t>    "sources": [</a:t>
            </a:r>
          </a:p>
          <a:p xmlns:a="http://schemas.openxmlformats.org/drawingml/2006/main">
            <a:r>
              <a:t>      "S08"</a:t>
            </a:r>
          </a:p>
          <a:p xmlns:a="http://schemas.openxmlformats.org/drawingml/2006/main">
            <a:r>
              <a:t>    ],</a:t>
            </a:r>
          </a:p>
          <a:p xmlns:a="http://schemas.openxmlformats.org/drawingml/2006/main">
            <a:r>
              <a:t>    "keywords": [</a:t>
            </a:r>
          </a:p>
          <a:p xmlns:a="http://schemas.openxmlformats.org/drawingml/2006/main">
            <a:r>
              <a:t>      "행정 판단",</a:t>
            </a:r>
          </a:p>
          <a:p xmlns:a="http://schemas.openxmlformats.org/drawingml/2006/main">
            <a:r>
              <a:t>      "적법성",</a:t>
            </a:r>
          </a:p>
          <a:p xmlns:a="http://schemas.openxmlformats.org/drawingml/2006/main">
            <a:r>
              <a:t>      "이의제기",</a:t>
            </a:r>
          </a:p>
          <a:p xmlns:a="http://schemas.openxmlformats.org/drawingml/2006/main">
            <a:r>
              <a:t>      "공정성"</a:t>
            </a:r>
          </a:p>
          <a:p xmlns:a="http://schemas.openxmlformats.org/drawingml/2006/main">
            <a:r>
              <a:t>    ],</a:t>
            </a:r>
          </a:p>
          <a:p xmlns:a="http://schemas.openxmlformats.org/drawingml/2006/main">
            <a:r>
              <a:t>    "fact": "왕립위원회 최종 조사에서 자동 결정의 법적 틀·재심 경로·데이터 교환 통제·취약계층 대응 개선 권고",</a:t>
            </a:r>
          </a:p>
          <a:p xmlns:a="http://schemas.openxmlformats.org/drawingml/2006/main">
            <a:r>
              <a:t>    "limit": "규칙 기반 행정 자동화의 실패 교훈 · 생성형 AI 사례 아님",</a:t>
            </a:r>
          </a:p>
          <a:p xmlns:a="http://schemas.openxmlformats.org/drawingml/2006/main">
            <a:r>
              <a:t>    "flow": [</a:t>
            </a:r>
          </a:p>
          <a:p xmlns:a="http://schemas.openxmlformats.org/drawingml/2006/main">
            <a:r>
              <a:t>      "기관 간 자료",</a:t>
            </a:r>
          </a:p>
          <a:p xmlns:a="http://schemas.openxmlformats.org/drawingml/2006/main">
            <a:r>
              <a:t>      "자동 산정·결정",</a:t>
            </a:r>
          </a:p>
          <a:p xmlns:a="http://schemas.openxmlformats.org/drawingml/2006/main">
            <a:r>
              <a:t>      "대상자 통지",</a:t>
            </a:r>
          </a:p>
          <a:p xmlns:a="http://schemas.openxmlformats.org/drawingml/2006/main">
            <a:r>
              <a:t>      "이의제기·재심"</a:t>
            </a:r>
          </a:p>
          <a:p xmlns:a="http://schemas.openxmlformats.org/drawingml/2006/main">
            <a:r>
              <a:t>    ],</a:t>
            </a:r>
          </a:p>
          <a:p xmlns:a="http://schemas.openxmlformats.org/drawingml/2006/main">
            <a:r>
              <a:t>    "flowBasis": "조사 권고의 대상 업무를 설명하기 위한 재구성",</a:t>
            </a:r>
          </a:p>
          <a:p xmlns:a="http://schemas.openxmlformats.org/drawingml/2006/main">
            <a:r>
              <a:t>    "lesson": "자동화 이전의 법적 근거·증빙 검증과 재심 경로",</a:t>
            </a:r>
          </a:p>
          <a:p xmlns:a="http://schemas.openxmlformats.org/drawingml/2006/main">
            <a:r>
              <a:t>    "local": "검사·지원·자격 업무의 근거 조문·증빙·전결 확인 후 담당자 판단",</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"근거·입력 검증 / 자동 확정 제한 / 이의제기·재검토 연결",</a:t>
            </a:r>
          </a:p>
          <a:p xmlns:a="http://schemas.openxmlformats.org/drawingml/2006/main">
            <a:r>
              <a:t>    "test": "누락·기간 불일치·권한 부재 시 보류 및 재심 처리 추적",</a:t>
            </a:r>
          </a:p>
          <a:p xmlns:a="http://schemas.openxmlformats.org/drawingml/2006/main">
            <a:r>
              <a:t>    "metric": "근거 누락률 / 오판 보완률 / 이의처리 시간"</a:t>
            </a:r>
          </a:p>
          <a:p xmlns:a="http://schemas.openxmlformats.org/drawingml/2006/main">
            <a:r>
              <a:t>  },</a:t>
            </a:r>
          </a:p>
          <a:p xmlns:a="http://schemas.openxmlformats.org/drawingml/2006/main">
            <a:r>
              <a:t>  "design": {</a:t>
            </a:r>
          </a:p>
          <a:p xmlns:a="http://schemas.openxmlformats.org/drawingml/2006/main">
            <a:r>
              <a:t>    "id": "AX07",</a:t>
            </a:r>
          </a:p>
          <a:p xmlns:a="http://schemas.openxmlformats.org/drawingml/2006/main">
            <a:r>
              <a:t>    "canonicalId": "AX07",</a:t>
            </a:r>
          </a:p>
          <a:p xmlns:a="http://schemas.openxmlformats.org/drawingml/2006/main">
            <a:r>
              <a:t>    "purpose": "자동 행정 산정의 근거·재심 체계 분석",</a:t>
            </a:r>
          </a:p>
          <a:p xmlns:a="http://schemas.openxmlformats.org/drawingml/2006/main">
            <a:r>
              <a:t>    "users": "행정 담당자·대상자·재심 담당",</a:t>
            </a:r>
          </a:p>
          <a:p xmlns:a="http://schemas.openxmlformats.org/drawingml/2006/main">
            <a:r>
              <a:t>    "scope": [</a:t>
            </a:r>
          </a:p>
          <a:p xmlns:a="http://schemas.openxmlformats.org/drawingml/2006/main">
            <a:r>
              <a:t>      "기관 간 자료",</a:t>
            </a:r>
          </a:p>
          <a:p xmlns:a="http://schemas.openxmlformats.org/drawingml/2006/main">
            <a:r>
              <a:t>      "산정·통지",</a:t>
            </a:r>
          </a:p>
          <a:p xmlns:a="http://schemas.openxmlformats.org/drawingml/2006/main">
            <a:r>
              <a:t>      "이의제기"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자료 교환",</a:t>
            </a:r>
          </a:p>
          <a:p xmlns:a="http://schemas.openxmlformats.org/drawingml/2006/main">
            <a:r>
              <a:t>        "detail": "자료의 대상·기간·적용 근거 대조",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"기관 간 자료 / 산정·통지 / 이의제기",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"자동 산정·통지",</a:t>
            </a:r>
          </a:p>
          <a:p xmlns:a="http://schemas.openxmlformats.org/drawingml/2006/main">
            <a:r>
              <a:t>        "detail": "불일치 자료의 자동 확정 보류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"대상자·재심 담당",</a:t>
            </a:r>
          </a:p>
          <a:p xmlns:a="http://schemas.openxmlformats.org/drawingml/2006/main">
            <a:r>
              <a:t>        "detail": "담당자 검토와 설명 가능한 통지·재심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"소득·산정 근거",</a:t>
            </a:r>
          </a:p>
          <a:p xmlns:a="http://schemas.openxmlformats.org/drawingml/2006/main">
            <a:r>
              <a:t>        "detail": "소득 등 원천자료와 적용기간 분리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"오판·이의제기 결과의 규칙 및 절차 개선",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"기관 간 자료",</a:t>
            </a:r>
          </a:p>
          <a:p xmlns:a="http://schemas.openxmlformats.org/drawingml/2006/main">
            <a:r>
              <a:t>        "input": "자료의 대상·기간·적용 근거 대조",</a:t>
            </a:r>
          </a:p>
          <a:p xmlns:a="http://schemas.openxmlformats.org/drawingml/2006/main">
            <a:r>
              <a:t>        "process": "소득 등 원천자료와 적용기간 분리 관리",</a:t>
            </a:r>
          </a:p>
          <a:p xmlns:a="http://schemas.openxmlformats.org/drawingml/2006/main">
            <a:r>
              <a:t>        "output": "기관별 소득자료"</a:t>
            </a:r>
          </a:p>
          <a:p xmlns:a="http://schemas.openxmlformats.org/drawingml/2006/main">
            <a:r>
              <a:t>      },</a:t>
            </a:r>
          </a:p>
          <a:p xmlns:a="http://schemas.openxmlformats.org/drawingml/2006/main">
            <a:r>
              <a:t>      {</a:t>
            </a:r>
          </a:p>
          <a:p xmlns:a="http://schemas.openxmlformats.org/drawingml/2006/main">
            <a:r>
              <a:t>        "title": "자동 산정·결정",</a:t>
            </a:r>
          </a:p>
          <a:p xmlns:a="http://schemas.openxmlformats.org/drawingml/2006/main">
            <a:r>
              <a:t>        "input": "기관별 소득자료",</a:t>
            </a:r>
          </a:p>
          <a:p xmlns:a="http://schemas.openxmlformats.org/drawingml/2006/main">
            <a:r>
              <a:t>        "process": "불일치 자료의 자동 확정 보류 설계",</a:t>
            </a:r>
          </a:p>
          <a:p xmlns:a="http://schemas.openxmlformats.org/drawingml/2006/main">
            <a:r>
              <a:t>        "output": "산정 대상·기간"</a:t>
            </a:r>
          </a:p>
          <a:p xmlns:a="http://schemas.openxmlformats.org/drawingml/2006/main">
            <a:r>
              <a:t>      },</a:t>
            </a:r>
          </a:p>
          <a:p xmlns:a="http://schemas.openxmlformats.org/drawingml/2006/main">
            <a:r>
              <a:t>      {</a:t>
            </a:r>
          </a:p>
          <a:p xmlns:a="http://schemas.openxmlformats.org/drawingml/2006/main">
            <a:r>
              <a:t>        "title": "대상자 통지",</a:t>
            </a:r>
          </a:p>
          <a:p xmlns:a="http://schemas.openxmlformats.org/drawingml/2006/main">
            <a:r>
              <a:t>        "input": "산정 대상·기간",</a:t>
            </a:r>
          </a:p>
          <a:p xmlns:a="http://schemas.openxmlformats.org/drawingml/2006/main">
            <a:r>
              <a:t>        "process": "원천 증빙 불일치 시 자동 확정 보류",</a:t>
            </a:r>
          </a:p>
          <a:p xmlns:a="http://schemas.openxmlformats.org/drawingml/2006/main">
            <a:r>
              <a:t>        "output": "채무 통지"</a:t>
            </a:r>
          </a:p>
          <a:p xmlns:a="http://schemas.openxmlformats.org/drawingml/2006/main">
            <a:r>
              <a:t>      },</a:t>
            </a:r>
          </a:p>
          <a:p xmlns:a="http://schemas.openxmlformats.org/drawingml/2006/main">
            <a:r>
              <a:t>      {</a:t>
            </a:r>
          </a:p>
          <a:p xmlns:a="http://schemas.openxmlformats.org/drawingml/2006/main">
            <a:r>
              <a:t>        "title": "이의제기·재심",</a:t>
            </a:r>
          </a:p>
          <a:p xmlns:a="http://schemas.openxmlformats.org/drawingml/2006/main">
            <a:r>
              <a:t>        "input": "채무 통지",</a:t>
            </a:r>
          </a:p>
          <a:p xmlns:a="http://schemas.openxmlformats.org/drawingml/2006/main">
            <a:r>
              <a:t>        "process": "담당자 검토와 설명 가능한 통지·재심 연결",</a:t>
            </a:r>
          </a:p>
          <a:p xmlns:a="http://schemas.openxmlformats.org/drawingml/2006/main">
            <a:r>
              <a:t>        "output": "이의·재심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"기간이 일치하는 증빙을 확인한 뒤 담당자가 행정 결과 검토",</a:t>
            </a:r>
          </a:p>
          <a:p xmlns:a="http://schemas.openxmlformats.org/drawingml/2006/main">
            <a:r>
              <a:t>      "exception": "연간 자료를 짧은 기간에 일률 배분·당사자 반박 증빙",</a:t>
            </a:r>
          </a:p>
          <a:p xmlns:a="http://schemas.openxmlformats.org/drawingml/2006/main">
            <a:r>
              <a:t>      "evidence": "기간별 산정 대사와 보류·재심·담당자 판단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"행정 담당자·대상자·재심 담당",</a:t>
            </a:r>
          </a:p>
          <a:p xmlns:a="http://schemas.openxmlformats.org/drawingml/2006/main">
            <a:r>
              <a:t>          "processing": "자료의 대상·기간·적용 근거 대조",</a:t>
            </a:r>
          </a:p>
          <a:p xmlns:a="http://schemas.openxmlformats.org/drawingml/2006/main">
            <a:r>
              <a:t>          "output": "기관별 소득자료"</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"소득·산정 근거",</a:t>
            </a:r>
          </a:p>
          <a:p xmlns:a="http://schemas.openxmlformats.org/drawingml/2006/main">
            <a:r>
              <a:t>          "processing": "소득 등 원천자료와 적용기간 분리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"기관별 소득자료",</a:t>
            </a:r>
          </a:p>
          <a:p xmlns:a="http://schemas.openxmlformats.org/drawingml/2006/main">
            <a:r>
              <a:t>          "processing": "불일치 자료의 자동 확정 보류 설계",</a:t>
            </a:r>
          </a:p>
          <a:p xmlns:a="http://schemas.openxmlformats.org/drawingml/2006/main">
            <a:r>
              <a:t>          "output": "채무 통지"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"채무 통지",</a:t>
            </a:r>
          </a:p>
          <a:p xmlns:a="http://schemas.openxmlformats.org/drawingml/2006/main">
            <a:r>
              <a:t>          "processing": "담당자 검토와 설명 가능한 통지·재심 연결",</a:t>
            </a:r>
          </a:p>
          <a:p xmlns:a="http://schemas.openxmlformats.org/drawingml/2006/main">
            <a:r>
              <a:t>          "output": "이의·재심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"오판·이의제기 결과의 규칙 및 절차 개선",</a:t>
            </a:r>
          </a:p>
          <a:p xmlns:a="http://schemas.openxmlformats.org/drawingml/2006/main">
            <a:r>
              <a:t>          "output": "기간별 산정 대사와 보류·재심·담당자 판단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"오판·이의제기 결과의 규칙 및 절차 개선",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"S08",</a:t>
            </a:r>
          </a:p>
          <a:p xmlns:a="http://schemas.openxmlformats.org/drawingml/2006/main">
            <a:r>
              <a:t>        "title": "호주 왕립위원회 · Robodebt 최종 보고서",</a:t>
            </a:r>
          </a:p>
          <a:p xmlns:a="http://schemas.openxmlformats.org/drawingml/2006/main">
            <a:r>
              <a:t>        "url": "https://robodebt.royalcommission.gov.au/publications/report",</a:t>
            </a:r>
          </a:p>
          <a:p xmlns:a="http://schemas.openxmlformats.org/drawingml/2006/main">
            <a:r>
              <a:t>        "published": "2023-07-07",</a:t>
            </a:r>
          </a:p>
          <a:p xmlns:a="http://schemas.openxmlformats.org/drawingml/2006/main">
            <a:r>
              <a:t>        "level": "독립 조사 / 2023-07-11 정정본 안내",</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"자동화 이전의 법적 근거·증빙 검증과 재심 경로",</a:t>
            </a:r>
          </a:p>
          <a:p xmlns:a="http://schemas.openxmlformats.org/drawingml/2006/main">
            <a:r>
              <a:t>    "local": "검사·지원·자격 업무의 근거 조문·증빙·전결 확인 후 담당자 판단",</a:t>
            </a:r>
          </a:p>
          <a:p xmlns:a="http://schemas.openxmlformats.org/drawingml/2006/main">
            <a:r>
              <a:t>    "sourceDetail": null,</a:t>
            </a:r>
          </a:p>
          <a:p xmlns:a="http://schemas.openxmlformats.org/drawingml/2006/main">
            <a:r>
              <a:t>    "narrative": [</a:t>
            </a:r>
          </a:p>
          <a:p xmlns:a="http://schemas.openxmlformats.org/drawingml/2006/main">
            <a:r>
              <a:t>      "기관 자료를 이용한 자동 산정·통지의 법적·증빙 통제 실패를 다룬 사례. 생성형 AI의 오답 문제보다 자료의 적용 기간과 산정 전제, 당사자의 이의제기 절차가 핵심인 행정 자동화 사례.",</a:t>
            </a:r>
          </a:p>
          <a:p xmlns:a="http://schemas.openxmlformats.org/drawingml/2006/main">
            <a:r>
              <a:t>      "원천 소득자료와 산정 대상 기간을 연결한 뒤 불일치 자료를 사람이 검토하도록 하는 재발 방지 구조. 통지에는 사용 근거와 산정 경로를 남기고 이의제기·재심 결과를 원 규칙에 환류하는 설계.",</a:t>
            </a:r>
          </a:p>
          <a:p xmlns:a="http://schemas.openxmlformats.org/drawingml/2006/main">
            <a:r>
              <a:t>      "TS에서는 AI 분류·계산 결과를 처분·부과·승인으로 곧바로 확정하지 않는 책임 경계에 활용. 근거 없는 자동 확정 차단, 기간 불일치 탐지, 재심 가능성과 증빙 추적을 검수할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"행정 산정 요청",</a:t>
            </a:r>
          </a:p>
          <a:p xmlns:a="http://schemas.openxmlformats.org/drawingml/2006/main">
            <a:r>
              <a:t>          "layer": "이용 접점",</a:t>
            </a:r>
          </a:p>
          <a:p xmlns:a="http://schemas.openxmlformats.org/drawingml/2006/main">
            <a:r>
              <a:t>          "detail": "행정 담당자·대상자·재심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"대상·적용기간",</a:t>
            </a:r>
          </a:p>
          <a:p xmlns:a="http://schemas.openxmlformats.org/drawingml/2006/main">
            <a:r>
              <a:t>          "layer": "업무 문맥",</a:t>
            </a:r>
          </a:p>
          <a:p xmlns:a="http://schemas.openxmlformats.org/drawingml/2006/main">
            <a:r>
              <a:t>          "detail": "자료의 대상·기간·적용 근거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"원천 소득 조회",</a:t>
            </a:r>
          </a:p>
          <a:p xmlns:a="http://schemas.openxmlformats.org/drawingml/2006/main">
            <a:r>
              <a:t>          "layer": "자료 조회",</a:t>
            </a:r>
          </a:p>
          <a:p xmlns:a="http://schemas.openxmlformats.org/drawingml/2006/main">
            <a:r>
              <a:t>          "detail": "기관별 소득자료",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"기간·산식 대조",</a:t>
            </a:r>
          </a:p>
          <a:p xmlns:a="http://schemas.openxmlformats.org/drawingml/2006/main">
            <a:r>
              <a:t>          "layer": "핵심 처리",</a:t>
            </a:r>
          </a:p>
          <a:p xmlns:a="http://schemas.openxmlformats.org/drawingml/2006/main">
            <a:r>
              <a:t>          "detail": "불일치 자료의 자동 확정 보류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"증빙 불일치 보류",</a:t>
            </a:r>
          </a:p>
          <a:p xmlns:a="http://schemas.openxmlformats.org/drawingml/2006/main">
            <a:r>
              <a:t>          "layer": "결과 검증",</a:t>
            </a:r>
          </a:p>
          <a:p xmlns:a="http://schemas.openxmlformats.org/drawingml/2006/main">
            <a:r>
              <a:t>          "detail": "원천 증빙 불일치 시 자동 확정 보류",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근거 확인",</a:t>
            </a:r>
          </a:p>
          <a:p xmlns:a="http://schemas.openxmlformats.org/drawingml/2006/main">
            <a:r>
              <a:t>          "layer": "사람 확인",</a:t>
            </a:r>
          </a:p>
          <a:p xmlns:a="http://schemas.openxmlformats.org/drawingml/2006/main">
            <a:r>
              <a:t>          "detail": "기간이 일치하는 증빙을 확인한 뒤 담당자가 행정 결과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"통지·이의제기",</a:t>
            </a:r>
          </a:p>
          <a:p xmlns:a="http://schemas.openxmlformats.org/drawingml/2006/main">
            <a:r>
              <a:t>          "layer": "업무 연결",</a:t>
            </a:r>
          </a:p>
          <a:p xmlns:a="http://schemas.openxmlformats.org/drawingml/2006/main">
            <a:r>
              <a:t>          "detail": "담당자 검토와 설명 가능한 통지·재심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"재심 결과 환류",</a:t>
            </a:r>
          </a:p>
          <a:p xmlns:a="http://schemas.openxmlformats.org/drawingml/2006/main">
            <a:r>
              <a:t>          "layer": "운영 관측",</a:t>
            </a:r>
          </a:p>
          <a:p xmlns:a="http://schemas.openxmlformats.org/drawingml/2006/main">
            <a:r>
              <a:t>          "detail": "오판·이의제기 결과의 규칙 및 절차 개선",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"기관 소득자료",</a:t>
            </a:r>
          </a:p>
          <a:p xmlns:a="http://schemas.openxmlformats.org/drawingml/2006/main">
            <a:r>
              <a:t>          "layer": "데이터 원천",</a:t>
            </a:r>
          </a:p>
          <a:p xmlns:a="http://schemas.openxmlformats.org/drawingml/2006/main">
            <a:r>
              <a:t>          "detail": "소득·산정 근거",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"기간·식별자 정합화",</a:t>
            </a:r>
          </a:p>
          <a:p xmlns:a="http://schemas.openxmlformats.org/drawingml/2006/main">
            <a:r>
              <a:t>          "layer": "준비·갱신",</a:t>
            </a:r>
          </a:p>
          <a:p xmlns:a="http://schemas.openxmlformats.org/drawingml/2006/main">
            <a:r>
              <a:t>          "detail": "소득 등 원천자료와 적용기간 분리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"근거·통지 이력",</a:t>
            </a:r>
          </a:p>
          <a:p xmlns:a="http://schemas.openxmlformats.org/drawingml/2006/main">
            <a:r>
              <a:t>          "layer": "상태·지식 저장",</a:t>
            </a:r>
          </a:p>
          <a:p xmlns:a="http://schemas.openxmlformats.org/drawingml/2006/main">
            <a:r>
              <a:t>          "detail": "기간별 산정 대사와 보류·재심·담당자 판단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"산정·재심 규칙",</a:t>
            </a:r>
          </a:p>
          <a:p xmlns:a="http://schemas.openxmlformats.org/drawingml/2006/main">
            <a:r>
              <a:t>          "layer": "권한·정책",</a:t>
            </a:r>
          </a:p>
          <a:p xmlns:a="http://schemas.openxmlformats.org/drawingml/2006/main">
            <a:r>
              <a:t>          "detail": "연간 자료를 짧은 기간에 일률 배분·당사자 반박 증빙",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"기관 간 자료 → 자동 산정·결정 → 대상자 통지 → 이의제기·재심"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"자료의 대상·기간·적용 근거 대조",</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"기관별 소득자료",</a:t>
            </a:r>
          </a:p>
          <a:p xmlns:a="http://schemas.openxmlformats.org/drawingml/2006/main">
            <a:r>
              <a:t>          "check": "원천 증빙 불일치 시 자동 확정 보류"</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"산정·재심 규칙",</a:t>
            </a:r>
          </a:p>
          <a:p xmlns:a="http://schemas.openxmlformats.org/drawingml/2006/main">
            <a:r>
              <a:t>          "check": "원천 증빙 불일치 시 자동 확정 보류"</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"채무 통지",</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"채무 통지",</a:t>
            </a:r>
          </a:p>
          <a:p xmlns:a="http://schemas.openxmlformats.org/drawingml/2006/main">
            <a:r>
              <a:t>          "check": "연간 자료를 짧은 기간에 일률 배분·당사자 반박 증빙"</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"이의·재심 기록",</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"자동 행정 산정의 근거·재심 체계 분석 / 기관 간 자료·산정·통지·이의제기",</a:t>
            </a:r>
          </a:p>
          <a:p xmlns:a="http://schemas.openxmlformats.org/drawingml/2006/main">
            <a:r>
              <a:t>        "extension": "검사·지원·자격 업무의 근거 조문·증빙·전결 확인 후 담당자 판단"</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"연간 자료를 짧은 기간에 일률 배분·당사자 반박 증빙",</a:t>
            </a:r>
          </a:p>
          <a:p xmlns:a="http://schemas.openxmlformats.org/drawingml/2006/main">
            <a:r>
              <a:t>        "hold": "원천 증빙 불일치 시 자동 확정 보류",</a:t>
            </a:r>
          </a:p>
          <a:p xmlns:a="http://schemas.openxmlformats.org/drawingml/2006/main">
            <a:r>
              <a:t>        "recovery": "오판·이의제기 결과의 규칙 및 절차 개선",</a:t>
            </a:r>
          </a:p>
          <a:p xmlns:a="http://schemas.openxmlformats.org/drawingml/2006/main">
            <a:r>
              <a:t>        "evidence": "기간별 산정 대사와 보류·재심·담당자 판단 기록"</a:t>
            </a:r>
          </a:p>
          <a:p xmlns:a="http://schemas.openxmlformats.org/drawingml/2006/main">
            <a:r>
              <a:t>      },</a:t>
            </a:r>
          </a:p>
          <a:p xmlns:a="http://schemas.openxmlformats.org/drawingml/2006/main">
            <a:r>
              <a:t>      "data": {</a:t>
            </a:r>
          </a:p>
          <a:p xmlns:a="http://schemas.openxmlformats.org/drawingml/2006/main">
            <a:r>
              <a:t>        "source": "소득·산정 근거",</a:t>
            </a:r>
          </a:p>
          <a:p xmlns:a="http://schemas.openxmlformats.org/drawingml/2006/main">
            <a:r>
              <a:t>        "prepare": "소득 등 원천자료와 적용기간 분리 관리",</a:t>
            </a:r>
          </a:p>
          <a:p xmlns:a="http://schemas.openxmlformats.org/drawingml/2006/main">
            <a:r>
              <a:t>        "output": "기관별 소득자료",</a:t>
            </a:r>
          </a:p>
          <a:p xmlns:a="http://schemas.openxmlformats.org/drawingml/2006/main">
            <a:r>
              <a:t>        "refresh": "오판·이의제기 결과의 규칙 및 절차 개선"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"AX07",</a:t>
            </a:r>
          </a:p>
          <a:p xmlns:a="http://schemas.openxmlformats.org/drawingml/2006/main">
            <a:r>
              <a:t>    "success": [</a:t>
            </a:r>
          </a:p>
          <a:p xmlns:a="http://schemas.openxmlformats.org/drawingml/2006/main">
            <a:r>
              <a:t>      "자동 결정 전 법적·증빙 근거 확인",</a:t>
            </a:r>
          </a:p>
          <a:p xmlns:a="http://schemas.openxmlformats.org/drawingml/2006/main">
            <a:r>
              <a:t>      "이의제기와 재심 경로 확보"</a:t>
            </a:r>
          </a:p>
          <a:p xmlns:a="http://schemas.openxmlformats.org/drawingml/2006/main">
            <a:r>
              <a:t>    ],</a:t>
            </a:r>
          </a:p>
          <a:p xmlns:a="http://schemas.openxmlformats.org/drawingml/2006/main">
            <a:r>
              <a:t>    "risks": [</a:t>
            </a:r>
          </a:p>
          <a:p xmlns:a="http://schemas.openxmlformats.org/drawingml/2006/main">
            <a:r>
              <a:t>      "자료 기간·산정 전제의 부적합",</a:t>
            </a:r>
          </a:p>
          <a:p xmlns:a="http://schemas.openxmlformats.org/drawingml/2006/main">
            <a:r>
              <a:t>      "자동 판단에 대한 책임·재심 통제 부족"</a:t>
            </a:r>
          </a:p>
          <a:p xmlns:a="http://schemas.openxmlformats.org/drawingml/2006/main">
            <a:r>
              <a:t>    ],</a:t>
            </a:r>
          </a:p>
          <a:p xmlns:a="http://schemas.openxmlformats.org/drawingml/2006/main">
            <a:r>
              <a:t>    "architecture": [</a:t>
            </a:r>
          </a:p>
          <a:p xmlns:a="http://schemas.openxmlformats.org/drawingml/2006/main">
            <a:r>
              <a:t>      "기관 자료 교환",</a:t>
            </a:r>
          </a:p>
          <a:p xmlns:a="http://schemas.openxmlformats.org/drawingml/2006/main">
            <a:r>
              <a:t>      "자동 산정·통지",</a:t>
            </a:r>
          </a:p>
          <a:p xmlns:a="http://schemas.openxmlformats.org/drawingml/2006/main">
            <a:r>
              <a:t>      "소득·산정 근거",</a:t>
            </a:r>
          </a:p>
          <a:p xmlns:a="http://schemas.openxmlformats.org/drawingml/2006/main">
            <a:r>
              <a:t>      "대상자·재심 담당"</a:t>
            </a:r>
          </a:p>
          <a:p xmlns:a="http://schemas.openxmlformats.org/drawingml/2006/main">
            <a:r>
              <a:t>    ],</a:t>
            </a:r>
          </a:p>
          <a:p xmlns:a="http://schemas.openxmlformats.org/drawingml/2006/main">
            <a:r>
              <a:t>    "transfers": [</a:t>
            </a:r>
          </a:p>
          <a:p xmlns:a="http://schemas.openxmlformats.org/drawingml/2006/main">
            <a:r>
              <a:t>      "기관별 소득자료",</a:t>
            </a:r>
          </a:p>
          <a:p xmlns:a="http://schemas.openxmlformats.org/drawingml/2006/main">
            <a:r>
              <a:t>      "산정 대상·기간",</a:t>
            </a:r>
          </a:p>
          <a:p xmlns:a="http://schemas.openxmlformats.org/drawingml/2006/main">
            <a:r>
              <a:t>      "채무 통지",</a:t>
            </a:r>
          </a:p>
          <a:p xmlns:a="http://schemas.openxmlformats.org/drawingml/2006/main">
            <a:r>
              <a:t>      "이의·재심 기록"</a:t>
            </a:r>
          </a:p>
          <a:p xmlns:a="http://schemas.openxmlformats.org/drawingml/2006/main">
            <a:r>
              <a:t>    ],</a:t>
            </a:r>
          </a:p>
          <a:p xmlns:a="http://schemas.openxmlformats.org/drawingml/2006/main">
            <a:r>
              <a:t>    "control": "원천 증빙 불일치 시 자동 확정 보류",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호주 왕립위원회 · Robodebt 최종 보고서 https://robodebt.royalcommission.gov.au/publications/report</a:t>
            </a:r>
          </a:p>
          <a:p xmlns:a="http://schemas.openxmlformats.org/drawingml/2006/main">
            <a:r>
              <a:t>홈페이지 https://heen1987-ops.github.io/TS-business-Plan-001/index.html?view=casebook&amp;case=AX07</a:t>
            </a:r>
          </a:p>
          <a:p xmlns:a="http://schemas.openxmlformats.org/drawingml/2006/main">
            <a:r>
              <a:t>한계: 규칙 기반 행정 자동화의 실패 교훈 · 생성형 AI 사례 아님</a:t>
            </a:r>
          </a:p>
          <a:p xmlns:a="http://schemas.openxmlformats.org/drawingml/2006/main">
            <a:r>
              <a:t>재발 방지 조건: 자동 결정 전 법적·증빙 근거 확인 / 이의제기와 재심 경로 확보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"AX07",</a:t>
            </a:r>
          </a:p>
          <a:p xmlns:a="http://schemas.openxmlformats.org/drawingml/2006/main">
            <a:r>
              <a:t>    "title": "호주 Robodebt",</a:t>
            </a:r>
          </a:p>
          <a:p xmlns:a="http://schemas.openxmlformats.org/drawingml/2006/main">
            <a:r>
              <a:t>    "region": "해외",</a:t>
            </a:r>
          </a:p>
          <a:p xmlns:a="http://schemas.openxmlformats.org/drawingml/2006/main">
            <a:r>
              <a:t>    "country": "호주",</a:t>
            </a:r>
          </a:p>
          <a:p xmlns:a="http://schemas.openxmlformats.org/drawingml/2006/main">
            <a:r>
              <a:t>    "result": "실패",</a:t>
            </a:r>
          </a:p>
          <a:p xmlns:a="http://schemas.openxmlformats.org/drawingml/2006/main">
            <a:r>
              <a:t>    "kind": "행정 자동화·책임 통제",</a:t>
            </a:r>
          </a:p>
          <a:p xmlns:a="http://schemas.openxmlformats.org/drawingml/2006/main">
            <a:r>
              <a:t>    "period": "2023 최종 조사",</a:t>
            </a:r>
          </a:p>
          <a:p xmlns:a="http://schemas.openxmlformats.org/drawingml/2006/main">
            <a:r>
              <a:t>    "sources": [</a:t>
            </a:r>
          </a:p>
          <a:p xmlns:a="http://schemas.openxmlformats.org/drawingml/2006/main">
            <a:r>
              <a:t>      "S08"</a:t>
            </a:r>
          </a:p>
          <a:p xmlns:a="http://schemas.openxmlformats.org/drawingml/2006/main">
            <a:r>
              <a:t>    ],</a:t>
            </a:r>
          </a:p>
          <a:p xmlns:a="http://schemas.openxmlformats.org/drawingml/2006/main">
            <a:r>
              <a:t>    "keywords": [</a:t>
            </a:r>
          </a:p>
          <a:p xmlns:a="http://schemas.openxmlformats.org/drawingml/2006/main">
            <a:r>
              <a:t>      "행정 판단",</a:t>
            </a:r>
          </a:p>
          <a:p xmlns:a="http://schemas.openxmlformats.org/drawingml/2006/main">
            <a:r>
              <a:t>      "적법성",</a:t>
            </a:r>
          </a:p>
          <a:p xmlns:a="http://schemas.openxmlformats.org/drawingml/2006/main">
            <a:r>
              <a:t>      "이의제기",</a:t>
            </a:r>
          </a:p>
          <a:p xmlns:a="http://schemas.openxmlformats.org/drawingml/2006/main">
            <a:r>
              <a:t>      "공정성"</a:t>
            </a:r>
          </a:p>
          <a:p xmlns:a="http://schemas.openxmlformats.org/drawingml/2006/main">
            <a:r>
              <a:t>    ],</a:t>
            </a:r>
          </a:p>
          <a:p xmlns:a="http://schemas.openxmlformats.org/drawingml/2006/main">
            <a:r>
              <a:t>    "fact": "왕립위원회 최종 조사에서 자동 결정의 법적 틀·재심 경로·데이터 교환 통제·취약계층 대응 개선 권고",</a:t>
            </a:r>
          </a:p>
          <a:p xmlns:a="http://schemas.openxmlformats.org/drawingml/2006/main">
            <a:r>
              <a:t>    "limit": "규칙 기반 행정 자동화의 실패 교훈 · 생성형 AI 사례 아님",</a:t>
            </a:r>
          </a:p>
          <a:p xmlns:a="http://schemas.openxmlformats.org/drawingml/2006/main">
            <a:r>
              <a:t>    "flow": [</a:t>
            </a:r>
          </a:p>
          <a:p xmlns:a="http://schemas.openxmlformats.org/drawingml/2006/main">
            <a:r>
              <a:t>      "기관 간 자료",</a:t>
            </a:r>
          </a:p>
          <a:p xmlns:a="http://schemas.openxmlformats.org/drawingml/2006/main">
            <a:r>
              <a:t>      "자동 산정·결정",</a:t>
            </a:r>
          </a:p>
          <a:p xmlns:a="http://schemas.openxmlformats.org/drawingml/2006/main">
            <a:r>
              <a:t>      "대상자 통지",</a:t>
            </a:r>
          </a:p>
          <a:p xmlns:a="http://schemas.openxmlformats.org/drawingml/2006/main">
            <a:r>
              <a:t>      "이의제기·재심"</a:t>
            </a:r>
          </a:p>
          <a:p xmlns:a="http://schemas.openxmlformats.org/drawingml/2006/main">
            <a:r>
              <a:t>    ],</a:t>
            </a:r>
          </a:p>
          <a:p xmlns:a="http://schemas.openxmlformats.org/drawingml/2006/main">
            <a:r>
              <a:t>    "flowBasis": "조사 권고의 대상 업무를 설명하기 위한 재구성",</a:t>
            </a:r>
          </a:p>
          <a:p xmlns:a="http://schemas.openxmlformats.org/drawingml/2006/main">
            <a:r>
              <a:t>    "lesson": "자동화 이전의 법적 근거·증빙 검증과 재심 경로",</a:t>
            </a:r>
          </a:p>
          <a:p xmlns:a="http://schemas.openxmlformats.org/drawingml/2006/main">
            <a:r>
              <a:t>    "local": "검사·지원·자격 업무의 근거 조문·증빙·전결 확인 후 담당자 판단",</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"근거·입력 검증 / 자동 확정 제한 / 이의제기·재검토 연결",</a:t>
            </a:r>
          </a:p>
          <a:p xmlns:a="http://schemas.openxmlformats.org/drawingml/2006/main">
            <a:r>
              <a:t>    "test": "누락·기간 불일치·권한 부재 시 보류 및 재심 처리 추적",</a:t>
            </a:r>
          </a:p>
          <a:p xmlns:a="http://schemas.openxmlformats.org/drawingml/2006/main">
            <a:r>
              <a:t>    "metric": "근거 누락률 / 오판 보완률 / 이의처리 시간"</a:t>
            </a:r>
          </a:p>
          <a:p xmlns:a="http://schemas.openxmlformats.org/drawingml/2006/main">
            <a:r>
              <a:t>  },</a:t>
            </a:r>
          </a:p>
          <a:p xmlns:a="http://schemas.openxmlformats.org/drawingml/2006/main">
            <a:r>
              <a:t>  "design": {</a:t>
            </a:r>
          </a:p>
          <a:p xmlns:a="http://schemas.openxmlformats.org/drawingml/2006/main">
            <a:r>
              <a:t>    "id": "AX07",</a:t>
            </a:r>
          </a:p>
          <a:p xmlns:a="http://schemas.openxmlformats.org/drawingml/2006/main">
            <a:r>
              <a:t>    "canonicalId": "AX07",</a:t>
            </a:r>
          </a:p>
          <a:p xmlns:a="http://schemas.openxmlformats.org/drawingml/2006/main">
            <a:r>
              <a:t>    "purpose": "자동 행정 산정의 근거·재심 체계 분석",</a:t>
            </a:r>
          </a:p>
          <a:p xmlns:a="http://schemas.openxmlformats.org/drawingml/2006/main">
            <a:r>
              <a:t>    "users": "행정 담당자·대상자·재심 담당",</a:t>
            </a:r>
          </a:p>
          <a:p xmlns:a="http://schemas.openxmlformats.org/drawingml/2006/main">
            <a:r>
              <a:t>    "scope": [</a:t>
            </a:r>
          </a:p>
          <a:p xmlns:a="http://schemas.openxmlformats.org/drawingml/2006/main">
            <a:r>
              <a:t>      "기관 간 자료",</a:t>
            </a:r>
          </a:p>
          <a:p xmlns:a="http://schemas.openxmlformats.org/drawingml/2006/main">
            <a:r>
              <a:t>      "산정·통지",</a:t>
            </a:r>
          </a:p>
          <a:p xmlns:a="http://schemas.openxmlformats.org/drawingml/2006/main">
            <a:r>
              <a:t>      "이의제기"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자료 교환",</a:t>
            </a:r>
          </a:p>
          <a:p xmlns:a="http://schemas.openxmlformats.org/drawingml/2006/main">
            <a:r>
              <a:t>        "detail": "자료의 대상·기간·적용 근거 대조",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"기관 간 자료 / 산정·통지 / 이의제기",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"자동 산정·통지",</a:t>
            </a:r>
          </a:p>
          <a:p xmlns:a="http://schemas.openxmlformats.org/drawingml/2006/main">
            <a:r>
              <a:t>        "detail": "불일치 자료의 자동 확정 보류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"대상자·재심 담당",</a:t>
            </a:r>
          </a:p>
          <a:p xmlns:a="http://schemas.openxmlformats.org/drawingml/2006/main">
            <a:r>
              <a:t>        "detail": "담당자 검토와 설명 가능한 통지·재심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"소득·산정 근거",</a:t>
            </a:r>
          </a:p>
          <a:p xmlns:a="http://schemas.openxmlformats.org/drawingml/2006/main">
            <a:r>
              <a:t>        "detail": "소득 등 원천자료와 적용기간 분리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"오판·이의제기 결과의 규칙 및 절차 개선",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"기관 간 자료",</a:t>
            </a:r>
          </a:p>
          <a:p xmlns:a="http://schemas.openxmlformats.org/drawingml/2006/main">
            <a:r>
              <a:t>        "input": "자료의 대상·기간·적용 근거 대조",</a:t>
            </a:r>
          </a:p>
          <a:p xmlns:a="http://schemas.openxmlformats.org/drawingml/2006/main">
            <a:r>
              <a:t>        "process": "소득 등 원천자료와 적용기간 분리 관리",</a:t>
            </a:r>
          </a:p>
          <a:p xmlns:a="http://schemas.openxmlformats.org/drawingml/2006/main">
            <a:r>
              <a:t>        "output": "기관별 소득자료"</a:t>
            </a:r>
          </a:p>
          <a:p xmlns:a="http://schemas.openxmlformats.org/drawingml/2006/main">
            <a:r>
              <a:t>      },</a:t>
            </a:r>
          </a:p>
          <a:p xmlns:a="http://schemas.openxmlformats.org/drawingml/2006/main">
            <a:r>
              <a:t>      {</a:t>
            </a:r>
          </a:p>
          <a:p xmlns:a="http://schemas.openxmlformats.org/drawingml/2006/main">
            <a:r>
              <a:t>        "title": "자동 산정·결정",</a:t>
            </a:r>
          </a:p>
          <a:p xmlns:a="http://schemas.openxmlformats.org/drawingml/2006/main">
            <a:r>
              <a:t>        "input": "기관별 소득자료",</a:t>
            </a:r>
          </a:p>
          <a:p xmlns:a="http://schemas.openxmlformats.org/drawingml/2006/main">
            <a:r>
              <a:t>        "process": "불일치 자료의 자동 확정 보류 설계",</a:t>
            </a:r>
          </a:p>
          <a:p xmlns:a="http://schemas.openxmlformats.org/drawingml/2006/main">
            <a:r>
              <a:t>        "output": "산정 대상·기간"</a:t>
            </a:r>
          </a:p>
          <a:p xmlns:a="http://schemas.openxmlformats.org/drawingml/2006/main">
            <a:r>
              <a:t>      },</a:t>
            </a:r>
          </a:p>
          <a:p xmlns:a="http://schemas.openxmlformats.org/drawingml/2006/main">
            <a:r>
              <a:t>      {</a:t>
            </a:r>
          </a:p>
          <a:p xmlns:a="http://schemas.openxmlformats.org/drawingml/2006/main">
            <a:r>
              <a:t>        "title": "대상자 통지",</a:t>
            </a:r>
          </a:p>
          <a:p xmlns:a="http://schemas.openxmlformats.org/drawingml/2006/main">
            <a:r>
              <a:t>        "input": "산정 대상·기간",</a:t>
            </a:r>
          </a:p>
          <a:p xmlns:a="http://schemas.openxmlformats.org/drawingml/2006/main">
            <a:r>
              <a:t>        "process": "원천 증빙 불일치 시 자동 확정 보류",</a:t>
            </a:r>
          </a:p>
          <a:p xmlns:a="http://schemas.openxmlformats.org/drawingml/2006/main">
            <a:r>
              <a:t>        "output": "채무 통지"</a:t>
            </a:r>
          </a:p>
          <a:p xmlns:a="http://schemas.openxmlformats.org/drawingml/2006/main">
            <a:r>
              <a:t>      },</a:t>
            </a:r>
          </a:p>
          <a:p xmlns:a="http://schemas.openxmlformats.org/drawingml/2006/main">
            <a:r>
              <a:t>      {</a:t>
            </a:r>
          </a:p>
          <a:p xmlns:a="http://schemas.openxmlformats.org/drawingml/2006/main">
            <a:r>
              <a:t>        "title": "이의제기·재심",</a:t>
            </a:r>
          </a:p>
          <a:p xmlns:a="http://schemas.openxmlformats.org/drawingml/2006/main">
            <a:r>
              <a:t>        "input": "채무 통지",</a:t>
            </a:r>
          </a:p>
          <a:p xmlns:a="http://schemas.openxmlformats.org/drawingml/2006/main">
            <a:r>
              <a:t>        "process": "담당자 검토와 설명 가능한 통지·재심 연결",</a:t>
            </a:r>
          </a:p>
          <a:p xmlns:a="http://schemas.openxmlformats.org/drawingml/2006/main">
            <a:r>
              <a:t>        "output": "이의·재심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"기간이 일치하는 증빙을 확인한 뒤 담당자가 행정 결과 검토",</a:t>
            </a:r>
          </a:p>
          <a:p xmlns:a="http://schemas.openxmlformats.org/drawingml/2006/main">
            <a:r>
              <a:t>      "exception": "연간 자료를 짧은 기간에 일률 배분·당사자 반박 증빙",</a:t>
            </a:r>
          </a:p>
          <a:p xmlns:a="http://schemas.openxmlformats.org/drawingml/2006/main">
            <a:r>
              <a:t>      "evidence": "기간별 산정 대사와 보류·재심·담당자 판단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"행정 담당자·대상자·재심 담당",</a:t>
            </a:r>
          </a:p>
          <a:p xmlns:a="http://schemas.openxmlformats.org/drawingml/2006/main">
            <a:r>
              <a:t>          "processing": "자료의 대상·기간·적용 근거 대조",</a:t>
            </a:r>
          </a:p>
          <a:p xmlns:a="http://schemas.openxmlformats.org/drawingml/2006/main">
            <a:r>
              <a:t>          "output": "기관별 소득자료"</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"소득·산정 근거",</a:t>
            </a:r>
          </a:p>
          <a:p xmlns:a="http://schemas.openxmlformats.org/drawingml/2006/main">
            <a:r>
              <a:t>          "processing": "소득 등 원천자료와 적용기간 분리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"기관별 소득자료",</a:t>
            </a:r>
          </a:p>
          <a:p xmlns:a="http://schemas.openxmlformats.org/drawingml/2006/main">
            <a:r>
              <a:t>          "processing": "불일치 자료의 자동 확정 보류 설계",</a:t>
            </a:r>
          </a:p>
          <a:p xmlns:a="http://schemas.openxmlformats.org/drawingml/2006/main">
            <a:r>
              <a:t>          "output": "채무 통지"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"채무 통지",</a:t>
            </a:r>
          </a:p>
          <a:p xmlns:a="http://schemas.openxmlformats.org/drawingml/2006/main">
            <a:r>
              <a:t>          "processing": "담당자 검토와 설명 가능한 통지·재심 연결",</a:t>
            </a:r>
          </a:p>
          <a:p xmlns:a="http://schemas.openxmlformats.org/drawingml/2006/main">
            <a:r>
              <a:t>          "output": "이의·재심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"오판·이의제기 결과의 규칙 및 절차 개선",</a:t>
            </a:r>
          </a:p>
          <a:p xmlns:a="http://schemas.openxmlformats.org/drawingml/2006/main">
            <a:r>
              <a:t>          "output": "기간별 산정 대사와 보류·재심·담당자 판단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"오판·이의제기 결과의 규칙 및 절차 개선",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"S08",</a:t>
            </a:r>
          </a:p>
          <a:p xmlns:a="http://schemas.openxmlformats.org/drawingml/2006/main">
            <a:r>
              <a:t>        "title": "호주 왕립위원회 · Robodebt 최종 보고서",</a:t>
            </a:r>
          </a:p>
          <a:p xmlns:a="http://schemas.openxmlformats.org/drawingml/2006/main">
            <a:r>
              <a:t>        "url": "https://robodebt.royalcommission.gov.au/publications/report",</a:t>
            </a:r>
          </a:p>
          <a:p xmlns:a="http://schemas.openxmlformats.org/drawingml/2006/main">
            <a:r>
              <a:t>        "published": "2023-07-07",</a:t>
            </a:r>
          </a:p>
          <a:p xmlns:a="http://schemas.openxmlformats.org/drawingml/2006/main">
            <a:r>
              <a:t>        "level": "독립 조사 / 2023-07-11 정정본 안내",</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"자동화 이전의 법적 근거·증빙 검증과 재심 경로",</a:t>
            </a:r>
          </a:p>
          <a:p xmlns:a="http://schemas.openxmlformats.org/drawingml/2006/main">
            <a:r>
              <a:t>    "local": "검사·지원·자격 업무의 근거 조문·증빙·전결 확인 후 담당자 판단",</a:t>
            </a:r>
          </a:p>
          <a:p xmlns:a="http://schemas.openxmlformats.org/drawingml/2006/main">
            <a:r>
              <a:t>    "sourceDetail": null,</a:t>
            </a:r>
          </a:p>
          <a:p xmlns:a="http://schemas.openxmlformats.org/drawingml/2006/main">
            <a:r>
              <a:t>    "narrative": [</a:t>
            </a:r>
          </a:p>
          <a:p xmlns:a="http://schemas.openxmlformats.org/drawingml/2006/main">
            <a:r>
              <a:t>      "기관 자료를 이용한 자동 산정·통지의 법적·증빙 통제 실패를 다룬 사례. 생성형 AI의 오답 문제보다 자료의 적용 기간과 산정 전제, 당사자의 이의제기 절차가 핵심인 행정 자동화 사례.",</a:t>
            </a:r>
          </a:p>
          <a:p xmlns:a="http://schemas.openxmlformats.org/drawingml/2006/main">
            <a:r>
              <a:t>      "원천 소득자료와 산정 대상 기간을 연결한 뒤 불일치 자료를 사람이 검토하도록 하는 재발 방지 구조. 통지에는 사용 근거와 산정 경로를 남기고 이의제기·재심 결과를 원 규칙에 환류하는 설계.",</a:t>
            </a:r>
          </a:p>
          <a:p xmlns:a="http://schemas.openxmlformats.org/drawingml/2006/main">
            <a:r>
              <a:t>      "TS에서는 AI 분류·계산 결과를 처분·부과·승인으로 곧바로 확정하지 않는 책임 경계에 활용. 근거 없는 자동 확정 차단, 기간 불일치 탐지, 재심 가능성과 증빙 추적을 검수할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"행정 산정 요청",</a:t>
            </a:r>
          </a:p>
          <a:p xmlns:a="http://schemas.openxmlformats.org/drawingml/2006/main">
            <a:r>
              <a:t>          "layer": "이용 접점",</a:t>
            </a:r>
          </a:p>
          <a:p xmlns:a="http://schemas.openxmlformats.org/drawingml/2006/main">
            <a:r>
              <a:t>          "detail": "행정 담당자·대상자·재심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"대상·적용기간",</a:t>
            </a:r>
          </a:p>
          <a:p xmlns:a="http://schemas.openxmlformats.org/drawingml/2006/main">
            <a:r>
              <a:t>          "layer": "업무 문맥",</a:t>
            </a:r>
          </a:p>
          <a:p xmlns:a="http://schemas.openxmlformats.org/drawingml/2006/main">
            <a:r>
              <a:t>          "detail": "자료의 대상·기간·적용 근거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"원천 소득 조회",</a:t>
            </a:r>
          </a:p>
          <a:p xmlns:a="http://schemas.openxmlformats.org/drawingml/2006/main">
            <a:r>
              <a:t>          "layer": "자료 조회",</a:t>
            </a:r>
          </a:p>
          <a:p xmlns:a="http://schemas.openxmlformats.org/drawingml/2006/main">
            <a:r>
              <a:t>          "detail": "기관별 소득자료",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"기간·산식 대조",</a:t>
            </a:r>
          </a:p>
          <a:p xmlns:a="http://schemas.openxmlformats.org/drawingml/2006/main">
            <a:r>
              <a:t>          "layer": "핵심 처리",</a:t>
            </a:r>
          </a:p>
          <a:p xmlns:a="http://schemas.openxmlformats.org/drawingml/2006/main">
            <a:r>
              <a:t>          "detail": "불일치 자료의 자동 확정 보류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"증빙 불일치 보류",</a:t>
            </a:r>
          </a:p>
          <a:p xmlns:a="http://schemas.openxmlformats.org/drawingml/2006/main">
            <a:r>
              <a:t>          "layer": "결과 검증",</a:t>
            </a:r>
          </a:p>
          <a:p xmlns:a="http://schemas.openxmlformats.org/drawingml/2006/main">
            <a:r>
              <a:t>          "detail": "원천 증빙 불일치 시 자동 확정 보류",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근거 확인",</a:t>
            </a:r>
          </a:p>
          <a:p xmlns:a="http://schemas.openxmlformats.org/drawingml/2006/main">
            <a:r>
              <a:t>          "layer": "사람 확인",</a:t>
            </a:r>
          </a:p>
          <a:p xmlns:a="http://schemas.openxmlformats.org/drawingml/2006/main">
            <a:r>
              <a:t>          "detail": "기간이 일치하는 증빙을 확인한 뒤 담당자가 행정 결과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"통지·이의제기",</a:t>
            </a:r>
          </a:p>
          <a:p xmlns:a="http://schemas.openxmlformats.org/drawingml/2006/main">
            <a:r>
              <a:t>          "layer": "업무 연결",</a:t>
            </a:r>
          </a:p>
          <a:p xmlns:a="http://schemas.openxmlformats.org/drawingml/2006/main">
            <a:r>
              <a:t>          "detail": "담당자 검토와 설명 가능한 통지·재심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"재심 결과 환류",</a:t>
            </a:r>
          </a:p>
          <a:p xmlns:a="http://schemas.openxmlformats.org/drawingml/2006/main">
            <a:r>
              <a:t>          "layer": "운영 관측",</a:t>
            </a:r>
          </a:p>
          <a:p xmlns:a="http://schemas.openxmlformats.org/drawingml/2006/main">
            <a:r>
              <a:t>          "detail": "오판·이의제기 결과의 규칙 및 절차 개선",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"기관 소득자료",</a:t>
            </a:r>
          </a:p>
          <a:p xmlns:a="http://schemas.openxmlformats.org/drawingml/2006/main">
            <a:r>
              <a:t>          "layer": "데이터 원천",</a:t>
            </a:r>
          </a:p>
          <a:p xmlns:a="http://schemas.openxmlformats.org/drawingml/2006/main">
            <a:r>
              <a:t>          "detail": "소득·산정 근거",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"기간·식별자 정합화",</a:t>
            </a:r>
          </a:p>
          <a:p xmlns:a="http://schemas.openxmlformats.org/drawingml/2006/main">
            <a:r>
              <a:t>          "layer": "준비·갱신",</a:t>
            </a:r>
          </a:p>
          <a:p xmlns:a="http://schemas.openxmlformats.org/drawingml/2006/main">
            <a:r>
              <a:t>          "detail": "소득 등 원천자료와 적용기간 분리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"근거·통지 이력",</a:t>
            </a:r>
          </a:p>
          <a:p xmlns:a="http://schemas.openxmlformats.org/drawingml/2006/main">
            <a:r>
              <a:t>          "layer": "상태·지식 저장",</a:t>
            </a:r>
          </a:p>
          <a:p xmlns:a="http://schemas.openxmlformats.org/drawingml/2006/main">
            <a:r>
              <a:t>          "detail": "기간별 산정 대사와 보류·재심·담당자 판단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"산정·재심 규칙",</a:t>
            </a:r>
          </a:p>
          <a:p xmlns:a="http://schemas.openxmlformats.org/drawingml/2006/main">
            <a:r>
              <a:t>          "layer": "권한·정책",</a:t>
            </a:r>
          </a:p>
          <a:p xmlns:a="http://schemas.openxmlformats.org/drawingml/2006/main">
            <a:r>
              <a:t>          "detail": "연간 자료를 짧은 기간에 일률 배분·당사자 반박 증빙",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"기관 간 자료 → 자동 산정·결정 → 대상자 통지 → 이의제기·재심"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"자료의 대상·기간·적용 근거 대조",</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"기관별 소득자료",</a:t>
            </a:r>
          </a:p>
          <a:p xmlns:a="http://schemas.openxmlformats.org/drawingml/2006/main">
            <a:r>
              <a:t>          "check": "원천 증빙 불일치 시 자동 확정 보류"</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"산정·재심 규칙",</a:t>
            </a:r>
          </a:p>
          <a:p xmlns:a="http://schemas.openxmlformats.org/drawingml/2006/main">
            <a:r>
              <a:t>          "check": "원천 증빙 불일치 시 자동 확정 보류"</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"채무 통지",</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"채무 통지",</a:t>
            </a:r>
          </a:p>
          <a:p xmlns:a="http://schemas.openxmlformats.org/drawingml/2006/main">
            <a:r>
              <a:t>          "check": "연간 자료를 짧은 기간에 일률 배분·당사자 반박 증빙"</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"이의·재심 기록",</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"자동 행정 산정의 근거·재심 체계 분석 / 기관 간 자료·산정·통지·이의제기",</a:t>
            </a:r>
          </a:p>
          <a:p xmlns:a="http://schemas.openxmlformats.org/drawingml/2006/main">
            <a:r>
              <a:t>        "extension": "검사·지원·자격 업무의 근거 조문·증빙·전결 확인 후 담당자 판단"</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"연간 자료를 짧은 기간에 일률 배분·당사자 반박 증빙",</a:t>
            </a:r>
          </a:p>
          <a:p xmlns:a="http://schemas.openxmlformats.org/drawingml/2006/main">
            <a:r>
              <a:t>        "hold": "원천 증빙 불일치 시 자동 확정 보류",</a:t>
            </a:r>
          </a:p>
          <a:p xmlns:a="http://schemas.openxmlformats.org/drawingml/2006/main">
            <a:r>
              <a:t>        "recovery": "오판·이의제기 결과의 규칙 및 절차 개선",</a:t>
            </a:r>
          </a:p>
          <a:p xmlns:a="http://schemas.openxmlformats.org/drawingml/2006/main">
            <a:r>
              <a:t>        "evidence": "기간별 산정 대사와 보류·재심·담당자 판단 기록"</a:t>
            </a:r>
          </a:p>
          <a:p xmlns:a="http://schemas.openxmlformats.org/drawingml/2006/main">
            <a:r>
              <a:t>      },</a:t>
            </a:r>
          </a:p>
          <a:p xmlns:a="http://schemas.openxmlformats.org/drawingml/2006/main">
            <a:r>
              <a:t>      "data": {</a:t>
            </a:r>
          </a:p>
          <a:p xmlns:a="http://schemas.openxmlformats.org/drawingml/2006/main">
            <a:r>
              <a:t>        "source": "소득·산정 근거",</a:t>
            </a:r>
          </a:p>
          <a:p xmlns:a="http://schemas.openxmlformats.org/drawingml/2006/main">
            <a:r>
              <a:t>        "prepare": "소득 등 원천자료와 적용기간 분리 관리",</a:t>
            </a:r>
          </a:p>
          <a:p xmlns:a="http://schemas.openxmlformats.org/drawingml/2006/main">
            <a:r>
              <a:t>        "output": "기관별 소득자료",</a:t>
            </a:r>
          </a:p>
          <a:p xmlns:a="http://schemas.openxmlformats.org/drawingml/2006/main">
            <a:r>
              <a:t>        "refresh": "오판·이의제기 결과의 규칙 및 절차 개선"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"AX07",</a:t>
            </a:r>
          </a:p>
          <a:p xmlns:a="http://schemas.openxmlformats.org/drawingml/2006/main">
            <a:r>
              <a:t>    "success": [</a:t>
            </a:r>
          </a:p>
          <a:p xmlns:a="http://schemas.openxmlformats.org/drawingml/2006/main">
            <a:r>
              <a:t>      "자동 결정 전 법적·증빙 근거 확인",</a:t>
            </a:r>
          </a:p>
          <a:p xmlns:a="http://schemas.openxmlformats.org/drawingml/2006/main">
            <a:r>
              <a:t>      "이의제기와 재심 경로 확보"</a:t>
            </a:r>
          </a:p>
          <a:p xmlns:a="http://schemas.openxmlformats.org/drawingml/2006/main">
            <a:r>
              <a:t>    ],</a:t>
            </a:r>
          </a:p>
          <a:p xmlns:a="http://schemas.openxmlformats.org/drawingml/2006/main">
            <a:r>
              <a:t>    "risks": [</a:t>
            </a:r>
          </a:p>
          <a:p xmlns:a="http://schemas.openxmlformats.org/drawingml/2006/main">
            <a:r>
              <a:t>      "자료 기간·산정 전제의 부적합",</a:t>
            </a:r>
          </a:p>
          <a:p xmlns:a="http://schemas.openxmlformats.org/drawingml/2006/main">
            <a:r>
              <a:t>      "자동 판단에 대한 책임·재심 통제 부족"</a:t>
            </a:r>
          </a:p>
          <a:p xmlns:a="http://schemas.openxmlformats.org/drawingml/2006/main">
            <a:r>
              <a:t>    ],</a:t>
            </a:r>
          </a:p>
          <a:p xmlns:a="http://schemas.openxmlformats.org/drawingml/2006/main">
            <a:r>
              <a:t>    "architecture": [</a:t>
            </a:r>
          </a:p>
          <a:p xmlns:a="http://schemas.openxmlformats.org/drawingml/2006/main">
            <a:r>
              <a:t>      "기관 자료 교환",</a:t>
            </a:r>
          </a:p>
          <a:p xmlns:a="http://schemas.openxmlformats.org/drawingml/2006/main">
            <a:r>
              <a:t>      "자동 산정·통지",</a:t>
            </a:r>
          </a:p>
          <a:p xmlns:a="http://schemas.openxmlformats.org/drawingml/2006/main">
            <a:r>
              <a:t>      "소득·산정 근거",</a:t>
            </a:r>
          </a:p>
          <a:p xmlns:a="http://schemas.openxmlformats.org/drawingml/2006/main">
            <a:r>
              <a:t>      "대상자·재심 담당"</a:t>
            </a:r>
          </a:p>
          <a:p xmlns:a="http://schemas.openxmlformats.org/drawingml/2006/main">
            <a:r>
              <a:t>    ],</a:t>
            </a:r>
          </a:p>
          <a:p xmlns:a="http://schemas.openxmlformats.org/drawingml/2006/main">
            <a:r>
              <a:t>    "transfers": [</a:t>
            </a:r>
          </a:p>
          <a:p xmlns:a="http://schemas.openxmlformats.org/drawingml/2006/main">
            <a:r>
              <a:t>      "기관별 소득자료",</a:t>
            </a:r>
          </a:p>
          <a:p xmlns:a="http://schemas.openxmlformats.org/drawingml/2006/main">
            <a:r>
              <a:t>      "산정 대상·기간",</a:t>
            </a:r>
          </a:p>
          <a:p xmlns:a="http://schemas.openxmlformats.org/drawingml/2006/main">
            <a:r>
              <a:t>      "채무 통지",</a:t>
            </a:r>
          </a:p>
          <a:p xmlns:a="http://schemas.openxmlformats.org/drawingml/2006/main">
            <a:r>
              <a:t>      "이의·재심 기록"</a:t>
            </a:r>
          </a:p>
          <a:p xmlns:a="http://schemas.openxmlformats.org/drawingml/2006/main">
            <a:r>
              <a:t>    ],</a:t>
            </a:r>
          </a:p>
          <a:p xmlns:a="http://schemas.openxmlformats.org/drawingml/2006/main">
            <a:r>
              <a:t>    "control": "원천 증빙 불일치 시 자동 확정 보류",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호주 왕립위원회 · Robodebt 최종 보고서 https://robodebt.royalcommission.gov.au/publications/report</a:t>
            </a:r>
          </a:p>
          <a:p xmlns:a="http://schemas.openxmlformats.org/drawingml/2006/main">
            <a:r>
              <a:t>홈페이지 https://heen1987-ops.github.io/TS-business-Plan-001/index.html?view=casebook&amp;case=AX07</a:t>
            </a:r>
          </a:p>
          <a:p xmlns:a="http://schemas.openxmlformats.org/drawingml/2006/main">
            <a:r>
              <a:t>성과 대조</a:t>
            </a:r>
          </a:p>
          <a:p xmlns:a="http://schemas.openxmlformats.org/drawingml/2006/main">
            <a:r>
              <a:t>{</a:t>
            </a:r>
          </a:p>
          <a:p xmlns:a="http://schemas.openxmlformats.org/drawingml/2006/main">
            <a:r>
              <a:t>  "caseId": "AX07",</a:t>
            </a:r>
          </a:p>
          <a:p xmlns:a="http://schemas.openxmlformats.org/drawingml/2006/main">
            <a:r>
              <a:t>  "asIs": "복지 급여 기록과 소득 자료의 기간·단위 차이를 사람의 증빙 확인으로 해소해야 하는 업무",</a:t>
            </a:r>
          </a:p>
          <a:p xmlns:a="http://schemas.openxmlformats.org/drawingml/2006/main">
            <a:r>
              <a:t>  "toBe": "기관 자료 교환·소득 평균 산정으로 과지급 추정 및 채무 통지·회수 자동화",</a:t>
            </a:r>
          </a:p>
          <a:p xmlns:a="http://schemas.openxmlformats.org/drawingml/2006/main">
            <a:r>
              <a:t>  "expectedEffect": "과지급 식별과 행정 처리 효율화",</a:t>
            </a:r>
          </a:p>
          <a:p xmlns:a="http://schemas.openxmlformats.org/drawingml/2006/main">
            <a:r>
              <a:t>  "observed": "호주 왕립위원회가 합법성, 자료 산정, 공정한 통지·재심, 책임체계의 중대한 문제를 조사하고 시정 권고",</a:t>
            </a:r>
          </a:p>
          <a:p xmlns:a="http://schemas.openxmlformats.org/drawingml/2006/main">
            <a:r>
              <a:t>  "verdict": "실패 확인",</a:t>
            </a:r>
          </a:p>
          <a:p xmlns:a="http://schemas.openxmlformats.org/drawingml/2006/main">
            <a:r>
              <a:t>  "verdictReason": "법적 근거와 개별 증빙 검증 없이 자동 산정·회수로 이어진 행정 절차의 실패가 독립 조사에서 확인",</a:t>
            </a:r>
          </a:p>
          <a:p xmlns:a="http://schemas.openxmlformats.org/drawingml/2006/main">
            <a:r>
              <a:t>  "limits": "규칙 기반 행정자동화 제도 사건. 생성형 AI 또는 개별 모델의 성능 평가 아님",</a:t>
            </a:r>
          </a:p>
          <a:p xmlns:a="http://schemas.openxmlformats.org/drawingml/2006/main">
            <a:r>
              <a:t>  "evidenceStage": "독립 왕립위원회 사후 조사",</a:t>
            </a:r>
          </a:p>
          <a:p xmlns:a="http://schemas.openxmlformats.org/drawingml/2006/main">
            <a:r>
              <a:t>  "sourceUrl": "https://robodebt.royalcommission.gov.au/publications/report"</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"AX07",</a:t>
            </a:r>
          </a:p>
          <a:p xmlns:a="http://schemas.openxmlformats.org/drawingml/2006/main">
            <a:r>
              <a:t>    "title": "호주 Robodebt",</a:t>
            </a:r>
          </a:p>
          <a:p xmlns:a="http://schemas.openxmlformats.org/drawingml/2006/main">
            <a:r>
              <a:t>    "region": "해외",</a:t>
            </a:r>
          </a:p>
          <a:p xmlns:a="http://schemas.openxmlformats.org/drawingml/2006/main">
            <a:r>
              <a:t>    "country": "호주",</a:t>
            </a:r>
          </a:p>
          <a:p xmlns:a="http://schemas.openxmlformats.org/drawingml/2006/main">
            <a:r>
              <a:t>    "result": "실패",</a:t>
            </a:r>
          </a:p>
          <a:p xmlns:a="http://schemas.openxmlformats.org/drawingml/2006/main">
            <a:r>
              <a:t>    "kind": "행정 자동화·책임 통제",</a:t>
            </a:r>
          </a:p>
          <a:p xmlns:a="http://schemas.openxmlformats.org/drawingml/2006/main">
            <a:r>
              <a:t>    "period": "2023 최종 조사",</a:t>
            </a:r>
          </a:p>
          <a:p xmlns:a="http://schemas.openxmlformats.org/drawingml/2006/main">
            <a:r>
              <a:t>    "sources": [</a:t>
            </a:r>
          </a:p>
          <a:p xmlns:a="http://schemas.openxmlformats.org/drawingml/2006/main">
            <a:r>
              <a:t>      "S08"</a:t>
            </a:r>
          </a:p>
          <a:p xmlns:a="http://schemas.openxmlformats.org/drawingml/2006/main">
            <a:r>
              <a:t>    ],</a:t>
            </a:r>
          </a:p>
          <a:p xmlns:a="http://schemas.openxmlformats.org/drawingml/2006/main">
            <a:r>
              <a:t>    "keywords": [</a:t>
            </a:r>
          </a:p>
          <a:p xmlns:a="http://schemas.openxmlformats.org/drawingml/2006/main">
            <a:r>
              <a:t>      "행정 판단",</a:t>
            </a:r>
          </a:p>
          <a:p xmlns:a="http://schemas.openxmlformats.org/drawingml/2006/main">
            <a:r>
              <a:t>      "적법성",</a:t>
            </a:r>
          </a:p>
          <a:p xmlns:a="http://schemas.openxmlformats.org/drawingml/2006/main">
            <a:r>
              <a:t>      "이의제기",</a:t>
            </a:r>
          </a:p>
          <a:p xmlns:a="http://schemas.openxmlformats.org/drawingml/2006/main">
            <a:r>
              <a:t>      "공정성"</a:t>
            </a:r>
          </a:p>
          <a:p xmlns:a="http://schemas.openxmlformats.org/drawingml/2006/main">
            <a:r>
              <a:t>    ],</a:t>
            </a:r>
          </a:p>
          <a:p xmlns:a="http://schemas.openxmlformats.org/drawingml/2006/main">
            <a:r>
              <a:t>    "fact": "왕립위원회 최종 조사에서 자동 결정의 법적 틀·재심 경로·데이터 교환 통제·취약계층 대응 개선 권고",</a:t>
            </a:r>
          </a:p>
          <a:p xmlns:a="http://schemas.openxmlformats.org/drawingml/2006/main">
            <a:r>
              <a:t>    "limit": "규칙 기반 행정 자동화의 실패 교훈 · 생성형 AI 사례 아님",</a:t>
            </a:r>
          </a:p>
          <a:p xmlns:a="http://schemas.openxmlformats.org/drawingml/2006/main">
            <a:r>
              <a:t>    "flow": [</a:t>
            </a:r>
          </a:p>
          <a:p xmlns:a="http://schemas.openxmlformats.org/drawingml/2006/main">
            <a:r>
              <a:t>      "기관 간 자료",</a:t>
            </a:r>
          </a:p>
          <a:p xmlns:a="http://schemas.openxmlformats.org/drawingml/2006/main">
            <a:r>
              <a:t>      "자동 산정·결정",</a:t>
            </a:r>
          </a:p>
          <a:p xmlns:a="http://schemas.openxmlformats.org/drawingml/2006/main">
            <a:r>
              <a:t>      "대상자 통지",</a:t>
            </a:r>
          </a:p>
          <a:p xmlns:a="http://schemas.openxmlformats.org/drawingml/2006/main">
            <a:r>
              <a:t>      "이의제기·재심"</a:t>
            </a:r>
          </a:p>
          <a:p xmlns:a="http://schemas.openxmlformats.org/drawingml/2006/main">
            <a:r>
              <a:t>    ],</a:t>
            </a:r>
          </a:p>
          <a:p xmlns:a="http://schemas.openxmlformats.org/drawingml/2006/main">
            <a:r>
              <a:t>    "flowBasis": "조사 권고의 대상 업무를 설명하기 위한 재구성",</a:t>
            </a:r>
          </a:p>
          <a:p xmlns:a="http://schemas.openxmlformats.org/drawingml/2006/main">
            <a:r>
              <a:t>    "lesson": "자동화 이전의 법적 근거·증빙 검증과 재심 경로",</a:t>
            </a:r>
          </a:p>
          <a:p xmlns:a="http://schemas.openxmlformats.org/drawingml/2006/main">
            <a:r>
              <a:t>    "local": "검사·지원·자격 업무의 근거 조문·증빙·전결 확인 후 담당자 판단",</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"근거·입력 검증 / 자동 확정 제한 / 이의제기·재검토 연결",</a:t>
            </a:r>
          </a:p>
          <a:p xmlns:a="http://schemas.openxmlformats.org/drawingml/2006/main">
            <a:r>
              <a:t>    "test": "누락·기간 불일치·권한 부재 시 보류 및 재심 처리 추적",</a:t>
            </a:r>
          </a:p>
          <a:p xmlns:a="http://schemas.openxmlformats.org/drawingml/2006/main">
            <a:r>
              <a:t>    "metric": "근거 누락률 / 오판 보완률 / 이의처리 시간"</a:t>
            </a:r>
          </a:p>
          <a:p xmlns:a="http://schemas.openxmlformats.org/drawingml/2006/main">
            <a:r>
              <a:t>  },</a:t>
            </a:r>
          </a:p>
          <a:p xmlns:a="http://schemas.openxmlformats.org/drawingml/2006/main">
            <a:r>
              <a:t>  "design": {</a:t>
            </a:r>
          </a:p>
          <a:p xmlns:a="http://schemas.openxmlformats.org/drawingml/2006/main">
            <a:r>
              <a:t>    "id": "AX07",</a:t>
            </a:r>
          </a:p>
          <a:p xmlns:a="http://schemas.openxmlformats.org/drawingml/2006/main">
            <a:r>
              <a:t>    "canonicalId": "AX07",</a:t>
            </a:r>
          </a:p>
          <a:p xmlns:a="http://schemas.openxmlformats.org/drawingml/2006/main">
            <a:r>
              <a:t>    "purpose": "자동 행정 산정의 근거·재심 체계 분석",</a:t>
            </a:r>
          </a:p>
          <a:p xmlns:a="http://schemas.openxmlformats.org/drawingml/2006/main">
            <a:r>
              <a:t>    "users": "행정 담당자·대상자·재심 담당",</a:t>
            </a:r>
          </a:p>
          <a:p xmlns:a="http://schemas.openxmlformats.org/drawingml/2006/main">
            <a:r>
              <a:t>    "scope": [</a:t>
            </a:r>
          </a:p>
          <a:p xmlns:a="http://schemas.openxmlformats.org/drawingml/2006/main">
            <a:r>
              <a:t>      "기관 간 자료",</a:t>
            </a:r>
          </a:p>
          <a:p xmlns:a="http://schemas.openxmlformats.org/drawingml/2006/main">
            <a:r>
              <a:t>      "산정·통지",</a:t>
            </a:r>
          </a:p>
          <a:p xmlns:a="http://schemas.openxmlformats.org/drawingml/2006/main">
            <a:r>
              <a:t>      "이의제기"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자료 교환",</a:t>
            </a:r>
          </a:p>
          <a:p xmlns:a="http://schemas.openxmlformats.org/drawingml/2006/main">
            <a:r>
              <a:t>        "detail": "자료의 대상·기간·적용 근거 대조",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"기관 간 자료 / 산정·통지 / 이의제기",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"자동 산정·통지",</a:t>
            </a:r>
          </a:p>
          <a:p xmlns:a="http://schemas.openxmlformats.org/drawingml/2006/main">
            <a:r>
              <a:t>        "detail": "불일치 자료의 자동 확정 보류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"대상자·재심 담당",</a:t>
            </a:r>
          </a:p>
          <a:p xmlns:a="http://schemas.openxmlformats.org/drawingml/2006/main">
            <a:r>
              <a:t>        "detail": "담당자 검토와 설명 가능한 통지·재심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"소득·산정 근거",</a:t>
            </a:r>
          </a:p>
          <a:p xmlns:a="http://schemas.openxmlformats.org/drawingml/2006/main">
            <a:r>
              <a:t>        "detail": "소득 등 원천자료와 적용기간 분리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"오판·이의제기 결과의 규칙 및 절차 개선",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"기관 간 자료",</a:t>
            </a:r>
          </a:p>
          <a:p xmlns:a="http://schemas.openxmlformats.org/drawingml/2006/main">
            <a:r>
              <a:t>        "input": "자료의 대상·기간·적용 근거 대조",</a:t>
            </a:r>
          </a:p>
          <a:p xmlns:a="http://schemas.openxmlformats.org/drawingml/2006/main">
            <a:r>
              <a:t>        "process": "소득 등 원천자료와 적용기간 분리 관리",</a:t>
            </a:r>
          </a:p>
          <a:p xmlns:a="http://schemas.openxmlformats.org/drawingml/2006/main">
            <a:r>
              <a:t>        "output": "기관별 소득자료"</a:t>
            </a:r>
          </a:p>
          <a:p xmlns:a="http://schemas.openxmlformats.org/drawingml/2006/main">
            <a:r>
              <a:t>      },</a:t>
            </a:r>
          </a:p>
          <a:p xmlns:a="http://schemas.openxmlformats.org/drawingml/2006/main">
            <a:r>
              <a:t>      {</a:t>
            </a:r>
          </a:p>
          <a:p xmlns:a="http://schemas.openxmlformats.org/drawingml/2006/main">
            <a:r>
              <a:t>        "title": "자동 산정·결정",</a:t>
            </a:r>
          </a:p>
          <a:p xmlns:a="http://schemas.openxmlformats.org/drawingml/2006/main">
            <a:r>
              <a:t>        "input": "기관별 소득자료",</a:t>
            </a:r>
          </a:p>
          <a:p xmlns:a="http://schemas.openxmlformats.org/drawingml/2006/main">
            <a:r>
              <a:t>        "process": "불일치 자료의 자동 확정 보류 설계",</a:t>
            </a:r>
          </a:p>
          <a:p xmlns:a="http://schemas.openxmlformats.org/drawingml/2006/main">
            <a:r>
              <a:t>        "output": "산정 대상·기간"</a:t>
            </a:r>
          </a:p>
          <a:p xmlns:a="http://schemas.openxmlformats.org/drawingml/2006/main">
            <a:r>
              <a:t>      },</a:t>
            </a:r>
          </a:p>
          <a:p xmlns:a="http://schemas.openxmlformats.org/drawingml/2006/main">
            <a:r>
              <a:t>      {</a:t>
            </a:r>
          </a:p>
          <a:p xmlns:a="http://schemas.openxmlformats.org/drawingml/2006/main">
            <a:r>
              <a:t>        "title": "대상자 통지",</a:t>
            </a:r>
          </a:p>
          <a:p xmlns:a="http://schemas.openxmlformats.org/drawingml/2006/main">
            <a:r>
              <a:t>        "input": "산정 대상·기간",</a:t>
            </a:r>
          </a:p>
          <a:p xmlns:a="http://schemas.openxmlformats.org/drawingml/2006/main">
            <a:r>
              <a:t>        "process": "원천 증빙 불일치 시 자동 확정 보류",</a:t>
            </a:r>
          </a:p>
          <a:p xmlns:a="http://schemas.openxmlformats.org/drawingml/2006/main">
            <a:r>
              <a:t>        "output": "채무 통지"</a:t>
            </a:r>
          </a:p>
          <a:p xmlns:a="http://schemas.openxmlformats.org/drawingml/2006/main">
            <a:r>
              <a:t>      },</a:t>
            </a:r>
          </a:p>
          <a:p xmlns:a="http://schemas.openxmlformats.org/drawingml/2006/main">
            <a:r>
              <a:t>      {</a:t>
            </a:r>
          </a:p>
          <a:p xmlns:a="http://schemas.openxmlformats.org/drawingml/2006/main">
            <a:r>
              <a:t>        "title": "이의제기·재심",</a:t>
            </a:r>
          </a:p>
          <a:p xmlns:a="http://schemas.openxmlformats.org/drawingml/2006/main">
            <a:r>
              <a:t>        "input": "채무 통지",</a:t>
            </a:r>
          </a:p>
          <a:p xmlns:a="http://schemas.openxmlformats.org/drawingml/2006/main">
            <a:r>
              <a:t>        "process": "담당자 검토와 설명 가능한 통지·재심 연결",</a:t>
            </a:r>
          </a:p>
          <a:p xmlns:a="http://schemas.openxmlformats.org/drawingml/2006/main">
            <a:r>
              <a:t>        "output": "이의·재심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"기간이 일치하는 증빙을 확인한 뒤 담당자가 행정 결과 검토",</a:t>
            </a:r>
          </a:p>
          <a:p xmlns:a="http://schemas.openxmlformats.org/drawingml/2006/main">
            <a:r>
              <a:t>      "exception": "연간 자료를 짧은 기간에 일률 배분·당사자 반박 증빙",</a:t>
            </a:r>
          </a:p>
          <a:p xmlns:a="http://schemas.openxmlformats.org/drawingml/2006/main">
            <a:r>
              <a:t>      "evidence": "기간별 산정 대사와 보류·재심·담당자 판단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"행정 담당자·대상자·재심 담당",</a:t>
            </a:r>
          </a:p>
          <a:p xmlns:a="http://schemas.openxmlformats.org/drawingml/2006/main">
            <a:r>
              <a:t>          "processing": "자료의 대상·기간·적용 근거 대조",</a:t>
            </a:r>
          </a:p>
          <a:p xmlns:a="http://schemas.openxmlformats.org/drawingml/2006/main">
            <a:r>
              <a:t>          "output": "기관별 소득자료"</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"소득·산정 근거",</a:t>
            </a:r>
          </a:p>
          <a:p xmlns:a="http://schemas.openxmlformats.org/drawingml/2006/main">
            <a:r>
              <a:t>          "processing": "소득 등 원천자료와 적용기간 분리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"기관별 소득자료",</a:t>
            </a:r>
          </a:p>
          <a:p xmlns:a="http://schemas.openxmlformats.org/drawingml/2006/main">
            <a:r>
              <a:t>          "processing": "불일치 자료의 자동 확정 보류 설계",</a:t>
            </a:r>
          </a:p>
          <a:p xmlns:a="http://schemas.openxmlformats.org/drawingml/2006/main">
            <a:r>
              <a:t>          "output": "채무 통지"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"채무 통지",</a:t>
            </a:r>
          </a:p>
          <a:p xmlns:a="http://schemas.openxmlformats.org/drawingml/2006/main">
            <a:r>
              <a:t>          "processing": "담당자 검토와 설명 가능한 통지·재심 연결",</a:t>
            </a:r>
          </a:p>
          <a:p xmlns:a="http://schemas.openxmlformats.org/drawingml/2006/main">
            <a:r>
              <a:t>          "output": "이의·재심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"오판·이의제기 결과의 규칙 및 절차 개선",</a:t>
            </a:r>
          </a:p>
          <a:p xmlns:a="http://schemas.openxmlformats.org/drawingml/2006/main">
            <a:r>
              <a:t>          "output": "기간별 산정 대사와 보류·재심·담당자 판단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"오판·이의제기 결과의 규칙 및 절차 개선",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"S08",</a:t>
            </a:r>
          </a:p>
          <a:p xmlns:a="http://schemas.openxmlformats.org/drawingml/2006/main">
            <a:r>
              <a:t>        "title": "호주 왕립위원회 · Robodebt 최종 보고서",</a:t>
            </a:r>
          </a:p>
          <a:p xmlns:a="http://schemas.openxmlformats.org/drawingml/2006/main">
            <a:r>
              <a:t>        "url": "https://robodebt.royalcommission.gov.au/publications/report",</a:t>
            </a:r>
          </a:p>
          <a:p xmlns:a="http://schemas.openxmlformats.org/drawingml/2006/main">
            <a:r>
              <a:t>        "published": "2023-07-07",</a:t>
            </a:r>
          </a:p>
          <a:p xmlns:a="http://schemas.openxmlformats.org/drawingml/2006/main">
            <a:r>
              <a:t>        "level": "독립 조사 / 2023-07-11 정정본 안내",</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"자동화 이전의 법적 근거·증빙 검증과 재심 경로",</a:t>
            </a:r>
          </a:p>
          <a:p xmlns:a="http://schemas.openxmlformats.org/drawingml/2006/main">
            <a:r>
              <a:t>    "local": "검사·지원·자격 업무의 근거 조문·증빙·전결 확인 후 담당자 판단",</a:t>
            </a:r>
          </a:p>
          <a:p xmlns:a="http://schemas.openxmlformats.org/drawingml/2006/main">
            <a:r>
              <a:t>    "sourceDetail": null,</a:t>
            </a:r>
          </a:p>
          <a:p xmlns:a="http://schemas.openxmlformats.org/drawingml/2006/main">
            <a:r>
              <a:t>    "narrative": [</a:t>
            </a:r>
          </a:p>
          <a:p xmlns:a="http://schemas.openxmlformats.org/drawingml/2006/main">
            <a:r>
              <a:t>      "기관 자료를 이용한 자동 산정·통지의 법적·증빙 통제 실패를 다룬 사례. 생성형 AI의 오답 문제보다 자료의 적용 기간과 산정 전제, 당사자의 이의제기 절차가 핵심인 행정 자동화 사례.",</a:t>
            </a:r>
          </a:p>
          <a:p xmlns:a="http://schemas.openxmlformats.org/drawingml/2006/main">
            <a:r>
              <a:t>      "원천 소득자료와 산정 대상 기간을 연결한 뒤 불일치 자료를 사람이 검토하도록 하는 재발 방지 구조. 통지에는 사용 근거와 산정 경로를 남기고 이의제기·재심 결과를 원 규칙에 환류하는 설계.",</a:t>
            </a:r>
          </a:p>
          <a:p xmlns:a="http://schemas.openxmlformats.org/drawingml/2006/main">
            <a:r>
              <a:t>      "TS에서는 AI 분류·계산 결과를 처분·부과·승인으로 곧바로 확정하지 않는 책임 경계에 활용. 근거 없는 자동 확정 차단, 기간 불일치 탐지, 재심 가능성과 증빙 추적을 검수할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"행정 산정 요청",</a:t>
            </a:r>
          </a:p>
          <a:p xmlns:a="http://schemas.openxmlformats.org/drawingml/2006/main">
            <a:r>
              <a:t>          "layer": "이용 접점",</a:t>
            </a:r>
          </a:p>
          <a:p xmlns:a="http://schemas.openxmlformats.org/drawingml/2006/main">
            <a:r>
              <a:t>          "detail": "행정 담당자·대상자·재심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"대상·적용기간",</a:t>
            </a:r>
          </a:p>
          <a:p xmlns:a="http://schemas.openxmlformats.org/drawingml/2006/main">
            <a:r>
              <a:t>          "layer": "업무 문맥",</a:t>
            </a:r>
          </a:p>
          <a:p xmlns:a="http://schemas.openxmlformats.org/drawingml/2006/main">
            <a:r>
              <a:t>          "detail": "자료의 대상·기간·적용 근거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"원천 소득 조회",</a:t>
            </a:r>
          </a:p>
          <a:p xmlns:a="http://schemas.openxmlformats.org/drawingml/2006/main">
            <a:r>
              <a:t>          "layer": "자료 조회",</a:t>
            </a:r>
          </a:p>
          <a:p xmlns:a="http://schemas.openxmlformats.org/drawingml/2006/main">
            <a:r>
              <a:t>          "detail": "기관별 소득자료",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"기간·산식 대조",</a:t>
            </a:r>
          </a:p>
          <a:p xmlns:a="http://schemas.openxmlformats.org/drawingml/2006/main">
            <a:r>
              <a:t>          "layer": "핵심 처리",</a:t>
            </a:r>
          </a:p>
          <a:p xmlns:a="http://schemas.openxmlformats.org/drawingml/2006/main">
            <a:r>
              <a:t>          "detail": "불일치 자료의 자동 확정 보류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"증빙 불일치 보류",</a:t>
            </a:r>
          </a:p>
          <a:p xmlns:a="http://schemas.openxmlformats.org/drawingml/2006/main">
            <a:r>
              <a:t>          "layer": "결과 검증",</a:t>
            </a:r>
          </a:p>
          <a:p xmlns:a="http://schemas.openxmlformats.org/drawingml/2006/main">
            <a:r>
              <a:t>          "detail": "원천 증빙 불일치 시 자동 확정 보류",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근거 확인",</a:t>
            </a:r>
          </a:p>
          <a:p xmlns:a="http://schemas.openxmlformats.org/drawingml/2006/main">
            <a:r>
              <a:t>          "layer": "사람 확인",</a:t>
            </a:r>
          </a:p>
          <a:p xmlns:a="http://schemas.openxmlformats.org/drawingml/2006/main">
            <a:r>
              <a:t>          "detail": "기간이 일치하는 증빙을 확인한 뒤 담당자가 행정 결과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"통지·이의제기",</a:t>
            </a:r>
          </a:p>
          <a:p xmlns:a="http://schemas.openxmlformats.org/drawingml/2006/main">
            <a:r>
              <a:t>          "layer": "업무 연결",</a:t>
            </a:r>
          </a:p>
          <a:p xmlns:a="http://schemas.openxmlformats.org/drawingml/2006/main">
            <a:r>
              <a:t>          "detail": "담당자 검토와 설명 가능한 통지·재심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"재심 결과 환류",</a:t>
            </a:r>
          </a:p>
          <a:p xmlns:a="http://schemas.openxmlformats.org/drawingml/2006/main">
            <a:r>
              <a:t>          "layer": "운영 관측",</a:t>
            </a:r>
          </a:p>
          <a:p xmlns:a="http://schemas.openxmlformats.org/drawingml/2006/main">
            <a:r>
              <a:t>          "detail": "오판·이의제기 결과의 규칙 및 절차 개선",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"기관 소득자료",</a:t>
            </a:r>
          </a:p>
          <a:p xmlns:a="http://schemas.openxmlformats.org/drawingml/2006/main">
            <a:r>
              <a:t>          "layer": "데이터 원천",</a:t>
            </a:r>
          </a:p>
          <a:p xmlns:a="http://schemas.openxmlformats.org/drawingml/2006/main">
            <a:r>
              <a:t>          "detail": "소득·산정 근거",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"기간·식별자 정합화",</a:t>
            </a:r>
          </a:p>
          <a:p xmlns:a="http://schemas.openxmlformats.org/drawingml/2006/main">
            <a:r>
              <a:t>          "layer": "준비·갱신",</a:t>
            </a:r>
          </a:p>
          <a:p xmlns:a="http://schemas.openxmlformats.org/drawingml/2006/main">
            <a:r>
              <a:t>          "detail": "소득 등 원천자료와 적용기간 분리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"근거·통지 이력",</a:t>
            </a:r>
          </a:p>
          <a:p xmlns:a="http://schemas.openxmlformats.org/drawingml/2006/main">
            <a:r>
              <a:t>          "layer": "상태·지식 저장",</a:t>
            </a:r>
          </a:p>
          <a:p xmlns:a="http://schemas.openxmlformats.org/drawingml/2006/main">
            <a:r>
              <a:t>          "detail": "기간별 산정 대사와 보류·재심·담당자 판단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"산정·재심 규칙",</a:t>
            </a:r>
          </a:p>
          <a:p xmlns:a="http://schemas.openxmlformats.org/drawingml/2006/main">
            <a:r>
              <a:t>          "layer": "권한·정책",</a:t>
            </a:r>
          </a:p>
          <a:p xmlns:a="http://schemas.openxmlformats.org/drawingml/2006/main">
            <a:r>
              <a:t>          "detail": "연간 자료를 짧은 기간에 일률 배분·당사자 반박 증빙",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"기관 간 자료 → 자동 산정·결정 → 대상자 통지 → 이의제기·재심"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"자료의 대상·기간·적용 근거 대조",</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"기관별 소득자료",</a:t>
            </a:r>
          </a:p>
          <a:p xmlns:a="http://schemas.openxmlformats.org/drawingml/2006/main">
            <a:r>
              <a:t>          "check": "원천 증빙 불일치 시 자동 확정 보류"</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"산정·재심 규칙",</a:t>
            </a:r>
          </a:p>
          <a:p xmlns:a="http://schemas.openxmlformats.org/drawingml/2006/main">
            <a:r>
              <a:t>          "check": "원천 증빙 불일치 시 자동 확정 보류"</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"채무 통지",</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"채무 통지",</a:t>
            </a:r>
          </a:p>
          <a:p xmlns:a="http://schemas.openxmlformats.org/drawingml/2006/main">
            <a:r>
              <a:t>          "check": "연간 자료를 짧은 기간에 일률 배분·당사자 반박 증빙"</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"이의·재심 기록",</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"자동 행정 산정의 근거·재심 체계 분석 / 기관 간 자료·산정·통지·이의제기",</a:t>
            </a:r>
          </a:p>
          <a:p xmlns:a="http://schemas.openxmlformats.org/drawingml/2006/main">
            <a:r>
              <a:t>        "extension": "검사·지원·자격 업무의 근거 조문·증빙·전결 확인 후 담당자 판단"</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"연간 자료를 짧은 기간에 일률 배분·당사자 반박 증빙",</a:t>
            </a:r>
          </a:p>
          <a:p xmlns:a="http://schemas.openxmlformats.org/drawingml/2006/main">
            <a:r>
              <a:t>        "hold": "원천 증빙 불일치 시 자동 확정 보류",</a:t>
            </a:r>
          </a:p>
          <a:p xmlns:a="http://schemas.openxmlformats.org/drawingml/2006/main">
            <a:r>
              <a:t>        "recovery": "오판·이의제기 결과의 규칙 및 절차 개선",</a:t>
            </a:r>
          </a:p>
          <a:p xmlns:a="http://schemas.openxmlformats.org/drawingml/2006/main">
            <a:r>
              <a:t>        "evidence": "기간별 산정 대사와 보류·재심·담당자 판단 기록"</a:t>
            </a:r>
          </a:p>
          <a:p xmlns:a="http://schemas.openxmlformats.org/drawingml/2006/main">
            <a:r>
              <a:t>      },</a:t>
            </a:r>
          </a:p>
          <a:p xmlns:a="http://schemas.openxmlformats.org/drawingml/2006/main">
            <a:r>
              <a:t>      "data": {</a:t>
            </a:r>
          </a:p>
          <a:p xmlns:a="http://schemas.openxmlformats.org/drawingml/2006/main">
            <a:r>
              <a:t>        "source": "소득·산정 근거",</a:t>
            </a:r>
          </a:p>
          <a:p xmlns:a="http://schemas.openxmlformats.org/drawingml/2006/main">
            <a:r>
              <a:t>        "prepare": "소득 등 원천자료와 적용기간 분리 관리",</a:t>
            </a:r>
          </a:p>
          <a:p xmlns:a="http://schemas.openxmlformats.org/drawingml/2006/main">
            <a:r>
              <a:t>        "output": "기관별 소득자료",</a:t>
            </a:r>
          </a:p>
          <a:p xmlns:a="http://schemas.openxmlformats.org/drawingml/2006/main">
            <a:r>
              <a:t>        "refresh": "오판·이의제기 결과의 규칙 및 절차 개선"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"AX07",</a:t>
            </a:r>
          </a:p>
          <a:p xmlns:a="http://schemas.openxmlformats.org/drawingml/2006/main">
            <a:r>
              <a:t>    "success": [</a:t>
            </a:r>
          </a:p>
          <a:p xmlns:a="http://schemas.openxmlformats.org/drawingml/2006/main">
            <a:r>
              <a:t>      "자동 결정 전 법적·증빙 근거 확인",</a:t>
            </a:r>
          </a:p>
          <a:p xmlns:a="http://schemas.openxmlformats.org/drawingml/2006/main">
            <a:r>
              <a:t>      "이의제기와 재심 경로 확보"</a:t>
            </a:r>
          </a:p>
          <a:p xmlns:a="http://schemas.openxmlformats.org/drawingml/2006/main">
            <a:r>
              <a:t>    ],</a:t>
            </a:r>
          </a:p>
          <a:p xmlns:a="http://schemas.openxmlformats.org/drawingml/2006/main">
            <a:r>
              <a:t>    "risks": [</a:t>
            </a:r>
          </a:p>
          <a:p xmlns:a="http://schemas.openxmlformats.org/drawingml/2006/main">
            <a:r>
              <a:t>      "자료 기간·산정 전제의 부적합",</a:t>
            </a:r>
          </a:p>
          <a:p xmlns:a="http://schemas.openxmlformats.org/drawingml/2006/main">
            <a:r>
              <a:t>      "자동 판단에 대한 책임·재심 통제 부족"</a:t>
            </a:r>
          </a:p>
          <a:p xmlns:a="http://schemas.openxmlformats.org/drawingml/2006/main">
            <a:r>
              <a:t>    ],</a:t>
            </a:r>
          </a:p>
          <a:p xmlns:a="http://schemas.openxmlformats.org/drawingml/2006/main">
            <a:r>
              <a:t>    "architecture": [</a:t>
            </a:r>
          </a:p>
          <a:p xmlns:a="http://schemas.openxmlformats.org/drawingml/2006/main">
            <a:r>
              <a:t>      "기관 자료 교환",</a:t>
            </a:r>
          </a:p>
          <a:p xmlns:a="http://schemas.openxmlformats.org/drawingml/2006/main">
            <a:r>
              <a:t>      "자동 산정·통지",</a:t>
            </a:r>
          </a:p>
          <a:p xmlns:a="http://schemas.openxmlformats.org/drawingml/2006/main">
            <a:r>
              <a:t>      "소득·산정 근거",</a:t>
            </a:r>
          </a:p>
          <a:p xmlns:a="http://schemas.openxmlformats.org/drawingml/2006/main">
            <a:r>
              <a:t>      "대상자·재심 담당"</a:t>
            </a:r>
          </a:p>
          <a:p xmlns:a="http://schemas.openxmlformats.org/drawingml/2006/main">
            <a:r>
              <a:t>    ],</a:t>
            </a:r>
          </a:p>
          <a:p xmlns:a="http://schemas.openxmlformats.org/drawingml/2006/main">
            <a:r>
              <a:t>    "transfers": [</a:t>
            </a:r>
          </a:p>
          <a:p xmlns:a="http://schemas.openxmlformats.org/drawingml/2006/main">
            <a:r>
              <a:t>      "기관별 소득자료",</a:t>
            </a:r>
          </a:p>
          <a:p xmlns:a="http://schemas.openxmlformats.org/drawingml/2006/main">
            <a:r>
              <a:t>      "산정 대상·기간",</a:t>
            </a:r>
          </a:p>
          <a:p xmlns:a="http://schemas.openxmlformats.org/drawingml/2006/main">
            <a:r>
              <a:t>      "채무 통지",</a:t>
            </a:r>
          </a:p>
          <a:p xmlns:a="http://schemas.openxmlformats.org/drawingml/2006/main">
            <a:r>
              <a:t>      "이의·재심 기록"</a:t>
            </a:r>
          </a:p>
          <a:p xmlns:a="http://schemas.openxmlformats.org/drawingml/2006/main">
            <a:r>
              <a:t>    ],</a:t>
            </a:r>
          </a:p>
          <a:p xmlns:a="http://schemas.openxmlformats.org/drawingml/2006/main">
            <a:r>
              <a:t>    "control": "원천 증빙 불일치 시 자동 확정 보류",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호주 왕립위원회 · Robodebt 최종 보고서 https://robodebt.royalcommission.gov.au/publications/report</a:t>
            </a:r>
          </a:p>
          <a:p xmlns:a="http://schemas.openxmlformats.org/drawingml/2006/main">
            <a:r>
              <a:t>홈페이지 https://heen1987-ops.github.io/TS-business-Plan-001/index.html?view=casebook&amp;case=AX07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"AX07",</a:t>
            </a:r>
          </a:p>
          <a:p xmlns:a="http://schemas.openxmlformats.org/drawingml/2006/main">
            <a:r>
              <a:t>    "title": "호주 Robodebt",</a:t>
            </a:r>
          </a:p>
          <a:p xmlns:a="http://schemas.openxmlformats.org/drawingml/2006/main">
            <a:r>
              <a:t>    "region": "해외",</a:t>
            </a:r>
          </a:p>
          <a:p xmlns:a="http://schemas.openxmlformats.org/drawingml/2006/main">
            <a:r>
              <a:t>    "country": "호주",</a:t>
            </a:r>
          </a:p>
          <a:p xmlns:a="http://schemas.openxmlformats.org/drawingml/2006/main">
            <a:r>
              <a:t>    "result": "실패",</a:t>
            </a:r>
          </a:p>
          <a:p xmlns:a="http://schemas.openxmlformats.org/drawingml/2006/main">
            <a:r>
              <a:t>    "kind": "행정 자동화·책임 통제",</a:t>
            </a:r>
          </a:p>
          <a:p xmlns:a="http://schemas.openxmlformats.org/drawingml/2006/main">
            <a:r>
              <a:t>    "period": "2023 최종 조사",</a:t>
            </a:r>
          </a:p>
          <a:p xmlns:a="http://schemas.openxmlformats.org/drawingml/2006/main">
            <a:r>
              <a:t>    "sources": [</a:t>
            </a:r>
          </a:p>
          <a:p xmlns:a="http://schemas.openxmlformats.org/drawingml/2006/main">
            <a:r>
              <a:t>      "S08"</a:t>
            </a:r>
          </a:p>
          <a:p xmlns:a="http://schemas.openxmlformats.org/drawingml/2006/main">
            <a:r>
              <a:t>    ],</a:t>
            </a:r>
          </a:p>
          <a:p xmlns:a="http://schemas.openxmlformats.org/drawingml/2006/main">
            <a:r>
              <a:t>    "keywords": [</a:t>
            </a:r>
          </a:p>
          <a:p xmlns:a="http://schemas.openxmlformats.org/drawingml/2006/main">
            <a:r>
              <a:t>      "행정 판단",</a:t>
            </a:r>
          </a:p>
          <a:p xmlns:a="http://schemas.openxmlformats.org/drawingml/2006/main">
            <a:r>
              <a:t>      "적법성",</a:t>
            </a:r>
          </a:p>
          <a:p xmlns:a="http://schemas.openxmlformats.org/drawingml/2006/main">
            <a:r>
              <a:t>      "이의제기",</a:t>
            </a:r>
          </a:p>
          <a:p xmlns:a="http://schemas.openxmlformats.org/drawingml/2006/main">
            <a:r>
              <a:t>      "공정성"</a:t>
            </a:r>
          </a:p>
          <a:p xmlns:a="http://schemas.openxmlformats.org/drawingml/2006/main">
            <a:r>
              <a:t>    ],</a:t>
            </a:r>
          </a:p>
          <a:p xmlns:a="http://schemas.openxmlformats.org/drawingml/2006/main">
            <a:r>
              <a:t>    "fact": "왕립위원회 최종 조사에서 자동 결정의 법적 틀·재심 경로·데이터 교환 통제·취약계층 대응 개선 권고",</a:t>
            </a:r>
          </a:p>
          <a:p xmlns:a="http://schemas.openxmlformats.org/drawingml/2006/main">
            <a:r>
              <a:t>    "limit": "규칙 기반 행정 자동화의 실패 교훈 · 생성형 AI 사례 아님",</a:t>
            </a:r>
          </a:p>
          <a:p xmlns:a="http://schemas.openxmlformats.org/drawingml/2006/main">
            <a:r>
              <a:t>    "flow": [</a:t>
            </a:r>
          </a:p>
          <a:p xmlns:a="http://schemas.openxmlformats.org/drawingml/2006/main">
            <a:r>
              <a:t>      "기관 간 자료",</a:t>
            </a:r>
          </a:p>
          <a:p xmlns:a="http://schemas.openxmlformats.org/drawingml/2006/main">
            <a:r>
              <a:t>      "자동 산정·결정",</a:t>
            </a:r>
          </a:p>
          <a:p xmlns:a="http://schemas.openxmlformats.org/drawingml/2006/main">
            <a:r>
              <a:t>      "대상자 통지",</a:t>
            </a:r>
          </a:p>
          <a:p xmlns:a="http://schemas.openxmlformats.org/drawingml/2006/main">
            <a:r>
              <a:t>      "이의제기·재심"</a:t>
            </a:r>
          </a:p>
          <a:p xmlns:a="http://schemas.openxmlformats.org/drawingml/2006/main">
            <a:r>
              <a:t>    ],</a:t>
            </a:r>
          </a:p>
          <a:p xmlns:a="http://schemas.openxmlformats.org/drawingml/2006/main">
            <a:r>
              <a:t>    "flowBasis": "조사 권고의 대상 업무를 설명하기 위한 재구성",</a:t>
            </a:r>
          </a:p>
          <a:p xmlns:a="http://schemas.openxmlformats.org/drawingml/2006/main">
            <a:r>
              <a:t>    "lesson": "자동화 이전의 법적 근거·증빙 검증과 재심 경로",</a:t>
            </a:r>
          </a:p>
          <a:p xmlns:a="http://schemas.openxmlformats.org/drawingml/2006/main">
            <a:r>
              <a:t>    "local": "검사·지원·자격 업무의 근거 조문·증빙·전결 확인 후 담당자 판단",</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"근거·입력 검증 / 자동 확정 제한 / 이의제기·재검토 연결",</a:t>
            </a:r>
          </a:p>
          <a:p xmlns:a="http://schemas.openxmlformats.org/drawingml/2006/main">
            <a:r>
              <a:t>    "test": "누락·기간 불일치·권한 부재 시 보류 및 재심 처리 추적",</a:t>
            </a:r>
          </a:p>
          <a:p xmlns:a="http://schemas.openxmlformats.org/drawingml/2006/main">
            <a:r>
              <a:t>    "metric": "근거 누락률 / 오판 보완률 / 이의처리 시간"</a:t>
            </a:r>
          </a:p>
          <a:p xmlns:a="http://schemas.openxmlformats.org/drawingml/2006/main">
            <a:r>
              <a:t>  },</a:t>
            </a:r>
          </a:p>
          <a:p xmlns:a="http://schemas.openxmlformats.org/drawingml/2006/main">
            <a:r>
              <a:t>  "design": {</a:t>
            </a:r>
          </a:p>
          <a:p xmlns:a="http://schemas.openxmlformats.org/drawingml/2006/main">
            <a:r>
              <a:t>    "id": "AX07",</a:t>
            </a:r>
          </a:p>
          <a:p xmlns:a="http://schemas.openxmlformats.org/drawingml/2006/main">
            <a:r>
              <a:t>    "canonicalId": "AX07",</a:t>
            </a:r>
          </a:p>
          <a:p xmlns:a="http://schemas.openxmlformats.org/drawingml/2006/main">
            <a:r>
              <a:t>    "purpose": "자동 행정 산정의 근거·재심 체계 분석",</a:t>
            </a:r>
          </a:p>
          <a:p xmlns:a="http://schemas.openxmlformats.org/drawingml/2006/main">
            <a:r>
              <a:t>    "users": "행정 담당자·대상자·재심 담당",</a:t>
            </a:r>
          </a:p>
          <a:p xmlns:a="http://schemas.openxmlformats.org/drawingml/2006/main">
            <a:r>
              <a:t>    "scope": [</a:t>
            </a:r>
          </a:p>
          <a:p xmlns:a="http://schemas.openxmlformats.org/drawingml/2006/main">
            <a:r>
              <a:t>      "기관 간 자료",</a:t>
            </a:r>
          </a:p>
          <a:p xmlns:a="http://schemas.openxmlformats.org/drawingml/2006/main">
            <a:r>
              <a:t>      "산정·통지",</a:t>
            </a:r>
          </a:p>
          <a:p xmlns:a="http://schemas.openxmlformats.org/drawingml/2006/main">
            <a:r>
              <a:t>      "이의제기"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자료 교환",</a:t>
            </a:r>
          </a:p>
          <a:p xmlns:a="http://schemas.openxmlformats.org/drawingml/2006/main">
            <a:r>
              <a:t>        "detail": "자료의 대상·기간·적용 근거 대조",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"기관 간 자료 / 산정·통지 / 이의제기",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"자동 산정·통지",</a:t>
            </a:r>
          </a:p>
          <a:p xmlns:a="http://schemas.openxmlformats.org/drawingml/2006/main">
            <a:r>
              <a:t>        "detail": "불일치 자료의 자동 확정 보류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"대상자·재심 담당",</a:t>
            </a:r>
          </a:p>
          <a:p xmlns:a="http://schemas.openxmlformats.org/drawingml/2006/main">
            <a:r>
              <a:t>        "detail": "담당자 검토와 설명 가능한 통지·재심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"소득·산정 근거",</a:t>
            </a:r>
          </a:p>
          <a:p xmlns:a="http://schemas.openxmlformats.org/drawingml/2006/main">
            <a:r>
              <a:t>        "detail": "소득 등 원천자료와 적용기간 분리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"오판·이의제기 결과의 규칙 및 절차 개선",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"기관 간 자료",</a:t>
            </a:r>
          </a:p>
          <a:p xmlns:a="http://schemas.openxmlformats.org/drawingml/2006/main">
            <a:r>
              <a:t>        "input": "자료의 대상·기간·적용 근거 대조",</a:t>
            </a:r>
          </a:p>
          <a:p xmlns:a="http://schemas.openxmlformats.org/drawingml/2006/main">
            <a:r>
              <a:t>        "process": "소득 등 원천자료와 적용기간 분리 관리",</a:t>
            </a:r>
          </a:p>
          <a:p xmlns:a="http://schemas.openxmlformats.org/drawingml/2006/main">
            <a:r>
              <a:t>        "output": "기관별 소득자료"</a:t>
            </a:r>
          </a:p>
          <a:p xmlns:a="http://schemas.openxmlformats.org/drawingml/2006/main">
            <a:r>
              <a:t>      },</a:t>
            </a:r>
          </a:p>
          <a:p xmlns:a="http://schemas.openxmlformats.org/drawingml/2006/main">
            <a:r>
              <a:t>      {</a:t>
            </a:r>
          </a:p>
          <a:p xmlns:a="http://schemas.openxmlformats.org/drawingml/2006/main">
            <a:r>
              <a:t>        "title": "자동 산정·결정",</a:t>
            </a:r>
          </a:p>
          <a:p xmlns:a="http://schemas.openxmlformats.org/drawingml/2006/main">
            <a:r>
              <a:t>        "input": "기관별 소득자료",</a:t>
            </a:r>
          </a:p>
          <a:p xmlns:a="http://schemas.openxmlformats.org/drawingml/2006/main">
            <a:r>
              <a:t>        "process": "불일치 자료의 자동 확정 보류 설계",</a:t>
            </a:r>
          </a:p>
          <a:p xmlns:a="http://schemas.openxmlformats.org/drawingml/2006/main">
            <a:r>
              <a:t>        "output": "산정 대상·기간"</a:t>
            </a:r>
          </a:p>
          <a:p xmlns:a="http://schemas.openxmlformats.org/drawingml/2006/main">
            <a:r>
              <a:t>      },</a:t>
            </a:r>
          </a:p>
          <a:p xmlns:a="http://schemas.openxmlformats.org/drawingml/2006/main">
            <a:r>
              <a:t>      {</a:t>
            </a:r>
          </a:p>
          <a:p xmlns:a="http://schemas.openxmlformats.org/drawingml/2006/main">
            <a:r>
              <a:t>        "title": "대상자 통지",</a:t>
            </a:r>
          </a:p>
          <a:p xmlns:a="http://schemas.openxmlformats.org/drawingml/2006/main">
            <a:r>
              <a:t>        "input": "산정 대상·기간",</a:t>
            </a:r>
          </a:p>
          <a:p xmlns:a="http://schemas.openxmlformats.org/drawingml/2006/main">
            <a:r>
              <a:t>        "process": "원천 증빙 불일치 시 자동 확정 보류",</a:t>
            </a:r>
          </a:p>
          <a:p xmlns:a="http://schemas.openxmlformats.org/drawingml/2006/main">
            <a:r>
              <a:t>        "output": "채무 통지"</a:t>
            </a:r>
          </a:p>
          <a:p xmlns:a="http://schemas.openxmlformats.org/drawingml/2006/main">
            <a:r>
              <a:t>      },</a:t>
            </a:r>
          </a:p>
          <a:p xmlns:a="http://schemas.openxmlformats.org/drawingml/2006/main">
            <a:r>
              <a:t>      {</a:t>
            </a:r>
          </a:p>
          <a:p xmlns:a="http://schemas.openxmlformats.org/drawingml/2006/main">
            <a:r>
              <a:t>        "title": "이의제기·재심",</a:t>
            </a:r>
          </a:p>
          <a:p xmlns:a="http://schemas.openxmlformats.org/drawingml/2006/main">
            <a:r>
              <a:t>        "input": "채무 통지",</a:t>
            </a:r>
          </a:p>
          <a:p xmlns:a="http://schemas.openxmlformats.org/drawingml/2006/main">
            <a:r>
              <a:t>        "process": "담당자 검토와 설명 가능한 통지·재심 연결",</a:t>
            </a:r>
          </a:p>
          <a:p xmlns:a="http://schemas.openxmlformats.org/drawingml/2006/main">
            <a:r>
              <a:t>        "output": "이의·재심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"기간이 일치하는 증빙을 확인한 뒤 담당자가 행정 결과 검토",</a:t>
            </a:r>
          </a:p>
          <a:p xmlns:a="http://schemas.openxmlformats.org/drawingml/2006/main">
            <a:r>
              <a:t>      "exception": "연간 자료를 짧은 기간에 일률 배분·당사자 반박 증빙",</a:t>
            </a:r>
          </a:p>
          <a:p xmlns:a="http://schemas.openxmlformats.org/drawingml/2006/main">
            <a:r>
              <a:t>      "evidence": "기간별 산정 대사와 보류·재심·담당자 판단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"행정 담당자·대상자·재심 담당",</a:t>
            </a:r>
          </a:p>
          <a:p xmlns:a="http://schemas.openxmlformats.org/drawingml/2006/main">
            <a:r>
              <a:t>          "processing": "자료의 대상·기간·적용 근거 대조",</a:t>
            </a:r>
          </a:p>
          <a:p xmlns:a="http://schemas.openxmlformats.org/drawingml/2006/main">
            <a:r>
              <a:t>          "output": "기관별 소득자료"</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"소득·산정 근거",</a:t>
            </a:r>
          </a:p>
          <a:p xmlns:a="http://schemas.openxmlformats.org/drawingml/2006/main">
            <a:r>
              <a:t>          "processing": "소득 등 원천자료와 적용기간 분리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"기관별 소득자료",</a:t>
            </a:r>
          </a:p>
          <a:p xmlns:a="http://schemas.openxmlformats.org/drawingml/2006/main">
            <a:r>
              <a:t>          "processing": "불일치 자료의 자동 확정 보류 설계",</a:t>
            </a:r>
          </a:p>
          <a:p xmlns:a="http://schemas.openxmlformats.org/drawingml/2006/main">
            <a:r>
              <a:t>          "output": "채무 통지"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"채무 통지",</a:t>
            </a:r>
          </a:p>
          <a:p xmlns:a="http://schemas.openxmlformats.org/drawingml/2006/main">
            <a:r>
              <a:t>          "processing": "담당자 검토와 설명 가능한 통지·재심 연결",</a:t>
            </a:r>
          </a:p>
          <a:p xmlns:a="http://schemas.openxmlformats.org/drawingml/2006/main">
            <a:r>
              <a:t>          "output": "이의·재심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"오판·이의제기 결과의 규칙 및 절차 개선",</a:t>
            </a:r>
          </a:p>
          <a:p xmlns:a="http://schemas.openxmlformats.org/drawingml/2006/main">
            <a:r>
              <a:t>          "output": "기간별 산정 대사와 보류·재심·담당자 판단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"오판·이의제기 결과의 규칙 및 절차 개선",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"S08",</a:t>
            </a:r>
          </a:p>
          <a:p xmlns:a="http://schemas.openxmlformats.org/drawingml/2006/main">
            <a:r>
              <a:t>        "title": "호주 왕립위원회 · Robodebt 최종 보고서",</a:t>
            </a:r>
          </a:p>
          <a:p xmlns:a="http://schemas.openxmlformats.org/drawingml/2006/main">
            <a:r>
              <a:t>        "url": "https://robodebt.royalcommission.gov.au/publications/report",</a:t>
            </a:r>
          </a:p>
          <a:p xmlns:a="http://schemas.openxmlformats.org/drawingml/2006/main">
            <a:r>
              <a:t>        "published": "2023-07-07",</a:t>
            </a:r>
          </a:p>
          <a:p xmlns:a="http://schemas.openxmlformats.org/drawingml/2006/main">
            <a:r>
              <a:t>        "level": "독립 조사 / 2023-07-11 정정본 안내",</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"자동화 이전의 법적 근거·증빙 검증과 재심 경로",</a:t>
            </a:r>
          </a:p>
          <a:p xmlns:a="http://schemas.openxmlformats.org/drawingml/2006/main">
            <a:r>
              <a:t>    "local": "검사·지원·자격 업무의 근거 조문·증빙·전결 확인 후 담당자 판단",</a:t>
            </a:r>
          </a:p>
          <a:p xmlns:a="http://schemas.openxmlformats.org/drawingml/2006/main">
            <a:r>
              <a:t>    "sourceDetail": null,</a:t>
            </a:r>
          </a:p>
          <a:p xmlns:a="http://schemas.openxmlformats.org/drawingml/2006/main">
            <a:r>
              <a:t>    "narrative": [</a:t>
            </a:r>
          </a:p>
          <a:p xmlns:a="http://schemas.openxmlformats.org/drawingml/2006/main">
            <a:r>
              <a:t>      "기관 자료를 이용한 자동 산정·통지의 법적·증빙 통제 실패를 다룬 사례. 생성형 AI의 오답 문제보다 자료의 적용 기간과 산정 전제, 당사자의 이의제기 절차가 핵심인 행정 자동화 사례.",</a:t>
            </a:r>
          </a:p>
          <a:p xmlns:a="http://schemas.openxmlformats.org/drawingml/2006/main">
            <a:r>
              <a:t>      "원천 소득자료와 산정 대상 기간을 연결한 뒤 불일치 자료를 사람이 검토하도록 하는 재발 방지 구조. 통지에는 사용 근거와 산정 경로를 남기고 이의제기·재심 결과를 원 규칙에 환류하는 설계.",</a:t>
            </a:r>
          </a:p>
          <a:p xmlns:a="http://schemas.openxmlformats.org/drawingml/2006/main">
            <a:r>
              <a:t>      "TS에서는 AI 분류·계산 결과를 처분·부과·승인으로 곧바로 확정하지 않는 책임 경계에 활용. 근거 없는 자동 확정 차단, 기간 불일치 탐지, 재심 가능성과 증빙 추적을 검수할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"행정 산정 요청",</a:t>
            </a:r>
          </a:p>
          <a:p xmlns:a="http://schemas.openxmlformats.org/drawingml/2006/main">
            <a:r>
              <a:t>          "layer": "이용 접점",</a:t>
            </a:r>
          </a:p>
          <a:p xmlns:a="http://schemas.openxmlformats.org/drawingml/2006/main">
            <a:r>
              <a:t>          "detail": "행정 담당자·대상자·재심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"대상·적용기간",</a:t>
            </a:r>
          </a:p>
          <a:p xmlns:a="http://schemas.openxmlformats.org/drawingml/2006/main">
            <a:r>
              <a:t>          "layer": "업무 문맥",</a:t>
            </a:r>
          </a:p>
          <a:p xmlns:a="http://schemas.openxmlformats.org/drawingml/2006/main">
            <a:r>
              <a:t>          "detail": "자료의 대상·기간·적용 근거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"원천 소득 조회",</a:t>
            </a:r>
          </a:p>
          <a:p xmlns:a="http://schemas.openxmlformats.org/drawingml/2006/main">
            <a:r>
              <a:t>          "layer": "자료 조회",</a:t>
            </a:r>
          </a:p>
          <a:p xmlns:a="http://schemas.openxmlformats.org/drawingml/2006/main">
            <a:r>
              <a:t>          "detail": "기관별 소득자료",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"기간·산식 대조",</a:t>
            </a:r>
          </a:p>
          <a:p xmlns:a="http://schemas.openxmlformats.org/drawingml/2006/main">
            <a:r>
              <a:t>          "layer": "핵심 처리",</a:t>
            </a:r>
          </a:p>
          <a:p xmlns:a="http://schemas.openxmlformats.org/drawingml/2006/main">
            <a:r>
              <a:t>          "detail": "불일치 자료의 자동 확정 보류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"증빙 불일치 보류",</a:t>
            </a:r>
          </a:p>
          <a:p xmlns:a="http://schemas.openxmlformats.org/drawingml/2006/main">
            <a:r>
              <a:t>          "layer": "결과 검증",</a:t>
            </a:r>
          </a:p>
          <a:p xmlns:a="http://schemas.openxmlformats.org/drawingml/2006/main">
            <a:r>
              <a:t>          "detail": "원천 증빙 불일치 시 자동 확정 보류",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근거 확인",</a:t>
            </a:r>
          </a:p>
          <a:p xmlns:a="http://schemas.openxmlformats.org/drawingml/2006/main">
            <a:r>
              <a:t>          "layer": "사람 확인",</a:t>
            </a:r>
          </a:p>
          <a:p xmlns:a="http://schemas.openxmlformats.org/drawingml/2006/main">
            <a:r>
              <a:t>          "detail": "기간이 일치하는 증빙을 확인한 뒤 담당자가 행정 결과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"통지·이의제기",</a:t>
            </a:r>
          </a:p>
          <a:p xmlns:a="http://schemas.openxmlformats.org/drawingml/2006/main">
            <a:r>
              <a:t>          "layer": "업무 연결",</a:t>
            </a:r>
          </a:p>
          <a:p xmlns:a="http://schemas.openxmlformats.org/drawingml/2006/main">
            <a:r>
              <a:t>          "detail": "담당자 검토와 설명 가능한 통지·재심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"재심 결과 환류",</a:t>
            </a:r>
          </a:p>
          <a:p xmlns:a="http://schemas.openxmlformats.org/drawingml/2006/main">
            <a:r>
              <a:t>          "layer": "운영 관측",</a:t>
            </a:r>
          </a:p>
          <a:p xmlns:a="http://schemas.openxmlformats.org/drawingml/2006/main">
            <a:r>
              <a:t>          "detail": "오판·이의제기 결과의 규칙 및 절차 개선",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"기관 소득자료",</a:t>
            </a:r>
          </a:p>
          <a:p xmlns:a="http://schemas.openxmlformats.org/drawingml/2006/main">
            <a:r>
              <a:t>          "layer": "데이터 원천",</a:t>
            </a:r>
          </a:p>
          <a:p xmlns:a="http://schemas.openxmlformats.org/drawingml/2006/main">
            <a:r>
              <a:t>          "detail": "소득·산정 근거",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"기간·식별자 정합화",</a:t>
            </a:r>
          </a:p>
          <a:p xmlns:a="http://schemas.openxmlformats.org/drawingml/2006/main">
            <a:r>
              <a:t>          "layer": "준비·갱신",</a:t>
            </a:r>
          </a:p>
          <a:p xmlns:a="http://schemas.openxmlformats.org/drawingml/2006/main">
            <a:r>
              <a:t>          "detail": "소득 등 원천자료와 적용기간 분리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"근거·통지 이력",</a:t>
            </a:r>
          </a:p>
          <a:p xmlns:a="http://schemas.openxmlformats.org/drawingml/2006/main">
            <a:r>
              <a:t>          "layer": "상태·지식 저장",</a:t>
            </a:r>
          </a:p>
          <a:p xmlns:a="http://schemas.openxmlformats.org/drawingml/2006/main">
            <a:r>
              <a:t>          "detail": "기간별 산정 대사와 보류·재심·담당자 판단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"산정·재심 규칙",</a:t>
            </a:r>
          </a:p>
          <a:p xmlns:a="http://schemas.openxmlformats.org/drawingml/2006/main">
            <a:r>
              <a:t>          "layer": "권한·정책",</a:t>
            </a:r>
          </a:p>
          <a:p xmlns:a="http://schemas.openxmlformats.org/drawingml/2006/main">
            <a:r>
              <a:t>          "detail": "연간 자료를 짧은 기간에 일률 배분·당사자 반박 증빙",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"기관 간 자료 → 자동 산정·결정 → 대상자 통지 → 이의제기·재심"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"자료의 대상·기간·적용 근거 대조",</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"기관별 소득자료",</a:t>
            </a:r>
          </a:p>
          <a:p xmlns:a="http://schemas.openxmlformats.org/drawingml/2006/main">
            <a:r>
              <a:t>          "check": "원천 증빙 불일치 시 자동 확정 보류"</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"산정·재심 규칙",</a:t>
            </a:r>
          </a:p>
          <a:p xmlns:a="http://schemas.openxmlformats.org/drawingml/2006/main">
            <a:r>
              <a:t>          "check": "원천 증빙 불일치 시 자동 확정 보류"</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"채무 통지",</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"채무 통지",</a:t>
            </a:r>
          </a:p>
          <a:p xmlns:a="http://schemas.openxmlformats.org/drawingml/2006/main">
            <a:r>
              <a:t>          "check": "연간 자료를 짧은 기간에 일률 배분·당사자 반박 증빙"</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"이의·재심 기록",</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"자동 행정 산정의 근거·재심 체계 분석 / 기관 간 자료·산정·통지·이의제기",</a:t>
            </a:r>
          </a:p>
          <a:p xmlns:a="http://schemas.openxmlformats.org/drawingml/2006/main">
            <a:r>
              <a:t>        "extension": "검사·지원·자격 업무의 근거 조문·증빙·전결 확인 후 담당자 판단"</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"연간 자료를 짧은 기간에 일률 배분·당사자 반박 증빙",</a:t>
            </a:r>
          </a:p>
          <a:p xmlns:a="http://schemas.openxmlformats.org/drawingml/2006/main">
            <a:r>
              <a:t>        "hold": "원천 증빙 불일치 시 자동 확정 보류",</a:t>
            </a:r>
          </a:p>
          <a:p xmlns:a="http://schemas.openxmlformats.org/drawingml/2006/main">
            <a:r>
              <a:t>        "recovery": "오판·이의제기 결과의 규칙 및 절차 개선",</a:t>
            </a:r>
          </a:p>
          <a:p xmlns:a="http://schemas.openxmlformats.org/drawingml/2006/main">
            <a:r>
              <a:t>        "evidence": "기간별 산정 대사와 보류·재심·담당자 판단 기록"</a:t>
            </a:r>
          </a:p>
          <a:p xmlns:a="http://schemas.openxmlformats.org/drawingml/2006/main">
            <a:r>
              <a:t>      },</a:t>
            </a:r>
          </a:p>
          <a:p xmlns:a="http://schemas.openxmlformats.org/drawingml/2006/main">
            <a:r>
              <a:t>      "data": {</a:t>
            </a:r>
          </a:p>
          <a:p xmlns:a="http://schemas.openxmlformats.org/drawingml/2006/main">
            <a:r>
              <a:t>        "source": "소득·산정 근거",</a:t>
            </a:r>
          </a:p>
          <a:p xmlns:a="http://schemas.openxmlformats.org/drawingml/2006/main">
            <a:r>
              <a:t>        "prepare": "소득 등 원천자료와 적용기간 분리 관리",</a:t>
            </a:r>
          </a:p>
          <a:p xmlns:a="http://schemas.openxmlformats.org/drawingml/2006/main">
            <a:r>
              <a:t>        "output": "기관별 소득자료",</a:t>
            </a:r>
          </a:p>
          <a:p xmlns:a="http://schemas.openxmlformats.org/drawingml/2006/main">
            <a:r>
              <a:t>        "refresh": "오판·이의제기 결과의 규칙 및 절차 개선"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"AX07",</a:t>
            </a:r>
          </a:p>
          <a:p xmlns:a="http://schemas.openxmlformats.org/drawingml/2006/main">
            <a:r>
              <a:t>    "success": [</a:t>
            </a:r>
          </a:p>
          <a:p xmlns:a="http://schemas.openxmlformats.org/drawingml/2006/main">
            <a:r>
              <a:t>      "자동 결정 전 법적·증빙 근거 확인",</a:t>
            </a:r>
          </a:p>
          <a:p xmlns:a="http://schemas.openxmlformats.org/drawingml/2006/main">
            <a:r>
              <a:t>      "이의제기와 재심 경로 확보"</a:t>
            </a:r>
          </a:p>
          <a:p xmlns:a="http://schemas.openxmlformats.org/drawingml/2006/main">
            <a:r>
              <a:t>    ],</a:t>
            </a:r>
          </a:p>
          <a:p xmlns:a="http://schemas.openxmlformats.org/drawingml/2006/main">
            <a:r>
              <a:t>    "risks": [</a:t>
            </a:r>
          </a:p>
          <a:p xmlns:a="http://schemas.openxmlformats.org/drawingml/2006/main">
            <a:r>
              <a:t>      "자료 기간·산정 전제의 부적합",</a:t>
            </a:r>
          </a:p>
          <a:p xmlns:a="http://schemas.openxmlformats.org/drawingml/2006/main">
            <a:r>
              <a:t>      "자동 판단에 대한 책임·재심 통제 부족"</a:t>
            </a:r>
          </a:p>
          <a:p xmlns:a="http://schemas.openxmlformats.org/drawingml/2006/main">
            <a:r>
              <a:t>    ],</a:t>
            </a:r>
          </a:p>
          <a:p xmlns:a="http://schemas.openxmlformats.org/drawingml/2006/main">
            <a:r>
              <a:t>    "architecture": [</a:t>
            </a:r>
          </a:p>
          <a:p xmlns:a="http://schemas.openxmlformats.org/drawingml/2006/main">
            <a:r>
              <a:t>      "기관 자료 교환",</a:t>
            </a:r>
          </a:p>
          <a:p xmlns:a="http://schemas.openxmlformats.org/drawingml/2006/main">
            <a:r>
              <a:t>      "자동 산정·통지",</a:t>
            </a:r>
          </a:p>
          <a:p xmlns:a="http://schemas.openxmlformats.org/drawingml/2006/main">
            <a:r>
              <a:t>      "소득·산정 근거",</a:t>
            </a:r>
          </a:p>
          <a:p xmlns:a="http://schemas.openxmlformats.org/drawingml/2006/main">
            <a:r>
              <a:t>      "대상자·재심 담당"</a:t>
            </a:r>
          </a:p>
          <a:p xmlns:a="http://schemas.openxmlformats.org/drawingml/2006/main">
            <a:r>
              <a:t>    ],</a:t>
            </a:r>
          </a:p>
          <a:p xmlns:a="http://schemas.openxmlformats.org/drawingml/2006/main">
            <a:r>
              <a:t>    "transfers": [</a:t>
            </a:r>
          </a:p>
          <a:p xmlns:a="http://schemas.openxmlformats.org/drawingml/2006/main">
            <a:r>
              <a:t>      "기관별 소득자료",</a:t>
            </a:r>
          </a:p>
          <a:p xmlns:a="http://schemas.openxmlformats.org/drawingml/2006/main">
            <a:r>
              <a:t>      "산정 대상·기간",</a:t>
            </a:r>
          </a:p>
          <a:p xmlns:a="http://schemas.openxmlformats.org/drawingml/2006/main">
            <a:r>
              <a:t>      "채무 통지",</a:t>
            </a:r>
          </a:p>
          <a:p xmlns:a="http://schemas.openxmlformats.org/drawingml/2006/main">
            <a:r>
              <a:t>      "이의·재심 기록"</a:t>
            </a:r>
          </a:p>
          <a:p xmlns:a="http://schemas.openxmlformats.org/drawingml/2006/main">
            <a:r>
              <a:t>    ],</a:t>
            </a:r>
          </a:p>
          <a:p xmlns:a="http://schemas.openxmlformats.org/drawingml/2006/main">
            <a:r>
              <a:t>    "control": "원천 증빙 불일치 시 자동 확정 보류",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호주 왕립위원회 · Robodebt 최종 보고서 https://robodebt.royalcommission.gov.au/publications/report</a:t>
            </a:r>
          </a:p>
          <a:p xmlns:a="http://schemas.openxmlformats.org/drawingml/2006/main">
            <a:r>
              <a:t>홈페이지 https://heen1987-ops.github.io/TS-business-Plan-001/index.html?view=casebook&amp;case=AX07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"AX07",</a:t>
            </a:r>
          </a:p>
          <a:p xmlns:a="http://schemas.openxmlformats.org/drawingml/2006/main">
            <a:r>
              <a:t>    "title": "호주 Robodebt",</a:t>
            </a:r>
          </a:p>
          <a:p xmlns:a="http://schemas.openxmlformats.org/drawingml/2006/main">
            <a:r>
              <a:t>    "region": "해외",</a:t>
            </a:r>
          </a:p>
          <a:p xmlns:a="http://schemas.openxmlformats.org/drawingml/2006/main">
            <a:r>
              <a:t>    "country": "호주",</a:t>
            </a:r>
          </a:p>
          <a:p xmlns:a="http://schemas.openxmlformats.org/drawingml/2006/main">
            <a:r>
              <a:t>    "result": "실패",</a:t>
            </a:r>
          </a:p>
          <a:p xmlns:a="http://schemas.openxmlformats.org/drawingml/2006/main">
            <a:r>
              <a:t>    "kind": "행정 자동화·책임 통제",</a:t>
            </a:r>
          </a:p>
          <a:p xmlns:a="http://schemas.openxmlformats.org/drawingml/2006/main">
            <a:r>
              <a:t>    "period": "2023 최종 조사",</a:t>
            </a:r>
          </a:p>
          <a:p xmlns:a="http://schemas.openxmlformats.org/drawingml/2006/main">
            <a:r>
              <a:t>    "sources": [</a:t>
            </a:r>
          </a:p>
          <a:p xmlns:a="http://schemas.openxmlformats.org/drawingml/2006/main">
            <a:r>
              <a:t>      "S08"</a:t>
            </a:r>
          </a:p>
          <a:p xmlns:a="http://schemas.openxmlformats.org/drawingml/2006/main">
            <a:r>
              <a:t>    ],</a:t>
            </a:r>
          </a:p>
          <a:p xmlns:a="http://schemas.openxmlformats.org/drawingml/2006/main">
            <a:r>
              <a:t>    "keywords": [</a:t>
            </a:r>
          </a:p>
          <a:p xmlns:a="http://schemas.openxmlformats.org/drawingml/2006/main">
            <a:r>
              <a:t>      "행정 판단",</a:t>
            </a:r>
          </a:p>
          <a:p xmlns:a="http://schemas.openxmlformats.org/drawingml/2006/main">
            <a:r>
              <a:t>      "적법성",</a:t>
            </a:r>
          </a:p>
          <a:p xmlns:a="http://schemas.openxmlformats.org/drawingml/2006/main">
            <a:r>
              <a:t>      "이의제기",</a:t>
            </a:r>
          </a:p>
          <a:p xmlns:a="http://schemas.openxmlformats.org/drawingml/2006/main">
            <a:r>
              <a:t>      "공정성"</a:t>
            </a:r>
          </a:p>
          <a:p xmlns:a="http://schemas.openxmlformats.org/drawingml/2006/main">
            <a:r>
              <a:t>    ],</a:t>
            </a:r>
          </a:p>
          <a:p xmlns:a="http://schemas.openxmlformats.org/drawingml/2006/main">
            <a:r>
              <a:t>    "fact": "왕립위원회 최종 조사에서 자동 결정의 법적 틀·재심 경로·데이터 교환 통제·취약계층 대응 개선 권고",</a:t>
            </a:r>
          </a:p>
          <a:p xmlns:a="http://schemas.openxmlformats.org/drawingml/2006/main">
            <a:r>
              <a:t>    "limit": "규칙 기반 행정 자동화의 실패 교훈 · 생성형 AI 사례 아님",</a:t>
            </a:r>
          </a:p>
          <a:p xmlns:a="http://schemas.openxmlformats.org/drawingml/2006/main">
            <a:r>
              <a:t>    "flow": [</a:t>
            </a:r>
          </a:p>
          <a:p xmlns:a="http://schemas.openxmlformats.org/drawingml/2006/main">
            <a:r>
              <a:t>      "기관 간 자료",</a:t>
            </a:r>
          </a:p>
          <a:p xmlns:a="http://schemas.openxmlformats.org/drawingml/2006/main">
            <a:r>
              <a:t>      "자동 산정·결정",</a:t>
            </a:r>
          </a:p>
          <a:p xmlns:a="http://schemas.openxmlformats.org/drawingml/2006/main">
            <a:r>
              <a:t>      "대상자 통지",</a:t>
            </a:r>
          </a:p>
          <a:p xmlns:a="http://schemas.openxmlformats.org/drawingml/2006/main">
            <a:r>
              <a:t>      "이의제기·재심"</a:t>
            </a:r>
          </a:p>
          <a:p xmlns:a="http://schemas.openxmlformats.org/drawingml/2006/main">
            <a:r>
              <a:t>    ],</a:t>
            </a:r>
          </a:p>
          <a:p xmlns:a="http://schemas.openxmlformats.org/drawingml/2006/main">
            <a:r>
              <a:t>    "flowBasis": "조사 권고의 대상 업무를 설명하기 위한 재구성",</a:t>
            </a:r>
          </a:p>
          <a:p xmlns:a="http://schemas.openxmlformats.org/drawingml/2006/main">
            <a:r>
              <a:t>    "lesson": "자동화 이전의 법적 근거·증빙 검증과 재심 경로",</a:t>
            </a:r>
          </a:p>
          <a:p xmlns:a="http://schemas.openxmlformats.org/drawingml/2006/main">
            <a:r>
              <a:t>    "local": "검사·지원·자격 업무의 근거 조문·증빙·전결 확인 후 담당자 판단",</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"근거·입력 검증 / 자동 확정 제한 / 이의제기·재검토 연결",</a:t>
            </a:r>
          </a:p>
          <a:p xmlns:a="http://schemas.openxmlformats.org/drawingml/2006/main">
            <a:r>
              <a:t>    "test": "누락·기간 불일치·권한 부재 시 보류 및 재심 처리 추적",</a:t>
            </a:r>
          </a:p>
          <a:p xmlns:a="http://schemas.openxmlformats.org/drawingml/2006/main">
            <a:r>
              <a:t>    "metric": "근거 누락률 / 오판 보완률 / 이의처리 시간"</a:t>
            </a:r>
          </a:p>
          <a:p xmlns:a="http://schemas.openxmlformats.org/drawingml/2006/main">
            <a:r>
              <a:t>  },</a:t>
            </a:r>
          </a:p>
          <a:p xmlns:a="http://schemas.openxmlformats.org/drawingml/2006/main">
            <a:r>
              <a:t>  "design": {</a:t>
            </a:r>
          </a:p>
          <a:p xmlns:a="http://schemas.openxmlformats.org/drawingml/2006/main">
            <a:r>
              <a:t>    "id": "AX07",</a:t>
            </a:r>
          </a:p>
          <a:p xmlns:a="http://schemas.openxmlformats.org/drawingml/2006/main">
            <a:r>
              <a:t>    "canonicalId": "AX07",</a:t>
            </a:r>
          </a:p>
          <a:p xmlns:a="http://schemas.openxmlformats.org/drawingml/2006/main">
            <a:r>
              <a:t>    "purpose": "자동 행정 산정의 근거·재심 체계 분석",</a:t>
            </a:r>
          </a:p>
          <a:p xmlns:a="http://schemas.openxmlformats.org/drawingml/2006/main">
            <a:r>
              <a:t>    "users": "행정 담당자·대상자·재심 담당",</a:t>
            </a:r>
          </a:p>
          <a:p xmlns:a="http://schemas.openxmlformats.org/drawingml/2006/main">
            <a:r>
              <a:t>    "scope": [</a:t>
            </a:r>
          </a:p>
          <a:p xmlns:a="http://schemas.openxmlformats.org/drawingml/2006/main">
            <a:r>
              <a:t>      "기관 간 자료",</a:t>
            </a:r>
          </a:p>
          <a:p xmlns:a="http://schemas.openxmlformats.org/drawingml/2006/main">
            <a:r>
              <a:t>      "산정·통지",</a:t>
            </a:r>
          </a:p>
          <a:p xmlns:a="http://schemas.openxmlformats.org/drawingml/2006/main">
            <a:r>
              <a:t>      "이의제기"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"기관 자료 교환",</a:t>
            </a:r>
          </a:p>
          <a:p xmlns:a="http://schemas.openxmlformats.org/drawingml/2006/main">
            <a:r>
              <a:t>        "detail": "자료의 대상·기간·적용 근거 대조",</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"기관 간 자료 / 산정·통지 / 이의제기",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"자동 산정·통지",</a:t>
            </a:r>
          </a:p>
          <a:p xmlns:a="http://schemas.openxmlformats.org/drawingml/2006/main">
            <a:r>
              <a:t>        "detail": "불일치 자료의 자동 확정 보류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"대상자·재심 담당",</a:t>
            </a:r>
          </a:p>
          <a:p xmlns:a="http://schemas.openxmlformats.org/drawingml/2006/main">
            <a:r>
              <a:t>        "detail": "담당자 검토와 설명 가능한 통지·재심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"소득·산정 근거",</a:t>
            </a:r>
          </a:p>
          <a:p xmlns:a="http://schemas.openxmlformats.org/drawingml/2006/main">
            <a:r>
              <a:t>        "detail": "소득 등 원천자료와 적용기간 분리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"오판·이의제기 결과의 규칙 및 절차 개선",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"기관 간 자료",</a:t>
            </a:r>
          </a:p>
          <a:p xmlns:a="http://schemas.openxmlformats.org/drawingml/2006/main">
            <a:r>
              <a:t>        "input": "자료의 대상·기간·적용 근거 대조",</a:t>
            </a:r>
          </a:p>
          <a:p xmlns:a="http://schemas.openxmlformats.org/drawingml/2006/main">
            <a:r>
              <a:t>        "process": "소득 등 원천자료와 적용기간 분리 관리",</a:t>
            </a:r>
          </a:p>
          <a:p xmlns:a="http://schemas.openxmlformats.org/drawingml/2006/main">
            <a:r>
              <a:t>        "output": "기관별 소득자료"</a:t>
            </a:r>
          </a:p>
          <a:p xmlns:a="http://schemas.openxmlformats.org/drawingml/2006/main">
            <a:r>
              <a:t>      },</a:t>
            </a:r>
          </a:p>
          <a:p xmlns:a="http://schemas.openxmlformats.org/drawingml/2006/main">
            <a:r>
              <a:t>      {</a:t>
            </a:r>
          </a:p>
          <a:p xmlns:a="http://schemas.openxmlformats.org/drawingml/2006/main">
            <a:r>
              <a:t>        "title": "자동 산정·결정",</a:t>
            </a:r>
          </a:p>
          <a:p xmlns:a="http://schemas.openxmlformats.org/drawingml/2006/main">
            <a:r>
              <a:t>        "input": "기관별 소득자료",</a:t>
            </a:r>
          </a:p>
          <a:p xmlns:a="http://schemas.openxmlformats.org/drawingml/2006/main">
            <a:r>
              <a:t>        "process": "불일치 자료의 자동 확정 보류 설계",</a:t>
            </a:r>
          </a:p>
          <a:p xmlns:a="http://schemas.openxmlformats.org/drawingml/2006/main">
            <a:r>
              <a:t>        "output": "산정 대상·기간"</a:t>
            </a:r>
          </a:p>
          <a:p xmlns:a="http://schemas.openxmlformats.org/drawingml/2006/main">
            <a:r>
              <a:t>      },</a:t>
            </a:r>
          </a:p>
          <a:p xmlns:a="http://schemas.openxmlformats.org/drawingml/2006/main">
            <a:r>
              <a:t>      {</a:t>
            </a:r>
          </a:p>
          <a:p xmlns:a="http://schemas.openxmlformats.org/drawingml/2006/main">
            <a:r>
              <a:t>        "title": "대상자 통지",</a:t>
            </a:r>
          </a:p>
          <a:p xmlns:a="http://schemas.openxmlformats.org/drawingml/2006/main">
            <a:r>
              <a:t>        "input": "산정 대상·기간",</a:t>
            </a:r>
          </a:p>
          <a:p xmlns:a="http://schemas.openxmlformats.org/drawingml/2006/main">
            <a:r>
              <a:t>        "process": "원천 증빙 불일치 시 자동 확정 보류",</a:t>
            </a:r>
          </a:p>
          <a:p xmlns:a="http://schemas.openxmlformats.org/drawingml/2006/main">
            <a:r>
              <a:t>        "output": "채무 통지"</a:t>
            </a:r>
          </a:p>
          <a:p xmlns:a="http://schemas.openxmlformats.org/drawingml/2006/main">
            <a:r>
              <a:t>      },</a:t>
            </a:r>
          </a:p>
          <a:p xmlns:a="http://schemas.openxmlformats.org/drawingml/2006/main">
            <a:r>
              <a:t>      {</a:t>
            </a:r>
          </a:p>
          <a:p xmlns:a="http://schemas.openxmlformats.org/drawingml/2006/main">
            <a:r>
              <a:t>        "title": "이의제기·재심",</a:t>
            </a:r>
          </a:p>
          <a:p xmlns:a="http://schemas.openxmlformats.org/drawingml/2006/main">
            <a:r>
              <a:t>        "input": "채무 통지",</a:t>
            </a:r>
          </a:p>
          <a:p xmlns:a="http://schemas.openxmlformats.org/drawingml/2006/main">
            <a:r>
              <a:t>        "process": "담당자 검토와 설명 가능한 통지·재심 연결",</a:t>
            </a:r>
          </a:p>
          <a:p xmlns:a="http://schemas.openxmlformats.org/drawingml/2006/main">
            <a:r>
              <a:t>        "output": "이의·재심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"기간이 일치하는 증빙을 확인한 뒤 담당자가 행정 결과 검토",</a:t>
            </a:r>
          </a:p>
          <a:p xmlns:a="http://schemas.openxmlformats.org/drawingml/2006/main">
            <a:r>
              <a:t>      "exception": "연간 자료를 짧은 기간에 일률 배분·당사자 반박 증빙",</a:t>
            </a:r>
          </a:p>
          <a:p xmlns:a="http://schemas.openxmlformats.org/drawingml/2006/main">
            <a:r>
              <a:t>      "evidence": "기간별 산정 대사와 보류·재심·담당자 판단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"행정 담당자·대상자·재심 담당",</a:t>
            </a:r>
          </a:p>
          <a:p xmlns:a="http://schemas.openxmlformats.org/drawingml/2006/main">
            <a:r>
              <a:t>          "processing": "자료의 대상·기간·적용 근거 대조",</a:t>
            </a:r>
          </a:p>
          <a:p xmlns:a="http://schemas.openxmlformats.org/drawingml/2006/main">
            <a:r>
              <a:t>          "output": "기관별 소득자료"</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"소득·산정 근거",</a:t>
            </a:r>
          </a:p>
          <a:p xmlns:a="http://schemas.openxmlformats.org/drawingml/2006/main">
            <a:r>
              <a:t>          "processing": "소득 등 원천자료와 적용기간 분리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"기관별 소득자료",</a:t>
            </a:r>
          </a:p>
          <a:p xmlns:a="http://schemas.openxmlformats.org/drawingml/2006/main">
            <a:r>
              <a:t>          "processing": "불일치 자료의 자동 확정 보류 설계",</a:t>
            </a:r>
          </a:p>
          <a:p xmlns:a="http://schemas.openxmlformats.org/drawingml/2006/main">
            <a:r>
              <a:t>          "output": "채무 통지"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"채무 통지",</a:t>
            </a:r>
          </a:p>
          <a:p xmlns:a="http://schemas.openxmlformats.org/drawingml/2006/main">
            <a:r>
              <a:t>          "processing": "담당자 검토와 설명 가능한 통지·재심 연결",</a:t>
            </a:r>
          </a:p>
          <a:p xmlns:a="http://schemas.openxmlformats.org/drawingml/2006/main">
            <a:r>
              <a:t>          "output": "이의·재심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"오판·이의제기 결과의 규칙 및 절차 개선",</a:t>
            </a:r>
          </a:p>
          <a:p xmlns:a="http://schemas.openxmlformats.org/drawingml/2006/main">
            <a:r>
              <a:t>          "output": "기간별 산정 대사와 보류·재심·담당자 판단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"오판·이의제기 결과의 규칙 및 절차 개선",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"S08",</a:t>
            </a:r>
          </a:p>
          <a:p xmlns:a="http://schemas.openxmlformats.org/drawingml/2006/main">
            <a:r>
              <a:t>        "title": "호주 왕립위원회 · Robodebt 최종 보고서",</a:t>
            </a:r>
          </a:p>
          <a:p xmlns:a="http://schemas.openxmlformats.org/drawingml/2006/main">
            <a:r>
              <a:t>        "url": "https://robodebt.royalcommission.gov.au/publications/report",</a:t>
            </a:r>
          </a:p>
          <a:p xmlns:a="http://schemas.openxmlformats.org/drawingml/2006/main">
            <a:r>
              <a:t>        "published": "2023-07-07",</a:t>
            </a:r>
          </a:p>
          <a:p xmlns:a="http://schemas.openxmlformats.org/drawingml/2006/main">
            <a:r>
              <a:t>        "level": "독립 조사 / 2023-07-11 정정본 안내",</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"자동화 이전의 법적 근거·증빙 검증과 재심 경로",</a:t>
            </a:r>
          </a:p>
          <a:p xmlns:a="http://schemas.openxmlformats.org/drawingml/2006/main">
            <a:r>
              <a:t>    "local": "검사·지원·자격 업무의 근거 조문·증빙·전결 확인 후 담당자 판단",</a:t>
            </a:r>
          </a:p>
          <a:p xmlns:a="http://schemas.openxmlformats.org/drawingml/2006/main">
            <a:r>
              <a:t>    "sourceDetail": null,</a:t>
            </a:r>
          </a:p>
          <a:p xmlns:a="http://schemas.openxmlformats.org/drawingml/2006/main">
            <a:r>
              <a:t>    "narrative": [</a:t>
            </a:r>
          </a:p>
          <a:p xmlns:a="http://schemas.openxmlformats.org/drawingml/2006/main">
            <a:r>
              <a:t>      "기관 자료를 이용한 자동 산정·통지의 법적·증빙 통제 실패를 다룬 사례. 생성형 AI의 오답 문제보다 자료의 적용 기간과 산정 전제, 당사자의 이의제기 절차가 핵심인 행정 자동화 사례.",</a:t>
            </a:r>
          </a:p>
          <a:p xmlns:a="http://schemas.openxmlformats.org/drawingml/2006/main">
            <a:r>
              <a:t>      "원천 소득자료와 산정 대상 기간을 연결한 뒤 불일치 자료를 사람이 검토하도록 하는 재발 방지 구조. 통지에는 사용 근거와 산정 경로를 남기고 이의제기·재심 결과를 원 규칙에 환류하는 설계.",</a:t>
            </a:r>
          </a:p>
          <a:p xmlns:a="http://schemas.openxmlformats.org/drawingml/2006/main">
            <a:r>
              <a:t>      "TS에서는 AI 분류·계산 결과를 처분·부과·승인으로 곧바로 확정하지 않는 책임 경계에 활용. 근거 없는 자동 확정 차단, 기간 불일치 탐지, 재심 가능성과 증빙 추적을 검수할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"행정 산정 요청",</a:t>
            </a:r>
          </a:p>
          <a:p xmlns:a="http://schemas.openxmlformats.org/drawingml/2006/main">
            <a:r>
              <a:t>          "layer": "이용 접점",</a:t>
            </a:r>
          </a:p>
          <a:p xmlns:a="http://schemas.openxmlformats.org/drawingml/2006/main">
            <a:r>
              <a:t>          "detail": "행정 담당자·대상자·재심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"대상·적용기간",</a:t>
            </a:r>
          </a:p>
          <a:p xmlns:a="http://schemas.openxmlformats.org/drawingml/2006/main">
            <a:r>
              <a:t>          "layer": "업무 문맥",</a:t>
            </a:r>
          </a:p>
          <a:p xmlns:a="http://schemas.openxmlformats.org/drawingml/2006/main">
            <a:r>
              <a:t>          "detail": "자료의 대상·기간·적용 근거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"원천 소득 조회",</a:t>
            </a:r>
          </a:p>
          <a:p xmlns:a="http://schemas.openxmlformats.org/drawingml/2006/main">
            <a:r>
              <a:t>          "layer": "자료 조회",</a:t>
            </a:r>
          </a:p>
          <a:p xmlns:a="http://schemas.openxmlformats.org/drawingml/2006/main">
            <a:r>
              <a:t>          "detail": "기관별 소득자료",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"기간·산식 대조",</a:t>
            </a:r>
          </a:p>
          <a:p xmlns:a="http://schemas.openxmlformats.org/drawingml/2006/main">
            <a:r>
              <a:t>          "layer": "핵심 처리",</a:t>
            </a:r>
          </a:p>
          <a:p xmlns:a="http://schemas.openxmlformats.org/drawingml/2006/main">
            <a:r>
              <a:t>          "detail": "불일치 자료의 자동 확정 보류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"증빙 불일치 보류",</a:t>
            </a:r>
          </a:p>
          <a:p xmlns:a="http://schemas.openxmlformats.org/drawingml/2006/main">
            <a:r>
              <a:t>          "layer": "결과 검증",</a:t>
            </a:r>
          </a:p>
          <a:p xmlns:a="http://schemas.openxmlformats.org/drawingml/2006/main">
            <a:r>
              <a:t>          "detail": "원천 증빙 불일치 시 자동 확정 보류",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"담당자 근거 확인",</a:t>
            </a:r>
          </a:p>
          <a:p xmlns:a="http://schemas.openxmlformats.org/drawingml/2006/main">
            <a:r>
              <a:t>          "layer": "사람 확인",</a:t>
            </a:r>
          </a:p>
          <a:p xmlns:a="http://schemas.openxmlformats.org/drawingml/2006/main">
            <a:r>
              <a:t>          "detail": "기간이 일치하는 증빙을 확인한 뒤 담당자가 행정 결과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"통지·이의제기",</a:t>
            </a:r>
          </a:p>
          <a:p xmlns:a="http://schemas.openxmlformats.org/drawingml/2006/main">
            <a:r>
              <a:t>          "layer": "업무 연결",</a:t>
            </a:r>
          </a:p>
          <a:p xmlns:a="http://schemas.openxmlformats.org/drawingml/2006/main">
            <a:r>
              <a:t>          "detail": "담당자 검토와 설명 가능한 통지·재심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"재심 결과 환류",</a:t>
            </a:r>
          </a:p>
          <a:p xmlns:a="http://schemas.openxmlformats.org/drawingml/2006/main">
            <a:r>
              <a:t>          "layer": "운영 관측",</a:t>
            </a:r>
          </a:p>
          <a:p xmlns:a="http://schemas.openxmlformats.org/drawingml/2006/main">
            <a:r>
              <a:t>          "detail": "오판·이의제기 결과의 규칙 및 절차 개선",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"기관 소득자료",</a:t>
            </a:r>
          </a:p>
          <a:p xmlns:a="http://schemas.openxmlformats.org/drawingml/2006/main">
            <a:r>
              <a:t>          "layer": "데이터 원천",</a:t>
            </a:r>
          </a:p>
          <a:p xmlns:a="http://schemas.openxmlformats.org/drawingml/2006/main">
            <a:r>
              <a:t>          "detail": "소득·산정 근거",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"기간·식별자 정합화",</a:t>
            </a:r>
          </a:p>
          <a:p xmlns:a="http://schemas.openxmlformats.org/drawingml/2006/main">
            <a:r>
              <a:t>          "layer": "준비·갱신",</a:t>
            </a:r>
          </a:p>
          <a:p xmlns:a="http://schemas.openxmlformats.org/drawingml/2006/main">
            <a:r>
              <a:t>          "detail": "소득 등 원천자료와 적용기간 분리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"근거·통지 이력",</a:t>
            </a:r>
          </a:p>
          <a:p xmlns:a="http://schemas.openxmlformats.org/drawingml/2006/main">
            <a:r>
              <a:t>          "layer": "상태·지식 저장",</a:t>
            </a:r>
          </a:p>
          <a:p xmlns:a="http://schemas.openxmlformats.org/drawingml/2006/main">
            <a:r>
              <a:t>          "detail": "기간별 산정 대사와 보류·재심·담당자 판단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"산정·재심 규칙",</a:t>
            </a:r>
          </a:p>
          <a:p xmlns:a="http://schemas.openxmlformats.org/drawingml/2006/main">
            <a:r>
              <a:t>          "layer": "권한·정책",</a:t>
            </a:r>
          </a:p>
          <a:p xmlns:a="http://schemas.openxmlformats.org/drawingml/2006/main">
            <a:r>
              <a:t>          "detail": "연간 자료를 짧은 기간에 일률 배분·당사자 반박 증빙",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"governance",</a:t>
            </a:r>
          </a:p>
          <a:p xmlns:a="http://schemas.openxmlformats.org/drawingml/2006/main">
            <a:r>
              <a:t>        "label": "권한·목적 판정 후 허용·차단 분기",</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"C12",</a:t>
            </a:r>
          </a:p>
          <a:p xmlns:a="http://schemas.openxmlformats.org/drawingml/2006/main">
            <a:r>
              <a:t>            "C05"</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"C04",</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"C11"</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"요청·대상"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"C12",</a:t>
            </a:r>
          </a:p>
          <a:p xmlns:a="http://schemas.openxmlformats.org/drawingml/2006/main">
            <a:r>
              <a:t>            "kind": "control",</a:t>
            </a:r>
          </a:p>
          <a:p xmlns:a="http://schemas.openxmlformats.org/drawingml/2006/main">
            <a:r>
              <a:t>            "mode": "조직·목적"</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"허용 정책"</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"C04",</a:t>
            </a:r>
          </a:p>
          <a:p xmlns:a="http://schemas.openxmlformats.org/drawingml/2006/main">
            <a:r>
              <a:t>            "kind": "data",</a:t>
            </a:r>
          </a:p>
          <a:p xmlns:a="http://schemas.openxmlformats.org/drawingml/2006/main">
            <a:r>
              <a:t>            "mode": "허용 원천"</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"C04",</a:t>
            </a:r>
          </a:p>
          <a:p xmlns:a="http://schemas.openxmlformats.org/drawingml/2006/main">
            <a:r>
              <a:t>            "kind": "service",</a:t>
            </a:r>
          </a:p>
          <a:p xmlns:a="http://schemas.openxmlformats.org/drawingml/2006/main">
            <a:r>
              <a:t>            "mode": "허용된 경우"</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"blocked",</a:t>
            </a:r>
          </a:p>
          <a:p xmlns:a="http://schemas.openxmlformats.org/drawingml/2006/main">
            <a:r>
              <a:t>            "mode": "거부·보류"</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"C06",</a:t>
            </a:r>
          </a:p>
          <a:p xmlns:a="http://schemas.openxmlformats.org/drawingml/2006/main">
            <a:r>
              <a:t>            "kind": "service",</a:t>
            </a:r>
          </a:p>
          <a:p xmlns:a="http://schemas.openxmlformats.org/drawingml/2006/main">
            <a:r>
              <a:t>            "mode": "처리 결과"</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"사람 확인"</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"업무·감사 기록"</a:t>
            </a:r>
          </a:p>
          <a:p xmlns:a="http://schemas.openxmlformats.org/drawingml/2006/main">
            <a:r>
              <a:t>          }</a:t>
            </a:r>
          </a:p>
          <a:p xmlns:a="http://schemas.openxmlformats.org/drawingml/2006/main">
            <a:r>
              <a:t>        ],</a:t>
            </a:r>
          </a:p>
          <a:p xmlns:a="http://schemas.openxmlformats.org/drawingml/2006/main">
            <a:r>
              <a:t>        "summary": "기관 간 자료 → 자동 산정·결정 → 대상자 통지 → 이의제기·재심"</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"요청·대상",</a:t>
            </a:r>
          </a:p>
          <a:p xmlns:a="http://schemas.openxmlformats.org/drawingml/2006/main">
            <a:r>
              <a:t>          "payload": "자료의 대상·기간·적용 근거 대조",</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"C12",</a:t>
            </a:r>
          </a:p>
          <a:p xmlns:a="http://schemas.openxmlformats.org/drawingml/2006/main">
            <a:r>
              <a:t>          "mode": "조직·목적",</a:t>
            </a:r>
          </a:p>
          <a:p xmlns:a="http://schemas.openxmlformats.org/drawingml/2006/main">
            <a:r>
              <a:t>          "payload": "기관별 소득자료",</a:t>
            </a:r>
          </a:p>
          <a:p xmlns:a="http://schemas.openxmlformats.org/drawingml/2006/main">
            <a:r>
              <a:t>          "check": "원천 증빙 불일치 시 자동 확정 보류"</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"C12",</a:t>
            </a:r>
          </a:p>
          <a:p xmlns:a="http://schemas.openxmlformats.org/drawingml/2006/main">
            <a:r>
              <a:t>          "to": "C05",</a:t>
            </a:r>
          </a:p>
          <a:p xmlns:a="http://schemas.openxmlformats.org/drawingml/2006/main">
            <a:r>
              <a:t>          "mode": "허용 정책",</a:t>
            </a:r>
          </a:p>
          <a:p xmlns:a="http://schemas.openxmlformats.org/drawingml/2006/main">
            <a:r>
              <a:t>          "payload": "산정·재심 규칙",</a:t>
            </a:r>
          </a:p>
          <a:p xmlns:a="http://schemas.openxmlformats.org/drawingml/2006/main">
            <a:r>
              <a:t>          "check": "원천 증빙 불일치 시 자동 확정 보류"</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"C05",</a:t>
            </a:r>
          </a:p>
          <a:p xmlns:a="http://schemas.openxmlformats.org/drawingml/2006/main">
            <a:r>
              <a:t>          "to": "C04",</a:t>
            </a:r>
          </a:p>
          <a:p xmlns:a="http://schemas.openxmlformats.org/drawingml/2006/main">
            <a:r>
              <a:t>          "mode": "허용된 경우",</a:t>
            </a:r>
          </a:p>
          <a:p xmlns:a="http://schemas.openxmlformats.org/drawingml/2006/main">
            <a:r>
              <a:t>          "payload": "채무 통지",</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"C11",</a:t>
            </a:r>
          </a:p>
          <a:p xmlns:a="http://schemas.openxmlformats.org/drawingml/2006/main">
            <a:r>
              <a:t>          "mode": "거부·보류",</a:t>
            </a:r>
          </a:p>
          <a:p xmlns:a="http://schemas.openxmlformats.org/drawingml/2006/main">
            <a:r>
              <a:t>          "payload": "채무 통지",</a:t>
            </a:r>
          </a:p>
          <a:p xmlns:a="http://schemas.openxmlformats.org/drawingml/2006/main">
            <a:r>
              <a:t>          "check": "연간 자료를 짧은 기간에 일률 배분·당사자 반박 증빙"</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"사람 확인",</a:t>
            </a:r>
          </a:p>
          <a:p xmlns:a="http://schemas.openxmlformats.org/drawingml/2006/main">
            <a:r>
              <a:t>          "payload": "이의·재심 기록",</a:t>
            </a:r>
          </a:p>
          <a:p xmlns:a="http://schemas.openxmlformats.org/drawingml/2006/main">
            <a:r>
              <a:t>          "check": "기간별 산정 대사와 보류·재심·담당자 판단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11</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"자동 행정 산정의 근거·재심 체계 분석 / 기관 간 자료·산정·통지·이의제기",</a:t>
            </a:r>
          </a:p>
          <a:p xmlns:a="http://schemas.openxmlformats.org/drawingml/2006/main">
            <a:r>
              <a:t>        "extension": "검사·지원·자격 업무의 근거 조문·증빙·전결 확인 후 담당자 판단"</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"연간 자료를 짧은 기간에 일률 배분·당사자 반박 증빙",</a:t>
            </a:r>
          </a:p>
          <a:p xmlns:a="http://schemas.openxmlformats.org/drawingml/2006/main">
            <a:r>
              <a:t>        "hold": "원천 증빙 불일치 시 자동 확정 보류",</a:t>
            </a:r>
          </a:p>
          <a:p xmlns:a="http://schemas.openxmlformats.org/drawingml/2006/main">
            <a:r>
              <a:t>        "recovery": "오판·이의제기 결과의 규칙 및 절차 개선",</a:t>
            </a:r>
          </a:p>
          <a:p xmlns:a="http://schemas.openxmlformats.org/drawingml/2006/main">
            <a:r>
              <a:t>        "evidence": "기간별 산정 대사와 보류·재심·담당자 판단 기록"</a:t>
            </a:r>
          </a:p>
          <a:p xmlns:a="http://schemas.openxmlformats.org/drawingml/2006/main">
            <a:r>
              <a:t>      },</a:t>
            </a:r>
          </a:p>
          <a:p xmlns:a="http://schemas.openxmlformats.org/drawingml/2006/main">
            <a:r>
              <a:t>      "data": {</a:t>
            </a:r>
          </a:p>
          <a:p xmlns:a="http://schemas.openxmlformats.org/drawingml/2006/main">
            <a:r>
              <a:t>        "source": "소득·산정 근거",</a:t>
            </a:r>
          </a:p>
          <a:p xmlns:a="http://schemas.openxmlformats.org/drawingml/2006/main">
            <a:r>
              <a:t>        "prepare": "소득 등 원천자료와 적용기간 분리 관리",</a:t>
            </a:r>
          </a:p>
          <a:p xmlns:a="http://schemas.openxmlformats.org/drawingml/2006/main">
            <a:r>
              <a:t>        "output": "기관별 소득자료",</a:t>
            </a:r>
          </a:p>
          <a:p xmlns:a="http://schemas.openxmlformats.org/drawingml/2006/main">
            <a:r>
              <a:t>        "refresh": "오판·이의제기 결과의 규칙 및 절차 개선"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"AX07",</a:t>
            </a:r>
          </a:p>
          <a:p xmlns:a="http://schemas.openxmlformats.org/drawingml/2006/main">
            <a:r>
              <a:t>    "success": [</a:t>
            </a:r>
          </a:p>
          <a:p xmlns:a="http://schemas.openxmlformats.org/drawingml/2006/main">
            <a:r>
              <a:t>      "자동 결정 전 법적·증빙 근거 확인",</a:t>
            </a:r>
          </a:p>
          <a:p xmlns:a="http://schemas.openxmlformats.org/drawingml/2006/main">
            <a:r>
              <a:t>      "이의제기와 재심 경로 확보"</a:t>
            </a:r>
          </a:p>
          <a:p xmlns:a="http://schemas.openxmlformats.org/drawingml/2006/main">
            <a:r>
              <a:t>    ],</a:t>
            </a:r>
          </a:p>
          <a:p xmlns:a="http://schemas.openxmlformats.org/drawingml/2006/main">
            <a:r>
              <a:t>    "risks": [</a:t>
            </a:r>
          </a:p>
          <a:p xmlns:a="http://schemas.openxmlformats.org/drawingml/2006/main">
            <a:r>
              <a:t>      "자료 기간·산정 전제의 부적합",</a:t>
            </a:r>
          </a:p>
          <a:p xmlns:a="http://schemas.openxmlformats.org/drawingml/2006/main">
            <a:r>
              <a:t>      "자동 판단에 대한 책임·재심 통제 부족"</a:t>
            </a:r>
          </a:p>
          <a:p xmlns:a="http://schemas.openxmlformats.org/drawingml/2006/main">
            <a:r>
              <a:t>    ],</a:t>
            </a:r>
          </a:p>
          <a:p xmlns:a="http://schemas.openxmlformats.org/drawingml/2006/main">
            <a:r>
              <a:t>    "architecture": [</a:t>
            </a:r>
          </a:p>
          <a:p xmlns:a="http://schemas.openxmlformats.org/drawingml/2006/main">
            <a:r>
              <a:t>      "기관 자료 교환",</a:t>
            </a:r>
          </a:p>
          <a:p xmlns:a="http://schemas.openxmlformats.org/drawingml/2006/main">
            <a:r>
              <a:t>      "자동 산정·통지",</a:t>
            </a:r>
          </a:p>
          <a:p xmlns:a="http://schemas.openxmlformats.org/drawingml/2006/main">
            <a:r>
              <a:t>      "소득·산정 근거",</a:t>
            </a:r>
          </a:p>
          <a:p xmlns:a="http://schemas.openxmlformats.org/drawingml/2006/main">
            <a:r>
              <a:t>      "대상자·재심 담당"</a:t>
            </a:r>
          </a:p>
          <a:p xmlns:a="http://schemas.openxmlformats.org/drawingml/2006/main">
            <a:r>
              <a:t>    ],</a:t>
            </a:r>
          </a:p>
          <a:p xmlns:a="http://schemas.openxmlformats.org/drawingml/2006/main">
            <a:r>
              <a:t>    "transfers": [</a:t>
            </a:r>
          </a:p>
          <a:p xmlns:a="http://schemas.openxmlformats.org/drawingml/2006/main">
            <a:r>
              <a:t>      "기관별 소득자료",</a:t>
            </a:r>
          </a:p>
          <a:p xmlns:a="http://schemas.openxmlformats.org/drawingml/2006/main">
            <a:r>
              <a:t>      "산정 대상·기간",</a:t>
            </a:r>
          </a:p>
          <a:p xmlns:a="http://schemas.openxmlformats.org/drawingml/2006/main">
            <a:r>
              <a:t>      "채무 통지",</a:t>
            </a:r>
          </a:p>
          <a:p xmlns:a="http://schemas.openxmlformats.org/drawingml/2006/main">
            <a:r>
              <a:t>      "이의·재심 기록"</a:t>
            </a:r>
          </a:p>
          <a:p xmlns:a="http://schemas.openxmlformats.org/drawingml/2006/main">
            <a:r>
              <a:t>    ],</a:t>
            </a:r>
          </a:p>
          <a:p xmlns:a="http://schemas.openxmlformats.org/drawingml/2006/main">
            <a:r>
              <a:t>    "control": "원천 증빙 불일치 시 자동 확정 보류",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호주 왕립위원회 · Robodebt 최종 보고서 https://robodebt.royalcommission.gov.au/publications/report</a:t>
            </a:r>
          </a:p>
          <a:p xmlns:a="http://schemas.openxmlformats.org/drawingml/2006/main">
            <a:r>
              <a:t>홈페이지 https://heen1987-ops.github.io/TS-business-Plan-001/index.html?view=casebook&amp;case=AX07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"AX08",</a:t>
            </a:r>
          </a:p>
          <a:p xmlns:a="http://schemas.openxmlformats.org/drawingml/2006/main">
            <a:r>
              <a:t>    "title": "Cruise 사고보고",</a:t>
            </a:r>
          </a:p>
          <a:p xmlns:a="http://schemas.openxmlformats.org/drawingml/2006/main">
            <a:r>
              <a:t>    "region": "해외",</a:t>
            </a:r>
          </a:p>
          <a:p xmlns:a="http://schemas.openxmlformats.org/drawingml/2006/main">
            <a:r>
              <a:t>    "country": "미국",</a:t>
            </a:r>
          </a:p>
          <a:p xmlns:a="http://schemas.openxmlformats.org/drawingml/2006/main">
            <a:r>
              <a:t>    "result": "실패",</a:t>
            </a:r>
          </a:p>
          <a:p xmlns:a="http://schemas.openxmlformats.org/drawingml/2006/main">
            <a:r>
              <a:t>    "kind": "자율주행 안전·사고보고",</a:t>
            </a:r>
          </a:p>
          <a:p xmlns:a="http://schemas.openxmlformats.org/drawingml/2006/main">
            <a:r>
              <a:t>    "period": "2023 사고 / 2024 시정",</a:t>
            </a:r>
          </a:p>
          <a:p xmlns:a="http://schemas.openxmlformats.org/drawingml/2006/main">
            <a:r>
              <a:t>    "sources": [</a:t>
            </a:r>
          </a:p>
          <a:p xmlns:a="http://schemas.openxmlformats.org/drawingml/2006/main">
            <a:r>
              <a:t>      "S09"</a:t>
            </a:r>
          </a:p>
          <a:p xmlns:a="http://schemas.openxmlformats.org/drawingml/2006/main">
            <a:r>
              <a:t>    ],</a:t>
            </a:r>
          </a:p>
          <a:p xmlns:a="http://schemas.openxmlformats.org/drawingml/2006/main">
            <a:r>
              <a:t>    "keywords": [</a:t>
            </a:r>
          </a:p>
          <a:p xmlns:a="http://schemas.openxmlformats.org/drawingml/2006/main">
            <a:r>
              <a:t>      "미래 모빌리티",</a:t>
            </a:r>
          </a:p>
          <a:p xmlns:a="http://schemas.openxmlformats.org/drawingml/2006/main">
            <a:r>
              <a:t>      "사고",</a:t>
            </a:r>
          </a:p>
          <a:p xmlns:a="http://schemas.openxmlformats.org/drawingml/2006/main">
            <a:r>
              <a:t>      "실증",</a:t>
            </a:r>
          </a:p>
          <a:p xmlns:a="http://schemas.openxmlformats.org/drawingml/2006/main">
            <a:r>
              <a:t>      "안전보고"</a:t>
            </a:r>
          </a:p>
          <a:p xmlns:a="http://schemas.openxmlformats.org/drawingml/2006/main">
            <a:r>
              <a:t>    ],</a:t>
            </a:r>
          </a:p>
          <a:p xmlns:a="http://schemas.openxmlformats.org/drawingml/2006/main">
            <a:r>
              <a:t>    "fact": "충돌 후 상황을 빠뜨린 사고보고에 대한 NHTSA 시정 명령 및 강화된 보고·감독",</a:t>
            </a:r>
          </a:p>
          <a:p xmlns:a="http://schemas.openxmlformats.org/drawingml/2006/main">
            <a:r>
              <a:t>    "limit": "보고 완전성·안전 거버넌스 문제 · 사고 원인을 LLM 오류로 단정 불가",</a:t>
            </a:r>
          </a:p>
          <a:p xmlns:a="http://schemas.openxmlformats.org/drawingml/2006/main">
            <a:r>
              <a:t>    "flow": [</a:t>
            </a:r>
          </a:p>
          <a:p xmlns:a="http://schemas.openxmlformats.org/drawingml/2006/main">
            <a:r>
              <a:t>      "사고 원시 증거",</a:t>
            </a:r>
          </a:p>
          <a:p xmlns:a="http://schemas.openxmlformats.org/drawingml/2006/main">
            <a:r>
              <a:t>      "사건 타임라인",</a:t>
            </a:r>
          </a:p>
          <a:p xmlns:a="http://schemas.openxmlformats.org/drawingml/2006/main">
            <a:r>
              <a:t>      "보고서 작성",</a:t>
            </a:r>
          </a:p>
          <a:p xmlns:a="http://schemas.openxmlformats.org/drawingml/2006/main">
            <a:r>
              <a:t>      "감독기관 보고"</a:t>
            </a:r>
          </a:p>
          <a:p xmlns:a="http://schemas.openxmlformats.org/drawingml/2006/main">
            <a:r>
              <a:t>    ],</a:t>
            </a:r>
          </a:p>
          <a:p xmlns:a="http://schemas.openxmlformats.org/drawingml/2006/main">
            <a:r>
              <a:t>    "flowBasis": "공개 시정 내용 기반 보고 흐름 재구성",</a:t>
            </a:r>
          </a:p>
          <a:p xmlns:a="http://schemas.openxmlformats.org/drawingml/2006/main">
            <a:r>
              <a:t>    "lesson": "요약 결과와 원시 증거의 대사 / 보고 책임의 분리",</a:t>
            </a:r>
          </a:p>
          <a:p xmlns:a="http://schemas.openxmlformats.org/drawingml/2006/main">
            <a:r>
              <a:t>    "local": "TS 실증·사고·점검 자료의 사건 ID와 원문 시점별 근거 연결",</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"증거 무결성 / 필수 사건 체크 / 누락 경고 / 검토·승인 이력",</a:t>
            </a:r>
          </a:p>
          <a:p xmlns:a="http://schemas.openxmlformats.org/drawingml/2006/main">
            <a:r>
              <a:t>    "test": "누락 사건·충돌 시각 주입 후 탐지 및 승인 없이 전송 차단",</a:t>
            </a:r>
          </a:p>
          <a:p xmlns:a="http://schemas.openxmlformats.org/drawingml/2006/main">
            <a:r>
              <a:t>    "metric": "필수 사건 재현율 / 검토 누락률"</a:t>
            </a:r>
          </a:p>
          <a:p xmlns:a="http://schemas.openxmlformats.org/drawingml/2006/main">
            <a:r>
              <a:t>  },</a:t>
            </a:r>
          </a:p>
          <a:p xmlns:a="http://schemas.openxmlformats.org/drawingml/2006/main">
            <a:r>
              <a:t>  "design": {</a:t>
            </a:r>
          </a:p>
          <a:p xmlns:a="http://schemas.openxmlformats.org/drawingml/2006/main">
            <a:r>
              <a:t>    "id": "AX08",</a:t>
            </a:r>
          </a:p>
          <a:p xmlns:a="http://schemas.openxmlformats.org/drawingml/2006/main">
            <a:r>
              <a:t>    "canonicalId": "AX08",</a:t>
            </a:r>
          </a:p>
          <a:p xmlns:a="http://schemas.openxmlformats.org/drawingml/2006/main">
            <a:r>
              <a:t>    "purpose": "사고보고의 원시 증거 누락 방지",</a:t>
            </a:r>
          </a:p>
          <a:p xmlns:a="http://schemas.openxmlformats.org/drawingml/2006/main">
            <a:r>
              <a:t>    "users": "실증 운영자·사고 조사자·감독기관",</a:t>
            </a:r>
          </a:p>
          <a:p xmlns:a="http://schemas.openxmlformats.org/drawingml/2006/main">
            <a:r>
              <a:t>    "scope": [</a:t>
            </a:r>
          </a:p>
          <a:p xmlns:a="http://schemas.openxmlformats.org/drawingml/2006/main">
            <a:r>
              <a:t>      "사건 식별",</a:t>
            </a:r>
          </a:p>
          <a:p xmlns:a="http://schemas.openxmlformats.org/drawingml/2006/main">
            <a:r>
              <a:t>      "시간순 증거",</a:t>
            </a:r>
          </a:p>
          <a:p xmlns:a="http://schemas.openxmlformats.org/drawingml/2006/main">
            <a:r>
              <a:t>      "보고 완전성"</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"사고 영상·로그",</a:t>
            </a:r>
          </a:p>
          <a:p xmlns:a="http://schemas.openxmlformats.org/drawingml/2006/main">
            <a:r>
              <a:t>        "detail": "사고 ID와 보고 대상 기간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"사건 식별 / 시간순 증거 / 보고 완전성",</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"타임라인·보고서 구성",</a:t>
            </a:r>
          </a:p>
          <a:p xmlns:a="http://schemas.openxmlformats.org/drawingml/2006/main">
            <a:r>
              <a:t>        "detail": "시각별 사건 재구성과 필수 항목 대사",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"감독기관·보고 담당",</a:t>
            </a:r>
          </a:p>
          <a:p xmlns:a="http://schemas.openxmlformats.org/drawingml/2006/main">
            <a:r>
              <a:t>        "detail": "작성자 검토와 승인자 확인 후 공식 제출",</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"원시 증거·보고 판본",</a:t>
            </a:r>
          </a:p>
          <a:p xmlns:a="http://schemas.openxmlformats.org/drawingml/2006/main">
            <a:r>
              <a:t>        "detail": "센서·영상·보고 원본의 시점·버전 보존",</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"추가 발견 증거의 보완 보고·수정 이력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"사고 원시 증거",</a:t>
            </a:r>
          </a:p>
          <a:p xmlns:a="http://schemas.openxmlformats.org/drawingml/2006/main">
            <a:r>
              <a:t>        "input": "사고 ID와 보고 대상 기간 지정",</a:t>
            </a:r>
          </a:p>
          <a:p xmlns:a="http://schemas.openxmlformats.org/drawingml/2006/main">
            <a:r>
              <a:t>        "process": "센서·영상·보고 원본의 시점·버전 보존",</a:t>
            </a:r>
          </a:p>
          <a:p xmlns:a="http://schemas.openxmlformats.org/drawingml/2006/main">
            <a:r>
              <a:t>        "output": "시각별 원시 증거"</a:t>
            </a:r>
          </a:p>
          <a:p xmlns:a="http://schemas.openxmlformats.org/drawingml/2006/main">
            <a:r>
              <a:t>      },</a:t>
            </a:r>
          </a:p>
          <a:p xmlns:a="http://schemas.openxmlformats.org/drawingml/2006/main">
            <a:r>
              <a:t>      {</a:t>
            </a:r>
          </a:p>
          <a:p xmlns:a="http://schemas.openxmlformats.org/drawingml/2006/main">
            <a:r>
              <a:t>        "title": "사건 타임라인",</a:t>
            </a:r>
          </a:p>
          <a:p xmlns:a="http://schemas.openxmlformats.org/drawingml/2006/main">
            <a:r>
              <a:t>        "input": "시각별 원시 증거",</a:t>
            </a:r>
          </a:p>
          <a:p xmlns:a="http://schemas.openxmlformats.org/drawingml/2006/main">
            <a:r>
              <a:t>        "process": "시각별 사건 재구성과 필수 항목 대사",</a:t>
            </a:r>
          </a:p>
          <a:p xmlns:a="http://schemas.openxmlformats.org/drawingml/2006/main">
            <a:r>
              <a:t>        "output": "충돌 전후 사건"</a:t>
            </a:r>
          </a:p>
          <a:p xmlns:a="http://schemas.openxmlformats.org/drawingml/2006/main">
            <a:r>
              <a:t>      },</a:t>
            </a:r>
          </a:p>
          <a:p xmlns:a="http://schemas.openxmlformats.org/drawingml/2006/main">
            <a:r>
              <a:t>      {</a:t>
            </a:r>
          </a:p>
          <a:p xmlns:a="http://schemas.openxmlformats.org/drawingml/2006/main">
            <a:r>
              <a:t>        "title": "보고서 작성",</a:t>
            </a:r>
          </a:p>
          <a:p xmlns:a="http://schemas.openxmlformats.org/drawingml/2006/main">
            <a:r>
              <a:t>        "input": "충돌 전후 사건",</a:t>
            </a:r>
          </a:p>
          <a:p xmlns:a="http://schemas.openxmlformats.org/drawingml/2006/main">
            <a:r>
              <a:t>        "process": "충돌 전·중·후 증거의 완전성 대사",</a:t>
            </a:r>
          </a:p>
          <a:p xmlns:a="http://schemas.openxmlformats.org/drawingml/2006/main">
            <a:r>
              <a:t>        "output": "필수 보고 항목"</a:t>
            </a:r>
          </a:p>
          <a:p xmlns:a="http://schemas.openxmlformats.org/drawingml/2006/main">
            <a:r>
              <a:t>      },</a:t>
            </a:r>
          </a:p>
          <a:p xmlns:a="http://schemas.openxmlformats.org/drawingml/2006/main">
            <a:r>
              <a:t>      {</a:t>
            </a:r>
          </a:p>
          <a:p xmlns:a="http://schemas.openxmlformats.org/drawingml/2006/main">
            <a:r>
              <a:t>        "title": "감독기관 보고",</a:t>
            </a:r>
          </a:p>
          <a:p xmlns:a="http://schemas.openxmlformats.org/drawingml/2006/main">
            <a:r>
              <a:t>        "input": "필수 보고 항목",</a:t>
            </a:r>
          </a:p>
          <a:p xmlns:a="http://schemas.openxmlformats.org/drawingml/2006/main">
            <a:r>
              <a:t>        "process": "작성자 검토와 승인자 확인 후 공식 제출",</a:t>
            </a:r>
          </a:p>
          <a:p xmlns:a="http://schemas.openxmlformats.org/drawingml/2006/main">
            <a:r>
              <a:t>        "output": "제출·보완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"사고 발생 전후 전체 이벤트를 보고 항목에 연결",</a:t>
            </a:r>
          </a:p>
          <a:p xmlns:a="http://schemas.openxmlformats.org/drawingml/2006/main">
            <a:r>
              <a:t>      "exception": "충돌 이후 이벤트 삭제·영상과 로그 시각 충돌",</a:t>
            </a:r>
          </a:p>
          <a:p xmlns:a="http://schemas.openxmlformats.org/drawingml/2006/main">
            <a:r>
              <a:t>      "evidence": "원시 증거별 보고 포함 여부와 누락 경고·승인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"실증 운영자·사고 조사자·감독기관",</a:t>
            </a:r>
          </a:p>
          <a:p xmlns:a="http://schemas.openxmlformats.org/drawingml/2006/main">
            <a:r>
              <a:t>          "processing": "사고 ID와 보고 대상 기간 지정",</a:t>
            </a:r>
          </a:p>
          <a:p xmlns:a="http://schemas.openxmlformats.org/drawingml/2006/main">
            <a:r>
              <a:t>          "output": "시각별 원시 증거"</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"원시 증거·보고 판본",</a:t>
            </a:r>
          </a:p>
          <a:p xmlns:a="http://schemas.openxmlformats.org/drawingml/2006/main">
            <a:r>
              <a:t>          "processing": "센서·영상·보고 원본의 시점·버전 보존",</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"시각별 원시 증거",</a:t>
            </a:r>
          </a:p>
          <a:p xmlns:a="http://schemas.openxmlformats.org/drawingml/2006/main">
            <a:r>
              <a:t>          "processing": "시각별 사건 재구성과 필수 항목 대사",</a:t>
            </a:r>
          </a:p>
          <a:p xmlns:a="http://schemas.openxmlformats.org/drawingml/2006/main">
            <a:r>
              <a:t>          "output": "필수 보고 항목"</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"필수 보고 항목",</a:t>
            </a:r>
          </a:p>
          <a:p xmlns:a="http://schemas.openxmlformats.org/drawingml/2006/main">
            <a:r>
              <a:t>          "processing": "작성자 검토와 승인자 확인 후 공식 제출",</a:t>
            </a:r>
          </a:p>
          <a:p xmlns:a="http://schemas.openxmlformats.org/drawingml/2006/main">
            <a:r>
              <a:t>          "output": "제출·보완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"추가 발견 증거의 보완 보고·수정 이력 추적",</a:t>
            </a:r>
          </a:p>
          <a:p xmlns:a="http://schemas.openxmlformats.org/drawingml/2006/main">
            <a:r>
              <a:t>          "output": "원시 증거별 보고 포함 여부와 누락 경고·승인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"추가 발견 증거의 보완 보고·수정 이력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"S09",</a:t>
            </a:r>
          </a:p>
          <a:p xmlns:a="http://schemas.openxmlformats.org/drawingml/2006/main">
            <a:r>
              <a:t>        "title": "NHTSA · Cruise 사고보고 시정 명령",</a:t>
            </a:r>
          </a:p>
          <a:p xmlns:a="http://schemas.openxmlformats.org/drawingml/2006/main">
            <a:r>
              <a:t>        "url": "https://www.nhtsa.gov/press-releases/consent-order-cruise-crash-reporting",</a:t>
            </a:r>
          </a:p>
          <a:p xmlns:a="http://schemas.openxmlformats.org/drawingml/2006/main">
            <a:r>
              <a:t>        "published": "2024-09-30",</a:t>
            </a:r>
          </a:p>
          <a:p xmlns:a="http://schemas.openxmlformats.org/drawingml/2006/main">
            <a:r>
              <a:t>        "level": "감독기관 시정 명령",</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"요약 결과와 원시 증거의 대사 / 보고 책임의 분리",</a:t>
            </a:r>
          </a:p>
          <a:p xmlns:a="http://schemas.openxmlformats.org/drawingml/2006/main">
            <a:r>
              <a:t>    "local": "TS 실증·사고·점검 자료의 사건 ID와 원문 시점별 근거 연결",</a:t>
            </a:r>
          </a:p>
          <a:p xmlns:a="http://schemas.openxmlformats.org/drawingml/2006/main">
            <a:r>
              <a:t>    "sourceDetail": null,</a:t>
            </a:r>
          </a:p>
          <a:p xmlns:a="http://schemas.openxmlformats.org/drawingml/2006/main">
            <a:r>
              <a:t>    "narrative": [</a:t>
            </a:r>
          </a:p>
          <a:p xmlns:a="http://schemas.openxmlformats.org/drawingml/2006/main">
            <a:r>
              <a:t>      "자율주행 사고의 원시 증거와 감독기관 보고 사이에서 누락이 발생한 시정 사례. 모델의 주행 성능과 별개로 사고 전후 정보를 완전하게 보고하는 운영 책임이 주요 쟁점.",</a:t>
            </a:r>
          </a:p>
          <a:p xmlns:a="http://schemas.openxmlformats.org/drawingml/2006/main">
            <a:r>
              <a:t>      "영상·센서·이벤트 로그를 사고 ID와 시간축으로 묶고 필수 보고 항목과 대조하는 CCK 설계. 요약 보고서를 만들더라도 원본 증거·작성 판본·승인자·추가 보완 이력을 함께 유지하는 구조.",</a:t>
            </a:r>
          </a:p>
          <a:p xmlns:a="http://schemas.openxmlformats.org/drawingml/2006/main">
            <a:r>
              <a:t>      "TS 사고조사 지원에서 자동 요약의 편의보다 증거 누락을 우선 평가할 근거. 충돌 전·중·후 자료와 수정본을 섞은 시험으로 사건 재구성, 빠진 항목 경고, 제출본 추적을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"사고보고 접수",</a:t>
            </a:r>
          </a:p>
          <a:p xmlns:a="http://schemas.openxmlformats.org/drawingml/2006/main">
            <a:r>
              <a:t>          "layer": "이용 접점",</a:t>
            </a:r>
          </a:p>
          <a:p xmlns:a="http://schemas.openxmlformats.org/drawingml/2006/main">
            <a:r>
              <a:t>          "detail": "실증 운영자·사고 조사자·감독기관",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"사고 ID·기간",</a:t>
            </a:r>
          </a:p>
          <a:p xmlns:a="http://schemas.openxmlformats.org/drawingml/2006/main">
            <a:r>
              <a:t>          "layer": "업무 문맥",</a:t>
            </a:r>
          </a:p>
          <a:p xmlns:a="http://schemas.openxmlformats.org/drawingml/2006/main">
            <a:r>
              <a:t>          "detail": "사고 ID와 보고 대상 기간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"영상·로그 조회",</a:t>
            </a:r>
          </a:p>
          <a:p xmlns:a="http://schemas.openxmlformats.org/drawingml/2006/main">
            <a:r>
              <a:t>          "layer": "자료 조회",</a:t>
            </a:r>
          </a:p>
          <a:p xmlns:a="http://schemas.openxmlformats.org/drawingml/2006/main">
            <a:r>
              <a:t>          "detail": "시각별 원시 증거",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"시각별 사건 재구성",</a:t>
            </a:r>
          </a:p>
          <a:p xmlns:a="http://schemas.openxmlformats.org/drawingml/2006/main">
            <a:r>
              <a:t>          "layer": "핵심 처리",</a:t>
            </a:r>
          </a:p>
          <a:p xmlns:a="http://schemas.openxmlformats.org/drawingml/2006/main">
            <a:r>
              <a:t>          "detail": "시각별 사건 재구성과 필수 항목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"필수 항목 대사",</a:t>
            </a:r>
          </a:p>
          <a:p xmlns:a="http://schemas.openxmlformats.org/drawingml/2006/main">
            <a:r>
              <a:t>          "layer": "결과 검증",</a:t>
            </a:r>
          </a:p>
          <a:p xmlns:a="http://schemas.openxmlformats.org/drawingml/2006/main">
            <a:r>
              <a:t>          "detail": "충돌 전·중·후 증거의 완전성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"작성·승인자 확인",</a:t>
            </a:r>
          </a:p>
          <a:p xmlns:a="http://schemas.openxmlformats.org/drawingml/2006/main">
            <a:r>
              <a:t>          "layer": "사람 확인",</a:t>
            </a:r>
          </a:p>
          <a:p xmlns:a="http://schemas.openxmlformats.org/drawingml/2006/main">
            <a:r>
              <a:t>          "detail": "사고 발생 전후 전체 이벤트를 보고 항목에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"제출·보완 보고",</a:t>
            </a:r>
          </a:p>
          <a:p xmlns:a="http://schemas.openxmlformats.org/drawingml/2006/main">
            <a:r>
              <a:t>          "layer": "업무 연결",</a:t>
            </a:r>
          </a:p>
          <a:p xmlns:a="http://schemas.openxmlformats.org/drawingml/2006/main">
            <a:r>
              <a:t>          "detail": "작성자 검토와 승인자 확인 후 공식 제출",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"누락·수정 추적",</a:t>
            </a:r>
          </a:p>
          <a:p xmlns:a="http://schemas.openxmlformats.org/drawingml/2006/main">
            <a:r>
              <a:t>          "layer": "운영 관측",</a:t>
            </a:r>
          </a:p>
          <a:p xmlns:a="http://schemas.openxmlformats.org/drawingml/2006/main">
            <a:r>
              <a:t>          "detail": "추가 발견 증거의 보완 보고·수정 이력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"원시 영상·센서",</a:t>
            </a:r>
          </a:p>
          <a:p xmlns:a="http://schemas.openxmlformats.org/drawingml/2006/main">
            <a:r>
              <a:t>          "layer": "데이터 원천",</a:t>
            </a:r>
          </a:p>
          <a:p xmlns:a="http://schemas.openxmlformats.org/drawingml/2006/main">
            <a:r>
              <a:t>          "detail": "원시 증거·보고 판본",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"시간축·판본 정합화",</a:t>
            </a:r>
          </a:p>
          <a:p xmlns:a="http://schemas.openxmlformats.org/drawingml/2006/main">
            <a:r>
              <a:t>          "layer": "준비·갱신",</a:t>
            </a:r>
          </a:p>
          <a:p xmlns:a="http://schemas.openxmlformats.org/drawingml/2006/main">
            <a:r>
              <a:t>          "detail": "센서·영상·보고 원본의 시점·버전 보존",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"증거·보고 판본",</a:t>
            </a:r>
          </a:p>
          <a:p xmlns:a="http://schemas.openxmlformats.org/drawingml/2006/main">
            <a:r>
              <a:t>          "layer": "상태·지식 저장",</a:t>
            </a:r>
          </a:p>
          <a:p xmlns:a="http://schemas.openxmlformats.org/drawingml/2006/main">
            <a:r>
              <a:t>          "detail": "원시 증거별 보고 포함 여부와 누락 경고·승인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"보존·보고 규칙",</a:t>
            </a:r>
          </a:p>
          <a:p xmlns:a="http://schemas.openxmlformats.org/drawingml/2006/main">
            <a:r>
              <a:t>          "layer": "권한·정책",</a:t>
            </a:r>
          </a:p>
          <a:p xmlns:a="http://schemas.openxmlformats.org/drawingml/2006/main">
            <a:r>
              <a:t>          "detail": "충돌 이후 이벤트 삭제·영상과 로그 시각 충돌",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"사고 원시 증거 → 사건 타임라인 → 보고서 작성 → 감독기관 보고"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"원시 증거·보고 판본",</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"필수 보고 항목",</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"충돌 전후 사건",</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"필수 보고 항목",</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"제출·보완 기록",</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"사고보고의 원시 증거 누락 방지 / 사건 식별·시간순 증거·보고 완전성",</a:t>
            </a:r>
          </a:p>
          <a:p xmlns:a="http://schemas.openxmlformats.org/drawingml/2006/main">
            <a:r>
              <a:t>        "extension": "TS 실증·사고·점검 자료의 사건 ID와 원문 시점별 근거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"충돌 이후 이벤트 삭제·영상과 로그 시각 충돌",</a:t>
            </a:r>
          </a:p>
          <a:p xmlns:a="http://schemas.openxmlformats.org/drawingml/2006/main">
            <a:r>
              <a:t>        "hold": "충돌 전·중·후 증거의 완전성 대사",</a:t>
            </a:r>
          </a:p>
          <a:p xmlns:a="http://schemas.openxmlformats.org/drawingml/2006/main">
            <a:r>
              <a:t>        "recovery": "추가 발견 증거의 보완 보고·수정 이력 추적",</a:t>
            </a:r>
          </a:p>
          <a:p xmlns:a="http://schemas.openxmlformats.org/drawingml/2006/main">
            <a:r>
              <a:t>        "evidence": "원시 증거별 보고 포함 여부와 누락 경고·승인 이력"</a:t>
            </a:r>
          </a:p>
          <a:p xmlns:a="http://schemas.openxmlformats.org/drawingml/2006/main">
            <a:r>
              <a:t>      },</a:t>
            </a:r>
          </a:p>
          <a:p xmlns:a="http://schemas.openxmlformats.org/drawingml/2006/main">
            <a:r>
              <a:t>      "data": {</a:t>
            </a:r>
          </a:p>
          <a:p xmlns:a="http://schemas.openxmlformats.org/drawingml/2006/main">
            <a:r>
              <a:t>        "source": "원시 증거·보고 판본",</a:t>
            </a:r>
          </a:p>
          <a:p xmlns:a="http://schemas.openxmlformats.org/drawingml/2006/main">
            <a:r>
              <a:t>        "prepare": "센서·영상·보고 원본의 시점·버전 보존",</a:t>
            </a:r>
          </a:p>
          <a:p xmlns:a="http://schemas.openxmlformats.org/drawingml/2006/main">
            <a:r>
              <a:t>        "output": "시각별 원시 증거",</a:t>
            </a:r>
          </a:p>
          <a:p xmlns:a="http://schemas.openxmlformats.org/drawingml/2006/main">
            <a:r>
              <a:t>        "refresh": "추가 발견 증거의 보완 보고·수정 이력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"AX08",</a:t>
            </a:r>
          </a:p>
          <a:p xmlns:a="http://schemas.openxmlformats.org/drawingml/2006/main">
            <a:r>
              <a:t>    "success": [</a:t>
            </a:r>
          </a:p>
          <a:p xmlns:a="http://schemas.openxmlformats.org/drawingml/2006/main">
            <a:r>
              <a:t>      "원시 영상과 보고 항목의 대사",</a:t>
            </a:r>
          </a:p>
          <a:p xmlns:a="http://schemas.openxmlformats.org/drawingml/2006/main">
            <a:r>
              <a:t>      "보고 책임자와 변경 이력 관리"</a:t>
            </a:r>
          </a:p>
          <a:p xmlns:a="http://schemas.openxmlformats.org/drawingml/2006/main">
            <a:r>
              <a:t>    ],</a:t>
            </a:r>
          </a:p>
          <a:p xmlns:a="http://schemas.openxmlformats.org/drawingml/2006/main">
            <a:r>
              <a:t>    "risks": [</a:t>
            </a:r>
          </a:p>
          <a:p xmlns:a="http://schemas.openxmlformats.org/drawingml/2006/main">
            <a:r>
              <a:t>      "사고 후 상황의 보고 누락",</a:t>
            </a:r>
          </a:p>
          <a:p xmlns:a="http://schemas.openxmlformats.org/drawingml/2006/main">
            <a:r>
              <a:t>      "요약본만으로 사고 전체를 판단하는 위험"</a:t>
            </a:r>
          </a:p>
          <a:p xmlns:a="http://schemas.openxmlformats.org/drawingml/2006/main">
            <a:r>
              <a:t>    ],</a:t>
            </a:r>
          </a:p>
          <a:p xmlns:a="http://schemas.openxmlformats.org/drawingml/2006/main">
            <a:r>
              <a:t>    "architecture": [</a:t>
            </a:r>
          </a:p>
          <a:p xmlns:a="http://schemas.openxmlformats.org/drawingml/2006/main">
            <a:r>
              <a:t>      "사고 영상·로그",</a:t>
            </a:r>
          </a:p>
          <a:p xmlns:a="http://schemas.openxmlformats.org/drawingml/2006/main">
            <a:r>
              <a:t>      "타임라인·보고서 구성",</a:t>
            </a:r>
          </a:p>
          <a:p xmlns:a="http://schemas.openxmlformats.org/drawingml/2006/main">
            <a:r>
              <a:t>      "원시 증거·보고 판본",</a:t>
            </a:r>
          </a:p>
          <a:p xmlns:a="http://schemas.openxmlformats.org/drawingml/2006/main">
            <a:r>
              <a:t>      "감독기관·보고 담당"</a:t>
            </a:r>
          </a:p>
          <a:p xmlns:a="http://schemas.openxmlformats.org/drawingml/2006/main">
            <a:r>
              <a:t>    ],</a:t>
            </a:r>
          </a:p>
          <a:p xmlns:a="http://schemas.openxmlformats.org/drawingml/2006/main">
            <a:r>
              <a:t>    "transfers": [</a:t>
            </a:r>
          </a:p>
          <a:p xmlns:a="http://schemas.openxmlformats.org/drawingml/2006/main">
            <a:r>
              <a:t>      "시각별 원시 증거",</a:t>
            </a:r>
          </a:p>
          <a:p xmlns:a="http://schemas.openxmlformats.org/drawingml/2006/main">
            <a:r>
              <a:t>      "충돌 전후 사건",</a:t>
            </a:r>
          </a:p>
          <a:p xmlns:a="http://schemas.openxmlformats.org/drawingml/2006/main">
            <a:r>
              <a:t>      "필수 보고 항목",</a:t>
            </a:r>
          </a:p>
          <a:p xmlns:a="http://schemas.openxmlformats.org/drawingml/2006/main">
            <a:r>
              <a:t>      "제출·보완 기록"</a:t>
            </a:r>
          </a:p>
          <a:p xmlns:a="http://schemas.openxmlformats.org/drawingml/2006/main">
            <a:r>
              <a:t>    ],</a:t>
            </a:r>
          </a:p>
          <a:p xmlns:a="http://schemas.openxmlformats.org/drawingml/2006/main">
            <a:r>
              <a:t>    "control": "충돌 전·중·후 증거의 완전성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NHTSA · Cruise 사고보고 시정 명령 https://www.nhtsa.gov/press-releases/consent-order-cruise-crash-reporting</a:t>
            </a:r>
          </a:p>
          <a:p xmlns:a="http://schemas.openxmlformats.org/drawingml/2006/main">
            <a:r>
              <a:t>홈페이지 https://heen1987-ops.github.io/TS-business-Plan-001/index.html?view=casebook&amp;case=AX08</a:t>
            </a:r>
          </a:p>
          <a:p xmlns:a="http://schemas.openxmlformats.org/drawingml/2006/main">
            <a:r>
              <a:t>한계: 보고 완전성·안전 거버넌스 문제 · 사고 원인을 LLM 오류로 단정 불가</a:t>
            </a:r>
          </a:p>
          <a:p xmlns:a="http://schemas.openxmlformats.org/drawingml/2006/main">
            <a:r>
              <a:t>재발 방지 조건: 원시 영상과 보고 항목의 대사 / 보고 책임자와 변경 이력 관리</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"AX08",</a:t>
            </a:r>
          </a:p>
          <a:p xmlns:a="http://schemas.openxmlformats.org/drawingml/2006/main">
            <a:r>
              <a:t>    "title": "Cruise 사고보고",</a:t>
            </a:r>
          </a:p>
          <a:p xmlns:a="http://schemas.openxmlformats.org/drawingml/2006/main">
            <a:r>
              <a:t>    "region": "해외",</a:t>
            </a:r>
          </a:p>
          <a:p xmlns:a="http://schemas.openxmlformats.org/drawingml/2006/main">
            <a:r>
              <a:t>    "country": "미국",</a:t>
            </a:r>
          </a:p>
          <a:p xmlns:a="http://schemas.openxmlformats.org/drawingml/2006/main">
            <a:r>
              <a:t>    "result": "실패",</a:t>
            </a:r>
          </a:p>
          <a:p xmlns:a="http://schemas.openxmlformats.org/drawingml/2006/main">
            <a:r>
              <a:t>    "kind": "자율주행 안전·사고보고",</a:t>
            </a:r>
          </a:p>
          <a:p xmlns:a="http://schemas.openxmlformats.org/drawingml/2006/main">
            <a:r>
              <a:t>    "period": "2023 사고 / 2024 시정",</a:t>
            </a:r>
          </a:p>
          <a:p xmlns:a="http://schemas.openxmlformats.org/drawingml/2006/main">
            <a:r>
              <a:t>    "sources": [</a:t>
            </a:r>
          </a:p>
          <a:p xmlns:a="http://schemas.openxmlformats.org/drawingml/2006/main">
            <a:r>
              <a:t>      "S09"</a:t>
            </a:r>
          </a:p>
          <a:p xmlns:a="http://schemas.openxmlformats.org/drawingml/2006/main">
            <a:r>
              <a:t>    ],</a:t>
            </a:r>
          </a:p>
          <a:p xmlns:a="http://schemas.openxmlformats.org/drawingml/2006/main">
            <a:r>
              <a:t>    "keywords": [</a:t>
            </a:r>
          </a:p>
          <a:p xmlns:a="http://schemas.openxmlformats.org/drawingml/2006/main">
            <a:r>
              <a:t>      "미래 모빌리티",</a:t>
            </a:r>
          </a:p>
          <a:p xmlns:a="http://schemas.openxmlformats.org/drawingml/2006/main">
            <a:r>
              <a:t>      "사고",</a:t>
            </a:r>
          </a:p>
          <a:p xmlns:a="http://schemas.openxmlformats.org/drawingml/2006/main">
            <a:r>
              <a:t>      "실증",</a:t>
            </a:r>
          </a:p>
          <a:p xmlns:a="http://schemas.openxmlformats.org/drawingml/2006/main">
            <a:r>
              <a:t>      "안전보고"</a:t>
            </a:r>
          </a:p>
          <a:p xmlns:a="http://schemas.openxmlformats.org/drawingml/2006/main">
            <a:r>
              <a:t>    ],</a:t>
            </a:r>
          </a:p>
          <a:p xmlns:a="http://schemas.openxmlformats.org/drawingml/2006/main">
            <a:r>
              <a:t>    "fact": "충돌 후 상황을 빠뜨린 사고보고에 대한 NHTSA 시정 명령 및 강화된 보고·감독",</a:t>
            </a:r>
          </a:p>
          <a:p xmlns:a="http://schemas.openxmlformats.org/drawingml/2006/main">
            <a:r>
              <a:t>    "limit": "보고 완전성·안전 거버넌스 문제 · 사고 원인을 LLM 오류로 단정 불가",</a:t>
            </a:r>
          </a:p>
          <a:p xmlns:a="http://schemas.openxmlformats.org/drawingml/2006/main">
            <a:r>
              <a:t>    "flow": [</a:t>
            </a:r>
          </a:p>
          <a:p xmlns:a="http://schemas.openxmlformats.org/drawingml/2006/main">
            <a:r>
              <a:t>      "사고 원시 증거",</a:t>
            </a:r>
          </a:p>
          <a:p xmlns:a="http://schemas.openxmlformats.org/drawingml/2006/main">
            <a:r>
              <a:t>      "사건 타임라인",</a:t>
            </a:r>
          </a:p>
          <a:p xmlns:a="http://schemas.openxmlformats.org/drawingml/2006/main">
            <a:r>
              <a:t>      "보고서 작성",</a:t>
            </a:r>
          </a:p>
          <a:p xmlns:a="http://schemas.openxmlformats.org/drawingml/2006/main">
            <a:r>
              <a:t>      "감독기관 보고"</a:t>
            </a:r>
          </a:p>
          <a:p xmlns:a="http://schemas.openxmlformats.org/drawingml/2006/main">
            <a:r>
              <a:t>    ],</a:t>
            </a:r>
          </a:p>
          <a:p xmlns:a="http://schemas.openxmlformats.org/drawingml/2006/main">
            <a:r>
              <a:t>    "flowBasis": "공개 시정 내용 기반 보고 흐름 재구성",</a:t>
            </a:r>
          </a:p>
          <a:p xmlns:a="http://schemas.openxmlformats.org/drawingml/2006/main">
            <a:r>
              <a:t>    "lesson": "요약 결과와 원시 증거의 대사 / 보고 책임의 분리",</a:t>
            </a:r>
          </a:p>
          <a:p xmlns:a="http://schemas.openxmlformats.org/drawingml/2006/main">
            <a:r>
              <a:t>    "local": "TS 실증·사고·점검 자료의 사건 ID와 원문 시점별 근거 연결",</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"증거 무결성 / 필수 사건 체크 / 누락 경고 / 검토·승인 이력",</a:t>
            </a:r>
          </a:p>
          <a:p xmlns:a="http://schemas.openxmlformats.org/drawingml/2006/main">
            <a:r>
              <a:t>    "test": "누락 사건·충돌 시각 주입 후 탐지 및 승인 없이 전송 차단",</a:t>
            </a:r>
          </a:p>
          <a:p xmlns:a="http://schemas.openxmlformats.org/drawingml/2006/main">
            <a:r>
              <a:t>    "metric": "필수 사건 재현율 / 검토 누락률"</a:t>
            </a:r>
          </a:p>
          <a:p xmlns:a="http://schemas.openxmlformats.org/drawingml/2006/main">
            <a:r>
              <a:t>  },</a:t>
            </a:r>
          </a:p>
          <a:p xmlns:a="http://schemas.openxmlformats.org/drawingml/2006/main">
            <a:r>
              <a:t>  "design": {</a:t>
            </a:r>
          </a:p>
          <a:p xmlns:a="http://schemas.openxmlformats.org/drawingml/2006/main">
            <a:r>
              <a:t>    "id": "AX08",</a:t>
            </a:r>
          </a:p>
          <a:p xmlns:a="http://schemas.openxmlformats.org/drawingml/2006/main">
            <a:r>
              <a:t>    "canonicalId": "AX08",</a:t>
            </a:r>
          </a:p>
          <a:p xmlns:a="http://schemas.openxmlformats.org/drawingml/2006/main">
            <a:r>
              <a:t>    "purpose": "사고보고의 원시 증거 누락 방지",</a:t>
            </a:r>
          </a:p>
          <a:p xmlns:a="http://schemas.openxmlformats.org/drawingml/2006/main">
            <a:r>
              <a:t>    "users": "실증 운영자·사고 조사자·감독기관",</a:t>
            </a:r>
          </a:p>
          <a:p xmlns:a="http://schemas.openxmlformats.org/drawingml/2006/main">
            <a:r>
              <a:t>    "scope": [</a:t>
            </a:r>
          </a:p>
          <a:p xmlns:a="http://schemas.openxmlformats.org/drawingml/2006/main">
            <a:r>
              <a:t>      "사건 식별",</a:t>
            </a:r>
          </a:p>
          <a:p xmlns:a="http://schemas.openxmlformats.org/drawingml/2006/main">
            <a:r>
              <a:t>      "시간순 증거",</a:t>
            </a:r>
          </a:p>
          <a:p xmlns:a="http://schemas.openxmlformats.org/drawingml/2006/main">
            <a:r>
              <a:t>      "보고 완전성"</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"사고 영상·로그",</a:t>
            </a:r>
          </a:p>
          <a:p xmlns:a="http://schemas.openxmlformats.org/drawingml/2006/main">
            <a:r>
              <a:t>        "detail": "사고 ID와 보고 대상 기간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"사건 식별 / 시간순 증거 / 보고 완전성",</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"타임라인·보고서 구성",</a:t>
            </a:r>
          </a:p>
          <a:p xmlns:a="http://schemas.openxmlformats.org/drawingml/2006/main">
            <a:r>
              <a:t>        "detail": "시각별 사건 재구성과 필수 항목 대사",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"감독기관·보고 담당",</a:t>
            </a:r>
          </a:p>
          <a:p xmlns:a="http://schemas.openxmlformats.org/drawingml/2006/main">
            <a:r>
              <a:t>        "detail": "작성자 검토와 승인자 확인 후 공식 제출",</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"원시 증거·보고 판본",</a:t>
            </a:r>
          </a:p>
          <a:p xmlns:a="http://schemas.openxmlformats.org/drawingml/2006/main">
            <a:r>
              <a:t>        "detail": "센서·영상·보고 원본의 시점·버전 보존",</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"추가 발견 증거의 보완 보고·수정 이력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"사고 원시 증거",</a:t>
            </a:r>
          </a:p>
          <a:p xmlns:a="http://schemas.openxmlformats.org/drawingml/2006/main">
            <a:r>
              <a:t>        "input": "사고 ID와 보고 대상 기간 지정",</a:t>
            </a:r>
          </a:p>
          <a:p xmlns:a="http://schemas.openxmlformats.org/drawingml/2006/main">
            <a:r>
              <a:t>        "process": "센서·영상·보고 원본의 시점·버전 보존",</a:t>
            </a:r>
          </a:p>
          <a:p xmlns:a="http://schemas.openxmlformats.org/drawingml/2006/main">
            <a:r>
              <a:t>        "output": "시각별 원시 증거"</a:t>
            </a:r>
          </a:p>
          <a:p xmlns:a="http://schemas.openxmlformats.org/drawingml/2006/main">
            <a:r>
              <a:t>      },</a:t>
            </a:r>
          </a:p>
          <a:p xmlns:a="http://schemas.openxmlformats.org/drawingml/2006/main">
            <a:r>
              <a:t>      {</a:t>
            </a:r>
          </a:p>
          <a:p xmlns:a="http://schemas.openxmlformats.org/drawingml/2006/main">
            <a:r>
              <a:t>        "title": "사건 타임라인",</a:t>
            </a:r>
          </a:p>
          <a:p xmlns:a="http://schemas.openxmlformats.org/drawingml/2006/main">
            <a:r>
              <a:t>        "input": "시각별 원시 증거",</a:t>
            </a:r>
          </a:p>
          <a:p xmlns:a="http://schemas.openxmlformats.org/drawingml/2006/main">
            <a:r>
              <a:t>        "process": "시각별 사건 재구성과 필수 항목 대사",</a:t>
            </a:r>
          </a:p>
          <a:p xmlns:a="http://schemas.openxmlformats.org/drawingml/2006/main">
            <a:r>
              <a:t>        "output": "충돌 전후 사건"</a:t>
            </a:r>
          </a:p>
          <a:p xmlns:a="http://schemas.openxmlformats.org/drawingml/2006/main">
            <a:r>
              <a:t>      },</a:t>
            </a:r>
          </a:p>
          <a:p xmlns:a="http://schemas.openxmlformats.org/drawingml/2006/main">
            <a:r>
              <a:t>      {</a:t>
            </a:r>
          </a:p>
          <a:p xmlns:a="http://schemas.openxmlformats.org/drawingml/2006/main">
            <a:r>
              <a:t>        "title": "보고서 작성",</a:t>
            </a:r>
          </a:p>
          <a:p xmlns:a="http://schemas.openxmlformats.org/drawingml/2006/main">
            <a:r>
              <a:t>        "input": "충돌 전후 사건",</a:t>
            </a:r>
          </a:p>
          <a:p xmlns:a="http://schemas.openxmlformats.org/drawingml/2006/main">
            <a:r>
              <a:t>        "process": "충돌 전·중·후 증거의 완전성 대사",</a:t>
            </a:r>
          </a:p>
          <a:p xmlns:a="http://schemas.openxmlformats.org/drawingml/2006/main">
            <a:r>
              <a:t>        "output": "필수 보고 항목"</a:t>
            </a:r>
          </a:p>
          <a:p xmlns:a="http://schemas.openxmlformats.org/drawingml/2006/main">
            <a:r>
              <a:t>      },</a:t>
            </a:r>
          </a:p>
          <a:p xmlns:a="http://schemas.openxmlformats.org/drawingml/2006/main">
            <a:r>
              <a:t>      {</a:t>
            </a:r>
          </a:p>
          <a:p xmlns:a="http://schemas.openxmlformats.org/drawingml/2006/main">
            <a:r>
              <a:t>        "title": "감독기관 보고",</a:t>
            </a:r>
          </a:p>
          <a:p xmlns:a="http://schemas.openxmlformats.org/drawingml/2006/main">
            <a:r>
              <a:t>        "input": "필수 보고 항목",</a:t>
            </a:r>
          </a:p>
          <a:p xmlns:a="http://schemas.openxmlformats.org/drawingml/2006/main">
            <a:r>
              <a:t>        "process": "작성자 검토와 승인자 확인 후 공식 제출",</a:t>
            </a:r>
          </a:p>
          <a:p xmlns:a="http://schemas.openxmlformats.org/drawingml/2006/main">
            <a:r>
              <a:t>        "output": "제출·보완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"사고 발생 전후 전체 이벤트를 보고 항목에 연결",</a:t>
            </a:r>
          </a:p>
          <a:p xmlns:a="http://schemas.openxmlformats.org/drawingml/2006/main">
            <a:r>
              <a:t>      "exception": "충돌 이후 이벤트 삭제·영상과 로그 시각 충돌",</a:t>
            </a:r>
          </a:p>
          <a:p xmlns:a="http://schemas.openxmlformats.org/drawingml/2006/main">
            <a:r>
              <a:t>      "evidence": "원시 증거별 보고 포함 여부와 누락 경고·승인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"실증 운영자·사고 조사자·감독기관",</a:t>
            </a:r>
          </a:p>
          <a:p xmlns:a="http://schemas.openxmlformats.org/drawingml/2006/main">
            <a:r>
              <a:t>          "processing": "사고 ID와 보고 대상 기간 지정",</a:t>
            </a:r>
          </a:p>
          <a:p xmlns:a="http://schemas.openxmlformats.org/drawingml/2006/main">
            <a:r>
              <a:t>          "output": "시각별 원시 증거"</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"원시 증거·보고 판본",</a:t>
            </a:r>
          </a:p>
          <a:p xmlns:a="http://schemas.openxmlformats.org/drawingml/2006/main">
            <a:r>
              <a:t>          "processing": "센서·영상·보고 원본의 시점·버전 보존",</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"시각별 원시 증거",</a:t>
            </a:r>
          </a:p>
          <a:p xmlns:a="http://schemas.openxmlformats.org/drawingml/2006/main">
            <a:r>
              <a:t>          "processing": "시각별 사건 재구성과 필수 항목 대사",</a:t>
            </a:r>
          </a:p>
          <a:p xmlns:a="http://schemas.openxmlformats.org/drawingml/2006/main">
            <a:r>
              <a:t>          "output": "필수 보고 항목"</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"필수 보고 항목",</a:t>
            </a:r>
          </a:p>
          <a:p xmlns:a="http://schemas.openxmlformats.org/drawingml/2006/main">
            <a:r>
              <a:t>          "processing": "작성자 검토와 승인자 확인 후 공식 제출",</a:t>
            </a:r>
          </a:p>
          <a:p xmlns:a="http://schemas.openxmlformats.org/drawingml/2006/main">
            <a:r>
              <a:t>          "output": "제출·보완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"추가 발견 증거의 보완 보고·수정 이력 추적",</a:t>
            </a:r>
          </a:p>
          <a:p xmlns:a="http://schemas.openxmlformats.org/drawingml/2006/main">
            <a:r>
              <a:t>          "output": "원시 증거별 보고 포함 여부와 누락 경고·승인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"추가 발견 증거의 보완 보고·수정 이력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"S09",</a:t>
            </a:r>
          </a:p>
          <a:p xmlns:a="http://schemas.openxmlformats.org/drawingml/2006/main">
            <a:r>
              <a:t>        "title": "NHTSA · Cruise 사고보고 시정 명령",</a:t>
            </a:r>
          </a:p>
          <a:p xmlns:a="http://schemas.openxmlformats.org/drawingml/2006/main">
            <a:r>
              <a:t>        "url": "https://www.nhtsa.gov/press-releases/consent-order-cruise-crash-reporting",</a:t>
            </a:r>
          </a:p>
          <a:p xmlns:a="http://schemas.openxmlformats.org/drawingml/2006/main">
            <a:r>
              <a:t>        "published": "2024-09-30",</a:t>
            </a:r>
          </a:p>
          <a:p xmlns:a="http://schemas.openxmlformats.org/drawingml/2006/main">
            <a:r>
              <a:t>        "level": "감독기관 시정 명령",</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"요약 결과와 원시 증거의 대사 / 보고 책임의 분리",</a:t>
            </a:r>
          </a:p>
          <a:p xmlns:a="http://schemas.openxmlformats.org/drawingml/2006/main">
            <a:r>
              <a:t>    "local": "TS 실증·사고·점검 자료의 사건 ID와 원문 시점별 근거 연결",</a:t>
            </a:r>
          </a:p>
          <a:p xmlns:a="http://schemas.openxmlformats.org/drawingml/2006/main">
            <a:r>
              <a:t>    "sourceDetail": null,</a:t>
            </a:r>
          </a:p>
          <a:p xmlns:a="http://schemas.openxmlformats.org/drawingml/2006/main">
            <a:r>
              <a:t>    "narrative": [</a:t>
            </a:r>
          </a:p>
          <a:p xmlns:a="http://schemas.openxmlformats.org/drawingml/2006/main">
            <a:r>
              <a:t>      "자율주행 사고의 원시 증거와 감독기관 보고 사이에서 누락이 발생한 시정 사례. 모델의 주행 성능과 별개로 사고 전후 정보를 완전하게 보고하는 운영 책임이 주요 쟁점.",</a:t>
            </a:r>
          </a:p>
          <a:p xmlns:a="http://schemas.openxmlformats.org/drawingml/2006/main">
            <a:r>
              <a:t>      "영상·센서·이벤트 로그를 사고 ID와 시간축으로 묶고 필수 보고 항목과 대조하는 CCK 설계. 요약 보고서를 만들더라도 원본 증거·작성 판본·승인자·추가 보완 이력을 함께 유지하는 구조.",</a:t>
            </a:r>
          </a:p>
          <a:p xmlns:a="http://schemas.openxmlformats.org/drawingml/2006/main">
            <a:r>
              <a:t>      "TS 사고조사 지원에서 자동 요약의 편의보다 증거 누락을 우선 평가할 근거. 충돌 전·중·후 자료와 수정본을 섞은 시험으로 사건 재구성, 빠진 항목 경고, 제출본 추적을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"사고보고 접수",</a:t>
            </a:r>
          </a:p>
          <a:p xmlns:a="http://schemas.openxmlformats.org/drawingml/2006/main">
            <a:r>
              <a:t>          "layer": "이용 접점",</a:t>
            </a:r>
          </a:p>
          <a:p xmlns:a="http://schemas.openxmlformats.org/drawingml/2006/main">
            <a:r>
              <a:t>          "detail": "실증 운영자·사고 조사자·감독기관",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"사고 ID·기간",</a:t>
            </a:r>
          </a:p>
          <a:p xmlns:a="http://schemas.openxmlformats.org/drawingml/2006/main">
            <a:r>
              <a:t>          "layer": "업무 문맥",</a:t>
            </a:r>
          </a:p>
          <a:p xmlns:a="http://schemas.openxmlformats.org/drawingml/2006/main">
            <a:r>
              <a:t>          "detail": "사고 ID와 보고 대상 기간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"영상·로그 조회",</a:t>
            </a:r>
          </a:p>
          <a:p xmlns:a="http://schemas.openxmlformats.org/drawingml/2006/main">
            <a:r>
              <a:t>          "layer": "자료 조회",</a:t>
            </a:r>
          </a:p>
          <a:p xmlns:a="http://schemas.openxmlformats.org/drawingml/2006/main">
            <a:r>
              <a:t>          "detail": "시각별 원시 증거",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"시각별 사건 재구성",</a:t>
            </a:r>
          </a:p>
          <a:p xmlns:a="http://schemas.openxmlformats.org/drawingml/2006/main">
            <a:r>
              <a:t>          "layer": "핵심 처리",</a:t>
            </a:r>
          </a:p>
          <a:p xmlns:a="http://schemas.openxmlformats.org/drawingml/2006/main">
            <a:r>
              <a:t>          "detail": "시각별 사건 재구성과 필수 항목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"필수 항목 대사",</a:t>
            </a:r>
          </a:p>
          <a:p xmlns:a="http://schemas.openxmlformats.org/drawingml/2006/main">
            <a:r>
              <a:t>          "layer": "결과 검증",</a:t>
            </a:r>
          </a:p>
          <a:p xmlns:a="http://schemas.openxmlformats.org/drawingml/2006/main">
            <a:r>
              <a:t>          "detail": "충돌 전·중·후 증거의 완전성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"작성·승인자 확인",</a:t>
            </a:r>
          </a:p>
          <a:p xmlns:a="http://schemas.openxmlformats.org/drawingml/2006/main">
            <a:r>
              <a:t>          "layer": "사람 확인",</a:t>
            </a:r>
          </a:p>
          <a:p xmlns:a="http://schemas.openxmlformats.org/drawingml/2006/main">
            <a:r>
              <a:t>          "detail": "사고 발생 전후 전체 이벤트를 보고 항목에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"제출·보완 보고",</a:t>
            </a:r>
          </a:p>
          <a:p xmlns:a="http://schemas.openxmlformats.org/drawingml/2006/main">
            <a:r>
              <a:t>          "layer": "업무 연결",</a:t>
            </a:r>
          </a:p>
          <a:p xmlns:a="http://schemas.openxmlformats.org/drawingml/2006/main">
            <a:r>
              <a:t>          "detail": "작성자 검토와 승인자 확인 후 공식 제출",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"누락·수정 추적",</a:t>
            </a:r>
          </a:p>
          <a:p xmlns:a="http://schemas.openxmlformats.org/drawingml/2006/main">
            <a:r>
              <a:t>          "layer": "운영 관측",</a:t>
            </a:r>
          </a:p>
          <a:p xmlns:a="http://schemas.openxmlformats.org/drawingml/2006/main">
            <a:r>
              <a:t>          "detail": "추가 발견 증거의 보완 보고·수정 이력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"원시 영상·센서",</a:t>
            </a:r>
          </a:p>
          <a:p xmlns:a="http://schemas.openxmlformats.org/drawingml/2006/main">
            <a:r>
              <a:t>          "layer": "데이터 원천",</a:t>
            </a:r>
          </a:p>
          <a:p xmlns:a="http://schemas.openxmlformats.org/drawingml/2006/main">
            <a:r>
              <a:t>          "detail": "원시 증거·보고 판본",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"시간축·판본 정합화",</a:t>
            </a:r>
          </a:p>
          <a:p xmlns:a="http://schemas.openxmlformats.org/drawingml/2006/main">
            <a:r>
              <a:t>          "layer": "준비·갱신",</a:t>
            </a:r>
          </a:p>
          <a:p xmlns:a="http://schemas.openxmlformats.org/drawingml/2006/main">
            <a:r>
              <a:t>          "detail": "센서·영상·보고 원본의 시점·버전 보존",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"증거·보고 판본",</a:t>
            </a:r>
          </a:p>
          <a:p xmlns:a="http://schemas.openxmlformats.org/drawingml/2006/main">
            <a:r>
              <a:t>          "layer": "상태·지식 저장",</a:t>
            </a:r>
          </a:p>
          <a:p xmlns:a="http://schemas.openxmlformats.org/drawingml/2006/main">
            <a:r>
              <a:t>          "detail": "원시 증거별 보고 포함 여부와 누락 경고·승인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"보존·보고 규칙",</a:t>
            </a:r>
          </a:p>
          <a:p xmlns:a="http://schemas.openxmlformats.org/drawingml/2006/main">
            <a:r>
              <a:t>          "layer": "권한·정책",</a:t>
            </a:r>
          </a:p>
          <a:p xmlns:a="http://schemas.openxmlformats.org/drawingml/2006/main">
            <a:r>
              <a:t>          "detail": "충돌 이후 이벤트 삭제·영상과 로그 시각 충돌",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"사고 원시 증거 → 사건 타임라인 → 보고서 작성 → 감독기관 보고"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"원시 증거·보고 판본",</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"필수 보고 항목",</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"충돌 전후 사건",</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"필수 보고 항목",</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"제출·보완 기록",</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"사고보고의 원시 증거 누락 방지 / 사건 식별·시간순 증거·보고 완전성",</a:t>
            </a:r>
          </a:p>
          <a:p xmlns:a="http://schemas.openxmlformats.org/drawingml/2006/main">
            <a:r>
              <a:t>        "extension": "TS 실증·사고·점검 자료의 사건 ID와 원문 시점별 근거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"충돌 이후 이벤트 삭제·영상과 로그 시각 충돌",</a:t>
            </a:r>
          </a:p>
          <a:p xmlns:a="http://schemas.openxmlformats.org/drawingml/2006/main">
            <a:r>
              <a:t>        "hold": "충돌 전·중·후 증거의 완전성 대사",</a:t>
            </a:r>
          </a:p>
          <a:p xmlns:a="http://schemas.openxmlformats.org/drawingml/2006/main">
            <a:r>
              <a:t>        "recovery": "추가 발견 증거의 보완 보고·수정 이력 추적",</a:t>
            </a:r>
          </a:p>
          <a:p xmlns:a="http://schemas.openxmlformats.org/drawingml/2006/main">
            <a:r>
              <a:t>        "evidence": "원시 증거별 보고 포함 여부와 누락 경고·승인 이력"</a:t>
            </a:r>
          </a:p>
          <a:p xmlns:a="http://schemas.openxmlformats.org/drawingml/2006/main">
            <a:r>
              <a:t>      },</a:t>
            </a:r>
          </a:p>
          <a:p xmlns:a="http://schemas.openxmlformats.org/drawingml/2006/main">
            <a:r>
              <a:t>      "data": {</a:t>
            </a:r>
          </a:p>
          <a:p xmlns:a="http://schemas.openxmlformats.org/drawingml/2006/main">
            <a:r>
              <a:t>        "source": "원시 증거·보고 판본",</a:t>
            </a:r>
          </a:p>
          <a:p xmlns:a="http://schemas.openxmlformats.org/drawingml/2006/main">
            <a:r>
              <a:t>        "prepare": "센서·영상·보고 원본의 시점·버전 보존",</a:t>
            </a:r>
          </a:p>
          <a:p xmlns:a="http://schemas.openxmlformats.org/drawingml/2006/main">
            <a:r>
              <a:t>        "output": "시각별 원시 증거",</a:t>
            </a:r>
          </a:p>
          <a:p xmlns:a="http://schemas.openxmlformats.org/drawingml/2006/main">
            <a:r>
              <a:t>        "refresh": "추가 발견 증거의 보완 보고·수정 이력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"AX08",</a:t>
            </a:r>
          </a:p>
          <a:p xmlns:a="http://schemas.openxmlformats.org/drawingml/2006/main">
            <a:r>
              <a:t>    "success": [</a:t>
            </a:r>
          </a:p>
          <a:p xmlns:a="http://schemas.openxmlformats.org/drawingml/2006/main">
            <a:r>
              <a:t>      "원시 영상과 보고 항목의 대사",</a:t>
            </a:r>
          </a:p>
          <a:p xmlns:a="http://schemas.openxmlformats.org/drawingml/2006/main">
            <a:r>
              <a:t>      "보고 책임자와 변경 이력 관리"</a:t>
            </a:r>
          </a:p>
          <a:p xmlns:a="http://schemas.openxmlformats.org/drawingml/2006/main">
            <a:r>
              <a:t>    ],</a:t>
            </a:r>
          </a:p>
          <a:p xmlns:a="http://schemas.openxmlformats.org/drawingml/2006/main">
            <a:r>
              <a:t>    "risks": [</a:t>
            </a:r>
          </a:p>
          <a:p xmlns:a="http://schemas.openxmlformats.org/drawingml/2006/main">
            <a:r>
              <a:t>      "사고 후 상황의 보고 누락",</a:t>
            </a:r>
          </a:p>
          <a:p xmlns:a="http://schemas.openxmlformats.org/drawingml/2006/main">
            <a:r>
              <a:t>      "요약본만으로 사고 전체를 판단하는 위험"</a:t>
            </a:r>
          </a:p>
          <a:p xmlns:a="http://schemas.openxmlformats.org/drawingml/2006/main">
            <a:r>
              <a:t>    ],</a:t>
            </a:r>
          </a:p>
          <a:p xmlns:a="http://schemas.openxmlformats.org/drawingml/2006/main">
            <a:r>
              <a:t>    "architecture": [</a:t>
            </a:r>
          </a:p>
          <a:p xmlns:a="http://schemas.openxmlformats.org/drawingml/2006/main">
            <a:r>
              <a:t>      "사고 영상·로그",</a:t>
            </a:r>
          </a:p>
          <a:p xmlns:a="http://schemas.openxmlformats.org/drawingml/2006/main">
            <a:r>
              <a:t>      "타임라인·보고서 구성",</a:t>
            </a:r>
          </a:p>
          <a:p xmlns:a="http://schemas.openxmlformats.org/drawingml/2006/main">
            <a:r>
              <a:t>      "원시 증거·보고 판본",</a:t>
            </a:r>
          </a:p>
          <a:p xmlns:a="http://schemas.openxmlformats.org/drawingml/2006/main">
            <a:r>
              <a:t>      "감독기관·보고 담당"</a:t>
            </a:r>
          </a:p>
          <a:p xmlns:a="http://schemas.openxmlformats.org/drawingml/2006/main">
            <a:r>
              <a:t>    ],</a:t>
            </a:r>
          </a:p>
          <a:p xmlns:a="http://schemas.openxmlformats.org/drawingml/2006/main">
            <a:r>
              <a:t>    "transfers": [</a:t>
            </a:r>
          </a:p>
          <a:p xmlns:a="http://schemas.openxmlformats.org/drawingml/2006/main">
            <a:r>
              <a:t>      "시각별 원시 증거",</a:t>
            </a:r>
          </a:p>
          <a:p xmlns:a="http://schemas.openxmlformats.org/drawingml/2006/main">
            <a:r>
              <a:t>      "충돌 전후 사건",</a:t>
            </a:r>
          </a:p>
          <a:p xmlns:a="http://schemas.openxmlformats.org/drawingml/2006/main">
            <a:r>
              <a:t>      "필수 보고 항목",</a:t>
            </a:r>
          </a:p>
          <a:p xmlns:a="http://schemas.openxmlformats.org/drawingml/2006/main">
            <a:r>
              <a:t>      "제출·보완 기록"</a:t>
            </a:r>
          </a:p>
          <a:p xmlns:a="http://schemas.openxmlformats.org/drawingml/2006/main">
            <a:r>
              <a:t>    ],</a:t>
            </a:r>
          </a:p>
          <a:p xmlns:a="http://schemas.openxmlformats.org/drawingml/2006/main">
            <a:r>
              <a:t>    "control": "충돌 전·중·후 증거의 완전성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NHTSA · Cruise 사고보고 시정 명령 https://www.nhtsa.gov/press-releases/consent-order-cruise-crash-reporting</a:t>
            </a:r>
          </a:p>
          <a:p xmlns:a="http://schemas.openxmlformats.org/drawingml/2006/main">
            <a:r>
              <a:t>홈페이지 https://heen1987-ops.github.io/TS-business-Plan-001/index.html?view=casebook&amp;case=AX08</a:t>
            </a:r>
          </a:p>
          <a:p xmlns:a="http://schemas.openxmlformats.org/drawingml/2006/main">
            <a:r>
              <a:t>성과 대조</a:t>
            </a:r>
          </a:p>
          <a:p xmlns:a="http://schemas.openxmlformats.org/drawingml/2006/main">
            <a:r>
              <a:t>{</a:t>
            </a:r>
          </a:p>
          <a:p xmlns:a="http://schemas.openxmlformats.org/drawingml/2006/main">
            <a:r>
              <a:t>  "caseId": "AX08",</a:t>
            </a:r>
          </a:p>
          <a:p xmlns:a="http://schemas.openxmlformats.org/drawingml/2006/main">
            <a:r>
              <a:t>  "asIs": "자율주행 차량 사고의 원시 영상·차량 사건 기록을 감독기관에 완전하게 보고해야 하는 체계",</a:t>
            </a:r>
          </a:p>
          <a:p xmlns:a="http://schemas.openxmlformats.org/drawingml/2006/main">
            <a:r>
              <a:t>  "toBe": "운행 확대와 함께 사고를 신속·완전하게 기록·보고하고 안전 감독을 유지하려는 목표",</a:t>
            </a:r>
          </a:p>
          <a:p xmlns:a="http://schemas.openxmlformats.org/drawingml/2006/main">
            <a:r>
              <a:t>  "expectedEffect": "사고 조사 가능성과 자율주행 안전 감독의 신뢰 확보",</a:t>
            </a:r>
          </a:p>
          <a:p xmlns:a="http://schemas.openxmlformats.org/drawingml/2006/main">
            <a:r>
              <a:t>  "observed": "NHTSA가 보행자 사고의 후속 상황을 완전하게 보고하지 않은 점을 확인하고 시정 명령·보고 의무 강화",</a:t>
            </a:r>
          </a:p>
          <a:p xmlns:a="http://schemas.openxmlformats.org/drawingml/2006/main">
            <a:r>
              <a:t>  "verdict": "실패 확인",</a:t>
            </a:r>
          </a:p>
          <a:p xmlns:a="http://schemas.openxmlformats.org/drawingml/2006/main">
            <a:r>
              <a:t>  "verdictReason": "사고보고 완전성 및 규제 준수 실패는 감독기관에서 확인",</a:t>
            </a:r>
          </a:p>
          <a:p xmlns:a="http://schemas.openxmlformats.org/drawingml/2006/main">
            <a:r>
              <a:t>  "limits": "보고 의무 위반의 판단. 충돌의 기술적 원인을 LLM·AI 모델 오류로 단정 불가",</a:t>
            </a:r>
          </a:p>
          <a:p xmlns:a="http://schemas.openxmlformats.org/drawingml/2006/main">
            <a:r>
              <a:t>  "evidenceStage": "감독기관 시정 명령·관찰 문제",</a:t>
            </a:r>
          </a:p>
          <a:p xmlns:a="http://schemas.openxmlformats.org/drawingml/2006/main">
            <a:r>
              <a:t>  "sourceUrl": "https://www.nhtsa.gov/press-releases/consent-order-cruise-crash-reporting"</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"AX08",</a:t>
            </a:r>
          </a:p>
          <a:p xmlns:a="http://schemas.openxmlformats.org/drawingml/2006/main">
            <a:r>
              <a:t>    "title": "Cruise 사고보고",</a:t>
            </a:r>
          </a:p>
          <a:p xmlns:a="http://schemas.openxmlformats.org/drawingml/2006/main">
            <a:r>
              <a:t>    "region": "해외",</a:t>
            </a:r>
          </a:p>
          <a:p xmlns:a="http://schemas.openxmlformats.org/drawingml/2006/main">
            <a:r>
              <a:t>    "country": "미국",</a:t>
            </a:r>
          </a:p>
          <a:p xmlns:a="http://schemas.openxmlformats.org/drawingml/2006/main">
            <a:r>
              <a:t>    "result": "실패",</a:t>
            </a:r>
          </a:p>
          <a:p xmlns:a="http://schemas.openxmlformats.org/drawingml/2006/main">
            <a:r>
              <a:t>    "kind": "자율주행 안전·사고보고",</a:t>
            </a:r>
          </a:p>
          <a:p xmlns:a="http://schemas.openxmlformats.org/drawingml/2006/main">
            <a:r>
              <a:t>    "period": "2023 사고 / 2024 시정",</a:t>
            </a:r>
          </a:p>
          <a:p xmlns:a="http://schemas.openxmlformats.org/drawingml/2006/main">
            <a:r>
              <a:t>    "sources": [</a:t>
            </a:r>
          </a:p>
          <a:p xmlns:a="http://schemas.openxmlformats.org/drawingml/2006/main">
            <a:r>
              <a:t>      "S09"</a:t>
            </a:r>
          </a:p>
          <a:p xmlns:a="http://schemas.openxmlformats.org/drawingml/2006/main">
            <a:r>
              <a:t>    ],</a:t>
            </a:r>
          </a:p>
          <a:p xmlns:a="http://schemas.openxmlformats.org/drawingml/2006/main">
            <a:r>
              <a:t>    "keywords": [</a:t>
            </a:r>
          </a:p>
          <a:p xmlns:a="http://schemas.openxmlformats.org/drawingml/2006/main">
            <a:r>
              <a:t>      "미래 모빌리티",</a:t>
            </a:r>
          </a:p>
          <a:p xmlns:a="http://schemas.openxmlformats.org/drawingml/2006/main">
            <a:r>
              <a:t>      "사고",</a:t>
            </a:r>
          </a:p>
          <a:p xmlns:a="http://schemas.openxmlformats.org/drawingml/2006/main">
            <a:r>
              <a:t>      "실증",</a:t>
            </a:r>
          </a:p>
          <a:p xmlns:a="http://schemas.openxmlformats.org/drawingml/2006/main">
            <a:r>
              <a:t>      "안전보고"</a:t>
            </a:r>
          </a:p>
          <a:p xmlns:a="http://schemas.openxmlformats.org/drawingml/2006/main">
            <a:r>
              <a:t>    ],</a:t>
            </a:r>
          </a:p>
          <a:p xmlns:a="http://schemas.openxmlformats.org/drawingml/2006/main">
            <a:r>
              <a:t>    "fact": "충돌 후 상황을 빠뜨린 사고보고에 대한 NHTSA 시정 명령 및 강화된 보고·감독",</a:t>
            </a:r>
          </a:p>
          <a:p xmlns:a="http://schemas.openxmlformats.org/drawingml/2006/main">
            <a:r>
              <a:t>    "limit": "보고 완전성·안전 거버넌스 문제 · 사고 원인을 LLM 오류로 단정 불가",</a:t>
            </a:r>
          </a:p>
          <a:p xmlns:a="http://schemas.openxmlformats.org/drawingml/2006/main">
            <a:r>
              <a:t>    "flow": [</a:t>
            </a:r>
          </a:p>
          <a:p xmlns:a="http://schemas.openxmlformats.org/drawingml/2006/main">
            <a:r>
              <a:t>      "사고 원시 증거",</a:t>
            </a:r>
          </a:p>
          <a:p xmlns:a="http://schemas.openxmlformats.org/drawingml/2006/main">
            <a:r>
              <a:t>      "사건 타임라인",</a:t>
            </a:r>
          </a:p>
          <a:p xmlns:a="http://schemas.openxmlformats.org/drawingml/2006/main">
            <a:r>
              <a:t>      "보고서 작성",</a:t>
            </a:r>
          </a:p>
          <a:p xmlns:a="http://schemas.openxmlformats.org/drawingml/2006/main">
            <a:r>
              <a:t>      "감독기관 보고"</a:t>
            </a:r>
          </a:p>
          <a:p xmlns:a="http://schemas.openxmlformats.org/drawingml/2006/main">
            <a:r>
              <a:t>    ],</a:t>
            </a:r>
          </a:p>
          <a:p xmlns:a="http://schemas.openxmlformats.org/drawingml/2006/main">
            <a:r>
              <a:t>    "flowBasis": "공개 시정 내용 기반 보고 흐름 재구성",</a:t>
            </a:r>
          </a:p>
          <a:p xmlns:a="http://schemas.openxmlformats.org/drawingml/2006/main">
            <a:r>
              <a:t>    "lesson": "요약 결과와 원시 증거의 대사 / 보고 책임의 분리",</a:t>
            </a:r>
          </a:p>
          <a:p xmlns:a="http://schemas.openxmlformats.org/drawingml/2006/main">
            <a:r>
              <a:t>    "local": "TS 실증·사고·점검 자료의 사건 ID와 원문 시점별 근거 연결",</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"증거 무결성 / 필수 사건 체크 / 누락 경고 / 검토·승인 이력",</a:t>
            </a:r>
          </a:p>
          <a:p xmlns:a="http://schemas.openxmlformats.org/drawingml/2006/main">
            <a:r>
              <a:t>    "test": "누락 사건·충돌 시각 주입 후 탐지 및 승인 없이 전송 차단",</a:t>
            </a:r>
          </a:p>
          <a:p xmlns:a="http://schemas.openxmlformats.org/drawingml/2006/main">
            <a:r>
              <a:t>    "metric": "필수 사건 재현율 / 검토 누락률"</a:t>
            </a:r>
          </a:p>
          <a:p xmlns:a="http://schemas.openxmlformats.org/drawingml/2006/main">
            <a:r>
              <a:t>  },</a:t>
            </a:r>
          </a:p>
          <a:p xmlns:a="http://schemas.openxmlformats.org/drawingml/2006/main">
            <a:r>
              <a:t>  "design": {</a:t>
            </a:r>
          </a:p>
          <a:p xmlns:a="http://schemas.openxmlformats.org/drawingml/2006/main">
            <a:r>
              <a:t>    "id": "AX08",</a:t>
            </a:r>
          </a:p>
          <a:p xmlns:a="http://schemas.openxmlformats.org/drawingml/2006/main">
            <a:r>
              <a:t>    "canonicalId": "AX08",</a:t>
            </a:r>
          </a:p>
          <a:p xmlns:a="http://schemas.openxmlformats.org/drawingml/2006/main">
            <a:r>
              <a:t>    "purpose": "사고보고의 원시 증거 누락 방지",</a:t>
            </a:r>
          </a:p>
          <a:p xmlns:a="http://schemas.openxmlformats.org/drawingml/2006/main">
            <a:r>
              <a:t>    "users": "실증 운영자·사고 조사자·감독기관",</a:t>
            </a:r>
          </a:p>
          <a:p xmlns:a="http://schemas.openxmlformats.org/drawingml/2006/main">
            <a:r>
              <a:t>    "scope": [</a:t>
            </a:r>
          </a:p>
          <a:p xmlns:a="http://schemas.openxmlformats.org/drawingml/2006/main">
            <a:r>
              <a:t>      "사건 식별",</a:t>
            </a:r>
          </a:p>
          <a:p xmlns:a="http://schemas.openxmlformats.org/drawingml/2006/main">
            <a:r>
              <a:t>      "시간순 증거",</a:t>
            </a:r>
          </a:p>
          <a:p xmlns:a="http://schemas.openxmlformats.org/drawingml/2006/main">
            <a:r>
              <a:t>      "보고 완전성"</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"사고 영상·로그",</a:t>
            </a:r>
          </a:p>
          <a:p xmlns:a="http://schemas.openxmlformats.org/drawingml/2006/main">
            <a:r>
              <a:t>        "detail": "사고 ID와 보고 대상 기간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"사건 식별 / 시간순 증거 / 보고 완전성",</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"타임라인·보고서 구성",</a:t>
            </a:r>
          </a:p>
          <a:p xmlns:a="http://schemas.openxmlformats.org/drawingml/2006/main">
            <a:r>
              <a:t>        "detail": "시각별 사건 재구성과 필수 항목 대사",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"감독기관·보고 담당",</a:t>
            </a:r>
          </a:p>
          <a:p xmlns:a="http://schemas.openxmlformats.org/drawingml/2006/main">
            <a:r>
              <a:t>        "detail": "작성자 검토와 승인자 확인 후 공식 제출",</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"원시 증거·보고 판본",</a:t>
            </a:r>
          </a:p>
          <a:p xmlns:a="http://schemas.openxmlformats.org/drawingml/2006/main">
            <a:r>
              <a:t>        "detail": "센서·영상·보고 원본의 시점·버전 보존",</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"추가 발견 증거의 보완 보고·수정 이력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"사고 원시 증거",</a:t>
            </a:r>
          </a:p>
          <a:p xmlns:a="http://schemas.openxmlformats.org/drawingml/2006/main">
            <a:r>
              <a:t>        "input": "사고 ID와 보고 대상 기간 지정",</a:t>
            </a:r>
          </a:p>
          <a:p xmlns:a="http://schemas.openxmlformats.org/drawingml/2006/main">
            <a:r>
              <a:t>        "process": "센서·영상·보고 원본의 시점·버전 보존",</a:t>
            </a:r>
          </a:p>
          <a:p xmlns:a="http://schemas.openxmlformats.org/drawingml/2006/main">
            <a:r>
              <a:t>        "output": "시각별 원시 증거"</a:t>
            </a:r>
          </a:p>
          <a:p xmlns:a="http://schemas.openxmlformats.org/drawingml/2006/main">
            <a:r>
              <a:t>      },</a:t>
            </a:r>
          </a:p>
          <a:p xmlns:a="http://schemas.openxmlformats.org/drawingml/2006/main">
            <a:r>
              <a:t>      {</a:t>
            </a:r>
          </a:p>
          <a:p xmlns:a="http://schemas.openxmlformats.org/drawingml/2006/main">
            <a:r>
              <a:t>        "title": "사건 타임라인",</a:t>
            </a:r>
          </a:p>
          <a:p xmlns:a="http://schemas.openxmlformats.org/drawingml/2006/main">
            <a:r>
              <a:t>        "input": "시각별 원시 증거",</a:t>
            </a:r>
          </a:p>
          <a:p xmlns:a="http://schemas.openxmlformats.org/drawingml/2006/main">
            <a:r>
              <a:t>        "process": "시각별 사건 재구성과 필수 항목 대사",</a:t>
            </a:r>
          </a:p>
          <a:p xmlns:a="http://schemas.openxmlformats.org/drawingml/2006/main">
            <a:r>
              <a:t>        "output": "충돌 전후 사건"</a:t>
            </a:r>
          </a:p>
          <a:p xmlns:a="http://schemas.openxmlformats.org/drawingml/2006/main">
            <a:r>
              <a:t>      },</a:t>
            </a:r>
          </a:p>
          <a:p xmlns:a="http://schemas.openxmlformats.org/drawingml/2006/main">
            <a:r>
              <a:t>      {</a:t>
            </a:r>
          </a:p>
          <a:p xmlns:a="http://schemas.openxmlformats.org/drawingml/2006/main">
            <a:r>
              <a:t>        "title": "보고서 작성",</a:t>
            </a:r>
          </a:p>
          <a:p xmlns:a="http://schemas.openxmlformats.org/drawingml/2006/main">
            <a:r>
              <a:t>        "input": "충돌 전후 사건",</a:t>
            </a:r>
          </a:p>
          <a:p xmlns:a="http://schemas.openxmlformats.org/drawingml/2006/main">
            <a:r>
              <a:t>        "process": "충돌 전·중·후 증거의 완전성 대사",</a:t>
            </a:r>
          </a:p>
          <a:p xmlns:a="http://schemas.openxmlformats.org/drawingml/2006/main">
            <a:r>
              <a:t>        "output": "필수 보고 항목"</a:t>
            </a:r>
          </a:p>
          <a:p xmlns:a="http://schemas.openxmlformats.org/drawingml/2006/main">
            <a:r>
              <a:t>      },</a:t>
            </a:r>
          </a:p>
          <a:p xmlns:a="http://schemas.openxmlformats.org/drawingml/2006/main">
            <a:r>
              <a:t>      {</a:t>
            </a:r>
          </a:p>
          <a:p xmlns:a="http://schemas.openxmlformats.org/drawingml/2006/main">
            <a:r>
              <a:t>        "title": "감독기관 보고",</a:t>
            </a:r>
          </a:p>
          <a:p xmlns:a="http://schemas.openxmlformats.org/drawingml/2006/main">
            <a:r>
              <a:t>        "input": "필수 보고 항목",</a:t>
            </a:r>
          </a:p>
          <a:p xmlns:a="http://schemas.openxmlformats.org/drawingml/2006/main">
            <a:r>
              <a:t>        "process": "작성자 검토와 승인자 확인 후 공식 제출",</a:t>
            </a:r>
          </a:p>
          <a:p xmlns:a="http://schemas.openxmlformats.org/drawingml/2006/main">
            <a:r>
              <a:t>        "output": "제출·보완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"사고 발생 전후 전체 이벤트를 보고 항목에 연결",</a:t>
            </a:r>
          </a:p>
          <a:p xmlns:a="http://schemas.openxmlformats.org/drawingml/2006/main">
            <a:r>
              <a:t>      "exception": "충돌 이후 이벤트 삭제·영상과 로그 시각 충돌",</a:t>
            </a:r>
          </a:p>
          <a:p xmlns:a="http://schemas.openxmlformats.org/drawingml/2006/main">
            <a:r>
              <a:t>      "evidence": "원시 증거별 보고 포함 여부와 누락 경고·승인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"실증 운영자·사고 조사자·감독기관",</a:t>
            </a:r>
          </a:p>
          <a:p xmlns:a="http://schemas.openxmlformats.org/drawingml/2006/main">
            <a:r>
              <a:t>          "processing": "사고 ID와 보고 대상 기간 지정",</a:t>
            </a:r>
          </a:p>
          <a:p xmlns:a="http://schemas.openxmlformats.org/drawingml/2006/main">
            <a:r>
              <a:t>          "output": "시각별 원시 증거"</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"원시 증거·보고 판본",</a:t>
            </a:r>
          </a:p>
          <a:p xmlns:a="http://schemas.openxmlformats.org/drawingml/2006/main">
            <a:r>
              <a:t>          "processing": "센서·영상·보고 원본의 시점·버전 보존",</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"시각별 원시 증거",</a:t>
            </a:r>
          </a:p>
          <a:p xmlns:a="http://schemas.openxmlformats.org/drawingml/2006/main">
            <a:r>
              <a:t>          "processing": "시각별 사건 재구성과 필수 항목 대사",</a:t>
            </a:r>
          </a:p>
          <a:p xmlns:a="http://schemas.openxmlformats.org/drawingml/2006/main">
            <a:r>
              <a:t>          "output": "필수 보고 항목"</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"필수 보고 항목",</a:t>
            </a:r>
          </a:p>
          <a:p xmlns:a="http://schemas.openxmlformats.org/drawingml/2006/main">
            <a:r>
              <a:t>          "processing": "작성자 검토와 승인자 확인 후 공식 제출",</a:t>
            </a:r>
          </a:p>
          <a:p xmlns:a="http://schemas.openxmlformats.org/drawingml/2006/main">
            <a:r>
              <a:t>          "output": "제출·보완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"추가 발견 증거의 보완 보고·수정 이력 추적",</a:t>
            </a:r>
          </a:p>
          <a:p xmlns:a="http://schemas.openxmlformats.org/drawingml/2006/main">
            <a:r>
              <a:t>          "output": "원시 증거별 보고 포함 여부와 누락 경고·승인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"추가 발견 증거의 보완 보고·수정 이력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"S09",</a:t>
            </a:r>
          </a:p>
          <a:p xmlns:a="http://schemas.openxmlformats.org/drawingml/2006/main">
            <a:r>
              <a:t>        "title": "NHTSA · Cruise 사고보고 시정 명령",</a:t>
            </a:r>
          </a:p>
          <a:p xmlns:a="http://schemas.openxmlformats.org/drawingml/2006/main">
            <a:r>
              <a:t>        "url": "https://www.nhtsa.gov/press-releases/consent-order-cruise-crash-reporting",</a:t>
            </a:r>
          </a:p>
          <a:p xmlns:a="http://schemas.openxmlformats.org/drawingml/2006/main">
            <a:r>
              <a:t>        "published": "2024-09-30",</a:t>
            </a:r>
          </a:p>
          <a:p xmlns:a="http://schemas.openxmlformats.org/drawingml/2006/main">
            <a:r>
              <a:t>        "level": "감독기관 시정 명령",</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"요약 결과와 원시 증거의 대사 / 보고 책임의 분리",</a:t>
            </a:r>
          </a:p>
          <a:p xmlns:a="http://schemas.openxmlformats.org/drawingml/2006/main">
            <a:r>
              <a:t>    "local": "TS 실증·사고·점검 자료의 사건 ID와 원문 시점별 근거 연결",</a:t>
            </a:r>
          </a:p>
          <a:p xmlns:a="http://schemas.openxmlformats.org/drawingml/2006/main">
            <a:r>
              <a:t>    "sourceDetail": null,</a:t>
            </a:r>
          </a:p>
          <a:p xmlns:a="http://schemas.openxmlformats.org/drawingml/2006/main">
            <a:r>
              <a:t>    "narrative": [</a:t>
            </a:r>
          </a:p>
          <a:p xmlns:a="http://schemas.openxmlformats.org/drawingml/2006/main">
            <a:r>
              <a:t>      "자율주행 사고의 원시 증거와 감독기관 보고 사이에서 누락이 발생한 시정 사례. 모델의 주행 성능과 별개로 사고 전후 정보를 완전하게 보고하는 운영 책임이 주요 쟁점.",</a:t>
            </a:r>
          </a:p>
          <a:p xmlns:a="http://schemas.openxmlformats.org/drawingml/2006/main">
            <a:r>
              <a:t>      "영상·센서·이벤트 로그를 사고 ID와 시간축으로 묶고 필수 보고 항목과 대조하는 CCK 설계. 요약 보고서를 만들더라도 원본 증거·작성 판본·승인자·추가 보완 이력을 함께 유지하는 구조.",</a:t>
            </a:r>
          </a:p>
          <a:p xmlns:a="http://schemas.openxmlformats.org/drawingml/2006/main">
            <a:r>
              <a:t>      "TS 사고조사 지원에서 자동 요약의 편의보다 증거 누락을 우선 평가할 근거. 충돌 전·중·후 자료와 수정본을 섞은 시험으로 사건 재구성, 빠진 항목 경고, 제출본 추적을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"사고보고 접수",</a:t>
            </a:r>
          </a:p>
          <a:p xmlns:a="http://schemas.openxmlformats.org/drawingml/2006/main">
            <a:r>
              <a:t>          "layer": "이용 접점",</a:t>
            </a:r>
          </a:p>
          <a:p xmlns:a="http://schemas.openxmlformats.org/drawingml/2006/main">
            <a:r>
              <a:t>          "detail": "실증 운영자·사고 조사자·감독기관",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"사고 ID·기간",</a:t>
            </a:r>
          </a:p>
          <a:p xmlns:a="http://schemas.openxmlformats.org/drawingml/2006/main">
            <a:r>
              <a:t>          "layer": "업무 문맥",</a:t>
            </a:r>
          </a:p>
          <a:p xmlns:a="http://schemas.openxmlformats.org/drawingml/2006/main">
            <a:r>
              <a:t>          "detail": "사고 ID와 보고 대상 기간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"영상·로그 조회",</a:t>
            </a:r>
          </a:p>
          <a:p xmlns:a="http://schemas.openxmlformats.org/drawingml/2006/main">
            <a:r>
              <a:t>          "layer": "자료 조회",</a:t>
            </a:r>
          </a:p>
          <a:p xmlns:a="http://schemas.openxmlformats.org/drawingml/2006/main">
            <a:r>
              <a:t>          "detail": "시각별 원시 증거",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"시각별 사건 재구성",</a:t>
            </a:r>
          </a:p>
          <a:p xmlns:a="http://schemas.openxmlformats.org/drawingml/2006/main">
            <a:r>
              <a:t>          "layer": "핵심 처리",</a:t>
            </a:r>
          </a:p>
          <a:p xmlns:a="http://schemas.openxmlformats.org/drawingml/2006/main">
            <a:r>
              <a:t>          "detail": "시각별 사건 재구성과 필수 항목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"필수 항목 대사",</a:t>
            </a:r>
          </a:p>
          <a:p xmlns:a="http://schemas.openxmlformats.org/drawingml/2006/main">
            <a:r>
              <a:t>          "layer": "결과 검증",</a:t>
            </a:r>
          </a:p>
          <a:p xmlns:a="http://schemas.openxmlformats.org/drawingml/2006/main">
            <a:r>
              <a:t>          "detail": "충돌 전·중·후 증거의 완전성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"작성·승인자 확인",</a:t>
            </a:r>
          </a:p>
          <a:p xmlns:a="http://schemas.openxmlformats.org/drawingml/2006/main">
            <a:r>
              <a:t>          "layer": "사람 확인",</a:t>
            </a:r>
          </a:p>
          <a:p xmlns:a="http://schemas.openxmlformats.org/drawingml/2006/main">
            <a:r>
              <a:t>          "detail": "사고 발생 전후 전체 이벤트를 보고 항목에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"제출·보완 보고",</a:t>
            </a:r>
          </a:p>
          <a:p xmlns:a="http://schemas.openxmlformats.org/drawingml/2006/main">
            <a:r>
              <a:t>          "layer": "업무 연결",</a:t>
            </a:r>
          </a:p>
          <a:p xmlns:a="http://schemas.openxmlformats.org/drawingml/2006/main">
            <a:r>
              <a:t>          "detail": "작성자 검토와 승인자 확인 후 공식 제출",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"누락·수정 추적",</a:t>
            </a:r>
          </a:p>
          <a:p xmlns:a="http://schemas.openxmlformats.org/drawingml/2006/main">
            <a:r>
              <a:t>          "layer": "운영 관측",</a:t>
            </a:r>
          </a:p>
          <a:p xmlns:a="http://schemas.openxmlformats.org/drawingml/2006/main">
            <a:r>
              <a:t>          "detail": "추가 발견 증거의 보완 보고·수정 이력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"원시 영상·센서",</a:t>
            </a:r>
          </a:p>
          <a:p xmlns:a="http://schemas.openxmlformats.org/drawingml/2006/main">
            <a:r>
              <a:t>          "layer": "데이터 원천",</a:t>
            </a:r>
          </a:p>
          <a:p xmlns:a="http://schemas.openxmlformats.org/drawingml/2006/main">
            <a:r>
              <a:t>          "detail": "원시 증거·보고 판본",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"시간축·판본 정합화",</a:t>
            </a:r>
          </a:p>
          <a:p xmlns:a="http://schemas.openxmlformats.org/drawingml/2006/main">
            <a:r>
              <a:t>          "layer": "준비·갱신",</a:t>
            </a:r>
          </a:p>
          <a:p xmlns:a="http://schemas.openxmlformats.org/drawingml/2006/main">
            <a:r>
              <a:t>          "detail": "센서·영상·보고 원본의 시점·버전 보존",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"증거·보고 판본",</a:t>
            </a:r>
          </a:p>
          <a:p xmlns:a="http://schemas.openxmlformats.org/drawingml/2006/main">
            <a:r>
              <a:t>          "layer": "상태·지식 저장",</a:t>
            </a:r>
          </a:p>
          <a:p xmlns:a="http://schemas.openxmlformats.org/drawingml/2006/main">
            <a:r>
              <a:t>          "detail": "원시 증거별 보고 포함 여부와 누락 경고·승인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"보존·보고 규칙",</a:t>
            </a:r>
          </a:p>
          <a:p xmlns:a="http://schemas.openxmlformats.org/drawingml/2006/main">
            <a:r>
              <a:t>          "layer": "권한·정책",</a:t>
            </a:r>
          </a:p>
          <a:p xmlns:a="http://schemas.openxmlformats.org/drawingml/2006/main">
            <a:r>
              <a:t>          "detail": "충돌 이후 이벤트 삭제·영상과 로그 시각 충돌",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"사고 원시 증거 → 사건 타임라인 → 보고서 작성 → 감독기관 보고"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"원시 증거·보고 판본",</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"필수 보고 항목",</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"충돌 전후 사건",</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"필수 보고 항목",</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"제출·보완 기록",</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"사고보고의 원시 증거 누락 방지 / 사건 식별·시간순 증거·보고 완전성",</a:t>
            </a:r>
          </a:p>
          <a:p xmlns:a="http://schemas.openxmlformats.org/drawingml/2006/main">
            <a:r>
              <a:t>        "extension": "TS 실증·사고·점검 자료의 사건 ID와 원문 시점별 근거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"충돌 이후 이벤트 삭제·영상과 로그 시각 충돌",</a:t>
            </a:r>
          </a:p>
          <a:p xmlns:a="http://schemas.openxmlformats.org/drawingml/2006/main">
            <a:r>
              <a:t>        "hold": "충돌 전·중·후 증거의 완전성 대사",</a:t>
            </a:r>
          </a:p>
          <a:p xmlns:a="http://schemas.openxmlformats.org/drawingml/2006/main">
            <a:r>
              <a:t>        "recovery": "추가 발견 증거의 보완 보고·수정 이력 추적",</a:t>
            </a:r>
          </a:p>
          <a:p xmlns:a="http://schemas.openxmlformats.org/drawingml/2006/main">
            <a:r>
              <a:t>        "evidence": "원시 증거별 보고 포함 여부와 누락 경고·승인 이력"</a:t>
            </a:r>
          </a:p>
          <a:p xmlns:a="http://schemas.openxmlformats.org/drawingml/2006/main">
            <a:r>
              <a:t>      },</a:t>
            </a:r>
          </a:p>
          <a:p xmlns:a="http://schemas.openxmlformats.org/drawingml/2006/main">
            <a:r>
              <a:t>      "data": {</a:t>
            </a:r>
          </a:p>
          <a:p xmlns:a="http://schemas.openxmlformats.org/drawingml/2006/main">
            <a:r>
              <a:t>        "source": "원시 증거·보고 판본",</a:t>
            </a:r>
          </a:p>
          <a:p xmlns:a="http://schemas.openxmlformats.org/drawingml/2006/main">
            <a:r>
              <a:t>        "prepare": "센서·영상·보고 원본의 시점·버전 보존",</a:t>
            </a:r>
          </a:p>
          <a:p xmlns:a="http://schemas.openxmlformats.org/drawingml/2006/main">
            <a:r>
              <a:t>        "output": "시각별 원시 증거",</a:t>
            </a:r>
          </a:p>
          <a:p xmlns:a="http://schemas.openxmlformats.org/drawingml/2006/main">
            <a:r>
              <a:t>        "refresh": "추가 발견 증거의 보완 보고·수정 이력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"AX08",</a:t>
            </a:r>
          </a:p>
          <a:p xmlns:a="http://schemas.openxmlformats.org/drawingml/2006/main">
            <a:r>
              <a:t>    "success": [</a:t>
            </a:r>
          </a:p>
          <a:p xmlns:a="http://schemas.openxmlformats.org/drawingml/2006/main">
            <a:r>
              <a:t>      "원시 영상과 보고 항목의 대사",</a:t>
            </a:r>
          </a:p>
          <a:p xmlns:a="http://schemas.openxmlformats.org/drawingml/2006/main">
            <a:r>
              <a:t>      "보고 책임자와 변경 이력 관리"</a:t>
            </a:r>
          </a:p>
          <a:p xmlns:a="http://schemas.openxmlformats.org/drawingml/2006/main">
            <a:r>
              <a:t>    ],</a:t>
            </a:r>
          </a:p>
          <a:p xmlns:a="http://schemas.openxmlformats.org/drawingml/2006/main">
            <a:r>
              <a:t>    "risks": [</a:t>
            </a:r>
          </a:p>
          <a:p xmlns:a="http://schemas.openxmlformats.org/drawingml/2006/main">
            <a:r>
              <a:t>      "사고 후 상황의 보고 누락",</a:t>
            </a:r>
          </a:p>
          <a:p xmlns:a="http://schemas.openxmlformats.org/drawingml/2006/main">
            <a:r>
              <a:t>      "요약본만으로 사고 전체를 판단하는 위험"</a:t>
            </a:r>
          </a:p>
          <a:p xmlns:a="http://schemas.openxmlformats.org/drawingml/2006/main">
            <a:r>
              <a:t>    ],</a:t>
            </a:r>
          </a:p>
          <a:p xmlns:a="http://schemas.openxmlformats.org/drawingml/2006/main">
            <a:r>
              <a:t>    "architecture": [</a:t>
            </a:r>
          </a:p>
          <a:p xmlns:a="http://schemas.openxmlformats.org/drawingml/2006/main">
            <a:r>
              <a:t>      "사고 영상·로그",</a:t>
            </a:r>
          </a:p>
          <a:p xmlns:a="http://schemas.openxmlformats.org/drawingml/2006/main">
            <a:r>
              <a:t>      "타임라인·보고서 구성",</a:t>
            </a:r>
          </a:p>
          <a:p xmlns:a="http://schemas.openxmlformats.org/drawingml/2006/main">
            <a:r>
              <a:t>      "원시 증거·보고 판본",</a:t>
            </a:r>
          </a:p>
          <a:p xmlns:a="http://schemas.openxmlformats.org/drawingml/2006/main">
            <a:r>
              <a:t>      "감독기관·보고 담당"</a:t>
            </a:r>
          </a:p>
          <a:p xmlns:a="http://schemas.openxmlformats.org/drawingml/2006/main">
            <a:r>
              <a:t>    ],</a:t>
            </a:r>
          </a:p>
          <a:p xmlns:a="http://schemas.openxmlformats.org/drawingml/2006/main">
            <a:r>
              <a:t>    "transfers": [</a:t>
            </a:r>
          </a:p>
          <a:p xmlns:a="http://schemas.openxmlformats.org/drawingml/2006/main">
            <a:r>
              <a:t>      "시각별 원시 증거",</a:t>
            </a:r>
          </a:p>
          <a:p xmlns:a="http://schemas.openxmlformats.org/drawingml/2006/main">
            <a:r>
              <a:t>      "충돌 전후 사건",</a:t>
            </a:r>
          </a:p>
          <a:p xmlns:a="http://schemas.openxmlformats.org/drawingml/2006/main">
            <a:r>
              <a:t>      "필수 보고 항목",</a:t>
            </a:r>
          </a:p>
          <a:p xmlns:a="http://schemas.openxmlformats.org/drawingml/2006/main">
            <a:r>
              <a:t>      "제출·보완 기록"</a:t>
            </a:r>
          </a:p>
          <a:p xmlns:a="http://schemas.openxmlformats.org/drawingml/2006/main">
            <a:r>
              <a:t>    ],</a:t>
            </a:r>
          </a:p>
          <a:p xmlns:a="http://schemas.openxmlformats.org/drawingml/2006/main">
            <a:r>
              <a:t>    "control": "충돌 전·중·후 증거의 완전성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NHTSA · Cruise 사고보고 시정 명령 https://www.nhtsa.gov/press-releases/consent-order-cruise-crash-reporting</a:t>
            </a:r>
          </a:p>
          <a:p xmlns:a="http://schemas.openxmlformats.org/drawingml/2006/main">
            <a:r>
              <a:t>홈페이지 https://heen1987-ops.github.io/TS-business-Plan-001/index.html?view=casebook&amp;case=AX08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"AX08",</a:t>
            </a:r>
          </a:p>
          <a:p xmlns:a="http://schemas.openxmlformats.org/drawingml/2006/main">
            <a:r>
              <a:t>    "title": "Cruise 사고보고",</a:t>
            </a:r>
          </a:p>
          <a:p xmlns:a="http://schemas.openxmlformats.org/drawingml/2006/main">
            <a:r>
              <a:t>    "region": "해외",</a:t>
            </a:r>
          </a:p>
          <a:p xmlns:a="http://schemas.openxmlformats.org/drawingml/2006/main">
            <a:r>
              <a:t>    "country": "미국",</a:t>
            </a:r>
          </a:p>
          <a:p xmlns:a="http://schemas.openxmlformats.org/drawingml/2006/main">
            <a:r>
              <a:t>    "result": "실패",</a:t>
            </a:r>
          </a:p>
          <a:p xmlns:a="http://schemas.openxmlformats.org/drawingml/2006/main">
            <a:r>
              <a:t>    "kind": "자율주행 안전·사고보고",</a:t>
            </a:r>
          </a:p>
          <a:p xmlns:a="http://schemas.openxmlformats.org/drawingml/2006/main">
            <a:r>
              <a:t>    "period": "2023 사고 / 2024 시정",</a:t>
            </a:r>
          </a:p>
          <a:p xmlns:a="http://schemas.openxmlformats.org/drawingml/2006/main">
            <a:r>
              <a:t>    "sources": [</a:t>
            </a:r>
          </a:p>
          <a:p xmlns:a="http://schemas.openxmlformats.org/drawingml/2006/main">
            <a:r>
              <a:t>      "S09"</a:t>
            </a:r>
          </a:p>
          <a:p xmlns:a="http://schemas.openxmlformats.org/drawingml/2006/main">
            <a:r>
              <a:t>    ],</a:t>
            </a:r>
          </a:p>
          <a:p xmlns:a="http://schemas.openxmlformats.org/drawingml/2006/main">
            <a:r>
              <a:t>    "keywords": [</a:t>
            </a:r>
          </a:p>
          <a:p xmlns:a="http://schemas.openxmlformats.org/drawingml/2006/main">
            <a:r>
              <a:t>      "미래 모빌리티",</a:t>
            </a:r>
          </a:p>
          <a:p xmlns:a="http://schemas.openxmlformats.org/drawingml/2006/main">
            <a:r>
              <a:t>      "사고",</a:t>
            </a:r>
          </a:p>
          <a:p xmlns:a="http://schemas.openxmlformats.org/drawingml/2006/main">
            <a:r>
              <a:t>      "실증",</a:t>
            </a:r>
          </a:p>
          <a:p xmlns:a="http://schemas.openxmlformats.org/drawingml/2006/main">
            <a:r>
              <a:t>      "안전보고"</a:t>
            </a:r>
          </a:p>
          <a:p xmlns:a="http://schemas.openxmlformats.org/drawingml/2006/main">
            <a:r>
              <a:t>    ],</a:t>
            </a:r>
          </a:p>
          <a:p xmlns:a="http://schemas.openxmlformats.org/drawingml/2006/main">
            <a:r>
              <a:t>    "fact": "충돌 후 상황을 빠뜨린 사고보고에 대한 NHTSA 시정 명령 및 강화된 보고·감독",</a:t>
            </a:r>
          </a:p>
          <a:p xmlns:a="http://schemas.openxmlformats.org/drawingml/2006/main">
            <a:r>
              <a:t>    "limit": "보고 완전성·안전 거버넌스 문제 · 사고 원인을 LLM 오류로 단정 불가",</a:t>
            </a:r>
          </a:p>
          <a:p xmlns:a="http://schemas.openxmlformats.org/drawingml/2006/main">
            <a:r>
              <a:t>    "flow": [</a:t>
            </a:r>
          </a:p>
          <a:p xmlns:a="http://schemas.openxmlformats.org/drawingml/2006/main">
            <a:r>
              <a:t>      "사고 원시 증거",</a:t>
            </a:r>
          </a:p>
          <a:p xmlns:a="http://schemas.openxmlformats.org/drawingml/2006/main">
            <a:r>
              <a:t>      "사건 타임라인",</a:t>
            </a:r>
          </a:p>
          <a:p xmlns:a="http://schemas.openxmlformats.org/drawingml/2006/main">
            <a:r>
              <a:t>      "보고서 작성",</a:t>
            </a:r>
          </a:p>
          <a:p xmlns:a="http://schemas.openxmlformats.org/drawingml/2006/main">
            <a:r>
              <a:t>      "감독기관 보고"</a:t>
            </a:r>
          </a:p>
          <a:p xmlns:a="http://schemas.openxmlformats.org/drawingml/2006/main">
            <a:r>
              <a:t>    ],</a:t>
            </a:r>
          </a:p>
          <a:p xmlns:a="http://schemas.openxmlformats.org/drawingml/2006/main">
            <a:r>
              <a:t>    "flowBasis": "공개 시정 내용 기반 보고 흐름 재구성",</a:t>
            </a:r>
          </a:p>
          <a:p xmlns:a="http://schemas.openxmlformats.org/drawingml/2006/main">
            <a:r>
              <a:t>    "lesson": "요약 결과와 원시 증거의 대사 / 보고 책임의 분리",</a:t>
            </a:r>
          </a:p>
          <a:p xmlns:a="http://schemas.openxmlformats.org/drawingml/2006/main">
            <a:r>
              <a:t>    "local": "TS 실증·사고·점검 자료의 사건 ID와 원문 시점별 근거 연결",</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"증거 무결성 / 필수 사건 체크 / 누락 경고 / 검토·승인 이력",</a:t>
            </a:r>
          </a:p>
          <a:p xmlns:a="http://schemas.openxmlformats.org/drawingml/2006/main">
            <a:r>
              <a:t>    "test": "누락 사건·충돌 시각 주입 후 탐지 및 승인 없이 전송 차단",</a:t>
            </a:r>
          </a:p>
          <a:p xmlns:a="http://schemas.openxmlformats.org/drawingml/2006/main">
            <a:r>
              <a:t>    "metric": "필수 사건 재현율 / 검토 누락률"</a:t>
            </a:r>
          </a:p>
          <a:p xmlns:a="http://schemas.openxmlformats.org/drawingml/2006/main">
            <a:r>
              <a:t>  },</a:t>
            </a:r>
          </a:p>
          <a:p xmlns:a="http://schemas.openxmlformats.org/drawingml/2006/main">
            <a:r>
              <a:t>  "design": {</a:t>
            </a:r>
          </a:p>
          <a:p xmlns:a="http://schemas.openxmlformats.org/drawingml/2006/main">
            <a:r>
              <a:t>    "id": "AX08",</a:t>
            </a:r>
          </a:p>
          <a:p xmlns:a="http://schemas.openxmlformats.org/drawingml/2006/main">
            <a:r>
              <a:t>    "canonicalId": "AX08",</a:t>
            </a:r>
          </a:p>
          <a:p xmlns:a="http://schemas.openxmlformats.org/drawingml/2006/main">
            <a:r>
              <a:t>    "purpose": "사고보고의 원시 증거 누락 방지",</a:t>
            </a:r>
          </a:p>
          <a:p xmlns:a="http://schemas.openxmlformats.org/drawingml/2006/main">
            <a:r>
              <a:t>    "users": "실증 운영자·사고 조사자·감독기관",</a:t>
            </a:r>
          </a:p>
          <a:p xmlns:a="http://schemas.openxmlformats.org/drawingml/2006/main">
            <a:r>
              <a:t>    "scope": [</a:t>
            </a:r>
          </a:p>
          <a:p xmlns:a="http://schemas.openxmlformats.org/drawingml/2006/main">
            <a:r>
              <a:t>      "사건 식별",</a:t>
            </a:r>
          </a:p>
          <a:p xmlns:a="http://schemas.openxmlformats.org/drawingml/2006/main">
            <a:r>
              <a:t>      "시간순 증거",</a:t>
            </a:r>
          </a:p>
          <a:p xmlns:a="http://schemas.openxmlformats.org/drawingml/2006/main">
            <a:r>
              <a:t>      "보고 완전성"</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"사고 영상·로그",</a:t>
            </a:r>
          </a:p>
          <a:p xmlns:a="http://schemas.openxmlformats.org/drawingml/2006/main">
            <a:r>
              <a:t>        "detail": "사고 ID와 보고 대상 기간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"사건 식별 / 시간순 증거 / 보고 완전성",</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"타임라인·보고서 구성",</a:t>
            </a:r>
          </a:p>
          <a:p xmlns:a="http://schemas.openxmlformats.org/drawingml/2006/main">
            <a:r>
              <a:t>        "detail": "시각별 사건 재구성과 필수 항목 대사",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"감독기관·보고 담당",</a:t>
            </a:r>
          </a:p>
          <a:p xmlns:a="http://schemas.openxmlformats.org/drawingml/2006/main">
            <a:r>
              <a:t>        "detail": "작성자 검토와 승인자 확인 후 공식 제출",</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"원시 증거·보고 판본",</a:t>
            </a:r>
          </a:p>
          <a:p xmlns:a="http://schemas.openxmlformats.org/drawingml/2006/main">
            <a:r>
              <a:t>        "detail": "센서·영상·보고 원본의 시점·버전 보존",</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"추가 발견 증거의 보완 보고·수정 이력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"사고 원시 증거",</a:t>
            </a:r>
          </a:p>
          <a:p xmlns:a="http://schemas.openxmlformats.org/drawingml/2006/main">
            <a:r>
              <a:t>        "input": "사고 ID와 보고 대상 기간 지정",</a:t>
            </a:r>
          </a:p>
          <a:p xmlns:a="http://schemas.openxmlformats.org/drawingml/2006/main">
            <a:r>
              <a:t>        "process": "센서·영상·보고 원본의 시점·버전 보존",</a:t>
            </a:r>
          </a:p>
          <a:p xmlns:a="http://schemas.openxmlformats.org/drawingml/2006/main">
            <a:r>
              <a:t>        "output": "시각별 원시 증거"</a:t>
            </a:r>
          </a:p>
          <a:p xmlns:a="http://schemas.openxmlformats.org/drawingml/2006/main">
            <a:r>
              <a:t>      },</a:t>
            </a:r>
          </a:p>
          <a:p xmlns:a="http://schemas.openxmlformats.org/drawingml/2006/main">
            <a:r>
              <a:t>      {</a:t>
            </a:r>
          </a:p>
          <a:p xmlns:a="http://schemas.openxmlformats.org/drawingml/2006/main">
            <a:r>
              <a:t>        "title": "사건 타임라인",</a:t>
            </a:r>
          </a:p>
          <a:p xmlns:a="http://schemas.openxmlformats.org/drawingml/2006/main">
            <a:r>
              <a:t>        "input": "시각별 원시 증거",</a:t>
            </a:r>
          </a:p>
          <a:p xmlns:a="http://schemas.openxmlformats.org/drawingml/2006/main">
            <a:r>
              <a:t>        "process": "시각별 사건 재구성과 필수 항목 대사",</a:t>
            </a:r>
          </a:p>
          <a:p xmlns:a="http://schemas.openxmlformats.org/drawingml/2006/main">
            <a:r>
              <a:t>        "output": "충돌 전후 사건"</a:t>
            </a:r>
          </a:p>
          <a:p xmlns:a="http://schemas.openxmlformats.org/drawingml/2006/main">
            <a:r>
              <a:t>      },</a:t>
            </a:r>
          </a:p>
          <a:p xmlns:a="http://schemas.openxmlformats.org/drawingml/2006/main">
            <a:r>
              <a:t>      {</a:t>
            </a:r>
          </a:p>
          <a:p xmlns:a="http://schemas.openxmlformats.org/drawingml/2006/main">
            <a:r>
              <a:t>        "title": "보고서 작성",</a:t>
            </a:r>
          </a:p>
          <a:p xmlns:a="http://schemas.openxmlformats.org/drawingml/2006/main">
            <a:r>
              <a:t>        "input": "충돌 전후 사건",</a:t>
            </a:r>
          </a:p>
          <a:p xmlns:a="http://schemas.openxmlformats.org/drawingml/2006/main">
            <a:r>
              <a:t>        "process": "충돌 전·중·후 증거의 완전성 대사",</a:t>
            </a:r>
          </a:p>
          <a:p xmlns:a="http://schemas.openxmlformats.org/drawingml/2006/main">
            <a:r>
              <a:t>        "output": "필수 보고 항목"</a:t>
            </a:r>
          </a:p>
          <a:p xmlns:a="http://schemas.openxmlformats.org/drawingml/2006/main">
            <a:r>
              <a:t>      },</a:t>
            </a:r>
          </a:p>
          <a:p xmlns:a="http://schemas.openxmlformats.org/drawingml/2006/main">
            <a:r>
              <a:t>      {</a:t>
            </a:r>
          </a:p>
          <a:p xmlns:a="http://schemas.openxmlformats.org/drawingml/2006/main">
            <a:r>
              <a:t>        "title": "감독기관 보고",</a:t>
            </a:r>
          </a:p>
          <a:p xmlns:a="http://schemas.openxmlformats.org/drawingml/2006/main">
            <a:r>
              <a:t>        "input": "필수 보고 항목",</a:t>
            </a:r>
          </a:p>
          <a:p xmlns:a="http://schemas.openxmlformats.org/drawingml/2006/main">
            <a:r>
              <a:t>        "process": "작성자 검토와 승인자 확인 후 공식 제출",</a:t>
            </a:r>
          </a:p>
          <a:p xmlns:a="http://schemas.openxmlformats.org/drawingml/2006/main">
            <a:r>
              <a:t>        "output": "제출·보완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"사고 발생 전후 전체 이벤트를 보고 항목에 연결",</a:t>
            </a:r>
          </a:p>
          <a:p xmlns:a="http://schemas.openxmlformats.org/drawingml/2006/main">
            <a:r>
              <a:t>      "exception": "충돌 이후 이벤트 삭제·영상과 로그 시각 충돌",</a:t>
            </a:r>
          </a:p>
          <a:p xmlns:a="http://schemas.openxmlformats.org/drawingml/2006/main">
            <a:r>
              <a:t>      "evidence": "원시 증거별 보고 포함 여부와 누락 경고·승인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"실증 운영자·사고 조사자·감독기관",</a:t>
            </a:r>
          </a:p>
          <a:p xmlns:a="http://schemas.openxmlformats.org/drawingml/2006/main">
            <a:r>
              <a:t>          "processing": "사고 ID와 보고 대상 기간 지정",</a:t>
            </a:r>
          </a:p>
          <a:p xmlns:a="http://schemas.openxmlformats.org/drawingml/2006/main">
            <a:r>
              <a:t>          "output": "시각별 원시 증거"</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"원시 증거·보고 판본",</a:t>
            </a:r>
          </a:p>
          <a:p xmlns:a="http://schemas.openxmlformats.org/drawingml/2006/main">
            <a:r>
              <a:t>          "processing": "센서·영상·보고 원본의 시점·버전 보존",</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"시각별 원시 증거",</a:t>
            </a:r>
          </a:p>
          <a:p xmlns:a="http://schemas.openxmlformats.org/drawingml/2006/main">
            <a:r>
              <a:t>          "processing": "시각별 사건 재구성과 필수 항목 대사",</a:t>
            </a:r>
          </a:p>
          <a:p xmlns:a="http://schemas.openxmlformats.org/drawingml/2006/main">
            <a:r>
              <a:t>          "output": "필수 보고 항목"</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"필수 보고 항목",</a:t>
            </a:r>
          </a:p>
          <a:p xmlns:a="http://schemas.openxmlformats.org/drawingml/2006/main">
            <a:r>
              <a:t>          "processing": "작성자 검토와 승인자 확인 후 공식 제출",</a:t>
            </a:r>
          </a:p>
          <a:p xmlns:a="http://schemas.openxmlformats.org/drawingml/2006/main">
            <a:r>
              <a:t>          "output": "제출·보완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"추가 발견 증거의 보완 보고·수정 이력 추적",</a:t>
            </a:r>
          </a:p>
          <a:p xmlns:a="http://schemas.openxmlformats.org/drawingml/2006/main">
            <a:r>
              <a:t>          "output": "원시 증거별 보고 포함 여부와 누락 경고·승인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"추가 발견 증거의 보완 보고·수정 이력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"S09",</a:t>
            </a:r>
          </a:p>
          <a:p xmlns:a="http://schemas.openxmlformats.org/drawingml/2006/main">
            <a:r>
              <a:t>        "title": "NHTSA · Cruise 사고보고 시정 명령",</a:t>
            </a:r>
          </a:p>
          <a:p xmlns:a="http://schemas.openxmlformats.org/drawingml/2006/main">
            <a:r>
              <a:t>        "url": "https://www.nhtsa.gov/press-releases/consent-order-cruise-crash-reporting",</a:t>
            </a:r>
          </a:p>
          <a:p xmlns:a="http://schemas.openxmlformats.org/drawingml/2006/main">
            <a:r>
              <a:t>        "published": "2024-09-30",</a:t>
            </a:r>
          </a:p>
          <a:p xmlns:a="http://schemas.openxmlformats.org/drawingml/2006/main">
            <a:r>
              <a:t>        "level": "감독기관 시정 명령",</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"요약 결과와 원시 증거의 대사 / 보고 책임의 분리",</a:t>
            </a:r>
          </a:p>
          <a:p xmlns:a="http://schemas.openxmlformats.org/drawingml/2006/main">
            <a:r>
              <a:t>    "local": "TS 실증·사고·점검 자료의 사건 ID와 원문 시점별 근거 연결",</a:t>
            </a:r>
          </a:p>
          <a:p xmlns:a="http://schemas.openxmlformats.org/drawingml/2006/main">
            <a:r>
              <a:t>    "sourceDetail": null,</a:t>
            </a:r>
          </a:p>
          <a:p xmlns:a="http://schemas.openxmlformats.org/drawingml/2006/main">
            <a:r>
              <a:t>    "narrative": [</a:t>
            </a:r>
          </a:p>
          <a:p xmlns:a="http://schemas.openxmlformats.org/drawingml/2006/main">
            <a:r>
              <a:t>      "자율주행 사고의 원시 증거와 감독기관 보고 사이에서 누락이 발생한 시정 사례. 모델의 주행 성능과 별개로 사고 전후 정보를 완전하게 보고하는 운영 책임이 주요 쟁점.",</a:t>
            </a:r>
          </a:p>
          <a:p xmlns:a="http://schemas.openxmlformats.org/drawingml/2006/main">
            <a:r>
              <a:t>      "영상·센서·이벤트 로그를 사고 ID와 시간축으로 묶고 필수 보고 항목과 대조하는 CCK 설계. 요약 보고서를 만들더라도 원본 증거·작성 판본·승인자·추가 보완 이력을 함께 유지하는 구조.",</a:t>
            </a:r>
          </a:p>
          <a:p xmlns:a="http://schemas.openxmlformats.org/drawingml/2006/main">
            <a:r>
              <a:t>      "TS 사고조사 지원에서 자동 요약의 편의보다 증거 누락을 우선 평가할 근거. 충돌 전·중·후 자료와 수정본을 섞은 시험으로 사건 재구성, 빠진 항목 경고, 제출본 추적을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"사고보고 접수",</a:t>
            </a:r>
          </a:p>
          <a:p xmlns:a="http://schemas.openxmlformats.org/drawingml/2006/main">
            <a:r>
              <a:t>          "layer": "이용 접점",</a:t>
            </a:r>
          </a:p>
          <a:p xmlns:a="http://schemas.openxmlformats.org/drawingml/2006/main">
            <a:r>
              <a:t>          "detail": "실증 운영자·사고 조사자·감독기관",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"사고 ID·기간",</a:t>
            </a:r>
          </a:p>
          <a:p xmlns:a="http://schemas.openxmlformats.org/drawingml/2006/main">
            <a:r>
              <a:t>          "layer": "업무 문맥",</a:t>
            </a:r>
          </a:p>
          <a:p xmlns:a="http://schemas.openxmlformats.org/drawingml/2006/main">
            <a:r>
              <a:t>          "detail": "사고 ID와 보고 대상 기간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"영상·로그 조회",</a:t>
            </a:r>
          </a:p>
          <a:p xmlns:a="http://schemas.openxmlformats.org/drawingml/2006/main">
            <a:r>
              <a:t>          "layer": "자료 조회",</a:t>
            </a:r>
          </a:p>
          <a:p xmlns:a="http://schemas.openxmlformats.org/drawingml/2006/main">
            <a:r>
              <a:t>          "detail": "시각별 원시 증거",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"시각별 사건 재구성",</a:t>
            </a:r>
          </a:p>
          <a:p xmlns:a="http://schemas.openxmlformats.org/drawingml/2006/main">
            <a:r>
              <a:t>          "layer": "핵심 처리",</a:t>
            </a:r>
          </a:p>
          <a:p xmlns:a="http://schemas.openxmlformats.org/drawingml/2006/main">
            <a:r>
              <a:t>          "detail": "시각별 사건 재구성과 필수 항목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"필수 항목 대사",</a:t>
            </a:r>
          </a:p>
          <a:p xmlns:a="http://schemas.openxmlformats.org/drawingml/2006/main">
            <a:r>
              <a:t>          "layer": "결과 검증",</a:t>
            </a:r>
          </a:p>
          <a:p xmlns:a="http://schemas.openxmlformats.org/drawingml/2006/main">
            <a:r>
              <a:t>          "detail": "충돌 전·중·후 증거의 완전성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"작성·승인자 확인",</a:t>
            </a:r>
          </a:p>
          <a:p xmlns:a="http://schemas.openxmlformats.org/drawingml/2006/main">
            <a:r>
              <a:t>          "layer": "사람 확인",</a:t>
            </a:r>
          </a:p>
          <a:p xmlns:a="http://schemas.openxmlformats.org/drawingml/2006/main">
            <a:r>
              <a:t>          "detail": "사고 발생 전후 전체 이벤트를 보고 항목에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"제출·보완 보고",</a:t>
            </a:r>
          </a:p>
          <a:p xmlns:a="http://schemas.openxmlformats.org/drawingml/2006/main">
            <a:r>
              <a:t>          "layer": "업무 연결",</a:t>
            </a:r>
          </a:p>
          <a:p xmlns:a="http://schemas.openxmlformats.org/drawingml/2006/main">
            <a:r>
              <a:t>          "detail": "작성자 검토와 승인자 확인 후 공식 제출",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"누락·수정 추적",</a:t>
            </a:r>
          </a:p>
          <a:p xmlns:a="http://schemas.openxmlformats.org/drawingml/2006/main">
            <a:r>
              <a:t>          "layer": "운영 관측",</a:t>
            </a:r>
          </a:p>
          <a:p xmlns:a="http://schemas.openxmlformats.org/drawingml/2006/main">
            <a:r>
              <a:t>          "detail": "추가 발견 증거의 보완 보고·수정 이력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"원시 영상·센서",</a:t>
            </a:r>
          </a:p>
          <a:p xmlns:a="http://schemas.openxmlformats.org/drawingml/2006/main">
            <a:r>
              <a:t>          "layer": "데이터 원천",</a:t>
            </a:r>
          </a:p>
          <a:p xmlns:a="http://schemas.openxmlformats.org/drawingml/2006/main">
            <a:r>
              <a:t>          "detail": "원시 증거·보고 판본",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"시간축·판본 정합화",</a:t>
            </a:r>
          </a:p>
          <a:p xmlns:a="http://schemas.openxmlformats.org/drawingml/2006/main">
            <a:r>
              <a:t>          "layer": "준비·갱신",</a:t>
            </a:r>
          </a:p>
          <a:p xmlns:a="http://schemas.openxmlformats.org/drawingml/2006/main">
            <a:r>
              <a:t>          "detail": "센서·영상·보고 원본의 시점·버전 보존",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"증거·보고 판본",</a:t>
            </a:r>
          </a:p>
          <a:p xmlns:a="http://schemas.openxmlformats.org/drawingml/2006/main">
            <a:r>
              <a:t>          "layer": "상태·지식 저장",</a:t>
            </a:r>
          </a:p>
          <a:p xmlns:a="http://schemas.openxmlformats.org/drawingml/2006/main">
            <a:r>
              <a:t>          "detail": "원시 증거별 보고 포함 여부와 누락 경고·승인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"보존·보고 규칙",</a:t>
            </a:r>
          </a:p>
          <a:p xmlns:a="http://schemas.openxmlformats.org/drawingml/2006/main">
            <a:r>
              <a:t>          "layer": "권한·정책",</a:t>
            </a:r>
          </a:p>
          <a:p xmlns:a="http://schemas.openxmlformats.org/drawingml/2006/main">
            <a:r>
              <a:t>          "detail": "충돌 이후 이벤트 삭제·영상과 로그 시각 충돌",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"사고 원시 증거 → 사건 타임라인 → 보고서 작성 → 감독기관 보고"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"원시 증거·보고 판본",</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"필수 보고 항목",</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"충돌 전후 사건",</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"필수 보고 항목",</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"제출·보완 기록",</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"사고보고의 원시 증거 누락 방지 / 사건 식별·시간순 증거·보고 완전성",</a:t>
            </a:r>
          </a:p>
          <a:p xmlns:a="http://schemas.openxmlformats.org/drawingml/2006/main">
            <a:r>
              <a:t>        "extension": "TS 실증·사고·점검 자료의 사건 ID와 원문 시점별 근거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"충돌 이후 이벤트 삭제·영상과 로그 시각 충돌",</a:t>
            </a:r>
          </a:p>
          <a:p xmlns:a="http://schemas.openxmlformats.org/drawingml/2006/main">
            <a:r>
              <a:t>        "hold": "충돌 전·중·후 증거의 완전성 대사",</a:t>
            </a:r>
          </a:p>
          <a:p xmlns:a="http://schemas.openxmlformats.org/drawingml/2006/main">
            <a:r>
              <a:t>        "recovery": "추가 발견 증거의 보완 보고·수정 이력 추적",</a:t>
            </a:r>
          </a:p>
          <a:p xmlns:a="http://schemas.openxmlformats.org/drawingml/2006/main">
            <a:r>
              <a:t>        "evidence": "원시 증거별 보고 포함 여부와 누락 경고·승인 이력"</a:t>
            </a:r>
          </a:p>
          <a:p xmlns:a="http://schemas.openxmlformats.org/drawingml/2006/main">
            <a:r>
              <a:t>      },</a:t>
            </a:r>
          </a:p>
          <a:p xmlns:a="http://schemas.openxmlformats.org/drawingml/2006/main">
            <a:r>
              <a:t>      "data": {</a:t>
            </a:r>
          </a:p>
          <a:p xmlns:a="http://schemas.openxmlformats.org/drawingml/2006/main">
            <a:r>
              <a:t>        "source": "원시 증거·보고 판본",</a:t>
            </a:r>
          </a:p>
          <a:p xmlns:a="http://schemas.openxmlformats.org/drawingml/2006/main">
            <a:r>
              <a:t>        "prepare": "센서·영상·보고 원본의 시점·버전 보존",</a:t>
            </a:r>
          </a:p>
          <a:p xmlns:a="http://schemas.openxmlformats.org/drawingml/2006/main">
            <a:r>
              <a:t>        "output": "시각별 원시 증거",</a:t>
            </a:r>
          </a:p>
          <a:p xmlns:a="http://schemas.openxmlformats.org/drawingml/2006/main">
            <a:r>
              <a:t>        "refresh": "추가 발견 증거의 보완 보고·수정 이력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"AX08",</a:t>
            </a:r>
          </a:p>
          <a:p xmlns:a="http://schemas.openxmlformats.org/drawingml/2006/main">
            <a:r>
              <a:t>    "success": [</a:t>
            </a:r>
          </a:p>
          <a:p xmlns:a="http://schemas.openxmlformats.org/drawingml/2006/main">
            <a:r>
              <a:t>      "원시 영상과 보고 항목의 대사",</a:t>
            </a:r>
          </a:p>
          <a:p xmlns:a="http://schemas.openxmlformats.org/drawingml/2006/main">
            <a:r>
              <a:t>      "보고 책임자와 변경 이력 관리"</a:t>
            </a:r>
          </a:p>
          <a:p xmlns:a="http://schemas.openxmlformats.org/drawingml/2006/main">
            <a:r>
              <a:t>    ],</a:t>
            </a:r>
          </a:p>
          <a:p xmlns:a="http://schemas.openxmlformats.org/drawingml/2006/main">
            <a:r>
              <a:t>    "risks": [</a:t>
            </a:r>
          </a:p>
          <a:p xmlns:a="http://schemas.openxmlformats.org/drawingml/2006/main">
            <a:r>
              <a:t>      "사고 후 상황의 보고 누락",</a:t>
            </a:r>
          </a:p>
          <a:p xmlns:a="http://schemas.openxmlformats.org/drawingml/2006/main">
            <a:r>
              <a:t>      "요약본만으로 사고 전체를 판단하는 위험"</a:t>
            </a:r>
          </a:p>
          <a:p xmlns:a="http://schemas.openxmlformats.org/drawingml/2006/main">
            <a:r>
              <a:t>    ],</a:t>
            </a:r>
          </a:p>
          <a:p xmlns:a="http://schemas.openxmlformats.org/drawingml/2006/main">
            <a:r>
              <a:t>    "architecture": [</a:t>
            </a:r>
          </a:p>
          <a:p xmlns:a="http://schemas.openxmlformats.org/drawingml/2006/main">
            <a:r>
              <a:t>      "사고 영상·로그",</a:t>
            </a:r>
          </a:p>
          <a:p xmlns:a="http://schemas.openxmlformats.org/drawingml/2006/main">
            <a:r>
              <a:t>      "타임라인·보고서 구성",</a:t>
            </a:r>
          </a:p>
          <a:p xmlns:a="http://schemas.openxmlformats.org/drawingml/2006/main">
            <a:r>
              <a:t>      "원시 증거·보고 판본",</a:t>
            </a:r>
          </a:p>
          <a:p xmlns:a="http://schemas.openxmlformats.org/drawingml/2006/main">
            <a:r>
              <a:t>      "감독기관·보고 담당"</a:t>
            </a:r>
          </a:p>
          <a:p xmlns:a="http://schemas.openxmlformats.org/drawingml/2006/main">
            <a:r>
              <a:t>    ],</a:t>
            </a:r>
          </a:p>
          <a:p xmlns:a="http://schemas.openxmlformats.org/drawingml/2006/main">
            <a:r>
              <a:t>    "transfers": [</a:t>
            </a:r>
          </a:p>
          <a:p xmlns:a="http://schemas.openxmlformats.org/drawingml/2006/main">
            <a:r>
              <a:t>      "시각별 원시 증거",</a:t>
            </a:r>
          </a:p>
          <a:p xmlns:a="http://schemas.openxmlformats.org/drawingml/2006/main">
            <a:r>
              <a:t>      "충돌 전후 사건",</a:t>
            </a:r>
          </a:p>
          <a:p xmlns:a="http://schemas.openxmlformats.org/drawingml/2006/main">
            <a:r>
              <a:t>      "필수 보고 항목",</a:t>
            </a:r>
          </a:p>
          <a:p xmlns:a="http://schemas.openxmlformats.org/drawingml/2006/main">
            <a:r>
              <a:t>      "제출·보완 기록"</a:t>
            </a:r>
          </a:p>
          <a:p xmlns:a="http://schemas.openxmlformats.org/drawingml/2006/main">
            <a:r>
              <a:t>    ],</a:t>
            </a:r>
          </a:p>
          <a:p xmlns:a="http://schemas.openxmlformats.org/drawingml/2006/main">
            <a:r>
              <a:t>    "control": "충돌 전·중·후 증거의 완전성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NHTSA · Cruise 사고보고 시정 명령 https://www.nhtsa.gov/press-releases/consent-order-cruise-crash-reporting</a:t>
            </a:r>
          </a:p>
          <a:p xmlns:a="http://schemas.openxmlformats.org/drawingml/2006/main">
            <a:r>
              <a:t>홈페이지 https://heen1987-ops.github.io/TS-business-Plan-001/index.html?view=casebook&amp;case=AX08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"AX08",</a:t>
            </a:r>
          </a:p>
          <a:p xmlns:a="http://schemas.openxmlformats.org/drawingml/2006/main">
            <a:r>
              <a:t>    "title": "Cruise 사고보고",</a:t>
            </a:r>
          </a:p>
          <a:p xmlns:a="http://schemas.openxmlformats.org/drawingml/2006/main">
            <a:r>
              <a:t>    "region": "해외",</a:t>
            </a:r>
          </a:p>
          <a:p xmlns:a="http://schemas.openxmlformats.org/drawingml/2006/main">
            <a:r>
              <a:t>    "country": "미국",</a:t>
            </a:r>
          </a:p>
          <a:p xmlns:a="http://schemas.openxmlformats.org/drawingml/2006/main">
            <a:r>
              <a:t>    "result": "실패",</a:t>
            </a:r>
          </a:p>
          <a:p xmlns:a="http://schemas.openxmlformats.org/drawingml/2006/main">
            <a:r>
              <a:t>    "kind": "자율주행 안전·사고보고",</a:t>
            </a:r>
          </a:p>
          <a:p xmlns:a="http://schemas.openxmlformats.org/drawingml/2006/main">
            <a:r>
              <a:t>    "period": "2023 사고 / 2024 시정",</a:t>
            </a:r>
          </a:p>
          <a:p xmlns:a="http://schemas.openxmlformats.org/drawingml/2006/main">
            <a:r>
              <a:t>    "sources": [</a:t>
            </a:r>
          </a:p>
          <a:p xmlns:a="http://schemas.openxmlformats.org/drawingml/2006/main">
            <a:r>
              <a:t>      "S09"</a:t>
            </a:r>
          </a:p>
          <a:p xmlns:a="http://schemas.openxmlformats.org/drawingml/2006/main">
            <a:r>
              <a:t>    ],</a:t>
            </a:r>
          </a:p>
          <a:p xmlns:a="http://schemas.openxmlformats.org/drawingml/2006/main">
            <a:r>
              <a:t>    "keywords": [</a:t>
            </a:r>
          </a:p>
          <a:p xmlns:a="http://schemas.openxmlformats.org/drawingml/2006/main">
            <a:r>
              <a:t>      "미래 모빌리티",</a:t>
            </a:r>
          </a:p>
          <a:p xmlns:a="http://schemas.openxmlformats.org/drawingml/2006/main">
            <a:r>
              <a:t>      "사고",</a:t>
            </a:r>
          </a:p>
          <a:p xmlns:a="http://schemas.openxmlformats.org/drawingml/2006/main">
            <a:r>
              <a:t>      "실증",</a:t>
            </a:r>
          </a:p>
          <a:p xmlns:a="http://schemas.openxmlformats.org/drawingml/2006/main">
            <a:r>
              <a:t>      "안전보고"</a:t>
            </a:r>
          </a:p>
          <a:p xmlns:a="http://schemas.openxmlformats.org/drawingml/2006/main">
            <a:r>
              <a:t>    ],</a:t>
            </a:r>
          </a:p>
          <a:p xmlns:a="http://schemas.openxmlformats.org/drawingml/2006/main">
            <a:r>
              <a:t>    "fact": "충돌 후 상황을 빠뜨린 사고보고에 대한 NHTSA 시정 명령 및 강화된 보고·감독",</a:t>
            </a:r>
          </a:p>
          <a:p xmlns:a="http://schemas.openxmlformats.org/drawingml/2006/main">
            <a:r>
              <a:t>    "limit": "보고 완전성·안전 거버넌스 문제 · 사고 원인을 LLM 오류로 단정 불가",</a:t>
            </a:r>
          </a:p>
          <a:p xmlns:a="http://schemas.openxmlformats.org/drawingml/2006/main">
            <a:r>
              <a:t>    "flow": [</a:t>
            </a:r>
          </a:p>
          <a:p xmlns:a="http://schemas.openxmlformats.org/drawingml/2006/main">
            <a:r>
              <a:t>      "사고 원시 증거",</a:t>
            </a:r>
          </a:p>
          <a:p xmlns:a="http://schemas.openxmlformats.org/drawingml/2006/main">
            <a:r>
              <a:t>      "사건 타임라인",</a:t>
            </a:r>
          </a:p>
          <a:p xmlns:a="http://schemas.openxmlformats.org/drawingml/2006/main">
            <a:r>
              <a:t>      "보고서 작성",</a:t>
            </a:r>
          </a:p>
          <a:p xmlns:a="http://schemas.openxmlformats.org/drawingml/2006/main">
            <a:r>
              <a:t>      "감독기관 보고"</a:t>
            </a:r>
          </a:p>
          <a:p xmlns:a="http://schemas.openxmlformats.org/drawingml/2006/main">
            <a:r>
              <a:t>    ],</a:t>
            </a:r>
          </a:p>
          <a:p xmlns:a="http://schemas.openxmlformats.org/drawingml/2006/main">
            <a:r>
              <a:t>    "flowBasis": "공개 시정 내용 기반 보고 흐름 재구성",</a:t>
            </a:r>
          </a:p>
          <a:p xmlns:a="http://schemas.openxmlformats.org/drawingml/2006/main">
            <a:r>
              <a:t>    "lesson": "요약 결과와 원시 증거의 대사 / 보고 책임의 분리",</a:t>
            </a:r>
          </a:p>
          <a:p xmlns:a="http://schemas.openxmlformats.org/drawingml/2006/main">
            <a:r>
              <a:t>    "local": "TS 실증·사고·점검 자료의 사건 ID와 원문 시점별 근거 연결",</a:t>
            </a:r>
          </a:p>
          <a:p xmlns:a="http://schemas.openxmlformats.org/drawingml/2006/main">
            <a:r>
              <a:t>    "assets": [</a:t>
            </a:r>
          </a:p>
          <a:p xmlns:a="http://schemas.openxmlformats.org/drawingml/2006/main">
            <a:r>
              <a:t>      "CCK-02",</a:t>
            </a:r>
          </a:p>
          <a:p xmlns:a="http://schemas.openxmlformats.org/drawingml/2006/main">
            <a:r>
              <a:t>      "CCK-03"</a:t>
            </a:r>
          </a:p>
          <a:p xmlns:a="http://schemas.openxmlformats.org/drawingml/2006/main">
            <a:r>
              <a:t>    ],</a:t>
            </a:r>
          </a:p>
          <a:p xmlns:a="http://schemas.openxmlformats.org/drawingml/2006/main">
            <a:r>
              <a:t>    "delta": "증거 무결성 / 필수 사건 체크 / 누락 경고 / 검토·승인 이력",</a:t>
            </a:r>
          </a:p>
          <a:p xmlns:a="http://schemas.openxmlformats.org/drawingml/2006/main">
            <a:r>
              <a:t>    "test": "누락 사건·충돌 시각 주입 후 탐지 및 승인 없이 전송 차단",</a:t>
            </a:r>
          </a:p>
          <a:p xmlns:a="http://schemas.openxmlformats.org/drawingml/2006/main">
            <a:r>
              <a:t>    "metric": "필수 사건 재현율 / 검토 누락률"</a:t>
            </a:r>
          </a:p>
          <a:p xmlns:a="http://schemas.openxmlformats.org/drawingml/2006/main">
            <a:r>
              <a:t>  },</a:t>
            </a:r>
          </a:p>
          <a:p xmlns:a="http://schemas.openxmlformats.org/drawingml/2006/main">
            <a:r>
              <a:t>  "design": {</a:t>
            </a:r>
          </a:p>
          <a:p xmlns:a="http://schemas.openxmlformats.org/drawingml/2006/main">
            <a:r>
              <a:t>    "id": "AX08",</a:t>
            </a:r>
          </a:p>
          <a:p xmlns:a="http://schemas.openxmlformats.org/drawingml/2006/main">
            <a:r>
              <a:t>    "canonicalId": "AX08",</a:t>
            </a:r>
          </a:p>
          <a:p xmlns:a="http://schemas.openxmlformats.org/drawingml/2006/main">
            <a:r>
              <a:t>    "purpose": "사고보고의 원시 증거 누락 방지",</a:t>
            </a:r>
          </a:p>
          <a:p xmlns:a="http://schemas.openxmlformats.org/drawingml/2006/main">
            <a:r>
              <a:t>    "users": "실증 운영자·사고 조사자·감독기관",</a:t>
            </a:r>
          </a:p>
          <a:p xmlns:a="http://schemas.openxmlformats.org/drawingml/2006/main">
            <a:r>
              <a:t>    "scope": [</a:t>
            </a:r>
          </a:p>
          <a:p xmlns:a="http://schemas.openxmlformats.org/drawingml/2006/main">
            <a:r>
              <a:t>      "사건 식별",</a:t>
            </a:r>
          </a:p>
          <a:p xmlns:a="http://schemas.openxmlformats.org/drawingml/2006/main">
            <a:r>
              <a:t>      "시간순 증거",</a:t>
            </a:r>
          </a:p>
          <a:p xmlns:a="http://schemas.openxmlformats.org/drawingml/2006/main">
            <a:r>
              <a:t>      "보고 완전성"</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"사고 영상·로그",</a:t>
            </a:r>
          </a:p>
          <a:p xmlns:a="http://schemas.openxmlformats.org/drawingml/2006/main">
            <a:r>
              <a:t>        "detail": "사고 ID와 보고 대상 기간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"사건 식별 / 시간순 증거 / 보고 완전성",</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"타임라인·보고서 구성",</a:t>
            </a:r>
          </a:p>
          <a:p xmlns:a="http://schemas.openxmlformats.org/drawingml/2006/main">
            <a:r>
              <a:t>        "detail": "시각별 사건 재구성과 필수 항목 대사",</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"감독기관·보고 담당",</a:t>
            </a:r>
          </a:p>
          <a:p xmlns:a="http://schemas.openxmlformats.org/drawingml/2006/main">
            <a:r>
              <a:t>        "detail": "작성자 검토와 승인자 확인 후 공식 제출",</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"원시 증거·보고 판본",</a:t>
            </a:r>
          </a:p>
          <a:p xmlns:a="http://schemas.openxmlformats.org/drawingml/2006/main">
            <a:r>
              <a:t>        "detail": "센서·영상·보고 원본의 시점·버전 보존",</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"추가 발견 증거의 보완 보고·수정 이력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"사고 원시 증거",</a:t>
            </a:r>
          </a:p>
          <a:p xmlns:a="http://schemas.openxmlformats.org/drawingml/2006/main">
            <a:r>
              <a:t>        "input": "사고 ID와 보고 대상 기간 지정",</a:t>
            </a:r>
          </a:p>
          <a:p xmlns:a="http://schemas.openxmlformats.org/drawingml/2006/main">
            <a:r>
              <a:t>        "process": "센서·영상·보고 원본의 시점·버전 보존",</a:t>
            </a:r>
          </a:p>
          <a:p xmlns:a="http://schemas.openxmlformats.org/drawingml/2006/main">
            <a:r>
              <a:t>        "output": "시각별 원시 증거"</a:t>
            </a:r>
          </a:p>
          <a:p xmlns:a="http://schemas.openxmlformats.org/drawingml/2006/main">
            <a:r>
              <a:t>      },</a:t>
            </a:r>
          </a:p>
          <a:p xmlns:a="http://schemas.openxmlformats.org/drawingml/2006/main">
            <a:r>
              <a:t>      {</a:t>
            </a:r>
          </a:p>
          <a:p xmlns:a="http://schemas.openxmlformats.org/drawingml/2006/main">
            <a:r>
              <a:t>        "title": "사건 타임라인",</a:t>
            </a:r>
          </a:p>
          <a:p xmlns:a="http://schemas.openxmlformats.org/drawingml/2006/main">
            <a:r>
              <a:t>        "input": "시각별 원시 증거",</a:t>
            </a:r>
          </a:p>
          <a:p xmlns:a="http://schemas.openxmlformats.org/drawingml/2006/main">
            <a:r>
              <a:t>        "process": "시각별 사건 재구성과 필수 항목 대사",</a:t>
            </a:r>
          </a:p>
          <a:p xmlns:a="http://schemas.openxmlformats.org/drawingml/2006/main">
            <a:r>
              <a:t>        "output": "충돌 전후 사건"</a:t>
            </a:r>
          </a:p>
          <a:p xmlns:a="http://schemas.openxmlformats.org/drawingml/2006/main">
            <a:r>
              <a:t>      },</a:t>
            </a:r>
          </a:p>
          <a:p xmlns:a="http://schemas.openxmlformats.org/drawingml/2006/main">
            <a:r>
              <a:t>      {</a:t>
            </a:r>
          </a:p>
          <a:p xmlns:a="http://schemas.openxmlformats.org/drawingml/2006/main">
            <a:r>
              <a:t>        "title": "보고서 작성",</a:t>
            </a:r>
          </a:p>
          <a:p xmlns:a="http://schemas.openxmlformats.org/drawingml/2006/main">
            <a:r>
              <a:t>        "input": "충돌 전후 사건",</a:t>
            </a:r>
          </a:p>
          <a:p xmlns:a="http://schemas.openxmlformats.org/drawingml/2006/main">
            <a:r>
              <a:t>        "process": "충돌 전·중·후 증거의 완전성 대사",</a:t>
            </a:r>
          </a:p>
          <a:p xmlns:a="http://schemas.openxmlformats.org/drawingml/2006/main">
            <a:r>
              <a:t>        "output": "필수 보고 항목"</a:t>
            </a:r>
          </a:p>
          <a:p xmlns:a="http://schemas.openxmlformats.org/drawingml/2006/main">
            <a:r>
              <a:t>      },</a:t>
            </a:r>
          </a:p>
          <a:p xmlns:a="http://schemas.openxmlformats.org/drawingml/2006/main">
            <a:r>
              <a:t>      {</a:t>
            </a:r>
          </a:p>
          <a:p xmlns:a="http://schemas.openxmlformats.org/drawingml/2006/main">
            <a:r>
              <a:t>        "title": "감독기관 보고",</a:t>
            </a:r>
          </a:p>
          <a:p xmlns:a="http://schemas.openxmlformats.org/drawingml/2006/main">
            <a:r>
              <a:t>        "input": "필수 보고 항목",</a:t>
            </a:r>
          </a:p>
          <a:p xmlns:a="http://schemas.openxmlformats.org/drawingml/2006/main">
            <a:r>
              <a:t>        "process": "작성자 검토와 승인자 확인 후 공식 제출",</a:t>
            </a:r>
          </a:p>
          <a:p xmlns:a="http://schemas.openxmlformats.org/drawingml/2006/main">
            <a:r>
              <a:t>        "output": "제출·보완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"사고 발생 전후 전체 이벤트를 보고 항목에 연결",</a:t>
            </a:r>
          </a:p>
          <a:p xmlns:a="http://schemas.openxmlformats.org/drawingml/2006/main">
            <a:r>
              <a:t>      "exception": "충돌 이후 이벤트 삭제·영상과 로그 시각 충돌",</a:t>
            </a:r>
          </a:p>
          <a:p xmlns:a="http://schemas.openxmlformats.org/drawingml/2006/main">
            <a:r>
              <a:t>      "evidence": "원시 증거별 보고 포함 여부와 누락 경고·승인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"실증 운영자·사고 조사자·감독기관",</a:t>
            </a:r>
          </a:p>
          <a:p xmlns:a="http://schemas.openxmlformats.org/drawingml/2006/main">
            <a:r>
              <a:t>          "processing": "사고 ID와 보고 대상 기간 지정",</a:t>
            </a:r>
          </a:p>
          <a:p xmlns:a="http://schemas.openxmlformats.org/drawingml/2006/main">
            <a:r>
              <a:t>          "output": "시각별 원시 증거"</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"원시 증거·보고 판본",</a:t>
            </a:r>
          </a:p>
          <a:p xmlns:a="http://schemas.openxmlformats.org/drawingml/2006/main">
            <a:r>
              <a:t>          "processing": "센서·영상·보고 원본의 시점·버전 보존",</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"시각별 원시 증거",</a:t>
            </a:r>
          </a:p>
          <a:p xmlns:a="http://schemas.openxmlformats.org/drawingml/2006/main">
            <a:r>
              <a:t>          "processing": "시각별 사건 재구성과 필수 항목 대사",</a:t>
            </a:r>
          </a:p>
          <a:p xmlns:a="http://schemas.openxmlformats.org/drawingml/2006/main">
            <a:r>
              <a:t>          "output": "필수 보고 항목"</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"필수 보고 항목",</a:t>
            </a:r>
          </a:p>
          <a:p xmlns:a="http://schemas.openxmlformats.org/drawingml/2006/main">
            <a:r>
              <a:t>          "processing": "작성자 검토와 승인자 확인 후 공식 제출",</a:t>
            </a:r>
          </a:p>
          <a:p xmlns:a="http://schemas.openxmlformats.org/drawingml/2006/main">
            <a:r>
              <a:t>          "output": "제출·보완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"추가 발견 증거의 보완 보고·수정 이력 추적",</a:t>
            </a:r>
          </a:p>
          <a:p xmlns:a="http://schemas.openxmlformats.org/drawingml/2006/main">
            <a:r>
              <a:t>          "output": "원시 증거별 보고 포함 여부와 누락 경고·승인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"추가 발견 증거의 보완 보고·수정 이력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"S09",</a:t>
            </a:r>
          </a:p>
          <a:p xmlns:a="http://schemas.openxmlformats.org/drawingml/2006/main">
            <a:r>
              <a:t>        "title": "NHTSA · Cruise 사고보고 시정 명령",</a:t>
            </a:r>
          </a:p>
          <a:p xmlns:a="http://schemas.openxmlformats.org/drawingml/2006/main">
            <a:r>
              <a:t>        "url": "https://www.nhtsa.gov/press-releases/consent-order-cruise-crash-reporting",</a:t>
            </a:r>
          </a:p>
          <a:p xmlns:a="http://schemas.openxmlformats.org/drawingml/2006/main">
            <a:r>
              <a:t>        "published": "2024-09-30",</a:t>
            </a:r>
          </a:p>
          <a:p xmlns:a="http://schemas.openxmlformats.org/drawingml/2006/main">
            <a:r>
              <a:t>        "level": "감독기관 시정 명령",</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"요약 결과와 원시 증거의 대사 / 보고 책임의 분리",</a:t>
            </a:r>
          </a:p>
          <a:p xmlns:a="http://schemas.openxmlformats.org/drawingml/2006/main">
            <a:r>
              <a:t>    "local": "TS 실증·사고·점검 자료의 사건 ID와 원문 시점별 근거 연결",</a:t>
            </a:r>
          </a:p>
          <a:p xmlns:a="http://schemas.openxmlformats.org/drawingml/2006/main">
            <a:r>
              <a:t>    "sourceDetail": null,</a:t>
            </a:r>
          </a:p>
          <a:p xmlns:a="http://schemas.openxmlformats.org/drawingml/2006/main">
            <a:r>
              <a:t>    "narrative": [</a:t>
            </a:r>
          </a:p>
          <a:p xmlns:a="http://schemas.openxmlformats.org/drawingml/2006/main">
            <a:r>
              <a:t>      "자율주행 사고의 원시 증거와 감독기관 보고 사이에서 누락이 발생한 시정 사례. 모델의 주행 성능과 별개로 사고 전후 정보를 완전하게 보고하는 운영 책임이 주요 쟁점.",</a:t>
            </a:r>
          </a:p>
          <a:p xmlns:a="http://schemas.openxmlformats.org/drawingml/2006/main">
            <a:r>
              <a:t>      "영상·센서·이벤트 로그를 사고 ID와 시간축으로 묶고 필수 보고 항목과 대조하는 CCK 설계. 요약 보고서를 만들더라도 원본 증거·작성 판본·승인자·추가 보완 이력을 함께 유지하는 구조.",</a:t>
            </a:r>
          </a:p>
          <a:p xmlns:a="http://schemas.openxmlformats.org/drawingml/2006/main">
            <a:r>
              <a:t>      "TS 사고조사 지원에서 자동 요약의 편의보다 증거 누락을 우선 평가할 근거. 충돌 전·중·후 자료와 수정본을 섞은 시험으로 사건 재구성, 빠진 항목 경고, 제출본 추적을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"사고보고 접수",</a:t>
            </a:r>
          </a:p>
          <a:p xmlns:a="http://schemas.openxmlformats.org/drawingml/2006/main">
            <a:r>
              <a:t>          "layer": "이용 접점",</a:t>
            </a:r>
          </a:p>
          <a:p xmlns:a="http://schemas.openxmlformats.org/drawingml/2006/main">
            <a:r>
              <a:t>          "detail": "실증 운영자·사고 조사자·감독기관",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"사고 ID·기간",</a:t>
            </a:r>
          </a:p>
          <a:p xmlns:a="http://schemas.openxmlformats.org/drawingml/2006/main">
            <a:r>
              <a:t>          "layer": "업무 문맥",</a:t>
            </a:r>
          </a:p>
          <a:p xmlns:a="http://schemas.openxmlformats.org/drawingml/2006/main">
            <a:r>
              <a:t>          "detail": "사고 ID와 보고 대상 기간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"영상·로그 조회",</a:t>
            </a:r>
          </a:p>
          <a:p xmlns:a="http://schemas.openxmlformats.org/drawingml/2006/main">
            <a:r>
              <a:t>          "layer": "자료 조회",</a:t>
            </a:r>
          </a:p>
          <a:p xmlns:a="http://schemas.openxmlformats.org/drawingml/2006/main">
            <a:r>
              <a:t>          "detail": "시각별 원시 증거",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"시각별 사건 재구성",</a:t>
            </a:r>
          </a:p>
          <a:p xmlns:a="http://schemas.openxmlformats.org/drawingml/2006/main">
            <a:r>
              <a:t>          "layer": "핵심 처리",</a:t>
            </a:r>
          </a:p>
          <a:p xmlns:a="http://schemas.openxmlformats.org/drawingml/2006/main">
            <a:r>
              <a:t>          "detail": "시각별 사건 재구성과 필수 항목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"필수 항목 대사",</a:t>
            </a:r>
          </a:p>
          <a:p xmlns:a="http://schemas.openxmlformats.org/drawingml/2006/main">
            <a:r>
              <a:t>          "layer": "결과 검증",</a:t>
            </a:r>
          </a:p>
          <a:p xmlns:a="http://schemas.openxmlformats.org/drawingml/2006/main">
            <a:r>
              <a:t>          "detail": "충돌 전·중·후 증거의 완전성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"작성·승인자 확인",</a:t>
            </a:r>
          </a:p>
          <a:p xmlns:a="http://schemas.openxmlformats.org/drawingml/2006/main">
            <a:r>
              <a:t>          "layer": "사람 확인",</a:t>
            </a:r>
          </a:p>
          <a:p xmlns:a="http://schemas.openxmlformats.org/drawingml/2006/main">
            <a:r>
              <a:t>          "detail": "사고 발생 전후 전체 이벤트를 보고 항목에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"제출·보완 보고",</a:t>
            </a:r>
          </a:p>
          <a:p xmlns:a="http://schemas.openxmlformats.org/drawingml/2006/main">
            <a:r>
              <a:t>          "layer": "업무 연결",</a:t>
            </a:r>
          </a:p>
          <a:p xmlns:a="http://schemas.openxmlformats.org/drawingml/2006/main">
            <a:r>
              <a:t>          "detail": "작성자 검토와 승인자 확인 후 공식 제출",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"누락·수정 추적",</a:t>
            </a:r>
          </a:p>
          <a:p xmlns:a="http://schemas.openxmlformats.org/drawingml/2006/main">
            <a:r>
              <a:t>          "layer": "운영 관측",</a:t>
            </a:r>
          </a:p>
          <a:p xmlns:a="http://schemas.openxmlformats.org/drawingml/2006/main">
            <a:r>
              <a:t>          "detail": "추가 발견 증거의 보완 보고·수정 이력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"원시 영상·센서",</a:t>
            </a:r>
          </a:p>
          <a:p xmlns:a="http://schemas.openxmlformats.org/drawingml/2006/main">
            <a:r>
              <a:t>          "layer": "데이터 원천",</a:t>
            </a:r>
          </a:p>
          <a:p xmlns:a="http://schemas.openxmlformats.org/drawingml/2006/main">
            <a:r>
              <a:t>          "detail": "원시 증거·보고 판본",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"시간축·판본 정합화",</a:t>
            </a:r>
          </a:p>
          <a:p xmlns:a="http://schemas.openxmlformats.org/drawingml/2006/main">
            <a:r>
              <a:t>          "layer": "준비·갱신",</a:t>
            </a:r>
          </a:p>
          <a:p xmlns:a="http://schemas.openxmlformats.org/drawingml/2006/main">
            <a:r>
              <a:t>          "detail": "센서·영상·보고 원본의 시점·버전 보존",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"증거·보고 판본",</a:t>
            </a:r>
          </a:p>
          <a:p xmlns:a="http://schemas.openxmlformats.org/drawingml/2006/main">
            <a:r>
              <a:t>          "layer": "상태·지식 저장",</a:t>
            </a:r>
          </a:p>
          <a:p xmlns:a="http://schemas.openxmlformats.org/drawingml/2006/main">
            <a:r>
              <a:t>          "detail": "원시 증거별 보고 포함 여부와 누락 경고·승인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"보존·보고 규칙",</a:t>
            </a:r>
          </a:p>
          <a:p xmlns:a="http://schemas.openxmlformats.org/drawingml/2006/main">
            <a:r>
              <a:t>          "layer": "권한·정책",</a:t>
            </a:r>
          </a:p>
          <a:p xmlns:a="http://schemas.openxmlformats.org/drawingml/2006/main">
            <a:r>
              <a:t>          "detail": "충돌 이후 이벤트 삭제·영상과 로그 시각 충돌",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"사고 원시 증거 → 사건 타임라인 → 보고서 작성 → 감독기관 보고"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"원시 증거·보고 판본",</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"필수 보고 항목",</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"충돌 전후 사건",</a:t>
            </a:r>
          </a:p>
          <a:p xmlns:a="http://schemas.openxmlformats.org/drawingml/2006/main">
            <a:r>
              <a:t>          "check": "센서·영상·보고 원본의 시점·버전 보존"</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"필수 보고 항목",</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"제출·보완 기록",</a:t>
            </a:r>
          </a:p>
          <a:p xmlns:a="http://schemas.openxmlformats.org/drawingml/2006/main">
            <a:r>
              <a:t>          "check": "원시 증거별 보고 포함 여부와 누락 경고·승인 이력"</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"사고보고의 원시 증거 누락 방지 / 사건 식별·시간순 증거·보고 완전성",</a:t>
            </a:r>
          </a:p>
          <a:p xmlns:a="http://schemas.openxmlformats.org/drawingml/2006/main">
            <a:r>
              <a:t>        "extension": "TS 실증·사고·점검 자료의 사건 ID와 원문 시점별 근거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"충돌 이후 이벤트 삭제·영상과 로그 시각 충돌",</a:t>
            </a:r>
          </a:p>
          <a:p xmlns:a="http://schemas.openxmlformats.org/drawingml/2006/main">
            <a:r>
              <a:t>        "hold": "충돌 전·중·후 증거의 완전성 대사",</a:t>
            </a:r>
          </a:p>
          <a:p xmlns:a="http://schemas.openxmlformats.org/drawingml/2006/main">
            <a:r>
              <a:t>        "recovery": "추가 발견 증거의 보완 보고·수정 이력 추적",</a:t>
            </a:r>
          </a:p>
          <a:p xmlns:a="http://schemas.openxmlformats.org/drawingml/2006/main">
            <a:r>
              <a:t>        "evidence": "원시 증거별 보고 포함 여부와 누락 경고·승인 이력"</a:t>
            </a:r>
          </a:p>
          <a:p xmlns:a="http://schemas.openxmlformats.org/drawingml/2006/main">
            <a:r>
              <a:t>      },</a:t>
            </a:r>
          </a:p>
          <a:p xmlns:a="http://schemas.openxmlformats.org/drawingml/2006/main">
            <a:r>
              <a:t>      "data": {</a:t>
            </a:r>
          </a:p>
          <a:p xmlns:a="http://schemas.openxmlformats.org/drawingml/2006/main">
            <a:r>
              <a:t>        "source": "원시 증거·보고 판본",</a:t>
            </a:r>
          </a:p>
          <a:p xmlns:a="http://schemas.openxmlformats.org/drawingml/2006/main">
            <a:r>
              <a:t>        "prepare": "센서·영상·보고 원본의 시점·버전 보존",</a:t>
            </a:r>
          </a:p>
          <a:p xmlns:a="http://schemas.openxmlformats.org/drawingml/2006/main">
            <a:r>
              <a:t>        "output": "시각별 원시 증거",</a:t>
            </a:r>
          </a:p>
          <a:p xmlns:a="http://schemas.openxmlformats.org/drawingml/2006/main">
            <a:r>
              <a:t>        "refresh": "추가 발견 증거의 보완 보고·수정 이력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"AX08",</a:t>
            </a:r>
          </a:p>
          <a:p xmlns:a="http://schemas.openxmlformats.org/drawingml/2006/main">
            <a:r>
              <a:t>    "success": [</a:t>
            </a:r>
          </a:p>
          <a:p xmlns:a="http://schemas.openxmlformats.org/drawingml/2006/main">
            <a:r>
              <a:t>      "원시 영상과 보고 항목의 대사",</a:t>
            </a:r>
          </a:p>
          <a:p xmlns:a="http://schemas.openxmlformats.org/drawingml/2006/main">
            <a:r>
              <a:t>      "보고 책임자와 변경 이력 관리"</a:t>
            </a:r>
          </a:p>
          <a:p xmlns:a="http://schemas.openxmlformats.org/drawingml/2006/main">
            <a:r>
              <a:t>    ],</a:t>
            </a:r>
          </a:p>
          <a:p xmlns:a="http://schemas.openxmlformats.org/drawingml/2006/main">
            <a:r>
              <a:t>    "risks": [</a:t>
            </a:r>
          </a:p>
          <a:p xmlns:a="http://schemas.openxmlformats.org/drawingml/2006/main">
            <a:r>
              <a:t>      "사고 후 상황의 보고 누락",</a:t>
            </a:r>
          </a:p>
          <a:p xmlns:a="http://schemas.openxmlformats.org/drawingml/2006/main">
            <a:r>
              <a:t>      "요약본만으로 사고 전체를 판단하는 위험"</a:t>
            </a:r>
          </a:p>
          <a:p xmlns:a="http://schemas.openxmlformats.org/drawingml/2006/main">
            <a:r>
              <a:t>    ],</a:t>
            </a:r>
          </a:p>
          <a:p xmlns:a="http://schemas.openxmlformats.org/drawingml/2006/main">
            <a:r>
              <a:t>    "architecture": [</a:t>
            </a:r>
          </a:p>
          <a:p xmlns:a="http://schemas.openxmlformats.org/drawingml/2006/main">
            <a:r>
              <a:t>      "사고 영상·로그",</a:t>
            </a:r>
          </a:p>
          <a:p xmlns:a="http://schemas.openxmlformats.org/drawingml/2006/main">
            <a:r>
              <a:t>      "타임라인·보고서 구성",</a:t>
            </a:r>
          </a:p>
          <a:p xmlns:a="http://schemas.openxmlformats.org/drawingml/2006/main">
            <a:r>
              <a:t>      "원시 증거·보고 판본",</a:t>
            </a:r>
          </a:p>
          <a:p xmlns:a="http://schemas.openxmlformats.org/drawingml/2006/main">
            <a:r>
              <a:t>      "감독기관·보고 담당"</a:t>
            </a:r>
          </a:p>
          <a:p xmlns:a="http://schemas.openxmlformats.org/drawingml/2006/main">
            <a:r>
              <a:t>    ],</a:t>
            </a:r>
          </a:p>
          <a:p xmlns:a="http://schemas.openxmlformats.org/drawingml/2006/main">
            <a:r>
              <a:t>    "transfers": [</a:t>
            </a:r>
          </a:p>
          <a:p xmlns:a="http://schemas.openxmlformats.org/drawingml/2006/main">
            <a:r>
              <a:t>      "시각별 원시 증거",</a:t>
            </a:r>
          </a:p>
          <a:p xmlns:a="http://schemas.openxmlformats.org/drawingml/2006/main">
            <a:r>
              <a:t>      "충돌 전후 사건",</a:t>
            </a:r>
          </a:p>
          <a:p xmlns:a="http://schemas.openxmlformats.org/drawingml/2006/main">
            <a:r>
              <a:t>      "필수 보고 항목",</a:t>
            </a:r>
          </a:p>
          <a:p xmlns:a="http://schemas.openxmlformats.org/drawingml/2006/main">
            <a:r>
              <a:t>      "제출·보완 기록"</a:t>
            </a:r>
          </a:p>
          <a:p xmlns:a="http://schemas.openxmlformats.org/drawingml/2006/main">
            <a:r>
              <a:t>    ],</a:t>
            </a:r>
          </a:p>
          <a:p xmlns:a="http://schemas.openxmlformats.org/drawingml/2006/main">
            <a:r>
              <a:t>    "control": "충돌 전·중·후 증거의 완전성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NHTSA · Cruise 사고보고 시정 명령 https://www.nhtsa.gov/press-releases/consent-order-cruise-crash-reporting</a:t>
            </a:r>
          </a:p>
          <a:p xmlns:a="http://schemas.openxmlformats.org/drawingml/2006/main">
            <a:r>
              <a:t>홈페이지 https://heen1987-ops.github.io/TS-business-Plan-001/index.html?view=casebook&amp;case=AX08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"AX09",</a:t>
            </a:r>
          </a:p>
          <a:p xmlns:a="http://schemas.openxmlformats.org/drawingml/2006/main">
            <a:r>
              <a:t>    "title": "Morgan Stanley 지식지원",</a:t>
            </a:r>
          </a:p>
          <a:p xmlns:a="http://schemas.openxmlformats.org/drawingml/2006/main">
            <a:r>
              <a:t>    "region": "해외",</a:t>
            </a:r>
          </a:p>
          <a:p xmlns:a="http://schemas.openxmlformats.org/drawingml/2006/main">
            <a:r>
              <a:t>    "country": "미국",</a:t>
            </a:r>
          </a:p>
          <a:p xmlns:a="http://schemas.openxmlformats.org/drawingml/2006/main">
            <a:r>
              <a:t>    "result": "성공",</a:t>
            </a:r>
          </a:p>
          <a:p xmlns:a="http://schemas.openxmlformats.org/drawingml/2006/main">
            <a:r>
              <a:t>    "kind": "전문가 업무·평가셋",</a:t>
            </a:r>
          </a:p>
          <a:p xmlns:a="http://schemas.openxmlformats.org/drawingml/2006/main">
            <a:r>
              <a:t>    "period": "출처 열람 2026.10",</a:t>
            </a:r>
          </a:p>
          <a:p xmlns:a="http://schemas.openxmlformats.org/drawingml/2006/main">
            <a:r>
              <a:t>    "sources": [</a:t>
            </a:r>
          </a:p>
          <a:p xmlns:a="http://schemas.openxmlformats.org/drawingml/2006/main">
            <a:r>
              <a:t>      "S10"</a:t>
            </a:r>
          </a:p>
          <a:p xmlns:a="http://schemas.openxmlformats.org/drawingml/2006/main">
            <a:r>
              <a:t>    ],</a:t>
            </a:r>
          </a:p>
          <a:p xmlns:a="http://schemas.openxmlformats.org/drawingml/2006/main">
            <a:r>
              <a:t>    "keywords": [</a:t>
            </a:r>
          </a:p>
          <a:p xmlns:a="http://schemas.openxmlformats.org/drawingml/2006/main">
            <a:r>
              <a:t>      "전문지식",</a:t>
            </a:r>
          </a:p>
          <a:p xmlns:a="http://schemas.openxmlformats.org/drawingml/2006/main">
            <a:r>
              <a:t>      "문서검색",</a:t>
            </a:r>
          </a:p>
          <a:p xmlns:a="http://schemas.openxmlformats.org/drawingml/2006/main">
            <a:r>
              <a:t>      "평가",</a:t>
            </a:r>
          </a:p>
          <a:p xmlns:a="http://schemas.openxmlformats.org/drawingml/2006/main">
            <a:r>
              <a:t>      "업무 품질"</a:t>
            </a:r>
          </a:p>
          <a:p xmlns:a="http://schemas.openxmlformats.org/drawingml/2006/main">
            <a:r>
              <a:t>    ],</a:t>
            </a:r>
          </a:p>
          <a:p xmlns:a="http://schemas.openxmlformats.org/drawingml/2006/main">
            <a:r>
              <a:t>    "fact": "공급사 고객사례에서 자문팀의 98% 초과 활용과 전문가 평가 기반 개선 체계 보고",</a:t>
            </a:r>
          </a:p>
          <a:p xmlns:a="http://schemas.openxmlformats.org/drawingml/2006/main">
            <a:r>
              <a:t>    "limit": "자문팀 기준 공급사 발표 · 생산성 인과효과·TS 정확도 근거와 구분",</a:t>
            </a:r>
          </a:p>
          <a:p xmlns:a="http://schemas.openxmlformats.org/drawingml/2006/main">
            <a:r>
              <a:t>    "flow": [</a:t>
            </a:r>
          </a:p>
          <a:p xmlns:a="http://schemas.openxmlformats.org/drawingml/2006/main">
            <a:r>
              <a:t>      "전문가 질문",</a:t>
            </a:r>
          </a:p>
          <a:p xmlns:a="http://schemas.openxmlformats.org/drawingml/2006/main">
            <a:r>
              <a:t>      "사내 지식 검색",</a:t>
            </a:r>
          </a:p>
          <a:p xmlns:a="http://schemas.openxmlformats.org/drawingml/2006/main">
            <a:r>
              <a:t>      "근거 응답",</a:t>
            </a:r>
          </a:p>
          <a:p xmlns:a="http://schemas.openxmlformats.org/drawingml/2006/main">
            <a:r>
              <a:t>      "전문가 평가·개선"</a:t>
            </a:r>
          </a:p>
          <a:p xmlns:a="http://schemas.openxmlformats.org/drawingml/2006/main">
            <a:r>
              <a:t>    ],</a:t>
            </a:r>
          </a:p>
          <a:p xmlns:a="http://schemas.openxmlformats.org/drawingml/2006/main">
            <a:r>
              <a:t>    "flowBasis": "고객사례의 검색·평가 설명 기반 재구성",</a:t>
            </a:r>
          </a:p>
          <a:p xmlns:a="http://schemas.openxmlformats.org/drawingml/2006/main">
            <a:r>
              <a:t>    "lesson": "업무 전문가 정답셋과 변경 시 회귀 평가",</a:t>
            </a:r>
          </a:p>
          <a:p xmlns:a="http://schemas.openxmlformats.org/drawingml/2006/main">
            <a:r>
              <a:t>    "local": "부서별 규정·기술 기준·서식에 근거 위치와 판본을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"직무별 평가셋 / 근거 위치 / 답변 보류 / 변경 영향 재평가",</a:t>
            </a:r>
          </a:p>
          <a:p xmlns:a="http://schemas.openxmlformats.org/drawingml/2006/main">
            <a:r>
              <a:t>    "test": "숨긴 평가셋의 근거 일치·판본 일치·거부율 평가",</a:t>
            </a:r>
          </a:p>
          <a:p xmlns:a="http://schemas.openxmlformats.org/drawingml/2006/main">
            <a:r>
              <a:t>    "metric": "근거 정확도 / 재작업률 / 지식 탐색시간"</a:t>
            </a:r>
          </a:p>
          <a:p xmlns:a="http://schemas.openxmlformats.org/drawingml/2006/main">
            <a:r>
              <a:t>  },</a:t>
            </a:r>
          </a:p>
          <a:p xmlns:a="http://schemas.openxmlformats.org/drawingml/2006/main">
            <a:r>
              <a:t>  "design": {</a:t>
            </a:r>
          </a:p>
          <a:p xmlns:a="http://schemas.openxmlformats.org/drawingml/2006/main">
            <a:r>
              <a:t>    "id": "AX09",</a:t>
            </a:r>
          </a:p>
          <a:p xmlns:a="http://schemas.openxmlformats.org/drawingml/2006/main">
            <a:r>
              <a:t>    "canonicalId": "AX09",</a:t>
            </a:r>
          </a:p>
          <a:p xmlns:a="http://schemas.openxmlformats.org/drawingml/2006/main">
            <a:r>
              <a:t>    "purpose": "전문가 지식 탐색과 정답 평가의 결합",</a:t>
            </a:r>
          </a:p>
          <a:p xmlns:a="http://schemas.openxmlformats.org/drawingml/2006/main">
            <a:r>
              <a:t>    "users": "금융 자문가·지식관리자",</a:t>
            </a:r>
          </a:p>
          <a:p xmlns:a="http://schemas.openxmlformats.org/drawingml/2006/main">
            <a:r>
              <a:t>    "scope": [</a:t>
            </a:r>
          </a:p>
          <a:p xmlns:a="http://schemas.openxmlformats.org/drawingml/2006/main">
            <a:r>
              <a:t>      "지식 검색",</a:t>
            </a:r>
          </a:p>
          <a:p xmlns:a="http://schemas.openxmlformats.org/drawingml/2006/main">
            <a:r>
              <a:t>      "근거 응답",</a:t>
            </a:r>
          </a:p>
          <a:p xmlns:a="http://schemas.openxmlformats.org/drawingml/2006/main">
            <a:r>
              <a:t>      "전문가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"자문가 질문",</a:t>
            </a:r>
          </a:p>
          <a:p xmlns:a="http://schemas.openxmlformats.org/drawingml/2006/main">
            <a:r>
              <a:t>        "detail": "질문의 업무 범위·자료 접근조건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"지식 검색 / 근거 응답 / 전문가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"지식 검색·근거 응답",</a:t>
            </a:r>
          </a:p>
          <a:p xmlns:a="http://schemas.openxmlformats.org/drawingml/2006/main">
            <a:r>
              <a:t>        "detail": "관련 문서 검색과 근거 응답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"전문가 검토",</a:t>
            </a:r>
          </a:p>
          <a:p xmlns:a="http://schemas.openxmlformats.org/drawingml/2006/main">
            <a:r>
              <a:t>        "detail": "자문가가 근거를 검토한 후 업무에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 지식·평가셋",</a:t>
            </a:r>
          </a:p>
          <a:p xmlns:a="http://schemas.openxmlformats.org/drawingml/2006/main">
            <a:r>
              <a:t>        "detail": "승인 지식·원문 위치·판본별 색인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"전문가 정답셋과 오류 유형별 회귀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"전문가 질문",</a:t>
            </a:r>
          </a:p>
          <a:p xmlns:a="http://schemas.openxmlformats.org/drawingml/2006/main">
            <a:r>
              <a:t>        "input": "질문의 업무 범위·자료 접근조건 확인",</a:t>
            </a:r>
          </a:p>
          <a:p xmlns:a="http://schemas.openxmlformats.org/drawingml/2006/main">
            <a:r>
              <a:t>        "process": "승인 지식·원문 위치·판본별 색인 구성",</a:t>
            </a:r>
          </a:p>
          <a:p xmlns:a="http://schemas.openxmlformats.org/drawingml/2006/main">
            <a:r>
              <a:t>        "output": "질문·업무 목적"</a:t>
            </a:r>
          </a:p>
          <a:p xmlns:a="http://schemas.openxmlformats.org/drawingml/2006/main">
            <a:r>
              <a:t>      },</a:t>
            </a:r>
          </a:p>
          <a:p xmlns:a="http://schemas.openxmlformats.org/drawingml/2006/main">
            <a:r>
              <a:t>      {</a:t>
            </a:r>
          </a:p>
          <a:p xmlns:a="http://schemas.openxmlformats.org/drawingml/2006/main">
            <a:r>
              <a:t>        "title": "사내 지식 검색",</a:t>
            </a:r>
          </a:p>
          <a:p xmlns:a="http://schemas.openxmlformats.org/drawingml/2006/main">
            <a:r>
              <a:t>        "input": "질문·업무 목적",</a:t>
            </a:r>
          </a:p>
          <a:p xmlns:a="http://schemas.openxmlformats.org/drawingml/2006/main">
            <a:r>
              <a:t>        "process": "관련 문서 검색과 근거 응답 생성",</a:t>
            </a:r>
          </a:p>
          <a:p xmlns:a="http://schemas.openxmlformats.org/drawingml/2006/main">
            <a:r>
              <a:t>        "output": "관련 문서"</a:t>
            </a:r>
          </a:p>
          <a:p xmlns:a="http://schemas.openxmlformats.org/drawingml/2006/main">
            <a:r>
              <a:t>      },</a:t>
            </a:r>
          </a:p>
          <a:p xmlns:a="http://schemas.openxmlformats.org/drawingml/2006/main">
            <a:r>
              <a:t>      {</a:t>
            </a:r>
          </a:p>
          <a:p xmlns:a="http://schemas.openxmlformats.org/drawingml/2006/main">
            <a:r>
              <a:t>        "title": "근거 응답",</a:t>
            </a:r>
          </a:p>
          <a:p xmlns:a="http://schemas.openxmlformats.org/drawingml/2006/main">
            <a:r>
              <a:t>        "input": "관련 문서",</a:t>
            </a:r>
          </a:p>
          <a:p xmlns:a="http://schemas.openxmlformats.org/drawingml/2006/main">
            <a:r>
              <a:t>        "process": "문서 개정 후 숨긴 평가셋 재검증",</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"title": "전문가 평가·개선",</a:t>
            </a:r>
          </a:p>
          <a:p xmlns:a="http://schemas.openxmlformats.org/drawingml/2006/main">
            <a:r>
              <a:t>        "input": "근거 답변",</a:t>
            </a:r>
          </a:p>
          <a:p xmlns:a="http://schemas.openxmlformats.org/drawingml/2006/main">
            <a:r>
              <a:t>        "process": "자문가가 근거를 검토한 후 업무에 활용",</a:t>
            </a:r>
          </a:p>
          <a:p xmlns:a="http://schemas.openxmlformats.org/drawingml/2006/main">
            <a:r>
              <a:t>        "output": "평가·수정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"전문가가 규정 질의의 답변·인용 원문·판본을 평가",</a:t>
            </a:r>
          </a:p>
          <a:p xmlns:a="http://schemas.openxmlformats.org/drawingml/2006/main">
            <a:r>
              <a:t>      "exception": "구버전 문서·근거 없는 질문·서로 다른 상품 조건",</a:t>
            </a:r>
          </a:p>
          <a:p xmlns:a="http://schemas.openxmlformats.org/drawingml/2006/main">
            <a:r>
              <a:t>      "evidence": "전문가 정답표와 근거 정확도·보류 적정성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"금융 자문가·지식관리자",</a:t>
            </a:r>
          </a:p>
          <a:p xmlns:a="http://schemas.openxmlformats.org/drawingml/2006/main">
            <a:r>
              <a:t>          "processing": "질문의 업무 범위·자료 접근조건 확인",</a:t>
            </a:r>
          </a:p>
          <a:p xmlns:a="http://schemas.openxmlformats.org/drawingml/2006/main">
            <a:r>
              <a:t>          "output": "질문·업무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 지식·평가셋",</a:t>
            </a:r>
          </a:p>
          <a:p xmlns:a="http://schemas.openxmlformats.org/drawingml/2006/main">
            <a:r>
              <a:t>          "processing": "승인 지식·원문 위치·판본별 색인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"질문·업무 목적",</a:t>
            </a:r>
          </a:p>
          <a:p xmlns:a="http://schemas.openxmlformats.org/drawingml/2006/main">
            <a:r>
              <a:t>          "processing": "관련 문서 검색과 근거 응답 생성",</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답변",</a:t>
            </a:r>
          </a:p>
          <a:p xmlns:a="http://schemas.openxmlformats.org/drawingml/2006/main">
            <a:r>
              <a:t>          "processing": "자문가가 근거를 검토한 후 업무에 활용",</a:t>
            </a:r>
          </a:p>
          <a:p xmlns:a="http://schemas.openxmlformats.org/drawingml/2006/main">
            <a:r>
              <a:t>          "output": "평가·수정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"전문가 정답셋과 오류 유형별 회귀 평가",</a:t>
            </a:r>
          </a:p>
          <a:p xmlns:a="http://schemas.openxmlformats.org/drawingml/2006/main">
            <a:r>
              <a:t>          "output": "전문가 정답표와 근거 정확도·보류 적정성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"전문가 정답셋과 오류 유형별 회귀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"S10",</a:t>
            </a:r>
          </a:p>
          <a:p xmlns:a="http://schemas.openxmlformats.org/drawingml/2006/main">
            <a:r>
              <a:t>        "title": "OpenAI · Morgan Stanley 평가·도입 사례",</a:t>
            </a:r>
          </a:p>
          <a:p xmlns:a="http://schemas.openxmlformats.org/drawingml/2006/main">
            <a:r>
              <a:t>        "url": "https://openai.com/index/morgan-stanley/",</a:t>
            </a:r>
          </a:p>
          <a:p xmlns:a="http://schemas.openxmlformats.org/drawingml/2006/main">
            <a:r>
              <a:t>        "published": "게시일 미표시",</a:t>
            </a:r>
          </a:p>
          <a:p xmlns:a="http://schemas.openxmlformats.org/drawingml/2006/main">
            <a:r>
              <a:t>        "level": "공급사 고객사례",</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"업무 전문가 정답셋과 변경 시 회귀 평가",</a:t>
            </a:r>
          </a:p>
          <a:p xmlns:a="http://schemas.openxmlformats.org/drawingml/2006/main">
            <a:r>
              <a:t>    "local": "부서별 규정·기술 기준·서식에 근거 위치와 판본을 연결",</a:t>
            </a:r>
          </a:p>
          <a:p xmlns:a="http://schemas.openxmlformats.org/drawingml/2006/main">
            <a:r>
              <a:t>    "sourceDetail": null,</a:t>
            </a:r>
          </a:p>
          <a:p xmlns:a="http://schemas.openxmlformats.org/drawingml/2006/main">
            <a:r>
              <a:t>    "narrative": [</a:t>
            </a:r>
          </a:p>
          <a:p xmlns:a="http://schemas.openxmlformats.org/drawingml/2006/main">
            <a:r>
              <a:t>      "금융 자문가가 승인된 사내 전문지식을 검색하고 근거 있는 답변을 얻도록 한 사례. 직원의 문서 탐색을 지원하면서 전문가 평가를 품질 개선에 연결한 접근.",</a:t>
            </a:r>
          </a:p>
          <a:p xmlns:a="http://schemas.openxmlformats.org/drawingml/2006/main">
            <a:r>
              <a:t>      "업무 질문의 자료 범위를 확인하고 관련 문서·원문 위치를 검색한 뒤 자문가가 답변을 검토하는 흐름. TS 적용 시 검사·인증·안전 규정별 전문가 정답셋과 문서 개정 이력을 연결하는 설계.",</a:t>
            </a:r>
          </a:p>
          <a:p xmlns:a="http://schemas.openxmlformats.org/drawingml/2006/main">
            <a:r>
              <a:t>      "활용자 수·도입 확대와 답변의 정답률을 구분해 평가할 필요. 숨긴 평가셋, 근거 조문 일치, 개정 후 회귀시험, 전문가 수정시간을 함께 수집하는 CCK 벤치마킹."</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"자문가 질문",</a:t>
            </a:r>
          </a:p>
          <a:p xmlns:a="http://schemas.openxmlformats.org/drawingml/2006/main">
            <a:r>
              <a:t>          "layer": "이용 접점",</a:t>
            </a:r>
          </a:p>
          <a:p xmlns:a="http://schemas.openxmlformats.org/drawingml/2006/main">
            <a:r>
              <a:t>          "detail": "금융 자문가·지식관리자",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"질의·접근 문맥",</a:t>
            </a:r>
          </a:p>
          <a:p xmlns:a="http://schemas.openxmlformats.org/drawingml/2006/main">
            <a:r>
              <a:t>          "layer": "업무 문맥",</a:t>
            </a:r>
          </a:p>
          <a:p xmlns:a="http://schemas.openxmlformats.org/drawingml/2006/main">
            <a:r>
              <a:t>          "detail": "질문의 업무 범위·자료 접근조건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문서 검색",</a:t>
            </a:r>
          </a:p>
          <a:p xmlns:a="http://schemas.openxmlformats.org/drawingml/2006/main">
            <a:r>
              <a:t>          "layer": "자료 조회",</a:t>
            </a:r>
          </a:p>
          <a:p xmlns:a="http://schemas.openxmlformats.org/drawingml/2006/main">
            <a:r>
              <a:t>          "detail": "질문·업무 목적",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응답 생성",</a:t>
            </a:r>
          </a:p>
          <a:p xmlns:a="http://schemas.openxmlformats.org/drawingml/2006/main">
            <a:r>
              <a:t>          "layer": "핵심 처리",</a:t>
            </a:r>
          </a:p>
          <a:p xmlns:a="http://schemas.openxmlformats.org/drawingml/2006/main">
            <a:r>
              <a:t>          "detail": "관련 문서 검색과 근거 응답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"문서·답변 대조",</a:t>
            </a:r>
          </a:p>
          <a:p xmlns:a="http://schemas.openxmlformats.org/drawingml/2006/main">
            <a:r>
              <a:t>          "layer": "결과 검증",</a:t>
            </a:r>
          </a:p>
          <a:p xmlns:a="http://schemas.openxmlformats.org/drawingml/2006/main">
            <a:r>
              <a:t>          "detail": "문서 개정 후 숨긴 평가셋 재검증",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"자문가 확인",</a:t>
            </a:r>
          </a:p>
          <a:p xmlns:a="http://schemas.openxmlformats.org/drawingml/2006/main">
            <a:r>
              <a:t>          "layer": "사람 확인",</a:t>
            </a:r>
          </a:p>
          <a:p xmlns:a="http://schemas.openxmlformats.org/drawingml/2006/main">
            <a:r>
              <a:t>          "detail": "전문가가 규정 질의의 답변·인용 원문·판본을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"상담 업무 활용",</a:t>
            </a:r>
          </a:p>
          <a:p xmlns:a="http://schemas.openxmlformats.org/drawingml/2006/main">
            <a:r>
              <a:t>          "layer": "업무 연결",</a:t>
            </a:r>
          </a:p>
          <a:p xmlns:a="http://schemas.openxmlformats.org/drawingml/2006/main">
            <a:r>
              <a:t>          "detail": "자문가가 근거를 검토한 후 업무에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"정답셋 회귀평가",</a:t>
            </a:r>
          </a:p>
          <a:p xmlns:a="http://schemas.openxmlformats.org/drawingml/2006/main">
            <a:r>
              <a:t>          "layer": "운영 관측",</a:t>
            </a:r>
          </a:p>
          <a:p xmlns:a="http://schemas.openxmlformats.org/drawingml/2006/main">
            <a:r>
              <a:t>          "detail": "전문가 정답셋과 오류 유형별 회귀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"승인 전문지식",</a:t>
            </a:r>
          </a:p>
          <a:p xmlns:a="http://schemas.openxmlformats.org/drawingml/2006/main">
            <a:r>
              <a:t>          "layer": "데이터 원천",</a:t>
            </a:r>
          </a:p>
          <a:p xmlns:a="http://schemas.openxmlformats.org/drawingml/2006/main">
            <a:r>
              <a:t>          "detail": "사내 지식·평가셋",</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"원문 위치·판본화",</a:t>
            </a:r>
          </a:p>
          <a:p xmlns:a="http://schemas.openxmlformats.org/drawingml/2006/main">
            <a:r>
              <a:t>          "layer": "준비·갱신",</a:t>
            </a:r>
          </a:p>
          <a:p xmlns:a="http://schemas.openxmlformats.org/drawingml/2006/main">
            <a:r>
              <a:t>          "detail": "승인 지식·원문 위치·판본별 색인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"문서·평가셋",</a:t>
            </a:r>
          </a:p>
          <a:p xmlns:a="http://schemas.openxmlformats.org/drawingml/2006/main">
            <a:r>
              <a:t>          "layer": "상태·지식 저장",</a:t>
            </a:r>
          </a:p>
          <a:p xmlns:a="http://schemas.openxmlformats.org/drawingml/2006/main">
            <a:r>
              <a:t>          "detail": "전문가 정답표와 근거 정확도·보류 적정성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"자료 접근정책",</a:t>
            </a:r>
          </a:p>
          <a:p xmlns:a="http://schemas.openxmlformats.org/drawingml/2006/main">
            <a:r>
              <a:t>          "layer": "권한·정책",</a:t>
            </a:r>
          </a:p>
          <a:p xmlns:a="http://schemas.openxmlformats.org/drawingml/2006/main">
            <a:r>
              <a:t>          "detail": "구버전 문서·근거 없는 질문·서로 다른 상품 조건",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"전문가 질문 → 사내 지식 검색 → 근거 응답 → 전문가 평가·개선"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"사내 지식·평가셋",</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"질문의 업무 범위·자료 접근조건 확인",</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"전문가 정답표와 근거 정확도·보류 적정성 결과",</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문서",</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답변",</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"전문가 지식 탐색과 정답 평가의 결합 / 지식 검색·근거 응답·전문가 평가",</a:t>
            </a:r>
          </a:p>
          <a:p xmlns:a="http://schemas.openxmlformats.org/drawingml/2006/main">
            <a:r>
              <a:t>        "extension": "부서별 규정·기술 기준·서식에 근거 위치와 판본을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"구버전 문서·근거 없는 질문·서로 다른 상품 조건",</a:t>
            </a:r>
          </a:p>
          <a:p xmlns:a="http://schemas.openxmlformats.org/drawingml/2006/main">
            <a:r>
              <a:t>        "hold": "문서 개정 후 숨긴 평가셋 재검증",</a:t>
            </a:r>
          </a:p>
          <a:p xmlns:a="http://schemas.openxmlformats.org/drawingml/2006/main">
            <a:r>
              <a:t>        "recovery": "전문가 정답셋과 오류 유형별 회귀 평가",</a:t>
            </a:r>
          </a:p>
          <a:p xmlns:a="http://schemas.openxmlformats.org/drawingml/2006/main">
            <a:r>
              <a:t>        "evidence": "전문가 정답표와 근거 정확도·보류 적정성 결과"</a:t>
            </a:r>
          </a:p>
          <a:p xmlns:a="http://schemas.openxmlformats.org/drawingml/2006/main">
            <a:r>
              <a:t>      },</a:t>
            </a:r>
          </a:p>
          <a:p xmlns:a="http://schemas.openxmlformats.org/drawingml/2006/main">
            <a:r>
              <a:t>      "data": {</a:t>
            </a:r>
          </a:p>
          <a:p xmlns:a="http://schemas.openxmlformats.org/drawingml/2006/main">
            <a:r>
              <a:t>        "source": "사내 지식·평가셋",</a:t>
            </a:r>
          </a:p>
          <a:p xmlns:a="http://schemas.openxmlformats.org/drawingml/2006/main">
            <a:r>
              <a:t>        "prepare": "승인 지식·원문 위치·판본별 색인 구성",</a:t>
            </a:r>
          </a:p>
          <a:p xmlns:a="http://schemas.openxmlformats.org/drawingml/2006/main">
            <a:r>
              <a:t>        "output": "질문·업무 목적",</a:t>
            </a:r>
          </a:p>
          <a:p xmlns:a="http://schemas.openxmlformats.org/drawingml/2006/main">
            <a:r>
              <a:t>        "refresh": "전문가 정답셋과 오류 유형별 회귀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"AX09",</a:t>
            </a:r>
          </a:p>
          <a:p xmlns:a="http://schemas.openxmlformats.org/drawingml/2006/main">
            <a:r>
              <a:t>    "success": [</a:t>
            </a:r>
          </a:p>
          <a:p xmlns:a="http://schemas.openxmlformats.org/drawingml/2006/main">
            <a:r>
              <a:t>      "전문가 평가셋과 지속 개선",</a:t>
            </a:r>
          </a:p>
          <a:p xmlns:a="http://schemas.openxmlformats.org/drawingml/2006/main">
            <a:r>
              <a:t>      "현업 지식을 업무 접점에서 검색"</a:t>
            </a:r>
          </a:p>
          <a:p xmlns:a="http://schemas.openxmlformats.org/drawingml/2006/main">
            <a:r>
              <a:t>    ],</a:t>
            </a:r>
          </a:p>
          <a:p xmlns:a="http://schemas.openxmlformats.org/drawingml/2006/main">
            <a:r>
              <a:t>    "risks": [</a:t>
            </a:r>
          </a:p>
          <a:p xmlns:a="http://schemas.openxmlformats.org/drawingml/2006/main">
            <a:r>
              <a:t>      "활용률과 정답률의 혼동",</a:t>
            </a:r>
          </a:p>
          <a:p xmlns:a="http://schemas.openxmlformats.org/drawingml/2006/main">
            <a:r>
              <a:t>      "자료 개정에 따른 답변 품질 저하"</a:t>
            </a:r>
          </a:p>
          <a:p xmlns:a="http://schemas.openxmlformats.org/drawingml/2006/main">
            <a:r>
              <a:t>    ],</a:t>
            </a:r>
          </a:p>
          <a:p xmlns:a="http://schemas.openxmlformats.org/drawingml/2006/main">
            <a:r>
              <a:t>    "architecture": [</a:t>
            </a:r>
          </a:p>
          <a:p xmlns:a="http://schemas.openxmlformats.org/drawingml/2006/main">
            <a:r>
              <a:t>      "자문가 질문",</a:t>
            </a:r>
          </a:p>
          <a:p xmlns:a="http://schemas.openxmlformats.org/drawingml/2006/main">
            <a:r>
              <a:t>      "지식 검색·근거 응답",</a:t>
            </a:r>
          </a:p>
          <a:p xmlns:a="http://schemas.openxmlformats.org/drawingml/2006/main">
            <a:r>
              <a:t>      "사내 지식·평가셋",</a:t>
            </a:r>
          </a:p>
          <a:p xmlns:a="http://schemas.openxmlformats.org/drawingml/2006/main">
            <a:r>
              <a:t>      "전문가 검토"</a:t>
            </a:r>
          </a:p>
          <a:p xmlns:a="http://schemas.openxmlformats.org/drawingml/2006/main">
            <a:r>
              <a:t>    ],</a:t>
            </a:r>
          </a:p>
          <a:p xmlns:a="http://schemas.openxmlformats.org/drawingml/2006/main">
            <a:r>
              <a:t>    "transfers": [</a:t>
            </a:r>
          </a:p>
          <a:p xmlns:a="http://schemas.openxmlformats.org/drawingml/2006/main">
            <a:r>
              <a:t>      "질문·업무 목적",</a:t>
            </a:r>
          </a:p>
          <a:p xmlns:a="http://schemas.openxmlformats.org/drawingml/2006/main">
            <a:r>
              <a:t>      "관련 문서",</a:t>
            </a:r>
          </a:p>
          <a:p xmlns:a="http://schemas.openxmlformats.org/drawingml/2006/main">
            <a:r>
              <a:t>      "근거 답변",</a:t>
            </a:r>
          </a:p>
          <a:p xmlns:a="http://schemas.openxmlformats.org/drawingml/2006/main">
            <a:r>
              <a:t>      "평가·수정 기록"</a:t>
            </a:r>
          </a:p>
          <a:p xmlns:a="http://schemas.openxmlformats.org/drawingml/2006/main">
            <a:r>
              <a:t>    ],</a:t>
            </a:r>
          </a:p>
          <a:p xmlns:a="http://schemas.openxmlformats.org/drawingml/2006/main">
            <a:r>
              <a:t>    "control": "문서 개정 후 숨긴 평가셋 재검증",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OpenAI · Morgan Stanley 평가·도입 사례 https://openai.com/index/morgan-stanley/</a:t>
            </a:r>
          </a:p>
          <a:p xmlns:a="http://schemas.openxmlformats.org/drawingml/2006/main">
            <a:r>
              <a:t>홈페이지 https://heen1987-ops.github.io/TS-business-Plan-001/index.html?view=casebook&amp;case=AX09</a:t>
            </a:r>
          </a:p>
          <a:p xmlns:a="http://schemas.openxmlformats.org/drawingml/2006/main">
            <a:r>
              <a:t>한계: 자문팀 기준 공급사 발표 · 생산성 인과효과·TS 정확도 근거와 구분</a:t>
            </a:r>
          </a:p>
          <a:p xmlns:a="http://schemas.openxmlformats.org/drawingml/2006/main">
            <a:r>
              <a:t>실패 위험: 활용률과 정답률의 혼동 / 자료 개정에 따른 답변 품질 저하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"AX09",</a:t>
            </a:r>
          </a:p>
          <a:p xmlns:a="http://schemas.openxmlformats.org/drawingml/2006/main">
            <a:r>
              <a:t>    "title": "Morgan Stanley 지식지원",</a:t>
            </a:r>
          </a:p>
          <a:p xmlns:a="http://schemas.openxmlformats.org/drawingml/2006/main">
            <a:r>
              <a:t>    "region": "해외",</a:t>
            </a:r>
          </a:p>
          <a:p xmlns:a="http://schemas.openxmlformats.org/drawingml/2006/main">
            <a:r>
              <a:t>    "country": "미국",</a:t>
            </a:r>
          </a:p>
          <a:p xmlns:a="http://schemas.openxmlformats.org/drawingml/2006/main">
            <a:r>
              <a:t>    "result": "성공",</a:t>
            </a:r>
          </a:p>
          <a:p xmlns:a="http://schemas.openxmlformats.org/drawingml/2006/main">
            <a:r>
              <a:t>    "kind": "전문가 업무·평가셋",</a:t>
            </a:r>
          </a:p>
          <a:p xmlns:a="http://schemas.openxmlformats.org/drawingml/2006/main">
            <a:r>
              <a:t>    "period": "출처 열람 2026.10",</a:t>
            </a:r>
          </a:p>
          <a:p xmlns:a="http://schemas.openxmlformats.org/drawingml/2006/main">
            <a:r>
              <a:t>    "sources": [</a:t>
            </a:r>
          </a:p>
          <a:p xmlns:a="http://schemas.openxmlformats.org/drawingml/2006/main">
            <a:r>
              <a:t>      "S10"</a:t>
            </a:r>
          </a:p>
          <a:p xmlns:a="http://schemas.openxmlformats.org/drawingml/2006/main">
            <a:r>
              <a:t>    ],</a:t>
            </a:r>
          </a:p>
          <a:p xmlns:a="http://schemas.openxmlformats.org/drawingml/2006/main">
            <a:r>
              <a:t>    "keywords": [</a:t>
            </a:r>
          </a:p>
          <a:p xmlns:a="http://schemas.openxmlformats.org/drawingml/2006/main">
            <a:r>
              <a:t>      "전문지식",</a:t>
            </a:r>
          </a:p>
          <a:p xmlns:a="http://schemas.openxmlformats.org/drawingml/2006/main">
            <a:r>
              <a:t>      "문서검색",</a:t>
            </a:r>
          </a:p>
          <a:p xmlns:a="http://schemas.openxmlformats.org/drawingml/2006/main">
            <a:r>
              <a:t>      "평가",</a:t>
            </a:r>
          </a:p>
          <a:p xmlns:a="http://schemas.openxmlformats.org/drawingml/2006/main">
            <a:r>
              <a:t>      "업무 품질"</a:t>
            </a:r>
          </a:p>
          <a:p xmlns:a="http://schemas.openxmlformats.org/drawingml/2006/main">
            <a:r>
              <a:t>    ],</a:t>
            </a:r>
          </a:p>
          <a:p xmlns:a="http://schemas.openxmlformats.org/drawingml/2006/main">
            <a:r>
              <a:t>    "fact": "공급사 고객사례에서 자문팀의 98% 초과 활용과 전문가 평가 기반 개선 체계 보고",</a:t>
            </a:r>
          </a:p>
          <a:p xmlns:a="http://schemas.openxmlformats.org/drawingml/2006/main">
            <a:r>
              <a:t>    "limit": "자문팀 기준 공급사 발표 · 생산성 인과효과·TS 정확도 근거와 구분",</a:t>
            </a:r>
          </a:p>
          <a:p xmlns:a="http://schemas.openxmlformats.org/drawingml/2006/main">
            <a:r>
              <a:t>    "flow": [</a:t>
            </a:r>
          </a:p>
          <a:p xmlns:a="http://schemas.openxmlformats.org/drawingml/2006/main">
            <a:r>
              <a:t>      "전문가 질문",</a:t>
            </a:r>
          </a:p>
          <a:p xmlns:a="http://schemas.openxmlformats.org/drawingml/2006/main">
            <a:r>
              <a:t>      "사내 지식 검색",</a:t>
            </a:r>
          </a:p>
          <a:p xmlns:a="http://schemas.openxmlformats.org/drawingml/2006/main">
            <a:r>
              <a:t>      "근거 응답",</a:t>
            </a:r>
          </a:p>
          <a:p xmlns:a="http://schemas.openxmlformats.org/drawingml/2006/main">
            <a:r>
              <a:t>      "전문가 평가·개선"</a:t>
            </a:r>
          </a:p>
          <a:p xmlns:a="http://schemas.openxmlformats.org/drawingml/2006/main">
            <a:r>
              <a:t>    ],</a:t>
            </a:r>
          </a:p>
          <a:p xmlns:a="http://schemas.openxmlformats.org/drawingml/2006/main">
            <a:r>
              <a:t>    "flowBasis": "고객사례의 검색·평가 설명 기반 재구성",</a:t>
            </a:r>
          </a:p>
          <a:p xmlns:a="http://schemas.openxmlformats.org/drawingml/2006/main">
            <a:r>
              <a:t>    "lesson": "업무 전문가 정답셋과 변경 시 회귀 평가",</a:t>
            </a:r>
          </a:p>
          <a:p xmlns:a="http://schemas.openxmlformats.org/drawingml/2006/main">
            <a:r>
              <a:t>    "local": "부서별 규정·기술 기준·서식에 근거 위치와 판본을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"직무별 평가셋 / 근거 위치 / 답변 보류 / 변경 영향 재평가",</a:t>
            </a:r>
          </a:p>
          <a:p xmlns:a="http://schemas.openxmlformats.org/drawingml/2006/main">
            <a:r>
              <a:t>    "test": "숨긴 평가셋의 근거 일치·판본 일치·거부율 평가",</a:t>
            </a:r>
          </a:p>
          <a:p xmlns:a="http://schemas.openxmlformats.org/drawingml/2006/main">
            <a:r>
              <a:t>    "metric": "근거 정확도 / 재작업률 / 지식 탐색시간"</a:t>
            </a:r>
          </a:p>
          <a:p xmlns:a="http://schemas.openxmlformats.org/drawingml/2006/main">
            <a:r>
              <a:t>  },</a:t>
            </a:r>
          </a:p>
          <a:p xmlns:a="http://schemas.openxmlformats.org/drawingml/2006/main">
            <a:r>
              <a:t>  "design": {</a:t>
            </a:r>
          </a:p>
          <a:p xmlns:a="http://schemas.openxmlformats.org/drawingml/2006/main">
            <a:r>
              <a:t>    "id": "AX09",</a:t>
            </a:r>
          </a:p>
          <a:p xmlns:a="http://schemas.openxmlformats.org/drawingml/2006/main">
            <a:r>
              <a:t>    "canonicalId": "AX09",</a:t>
            </a:r>
          </a:p>
          <a:p xmlns:a="http://schemas.openxmlformats.org/drawingml/2006/main">
            <a:r>
              <a:t>    "purpose": "전문가 지식 탐색과 정답 평가의 결합",</a:t>
            </a:r>
          </a:p>
          <a:p xmlns:a="http://schemas.openxmlformats.org/drawingml/2006/main">
            <a:r>
              <a:t>    "users": "금융 자문가·지식관리자",</a:t>
            </a:r>
          </a:p>
          <a:p xmlns:a="http://schemas.openxmlformats.org/drawingml/2006/main">
            <a:r>
              <a:t>    "scope": [</a:t>
            </a:r>
          </a:p>
          <a:p xmlns:a="http://schemas.openxmlformats.org/drawingml/2006/main">
            <a:r>
              <a:t>      "지식 검색",</a:t>
            </a:r>
          </a:p>
          <a:p xmlns:a="http://schemas.openxmlformats.org/drawingml/2006/main">
            <a:r>
              <a:t>      "근거 응답",</a:t>
            </a:r>
          </a:p>
          <a:p xmlns:a="http://schemas.openxmlformats.org/drawingml/2006/main">
            <a:r>
              <a:t>      "전문가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"자문가 질문",</a:t>
            </a:r>
          </a:p>
          <a:p xmlns:a="http://schemas.openxmlformats.org/drawingml/2006/main">
            <a:r>
              <a:t>        "detail": "질문의 업무 범위·자료 접근조건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"지식 검색 / 근거 응답 / 전문가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"지식 검색·근거 응답",</a:t>
            </a:r>
          </a:p>
          <a:p xmlns:a="http://schemas.openxmlformats.org/drawingml/2006/main">
            <a:r>
              <a:t>        "detail": "관련 문서 검색과 근거 응답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"전문가 검토",</a:t>
            </a:r>
          </a:p>
          <a:p xmlns:a="http://schemas.openxmlformats.org/drawingml/2006/main">
            <a:r>
              <a:t>        "detail": "자문가가 근거를 검토한 후 업무에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 지식·평가셋",</a:t>
            </a:r>
          </a:p>
          <a:p xmlns:a="http://schemas.openxmlformats.org/drawingml/2006/main">
            <a:r>
              <a:t>        "detail": "승인 지식·원문 위치·판본별 색인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"전문가 정답셋과 오류 유형별 회귀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"전문가 질문",</a:t>
            </a:r>
          </a:p>
          <a:p xmlns:a="http://schemas.openxmlformats.org/drawingml/2006/main">
            <a:r>
              <a:t>        "input": "질문의 업무 범위·자료 접근조건 확인",</a:t>
            </a:r>
          </a:p>
          <a:p xmlns:a="http://schemas.openxmlformats.org/drawingml/2006/main">
            <a:r>
              <a:t>        "process": "승인 지식·원문 위치·판본별 색인 구성",</a:t>
            </a:r>
          </a:p>
          <a:p xmlns:a="http://schemas.openxmlformats.org/drawingml/2006/main">
            <a:r>
              <a:t>        "output": "질문·업무 목적"</a:t>
            </a:r>
          </a:p>
          <a:p xmlns:a="http://schemas.openxmlformats.org/drawingml/2006/main">
            <a:r>
              <a:t>      },</a:t>
            </a:r>
          </a:p>
          <a:p xmlns:a="http://schemas.openxmlformats.org/drawingml/2006/main">
            <a:r>
              <a:t>      {</a:t>
            </a:r>
          </a:p>
          <a:p xmlns:a="http://schemas.openxmlformats.org/drawingml/2006/main">
            <a:r>
              <a:t>        "title": "사내 지식 검색",</a:t>
            </a:r>
          </a:p>
          <a:p xmlns:a="http://schemas.openxmlformats.org/drawingml/2006/main">
            <a:r>
              <a:t>        "input": "질문·업무 목적",</a:t>
            </a:r>
          </a:p>
          <a:p xmlns:a="http://schemas.openxmlformats.org/drawingml/2006/main">
            <a:r>
              <a:t>        "process": "관련 문서 검색과 근거 응답 생성",</a:t>
            </a:r>
          </a:p>
          <a:p xmlns:a="http://schemas.openxmlformats.org/drawingml/2006/main">
            <a:r>
              <a:t>        "output": "관련 문서"</a:t>
            </a:r>
          </a:p>
          <a:p xmlns:a="http://schemas.openxmlformats.org/drawingml/2006/main">
            <a:r>
              <a:t>      },</a:t>
            </a:r>
          </a:p>
          <a:p xmlns:a="http://schemas.openxmlformats.org/drawingml/2006/main">
            <a:r>
              <a:t>      {</a:t>
            </a:r>
          </a:p>
          <a:p xmlns:a="http://schemas.openxmlformats.org/drawingml/2006/main">
            <a:r>
              <a:t>        "title": "근거 응답",</a:t>
            </a:r>
          </a:p>
          <a:p xmlns:a="http://schemas.openxmlformats.org/drawingml/2006/main">
            <a:r>
              <a:t>        "input": "관련 문서",</a:t>
            </a:r>
          </a:p>
          <a:p xmlns:a="http://schemas.openxmlformats.org/drawingml/2006/main">
            <a:r>
              <a:t>        "process": "문서 개정 후 숨긴 평가셋 재검증",</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"title": "전문가 평가·개선",</a:t>
            </a:r>
          </a:p>
          <a:p xmlns:a="http://schemas.openxmlformats.org/drawingml/2006/main">
            <a:r>
              <a:t>        "input": "근거 답변",</a:t>
            </a:r>
          </a:p>
          <a:p xmlns:a="http://schemas.openxmlformats.org/drawingml/2006/main">
            <a:r>
              <a:t>        "process": "자문가가 근거를 검토한 후 업무에 활용",</a:t>
            </a:r>
          </a:p>
          <a:p xmlns:a="http://schemas.openxmlformats.org/drawingml/2006/main">
            <a:r>
              <a:t>        "output": "평가·수정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"전문가가 규정 질의의 답변·인용 원문·판본을 평가",</a:t>
            </a:r>
          </a:p>
          <a:p xmlns:a="http://schemas.openxmlformats.org/drawingml/2006/main">
            <a:r>
              <a:t>      "exception": "구버전 문서·근거 없는 질문·서로 다른 상품 조건",</a:t>
            </a:r>
          </a:p>
          <a:p xmlns:a="http://schemas.openxmlformats.org/drawingml/2006/main">
            <a:r>
              <a:t>      "evidence": "전문가 정답표와 근거 정확도·보류 적정성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"금융 자문가·지식관리자",</a:t>
            </a:r>
          </a:p>
          <a:p xmlns:a="http://schemas.openxmlformats.org/drawingml/2006/main">
            <a:r>
              <a:t>          "processing": "질문의 업무 범위·자료 접근조건 확인",</a:t>
            </a:r>
          </a:p>
          <a:p xmlns:a="http://schemas.openxmlformats.org/drawingml/2006/main">
            <a:r>
              <a:t>          "output": "질문·업무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 지식·평가셋",</a:t>
            </a:r>
          </a:p>
          <a:p xmlns:a="http://schemas.openxmlformats.org/drawingml/2006/main">
            <a:r>
              <a:t>          "processing": "승인 지식·원문 위치·판본별 색인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"질문·업무 목적",</a:t>
            </a:r>
          </a:p>
          <a:p xmlns:a="http://schemas.openxmlformats.org/drawingml/2006/main">
            <a:r>
              <a:t>          "processing": "관련 문서 검색과 근거 응답 생성",</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답변",</a:t>
            </a:r>
          </a:p>
          <a:p xmlns:a="http://schemas.openxmlformats.org/drawingml/2006/main">
            <a:r>
              <a:t>          "processing": "자문가가 근거를 검토한 후 업무에 활용",</a:t>
            </a:r>
          </a:p>
          <a:p xmlns:a="http://schemas.openxmlformats.org/drawingml/2006/main">
            <a:r>
              <a:t>          "output": "평가·수정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"전문가 정답셋과 오류 유형별 회귀 평가",</a:t>
            </a:r>
          </a:p>
          <a:p xmlns:a="http://schemas.openxmlformats.org/drawingml/2006/main">
            <a:r>
              <a:t>          "output": "전문가 정답표와 근거 정확도·보류 적정성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"전문가 정답셋과 오류 유형별 회귀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"S10",</a:t>
            </a:r>
          </a:p>
          <a:p xmlns:a="http://schemas.openxmlformats.org/drawingml/2006/main">
            <a:r>
              <a:t>        "title": "OpenAI · Morgan Stanley 평가·도입 사례",</a:t>
            </a:r>
          </a:p>
          <a:p xmlns:a="http://schemas.openxmlformats.org/drawingml/2006/main">
            <a:r>
              <a:t>        "url": "https://openai.com/index/morgan-stanley/",</a:t>
            </a:r>
          </a:p>
          <a:p xmlns:a="http://schemas.openxmlformats.org/drawingml/2006/main">
            <a:r>
              <a:t>        "published": "게시일 미표시",</a:t>
            </a:r>
          </a:p>
          <a:p xmlns:a="http://schemas.openxmlformats.org/drawingml/2006/main">
            <a:r>
              <a:t>        "level": "공급사 고객사례",</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"업무 전문가 정답셋과 변경 시 회귀 평가",</a:t>
            </a:r>
          </a:p>
          <a:p xmlns:a="http://schemas.openxmlformats.org/drawingml/2006/main">
            <a:r>
              <a:t>    "local": "부서별 규정·기술 기준·서식에 근거 위치와 판본을 연결",</a:t>
            </a:r>
          </a:p>
          <a:p xmlns:a="http://schemas.openxmlformats.org/drawingml/2006/main">
            <a:r>
              <a:t>    "sourceDetail": null,</a:t>
            </a:r>
          </a:p>
          <a:p xmlns:a="http://schemas.openxmlformats.org/drawingml/2006/main">
            <a:r>
              <a:t>    "narrative": [</a:t>
            </a:r>
          </a:p>
          <a:p xmlns:a="http://schemas.openxmlformats.org/drawingml/2006/main">
            <a:r>
              <a:t>      "금융 자문가가 승인된 사내 전문지식을 검색하고 근거 있는 답변을 얻도록 한 사례. 직원의 문서 탐색을 지원하면서 전문가 평가를 품질 개선에 연결한 접근.",</a:t>
            </a:r>
          </a:p>
          <a:p xmlns:a="http://schemas.openxmlformats.org/drawingml/2006/main">
            <a:r>
              <a:t>      "업무 질문의 자료 범위를 확인하고 관련 문서·원문 위치를 검색한 뒤 자문가가 답변을 검토하는 흐름. TS 적용 시 검사·인증·안전 규정별 전문가 정답셋과 문서 개정 이력을 연결하는 설계.",</a:t>
            </a:r>
          </a:p>
          <a:p xmlns:a="http://schemas.openxmlformats.org/drawingml/2006/main">
            <a:r>
              <a:t>      "활용자 수·도입 확대와 답변의 정답률을 구분해 평가할 필요. 숨긴 평가셋, 근거 조문 일치, 개정 후 회귀시험, 전문가 수정시간을 함께 수집하는 CCK 벤치마킹."</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"자문가 질문",</a:t>
            </a:r>
          </a:p>
          <a:p xmlns:a="http://schemas.openxmlformats.org/drawingml/2006/main">
            <a:r>
              <a:t>          "layer": "이용 접점",</a:t>
            </a:r>
          </a:p>
          <a:p xmlns:a="http://schemas.openxmlformats.org/drawingml/2006/main">
            <a:r>
              <a:t>          "detail": "금융 자문가·지식관리자",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"질의·접근 문맥",</a:t>
            </a:r>
          </a:p>
          <a:p xmlns:a="http://schemas.openxmlformats.org/drawingml/2006/main">
            <a:r>
              <a:t>          "layer": "업무 문맥",</a:t>
            </a:r>
          </a:p>
          <a:p xmlns:a="http://schemas.openxmlformats.org/drawingml/2006/main">
            <a:r>
              <a:t>          "detail": "질문의 업무 범위·자료 접근조건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문서 검색",</a:t>
            </a:r>
          </a:p>
          <a:p xmlns:a="http://schemas.openxmlformats.org/drawingml/2006/main">
            <a:r>
              <a:t>          "layer": "자료 조회",</a:t>
            </a:r>
          </a:p>
          <a:p xmlns:a="http://schemas.openxmlformats.org/drawingml/2006/main">
            <a:r>
              <a:t>          "detail": "질문·업무 목적",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응답 생성",</a:t>
            </a:r>
          </a:p>
          <a:p xmlns:a="http://schemas.openxmlformats.org/drawingml/2006/main">
            <a:r>
              <a:t>          "layer": "핵심 처리",</a:t>
            </a:r>
          </a:p>
          <a:p xmlns:a="http://schemas.openxmlformats.org/drawingml/2006/main">
            <a:r>
              <a:t>          "detail": "관련 문서 검색과 근거 응답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"문서·답변 대조",</a:t>
            </a:r>
          </a:p>
          <a:p xmlns:a="http://schemas.openxmlformats.org/drawingml/2006/main">
            <a:r>
              <a:t>          "layer": "결과 검증",</a:t>
            </a:r>
          </a:p>
          <a:p xmlns:a="http://schemas.openxmlformats.org/drawingml/2006/main">
            <a:r>
              <a:t>          "detail": "문서 개정 후 숨긴 평가셋 재검증",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"자문가 확인",</a:t>
            </a:r>
          </a:p>
          <a:p xmlns:a="http://schemas.openxmlformats.org/drawingml/2006/main">
            <a:r>
              <a:t>          "layer": "사람 확인",</a:t>
            </a:r>
          </a:p>
          <a:p xmlns:a="http://schemas.openxmlformats.org/drawingml/2006/main">
            <a:r>
              <a:t>          "detail": "전문가가 규정 질의의 답변·인용 원문·판본을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"상담 업무 활용",</a:t>
            </a:r>
          </a:p>
          <a:p xmlns:a="http://schemas.openxmlformats.org/drawingml/2006/main">
            <a:r>
              <a:t>          "layer": "업무 연결",</a:t>
            </a:r>
          </a:p>
          <a:p xmlns:a="http://schemas.openxmlformats.org/drawingml/2006/main">
            <a:r>
              <a:t>          "detail": "자문가가 근거를 검토한 후 업무에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"정답셋 회귀평가",</a:t>
            </a:r>
          </a:p>
          <a:p xmlns:a="http://schemas.openxmlformats.org/drawingml/2006/main">
            <a:r>
              <a:t>          "layer": "운영 관측",</a:t>
            </a:r>
          </a:p>
          <a:p xmlns:a="http://schemas.openxmlformats.org/drawingml/2006/main">
            <a:r>
              <a:t>          "detail": "전문가 정답셋과 오류 유형별 회귀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"승인 전문지식",</a:t>
            </a:r>
          </a:p>
          <a:p xmlns:a="http://schemas.openxmlformats.org/drawingml/2006/main">
            <a:r>
              <a:t>          "layer": "데이터 원천",</a:t>
            </a:r>
          </a:p>
          <a:p xmlns:a="http://schemas.openxmlformats.org/drawingml/2006/main">
            <a:r>
              <a:t>          "detail": "사내 지식·평가셋",</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"원문 위치·판본화",</a:t>
            </a:r>
          </a:p>
          <a:p xmlns:a="http://schemas.openxmlformats.org/drawingml/2006/main">
            <a:r>
              <a:t>          "layer": "준비·갱신",</a:t>
            </a:r>
          </a:p>
          <a:p xmlns:a="http://schemas.openxmlformats.org/drawingml/2006/main">
            <a:r>
              <a:t>          "detail": "승인 지식·원문 위치·판본별 색인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"문서·평가셋",</a:t>
            </a:r>
          </a:p>
          <a:p xmlns:a="http://schemas.openxmlformats.org/drawingml/2006/main">
            <a:r>
              <a:t>          "layer": "상태·지식 저장",</a:t>
            </a:r>
          </a:p>
          <a:p xmlns:a="http://schemas.openxmlformats.org/drawingml/2006/main">
            <a:r>
              <a:t>          "detail": "전문가 정답표와 근거 정확도·보류 적정성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"자료 접근정책",</a:t>
            </a:r>
          </a:p>
          <a:p xmlns:a="http://schemas.openxmlformats.org/drawingml/2006/main">
            <a:r>
              <a:t>          "layer": "권한·정책",</a:t>
            </a:r>
          </a:p>
          <a:p xmlns:a="http://schemas.openxmlformats.org/drawingml/2006/main">
            <a:r>
              <a:t>          "detail": "구버전 문서·근거 없는 질문·서로 다른 상품 조건",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"전문가 질문 → 사내 지식 검색 → 근거 응답 → 전문가 평가·개선"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"사내 지식·평가셋",</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"질문의 업무 범위·자료 접근조건 확인",</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"전문가 정답표와 근거 정확도·보류 적정성 결과",</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문서",</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답변",</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"전문가 지식 탐색과 정답 평가의 결합 / 지식 검색·근거 응답·전문가 평가",</a:t>
            </a:r>
          </a:p>
          <a:p xmlns:a="http://schemas.openxmlformats.org/drawingml/2006/main">
            <a:r>
              <a:t>        "extension": "부서별 규정·기술 기준·서식에 근거 위치와 판본을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"구버전 문서·근거 없는 질문·서로 다른 상품 조건",</a:t>
            </a:r>
          </a:p>
          <a:p xmlns:a="http://schemas.openxmlformats.org/drawingml/2006/main">
            <a:r>
              <a:t>        "hold": "문서 개정 후 숨긴 평가셋 재검증",</a:t>
            </a:r>
          </a:p>
          <a:p xmlns:a="http://schemas.openxmlformats.org/drawingml/2006/main">
            <a:r>
              <a:t>        "recovery": "전문가 정답셋과 오류 유형별 회귀 평가",</a:t>
            </a:r>
          </a:p>
          <a:p xmlns:a="http://schemas.openxmlformats.org/drawingml/2006/main">
            <a:r>
              <a:t>        "evidence": "전문가 정답표와 근거 정확도·보류 적정성 결과"</a:t>
            </a:r>
          </a:p>
          <a:p xmlns:a="http://schemas.openxmlformats.org/drawingml/2006/main">
            <a:r>
              <a:t>      },</a:t>
            </a:r>
          </a:p>
          <a:p xmlns:a="http://schemas.openxmlformats.org/drawingml/2006/main">
            <a:r>
              <a:t>      "data": {</a:t>
            </a:r>
          </a:p>
          <a:p xmlns:a="http://schemas.openxmlformats.org/drawingml/2006/main">
            <a:r>
              <a:t>        "source": "사내 지식·평가셋",</a:t>
            </a:r>
          </a:p>
          <a:p xmlns:a="http://schemas.openxmlformats.org/drawingml/2006/main">
            <a:r>
              <a:t>        "prepare": "승인 지식·원문 위치·판본별 색인 구성",</a:t>
            </a:r>
          </a:p>
          <a:p xmlns:a="http://schemas.openxmlformats.org/drawingml/2006/main">
            <a:r>
              <a:t>        "output": "질문·업무 목적",</a:t>
            </a:r>
          </a:p>
          <a:p xmlns:a="http://schemas.openxmlformats.org/drawingml/2006/main">
            <a:r>
              <a:t>        "refresh": "전문가 정답셋과 오류 유형별 회귀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"AX09",</a:t>
            </a:r>
          </a:p>
          <a:p xmlns:a="http://schemas.openxmlformats.org/drawingml/2006/main">
            <a:r>
              <a:t>    "success": [</a:t>
            </a:r>
          </a:p>
          <a:p xmlns:a="http://schemas.openxmlformats.org/drawingml/2006/main">
            <a:r>
              <a:t>      "전문가 평가셋과 지속 개선",</a:t>
            </a:r>
          </a:p>
          <a:p xmlns:a="http://schemas.openxmlformats.org/drawingml/2006/main">
            <a:r>
              <a:t>      "현업 지식을 업무 접점에서 검색"</a:t>
            </a:r>
          </a:p>
          <a:p xmlns:a="http://schemas.openxmlformats.org/drawingml/2006/main">
            <a:r>
              <a:t>    ],</a:t>
            </a:r>
          </a:p>
          <a:p xmlns:a="http://schemas.openxmlformats.org/drawingml/2006/main">
            <a:r>
              <a:t>    "risks": [</a:t>
            </a:r>
          </a:p>
          <a:p xmlns:a="http://schemas.openxmlformats.org/drawingml/2006/main">
            <a:r>
              <a:t>      "활용률과 정답률의 혼동",</a:t>
            </a:r>
          </a:p>
          <a:p xmlns:a="http://schemas.openxmlformats.org/drawingml/2006/main">
            <a:r>
              <a:t>      "자료 개정에 따른 답변 품질 저하"</a:t>
            </a:r>
          </a:p>
          <a:p xmlns:a="http://schemas.openxmlformats.org/drawingml/2006/main">
            <a:r>
              <a:t>    ],</a:t>
            </a:r>
          </a:p>
          <a:p xmlns:a="http://schemas.openxmlformats.org/drawingml/2006/main">
            <a:r>
              <a:t>    "architecture": [</a:t>
            </a:r>
          </a:p>
          <a:p xmlns:a="http://schemas.openxmlformats.org/drawingml/2006/main">
            <a:r>
              <a:t>      "자문가 질문",</a:t>
            </a:r>
          </a:p>
          <a:p xmlns:a="http://schemas.openxmlformats.org/drawingml/2006/main">
            <a:r>
              <a:t>      "지식 검색·근거 응답",</a:t>
            </a:r>
          </a:p>
          <a:p xmlns:a="http://schemas.openxmlformats.org/drawingml/2006/main">
            <a:r>
              <a:t>      "사내 지식·평가셋",</a:t>
            </a:r>
          </a:p>
          <a:p xmlns:a="http://schemas.openxmlformats.org/drawingml/2006/main">
            <a:r>
              <a:t>      "전문가 검토"</a:t>
            </a:r>
          </a:p>
          <a:p xmlns:a="http://schemas.openxmlformats.org/drawingml/2006/main">
            <a:r>
              <a:t>    ],</a:t>
            </a:r>
          </a:p>
          <a:p xmlns:a="http://schemas.openxmlformats.org/drawingml/2006/main">
            <a:r>
              <a:t>    "transfers": [</a:t>
            </a:r>
          </a:p>
          <a:p xmlns:a="http://schemas.openxmlformats.org/drawingml/2006/main">
            <a:r>
              <a:t>      "질문·업무 목적",</a:t>
            </a:r>
          </a:p>
          <a:p xmlns:a="http://schemas.openxmlformats.org/drawingml/2006/main">
            <a:r>
              <a:t>      "관련 문서",</a:t>
            </a:r>
          </a:p>
          <a:p xmlns:a="http://schemas.openxmlformats.org/drawingml/2006/main">
            <a:r>
              <a:t>      "근거 답변",</a:t>
            </a:r>
          </a:p>
          <a:p xmlns:a="http://schemas.openxmlformats.org/drawingml/2006/main">
            <a:r>
              <a:t>      "평가·수정 기록"</a:t>
            </a:r>
          </a:p>
          <a:p xmlns:a="http://schemas.openxmlformats.org/drawingml/2006/main">
            <a:r>
              <a:t>    ],</a:t>
            </a:r>
          </a:p>
          <a:p xmlns:a="http://schemas.openxmlformats.org/drawingml/2006/main">
            <a:r>
              <a:t>    "control": "문서 개정 후 숨긴 평가셋 재검증",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OpenAI · Morgan Stanley 평가·도입 사례 https://openai.com/index/morgan-stanley/</a:t>
            </a:r>
          </a:p>
          <a:p xmlns:a="http://schemas.openxmlformats.org/drawingml/2006/main">
            <a:r>
              <a:t>홈페이지 https://heen1987-ops.github.io/TS-business-Plan-001/index.html?view=casebook&amp;case=AX09</a:t>
            </a:r>
          </a:p>
          <a:p xmlns:a="http://schemas.openxmlformats.org/drawingml/2006/main">
            <a:r>
              <a:t>성과 대조</a:t>
            </a:r>
          </a:p>
          <a:p xmlns:a="http://schemas.openxmlformats.org/drawingml/2006/main">
            <a:r>
              <a:t>{</a:t>
            </a:r>
          </a:p>
          <a:p xmlns:a="http://schemas.openxmlformats.org/drawingml/2006/main">
            <a:r>
              <a:t>  "caseId": "AX09",</a:t>
            </a:r>
          </a:p>
          <a:p xmlns:a="http://schemas.openxmlformats.org/drawingml/2006/main">
            <a:r>
              <a:t>  "asIs": "자산관리 자문팀이 방대한 내부 지식 문서를 직접 검색하고 응답을 조합",</a:t>
            </a:r>
          </a:p>
          <a:p xmlns:a="http://schemas.openxmlformats.org/drawingml/2006/main">
            <a:r>
              <a:t>  "toBe": "허용된 사내 지식을 검색·인용하는 전문가용 AI Assistant와 평가·개선 체계",</a:t>
            </a:r>
          </a:p>
          <a:p xmlns:a="http://schemas.openxmlformats.org/drawingml/2006/main">
            <a:r>
              <a:t>  "expectedEffect": "정확한 근거 탐색과 자문 준비 시간 절감",</a:t>
            </a:r>
          </a:p>
          <a:p xmlns:a="http://schemas.openxmlformats.org/drawingml/2006/main">
            <a:r>
              <a:t>  "observed": "공급사·고객 사례에서 자문팀 98% 초과 활용과 전문가 피드백을 반영한 평가 체계 보고",</a:t>
            </a:r>
          </a:p>
          <a:p xmlns:a="http://schemas.openxmlformats.org/drawingml/2006/main">
            <a:r>
              <a:t>  "verdict": "부분 성과",</a:t>
            </a:r>
          </a:p>
          <a:p xmlns:a="http://schemas.openxmlformats.org/drawingml/2006/main">
            <a:r>
              <a:t>  "verdictReason": "전문가 조직의 사용 확산과 평가 운영은 확인되나 실제 검색 정확도·고객 성과의 독립 평가 미확인",</a:t>
            </a:r>
          </a:p>
          <a:p xmlns:a="http://schemas.openxmlformats.org/drawingml/2006/main">
            <a:r>
              <a:t>  "limits": "공급사 고객사례 기준. 98%는 활용률이며 생산성 향상률이 아님",</a:t>
            </a:r>
          </a:p>
          <a:p xmlns:a="http://schemas.openxmlformats.org/drawingml/2006/main">
            <a:r>
              <a:t>  "metric": "자문팀 98% 초과 활용: 공급사 고객사례",</a:t>
            </a:r>
          </a:p>
          <a:p xmlns:a="http://schemas.openxmlformats.org/drawingml/2006/main">
            <a:r>
              <a:t>  "evidenceStage": "공급사 고객사례·운영 주장",</a:t>
            </a:r>
          </a:p>
          <a:p xmlns:a="http://schemas.openxmlformats.org/drawingml/2006/main">
            <a:r>
              <a:t>  "sourceUrl": "https://openai.com/index/morgan-stanley/"</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"AX09",</a:t>
            </a:r>
          </a:p>
          <a:p xmlns:a="http://schemas.openxmlformats.org/drawingml/2006/main">
            <a:r>
              <a:t>    "title": "Morgan Stanley 지식지원",</a:t>
            </a:r>
          </a:p>
          <a:p xmlns:a="http://schemas.openxmlformats.org/drawingml/2006/main">
            <a:r>
              <a:t>    "region": "해외",</a:t>
            </a:r>
          </a:p>
          <a:p xmlns:a="http://schemas.openxmlformats.org/drawingml/2006/main">
            <a:r>
              <a:t>    "country": "미국",</a:t>
            </a:r>
          </a:p>
          <a:p xmlns:a="http://schemas.openxmlformats.org/drawingml/2006/main">
            <a:r>
              <a:t>    "result": "성공",</a:t>
            </a:r>
          </a:p>
          <a:p xmlns:a="http://schemas.openxmlformats.org/drawingml/2006/main">
            <a:r>
              <a:t>    "kind": "전문가 업무·평가셋",</a:t>
            </a:r>
          </a:p>
          <a:p xmlns:a="http://schemas.openxmlformats.org/drawingml/2006/main">
            <a:r>
              <a:t>    "period": "출처 열람 2026.10",</a:t>
            </a:r>
          </a:p>
          <a:p xmlns:a="http://schemas.openxmlformats.org/drawingml/2006/main">
            <a:r>
              <a:t>    "sources": [</a:t>
            </a:r>
          </a:p>
          <a:p xmlns:a="http://schemas.openxmlformats.org/drawingml/2006/main">
            <a:r>
              <a:t>      "S10"</a:t>
            </a:r>
          </a:p>
          <a:p xmlns:a="http://schemas.openxmlformats.org/drawingml/2006/main">
            <a:r>
              <a:t>    ],</a:t>
            </a:r>
          </a:p>
          <a:p xmlns:a="http://schemas.openxmlformats.org/drawingml/2006/main">
            <a:r>
              <a:t>    "keywords": [</a:t>
            </a:r>
          </a:p>
          <a:p xmlns:a="http://schemas.openxmlformats.org/drawingml/2006/main">
            <a:r>
              <a:t>      "전문지식",</a:t>
            </a:r>
          </a:p>
          <a:p xmlns:a="http://schemas.openxmlformats.org/drawingml/2006/main">
            <a:r>
              <a:t>      "문서검색",</a:t>
            </a:r>
          </a:p>
          <a:p xmlns:a="http://schemas.openxmlformats.org/drawingml/2006/main">
            <a:r>
              <a:t>      "평가",</a:t>
            </a:r>
          </a:p>
          <a:p xmlns:a="http://schemas.openxmlformats.org/drawingml/2006/main">
            <a:r>
              <a:t>      "업무 품질"</a:t>
            </a:r>
          </a:p>
          <a:p xmlns:a="http://schemas.openxmlformats.org/drawingml/2006/main">
            <a:r>
              <a:t>    ],</a:t>
            </a:r>
          </a:p>
          <a:p xmlns:a="http://schemas.openxmlformats.org/drawingml/2006/main">
            <a:r>
              <a:t>    "fact": "공급사 고객사례에서 자문팀의 98% 초과 활용과 전문가 평가 기반 개선 체계 보고",</a:t>
            </a:r>
          </a:p>
          <a:p xmlns:a="http://schemas.openxmlformats.org/drawingml/2006/main">
            <a:r>
              <a:t>    "limit": "자문팀 기준 공급사 발표 · 생산성 인과효과·TS 정확도 근거와 구분",</a:t>
            </a:r>
          </a:p>
          <a:p xmlns:a="http://schemas.openxmlformats.org/drawingml/2006/main">
            <a:r>
              <a:t>    "flow": [</a:t>
            </a:r>
          </a:p>
          <a:p xmlns:a="http://schemas.openxmlformats.org/drawingml/2006/main">
            <a:r>
              <a:t>      "전문가 질문",</a:t>
            </a:r>
          </a:p>
          <a:p xmlns:a="http://schemas.openxmlformats.org/drawingml/2006/main">
            <a:r>
              <a:t>      "사내 지식 검색",</a:t>
            </a:r>
          </a:p>
          <a:p xmlns:a="http://schemas.openxmlformats.org/drawingml/2006/main">
            <a:r>
              <a:t>      "근거 응답",</a:t>
            </a:r>
          </a:p>
          <a:p xmlns:a="http://schemas.openxmlformats.org/drawingml/2006/main">
            <a:r>
              <a:t>      "전문가 평가·개선"</a:t>
            </a:r>
          </a:p>
          <a:p xmlns:a="http://schemas.openxmlformats.org/drawingml/2006/main">
            <a:r>
              <a:t>    ],</a:t>
            </a:r>
          </a:p>
          <a:p xmlns:a="http://schemas.openxmlformats.org/drawingml/2006/main">
            <a:r>
              <a:t>    "flowBasis": "고객사례의 검색·평가 설명 기반 재구성",</a:t>
            </a:r>
          </a:p>
          <a:p xmlns:a="http://schemas.openxmlformats.org/drawingml/2006/main">
            <a:r>
              <a:t>    "lesson": "업무 전문가 정답셋과 변경 시 회귀 평가",</a:t>
            </a:r>
          </a:p>
          <a:p xmlns:a="http://schemas.openxmlformats.org/drawingml/2006/main">
            <a:r>
              <a:t>    "local": "부서별 규정·기술 기준·서식에 근거 위치와 판본을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"직무별 평가셋 / 근거 위치 / 답변 보류 / 변경 영향 재평가",</a:t>
            </a:r>
          </a:p>
          <a:p xmlns:a="http://schemas.openxmlformats.org/drawingml/2006/main">
            <a:r>
              <a:t>    "test": "숨긴 평가셋의 근거 일치·판본 일치·거부율 평가",</a:t>
            </a:r>
          </a:p>
          <a:p xmlns:a="http://schemas.openxmlformats.org/drawingml/2006/main">
            <a:r>
              <a:t>    "metric": "근거 정확도 / 재작업률 / 지식 탐색시간"</a:t>
            </a:r>
          </a:p>
          <a:p xmlns:a="http://schemas.openxmlformats.org/drawingml/2006/main">
            <a:r>
              <a:t>  },</a:t>
            </a:r>
          </a:p>
          <a:p xmlns:a="http://schemas.openxmlformats.org/drawingml/2006/main">
            <a:r>
              <a:t>  "design": {</a:t>
            </a:r>
          </a:p>
          <a:p xmlns:a="http://schemas.openxmlformats.org/drawingml/2006/main">
            <a:r>
              <a:t>    "id": "AX09",</a:t>
            </a:r>
          </a:p>
          <a:p xmlns:a="http://schemas.openxmlformats.org/drawingml/2006/main">
            <a:r>
              <a:t>    "canonicalId": "AX09",</a:t>
            </a:r>
          </a:p>
          <a:p xmlns:a="http://schemas.openxmlformats.org/drawingml/2006/main">
            <a:r>
              <a:t>    "purpose": "전문가 지식 탐색과 정답 평가의 결합",</a:t>
            </a:r>
          </a:p>
          <a:p xmlns:a="http://schemas.openxmlformats.org/drawingml/2006/main">
            <a:r>
              <a:t>    "users": "금융 자문가·지식관리자",</a:t>
            </a:r>
          </a:p>
          <a:p xmlns:a="http://schemas.openxmlformats.org/drawingml/2006/main">
            <a:r>
              <a:t>    "scope": [</a:t>
            </a:r>
          </a:p>
          <a:p xmlns:a="http://schemas.openxmlformats.org/drawingml/2006/main">
            <a:r>
              <a:t>      "지식 검색",</a:t>
            </a:r>
          </a:p>
          <a:p xmlns:a="http://schemas.openxmlformats.org/drawingml/2006/main">
            <a:r>
              <a:t>      "근거 응답",</a:t>
            </a:r>
          </a:p>
          <a:p xmlns:a="http://schemas.openxmlformats.org/drawingml/2006/main">
            <a:r>
              <a:t>      "전문가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"자문가 질문",</a:t>
            </a:r>
          </a:p>
          <a:p xmlns:a="http://schemas.openxmlformats.org/drawingml/2006/main">
            <a:r>
              <a:t>        "detail": "질문의 업무 범위·자료 접근조건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"지식 검색 / 근거 응답 / 전문가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"지식 검색·근거 응답",</a:t>
            </a:r>
          </a:p>
          <a:p xmlns:a="http://schemas.openxmlformats.org/drawingml/2006/main">
            <a:r>
              <a:t>        "detail": "관련 문서 검색과 근거 응답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"전문가 검토",</a:t>
            </a:r>
          </a:p>
          <a:p xmlns:a="http://schemas.openxmlformats.org/drawingml/2006/main">
            <a:r>
              <a:t>        "detail": "자문가가 근거를 검토한 후 업무에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 지식·평가셋",</a:t>
            </a:r>
          </a:p>
          <a:p xmlns:a="http://schemas.openxmlformats.org/drawingml/2006/main">
            <a:r>
              <a:t>        "detail": "승인 지식·원문 위치·판본별 색인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"전문가 정답셋과 오류 유형별 회귀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"전문가 질문",</a:t>
            </a:r>
          </a:p>
          <a:p xmlns:a="http://schemas.openxmlformats.org/drawingml/2006/main">
            <a:r>
              <a:t>        "input": "질문의 업무 범위·자료 접근조건 확인",</a:t>
            </a:r>
          </a:p>
          <a:p xmlns:a="http://schemas.openxmlformats.org/drawingml/2006/main">
            <a:r>
              <a:t>        "process": "승인 지식·원문 위치·판본별 색인 구성",</a:t>
            </a:r>
          </a:p>
          <a:p xmlns:a="http://schemas.openxmlformats.org/drawingml/2006/main">
            <a:r>
              <a:t>        "output": "질문·업무 목적"</a:t>
            </a:r>
          </a:p>
          <a:p xmlns:a="http://schemas.openxmlformats.org/drawingml/2006/main">
            <a:r>
              <a:t>      },</a:t>
            </a:r>
          </a:p>
          <a:p xmlns:a="http://schemas.openxmlformats.org/drawingml/2006/main">
            <a:r>
              <a:t>      {</a:t>
            </a:r>
          </a:p>
          <a:p xmlns:a="http://schemas.openxmlformats.org/drawingml/2006/main">
            <a:r>
              <a:t>        "title": "사내 지식 검색",</a:t>
            </a:r>
          </a:p>
          <a:p xmlns:a="http://schemas.openxmlformats.org/drawingml/2006/main">
            <a:r>
              <a:t>        "input": "질문·업무 목적",</a:t>
            </a:r>
          </a:p>
          <a:p xmlns:a="http://schemas.openxmlformats.org/drawingml/2006/main">
            <a:r>
              <a:t>        "process": "관련 문서 검색과 근거 응답 생성",</a:t>
            </a:r>
          </a:p>
          <a:p xmlns:a="http://schemas.openxmlformats.org/drawingml/2006/main">
            <a:r>
              <a:t>        "output": "관련 문서"</a:t>
            </a:r>
          </a:p>
          <a:p xmlns:a="http://schemas.openxmlformats.org/drawingml/2006/main">
            <a:r>
              <a:t>      },</a:t>
            </a:r>
          </a:p>
          <a:p xmlns:a="http://schemas.openxmlformats.org/drawingml/2006/main">
            <a:r>
              <a:t>      {</a:t>
            </a:r>
          </a:p>
          <a:p xmlns:a="http://schemas.openxmlformats.org/drawingml/2006/main">
            <a:r>
              <a:t>        "title": "근거 응답",</a:t>
            </a:r>
          </a:p>
          <a:p xmlns:a="http://schemas.openxmlformats.org/drawingml/2006/main">
            <a:r>
              <a:t>        "input": "관련 문서",</a:t>
            </a:r>
          </a:p>
          <a:p xmlns:a="http://schemas.openxmlformats.org/drawingml/2006/main">
            <a:r>
              <a:t>        "process": "문서 개정 후 숨긴 평가셋 재검증",</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"title": "전문가 평가·개선",</a:t>
            </a:r>
          </a:p>
          <a:p xmlns:a="http://schemas.openxmlformats.org/drawingml/2006/main">
            <a:r>
              <a:t>        "input": "근거 답변",</a:t>
            </a:r>
          </a:p>
          <a:p xmlns:a="http://schemas.openxmlformats.org/drawingml/2006/main">
            <a:r>
              <a:t>        "process": "자문가가 근거를 검토한 후 업무에 활용",</a:t>
            </a:r>
          </a:p>
          <a:p xmlns:a="http://schemas.openxmlformats.org/drawingml/2006/main">
            <a:r>
              <a:t>        "output": "평가·수정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"전문가가 규정 질의의 답변·인용 원문·판본을 평가",</a:t>
            </a:r>
          </a:p>
          <a:p xmlns:a="http://schemas.openxmlformats.org/drawingml/2006/main">
            <a:r>
              <a:t>      "exception": "구버전 문서·근거 없는 질문·서로 다른 상품 조건",</a:t>
            </a:r>
          </a:p>
          <a:p xmlns:a="http://schemas.openxmlformats.org/drawingml/2006/main">
            <a:r>
              <a:t>      "evidence": "전문가 정답표와 근거 정확도·보류 적정성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"금융 자문가·지식관리자",</a:t>
            </a:r>
          </a:p>
          <a:p xmlns:a="http://schemas.openxmlformats.org/drawingml/2006/main">
            <a:r>
              <a:t>          "processing": "질문의 업무 범위·자료 접근조건 확인",</a:t>
            </a:r>
          </a:p>
          <a:p xmlns:a="http://schemas.openxmlformats.org/drawingml/2006/main">
            <a:r>
              <a:t>          "output": "질문·업무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 지식·평가셋",</a:t>
            </a:r>
          </a:p>
          <a:p xmlns:a="http://schemas.openxmlformats.org/drawingml/2006/main">
            <a:r>
              <a:t>          "processing": "승인 지식·원문 위치·판본별 색인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"질문·업무 목적",</a:t>
            </a:r>
          </a:p>
          <a:p xmlns:a="http://schemas.openxmlformats.org/drawingml/2006/main">
            <a:r>
              <a:t>          "processing": "관련 문서 검색과 근거 응답 생성",</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답변",</a:t>
            </a:r>
          </a:p>
          <a:p xmlns:a="http://schemas.openxmlformats.org/drawingml/2006/main">
            <a:r>
              <a:t>          "processing": "자문가가 근거를 검토한 후 업무에 활용",</a:t>
            </a:r>
          </a:p>
          <a:p xmlns:a="http://schemas.openxmlformats.org/drawingml/2006/main">
            <a:r>
              <a:t>          "output": "평가·수정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"전문가 정답셋과 오류 유형별 회귀 평가",</a:t>
            </a:r>
          </a:p>
          <a:p xmlns:a="http://schemas.openxmlformats.org/drawingml/2006/main">
            <a:r>
              <a:t>          "output": "전문가 정답표와 근거 정확도·보류 적정성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"전문가 정답셋과 오류 유형별 회귀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"S10",</a:t>
            </a:r>
          </a:p>
          <a:p xmlns:a="http://schemas.openxmlformats.org/drawingml/2006/main">
            <a:r>
              <a:t>        "title": "OpenAI · Morgan Stanley 평가·도입 사례",</a:t>
            </a:r>
          </a:p>
          <a:p xmlns:a="http://schemas.openxmlformats.org/drawingml/2006/main">
            <a:r>
              <a:t>        "url": "https://openai.com/index/morgan-stanley/",</a:t>
            </a:r>
          </a:p>
          <a:p xmlns:a="http://schemas.openxmlformats.org/drawingml/2006/main">
            <a:r>
              <a:t>        "published": "게시일 미표시",</a:t>
            </a:r>
          </a:p>
          <a:p xmlns:a="http://schemas.openxmlformats.org/drawingml/2006/main">
            <a:r>
              <a:t>        "level": "공급사 고객사례",</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"업무 전문가 정답셋과 변경 시 회귀 평가",</a:t>
            </a:r>
          </a:p>
          <a:p xmlns:a="http://schemas.openxmlformats.org/drawingml/2006/main">
            <a:r>
              <a:t>    "local": "부서별 규정·기술 기준·서식에 근거 위치와 판본을 연결",</a:t>
            </a:r>
          </a:p>
          <a:p xmlns:a="http://schemas.openxmlformats.org/drawingml/2006/main">
            <a:r>
              <a:t>    "sourceDetail": null,</a:t>
            </a:r>
          </a:p>
          <a:p xmlns:a="http://schemas.openxmlformats.org/drawingml/2006/main">
            <a:r>
              <a:t>    "narrative": [</a:t>
            </a:r>
          </a:p>
          <a:p xmlns:a="http://schemas.openxmlformats.org/drawingml/2006/main">
            <a:r>
              <a:t>      "금융 자문가가 승인된 사내 전문지식을 검색하고 근거 있는 답변을 얻도록 한 사례. 직원의 문서 탐색을 지원하면서 전문가 평가를 품질 개선에 연결한 접근.",</a:t>
            </a:r>
          </a:p>
          <a:p xmlns:a="http://schemas.openxmlformats.org/drawingml/2006/main">
            <a:r>
              <a:t>      "업무 질문의 자료 범위를 확인하고 관련 문서·원문 위치를 검색한 뒤 자문가가 답변을 검토하는 흐름. TS 적용 시 검사·인증·안전 규정별 전문가 정답셋과 문서 개정 이력을 연결하는 설계.",</a:t>
            </a:r>
          </a:p>
          <a:p xmlns:a="http://schemas.openxmlformats.org/drawingml/2006/main">
            <a:r>
              <a:t>      "활용자 수·도입 확대와 답변의 정답률을 구분해 평가할 필요. 숨긴 평가셋, 근거 조문 일치, 개정 후 회귀시험, 전문가 수정시간을 함께 수집하는 CCK 벤치마킹."</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"자문가 질문",</a:t>
            </a:r>
          </a:p>
          <a:p xmlns:a="http://schemas.openxmlformats.org/drawingml/2006/main">
            <a:r>
              <a:t>          "layer": "이용 접점",</a:t>
            </a:r>
          </a:p>
          <a:p xmlns:a="http://schemas.openxmlformats.org/drawingml/2006/main">
            <a:r>
              <a:t>          "detail": "금융 자문가·지식관리자",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"질의·접근 문맥",</a:t>
            </a:r>
          </a:p>
          <a:p xmlns:a="http://schemas.openxmlformats.org/drawingml/2006/main">
            <a:r>
              <a:t>          "layer": "업무 문맥",</a:t>
            </a:r>
          </a:p>
          <a:p xmlns:a="http://schemas.openxmlformats.org/drawingml/2006/main">
            <a:r>
              <a:t>          "detail": "질문의 업무 범위·자료 접근조건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문서 검색",</a:t>
            </a:r>
          </a:p>
          <a:p xmlns:a="http://schemas.openxmlformats.org/drawingml/2006/main">
            <a:r>
              <a:t>          "layer": "자료 조회",</a:t>
            </a:r>
          </a:p>
          <a:p xmlns:a="http://schemas.openxmlformats.org/drawingml/2006/main">
            <a:r>
              <a:t>          "detail": "질문·업무 목적",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응답 생성",</a:t>
            </a:r>
          </a:p>
          <a:p xmlns:a="http://schemas.openxmlformats.org/drawingml/2006/main">
            <a:r>
              <a:t>          "layer": "핵심 처리",</a:t>
            </a:r>
          </a:p>
          <a:p xmlns:a="http://schemas.openxmlformats.org/drawingml/2006/main">
            <a:r>
              <a:t>          "detail": "관련 문서 검색과 근거 응답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"문서·답변 대조",</a:t>
            </a:r>
          </a:p>
          <a:p xmlns:a="http://schemas.openxmlformats.org/drawingml/2006/main">
            <a:r>
              <a:t>          "layer": "결과 검증",</a:t>
            </a:r>
          </a:p>
          <a:p xmlns:a="http://schemas.openxmlformats.org/drawingml/2006/main">
            <a:r>
              <a:t>          "detail": "문서 개정 후 숨긴 평가셋 재검증",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"자문가 확인",</a:t>
            </a:r>
          </a:p>
          <a:p xmlns:a="http://schemas.openxmlformats.org/drawingml/2006/main">
            <a:r>
              <a:t>          "layer": "사람 확인",</a:t>
            </a:r>
          </a:p>
          <a:p xmlns:a="http://schemas.openxmlformats.org/drawingml/2006/main">
            <a:r>
              <a:t>          "detail": "전문가가 규정 질의의 답변·인용 원문·판본을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"상담 업무 활용",</a:t>
            </a:r>
          </a:p>
          <a:p xmlns:a="http://schemas.openxmlformats.org/drawingml/2006/main">
            <a:r>
              <a:t>          "layer": "업무 연결",</a:t>
            </a:r>
          </a:p>
          <a:p xmlns:a="http://schemas.openxmlformats.org/drawingml/2006/main">
            <a:r>
              <a:t>          "detail": "자문가가 근거를 검토한 후 업무에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"정답셋 회귀평가",</a:t>
            </a:r>
          </a:p>
          <a:p xmlns:a="http://schemas.openxmlformats.org/drawingml/2006/main">
            <a:r>
              <a:t>          "layer": "운영 관측",</a:t>
            </a:r>
          </a:p>
          <a:p xmlns:a="http://schemas.openxmlformats.org/drawingml/2006/main">
            <a:r>
              <a:t>          "detail": "전문가 정답셋과 오류 유형별 회귀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"승인 전문지식",</a:t>
            </a:r>
          </a:p>
          <a:p xmlns:a="http://schemas.openxmlformats.org/drawingml/2006/main">
            <a:r>
              <a:t>          "layer": "데이터 원천",</a:t>
            </a:r>
          </a:p>
          <a:p xmlns:a="http://schemas.openxmlformats.org/drawingml/2006/main">
            <a:r>
              <a:t>          "detail": "사내 지식·평가셋",</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"원문 위치·판본화",</a:t>
            </a:r>
          </a:p>
          <a:p xmlns:a="http://schemas.openxmlformats.org/drawingml/2006/main">
            <a:r>
              <a:t>          "layer": "준비·갱신",</a:t>
            </a:r>
          </a:p>
          <a:p xmlns:a="http://schemas.openxmlformats.org/drawingml/2006/main">
            <a:r>
              <a:t>          "detail": "승인 지식·원문 위치·판본별 색인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"문서·평가셋",</a:t>
            </a:r>
          </a:p>
          <a:p xmlns:a="http://schemas.openxmlformats.org/drawingml/2006/main">
            <a:r>
              <a:t>          "layer": "상태·지식 저장",</a:t>
            </a:r>
          </a:p>
          <a:p xmlns:a="http://schemas.openxmlformats.org/drawingml/2006/main">
            <a:r>
              <a:t>          "detail": "전문가 정답표와 근거 정확도·보류 적정성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"자료 접근정책",</a:t>
            </a:r>
          </a:p>
          <a:p xmlns:a="http://schemas.openxmlformats.org/drawingml/2006/main">
            <a:r>
              <a:t>          "layer": "권한·정책",</a:t>
            </a:r>
          </a:p>
          <a:p xmlns:a="http://schemas.openxmlformats.org/drawingml/2006/main">
            <a:r>
              <a:t>          "detail": "구버전 문서·근거 없는 질문·서로 다른 상품 조건",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"전문가 질문 → 사내 지식 검색 → 근거 응답 → 전문가 평가·개선"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"사내 지식·평가셋",</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"질문의 업무 범위·자료 접근조건 확인",</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"전문가 정답표와 근거 정확도·보류 적정성 결과",</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문서",</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답변",</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"전문가 지식 탐색과 정답 평가의 결합 / 지식 검색·근거 응답·전문가 평가",</a:t>
            </a:r>
          </a:p>
          <a:p xmlns:a="http://schemas.openxmlformats.org/drawingml/2006/main">
            <a:r>
              <a:t>        "extension": "부서별 규정·기술 기준·서식에 근거 위치와 판본을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"구버전 문서·근거 없는 질문·서로 다른 상품 조건",</a:t>
            </a:r>
          </a:p>
          <a:p xmlns:a="http://schemas.openxmlformats.org/drawingml/2006/main">
            <a:r>
              <a:t>        "hold": "문서 개정 후 숨긴 평가셋 재검증",</a:t>
            </a:r>
          </a:p>
          <a:p xmlns:a="http://schemas.openxmlformats.org/drawingml/2006/main">
            <a:r>
              <a:t>        "recovery": "전문가 정답셋과 오류 유형별 회귀 평가",</a:t>
            </a:r>
          </a:p>
          <a:p xmlns:a="http://schemas.openxmlformats.org/drawingml/2006/main">
            <a:r>
              <a:t>        "evidence": "전문가 정답표와 근거 정확도·보류 적정성 결과"</a:t>
            </a:r>
          </a:p>
          <a:p xmlns:a="http://schemas.openxmlformats.org/drawingml/2006/main">
            <a:r>
              <a:t>      },</a:t>
            </a:r>
          </a:p>
          <a:p xmlns:a="http://schemas.openxmlformats.org/drawingml/2006/main">
            <a:r>
              <a:t>      "data": {</a:t>
            </a:r>
          </a:p>
          <a:p xmlns:a="http://schemas.openxmlformats.org/drawingml/2006/main">
            <a:r>
              <a:t>        "source": "사내 지식·평가셋",</a:t>
            </a:r>
          </a:p>
          <a:p xmlns:a="http://schemas.openxmlformats.org/drawingml/2006/main">
            <a:r>
              <a:t>        "prepare": "승인 지식·원문 위치·판본별 색인 구성",</a:t>
            </a:r>
          </a:p>
          <a:p xmlns:a="http://schemas.openxmlformats.org/drawingml/2006/main">
            <a:r>
              <a:t>        "output": "질문·업무 목적",</a:t>
            </a:r>
          </a:p>
          <a:p xmlns:a="http://schemas.openxmlformats.org/drawingml/2006/main">
            <a:r>
              <a:t>        "refresh": "전문가 정답셋과 오류 유형별 회귀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"AX09",</a:t>
            </a:r>
          </a:p>
          <a:p xmlns:a="http://schemas.openxmlformats.org/drawingml/2006/main">
            <a:r>
              <a:t>    "success": [</a:t>
            </a:r>
          </a:p>
          <a:p xmlns:a="http://schemas.openxmlformats.org/drawingml/2006/main">
            <a:r>
              <a:t>      "전문가 평가셋과 지속 개선",</a:t>
            </a:r>
          </a:p>
          <a:p xmlns:a="http://schemas.openxmlformats.org/drawingml/2006/main">
            <a:r>
              <a:t>      "현업 지식을 업무 접점에서 검색"</a:t>
            </a:r>
          </a:p>
          <a:p xmlns:a="http://schemas.openxmlformats.org/drawingml/2006/main">
            <a:r>
              <a:t>    ],</a:t>
            </a:r>
          </a:p>
          <a:p xmlns:a="http://schemas.openxmlformats.org/drawingml/2006/main">
            <a:r>
              <a:t>    "risks": [</a:t>
            </a:r>
          </a:p>
          <a:p xmlns:a="http://schemas.openxmlformats.org/drawingml/2006/main">
            <a:r>
              <a:t>      "활용률과 정답률의 혼동",</a:t>
            </a:r>
          </a:p>
          <a:p xmlns:a="http://schemas.openxmlformats.org/drawingml/2006/main">
            <a:r>
              <a:t>      "자료 개정에 따른 답변 품질 저하"</a:t>
            </a:r>
          </a:p>
          <a:p xmlns:a="http://schemas.openxmlformats.org/drawingml/2006/main">
            <a:r>
              <a:t>    ],</a:t>
            </a:r>
          </a:p>
          <a:p xmlns:a="http://schemas.openxmlformats.org/drawingml/2006/main">
            <a:r>
              <a:t>    "architecture": [</a:t>
            </a:r>
          </a:p>
          <a:p xmlns:a="http://schemas.openxmlformats.org/drawingml/2006/main">
            <a:r>
              <a:t>      "자문가 질문",</a:t>
            </a:r>
          </a:p>
          <a:p xmlns:a="http://schemas.openxmlformats.org/drawingml/2006/main">
            <a:r>
              <a:t>      "지식 검색·근거 응답",</a:t>
            </a:r>
          </a:p>
          <a:p xmlns:a="http://schemas.openxmlformats.org/drawingml/2006/main">
            <a:r>
              <a:t>      "사내 지식·평가셋",</a:t>
            </a:r>
          </a:p>
          <a:p xmlns:a="http://schemas.openxmlformats.org/drawingml/2006/main">
            <a:r>
              <a:t>      "전문가 검토"</a:t>
            </a:r>
          </a:p>
          <a:p xmlns:a="http://schemas.openxmlformats.org/drawingml/2006/main">
            <a:r>
              <a:t>    ],</a:t>
            </a:r>
          </a:p>
          <a:p xmlns:a="http://schemas.openxmlformats.org/drawingml/2006/main">
            <a:r>
              <a:t>    "transfers": [</a:t>
            </a:r>
          </a:p>
          <a:p xmlns:a="http://schemas.openxmlformats.org/drawingml/2006/main">
            <a:r>
              <a:t>      "질문·업무 목적",</a:t>
            </a:r>
          </a:p>
          <a:p xmlns:a="http://schemas.openxmlformats.org/drawingml/2006/main">
            <a:r>
              <a:t>      "관련 문서",</a:t>
            </a:r>
          </a:p>
          <a:p xmlns:a="http://schemas.openxmlformats.org/drawingml/2006/main">
            <a:r>
              <a:t>      "근거 답변",</a:t>
            </a:r>
          </a:p>
          <a:p xmlns:a="http://schemas.openxmlformats.org/drawingml/2006/main">
            <a:r>
              <a:t>      "평가·수정 기록"</a:t>
            </a:r>
          </a:p>
          <a:p xmlns:a="http://schemas.openxmlformats.org/drawingml/2006/main">
            <a:r>
              <a:t>    ],</a:t>
            </a:r>
          </a:p>
          <a:p xmlns:a="http://schemas.openxmlformats.org/drawingml/2006/main">
            <a:r>
              <a:t>    "control": "문서 개정 후 숨긴 평가셋 재검증",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OpenAI · Morgan Stanley 평가·도입 사례 https://openai.com/index/morgan-stanley/</a:t>
            </a:r>
          </a:p>
          <a:p xmlns:a="http://schemas.openxmlformats.org/drawingml/2006/main">
            <a:r>
              <a:t>홈페이지 https://heen1987-ops.github.io/TS-business-Plan-001/index.html?view=casebook&amp;case=AX09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"AX09",</a:t>
            </a:r>
          </a:p>
          <a:p xmlns:a="http://schemas.openxmlformats.org/drawingml/2006/main">
            <a:r>
              <a:t>    "title": "Morgan Stanley 지식지원",</a:t>
            </a:r>
          </a:p>
          <a:p xmlns:a="http://schemas.openxmlformats.org/drawingml/2006/main">
            <a:r>
              <a:t>    "region": "해외",</a:t>
            </a:r>
          </a:p>
          <a:p xmlns:a="http://schemas.openxmlformats.org/drawingml/2006/main">
            <a:r>
              <a:t>    "country": "미국",</a:t>
            </a:r>
          </a:p>
          <a:p xmlns:a="http://schemas.openxmlformats.org/drawingml/2006/main">
            <a:r>
              <a:t>    "result": "성공",</a:t>
            </a:r>
          </a:p>
          <a:p xmlns:a="http://schemas.openxmlformats.org/drawingml/2006/main">
            <a:r>
              <a:t>    "kind": "전문가 업무·평가셋",</a:t>
            </a:r>
          </a:p>
          <a:p xmlns:a="http://schemas.openxmlformats.org/drawingml/2006/main">
            <a:r>
              <a:t>    "period": "출처 열람 2026.10",</a:t>
            </a:r>
          </a:p>
          <a:p xmlns:a="http://schemas.openxmlformats.org/drawingml/2006/main">
            <a:r>
              <a:t>    "sources": [</a:t>
            </a:r>
          </a:p>
          <a:p xmlns:a="http://schemas.openxmlformats.org/drawingml/2006/main">
            <a:r>
              <a:t>      "S10"</a:t>
            </a:r>
          </a:p>
          <a:p xmlns:a="http://schemas.openxmlformats.org/drawingml/2006/main">
            <a:r>
              <a:t>    ],</a:t>
            </a:r>
          </a:p>
          <a:p xmlns:a="http://schemas.openxmlformats.org/drawingml/2006/main">
            <a:r>
              <a:t>    "keywords": [</a:t>
            </a:r>
          </a:p>
          <a:p xmlns:a="http://schemas.openxmlformats.org/drawingml/2006/main">
            <a:r>
              <a:t>      "전문지식",</a:t>
            </a:r>
          </a:p>
          <a:p xmlns:a="http://schemas.openxmlformats.org/drawingml/2006/main">
            <a:r>
              <a:t>      "문서검색",</a:t>
            </a:r>
          </a:p>
          <a:p xmlns:a="http://schemas.openxmlformats.org/drawingml/2006/main">
            <a:r>
              <a:t>      "평가",</a:t>
            </a:r>
          </a:p>
          <a:p xmlns:a="http://schemas.openxmlformats.org/drawingml/2006/main">
            <a:r>
              <a:t>      "업무 품질"</a:t>
            </a:r>
          </a:p>
          <a:p xmlns:a="http://schemas.openxmlformats.org/drawingml/2006/main">
            <a:r>
              <a:t>    ],</a:t>
            </a:r>
          </a:p>
          <a:p xmlns:a="http://schemas.openxmlformats.org/drawingml/2006/main">
            <a:r>
              <a:t>    "fact": "공급사 고객사례에서 자문팀의 98% 초과 활용과 전문가 평가 기반 개선 체계 보고",</a:t>
            </a:r>
          </a:p>
          <a:p xmlns:a="http://schemas.openxmlformats.org/drawingml/2006/main">
            <a:r>
              <a:t>    "limit": "자문팀 기준 공급사 발표 · 생산성 인과효과·TS 정확도 근거와 구분",</a:t>
            </a:r>
          </a:p>
          <a:p xmlns:a="http://schemas.openxmlformats.org/drawingml/2006/main">
            <a:r>
              <a:t>    "flow": [</a:t>
            </a:r>
          </a:p>
          <a:p xmlns:a="http://schemas.openxmlformats.org/drawingml/2006/main">
            <a:r>
              <a:t>      "전문가 질문",</a:t>
            </a:r>
          </a:p>
          <a:p xmlns:a="http://schemas.openxmlformats.org/drawingml/2006/main">
            <a:r>
              <a:t>      "사내 지식 검색",</a:t>
            </a:r>
          </a:p>
          <a:p xmlns:a="http://schemas.openxmlformats.org/drawingml/2006/main">
            <a:r>
              <a:t>      "근거 응답",</a:t>
            </a:r>
          </a:p>
          <a:p xmlns:a="http://schemas.openxmlformats.org/drawingml/2006/main">
            <a:r>
              <a:t>      "전문가 평가·개선"</a:t>
            </a:r>
          </a:p>
          <a:p xmlns:a="http://schemas.openxmlformats.org/drawingml/2006/main">
            <a:r>
              <a:t>    ],</a:t>
            </a:r>
          </a:p>
          <a:p xmlns:a="http://schemas.openxmlformats.org/drawingml/2006/main">
            <a:r>
              <a:t>    "flowBasis": "고객사례의 검색·평가 설명 기반 재구성",</a:t>
            </a:r>
          </a:p>
          <a:p xmlns:a="http://schemas.openxmlformats.org/drawingml/2006/main">
            <a:r>
              <a:t>    "lesson": "업무 전문가 정답셋과 변경 시 회귀 평가",</a:t>
            </a:r>
          </a:p>
          <a:p xmlns:a="http://schemas.openxmlformats.org/drawingml/2006/main">
            <a:r>
              <a:t>    "local": "부서별 규정·기술 기준·서식에 근거 위치와 판본을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"직무별 평가셋 / 근거 위치 / 답변 보류 / 변경 영향 재평가",</a:t>
            </a:r>
          </a:p>
          <a:p xmlns:a="http://schemas.openxmlformats.org/drawingml/2006/main">
            <a:r>
              <a:t>    "test": "숨긴 평가셋의 근거 일치·판본 일치·거부율 평가",</a:t>
            </a:r>
          </a:p>
          <a:p xmlns:a="http://schemas.openxmlformats.org/drawingml/2006/main">
            <a:r>
              <a:t>    "metric": "근거 정확도 / 재작업률 / 지식 탐색시간"</a:t>
            </a:r>
          </a:p>
          <a:p xmlns:a="http://schemas.openxmlformats.org/drawingml/2006/main">
            <a:r>
              <a:t>  },</a:t>
            </a:r>
          </a:p>
          <a:p xmlns:a="http://schemas.openxmlformats.org/drawingml/2006/main">
            <a:r>
              <a:t>  "design": {</a:t>
            </a:r>
          </a:p>
          <a:p xmlns:a="http://schemas.openxmlformats.org/drawingml/2006/main">
            <a:r>
              <a:t>    "id": "AX09",</a:t>
            </a:r>
          </a:p>
          <a:p xmlns:a="http://schemas.openxmlformats.org/drawingml/2006/main">
            <a:r>
              <a:t>    "canonicalId": "AX09",</a:t>
            </a:r>
          </a:p>
          <a:p xmlns:a="http://schemas.openxmlformats.org/drawingml/2006/main">
            <a:r>
              <a:t>    "purpose": "전문가 지식 탐색과 정답 평가의 결합",</a:t>
            </a:r>
          </a:p>
          <a:p xmlns:a="http://schemas.openxmlformats.org/drawingml/2006/main">
            <a:r>
              <a:t>    "users": "금융 자문가·지식관리자",</a:t>
            </a:r>
          </a:p>
          <a:p xmlns:a="http://schemas.openxmlformats.org/drawingml/2006/main">
            <a:r>
              <a:t>    "scope": [</a:t>
            </a:r>
          </a:p>
          <a:p xmlns:a="http://schemas.openxmlformats.org/drawingml/2006/main">
            <a:r>
              <a:t>      "지식 검색",</a:t>
            </a:r>
          </a:p>
          <a:p xmlns:a="http://schemas.openxmlformats.org/drawingml/2006/main">
            <a:r>
              <a:t>      "근거 응답",</a:t>
            </a:r>
          </a:p>
          <a:p xmlns:a="http://schemas.openxmlformats.org/drawingml/2006/main">
            <a:r>
              <a:t>      "전문가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"자문가 질문",</a:t>
            </a:r>
          </a:p>
          <a:p xmlns:a="http://schemas.openxmlformats.org/drawingml/2006/main">
            <a:r>
              <a:t>        "detail": "질문의 업무 범위·자료 접근조건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"지식 검색 / 근거 응답 / 전문가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"지식 검색·근거 응답",</a:t>
            </a:r>
          </a:p>
          <a:p xmlns:a="http://schemas.openxmlformats.org/drawingml/2006/main">
            <a:r>
              <a:t>        "detail": "관련 문서 검색과 근거 응답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"전문가 검토",</a:t>
            </a:r>
          </a:p>
          <a:p xmlns:a="http://schemas.openxmlformats.org/drawingml/2006/main">
            <a:r>
              <a:t>        "detail": "자문가가 근거를 검토한 후 업무에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 지식·평가셋",</a:t>
            </a:r>
          </a:p>
          <a:p xmlns:a="http://schemas.openxmlformats.org/drawingml/2006/main">
            <a:r>
              <a:t>        "detail": "승인 지식·원문 위치·판본별 색인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"전문가 정답셋과 오류 유형별 회귀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"전문가 질문",</a:t>
            </a:r>
          </a:p>
          <a:p xmlns:a="http://schemas.openxmlformats.org/drawingml/2006/main">
            <a:r>
              <a:t>        "input": "질문의 업무 범위·자료 접근조건 확인",</a:t>
            </a:r>
          </a:p>
          <a:p xmlns:a="http://schemas.openxmlformats.org/drawingml/2006/main">
            <a:r>
              <a:t>        "process": "승인 지식·원문 위치·판본별 색인 구성",</a:t>
            </a:r>
          </a:p>
          <a:p xmlns:a="http://schemas.openxmlformats.org/drawingml/2006/main">
            <a:r>
              <a:t>        "output": "질문·업무 목적"</a:t>
            </a:r>
          </a:p>
          <a:p xmlns:a="http://schemas.openxmlformats.org/drawingml/2006/main">
            <a:r>
              <a:t>      },</a:t>
            </a:r>
          </a:p>
          <a:p xmlns:a="http://schemas.openxmlformats.org/drawingml/2006/main">
            <a:r>
              <a:t>      {</a:t>
            </a:r>
          </a:p>
          <a:p xmlns:a="http://schemas.openxmlformats.org/drawingml/2006/main">
            <a:r>
              <a:t>        "title": "사내 지식 검색",</a:t>
            </a:r>
          </a:p>
          <a:p xmlns:a="http://schemas.openxmlformats.org/drawingml/2006/main">
            <a:r>
              <a:t>        "input": "질문·업무 목적",</a:t>
            </a:r>
          </a:p>
          <a:p xmlns:a="http://schemas.openxmlformats.org/drawingml/2006/main">
            <a:r>
              <a:t>        "process": "관련 문서 검색과 근거 응답 생성",</a:t>
            </a:r>
          </a:p>
          <a:p xmlns:a="http://schemas.openxmlformats.org/drawingml/2006/main">
            <a:r>
              <a:t>        "output": "관련 문서"</a:t>
            </a:r>
          </a:p>
          <a:p xmlns:a="http://schemas.openxmlformats.org/drawingml/2006/main">
            <a:r>
              <a:t>      },</a:t>
            </a:r>
          </a:p>
          <a:p xmlns:a="http://schemas.openxmlformats.org/drawingml/2006/main">
            <a:r>
              <a:t>      {</a:t>
            </a:r>
          </a:p>
          <a:p xmlns:a="http://schemas.openxmlformats.org/drawingml/2006/main">
            <a:r>
              <a:t>        "title": "근거 응답",</a:t>
            </a:r>
          </a:p>
          <a:p xmlns:a="http://schemas.openxmlformats.org/drawingml/2006/main">
            <a:r>
              <a:t>        "input": "관련 문서",</a:t>
            </a:r>
          </a:p>
          <a:p xmlns:a="http://schemas.openxmlformats.org/drawingml/2006/main">
            <a:r>
              <a:t>        "process": "문서 개정 후 숨긴 평가셋 재검증",</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"title": "전문가 평가·개선",</a:t>
            </a:r>
          </a:p>
          <a:p xmlns:a="http://schemas.openxmlformats.org/drawingml/2006/main">
            <a:r>
              <a:t>        "input": "근거 답변",</a:t>
            </a:r>
          </a:p>
          <a:p xmlns:a="http://schemas.openxmlformats.org/drawingml/2006/main">
            <a:r>
              <a:t>        "process": "자문가가 근거를 검토한 후 업무에 활용",</a:t>
            </a:r>
          </a:p>
          <a:p xmlns:a="http://schemas.openxmlformats.org/drawingml/2006/main">
            <a:r>
              <a:t>        "output": "평가·수정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"전문가가 규정 질의의 답변·인용 원문·판본을 평가",</a:t>
            </a:r>
          </a:p>
          <a:p xmlns:a="http://schemas.openxmlformats.org/drawingml/2006/main">
            <a:r>
              <a:t>      "exception": "구버전 문서·근거 없는 질문·서로 다른 상품 조건",</a:t>
            </a:r>
          </a:p>
          <a:p xmlns:a="http://schemas.openxmlformats.org/drawingml/2006/main">
            <a:r>
              <a:t>      "evidence": "전문가 정답표와 근거 정확도·보류 적정성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"금융 자문가·지식관리자",</a:t>
            </a:r>
          </a:p>
          <a:p xmlns:a="http://schemas.openxmlformats.org/drawingml/2006/main">
            <a:r>
              <a:t>          "processing": "질문의 업무 범위·자료 접근조건 확인",</a:t>
            </a:r>
          </a:p>
          <a:p xmlns:a="http://schemas.openxmlformats.org/drawingml/2006/main">
            <a:r>
              <a:t>          "output": "질문·업무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 지식·평가셋",</a:t>
            </a:r>
          </a:p>
          <a:p xmlns:a="http://schemas.openxmlformats.org/drawingml/2006/main">
            <a:r>
              <a:t>          "processing": "승인 지식·원문 위치·판본별 색인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"질문·업무 목적",</a:t>
            </a:r>
          </a:p>
          <a:p xmlns:a="http://schemas.openxmlformats.org/drawingml/2006/main">
            <a:r>
              <a:t>          "processing": "관련 문서 검색과 근거 응답 생성",</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답변",</a:t>
            </a:r>
          </a:p>
          <a:p xmlns:a="http://schemas.openxmlformats.org/drawingml/2006/main">
            <a:r>
              <a:t>          "processing": "자문가가 근거를 검토한 후 업무에 활용",</a:t>
            </a:r>
          </a:p>
          <a:p xmlns:a="http://schemas.openxmlformats.org/drawingml/2006/main">
            <a:r>
              <a:t>          "output": "평가·수정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"전문가 정답셋과 오류 유형별 회귀 평가",</a:t>
            </a:r>
          </a:p>
          <a:p xmlns:a="http://schemas.openxmlformats.org/drawingml/2006/main">
            <a:r>
              <a:t>          "output": "전문가 정답표와 근거 정확도·보류 적정성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"전문가 정답셋과 오류 유형별 회귀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"S10",</a:t>
            </a:r>
          </a:p>
          <a:p xmlns:a="http://schemas.openxmlformats.org/drawingml/2006/main">
            <a:r>
              <a:t>        "title": "OpenAI · Morgan Stanley 평가·도입 사례",</a:t>
            </a:r>
          </a:p>
          <a:p xmlns:a="http://schemas.openxmlformats.org/drawingml/2006/main">
            <a:r>
              <a:t>        "url": "https://openai.com/index/morgan-stanley/",</a:t>
            </a:r>
          </a:p>
          <a:p xmlns:a="http://schemas.openxmlformats.org/drawingml/2006/main">
            <a:r>
              <a:t>        "published": "게시일 미표시",</a:t>
            </a:r>
          </a:p>
          <a:p xmlns:a="http://schemas.openxmlformats.org/drawingml/2006/main">
            <a:r>
              <a:t>        "level": "공급사 고객사례",</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"업무 전문가 정답셋과 변경 시 회귀 평가",</a:t>
            </a:r>
          </a:p>
          <a:p xmlns:a="http://schemas.openxmlformats.org/drawingml/2006/main">
            <a:r>
              <a:t>    "local": "부서별 규정·기술 기준·서식에 근거 위치와 판본을 연결",</a:t>
            </a:r>
          </a:p>
          <a:p xmlns:a="http://schemas.openxmlformats.org/drawingml/2006/main">
            <a:r>
              <a:t>    "sourceDetail": null,</a:t>
            </a:r>
          </a:p>
          <a:p xmlns:a="http://schemas.openxmlformats.org/drawingml/2006/main">
            <a:r>
              <a:t>    "narrative": [</a:t>
            </a:r>
          </a:p>
          <a:p xmlns:a="http://schemas.openxmlformats.org/drawingml/2006/main">
            <a:r>
              <a:t>      "금융 자문가가 승인된 사내 전문지식을 검색하고 근거 있는 답변을 얻도록 한 사례. 직원의 문서 탐색을 지원하면서 전문가 평가를 품질 개선에 연결한 접근.",</a:t>
            </a:r>
          </a:p>
          <a:p xmlns:a="http://schemas.openxmlformats.org/drawingml/2006/main">
            <a:r>
              <a:t>      "업무 질문의 자료 범위를 확인하고 관련 문서·원문 위치를 검색한 뒤 자문가가 답변을 검토하는 흐름. TS 적용 시 검사·인증·안전 규정별 전문가 정답셋과 문서 개정 이력을 연결하는 설계.",</a:t>
            </a:r>
          </a:p>
          <a:p xmlns:a="http://schemas.openxmlformats.org/drawingml/2006/main">
            <a:r>
              <a:t>      "활용자 수·도입 확대와 답변의 정답률을 구분해 평가할 필요. 숨긴 평가셋, 근거 조문 일치, 개정 후 회귀시험, 전문가 수정시간을 함께 수집하는 CCK 벤치마킹."</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"자문가 질문",</a:t>
            </a:r>
          </a:p>
          <a:p xmlns:a="http://schemas.openxmlformats.org/drawingml/2006/main">
            <a:r>
              <a:t>          "layer": "이용 접점",</a:t>
            </a:r>
          </a:p>
          <a:p xmlns:a="http://schemas.openxmlformats.org/drawingml/2006/main">
            <a:r>
              <a:t>          "detail": "금융 자문가·지식관리자",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"질의·접근 문맥",</a:t>
            </a:r>
          </a:p>
          <a:p xmlns:a="http://schemas.openxmlformats.org/drawingml/2006/main">
            <a:r>
              <a:t>          "layer": "업무 문맥",</a:t>
            </a:r>
          </a:p>
          <a:p xmlns:a="http://schemas.openxmlformats.org/drawingml/2006/main">
            <a:r>
              <a:t>          "detail": "질문의 업무 범위·자료 접근조건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문서 검색",</a:t>
            </a:r>
          </a:p>
          <a:p xmlns:a="http://schemas.openxmlformats.org/drawingml/2006/main">
            <a:r>
              <a:t>          "layer": "자료 조회",</a:t>
            </a:r>
          </a:p>
          <a:p xmlns:a="http://schemas.openxmlformats.org/drawingml/2006/main">
            <a:r>
              <a:t>          "detail": "질문·업무 목적",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응답 생성",</a:t>
            </a:r>
          </a:p>
          <a:p xmlns:a="http://schemas.openxmlformats.org/drawingml/2006/main">
            <a:r>
              <a:t>          "layer": "핵심 처리",</a:t>
            </a:r>
          </a:p>
          <a:p xmlns:a="http://schemas.openxmlformats.org/drawingml/2006/main">
            <a:r>
              <a:t>          "detail": "관련 문서 검색과 근거 응답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"문서·답변 대조",</a:t>
            </a:r>
          </a:p>
          <a:p xmlns:a="http://schemas.openxmlformats.org/drawingml/2006/main">
            <a:r>
              <a:t>          "layer": "결과 검증",</a:t>
            </a:r>
          </a:p>
          <a:p xmlns:a="http://schemas.openxmlformats.org/drawingml/2006/main">
            <a:r>
              <a:t>          "detail": "문서 개정 후 숨긴 평가셋 재검증",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"자문가 확인",</a:t>
            </a:r>
          </a:p>
          <a:p xmlns:a="http://schemas.openxmlformats.org/drawingml/2006/main">
            <a:r>
              <a:t>          "layer": "사람 확인",</a:t>
            </a:r>
          </a:p>
          <a:p xmlns:a="http://schemas.openxmlformats.org/drawingml/2006/main">
            <a:r>
              <a:t>          "detail": "전문가가 규정 질의의 답변·인용 원문·판본을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"상담 업무 활용",</a:t>
            </a:r>
          </a:p>
          <a:p xmlns:a="http://schemas.openxmlformats.org/drawingml/2006/main">
            <a:r>
              <a:t>          "layer": "업무 연결",</a:t>
            </a:r>
          </a:p>
          <a:p xmlns:a="http://schemas.openxmlformats.org/drawingml/2006/main">
            <a:r>
              <a:t>          "detail": "자문가가 근거를 검토한 후 업무에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"정답셋 회귀평가",</a:t>
            </a:r>
          </a:p>
          <a:p xmlns:a="http://schemas.openxmlformats.org/drawingml/2006/main">
            <a:r>
              <a:t>          "layer": "운영 관측",</a:t>
            </a:r>
          </a:p>
          <a:p xmlns:a="http://schemas.openxmlformats.org/drawingml/2006/main">
            <a:r>
              <a:t>          "detail": "전문가 정답셋과 오류 유형별 회귀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"승인 전문지식",</a:t>
            </a:r>
          </a:p>
          <a:p xmlns:a="http://schemas.openxmlformats.org/drawingml/2006/main">
            <a:r>
              <a:t>          "layer": "데이터 원천",</a:t>
            </a:r>
          </a:p>
          <a:p xmlns:a="http://schemas.openxmlformats.org/drawingml/2006/main">
            <a:r>
              <a:t>          "detail": "사내 지식·평가셋",</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"원문 위치·판본화",</a:t>
            </a:r>
          </a:p>
          <a:p xmlns:a="http://schemas.openxmlformats.org/drawingml/2006/main">
            <a:r>
              <a:t>          "layer": "준비·갱신",</a:t>
            </a:r>
          </a:p>
          <a:p xmlns:a="http://schemas.openxmlformats.org/drawingml/2006/main">
            <a:r>
              <a:t>          "detail": "승인 지식·원문 위치·판본별 색인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"문서·평가셋",</a:t>
            </a:r>
          </a:p>
          <a:p xmlns:a="http://schemas.openxmlformats.org/drawingml/2006/main">
            <a:r>
              <a:t>          "layer": "상태·지식 저장",</a:t>
            </a:r>
          </a:p>
          <a:p xmlns:a="http://schemas.openxmlformats.org/drawingml/2006/main">
            <a:r>
              <a:t>          "detail": "전문가 정답표와 근거 정확도·보류 적정성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"자료 접근정책",</a:t>
            </a:r>
          </a:p>
          <a:p xmlns:a="http://schemas.openxmlformats.org/drawingml/2006/main">
            <a:r>
              <a:t>          "layer": "권한·정책",</a:t>
            </a:r>
          </a:p>
          <a:p xmlns:a="http://schemas.openxmlformats.org/drawingml/2006/main">
            <a:r>
              <a:t>          "detail": "구버전 문서·근거 없는 질문·서로 다른 상품 조건",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"전문가 질문 → 사내 지식 검색 → 근거 응답 → 전문가 평가·개선"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"사내 지식·평가셋",</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"질문의 업무 범위·자료 접근조건 확인",</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"전문가 정답표와 근거 정확도·보류 적정성 결과",</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문서",</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답변",</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"전문가 지식 탐색과 정답 평가의 결합 / 지식 검색·근거 응답·전문가 평가",</a:t>
            </a:r>
          </a:p>
          <a:p xmlns:a="http://schemas.openxmlformats.org/drawingml/2006/main">
            <a:r>
              <a:t>        "extension": "부서별 규정·기술 기준·서식에 근거 위치와 판본을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"구버전 문서·근거 없는 질문·서로 다른 상품 조건",</a:t>
            </a:r>
          </a:p>
          <a:p xmlns:a="http://schemas.openxmlformats.org/drawingml/2006/main">
            <a:r>
              <a:t>        "hold": "문서 개정 후 숨긴 평가셋 재검증",</a:t>
            </a:r>
          </a:p>
          <a:p xmlns:a="http://schemas.openxmlformats.org/drawingml/2006/main">
            <a:r>
              <a:t>        "recovery": "전문가 정답셋과 오류 유형별 회귀 평가",</a:t>
            </a:r>
          </a:p>
          <a:p xmlns:a="http://schemas.openxmlformats.org/drawingml/2006/main">
            <a:r>
              <a:t>        "evidence": "전문가 정답표와 근거 정확도·보류 적정성 결과"</a:t>
            </a:r>
          </a:p>
          <a:p xmlns:a="http://schemas.openxmlformats.org/drawingml/2006/main">
            <a:r>
              <a:t>      },</a:t>
            </a:r>
          </a:p>
          <a:p xmlns:a="http://schemas.openxmlformats.org/drawingml/2006/main">
            <a:r>
              <a:t>      "data": {</a:t>
            </a:r>
          </a:p>
          <a:p xmlns:a="http://schemas.openxmlformats.org/drawingml/2006/main">
            <a:r>
              <a:t>        "source": "사내 지식·평가셋",</a:t>
            </a:r>
          </a:p>
          <a:p xmlns:a="http://schemas.openxmlformats.org/drawingml/2006/main">
            <a:r>
              <a:t>        "prepare": "승인 지식·원문 위치·판본별 색인 구성",</a:t>
            </a:r>
          </a:p>
          <a:p xmlns:a="http://schemas.openxmlformats.org/drawingml/2006/main">
            <a:r>
              <a:t>        "output": "질문·업무 목적",</a:t>
            </a:r>
          </a:p>
          <a:p xmlns:a="http://schemas.openxmlformats.org/drawingml/2006/main">
            <a:r>
              <a:t>        "refresh": "전문가 정답셋과 오류 유형별 회귀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"AX09",</a:t>
            </a:r>
          </a:p>
          <a:p xmlns:a="http://schemas.openxmlformats.org/drawingml/2006/main">
            <a:r>
              <a:t>    "success": [</a:t>
            </a:r>
          </a:p>
          <a:p xmlns:a="http://schemas.openxmlformats.org/drawingml/2006/main">
            <a:r>
              <a:t>      "전문가 평가셋과 지속 개선",</a:t>
            </a:r>
          </a:p>
          <a:p xmlns:a="http://schemas.openxmlformats.org/drawingml/2006/main">
            <a:r>
              <a:t>      "현업 지식을 업무 접점에서 검색"</a:t>
            </a:r>
          </a:p>
          <a:p xmlns:a="http://schemas.openxmlformats.org/drawingml/2006/main">
            <a:r>
              <a:t>    ],</a:t>
            </a:r>
          </a:p>
          <a:p xmlns:a="http://schemas.openxmlformats.org/drawingml/2006/main">
            <a:r>
              <a:t>    "risks": [</a:t>
            </a:r>
          </a:p>
          <a:p xmlns:a="http://schemas.openxmlformats.org/drawingml/2006/main">
            <a:r>
              <a:t>      "활용률과 정답률의 혼동",</a:t>
            </a:r>
          </a:p>
          <a:p xmlns:a="http://schemas.openxmlformats.org/drawingml/2006/main">
            <a:r>
              <a:t>      "자료 개정에 따른 답변 품질 저하"</a:t>
            </a:r>
          </a:p>
          <a:p xmlns:a="http://schemas.openxmlformats.org/drawingml/2006/main">
            <a:r>
              <a:t>    ],</a:t>
            </a:r>
          </a:p>
          <a:p xmlns:a="http://schemas.openxmlformats.org/drawingml/2006/main">
            <a:r>
              <a:t>    "architecture": [</a:t>
            </a:r>
          </a:p>
          <a:p xmlns:a="http://schemas.openxmlformats.org/drawingml/2006/main">
            <a:r>
              <a:t>      "자문가 질문",</a:t>
            </a:r>
          </a:p>
          <a:p xmlns:a="http://schemas.openxmlformats.org/drawingml/2006/main">
            <a:r>
              <a:t>      "지식 검색·근거 응답",</a:t>
            </a:r>
          </a:p>
          <a:p xmlns:a="http://schemas.openxmlformats.org/drawingml/2006/main">
            <a:r>
              <a:t>      "사내 지식·평가셋",</a:t>
            </a:r>
          </a:p>
          <a:p xmlns:a="http://schemas.openxmlformats.org/drawingml/2006/main">
            <a:r>
              <a:t>      "전문가 검토"</a:t>
            </a:r>
          </a:p>
          <a:p xmlns:a="http://schemas.openxmlformats.org/drawingml/2006/main">
            <a:r>
              <a:t>    ],</a:t>
            </a:r>
          </a:p>
          <a:p xmlns:a="http://schemas.openxmlformats.org/drawingml/2006/main">
            <a:r>
              <a:t>    "transfers": [</a:t>
            </a:r>
          </a:p>
          <a:p xmlns:a="http://schemas.openxmlformats.org/drawingml/2006/main">
            <a:r>
              <a:t>      "질문·업무 목적",</a:t>
            </a:r>
          </a:p>
          <a:p xmlns:a="http://schemas.openxmlformats.org/drawingml/2006/main">
            <a:r>
              <a:t>      "관련 문서",</a:t>
            </a:r>
          </a:p>
          <a:p xmlns:a="http://schemas.openxmlformats.org/drawingml/2006/main">
            <a:r>
              <a:t>      "근거 답변",</a:t>
            </a:r>
          </a:p>
          <a:p xmlns:a="http://schemas.openxmlformats.org/drawingml/2006/main">
            <a:r>
              <a:t>      "평가·수정 기록"</a:t>
            </a:r>
          </a:p>
          <a:p xmlns:a="http://schemas.openxmlformats.org/drawingml/2006/main">
            <a:r>
              <a:t>    ],</a:t>
            </a:r>
          </a:p>
          <a:p xmlns:a="http://schemas.openxmlformats.org/drawingml/2006/main">
            <a:r>
              <a:t>    "control": "문서 개정 후 숨긴 평가셋 재검증",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OpenAI · Morgan Stanley 평가·도입 사례 https://openai.com/index/morgan-stanley/</a:t>
            </a:r>
          </a:p>
          <a:p xmlns:a="http://schemas.openxmlformats.org/drawingml/2006/main">
            <a:r>
              <a:t>홈페이지 https://heen1987-ops.github.io/TS-business-Plan-001/index.html?view=casebook&amp;case=AX09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"AX09",</a:t>
            </a:r>
          </a:p>
          <a:p xmlns:a="http://schemas.openxmlformats.org/drawingml/2006/main">
            <a:r>
              <a:t>    "title": "Morgan Stanley 지식지원",</a:t>
            </a:r>
          </a:p>
          <a:p xmlns:a="http://schemas.openxmlformats.org/drawingml/2006/main">
            <a:r>
              <a:t>    "region": "해외",</a:t>
            </a:r>
          </a:p>
          <a:p xmlns:a="http://schemas.openxmlformats.org/drawingml/2006/main">
            <a:r>
              <a:t>    "country": "미국",</a:t>
            </a:r>
          </a:p>
          <a:p xmlns:a="http://schemas.openxmlformats.org/drawingml/2006/main">
            <a:r>
              <a:t>    "result": "성공",</a:t>
            </a:r>
          </a:p>
          <a:p xmlns:a="http://schemas.openxmlformats.org/drawingml/2006/main">
            <a:r>
              <a:t>    "kind": "전문가 업무·평가셋",</a:t>
            </a:r>
          </a:p>
          <a:p xmlns:a="http://schemas.openxmlformats.org/drawingml/2006/main">
            <a:r>
              <a:t>    "period": "출처 열람 2026.10",</a:t>
            </a:r>
          </a:p>
          <a:p xmlns:a="http://schemas.openxmlformats.org/drawingml/2006/main">
            <a:r>
              <a:t>    "sources": [</a:t>
            </a:r>
          </a:p>
          <a:p xmlns:a="http://schemas.openxmlformats.org/drawingml/2006/main">
            <a:r>
              <a:t>      "S10"</a:t>
            </a:r>
          </a:p>
          <a:p xmlns:a="http://schemas.openxmlformats.org/drawingml/2006/main">
            <a:r>
              <a:t>    ],</a:t>
            </a:r>
          </a:p>
          <a:p xmlns:a="http://schemas.openxmlformats.org/drawingml/2006/main">
            <a:r>
              <a:t>    "keywords": [</a:t>
            </a:r>
          </a:p>
          <a:p xmlns:a="http://schemas.openxmlformats.org/drawingml/2006/main">
            <a:r>
              <a:t>      "전문지식",</a:t>
            </a:r>
          </a:p>
          <a:p xmlns:a="http://schemas.openxmlformats.org/drawingml/2006/main">
            <a:r>
              <a:t>      "문서검색",</a:t>
            </a:r>
          </a:p>
          <a:p xmlns:a="http://schemas.openxmlformats.org/drawingml/2006/main">
            <a:r>
              <a:t>      "평가",</a:t>
            </a:r>
          </a:p>
          <a:p xmlns:a="http://schemas.openxmlformats.org/drawingml/2006/main">
            <a:r>
              <a:t>      "업무 품질"</a:t>
            </a:r>
          </a:p>
          <a:p xmlns:a="http://schemas.openxmlformats.org/drawingml/2006/main">
            <a:r>
              <a:t>    ],</a:t>
            </a:r>
          </a:p>
          <a:p xmlns:a="http://schemas.openxmlformats.org/drawingml/2006/main">
            <a:r>
              <a:t>    "fact": "공급사 고객사례에서 자문팀의 98% 초과 활용과 전문가 평가 기반 개선 체계 보고",</a:t>
            </a:r>
          </a:p>
          <a:p xmlns:a="http://schemas.openxmlformats.org/drawingml/2006/main">
            <a:r>
              <a:t>    "limit": "자문팀 기준 공급사 발표 · 생산성 인과효과·TS 정확도 근거와 구분",</a:t>
            </a:r>
          </a:p>
          <a:p xmlns:a="http://schemas.openxmlformats.org/drawingml/2006/main">
            <a:r>
              <a:t>    "flow": [</a:t>
            </a:r>
          </a:p>
          <a:p xmlns:a="http://schemas.openxmlformats.org/drawingml/2006/main">
            <a:r>
              <a:t>      "전문가 질문",</a:t>
            </a:r>
          </a:p>
          <a:p xmlns:a="http://schemas.openxmlformats.org/drawingml/2006/main">
            <a:r>
              <a:t>      "사내 지식 검색",</a:t>
            </a:r>
          </a:p>
          <a:p xmlns:a="http://schemas.openxmlformats.org/drawingml/2006/main">
            <a:r>
              <a:t>      "근거 응답",</a:t>
            </a:r>
          </a:p>
          <a:p xmlns:a="http://schemas.openxmlformats.org/drawingml/2006/main">
            <a:r>
              <a:t>      "전문가 평가·개선"</a:t>
            </a:r>
          </a:p>
          <a:p xmlns:a="http://schemas.openxmlformats.org/drawingml/2006/main">
            <a:r>
              <a:t>    ],</a:t>
            </a:r>
          </a:p>
          <a:p xmlns:a="http://schemas.openxmlformats.org/drawingml/2006/main">
            <a:r>
              <a:t>    "flowBasis": "고객사례의 검색·평가 설명 기반 재구성",</a:t>
            </a:r>
          </a:p>
          <a:p xmlns:a="http://schemas.openxmlformats.org/drawingml/2006/main">
            <a:r>
              <a:t>    "lesson": "업무 전문가 정답셋과 변경 시 회귀 평가",</a:t>
            </a:r>
          </a:p>
          <a:p xmlns:a="http://schemas.openxmlformats.org/drawingml/2006/main">
            <a:r>
              <a:t>    "local": "부서별 규정·기술 기준·서식에 근거 위치와 판본을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"직무별 평가셋 / 근거 위치 / 답변 보류 / 변경 영향 재평가",</a:t>
            </a:r>
          </a:p>
          <a:p xmlns:a="http://schemas.openxmlformats.org/drawingml/2006/main">
            <a:r>
              <a:t>    "test": "숨긴 평가셋의 근거 일치·판본 일치·거부율 평가",</a:t>
            </a:r>
          </a:p>
          <a:p xmlns:a="http://schemas.openxmlformats.org/drawingml/2006/main">
            <a:r>
              <a:t>    "metric": "근거 정확도 / 재작업률 / 지식 탐색시간"</a:t>
            </a:r>
          </a:p>
          <a:p xmlns:a="http://schemas.openxmlformats.org/drawingml/2006/main">
            <a:r>
              <a:t>  },</a:t>
            </a:r>
          </a:p>
          <a:p xmlns:a="http://schemas.openxmlformats.org/drawingml/2006/main">
            <a:r>
              <a:t>  "design": {</a:t>
            </a:r>
          </a:p>
          <a:p xmlns:a="http://schemas.openxmlformats.org/drawingml/2006/main">
            <a:r>
              <a:t>    "id": "AX09",</a:t>
            </a:r>
          </a:p>
          <a:p xmlns:a="http://schemas.openxmlformats.org/drawingml/2006/main">
            <a:r>
              <a:t>    "canonicalId": "AX09",</a:t>
            </a:r>
          </a:p>
          <a:p xmlns:a="http://schemas.openxmlformats.org/drawingml/2006/main">
            <a:r>
              <a:t>    "purpose": "전문가 지식 탐색과 정답 평가의 결합",</a:t>
            </a:r>
          </a:p>
          <a:p xmlns:a="http://schemas.openxmlformats.org/drawingml/2006/main">
            <a:r>
              <a:t>    "users": "금융 자문가·지식관리자",</a:t>
            </a:r>
          </a:p>
          <a:p xmlns:a="http://schemas.openxmlformats.org/drawingml/2006/main">
            <a:r>
              <a:t>    "scope": [</a:t>
            </a:r>
          </a:p>
          <a:p xmlns:a="http://schemas.openxmlformats.org/drawingml/2006/main">
            <a:r>
              <a:t>      "지식 검색",</a:t>
            </a:r>
          </a:p>
          <a:p xmlns:a="http://schemas.openxmlformats.org/drawingml/2006/main">
            <a:r>
              <a:t>      "근거 응답",</a:t>
            </a:r>
          </a:p>
          <a:p xmlns:a="http://schemas.openxmlformats.org/drawingml/2006/main">
            <a:r>
              <a:t>      "전문가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"자문가 질문",</a:t>
            </a:r>
          </a:p>
          <a:p xmlns:a="http://schemas.openxmlformats.org/drawingml/2006/main">
            <a:r>
              <a:t>        "detail": "질문의 업무 범위·자료 접근조건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"지식 검색 / 근거 응답 / 전문가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"지식 검색·근거 응답",</a:t>
            </a:r>
          </a:p>
          <a:p xmlns:a="http://schemas.openxmlformats.org/drawingml/2006/main">
            <a:r>
              <a:t>        "detail": "관련 문서 검색과 근거 응답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"전문가 검토",</a:t>
            </a:r>
          </a:p>
          <a:p xmlns:a="http://schemas.openxmlformats.org/drawingml/2006/main">
            <a:r>
              <a:t>        "detail": "자문가가 근거를 검토한 후 업무에 활용",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"사내 지식·평가셋",</a:t>
            </a:r>
          </a:p>
          <a:p xmlns:a="http://schemas.openxmlformats.org/drawingml/2006/main">
            <a:r>
              <a:t>        "detail": "승인 지식·원문 위치·판본별 색인 구성",</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"전문가 정답셋과 오류 유형별 회귀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"전문가 질문",</a:t>
            </a:r>
          </a:p>
          <a:p xmlns:a="http://schemas.openxmlformats.org/drawingml/2006/main">
            <a:r>
              <a:t>        "input": "질문의 업무 범위·자료 접근조건 확인",</a:t>
            </a:r>
          </a:p>
          <a:p xmlns:a="http://schemas.openxmlformats.org/drawingml/2006/main">
            <a:r>
              <a:t>        "process": "승인 지식·원문 위치·판본별 색인 구성",</a:t>
            </a:r>
          </a:p>
          <a:p xmlns:a="http://schemas.openxmlformats.org/drawingml/2006/main">
            <a:r>
              <a:t>        "output": "질문·업무 목적"</a:t>
            </a:r>
          </a:p>
          <a:p xmlns:a="http://schemas.openxmlformats.org/drawingml/2006/main">
            <a:r>
              <a:t>      },</a:t>
            </a:r>
          </a:p>
          <a:p xmlns:a="http://schemas.openxmlformats.org/drawingml/2006/main">
            <a:r>
              <a:t>      {</a:t>
            </a:r>
          </a:p>
          <a:p xmlns:a="http://schemas.openxmlformats.org/drawingml/2006/main">
            <a:r>
              <a:t>        "title": "사내 지식 검색",</a:t>
            </a:r>
          </a:p>
          <a:p xmlns:a="http://schemas.openxmlformats.org/drawingml/2006/main">
            <a:r>
              <a:t>        "input": "질문·업무 목적",</a:t>
            </a:r>
          </a:p>
          <a:p xmlns:a="http://schemas.openxmlformats.org/drawingml/2006/main">
            <a:r>
              <a:t>        "process": "관련 문서 검색과 근거 응답 생성",</a:t>
            </a:r>
          </a:p>
          <a:p xmlns:a="http://schemas.openxmlformats.org/drawingml/2006/main">
            <a:r>
              <a:t>        "output": "관련 문서"</a:t>
            </a:r>
          </a:p>
          <a:p xmlns:a="http://schemas.openxmlformats.org/drawingml/2006/main">
            <a:r>
              <a:t>      },</a:t>
            </a:r>
          </a:p>
          <a:p xmlns:a="http://schemas.openxmlformats.org/drawingml/2006/main">
            <a:r>
              <a:t>      {</a:t>
            </a:r>
          </a:p>
          <a:p xmlns:a="http://schemas.openxmlformats.org/drawingml/2006/main">
            <a:r>
              <a:t>        "title": "근거 응답",</a:t>
            </a:r>
          </a:p>
          <a:p xmlns:a="http://schemas.openxmlformats.org/drawingml/2006/main">
            <a:r>
              <a:t>        "input": "관련 문서",</a:t>
            </a:r>
          </a:p>
          <a:p xmlns:a="http://schemas.openxmlformats.org/drawingml/2006/main">
            <a:r>
              <a:t>        "process": "문서 개정 후 숨긴 평가셋 재검증",</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"title": "전문가 평가·개선",</a:t>
            </a:r>
          </a:p>
          <a:p xmlns:a="http://schemas.openxmlformats.org/drawingml/2006/main">
            <a:r>
              <a:t>        "input": "근거 답변",</a:t>
            </a:r>
          </a:p>
          <a:p xmlns:a="http://schemas.openxmlformats.org/drawingml/2006/main">
            <a:r>
              <a:t>        "process": "자문가가 근거를 검토한 후 업무에 활용",</a:t>
            </a:r>
          </a:p>
          <a:p xmlns:a="http://schemas.openxmlformats.org/drawingml/2006/main">
            <a:r>
              <a:t>        "output": "평가·수정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"전문가가 규정 질의의 답변·인용 원문·판본을 평가",</a:t>
            </a:r>
          </a:p>
          <a:p xmlns:a="http://schemas.openxmlformats.org/drawingml/2006/main">
            <a:r>
              <a:t>      "exception": "구버전 문서·근거 없는 질문·서로 다른 상품 조건",</a:t>
            </a:r>
          </a:p>
          <a:p xmlns:a="http://schemas.openxmlformats.org/drawingml/2006/main">
            <a:r>
              <a:t>      "evidence": "전문가 정답표와 근거 정확도·보류 적정성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"금융 자문가·지식관리자",</a:t>
            </a:r>
          </a:p>
          <a:p xmlns:a="http://schemas.openxmlformats.org/drawingml/2006/main">
            <a:r>
              <a:t>          "processing": "질문의 업무 범위·자료 접근조건 확인",</a:t>
            </a:r>
          </a:p>
          <a:p xmlns:a="http://schemas.openxmlformats.org/drawingml/2006/main">
            <a:r>
              <a:t>          "output": "질문·업무 목적"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"사내 지식·평가셋",</a:t>
            </a:r>
          </a:p>
          <a:p xmlns:a="http://schemas.openxmlformats.org/drawingml/2006/main">
            <a:r>
              <a:t>          "processing": "승인 지식·원문 위치·판본별 색인 구성",</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"질문·업무 목적",</a:t>
            </a:r>
          </a:p>
          <a:p xmlns:a="http://schemas.openxmlformats.org/drawingml/2006/main">
            <a:r>
              <a:t>          "processing": "관련 문서 검색과 근거 응답 생성",</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답변",</a:t>
            </a:r>
          </a:p>
          <a:p xmlns:a="http://schemas.openxmlformats.org/drawingml/2006/main">
            <a:r>
              <a:t>          "processing": "자문가가 근거를 검토한 후 업무에 활용",</a:t>
            </a:r>
          </a:p>
          <a:p xmlns:a="http://schemas.openxmlformats.org/drawingml/2006/main">
            <a:r>
              <a:t>          "output": "평가·수정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"전문가 정답셋과 오류 유형별 회귀 평가",</a:t>
            </a:r>
          </a:p>
          <a:p xmlns:a="http://schemas.openxmlformats.org/drawingml/2006/main">
            <a:r>
              <a:t>          "output": "전문가 정답표와 근거 정확도·보류 적정성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"전문가 정답셋과 오류 유형별 회귀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"S10",</a:t>
            </a:r>
          </a:p>
          <a:p xmlns:a="http://schemas.openxmlformats.org/drawingml/2006/main">
            <a:r>
              <a:t>        "title": "OpenAI · Morgan Stanley 평가·도입 사례",</a:t>
            </a:r>
          </a:p>
          <a:p xmlns:a="http://schemas.openxmlformats.org/drawingml/2006/main">
            <a:r>
              <a:t>        "url": "https://openai.com/index/morgan-stanley/",</a:t>
            </a:r>
          </a:p>
          <a:p xmlns:a="http://schemas.openxmlformats.org/drawingml/2006/main">
            <a:r>
              <a:t>        "published": "게시일 미표시",</a:t>
            </a:r>
          </a:p>
          <a:p xmlns:a="http://schemas.openxmlformats.org/drawingml/2006/main">
            <a:r>
              <a:t>        "level": "공급사 고객사례",</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"업무 전문가 정답셋과 변경 시 회귀 평가",</a:t>
            </a:r>
          </a:p>
          <a:p xmlns:a="http://schemas.openxmlformats.org/drawingml/2006/main">
            <a:r>
              <a:t>    "local": "부서별 규정·기술 기준·서식에 근거 위치와 판본을 연결",</a:t>
            </a:r>
          </a:p>
          <a:p xmlns:a="http://schemas.openxmlformats.org/drawingml/2006/main">
            <a:r>
              <a:t>    "sourceDetail": null,</a:t>
            </a:r>
          </a:p>
          <a:p xmlns:a="http://schemas.openxmlformats.org/drawingml/2006/main">
            <a:r>
              <a:t>    "narrative": [</a:t>
            </a:r>
          </a:p>
          <a:p xmlns:a="http://schemas.openxmlformats.org/drawingml/2006/main">
            <a:r>
              <a:t>      "금융 자문가가 승인된 사내 전문지식을 검색하고 근거 있는 답변을 얻도록 한 사례. 직원의 문서 탐색을 지원하면서 전문가 평가를 품질 개선에 연결한 접근.",</a:t>
            </a:r>
          </a:p>
          <a:p xmlns:a="http://schemas.openxmlformats.org/drawingml/2006/main">
            <a:r>
              <a:t>      "업무 질문의 자료 범위를 확인하고 관련 문서·원문 위치를 검색한 뒤 자문가가 답변을 검토하는 흐름. TS 적용 시 검사·인증·안전 규정별 전문가 정답셋과 문서 개정 이력을 연결하는 설계.",</a:t>
            </a:r>
          </a:p>
          <a:p xmlns:a="http://schemas.openxmlformats.org/drawingml/2006/main">
            <a:r>
              <a:t>      "활용자 수·도입 확대와 답변의 정답률을 구분해 평가할 필요. 숨긴 평가셋, 근거 조문 일치, 개정 후 회귀시험, 전문가 수정시간을 함께 수집하는 CCK 벤치마킹."</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"자문가 질문",</a:t>
            </a:r>
          </a:p>
          <a:p xmlns:a="http://schemas.openxmlformats.org/drawingml/2006/main">
            <a:r>
              <a:t>          "layer": "이용 접점",</a:t>
            </a:r>
          </a:p>
          <a:p xmlns:a="http://schemas.openxmlformats.org/drawingml/2006/main">
            <a:r>
              <a:t>          "detail": "금융 자문가·지식관리자",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"질의·접근 문맥",</a:t>
            </a:r>
          </a:p>
          <a:p xmlns:a="http://schemas.openxmlformats.org/drawingml/2006/main">
            <a:r>
              <a:t>          "layer": "업무 문맥",</a:t>
            </a:r>
          </a:p>
          <a:p xmlns:a="http://schemas.openxmlformats.org/drawingml/2006/main">
            <a:r>
              <a:t>          "detail": "질문의 업무 범위·자료 접근조건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문서 검색",</a:t>
            </a:r>
          </a:p>
          <a:p xmlns:a="http://schemas.openxmlformats.org/drawingml/2006/main">
            <a:r>
              <a:t>          "layer": "자료 조회",</a:t>
            </a:r>
          </a:p>
          <a:p xmlns:a="http://schemas.openxmlformats.org/drawingml/2006/main">
            <a:r>
              <a:t>          "detail": "질문·업무 목적",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응답 생성",</a:t>
            </a:r>
          </a:p>
          <a:p xmlns:a="http://schemas.openxmlformats.org/drawingml/2006/main">
            <a:r>
              <a:t>          "layer": "핵심 처리",</a:t>
            </a:r>
          </a:p>
          <a:p xmlns:a="http://schemas.openxmlformats.org/drawingml/2006/main">
            <a:r>
              <a:t>          "detail": "관련 문서 검색과 근거 응답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"문서·답변 대조",</a:t>
            </a:r>
          </a:p>
          <a:p xmlns:a="http://schemas.openxmlformats.org/drawingml/2006/main">
            <a:r>
              <a:t>          "layer": "결과 검증",</a:t>
            </a:r>
          </a:p>
          <a:p xmlns:a="http://schemas.openxmlformats.org/drawingml/2006/main">
            <a:r>
              <a:t>          "detail": "문서 개정 후 숨긴 평가셋 재검증",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"자문가 확인",</a:t>
            </a:r>
          </a:p>
          <a:p xmlns:a="http://schemas.openxmlformats.org/drawingml/2006/main">
            <a:r>
              <a:t>          "layer": "사람 확인",</a:t>
            </a:r>
          </a:p>
          <a:p xmlns:a="http://schemas.openxmlformats.org/drawingml/2006/main">
            <a:r>
              <a:t>          "detail": "전문가가 규정 질의의 답변·인용 원문·판본을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"상담 업무 활용",</a:t>
            </a:r>
          </a:p>
          <a:p xmlns:a="http://schemas.openxmlformats.org/drawingml/2006/main">
            <a:r>
              <a:t>          "layer": "업무 연결",</a:t>
            </a:r>
          </a:p>
          <a:p xmlns:a="http://schemas.openxmlformats.org/drawingml/2006/main">
            <a:r>
              <a:t>          "detail": "자문가가 근거를 검토한 후 업무에 활용",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"정답셋 회귀평가",</a:t>
            </a:r>
          </a:p>
          <a:p xmlns:a="http://schemas.openxmlformats.org/drawingml/2006/main">
            <a:r>
              <a:t>          "layer": "운영 관측",</a:t>
            </a:r>
          </a:p>
          <a:p xmlns:a="http://schemas.openxmlformats.org/drawingml/2006/main">
            <a:r>
              <a:t>          "detail": "전문가 정답셋과 오류 유형별 회귀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"승인 전문지식",</a:t>
            </a:r>
          </a:p>
          <a:p xmlns:a="http://schemas.openxmlformats.org/drawingml/2006/main">
            <a:r>
              <a:t>          "layer": "데이터 원천",</a:t>
            </a:r>
          </a:p>
          <a:p xmlns:a="http://schemas.openxmlformats.org/drawingml/2006/main">
            <a:r>
              <a:t>          "detail": "사내 지식·평가셋",</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"원문 위치·판본화",</a:t>
            </a:r>
          </a:p>
          <a:p xmlns:a="http://schemas.openxmlformats.org/drawingml/2006/main">
            <a:r>
              <a:t>          "layer": "준비·갱신",</a:t>
            </a:r>
          </a:p>
          <a:p xmlns:a="http://schemas.openxmlformats.org/drawingml/2006/main">
            <a:r>
              <a:t>          "detail": "승인 지식·원문 위치·판본별 색인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"문서·평가셋",</a:t>
            </a:r>
          </a:p>
          <a:p xmlns:a="http://schemas.openxmlformats.org/drawingml/2006/main">
            <a:r>
              <a:t>          "layer": "상태·지식 저장",</a:t>
            </a:r>
          </a:p>
          <a:p xmlns:a="http://schemas.openxmlformats.org/drawingml/2006/main">
            <a:r>
              <a:t>          "detail": "전문가 정답표와 근거 정확도·보류 적정성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"자료 접근정책",</a:t>
            </a:r>
          </a:p>
          <a:p xmlns:a="http://schemas.openxmlformats.org/drawingml/2006/main">
            <a:r>
              <a:t>          "layer": "권한·정책",</a:t>
            </a:r>
          </a:p>
          <a:p xmlns:a="http://schemas.openxmlformats.org/drawingml/2006/main">
            <a:r>
              <a:t>          "detail": "구버전 문서·근거 없는 질문·서로 다른 상품 조건",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"전문가 질문 → 사내 지식 검색 → 근거 응답 → 전문가 평가·개선"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"사내 지식·평가셋",</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"질문의 업무 범위·자료 접근조건 확인",</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"전문가 정답표와 근거 정확도·보류 적정성 결과",</a:t>
            </a:r>
          </a:p>
          <a:p xmlns:a="http://schemas.openxmlformats.org/drawingml/2006/main">
            <a:r>
              <a:t>          "check": "승인 지식·원문 위치·판본별 색인 구성"</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문서",</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답변",</a:t>
            </a:r>
          </a:p>
          <a:p xmlns:a="http://schemas.openxmlformats.org/drawingml/2006/main">
            <a:r>
              <a:t>          "check": "전문가 정답표와 근거 정확도·보류 적정성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"전문가 지식 탐색과 정답 평가의 결합 / 지식 검색·근거 응답·전문가 평가",</a:t>
            </a:r>
          </a:p>
          <a:p xmlns:a="http://schemas.openxmlformats.org/drawingml/2006/main">
            <a:r>
              <a:t>        "extension": "부서별 규정·기술 기준·서식에 근거 위치와 판본을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"구버전 문서·근거 없는 질문·서로 다른 상품 조건",</a:t>
            </a:r>
          </a:p>
          <a:p xmlns:a="http://schemas.openxmlformats.org/drawingml/2006/main">
            <a:r>
              <a:t>        "hold": "문서 개정 후 숨긴 평가셋 재검증",</a:t>
            </a:r>
          </a:p>
          <a:p xmlns:a="http://schemas.openxmlformats.org/drawingml/2006/main">
            <a:r>
              <a:t>        "recovery": "전문가 정답셋과 오류 유형별 회귀 평가",</a:t>
            </a:r>
          </a:p>
          <a:p xmlns:a="http://schemas.openxmlformats.org/drawingml/2006/main">
            <a:r>
              <a:t>        "evidence": "전문가 정답표와 근거 정확도·보류 적정성 결과"</a:t>
            </a:r>
          </a:p>
          <a:p xmlns:a="http://schemas.openxmlformats.org/drawingml/2006/main">
            <a:r>
              <a:t>      },</a:t>
            </a:r>
          </a:p>
          <a:p xmlns:a="http://schemas.openxmlformats.org/drawingml/2006/main">
            <a:r>
              <a:t>      "data": {</a:t>
            </a:r>
          </a:p>
          <a:p xmlns:a="http://schemas.openxmlformats.org/drawingml/2006/main">
            <a:r>
              <a:t>        "source": "사내 지식·평가셋",</a:t>
            </a:r>
          </a:p>
          <a:p xmlns:a="http://schemas.openxmlformats.org/drawingml/2006/main">
            <a:r>
              <a:t>        "prepare": "승인 지식·원문 위치·판본별 색인 구성",</a:t>
            </a:r>
          </a:p>
          <a:p xmlns:a="http://schemas.openxmlformats.org/drawingml/2006/main">
            <a:r>
              <a:t>        "output": "질문·업무 목적",</a:t>
            </a:r>
          </a:p>
          <a:p xmlns:a="http://schemas.openxmlformats.org/drawingml/2006/main">
            <a:r>
              <a:t>        "refresh": "전문가 정답셋과 오류 유형별 회귀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"AX09",</a:t>
            </a:r>
          </a:p>
          <a:p xmlns:a="http://schemas.openxmlformats.org/drawingml/2006/main">
            <a:r>
              <a:t>    "success": [</a:t>
            </a:r>
          </a:p>
          <a:p xmlns:a="http://schemas.openxmlformats.org/drawingml/2006/main">
            <a:r>
              <a:t>      "전문가 평가셋과 지속 개선",</a:t>
            </a:r>
          </a:p>
          <a:p xmlns:a="http://schemas.openxmlformats.org/drawingml/2006/main">
            <a:r>
              <a:t>      "현업 지식을 업무 접점에서 검색"</a:t>
            </a:r>
          </a:p>
          <a:p xmlns:a="http://schemas.openxmlformats.org/drawingml/2006/main">
            <a:r>
              <a:t>    ],</a:t>
            </a:r>
          </a:p>
          <a:p xmlns:a="http://schemas.openxmlformats.org/drawingml/2006/main">
            <a:r>
              <a:t>    "risks": [</a:t>
            </a:r>
          </a:p>
          <a:p xmlns:a="http://schemas.openxmlformats.org/drawingml/2006/main">
            <a:r>
              <a:t>      "활용률과 정답률의 혼동",</a:t>
            </a:r>
          </a:p>
          <a:p xmlns:a="http://schemas.openxmlformats.org/drawingml/2006/main">
            <a:r>
              <a:t>      "자료 개정에 따른 답변 품질 저하"</a:t>
            </a:r>
          </a:p>
          <a:p xmlns:a="http://schemas.openxmlformats.org/drawingml/2006/main">
            <a:r>
              <a:t>    ],</a:t>
            </a:r>
          </a:p>
          <a:p xmlns:a="http://schemas.openxmlformats.org/drawingml/2006/main">
            <a:r>
              <a:t>    "architecture": [</a:t>
            </a:r>
          </a:p>
          <a:p xmlns:a="http://schemas.openxmlformats.org/drawingml/2006/main">
            <a:r>
              <a:t>      "자문가 질문",</a:t>
            </a:r>
          </a:p>
          <a:p xmlns:a="http://schemas.openxmlformats.org/drawingml/2006/main">
            <a:r>
              <a:t>      "지식 검색·근거 응답",</a:t>
            </a:r>
          </a:p>
          <a:p xmlns:a="http://schemas.openxmlformats.org/drawingml/2006/main">
            <a:r>
              <a:t>      "사내 지식·평가셋",</a:t>
            </a:r>
          </a:p>
          <a:p xmlns:a="http://schemas.openxmlformats.org/drawingml/2006/main">
            <a:r>
              <a:t>      "전문가 검토"</a:t>
            </a:r>
          </a:p>
          <a:p xmlns:a="http://schemas.openxmlformats.org/drawingml/2006/main">
            <a:r>
              <a:t>    ],</a:t>
            </a:r>
          </a:p>
          <a:p xmlns:a="http://schemas.openxmlformats.org/drawingml/2006/main">
            <a:r>
              <a:t>    "transfers": [</a:t>
            </a:r>
          </a:p>
          <a:p xmlns:a="http://schemas.openxmlformats.org/drawingml/2006/main">
            <a:r>
              <a:t>      "질문·업무 목적",</a:t>
            </a:r>
          </a:p>
          <a:p xmlns:a="http://schemas.openxmlformats.org/drawingml/2006/main">
            <a:r>
              <a:t>      "관련 문서",</a:t>
            </a:r>
          </a:p>
          <a:p xmlns:a="http://schemas.openxmlformats.org/drawingml/2006/main">
            <a:r>
              <a:t>      "근거 답변",</a:t>
            </a:r>
          </a:p>
          <a:p xmlns:a="http://schemas.openxmlformats.org/drawingml/2006/main">
            <a:r>
              <a:t>      "평가·수정 기록"</a:t>
            </a:r>
          </a:p>
          <a:p xmlns:a="http://schemas.openxmlformats.org/drawingml/2006/main">
            <a:r>
              <a:t>    ],</a:t>
            </a:r>
          </a:p>
          <a:p xmlns:a="http://schemas.openxmlformats.org/drawingml/2006/main">
            <a:r>
              <a:t>    "control": "문서 개정 후 숨긴 평가셋 재검증",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OpenAI · Morgan Stanley 평가·도입 사례 https://openai.com/index/morgan-stanley/</a:t>
            </a:r>
          </a:p>
          <a:p xmlns:a="http://schemas.openxmlformats.org/drawingml/2006/main">
            <a:r>
              <a:t>홈페이지 https://heen1987-ops.github.io/TS-business-Plan-001/index.html?view=casebook&amp;case=AX09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"AX10",</a:t>
            </a:r>
          </a:p>
          <a:p xmlns:a="http://schemas.openxmlformats.org/drawingml/2006/main">
            <a:r>
              <a:t>    "title": "스키폴 Deep Turnaround",</a:t>
            </a:r>
          </a:p>
          <a:p xmlns:a="http://schemas.openxmlformats.org/drawingml/2006/main">
            <a:r>
              <a:t>    "region": "해외",</a:t>
            </a:r>
          </a:p>
          <a:p xmlns:a="http://schemas.openxmlformats.org/drawingml/2006/main">
            <a:r>
              <a:t>    "country": "네덜란드",</a:t>
            </a:r>
          </a:p>
          <a:p xmlns:a="http://schemas.openxmlformats.org/drawingml/2006/main">
            <a:r>
              <a:t>    "result": "성공",</a:t>
            </a:r>
          </a:p>
          <a:p xmlns:a="http://schemas.openxmlformats.org/drawingml/2006/main">
            <a:r>
              <a:t>    "kind": "공항 지상조업 영상 분석",</a:t>
            </a:r>
          </a:p>
          <a:p xmlns:a="http://schemas.openxmlformats.org/drawingml/2006/main">
            <a:r>
              <a:t>    "period": "운영 사례",</a:t>
            </a:r>
          </a:p>
          <a:p xmlns:a="http://schemas.openxmlformats.org/drawingml/2006/main">
            <a:r>
              <a:t>    "sources": [</a:t>
            </a:r>
          </a:p>
          <a:p xmlns:a="http://schemas.openxmlformats.org/drawingml/2006/main">
            <a:r>
              <a:t>      "S-AX10"</a:t>
            </a:r>
          </a:p>
          <a:p xmlns:a="http://schemas.openxmlformats.org/drawingml/2006/main">
            <a:r>
              <a:t>    ],</a:t>
            </a:r>
          </a:p>
          <a:p xmlns:a="http://schemas.openxmlformats.org/drawingml/2006/main">
            <a:r>
              <a:t>    "keywords": [</a:t>
            </a:r>
          </a:p>
          <a:p xmlns:a="http://schemas.openxmlformats.org/drawingml/2006/main">
            <a:r>
              <a:t>      "공항 지상조업 영상 분석"</a:t>
            </a:r>
          </a:p>
          <a:p xmlns:a="http://schemas.openxmlformats.org/drawingml/2006/main">
            <a:r>
              <a:t>    ],</a:t>
            </a:r>
          </a:p>
          <a:p xmlns:a="http://schemas.openxmlformats.org/drawingml/2006/main">
            <a:r>
              <a:t>    "fact": "카메라 영상에서 지상조업 진행 상태를 추출하여 공항·조업 담당자의 협업에 활용",</a:t>
            </a:r>
          </a:p>
          <a:p xmlns:a="http://schemas.openxmlformats.org/drawingml/2006/main">
            <a:r>
              <a:t>    "limit": "운영기관 발표 · TS 감독 업무와 공항 조업 운영의 역할 차이",</a:t>
            </a:r>
          </a:p>
          <a:p xmlns:a="http://schemas.openxmlformats.org/drawingml/2006/main">
            <a:r>
              <a:t>    "flow": [</a:t>
            </a:r>
          </a:p>
          <a:p xmlns:a="http://schemas.openxmlformats.org/drawingml/2006/main">
            <a:r>
              <a:t>      "카메라 영상",</a:t>
            </a:r>
          </a:p>
          <a:p xmlns:a="http://schemas.openxmlformats.org/drawingml/2006/main">
            <a:r>
              <a:t>      "조업 상태 인식",</a:t>
            </a:r>
          </a:p>
          <a:p xmlns:a="http://schemas.openxmlformats.org/drawingml/2006/main">
            <a:r>
              <a:t>      "대시보드·API",</a:t>
            </a:r>
          </a:p>
          <a:p xmlns:a="http://schemas.openxmlformats.org/drawingml/2006/main">
            <a:r>
              <a:t>      "담당자 조정"</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"현장 이벤트의 공동 상황판 연결",</a:t>
            </a:r>
          </a:p>
          <a:p xmlns:a="http://schemas.openxmlformats.org/drawingml/2006/main">
            <a:r>
              <a:t>    "local": "교통안전 점검 사건·담당자·보고 시점을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"사건 분류·증거 시각·협업 인계",</a:t>
            </a:r>
          </a:p>
          <a:p xmlns:a="http://schemas.openxmlformats.org/drawingml/2006/main">
            <a:r>
              <a:t>    "test": "지연·중복 이벤트와 원영상 대조",</a:t>
            </a:r>
          </a:p>
          <a:p xmlns:a="http://schemas.openxmlformats.org/drawingml/2006/main">
            <a:r>
              <a:t>    "metric": "상황 확인시간 / 인계 누락률",</a:t>
            </a:r>
          </a:p>
          <a:p xmlns:a="http://schemas.openxmlformats.org/drawingml/2006/main">
            <a:r>
              <a:t>    "strategies": [</a:t>
            </a:r>
          </a:p>
          <a:p xmlns:a="http://schemas.openxmlformats.org/drawingml/2006/main">
            <a:r>
              <a:t>      "ST-03",</a:t>
            </a:r>
          </a:p>
          <a:p xmlns:a="http://schemas.openxmlformats.org/drawingml/2006/main">
            <a:r>
              <a:t>      "ST-05",</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"AX10",</a:t>
            </a:r>
          </a:p>
          <a:p xmlns:a="http://schemas.openxmlformats.org/drawingml/2006/main">
            <a:r>
              <a:t>    "canonicalId": "AX10",</a:t>
            </a:r>
          </a:p>
          <a:p xmlns:a="http://schemas.openxmlformats.org/drawingml/2006/main">
            <a:r>
              <a:t>    "purpose": "항공기 지상조업 진행상태의 공동 파악",</a:t>
            </a:r>
          </a:p>
          <a:p xmlns:a="http://schemas.openxmlformats.org/drawingml/2006/main">
            <a:r>
              <a:t>    "users": "공항·항공사·조업 담당자",</a:t>
            </a:r>
          </a:p>
          <a:p xmlns:a="http://schemas.openxmlformats.org/drawingml/2006/main">
            <a:r>
              <a:t>    "scope": [</a:t>
            </a:r>
          </a:p>
          <a:p xmlns:a="http://schemas.openxmlformats.org/drawingml/2006/main">
            <a:r>
              <a:t>      "영상 분석",</a:t>
            </a:r>
          </a:p>
          <a:p xmlns:a="http://schemas.openxmlformats.org/drawingml/2006/main">
            <a:r>
              <a:t>      "조업 단계",</a:t>
            </a:r>
          </a:p>
          <a:p xmlns:a="http://schemas.openxmlformats.org/drawingml/2006/main">
            <a:r>
              <a:t>      "협업 알림"</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"계류장 카메라",</a:t>
            </a:r>
          </a:p>
          <a:p xmlns:a="http://schemas.openxmlformats.org/drawingml/2006/main">
            <a:r>
              <a:t>        "detail": "항공편·주기장·관측시각 매핑",</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"영상 분석 / 조업 단계 / 협업 알림",</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"조업 이벤트 인식",</a:t>
            </a:r>
          </a:p>
          <a:p xmlns:a="http://schemas.openxmlformats.org/drawingml/2006/main">
            <a:r>
              <a:t>        "detail": "영상에서 조업 이벤트와 상태 추출",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"공항·조업 담당",</a:t>
            </a:r>
          </a:p>
          <a:p xmlns:a="http://schemas.openxmlformats.org/drawingml/2006/main">
            <a:r>
              <a:t>        "detail": "지연 예상과 확인 필요 상태를 조업 담당자에게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"시간별 조업 상태",</a:t>
            </a:r>
          </a:p>
          <a:p xmlns:a="http://schemas.openxmlformats.org/drawingml/2006/main">
            <a:r>
              <a:t>        "detail": "카메라 프레임·항공편 일정·상태 이력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"누락 이벤트와 실제 이륙 준비상태 대조",</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"카메라 영상",</a:t>
            </a:r>
          </a:p>
          <a:p xmlns:a="http://schemas.openxmlformats.org/drawingml/2006/main">
            <a:r>
              <a:t>        "input": "항공편·주기장·관측시각 매핑",</a:t>
            </a:r>
          </a:p>
          <a:p xmlns:a="http://schemas.openxmlformats.org/drawingml/2006/main">
            <a:r>
              <a:t>        "process": "카메라 프레임·항공편 일정·상태 이력 연결",</a:t>
            </a:r>
          </a:p>
          <a:p xmlns:a="http://schemas.openxmlformats.org/drawingml/2006/main">
            <a:r>
              <a:t>        "output": "영상 프레임"</a:t>
            </a:r>
          </a:p>
          <a:p xmlns:a="http://schemas.openxmlformats.org/drawingml/2006/main">
            <a:r>
              <a:t>      },</a:t>
            </a:r>
          </a:p>
          <a:p xmlns:a="http://schemas.openxmlformats.org/drawingml/2006/main">
            <a:r>
              <a:t>      {</a:t>
            </a:r>
          </a:p>
          <a:p xmlns:a="http://schemas.openxmlformats.org/drawingml/2006/main">
            <a:r>
              <a:t>        "title": "조업 상태 인식",</a:t>
            </a:r>
          </a:p>
          <a:p xmlns:a="http://schemas.openxmlformats.org/drawingml/2006/main">
            <a:r>
              <a:t>        "input": "영상 프레임",</a:t>
            </a:r>
          </a:p>
          <a:p xmlns:a="http://schemas.openxmlformats.org/drawingml/2006/main">
            <a:r>
              <a:t>        "process": "영상에서 조업 이벤트와 상태 추출",</a:t>
            </a:r>
          </a:p>
          <a:p xmlns:a="http://schemas.openxmlformats.org/drawingml/2006/main">
            <a:r>
              <a:t>        "output": "이벤트·시각"</a:t>
            </a:r>
          </a:p>
          <a:p xmlns:a="http://schemas.openxmlformats.org/drawingml/2006/main">
            <a:r>
              <a:t>      },</a:t>
            </a:r>
          </a:p>
          <a:p xmlns:a="http://schemas.openxmlformats.org/drawingml/2006/main">
            <a:r>
              <a:t>      {</a:t>
            </a:r>
          </a:p>
          <a:p xmlns:a="http://schemas.openxmlformats.org/drawingml/2006/main">
            <a:r>
              <a:t>        "title": "대시보드·API",</a:t>
            </a:r>
          </a:p>
          <a:p xmlns:a="http://schemas.openxmlformats.org/drawingml/2006/main">
            <a:r>
              <a:t>        "input": "이벤트·시각",</a:t>
            </a:r>
          </a:p>
          <a:p xmlns:a="http://schemas.openxmlformats.org/drawingml/2006/main">
            <a:r>
              <a:t>        "process": "현장 기준 이벤트와 탐지 시각 대조",</a:t>
            </a:r>
          </a:p>
          <a:p xmlns:a="http://schemas.openxmlformats.org/drawingml/2006/main">
            <a:r>
              <a:t>        "output": "대시보드·API 상태"</a:t>
            </a:r>
          </a:p>
          <a:p xmlns:a="http://schemas.openxmlformats.org/drawingml/2006/main">
            <a:r>
              <a:t>      },</a:t>
            </a:r>
          </a:p>
          <a:p xmlns:a="http://schemas.openxmlformats.org/drawingml/2006/main">
            <a:r>
              <a:t>      {</a:t>
            </a:r>
          </a:p>
          <a:p xmlns:a="http://schemas.openxmlformats.org/drawingml/2006/main">
            <a:r>
              <a:t>        "title": "담당자 조정",</a:t>
            </a:r>
          </a:p>
          <a:p xmlns:a="http://schemas.openxmlformats.org/drawingml/2006/main">
            <a:r>
              <a:t>        "input": "대시보드·API 상태",</a:t>
            </a:r>
          </a:p>
          <a:p xmlns:a="http://schemas.openxmlformats.org/drawingml/2006/main">
            <a:r>
              <a:t>        "process": "지연 예상과 확인 필요 상태를 조업 담당자에게 제공",</a:t>
            </a:r>
          </a:p>
          <a:p xmlns:a="http://schemas.openxmlformats.org/drawingml/2006/main">
            <a:r>
              <a:t>        "output": "조업 조정"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"항공편별 지상조업 단계와 지연 후보를 공동 확인",</a:t>
            </a:r>
          </a:p>
          <a:p xmlns:a="http://schemas.openxmlformats.org/drawingml/2006/main">
            <a:r>
              <a:t>      "exception": "카메라 가림·항공편 변경·이벤트 순서 역전",</a:t>
            </a:r>
          </a:p>
          <a:p xmlns:a="http://schemas.openxmlformats.org/drawingml/2006/main">
            <a:r>
              <a:t>      "evidence": "영상 시각 대비 상태 전이표와 담당자 확인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"공항·항공사·조업 담당자",</a:t>
            </a:r>
          </a:p>
          <a:p xmlns:a="http://schemas.openxmlformats.org/drawingml/2006/main">
            <a:r>
              <a:t>          "processing": "항공편·주기장·관측시각 매핑",</a:t>
            </a:r>
          </a:p>
          <a:p xmlns:a="http://schemas.openxmlformats.org/drawingml/2006/main">
            <a:r>
              <a:t>          "output": "영상 프레임"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"시간별 조업 상태",</a:t>
            </a:r>
          </a:p>
          <a:p xmlns:a="http://schemas.openxmlformats.org/drawingml/2006/main">
            <a:r>
              <a:t>          "processing": "카메라 프레임·항공편 일정·상태 이력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"영상 프레임",</a:t>
            </a:r>
          </a:p>
          <a:p xmlns:a="http://schemas.openxmlformats.org/drawingml/2006/main">
            <a:r>
              <a:t>          "processing": "영상에서 조업 이벤트와 상태 추출",</a:t>
            </a:r>
          </a:p>
          <a:p xmlns:a="http://schemas.openxmlformats.org/drawingml/2006/main">
            <a:r>
              <a:t>          "output": "대시보드·API 상태"</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"대시보드·API 상태",</a:t>
            </a:r>
          </a:p>
          <a:p xmlns:a="http://schemas.openxmlformats.org/drawingml/2006/main">
            <a:r>
              <a:t>          "processing": "지연 예상과 확인 필요 상태를 조업 담당자에게 제공",</a:t>
            </a:r>
          </a:p>
          <a:p xmlns:a="http://schemas.openxmlformats.org/drawingml/2006/main">
            <a:r>
              <a:t>          "output": "조업 조정"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"누락 이벤트와 실제 이륙 준비상태 대조",</a:t>
            </a:r>
          </a:p>
          <a:p xmlns:a="http://schemas.openxmlformats.org/drawingml/2006/main">
            <a:r>
              <a:t>          "output": "영상 시각 대비 상태 전이표와 담당자 확인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"누락 이벤트와 실제 이륙 준비상태 대조",</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"S-AX10",</a:t>
            </a:r>
          </a:p>
          <a:p xmlns:a="http://schemas.openxmlformats.org/drawingml/2006/main">
            <a:r>
              <a:t>        "title": "스키폴 Deep Turnaround · 운영기관 사례 / 게시일 미표시",</a:t>
            </a:r>
          </a:p>
          <a:p xmlns:a="http://schemas.openxmlformats.org/drawingml/2006/main">
            <a:r>
              <a:t>        "url": "https://www.schiphol.nl/en/aviation-solutions/case-study-amsterdam-airport-schiphol-deep-turnaround/",</a:t>
            </a:r>
          </a:p>
          <a:p xmlns:a="http://schemas.openxmlformats.org/drawingml/2006/main">
            <a:r>
              <a:t>        "published": "운영 사례",</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"현장 이벤트의 공동 상황판 연결",</a:t>
            </a:r>
          </a:p>
          <a:p xmlns:a="http://schemas.openxmlformats.org/drawingml/2006/main">
            <a:r>
              <a:t>    "local": "교통안전 점검 사건·담당자·보고 시점을 연결",</a:t>
            </a:r>
          </a:p>
          <a:p xmlns:a="http://schemas.openxmlformats.org/drawingml/2006/main">
            <a:r>
              <a:t>    "sourceDetail": null,</a:t>
            </a:r>
          </a:p>
          <a:p xmlns:a="http://schemas.openxmlformats.org/drawingml/2006/main">
            <a:r>
              <a:t>    "narrative": [</a:t>
            </a:r>
          </a:p>
          <a:p xmlns:a="http://schemas.openxmlformats.org/drawingml/2006/main">
            <a:r>
              <a:t>      "공항 지상조업의 진행 상태를 영상으로 파악하고 항공사·조업사·공항이 공유하는 사례. 서로 다른 담당자가 같은 항공편의 준비 상태를 확인하도록 하는 협업 변화.",</a:t>
            </a:r>
          </a:p>
          <a:p xmlns:a="http://schemas.openxmlformats.org/drawingml/2006/main">
            <a:r>
              <a:t>      "카메라 관측을 항공편·주기장·시각과 연결하고 조업 이벤트와 상태를 대시보드·API로 전달하는 구조의 재구성. 관측된 상태, 지연 추정, 실제 조업 조치를 별도 기록으로 관리.",</a:t>
            </a:r>
          </a:p>
          <a:p xmlns:a="http://schemas.openxmlformats.org/drawingml/2006/main">
            <a:r>
              <a:t>      "TS 현장 모니터링에 적용할 경우 야간·가림·날씨·카메라 위치별 편차를 평가할 필요. 탐지 정확도뿐 아니라 담당자가 확인한 시점, 조정 조치, 누락 이벤트의 복구까지 비교할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"조업 관측 접점",</a:t>
            </a:r>
          </a:p>
          <a:p xmlns:a="http://schemas.openxmlformats.org/drawingml/2006/main">
            <a:r>
              <a:t>          "layer": "이용 접점",</a:t>
            </a:r>
          </a:p>
          <a:p xmlns:a="http://schemas.openxmlformats.org/drawingml/2006/main">
            <a:r>
              <a:t>          "detail": "공항·항공사·조업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"항공편·주기장",</a:t>
            </a:r>
          </a:p>
          <a:p xmlns:a="http://schemas.openxmlformats.org/drawingml/2006/main">
            <a:r>
              <a:t>          "layer": "업무 문맥",</a:t>
            </a:r>
          </a:p>
          <a:p xmlns:a="http://schemas.openxmlformats.org/drawingml/2006/main">
            <a:r>
              <a:t>          "detail": "항공편·주기장·관측시각 매핑",</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"프레임·일정 조회",</a:t>
            </a:r>
          </a:p>
          <a:p xmlns:a="http://schemas.openxmlformats.org/drawingml/2006/main">
            <a:r>
              <a:t>          "layer": "자료 조회",</a:t>
            </a:r>
          </a:p>
          <a:p xmlns:a="http://schemas.openxmlformats.org/drawingml/2006/main">
            <a:r>
              <a:t>          "detail": "영상 프레임",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"조업 이벤트 인식",</a:t>
            </a:r>
          </a:p>
          <a:p xmlns:a="http://schemas.openxmlformats.org/drawingml/2006/main">
            <a:r>
              <a:t>          "layer": "핵심 처리",</a:t>
            </a:r>
          </a:p>
          <a:p xmlns:a="http://schemas.openxmlformats.org/drawingml/2006/main">
            <a:r>
              <a:t>          "detail": "영상에서 조업 이벤트와 상태 추출",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"시각·누락 대조",</a:t>
            </a:r>
          </a:p>
          <a:p xmlns:a="http://schemas.openxmlformats.org/drawingml/2006/main">
            <a:r>
              <a:t>          "layer": "결과 검증",</a:t>
            </a:r>
          </a:p>
          <a:p xmlns:a="http://schemas.openxmlformats.org/drawingml/2006/main">
            <a:r>
              <a:t>          "detail": "현장 기준 이벤트와 탐지 시각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"조업 담당 확인",</a:t>
            </a:r>
          </a:p>
          <a:p xmlns:a="http://schemas.openxmlformats.org/drawingml/2006/main">
            <a:r>
              <a:t>          "layer": "사람 확인",</a:t>
            </a:r>
          </a:p>
          <a:p xmlns:a="http://schemas.openxmlformats.org/drawingml/2006/main">
            <a:r>
              <a:t>          "detail": "항공편별 지상조업 단계와 지연 후보를 공동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"상황판·API 공유",</a:t>
            </a:r>
          </a:p>
          <a:p xmlns:a="http://schemas.openxmlformats.org/drawingml/2006/main">
            <a:r>
              <a:t>          "layer": "업무 연결",</a:t>
            </a:r>
          </a:p>
          <a:p xmlns:a="http://schemas.openxmlformats.org/drawingml/2006/main">
            <a:r>
              <a:t>          "detail": "지연 예상과 확인 필요 상태를 조업 담당자에게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"지연·현장 결과",</a:t>
            </a:r>
          </a:p>
          <a:p xmlns:a="http://schemas.openxmlformats.org/drawingml/2006/main">
            <a:r>
              <a:t>          "layer": "운영 관측",</a:t>
            </a:r>
          </a:p>
          <a:p xmlns:a="http://schemas.openxmlformats.org/drawingml/2006/main">
            <a:r>
              <a:t>          "detail": "누락 이벤트와 실제 이륙 준비상태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"계류장 영상",</a:t>
            </a:r>
          </a:p>
          <a:p xmlns:a="http://schemas.openxmlformats.org/drawingml/2006/main">
            <a:r>
              <a:t>          "layer": "데이터 원천",</a:t>
            </a:r>
          </a:p>
          <a:p xmlns:a="http://schemas.openxmlformats.org/drawingml/2006/main">
            <a:r>
              <a:t>          "detail": "시간별 조업 상태",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"영상·항공편 매핑",</a:t>
            </a:r>
          </a:p>
          <a:p xmlns:a="http://schemas.openxmlformats.org/drawingml/2006/main">
            <a:r>
              <a:t>          "layer": "준비·갱신",</a:t>
            </a:r>
          </a:p>
          <a:p xmlns:a="http://schemas.openxmlformats.org/drawingml/2006/main">
            <a:r>
              <a:t>          "detail": "카메라 프레임·항공편 일정·상태 이력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"이벤트 타임라인",</a:t>
            </a:r>
          </a:p>
          <a:p xmlns:a="http://schemas.openxmlformats.org/drawingml/2006/main">
            <a:r>
              <a:t>          "layer": "상태·지식 저장",</a:t>
            </a:r>
          </a:p>
          <a:p xmlns:a="http://schemas.openxmlformats.org/drawingml/2006/main">
            <a:r>
              <a:t>          "detail": "영상 시각 대비 상태 전이표와 담당자 확인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"영상·협업 권한",</a:t>
            </a:r>
          </a:p>
          <a:p xmlns:a="http://schemas.openxmlformats.org/drawingml/2006/main">
            <a:r>
              <a:t>          "layer": "권한·정책",</a:t>
            </a:r>
          </a:p>
          <a:p xmlns:a="http://schemas.openxmlformats.org/drawingml/2006/main">
            <a:r>
              <a:t>          "detail": "카메라 가림·항공편 변경·이벤트 순서 역전",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"카메라 영상 → 조업 상태 인식 → 대시보드·API → 담당자 조정"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"시간별 조업 상태",</a:t>
            </a:r>
          </a:p>
          <a:p xmlns:a="http://schemas.openxmlformats.org/drawingml/2006/main">
            <a:r>
              <a:t>          "check": "카메라 프레임·항공편 일정·상태 이력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"카메라 프레임·항공편 일정·상태 이력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"대시보드·API 상태",</a:t>
            </a:r>
          </a:p>
          <a:p xmlns:a="http://schemas.openxmlformats.org/drawingml/2006/main">
            <a:r>
              <a:t>          "check": "영상 시각 대비 상태 전이표와 담당자 확인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"영상·협업 권한",</a:t>
            </a:r>
          </a:p>
          <a:p xmlns:a="http://schemas.openxmlformats.org/drawingml/2006/main">
            <a:r>
              <a:t>          "check": "현장 기준 이벤트와 탐지 시각 대조"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"조업 조정",</a:t>
            </a:r>
          </a:p>
          <a:p xmlns:a="http://schemas.openxmlformats.org/drawingml/2006/main">
            <a:r>
              <a:t>          "check": "영상 시각 대비 상태 전이표와 담당자 확인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"누락 이벤트와 실제 이륙 준비상태 대조",</a:t>
            </a:r>
          </a:p>
          <a:p xmlns:a="http://schemas.openxmlformats.org/drawingml/2006/main">
            <a:r>
              <a:t>          "check": "누락 이벤트와 실제 이륙 준비상태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"항공기 지상조업 진행상태의 공동 파악 / 영상 분석·조업 단계·협업 알림",</a:t>
            </a:r>
          </a:p>
          <a:p xmlns:a="http://schemas.openxmlformats.org/drawingml/2006/main">
            <a:r>
              <a:t>        "extension": "교통안전 점검 사건·담당자·보고 시점을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"카메라 가림·항공편 변경·이벤트 순서 역전",</a:t>
            </a:r>
          </a:p>
          <a:p xmlns:a="http://schemas.openxmlformats.org/drawingml/2006/main">
            <a:r>
              <a:t>        "hold": "현장 기준 이벤트와 탐지 시각 대조",</a:t>
            </a:r>
          </a:p>
          <a:p xmlns:a="http://schemas.openxmlformats.org/drawingml/2006/main">
            <a:r>
              <a:t>        "recovery": "누락 이벤트와 실제 이륙 준비상태 대조",</a:t>
            </a:r>
          </a:p>
          <a:p xmlns:a="http://schemas.openxmlformats.org/drawingml/2006/main">
            <a:r>
              <a:t>        "evidence": "영상 시각 대비 상태 전이표와 담당자 확인 기록"</a:t>
            </a:r>
          </a:p>
          <a:p xmlns:a="http://schemas.openxmlformats.org/drawingml/2006/main">
            <a:r>
              <a:t>      },</a:t>
            </a:r>
          </a:p>
          <a:p xmlns:a="http://schemas.openxmlformats.org/drawingml/2006/main">
            <a:r>
              <a:t>      "data": {</a:t>
            </a:r>
          </a:p>
          <a:p xmlns:a="http://schemas.openxmlformats.org/drawingml/2006/main">
            <a:r>
              <a:t>        "source": "시간별 조업 상태",</a:t>
            </a:r>
          </a:p>
          <a:p xmlns:a="http://schemas.openxmlformats.org/drawingml/2006/main">
            <a:r>
              <a:t>        "prepare": "카메라 프레임·항공편 일정·상태 이력 연결",</a:t>
            </a:r>
          </a:p>
          <a:p xmlns:a="http://schemas.openxmlformats.org/drawingml/2006/main">
            <a:r>
              <a:t>        "output": "영상 프레임",</a:t>
            </a:r>
          </a:p>
          <a:p xmlns:a="http://schemas.openxmlformats.org/drawingml/2006/main">
            <a:r>
              <a:t>        "refresh": "누락 이벤트와 실제 이륙 준비상태 대조"</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"AX10",</a:t>
            </a:r>
          </a:p>
          <a:p xmlns:a="http://schemas.openxmlformats.org/drawingml/2006/main">
            <a:r>
              <a:t>    "success": [</a:t>
            </a:r>
          </a:p>
          <a:p xmlns:a="http://schemas.openxmlformats.org/drawingml/2006/main">
            <a:r>
              <a:t>      "공통 조업 상태의 공유",</a:t>
            </a:r>
          </a:p>
          <a:p xmlns:a="http://schemas.openxmlformats.org/drawingml/2006/main">
            <a:r>
              <a:t>      "영상 관측과 실제 현장 조정 연결"</a:t>
            </a:r>
          </a:p>
          <a:p xmlns:a="http://schemas.openxmlformats.org/drawingml/2006/main">
            <a:r>
              <a:t>    ],</a:t>
            </a:r>
          </a:p>
          <a:p xmlns:a="http://schemas.openxmlformats.org/drawingml/2006/main">
            <a:r>
              <a:t>    "risks": [</a:t>
            </a:r>
          </a:p>
          <a:p xmlns:a="http://schemas.openxmlformats.org/drawingml/2006/main">
            <a:r>
              <a:t>      "가림·야간·날씨에 따른 인식 편차",</a:t>
            </a:r>
          </a:p>
          <a:p xmlns:a="http://schemas.openxmlformats.org/drawingml/2006/main">
            <a:r>
              <a:t>      "상태 추정과 안전 판단의 혼동"</a:t>
            </a:r>
          </a:p>
          <a:p xmlns:a="http://schemas.openxmlformats.org/drawingml/2006/main">
            <a:r>
              <a:t>    ],</a:t>
            </a:r>
          </a:p>
          <a:p xmlns:a="http://schemas.openxmlformats.org/drawingml/2006/main">
            <a:r>
              <a:t>    "architecture": [</a:t>
            </a:r>
          </a:p>
          <a:p xmlns:a="http://schemas.openxmlformats.org/drawingml/2006/main">
            <a:r>
              <a:t>      "계류장 카메라",</a:t>
            </a:r>
          </a:p>
          <a:p xmlns:a="http://schemas.openxmlformats.org/drawingml/2006/main">
            <a:r>
              <a:t>      "조업 이벤트 인식",</a:t>
            </a:r>
          </a:p>
          <a:p xmlns:a="http://schemas.openxmlformats.org/drawingml/2006/main">
            <a:r>
              <a:t>      "시간별 조업 상태",</a:t>
            </a:r>
          </a:p>
          <a:p xmlns:a="http://schemas.openxmlformats.org/drawingml/2006/main">
            <a:r>
              <a:t>      "공항·조업 담당"</a:t>
            </a:r>
          </a:p>
          <a:p xmlns:a="http://schemas.openxmlformats.org/drawingml/2006/main">
            <a:r>
              <a:t>    ],</a:t>
            </a:r>
          </a:p>
          <a:p xmlns:a="http://schemas.openxmlformats.org/drawingml/2006/main">
            <a:r>
              <a:t>    "transfers": [</a:t>
            </a:r>
          </a:p>
          <a:p xmlns:a="http://schemas.openxmlformats.org/drawingml/2006/main">
            <a:r>
              <a:t>      "영상 프레임",</a:t>
            </a:r>
          </a:p>
          <a:p xmlns:a="http://schemas.openxmlformats.org/drawingml/2006/main">
            <a:r>
              <a:t>      "이벤트·시각",</a:t>
            </a:r>
          </a:p>
          <a:p xmlns:a="http://schemas.openxmlformats.org/drawingml/2006/main">
            <a:r>
              <a:t>      "대시보드·API 상태",</a:t>
            </a:r>
          </a:p>
          <a:p xmlns:a="http://schemas.openxmlformats.org/drawingml/2006/main">
            <a:r>
              <a:t>      "조업 조정"</a:t>
            </a:r>
          </a:p>
          <a:p xmlns:a="http://schemas.openxmlformats.org/drawingml/2006/main">
            <a:r>
              <a:t>    ],</a:t>
            </a:r>
          </a:p>
          <a:p xmlns:a="http://schemas.openxmlformats.org/drawingml/2006/main">
            <a:r>
              <a:t>    "control": "현장 기준 이벤트와 탐지 시각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스키폴 Deep Turnaround · 운영기관 사례 / 게시일 미표시 https://www.schiphol.nl/en/aviation-solutions/case-study-amsterdam-airport-schiphol-deep-turnaround/</a:t>
            </a:r>
          </a:p>
          <a:p xmlns:a="http://schemas.openxmlformats.org/drawingml/2006/main">
            <a:r>
              <a:t>홈페이지 https://heen1987-ops.github.io/TS-business-Plan-001/index.html?view=casebook&amp;case=AX10</a:t>
            </a:r>
          </a:p>
          <a:p xmlns:a="http://schemas.openxmlformats.org/drawingml/2006/main">
            <a:r>
              <a:t>한계: 운영기관 발표 · TS 감독 업무와 공항 조업 운영의 역할 차이</a:t>
            </a:r>
          </a:p>
          <a:p xmlns:a="http://schemas.openxmlformats.org/drawingml/2006/main">
            <a:r>
              <a:t>실패 위험: 가림·야간·날씨에 따른 인식 편차 / 상태 추정과 안전 판단의 혼동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"AX10",</a:t>
            </a:r>
          </a:p>
          <a:p xmlns:a="http://schemas.openxmlformats.org/drawingml/2006/main">
            <a:r>
              <a:t>    "title": "스키폴 Deep Turnaround",</a:t>
            </a:r>
          </a:p>
          <a:p xmlns:a="http://schemas.openxmlformats.org/drawingml/2006/main">
            <a:r>
              <a:t>    "region": "해외",</a:t>
            </a:r>
          </a:p>
          <a:p xmlns:a="http://schemas.openxmlformats.org/drawingml/2006/main">
            <a:r>
              <a:t>    "country": "네덜란드",</a:t>
            </a:r>
          </a:p>
          <a:p xmlns:a="http://schemas.openxmlformats.org/drawingml/2006/main">
            <a:r>
              <a:t>    "result": "성공",</a:t>
            </a:r>
          </a:p>
          <a:p xmlns:a="http://schemas.openxmlformats.org/drawingml/2006/main">
            <a:r>
              <a:t>    "kind": "공항 지상조업 영상 분석",</a:t>
            </a:r>
          </a:p>
          <a:p xmlns:a="http://schemas.openxmlformats.org/drawingml/2006/main">
            <a:r>
              <a:t>    "period": "운영 사례",</a:t>
            </a:r>
          </a:p>
          <a:p xmlns:a="http://schemas.openxmlformats.org/drawingml/2006/main">
            <a:r>
              <a:t>    "sources": [</a:t>
            </a:r>
          </a:p>
          <a:p xmlns:a="http://schemas.openxmlformats.org/drawingml/2006/main">
            <a:r>
              <a:t>      "S-AX10"</a:t>
            </a:r>
          </a:p>
          <a:p xmlns:a="http://schemas.openxmlformats.org/drawingml/2006/main">
            <a:r>
              <a:t>    ],</a:t>
            </a:r>
          </a:p>
          <a:p xmlns:a="http://schemas.openxmlformats.org/drawingml/2006/main">
            <a:r>
              <a:t>    "keywords": [</a:t>
            </a:r>
          </a:p>
          <a:p xmlns:a="http://schemas.openxmlformats.org/drawingml/2006/main">
            <a:r>
              <a:t>      "공항 지상조업 영상 분석"</a:t>
            </a:r>
          </a:p>
          <a:p xmlns:a="http://schemas.openxmlformats.org/drawingml/2006/main">
            <a:r>
              <a:t>    ],</a:t>
            </a:r>
          </a:p>
          <a:p xmlns:a="http://schemas.openxmlformats.org/drawingml/2006/main">
            <a:r>
              <a:t>    "fact": "카메라 영상에서 지상조업 진행 상태를 추출하여 공항·조업 담당자의 협업에 활용",</a:t>
            </a:r>
          </a:p>
          <a:p xmlns:a="http://schemas.openxmlformats.org/drawingml/2006/main">
            <a:r>
              <a:t>    "limit": "운영기관 발표 · TS 감독 업무와 공항 조업 운영의 역할 차이",</a:t>
            </a:r>
          </a:p>
          <a:p xmlns:a="http://schemas.openxmlformats.org/drawingml/2006/main">
            <a:r>
              <a:t>    "flow": [</a:t>
            </a:r>
          </a:p>
          <a:p xmlns:a="http://schemas.openxmlformats.org/drawingml/2006/main">
            <a:r>
              <a:t>      "카메라 영상",</a:t>
            </a:r>
          </a:p>
          <a:p xmlns:a="http://schemas.openxmlformats.org/drawingml/2006/main">
            <a:r>
              <a:t>      "조업 상태 인식",</a:t>
            </a:r>
          </a:p>
          <a:p xmlns:a="http://schemas.openxmlformats.org/drawingml/2006/main">
            <a:r>
              <a:t>      "대시보드·API",</a:t>
            </a:r>
          </a:p>
          <a:p xmlns:a="http://schemas.openxmlformats.org/drawingml/2006/main">
            <a:r>
              <a:t>      "담당자 조정"</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"현장 이벤트의 공동 상황판 연결",</a:t>
            </a:r>
          </a:p>
          <a:p xmlns:a="http://schemas.openxmlformats.org/drawingml/2006/main">
            <a:r>
              <a:t>    "local": "교통안전 점검 사건·담당자·보고 시점을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"사건 분류·증거 시각·협업 인계",</a:t>
            </a:r>
          </a:p>
          <a:p xmlns:a="http://schemas.openxmlformats.org/drawingml/2006/main">
            <a:r>
              <a:t>    "test": "지연·중복 이벤트와 원영상 대조",</a:t>
            </a:r>
          </a:p>
          <a:p xmlns:a="http://schemas.openxmlformats.org/drawingml/2006/main">
            <a:r>
              <a:t>    "metric": "상황 확인시간 / 인계 누락률",</a:t>
            </a:r>
          </a:p>
          <a:p xmlns:a="http://schemas.openxmlformats.org/drawingml/2006/main">
            <a:r>
              <a:t>    "strategies": [</a:t>
            </a:r>
          </a:p>
          <a:p xmlns:a="http://schemas.openxmlformats.org/drawingml/2006/main">
            <a:r>
              <a:t>      "ST-03",</a:t>
            </a:r>
          </a:p>
          <a:p xmlns:a="http://schemas.openxmlformats.org/drawingml/2006/main">
            <a:r>
              <a:t>      "ST-05",</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"AX10",</a:t>
            </a:r>
          </a:p>
          <a:p xmlns:a="http://schemas.openxmlformats.org/drawingml/2006/main">
            <a:r>
              <a:t>    "canonicalId": "AX10",</a:t>
            </a:r>
          </a:p>
          <a:p xmlns:a="http://schemas.openxmlformats.org/drawingml/2006/main">
            <a:r>
              <a:t>    "purpose": "항공기 지상조업 진행상태의 공동 파악",</a:t>
            </a:r>
          </a:p>
          <a:p xmlns:a="http://schemas.openxmlformats.org/drawingml/2006/main">
            <a:r>
              <a:t>    "users": "공항·항공사·조업 담당자",</a:t>
            </a:r>
          </a:p>
          <a:p xmlns:a="http://schemas.openxmlformats.org/drawingml/2006/main">
            <a:r>
              <a:t>    "scope": [</a:t>
            </a:r>
          </a:p>
          <a:p xmlns:a="http://schemas.openxmlformats.org/drawingml/2006/main">
            <a:r>
              <a:t>      "영상 분석",</a:t>
            </a:r>
          </a:p>
          <a:p xmlns:a="http://schemas.openxmlformats.org/drawingml/2006/main">
            <a:r>
              <a:t>      "조업 단계",</a:t>
            </a:r>
          </a:p>
          <a:p xmlns:a="http://schemas.openxmlformats.org/drawingml/2006/main">
            <a:r>
              <a:t>      "협업 알림"</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"계류장 카메라",</a:t>
            </a:r>
          </a:p>
          <a:p xmlns:a="http://schemas.openxmlformats.org/drawingml/2006/main">
            <a:r>
              <a:t>        "detail": "항공편·주기장·관측시각 매핑",</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"영상 분석 / 조업 단계 / 협업 알림",</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"조업 이벤트 인식",</a:t>
            </a:r>
          </a:p>
          <a:p xmlns:a="http://schemas.openxmlformats.org/drawingml/2006/main">
            <a:r>
              <a:t>        "detail": "영상에서 조업 이벤트와 상태 추출",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"공항·조업 담당",</a:t>
            </a:r>
          </a:p>
          <a:p xmlns:a="http://schemas.openxmlformats.org/drawingml/2006/main">
            <a:r>
              <a:t>        "detail": "지연 예상과 확인 필요 상태를 조업 담당자에게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"시간별 조업 상태",</a:t>
            </a:r>
          </a:p>
          <a:p xmlns:a="http://schemas.openxmlformats.org/drawingml/2006/main">
            <a:r>
              <a:t>        "detail": "카메라 프레임·항공편 일정·상태 이력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"누락 이벤트와 실제 이륙 준비상태 대조",</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"카메라 영상",</a:t>
            </a:r>
          </a:p>
          <a:p xmlns:a="http://schemas.openxmlformats.org/drawingml/2006/main">
            <a:r>
              <a:t>        "input": "항공편·주기장·관측시각 매핑",</a:t>
            </a:r>
          </a:p>
          <a:p xmlns:a="http://schemas.openxmlformats.org/drawingml/2006/main">
            <a:r>
              <a:t>        "process": "카메라 프레임·항공편 일정·상태 이력 연결",</a:t>
            </a:r>
          </a:p>
          <a:p xmlns:a="http://schemas.openxmlformats.org/drawingml/2006/main">
            <a:r>
              <a:t>        "output": "영상 프레임"</a:t>
            </a:r>
          </a:p>
          <a:p xmlns:a="http://schemas.openxmlformats.org/drawingml/2006/main">
            <a:r>
              <a:t>      },</a:t>
            </a:r>
          </a:p>
          <a:p xmlns:a="http://schemas.openxmlformats.org/drawingml/2006/main">
            <a:r>
              <a:t>      {</a:t>
            </a:r>
          </a:p>
          <a:p xmlns:a="http://schemas.openxmlformats.org/drawingml/2006/main">
            <a:r>
              <a:t>        "title": "조업 상태 인식",</a:t>
            </a:r>
          </a:p>
          <a:p xmlns:a="http://schemas.openxmlformats.org/drawingml/2006/main">
            <a:r>
              <a:t>        "input": "영상 프레임",</a:t>
            </a:r>
          </a:p>
          <a:p xmlns:a="http://schemas.openxmlformats.org/drawingml/2006/main">
            <a:r>
              <a:t>        "process": "영상에서 조업 이벤트와 상태 추출",</a:t>
            </a:r>
          </a:p>
          <a:p xmlns:a="http://schemas.openxmlformats.org/drawingml/2006/main">
            <a:r>
              <a:t>        "output": "이벤트·시각"</a:t>
            </a:r>
          </a:p>
          <a:p xmlns:a="http://schemas.openxmlformats.org/drawingml/2006/main">
            <a:r>
              <a:t>      },</a:t>
            </a:r>
          </a:p>
          <a:p xmlns:a="http://schemas.openxmlformats.org/drawingml/2006/main">
            <a:r>
              <a:t>      {</a:t>
            </a:r>
          </a:p>
          <a:p xmlns:a="http://schemas.openxmlformats.org/drawingml/2006/main">
            <a:r>
              <a:t>        "title": "대시보드·API",</a:t>
            </a:r>
          </a:p>
          <a:p xmlns:a="http://schemas.openxmlformats.org/drawingml/2006/main">
            <a:r>
              <a:t>        "input": "이벤트·시각",</a:t>
            </a:r>
          </a:p>
          <a:p xmlns:a="http://schemas.openxmlformats.org/drawingml/2006/main">
            <a:r>
              <a:t>        "process": "현장 기준 이벤트와 탐지 시각 대조",</a:t>
            </a:r>
          </a:p>
          <a:p xmlns:a="http://schemas.openxmlformats.org/drawingml/2006/main">
            <a:r>
              <a:t>        "output": "대시보드·API 상태"</a:t>
            </a:r>
          </a:p>
          <a:p xmlns:a="http://schemas.openxmlformats.org/drawingml/2006/main">
            <a:r>
              <a:t>      },</a:t>
            </a:r>
          </a:p>
          <a:p xmlns:a="http://schemas.openxmlformats.org/drawingml/2006/main">
            <a:r>
              <a:t>      {</a:t>
            </a:r>
          </a:p>
          <a:p xmlns:a="http://schemas.openxmlformats.org/drawingml/2006/main">
            <a:r>
              <a:t>        "title": "담당자 조정",</a:t>
            </a:r>
          </a:p>
          <a:p xmlns:a="http://schemas.openxmlformats.org/drawingml/2006/main">
            <a:r>
              <a:t>        "input": "대시보드·API 상태",</a:t>
            </a:r>
          </a:p>
          <a:p xmlns:a="http://schemas.openxmlformats.org/drawingml/2006/main">
            <a:r>
              <a:t>        "process": "지연 예상과 확인 필요 상태를 조업 담당자에게 제공",</a:t>
            </a:r>
          </a:p>
          <a:p xmlns:a="http://schemas.openxmlformats.org/drawingml/2006/main">
            <a:r>
              <a:t>        "output": "조업 조정"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"항공편별 지상조업 단계와 지연 후보를 공동 확인",</a:t>
            </a:r>
          </a:p>
          <a:p xmlns:a="http://schemas.openxmlformats.org/drawingml/2006/main">
            <a:r>
              <a:t>      "exception": "카메라 가림·항공편 변경·이벤트 순서 역전",</a:t>
            </a:r>
          </a:p>
          <a:p xmlns:a="http://schemas.openxmlformats.org/drawingml/2006/main">
            <a:r>
              <a:t>      "evidence": "영상 시각 대비 상태 전이표와 담당자 확인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"공항·항공사·조업 담당자",</a:t>
            </a:r>
          </a:p>
          <a:p xmlns:a="http://schemas.openxmlformats.org/drawingml/2006/main">
            <a:r>
              <a:t>          "processing": "항공편·주기장·관측시각 매핑",</a:t>
            </a:r>
          </a:p>
          <a:p xmlns:a="http://schemas.openxmlformats.org/drawingml/2006/main">
            <a:r>
              <a:t>          "output": "영상 프레임"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"시간별 조업 상태",</a:t>
            </a:r>
          </a:p>
          <a:p xmlns:a="http://schemas.openxmlformats.org/drawingml/2006/main">
            <a:r>
              <a:t>          "processing": "카메라 프레임·항공편 일정·상태 이력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"영상 프레임",</a:t>
            </a:r>
          </a:p>
          <a:p xmlns:a="http://schemas.openxmlformats.org/drawingml/2006/main">
            <a:r>
              <a:t>          "processing": "영상에서 조업 이벤트와 상태 추출",</a:t>
            </a:r>
          </a:p>
          <a:p xmlns:a="http://schemas.openxmlformats.org/drawingml/2006/main">
            <a:r>
              <a:t>          "output": "대시보드·API 상태"</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"대시보드·API 상태",</a:t>
            </a:r>
          </a:p>
          <a:p xmlns:a="http://schemas.openxmlformats.org/drawingml/2006/main">
            <a:r>
              <a:t>          "processing": "지연 예상과 확인 필요 상태를 조업 담당자에게 제공",</a:t>
            </a:r>
          </a:p>
          <a:p xmlns:a="http://schemas.openxmlformats.org/drawingml/2006/main">
            <a:r>
              <a:t>          "output": "조업 조정"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"누락 이벤트와 실제 이륙 준비상태 대조",</a:t>
            </a:r>
          </a:p>
          <a:p xmlns:a="http://schemas.openxmlformats.org/drawingml/2006/main">
            <a:r>
              <a:t>          "output": "영상 시각 대비 상태 전이표와 담당자 확인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"누락 이벤트와 실제 이륙 준비상태 대조",</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"S-AX10",</a:t>
            </a:r>
          </a:p>
          <a:p xmlns:a="http://schemas.openxmlformats.org/drawingml/2006/main">
            <a:r>
              <a:t>        "title": "스키폴 Deep Turnaround · 운영기관 사례 / 게시일 미표시",</a:t>
            </a:r>
          </a:p>
          <a:p xmlns:a="http://schemas.openxmlformats.org/drawingml/2006/main">
            <a:r>
              <a:t>        "url": "https://www.schiphol.nl/en/aviation-solutions/case-study-amsterdam-airport-schiphol-deep-turnaround/",</a:t>
            </a:r>
          </a:p>
          <a:p xmlns:a="http://schemas.openxmlformats.org/drawingml/2006/main">
            <a:r>
              <a:t>        "published": "운영 사례",</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"현장 이벤트의 공동 상황판 연결",</a:t>
            </a:r>
          </a:p>
          <a:p xmlns:a="http://schemas.openxmlformats.org/drawingml/2006/main">
            <a:r>
              <a:t>    "local": "교통안전 점검 사건·담당자·보고 시점을 연결",</a:t>
            </a:r>
          </a:p>
          <a:p xmlns:a="http://schemas.openxmlformats.org/drawingml/2006/main">
            <a:r>
              <a:t>    "sourceDetail": null,</a:t>
            </a:r>
          </a:p>
          <a:p xmlns:a="http://schemas.openxmlformats.org/drawingml/2006/main">
            <a:r>
              <a:t>    "narrative": [</a:t>
            </a:r>
          </a:p>
          <a:p xmlns:a="http://schemas.openxmlformats.org/drawingml/2006/main">
            <a:r>
              <a:t>      "공항 지상조업의 진행 상태를 영상으로 파악하고 항공사·조업사·공항이 공유하는 사례. 서로 다른 담당자가 같은 항공편의 준비 상태를 확인하도록 하는 협업 변화.",</a:t>
            </a:r>
          </a:p>
          <a:p xmlns:a="http://schemas.openxmlformats.org/drawingml/2006/main">
            <a:r>
              <a:t>      "카메라 관측을 항공편·주기장·시각과 연결하고 조업 이벤트와 상태를 대시보드·API로 전달하는 구조의 재구성. 관측된 상태, 지연 추정, 실제 조업 조치를 별도 기록으로 관리.",</a:t>
            </a:r>
          </a:p>
          <a:p xmlns:a="http://schemas.openxmlformats.org/drawingml/2006/main">
            <a:r>
              <a:t>      "TS 현장 모니터링에 적용할 경우 야간·가림·날씨·카메라 위치별 편차를 평가할 필요. 탐지 정확도뿐 아니라 담당자가 확인한 시점, 조정 조치, 누락 이벤트의 복구까지 비교할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"조업 관측 접점",</a:t>
            </a:r>
          </a:p>
          <a:p xmlns:a="http://schemas.openxmlformats.org/drawingml/2006/main">
            <a:r>
              <a:t>          "layer": "이용 접점",</a:t>
            </a:r>
          </a:p>
          <a:p xmlns:a="http://schemas.openxmlformats.org/drawingml/2006/main">
            <a:r>
              <a:t>          "detail": "공항·항공사·조업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"항공편·주기장",</a:t>
            </a:r>
          </a:p>
          <a:p xmlns:a="http://schemas.openxmlformats.org/drawingml/2006/main">
            <a:r>
              <a:t>          "layer": "업무 문맥",</a:t>
            </a:r>
          </a:p>
          <a:p xmlns:a="http://schemas.openxmlformats.org/drawingml/2006/main">
            <a:r>
              <a:t>          "detail": "항공편·주기장·관측시각 매핑",</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"프레임·일정 조회",</a:t>
            </a:r>
          </a:p>
          <a:p xmlns:a="http://schemas.openxmlformats.org/drawingml/2006/main">
            <a:r>
              <a:t>          "layer": "자료 조회",</a:t>
            </a:r>
          </a:p>
          <a:p xmlns:a="http://schemas.openxmlformats.org/drawingml/2006/main">
            <a:r>
              <a:t>          "detail": "영상 프레임",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"조업 이벤트 인식",</a:t>
            </a:r>
          </a:p>
          <a:p xmlns:a="http://schemas.openxmlformats.org/drawingml/2006/main">
            <a:r>
              <a:t>          "layer": "핵심 처리",</a:t>
            </a:r>
          </a:p>
          <a:p xmlns:a="http://schemas.openxmlformats.org/drawingml/2006/main">
            <a:r>
              <a:t>          "detail": "영상에서 조업 이벤트와 상태 추출",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"시각·누락 대조",</a:t>
            </a:r>
          </a:p>
          <a:p xmlns:a="http://schemas.openxmlformats.org/drawingml/2006/main">
            <a:r>
              <a:t>          "layer": "결과 검증",</a:t>
            </a:r>
          </a:p>
          <a:p xmlns:a="http://schemas.openxmlformats.org/drawingml/2006/main">
            <a:r>
              <a:t>          "detail": "현장 기준 이벤트와 탐지 시각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"조업 담당 확인",</a:t>
            </a:r>
          </a:p>
          <a:p xmlns:a="http://schemas.openxmlformats.org/drawingml/2006/main">
            <a:r>
              <a:t>          "layer": "사람 확인",</a:t>
            </a:r>
          </a:p>
          <a:p xmlns:a="http://schemas.openxmlformats.org/drawingml/2006/main">
            <a:r>
              <a:t>          "detail": "항공편별 지상조업 단계와 지연 후보를 공동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"상황판·API 공유",</a:t>
            </a:r>
          </a:p>
          <a:p xmlns:a="http://schemas.openxmlformats.org/drawingml/2006/main">
            <a:r>
              <a:t>          "layer": "업무 연결",</a:t>
            </a:r>
          </a:p>
          <a:p xmlns:a="http://schemas.openxmlformats.org/drawingml/2006/main">
            <a:r>
              <a:t>          "detail": "지연 예상과 확인 필요 상태를 조업 담당자에게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"지연·현장 결과",</a:t>
            </a:r>
          </a:p>
          <a:p xmlns:a="http://schemas.openxmlformats.org/drawingml/2006/main">
            <a:r>
              <a:t>          "layer": "운영 관측",</a:t>
            </a:r>
          </a:p>
          <a:p xmlns:a="http://schemas.openxmlformats.org/drawingml/2006/main">
            <a:r>
              <a:t>          "detail": "누락 이벤트와 실제 이륙 준비상태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"계류장 영상",</a:t>
            </a:r>
          </a:p>
          <a:p xmlns:a="http://schemas.openxmlformats.org/drawingml/2006/main">
            <a:r>
              <a:t>          "layer": "데이터 원천",</a:t>
            </a:r>
          </a:p>
          <a:p xmlns:a="http://schemas.openxmlformats.org/drawingml/2006/main">
            <a:r>
              <a:t>          "detail": "시간별 조업 상태",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"영상·항공편 매핑",</a:t>
            </a:r>
          </a:p>
          <a:p xmlns:a="http://schemas.openxmlformats.org/drawingml/2006/main">
            <a:r>
              <a:t>          "layer": "준비·갱신",</a:t>
            </a:r>
          </a:p>
          <a:p xmlns:a="http://schemas.openxmlformats.org/drawingml/2006/main">
            <a:r>
              <a:t>          "detail": "카메라 프레임·항공편 일정·상태 이력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"이벤트 타임라인",</a:t>
            </a:r>
          </a:p>
          <a:p xmlns:a="http://schemas.openxmlformats.org/drawingml/2006/main">
            <a:r>
              <a:t>          "layer": "상태·지식 저장",</a:t>
            </a:r>
          </a:p>
          <a:p xmlns:a="http://schemas.openxmlformats.org/drawingml/2006/main">
            <a:r>
              <a:t>          "detail": "영상 시각 대비 상태 전이표와 담당자 확인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"영상·협업 권한",</a:t>
            </a:r>
          </a:p>
          <a:p xmlns:a="http://schemas.openxmlformats.org/drawingml/2006/main">
            <a:r>
              <a:t>          "layer": "권한·정책",</a:t>
            </a:r>
          </a:p>
          <a:p xmlns:a="http://schemas.openxmlformats.org/drawingml/2006/main">
            <a:r>
              <a:t>          "detail": "카메라 가림·항공편 변경·이벤트 순서 역전",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"카메라 영상 → 조업 상태 인식 → 대시보드·API → 담당자 조정"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"시간별 조업 상태",</a:t>
            </a:r>
          </a:p>
          <a:p xmlns:a="http://schemas.openxmlformats.org/drawingml/2006/main">
            <a:r>
              <a:t>          "check": "카메라 프레임·항공편 일정·상태 이력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"카메라 프레임·항공편 일정·상태 이력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"대시보드·API 상태",</a:t>
            </a:r>
          </a:p>
          <a:p xmlns:a="http://schemas.openxmlformats.org/drawingml/2006/main">
            <a:r>
              <a:t>          "check": "영상 시각 대비 상태 전이표와 담당자 확인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"영상·협업 권한",</a:t>
            </a:r>
          </a:p>
          <a:p xmlns:a="http://schemas.openxmlformats.org/drawingml/2006/main">
            <a:r>
              <a:t>          "check": "현장 기준 이벤트와 탐지 시각 대조"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"조업 조정",</a:t>
            </a:r>
          </a:p>
          <a:p xmlns:a="http://schemas.openxmlformats.org/drawingml/2006/main">
            <a:r>
              <a:t>          "check": "영상 시각 대비 상태 전이표와 담당자 확인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"누락 이벤트와 실제 이륙 준비상태 대조",</a:t>
            </a:r>
          </a:p>
          <a:p xmlns:a="http://schemas.openxmlformats.org/drawingml/2006/main">
            <a:r>
              <a:t>          "check": "누락 이벤트와 실제 이륙 준비상태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"항공기 지상조업 진행상태의 공동 파악 / 영상 분석·조업 단계·협업 알림",</a:t>
            </a:r>
          </a:p>
          <a:p xmlns:a="http://schemas.openxmlformats.org/drawingml/2006/main">
            <a:r>
              <a:t>        "extension": "교통안전 점검 사건·담당자·보고 시점을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"카메라 가림·항공편 변경·이벤트 순서 역전",</a:t>
            </a:r>
          </a:p>
          <a:p xmlns:a="http://schemas.openxmlformats.org/drawingml/2006/main">
            <a:r>
              <a:t>        "hold": "현장 기준 이벤트와 탐지 시각 대조",</a:t>
            </a:r>
          </a:p>
          <a:p xmlns:a="http://schemas.openxmlformats.org/drawingml/2006/main">
            <a:r>
              <a:t>        "recovery": "누락 이벤트와 실제 이륙 준비상태 대조",</a:t>
            </a:r>
          </a:p>
          <a:p xmlns:a="http://schemas.openxmlformats.org/drawingml/2006/main">
            <a:r>
              <a:t>        "evidence": "영상 시각 대비 상태 전이표와 담당자 확인 기록"</a:t>
            </a:r>
          </a:p>
          <a:p xmlns:a="http://schemas.openxmlformats.org/drawingml/2006/main">
            <a:r>
              <a:t>      },</a:t>
            </a:r>
          </a:p>
          <a:p xmlns:a="http://schemas.openxmlformats.org/drawingml/2006/main">
            <a:r>
              <a:t>      "data": {</a:t>
            </a:r>
          </a:p>
          <a:p xmlns:a="http://schemas.openxmlformats.org/drawingml/2006/main">
            <a:r>
              <a:t>        "source": "시간별 조업 상태",</a:t>
            </a:r>
          </a:p>
          <a:p xmlns:a="http://schemas.openxmlformats.org/drawingml/2006/main">
            <a:r>
              <a:t>        "prepare": "카메라 프레임·항공편 일정·상태 이력 연결",</a:t>
            </a:r>
          </a:p>
          <a:p xmlns:a="http://schemas.openxmlformats.org/drawingml/2006/main">
            <a:r>
              <a:t>        "output": "영상 프레임",</a:t>
            </a:r>
          </a:p>
          <a:p xmlns:a="http://schemas.openxmlformats.org/drawingml/2006/main">
            <a:r>
              <a:t>        "refresh": "누락 이벤트와 실제 이륙 준비상태 대조"</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"AX10",</a:t>
            </a:r>
          </a:p>
          <a:p xmlns:a="http://schemas.openxmlformats.org/drawingml/2006/main">
            <a:r>
              <a:t>    "success": [</a:t>
            </a:r>
          </a:p>
          <a:p xmlns:a="http://schemas.openxmlformats.org/drawingml/2006/main">
            <a:r>
              <a:t>      "공통 조업 상태의 공유",</a:t>
            </a:r>
          </a:p>
          <a:p xmlns:a="http://schemas.openxmlformats.org/drawingml/2006/main">
            <a:r>
              <a:t>      "영상 관측과 실제 현장 조정 연결"</a:t>
            </a:r>
          </a:p>
          <a:p xmlns:a="http://schemas.openxmlformats.org/drawingml/2006/main">
            <a:r>
              <a:t>    ],</a:t>
            </a:r>
          </a:p>
          <a:p xmlns:a="http://schemas.openxmlformats.org/drawingml/2006/main">
            <a:r>
              <a:t>    "risks": [</a:t>
            </a:r>
          </a:p>
          <a:p xmlns:a="http://schemas.openxmlformats.org/drawingml/2006/main">
            <a:r>
              <a:t>      "가림·야간·날씨에 따른 인식 편차",</a:t>
            </a:r>
          </a:p>
          <a:p xmlns:a="http://schemas.openxmlformats.org/drawingml/2006/main">
            <a:r>
              <a:t>      "상태 추정과 안전 판단의 혼동"</a:t>
            </a:r>
          </a:p>
          <a:p xmlns:a="http://schemas.openxmlformats.org/drawingml/2006/main">
            <a:r>
              <a:t>    ],</a:t>
            </a:r>
          </a:p>
          <a:p xmlns:a="http://schemas.openxmlformats.org/drawingml/2006/main">
            <a:r>
              <a:t>    "architecture": [</a:t>
            </a:r>
          </a:p>
          <a:p xmlns:a="http://schemas.openxmlformats.org/drawingml/2006/main">
            <a:r>
              <a:t>      "계류장 카메라",</a:t>
            </a:r>
          </a:p>
          <a:p xmlns:a="http://schemas.openxmlformats.org/drawingml/2006/main">
            <a:r>
              <a:t>      "조업 이벤트 인식",</a:t>
            </a:r>
          </a:p>
          <a:p xmlns:a="http://schemas.openxmlformats.org/drawingml/2006/main">
            <a:r>
              <a:t>      "시간별 조업 상태",</a:t>
            </a:r>
          </a:p>
          <a:p xmlns:a="http://schemas.openxmlformats.org/drawingml/2006/main">
            <a:r>
              <a:t>      "공항·조업 담당"</a:t>
            </a:r>
          </a:p>
          <a:p xmlns:a="http://schemas.openxmlformats.org/drawingml/2006/main">
            <a:r>
              <a:t>    ],</a:t>
            </a:r>
          </a:p>
          <a:p xmlns:a="http://schemas.openxmlformats.org/drawingml/2006/main">
            <a:r>
              <a:t>    "transfers": [</a:t>
            </a:r>
          </a:p>
          <a:p xmlns:a="http://schemas.openxmlformats.org/drawingml/2006/main">
            <a:r>
              <a:t>      "영상 프레임",</a:t>
            </a:r>
          </a:p>
          <a:p xmlns:a="http://schemas.openxmlformats.org/drawingml/2006/main">
            <a:r>
              <a:t>      "이벤트·시각",</a:t>
            </a:r>
          </a:p>
          <a:p xmlns:a="http://schemas.openxmlformats.org/drawingml/2006/main">
            <a:r>
              <a:t>      "대시보드·API 상태",</a:t>
            </a:r>
          </a:p>
          <a:p xmlns:a="http://schemas.openxmlformats.org/drawingml/2006/main">
            <a:r>
              <a:t>      "조업 조정"</a:t>
            </a:r>
          </a:p>
          <a:p xmlns:a="http://schemas.openxmlformats.org/drawingml/2006/main">
            <a:r>
              <a:t>    ],</a:t>
            </a:r>
          </a:p>
          <a:p xmlns:a="http://schemas.openxmlformats.org/drawingml/2006/main">
            <a:r>
              <a:t>    "control": "현장 기준 이벤트와 탐지 시각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스키폴 Deep Turnaround · 운영기관 사례 / 게시일 미표시 https://www.schiphol.nl/en/aviation-solutions/case-study-amsterdam-airport-schiphol-deep-turnaround/</a:t>
            </a:r>
          </a:p>
          <a:p xmlns:a="http://schemas.openxmlformats.org/drawingml/2006/main">
            <a:r>
              <a:t>홈페이지 https://heen1987-ops.github.io/TS-business-Plan-001/index.html?view=casebook&amp;case=AX10</a:t>
            </a:r>
          </a:p>
          <a:p xmlns:a="http://schemas.openxmlformats.org/drawingml/2006/main">
            <a:r>
              <a:t>성과 대조</a:t>
            </a:r>
          </a:p>
          <a:p xmlns:a="http://schemas.openxmlformats.org/drawingml/2006/main">
            <a:r>
              <a:t>{</a:t>
            </a:r>
          </a:p>
          <a:p xmlns:a="http://schemas.openxmlformats.org/drawingml/2006/main">
            <a:r>
              <a:t>  "caseId": "AX10",</a:t>
            </a:r>
          </a:p>
          <a:p xmlns:a="http://schemas.openxmlformats.org/drawingml/2006/main">
            <a:r>
              <a:t>  "asIs": "항공사·조업사·관제·게이트 담당자 사이에 지상조업의 실시간 공동 상황 정보 부족",</a:t>
            </a:r>
          </a:p>
          <a:p xmlns:a="http://schemas.openxmlformats.org/drawingml/2006/main">
            <a:r>
              <a:t>  "toBe": "스탠드 영상에서 30여 세부 절차를 감지·예측해 API·상황판·사후 분석으로 공동 이용",</a:t>
            </a:r>
          </a:p>
          <a:p xmlns:a="http://schemas.openxmlformats.org/drawingml/2006/main">
            <a:r>
              <a:t>  "expectedEffect": "지연 조기 발견, 게이트 변경·대기 감소, 이해관계자 조정 개선",</a:t>
            </a:r>
          </a:p>
          <a:p xmlns:a="http://schemas.openxmlformats.org/drawingml/2006/main">
            <a:r>
              <a:t>  "observed": "스키폴은 52개 스탠드 운영과 약 100개 확대 계획을 공개; 지연을 최대 15분 전 파악한다는 현장 설명 및 게이트 변경 감소 가능성 제시",</a:t>
            </a:r>
          </a:p>
          <a:p xmlns:a="http://schemas.openxmlformats.org/drawingml/2006/main">
            <a:r>
              <a:t>  "verdict": "부분 성과",</a:t>
            </a:r>
          </a:p>
          <a:p xmlns:a="http://schemas.openxmlformats.org/drawingml/2006/main">
            <a:r>
              <a:t>  "verdictReason": "현장 운영·공동 정보 제공은 확인; 게이트 변경 25% 감소 등은 자료에서 잠재 효과로 제시되어 확정 실측으로 단정 불가",</a:t>
            </a:r>
          </a:p>
          <a:p xmlns:a="http://schemas.openxmlformats.org/drawingml/2006/main">
            <a:r>
              <a:t>  "limits": "공항 운영사 사례. 스탠드 수는 공개 시점 기준, 정시율·수익성의 통제 비교 미확인",</a:t>
            </a:r>
          </a:p>
          <a:p xmlns:a="http://schemas.openxmlformats.org/drawingml/2006/main">
            <a:r>
              <a:t>  "metric": "52개 스탠드 운영: 스키폴 공개 사례 시점",</a:t>
            </a:r>
          </a:p>
          <a:p xmlns:a="http://schemas.openxmlformats.org/drawingml/2006/main">
            <a:r>
              <a:t>  "evidenceStage": "운영기관 실제 적용·기술 공개",</a:t>
            </a:r>
          </a:p>
          <a:p xmlns:a="http://schemas.openxmlformats.org/drawingml/2006/main">
            <a:r>
              <a:t>  "sourceUrl": "https://www.schiphol.nl/en/aviation-solutions/case-study-amsterdam-airport-schiphol-deep-turnaround/"</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"AX10",</a:t>
            </a:r>
          </a:p>
          <a:p xmlns:a="http://schemas.openxmlformats.org/drawingml/2006/main">
            <a:r>
              <a:t>    "title": "스키폴 Deep Turnaround",</a:t>
            </a:r>
          </a:p>
          <a:p xmlns:a="http://schemas.openxmlformats.org/drawingml/2006/main">
            <a:r>
              <a:t>    "region": "해외",</a:t>
            </a:r>
          </a:p>
          <a:p xmlns:a="http://schemas.openxmlformats.org/drawingml/2006/main">
            <a:r>
              <a:t>    "country": "네덜란드",</a:t>
            </a:r>
          </a:p>
          <a:p xmlns:a="http://schemas.openxmlformats.org/drawingml/2006/main">
            <a:r>
              <a:t>    "result": "성공",</a:t>
            </a:r>
          </a:p>
          <a:p xmlns:a="http://schemas.openxmlformats.org/drawingml/2006/main">
            <a:r>
              <a:t>    "kind": "공항 지상조업 영상 분석",</a:t>
            </a:r>
          </a:p>
          <a:p xmlns:a="http://schemas.openxmlformats.org/drawingml/2006/main">
            <a:r>
              <a:t>    "period": "운영 사례",</a:t>
            </a:r>
          </a:p>
          <a:p xmlns:a="http://schemas.openxmlformats.org/drawingml/2006/main">
            <a:r>
              <a:t>    "sources": [</a:t>
            </a:r>
          </a:p>
          <a:p xmlns:a="http://schemas.openxmlformats.org/drawingml/2006/main">
            <a:r>
              <a:t>      "S-AX10"</a:t>
            </a:r>
          </a:p>
          <a:p xmlns:a="http://schemas.openxmlformats.org/drawingml/2006/main">
            <a:r>
              <a:t>    ],</a:t>
            </a:r>
          </a:p>
          <a:p xmlns:a="http://schemas.openxmlformats.org/drawingml/2006/main">
            <a:r>
              <a:t>    "keywords": [</a:t>
            </a:r>
          </a:p>
          <a:p xmlns:a="http://schemas.openxmlformats.org/drawingml/2006/main">
            <a:r>
              <a:t>      "공항 지상조업 영상 분석"</a:t>
            </a:r>
          </a:p>
          <a:p xmlns:a="http://schemas.openxmlformats.org/drawingml/2006/main">
            <a:r>
              <a:t>    ],</a:t>
            </a:r>
          </a:p>
          <a:p xmlns:a="http://schemas.openxmlformats.org/drawingml/2006/main">
            <a:r>
              <a:t>    "fact": "카메라 영상에서 지상조업 진행 상태를 추출하여 공항·조업 담당자의 협업에 활용",</a:t>
            </a:r>
          </a:p>
          <a:p xmlns:a="http://schemas.openxmlformats.org/drawingml/2006/main">
            <a:r>
              <a:t>    "limit": "운영기관 발표 · TS 감독 업무와 공항 조업 운영의 역할 차이",</a:t>
            </a:r>
          </a:p>
          <a:p xmlns:a="http://schemas.openxmlformats.org/drawingml/2006/main">
            <a:r>
              <a:t>    "flow": [</a:t>
            </a:r>
          </a:p>
          <a:p xmlns:a="http://schemas.openxmlformats.org/drawingml/2006/main">
            <a:r>
              <a:t>      "카메라 영상",</a:t>
            </a:r>
          </a:p>
          <a:p xmlns:a="http://schemas.openxmlformats.org/drawingml/2006/main">
            <a:r>
              <a:t>      "조업 상태 인식",</a:t>
            </a:r>
          </a:p>
          <a:p xmlns:a="http://schemas.openxmlformats.org/drawingml/2006/main">
            <a:r>
              <a:t>      "대시보드·API",</a:t>
            </a:r>
          </a:p>
          <a:p xmlns:a="http://schemas.openxmlformats.org/drawingml/2006/main">
            <a:r>
              <a:t>      "담당자 조정"</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"현장 이벤트의 공동 상황판 연결",</a:t>
            </a:r>
          </a:p>
          <a:p xmlns:a="http://schemas.openxmlformats.org/drawingml/2006/main">
            <a:r>
              <a:t>    "local": "교통안전 점검 사건·담당자·보고 시점을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"사건 분류·증거 시각·협업 인계",</a:t>
            </a:r>
          </a:p>
          <a:p xmlns:a="http://schemas.openxmlformats.org/drawingml/2006/main">
            <a:r>
              <a:t>    "test": "지연·중복 이벤트와 원영상 대조",</a:t>
            </a:r>
          </a:p>
          <a:p xmlns:a="http://schemas.openxmlformats.org/drawingml/2006/main">
            <a:r>
              <a:t>    "metric": "상황 확인시간 / 인계 누락률",</a:t>
            </a:r>
          </a:p>
          <a:p xmlns:a="http://schemas.openxmlformats.org/drawingml/2006/main">
            <a:r>
              <a:t>    "strategies": [</a:t>
            </a:r>
          </a:p>
          <a:p xmlns:a="http://schemas.openxmlformats.org/drawingml/2006/main">
            <a:r>
              <a:t>      "ST-03",</a:t>
            </a:r>
          </a:p>
          <a:p xmlns:a="http://schemas.openxmlformats.org/drawingml/2006/main">
            <a:r>
              <a:t>      "ST-05",</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"AX10",</a:t>
            </a:r>
          </a:p>
          <a:p xmlns:a="http://schemas.openxmlformats.org/drawingml/2006/main">
            <a:r>
              <a:t>    "canonicalId": "AX10",</a:t>
            </a:r>
          </a:p>
          <a:p xmlns:a="http://schemas.openxmlformats.org/drawingml/2006/main">
            <a:r>
              <a:t>    "purpose": "항공기 지상조업 진행상태의 공동 파악",</a:t>
            </a:r>
          </a:p>
          <a:p xmlns:a="http://schemas.openxmlformats.org/drawingml/2006/main">
            <a:r>
              <a:t>    "users": "공항·항공사·조업 담당자",</a:t>
            </a:r>
          </a:p>
          <a:p xmlns:a="http://schemas.openxmlformats.org/drawingml/2006/main">
            <a:r>
              <a:t>    "scope": [</a:t>
            </a:r>
          </a:p>
          <a:p xmlns:a="http://schemas.openxmlformats.org/drawingml/2006/main">
            <a:r>
              <a:t>      "영상 분석",</a:t>
            </a:r>
          </a:p>
          <a:p xmlns:a="http://schemas.openxmlformats.org/drawingml/2006/main">
            <a:r>
              <a:t>      "조업 단계",</a:t>
            </a:r>
          </a:p>
          <a:p xmlns:a="http://schemas.openxmlformats.org/drawingml/2006/main">
            <a:r>
              <a:t>      "협업 알림"</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"계류장 카메라",</a:t>
            </a:r>
          </a:p>
          <a:p xmlns:a="http://schemas.openxmlformats.org/drawingml/2006/main">
            <a:r>
              <a:t>        "detail": "항공편·주기장·관측시각 매핑",</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"영상 분석 / 조업 단계 / 협업 알림",</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"조업 이벤트 인식",</a:t>
            </a:r>
          </a:p>
          <a:p xmlns:a="http://schemas.openxmlformats.org/drawingml/2006/main">
            <a:r>
              <a:t>        "detail": "영상에서 조업 이벤트와 상태 추출",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"공항·조업 담당",</a:t>
            </a:r>
          </a:p>
          <a:p xmlns:a="http://schemas.openxmlformats.org/drawingml/2006/main">
            <a:r>
              <a:t>        "detail": "지연 예상과 확인 필요 상태를 조업 담당자에게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"시간별 조업 상태",</a:t>
            </a:r>
          </a:p>
          <a:p xmlns:a="http://schemas.openxmlformats.org/drawingml/2006/main">
            <a:r>
              <a:t>        "detail": "카메라 프레임·항공편 일정·상태 이력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"누락 이벤트와 실제 이륙 준비상태 대조",</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"카메라 영상",</a:t>
            </a:r>
          </a:p>
          <a:p xmlns:a="http://schemas.openxmlformats.org/drawingml/2006/main">
            <a:r>
              <a:t>        "input": "항공편·주기장·관측시각 매핑",</a:t>
            </a:r>
          </a:p>
          <a:p xmlns:a="http://schemas.openxmlformats.org/drawingml/2006/main">
            <a:r>
              <a:t>        "process": "카메라 프레임·항공편 일정·상태 이력 연결",</a:t>
            </a:r>
          </a:p>
          <a:p xmlns:a="http://schemas.openxmlformats.org/drawingml/2006/main">
            <a:r>
              <a:t>        "output": "영상 프레임"</a:t>
            </a:r>
          </a:p>
          <a:p xmlns:a="http://schemas.openxmlformats.org/drawingml/2006/main">
            <a:r>
              <a:t>      },</a:t>
            </a:r>
          </a:p>
          <a:p xmlns:a="http://schemas.openxmlformats.org/drawingml/2006/main">
            <a:r>
              <a:t>      {</a:t>
            </a:r>
          </a:p>
          <a:p xmlns:a="http://schemas.openxmlformats.org/drawingml/2006/main">
            <a:r>
              <a:t>        "title": "조업 상태 인식",</a:t>
            </a:r>
          </a:p>
          <a:p xmlns:a="http://schemas.openxmlformats.org/drawingml/2006/main">
            <a:r>
              <a:t>        "input": "영상 프레임",</a:t>
            </a:r>
          </a:p>
          <a:p xmlns:a="http://schemas.openxmlformats.org/drawingml/2006/main">
            <a:r>
              <a:t>        "process": "영상에서 조업 이벤트와 상태 추출",</a:t>
            </a:r>
          </a:p>
          <a:p xmlns:a="http://schemas.openxmlformats.org/drawingml/2006/main">
            <a:r>
              <a:t>        "output": "이벤트·시각"</a:t>
            </a:r>
          </a:p>
          <a:p xmlns:a="http://schemas.openxmlformats.org/drawingml/2006/main">
            <a:r>
              <a:t>      },</a:t>
            </a:r>
          </a:p>
          <a:p xmlns:a="http://schemas.openxmlformats.org/drawingml/2006/main">
            <a:r>
              <a:t>      {</a:t>
            </a:r>
          </a:p>
          <a:p xmlns:a="http://schemas.openxmlformats.org/drawingml/2006/main">
            <a:r>
              <a:t>        "title": "대시보드·API",</a:t>
            </a:r>
          </a:p>
          <a:p xmlns:a="http://schemas.openxmlformats.org/drawingml/2006/main">
            <a:r>
              <a:t>        "input": "이벤트·시각",</a:t>
            </a:r>
          </a:p>
          <a:p xmlns:a="http://schemas.openxmlformats.org/drawingml/2006/main">
            <a:r>
              <a:t>        "process": "현장 기준 이벤트와 탐지 시각 대조",</a:t>
            </a:r>
          </a:p>
          <a:p xmlns:a="http://schemas.openxmlformats.org/drawingml/2006/main">
            <a:r>
              <a:t>        "output": "대시보드·API 상태"</a:t>
            </a:r>
          </a:p>
          <a:p xmlns:a="http://schemas.openxmlformats.org/drawingml/2006/main">
            <a:r>
              <a:t>      },</a:t>
            </a:r>
          </a:p>
          <a:p xmlns:a="http://schemas.openxmlformats.org/drawingml/2006/main">
            <a:r>
              <a:t>      {</a:t>
            </a:r>
          </a:p>
          <a:p xmlns:a="http://schemas.openxmlformats.org/drawingml/2006/main">
            <a:r>
              <a:t>        "title": "담당자 조정",</a:t>
            </a:r>
          </a:p>
          <a:p xmlns:a="http://schemas.openxmlformats.org/drawingml/2006/main">
            <a:r>
              <a:t>        "input": "대시보드·API 상태",</a:t>
            </a:r>
          </a:p>
          <a:p xmlns:a="http://schemas.openxmlformats.org/drawingml/2006/main">
            <a:r>
              <a:t>        "process": "지연 예상과 확인 필요 상태를 조업 담당자에게 제공",</a:t>
            </a:r>
          </a:p>
          <a:p xmlns:a="http://schemas.openxmlformats.org/drawingml/2006/main">
            <a:r>
              <a:t>        "output": "조업 조정"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"항공편별 지상조업 단계와 지연 후보를 공동 확인",</a:t>
            </a:r>
          </a:p>
          <a:p xmlns:a="http://schemas.openxmlformats.org/drawingml/2006/main">
            <a:r>
              <a:t>      "exception": "카메라 가림·항공편 변경·이벤트 순서 역전",</a:t>
            </a:r>
          </a:p>
          <a:p xmlns:a="http://schemas.openxmlformats.org/drawingml/2006/main">
            <a:r>
              <a:t>      "evidence": "영상 시각 대비 상태 전이표와 담당자 확인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"공항·항공사·조업 담당자",</a:t>
            </a:r>
          </a:p>
          <a:p xmlns:a="http://schemas.openxmlformats.org/drawingml/2006/main">
            <a:r>
              <a:t>          "processing": "항공편·주기장·관측시각 매핑",</a:t>
            </a:r>
          </a:p>
          <a:p xmlns:a="http://schemas.openxmlformats.org/drawingml/2006/main">
            <a:r>
              <a:t>          "output": "영상 프레임"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"시간별 조업 상태",</a:t>
            </a:r>
          </a:p>
          <a:p xmlns:a="http://schemas.openxmlformats.org/drawingml/2006/main">
            <a:r>
              <a:t>          "processing": "카메라 프레임·항공편 일정·상태 이력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"영상 프레임",</a:t>
            </a:r>
          </a:p>
          <a:p xmlns:a="http://schemas.openxmlformats.org/drawingml/2006/main">
            <a:r>
              <a:t>          "processing": "영상에서 조업 이벤트와 상태 추출",</a:t>
            </a:r>
          </a:p>
          <a:p xmlns:a="http://schemas.openxmlformats.org/drawingml/2006/main">
            <a:r>
              <a:t>          "output": "대시보드·API 상태"</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"대시보드·API 상태",</a:t>
            </a:r>
          </a:p>
          <a:p xmlns:a="http://schemas.openxmlformats.org/drawingml/2006/main">
            <a:r>
              <a:t>          "processing": "지연 예상과 확인 필요 상태를 조업 담당자에게 제공",</a:t>
            </a:r>
          </a:p>
          <a:p xmlns:a="http://schemas.openxmlformats.org/drawingml/2006/main">
            <a:r>
              <a:t>          "output": "조업 조정"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"누락 이벤트와 실제 이륙 준비상태 대조",</a:t>
            </a:r>
          </a:p>
          <a:p xmlns:a="http://schemas.openxmlformats.org/drawingml/2006/main">
            <a:r>
              <a:t>          "output": "영상 시각 대비 상태 전이표와 담당자 확인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"누락 이벤트와 실제 이륙 준비상태 대조",</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"S-AX10",</a:t>
            </a:r>
          </a:p>
          <a:p xmlns:a="http://schemas.openxmlformats.org/drawingml/2006/main">
            <a:r>
              <a:t>        "title": "스키폴 Deep Turnaround · 운영기관 사례 / 게시일 미표시",</a:t>
            </a:r>
          </a:p>
          <a:p xmlns:a="http://schemas.openxmlformats.org/drawingml/2006/main">
            <a:r>
              <a:t>        "url": "https://www.schiphol.nl/en/aviation-solutions/case-study-amsterdam-airport-schiphol-deep-turnaround/",</a:t>
            </a:r>
          </a:p>
          <a:p xmlns:a="http://schemas.openxmlformats.org/drawingml/2006/main">
            <a:r>
              <a:t>        "published": "운영 사례",</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"현장 이벤트의 공동 상황판 연결",</a:t>
            </a:r>
          </a:p>
          <a:p xmlns:a="http://schemas.openxmlformats.org/drawingml/2006/main">
            <a:r>
              <a:t>    "local": "교통안전 점검 사건·담당자·보고 시점을 연결",</a:t>
            </a:r>
          </a:p>
          <a:p xmlns:a="http://schemas.openxmlformats.org/drawingml/2006/main">
            <a:r>
              <a:t>    "sourceDetail": null,</a:t>
            </a:r>
          </a:p>
          <a:p xmlns:a="http://schemas.openxmlformats.org/drawingml/2006/main">
            <a:r>
              <a:t>    "narrative": [</a:t>
            </a:r>
          </a:p>
          <a:p xmlns:a="http://schemas.openxmlformats.org/drawingml/2006/main">
            <a:r>
              <a:t>      "공항 지상조업의 진행 상태를 영상으로 파악하고 항공사·조업사·공항이 공유하는 사례. 서로 다른 담당자가 같은 항공편의 준비 상태를 확인하도록 하는 협업 변화.",</a:t>
            </a:r>
          </a:p>
          <a:p xmlns:a="http://schemas.openxmlformats.org/drawingml/2006/main">
            <a:r>
              <a:t>      "카메라 관측을 항공편·주기장·시각과 연결하고 조업 이벤트와 상태를 대시보드·API로 전달하는 구조의 재구성. 관측된 상태, 지연 추정, 실제 조업 조치를 별도 기록으로 관리.",</a:t>
            </a:r>
          </a:p>
          <a:p xmlns:a="http://schemas.openxmlformats.org/drawingml/2006/main">
            <a:r>
              <a:t>      "TS 현장 모니터링에 적용할 경우 야간·가림·날씨·카메라 위치별 편차를 평가할 필요. 탐지 정확도뿐 아니라 담당자가 확인한 시점, 조정 조치, 누락 이벤트의 복구까지 비교할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"조업 관측 접점",</a:t>
            </a:r>
          </a:p>
          <a:p xmlns:a="http://schemas.openxmlformats.org/drawingml/2006/main">
            <a:r>
              <a:t>          "layer": "이용 접점",</a:t>
            </a:r>
          </a:p>
          <a:p xmlns:a="http://schemas.openxmlformats.org/drawingml/2006/main">
            <a:r>
              <a:t>          "detail": "공항·항공사·조업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"항공편·주기장",</a:t>
            </a:r>
          </a:p>
          <a:p xmlns:a="http://schemas.openxmlformats.org/drawingml/2006/main">
            <a:r>
              <a:t>          "layer": "업무 문맥",</a:t>
            </a:r>
          </a:p>
          <a:p xmlns:a="http://schemas.openxmlformats.org/drawingml/2006/main">
            <a:r>
              <a:t>          "detail": "항공편·주기장·관측시각 매핑",</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"프레임·일정 조회",</a:t>
            </a:r>
          </a:p>
          <a:p xmlns:a="http://schemas.openxmlformats.org/drawingml/2006/main">
            <a:r>
              <a:t>          "layer": "자료 조회",</a:t>
            </a:r>
          </a:p>
          <a:p xmlns:a="http://schemas.openxmlformats.org/drawingml/2006/main">
            <a:r>
              <a:t>          "detail": "영상 프레임",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"조업 이벤트 인식",</a:t>
            </a:r>
          </a:p>
          <a:p xmlns:a="http://schemas.openxmlformats.org/drawingml/2006/main">
            <a:r>
              <a:t>          "layer": "핵심 처리",</a:t>
            </a:r>
          </a:p>
          <a:p xmlns:a="http://schemas.openxmlformats.org/drawingml/2006/main">
            <a:r>
              <a:t>          "detail": "영상에서 조업 이벤트와 상태 추출",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"시각·누락 대조",</a:t>
            </a:r>
          </a:p>
          <a:p xmlns:a="http://schemas.openxmlformats.org/drawingml/2006/main">
            <a:r>
              <a:t>          "layer": "결과 검증",</a:t>
            </a:r>
          </a:p>
          <a:p xmlns:a="http://schemas.openxmlformats.org/drawingml/2006/main">
            <a:r>
              <a:t>          "detail": "현장 기준 이벤트와 탐지 시각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"조업 담당 확인",</a:t>
            </a:r>
          </a:p>
          <a:p xmlns:a="http://schemas.openxmlformats.org/drawingml/2006/main">
            <a:r>
              <a:t>          "layer": "사람 확인",</a:t>
            </a:r>
          </a:p>
          <a:p xmlns:a="http://schemas.openxmlformats.org/drawingml/2006/main">
            <a:r>
              <a:t>          "detail": "항공편별 지상조업 단계와 지연 후보를 공동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"상황판·API 공유",</a:t>
            </a:r>
          </a:p>
          <a:p xmlns:a="http://schemas.openxmlformats.org/drawingml/2006/main">
            <a:r>
              <a:t>          "layer": "업무 연결",</a:t>
            </a:r>
          </a:p>
          <a:p xmlns:a="http://schemas.openxmlformats.org/drawingml/2006/main">
            <a:r>
              <a:t>          "detail": "지연 예상과 확인 필요 상태를 조업 담당자에게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"지연·현장 결과",</a:t>
            </a:r>
          </a:p>
          <a:p xmlns:a="http://schemas.openxmlformats.org/drawingml/2006/main">
            <a:r>
              <a:t>          "layer": "운영 관측",</a:t>
            </a:r>
          </a:p>
          <a:p xmlns:a="http://schemas.openxmlformats.org/drawingml/2006/main">
            <a:r>
              <a:t>          "detail": "누락 이벤트와 실제 이륙 준비상태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"계류장 영상",</a:t>
            </a:r>
          </a:p>
          <a:p xmlns:a="http://schemas.openxmlformats.org/drawingml/2006/main">
            <a:r>
              <a:t>          "layer": "데이터 원천",</a:t>
            </a:r>
          </a:p>
          <a:p xmlns:a="http://schemas.openxmlformats.org/drawingml/2006/main">
            <a:r>
              <a:t>          "detail": "시간별 조업 상태",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"영상·항공편 매핑",</a:t>
            </a:r>
          </a:p>
          <a:p xmlns:a="http://schemas.openxmlformats.org/drawingml/2006/main">
            <a:r>
              <a:t>          "layer": "준비·갱신",</a:t>
            </a:r>
          </a:p>
          <a:p xmlns:a="http://schemas.openxmlformats.org/drawingml/2006/main">
            <a:r>
              <a:t>          "detail": "카메라 프레임·항공편 일정·상태 이력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"이벤트 타임라인",</a:t>
            </a:r>
          </a:p>
          <a:p xmlns:a="http://schemas.openxmlformats.org/drawingml/2006/main">
            <a:r>
              <a:t>          "layer": "상태·지식 저장",</a:t>
            </a:r>
          </a:p>
          <a:p xmlns:a="http://schemas.openxmlformats.org/drawingml/2006/main">
            <a:r>
              <a:t>          "detail": "영상 시각 대비 상태 전이표와 담당자 확인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"영상·협업 권한",</a:t>
            </a:r>
          </a:p>
          <a:p xmlns:a="http://schemas.openxmlformats.org/drawingml/2006/main">
            <a:r>
              <a:t>          "layer": "권한·정책",</a:t>
            </a:r>
          </a:p>
          <a:p xmlns:a="http://schemas.openxmlformats.org/drawingml/2006/main">
            <a:r>
              <a:t>          "detail": "카메라 가림·항공편 변경·이벤트 순서 역전",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"카메라 영상 → 조업 상태 인식 → 대시보드·API → 담당자 조정"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"시간별 조업 상태",</a:t>
            </a:r>
          </a:p>
          <a:p xmlns:a="http://schemas.openxmlformats.org/drawingml/2006/main">
            <a:r>
              <a:t>          "check": "카메라 프레임·항공편 일정·상태 이력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"카메라 프레임·항공편 일정·상태 이력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"대시보드·API 상태",</a:t>
            </a:r>
          </a:p>
          <a:p xmlns:a="http://schemas.openxmlformats.org/drawingml/2006/main">
            <a:r>
              <a:t>          "check": "영상 시각 대비 상태 전이표와 담당자 확인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"영상·협업 권한",</a:t>
            </a:r>
          </a:p>
          <a:p xmlns:a="http://schemas.openxmlformats.org/drawingml/2006/main">
            <a:r>
              <a:t>          "check": "현장 기준 이벤트와 탐지 시각 대조"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"조업 조정",</a:t>
            </a:r>
          </a:p>
          <a:p xmlns:a="http://schemas.openxmlformats.org/drawingml/2006/main">
            <a:r>
              <a:t>          "check": "영상 시각 대비 상태 전이표와 담당자 확인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"누락 이벤트와 실제 이륙 준비상태 대조",</a:t>
            </a:r>
          </a:p>
          <a:p xmlns:a="http://schemas.openxmlformats.org/drawingml/2006/main">
            <a:r>
              <a:t>          "check": "누락 이벤트와 실제 이륙 준비상태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"항공기 지상조업 진행상태의 공동 파악 / 영상 분석·조업 단계·협업 알림",</a:t>
            </a:r>
          </a:p>
          <a:p xmlns:a="http://schemas.openxmlformats.org/drawingml/2006/main">
            <a:r>
              <a:t>        "extension": "교통안전 점검 사건·담당자·보고 시점을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"카메라 가림·항공편 변경·이벤트 순서 역전",</a:t>
            </a:r>
          </a:p>
          <a:p xmlns:a="http://schemas.openxmlformats.org/drawingml/2006/main">
            <a:r>
              <a:t>        "hold": "현장 기준 이벤트와 탐지 시각 대조",</a:t>
            </a:r>
          </a:p>
          <a:p xmlns:a="http://schemas.openxmlformats.org/drawingml/2006/main">
            <a:r>
              <a:t>        "recovery": "누락 이벤트와 실제 이륙 준비상태 대조",</a:t>
            </a:r>
          </a:p>
          <a:p xmlns:a="http://schemas.openxmlformats.org/drawingml/2006/main">
            <a:r>
              <a:t>        "evidence": "영상 시각 대비 상태 전이표와 담당자 확인 기록"</a:t>
            </a:r>
          </a:p>
          <a:p xmlns:a="http://schemas.openxmlformats.org/drawingml/2006/main">
            <a:r>
              <a:t>      },</a:t>
            </a:r>
          </a:p>
          <a:p xmlns:a="http://schemas.openxmlformats.org/drawingml/2006/main">
            <a:r>
              <a:t>      "data": {</a:t>
            </a:r>
          </a:p>
          <a:p xmlns:a="http://schemas.openxmlformats.org/drawingml/2006/main">
            <a:r>
              <a:t>        "source": "시간별 조업 상태",</a:t>
            </a:r>
          </a:p>
          <a:p xmlns:a="http://schemas.openxmlformats.org/drawingml/2006/main">
            <a:r>
              <a:t>        "prepare": "카메라 프레임·항공편 일정·상태 이력 연결",</a:t>
            </a:r>
          </a:p>
          <a:p xmlns:a="http://schemas.openxmlformats.org/drawingml/2006/main">
            <a:r>
              <a:t>        "output": "영상 프레임",</a:t>
            </a:r>
          </a:p>
          <a:p xmlns:a="http://schemas.openxmlformats.org/drawingml/2006/main">
            <a:r>
              <a:t>        "refresh": "누락 이벤트와 실제 이륙 준비상태 대조"</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"AX10",</a:t>
            </a:r>
          </a:p>
          <a:p xmlns:a="http://schemas.openxmlformats.org/drawingml/2006/main">
            <a:r>
              <a:t>    "success": [</a:t>
            </a:r>
          </a:p>
          <a:p xmlns:a="http://schemas.openxmlformats.org/drawingml/2006/main">
            <a:r>
              <a:t>      "공통 조업 상태의 공유",</a:t>
            </a:r>
          </a:p>
          <a:p xmlns:a="http://schemas.openxmlformats.org/drawingml/2006/main">
            <a:r>
              <a:t>      "영상 관측과 실제 현장 조정 연결"</a:t>
            </a:r>
          </a:p>
          <a:p xmlns:a="http://schemas.openxmlformats.org/drawingml/2006/main">
            <a:r>
              <a:t>    ],</a:t>
            </a:r>
          </a:p>
          <a:p xmlns:a="http://schemas.openxmlformats.org/drawingml/2006/main">
            <a:r>
              <a:t>    "risks": [</a:t>
            </a:r>
          </a:p>
          <a:p xmlns:a="http://schemas.openxmlformats.org/drawingml/2006/main">
            <a:r>
              <a:t>      "가림·야간·날씨에 따른 인식 편차",</a:t>
            </a:r>
          </a:p>
          <a:p xmlns:a="http://schemas.openxmlformats.org/drawingml/2006/main">
            <a:r>
              <a:t>      "상태 추정과 안전 판단의 혼동"</a:t>
            </a:r>
          </a:p>
          <a:p xmlns:a="http://schemas.openxmlformats.org/drawingml/2006/main">
            <a:r>
              <a:t>    ],</a:t>
            </a:r>
          </a:p>
          <a:p xmlns:a="http://schemas.openxmlformats.org/drawingml/2006/main">
            <a:r>
              <a:t>    "architecture": [</a:t>
            </a:r>
          </a:p>
          <a:p xmlns:a="http://schemas.openxmlformats.org/drawingml/2006/main">
            <a:r>
              <a:t>      "계류장 카메라",</a:t>
            </a:r>
          </a:p>
          <a:p xmlns:a="http://schemas.openxmlformats.org/drawingml/2006/main">
            <a:r>
              <a:t>      "조업 이벤트 인식",</a:t>
            </a:r>
          </a:p>
          <a:p xmlns:a="http://schemas.openxmlformats.org/drawingml/2006/main">
            <a:r>
              <a:t>      "시간별 조업 상태",</a:t>
            </a:r>
          </a:p>
          <a:p xmlns:a="http://schemas.openxmlformats.org/drawingml/2006/main">
            <a:r>
              <a:t>      "공항·조업 담당"</a:t>
            </a:r>
          </a:p>
          <a:p xmlns:a="http://schemas.openxmlformats.org/drawingml/2006/main">
            <a:r>
              <a:t>    ],</a:t>
            </a:r>
          </a:p>
          <a:p xmlns:a="http://schemas.openxmlformats.org/drawingml/2006/main">
            <a:r>
              <a:t>    "transfers": [</a:t>
            </a:r>
          </a:p>
          <a:p xmlns:a="http://schemas.openxmlformats.org/drawingml/2006/main">
            <a:r>
              <a:t>      "영상 프레임",</a:t>
            </a:r>
          </a:p>
          <a:p xmlns:a="http://schemas.openxmlformats.org/drawingml/2006/main">
            <a:r>
              <a:t>      "이벤트·시각",</a:t>
            </a:r>
          </a:p>
          <a:p xmlns:a="http://schemas.openxmlformats.org/drawingml/2006/main">
            <a:r>
              <a:t>      "대시보드·API 상태",</a:t>
            </a:r>
          </a:p>
          <a:p xmlns:a="http://schemas.openxmlformats.org/drawingml/2006/main">
            <a:r>
              <a:t>      "조업 조정"</a:t>
            </a:r>
          </a:p>
          <a:p xmlns:a="http://schemas.openxmlformats.org/drawingml/2006/main">
            <a:r>
              <a:t>    ],</a:t>
            </a:r>
          </a:p>
          <a:p xmlns:a="http://schemas.openxmlformats.org/drawingml/2006/main">
            <a:r>
              <a:t>    "control": "현장 기준 이벤트와 탐지 시각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스키폴 Deep Turnaround · 운영기관 사례 / 게시일 미표시 https://www.schiphol.nl/en/aviation-solutions/case-study-amsterdam-airport-schiphol-deep-turnaround/</a:t>
            </a:r>
          </a:p>
          <a:p xmlns:a="http://schemas.openxmlformats.org/drawingml/2006/main">
            <a:r>
              <a:t>홈페이지 https://heen1987-ops.github.io/TS-business-Plan-001/index.html?view=casebook&amp;case=AX10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"AX10",</a:t>
            </a:r>
          </a:p>
          <a:p xmlns:a="http://schemas.openxmlformats.org/drawingml/2006/main">
            <a:r>
              <a:t>    "title": "스키폴 Deep Turnaround",</a:t>
            </a:r>
          </a:p>
          <a:p xmlns:a="http://schemas.openxmlformats.org/drawingml/2006/main">
            <a:r>
              <a:t>    "region": "해외",</a:t>
            </a:r>
          </a:p>
          <a:p xmlns:a="http://schemas.openxmlformats.org/drawingml/2006/main">
            <a:r>
              <a:t>    "country": "네덜란드",</a:t>
            </a:r>
          </a:p>
          <a:p xmlns:a="http://schemas.openxmlformats.org/drawingml/2006/main">
            <a:r>
              <a:t>    "result": "성공",</a:t>
            </a:r>
          </a:p>
          <a:p xmlns:a="http://schemas.openxmlformats.org/drawingml/2006/main">
            <a:r>
              <a:t>    "kind": "공항 지상조업 영상 분석",</a:t>
            </a:r>
          </a:p>
          <a:p xmlns:a="http://schemas.openxmlformats.org/drawingml/2006/main">
            <a:r>
              <a:t>    "period": "운영 사례",</a:t>
            </a:r>
          </a:p>
          <a:p xmlns:a="http://schemas.openxmlformats.org/drawingml/2006/main">
            <a:r>
              <a:t>    "sources": [</a:t>
            </a:r>
          </a:p>
          <a:p xmlns:a="http://schemas.openxmlformats.org/drawingml/2006/main">
            <a:r>
              <a:t>      "S-AX10"</a:t>
            </a:r>
          </a:p>
          <a:p xmlns:a="http://schemas.openxmlformats.org/drawingml/2006/main">
            <a:r>
              <a:t>    ],</a:t>
            </a:r>
          </a:p>
          <a:p xmlns:a="http://schemas.openxmlformats.org/drawingml/2006/main">
            <a:r>
              <a:t>    "keywords": [</a:t>
            </a:r>
          </a:p>
          <a:p xmlns:a="http://schemas.openxmlformats.org/drawingml/2006/main">
            <a:r>
              <a:t>      "공항 지상조업 영상 분석"</a:t>
            </a:r>
          </a:p>
          <a:p xmlns:a="http://schemas.openxmlformats.org/drawingml/2006/main">
            <a:r>
              <a:t>    ],</a:t>
            </a:r>
          </a:p>
          <a:p xmlns:a="http://schemas.openxmlformats.org/drawingml/2006/main">
            <a:r>
              <a:t>    "fact": "카메라 영상에서 지상조업 진행 상태를 추출하여 공항·조업 담당자의 협업에 활용",</a:t>
            </a:r>
          </a:p>
          <a:p xmlns:a="http://schemas.openxmlformats.org/drawingml/2006/main">
            <a:r>
              <a:t>    "limit": "운영기관 발표 · TS 감독 업무와 공항 조업 운영의 역할 차이",</a:t>
            </a:r>
          </a:p>
          <a:p xmlns:a="http://schemas.openxmlformats.org/drawingml/2006/main">
            <a:r>
              <a:t>    "flow": [</a:t>
            </a:r>
          </a:p>
          <a:p xmlns:a="http://schemas.openxmlformats.org/drawingml/2006/main">
            <a:r>
              <a:t>      "카메라 영상",</a:t>
            </a:r>
          </a:p>
          <a:p xmlns:a="http://schemas.openxmlformats.org/drawingml/2006/main">
            <a:r>
              <a:t>      "조업 상태 인식",</a:t>
            </a:r>
          </a:p>
          <a:p xmlns:a="http://schemas.openxmlformats.org/drawingml/2006/main">
            <a:r>
              <a:t>      "대시보드·API",</a:t>
            </a:r>
          </a:p>
          <a:p xmlns:a="http://schemas.openxmlformats.org/drawingml/2006/main">
            <a:r>
              <a:t>      "담당자 조정"</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"현장 이벤트의 공동 상황판 연결",</a:t>
            </a:r>
          </a:p>
          <a:p xmlns:a="http://schemas.openxmlformats.org/drawingml/2006/main">
            <a:r>
              <a:t>    "local": "교통안전 점검 사건·담당자·보고 시점을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"사건 분류·증거 시각·협업 인계",</a:t>
            </a:r>
          </a:p>
          <a:p xmlns:a="http://schemas.openxmlformats.org/drawingml/2006/main">
            <a:r>
              <a:t>    "test": "지연·중복 이벤트와 원영상 대조",</a:t>
            </a:r>
          </a:p>
          <a:p xmlns:a="http://schemas.openxmlformats.org/drawingml/2006/main">
            <a:r>
              <a:t>    "metric": "상황 확인시간 / 인계 누락률",</a:t>
            </a:r>
          </a:p>
          <a:p xmlns:a="http://schemas.openxmlformats.org/drawingml/2006/main">
            <a:r>
              <a:t>    "strategies": [</a:t>
            </a:r>
          </a:p>
          <a:p xmlns:a="http://schemas.openxmlformats.org/drawingml/2006/main">
            <a:r>
              <a:t>      "ST-03",</a:t>
            </a:r>
          </a:p>
          <a:p xmlns:a="http://schemas.openxmlformats.org/drawingml/2006/main">
            <a:r>
              <a:t>      "ST-05",</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"AX10",</a:t>
            </a:r>
          </a:p>
          <a:p xmlns:a="http://schemas.openxmlformats.org/drawingml/2006/main">
            <a:r>
              <a:t>    "canonicalId": "AX10",</a:t>
            </a:r>
          </a:p>
          <a:p xmlns:a="http://schemas.openxmlformats.org/drawingml/2006/main">
            <a:r>
              <a:t>    "purpose": "항공기 지상조업 진행상태의 공동 파악",</a:t>
            </a:r>
          </a:p>
          <a:p xmlns:a="http://schemas.openxmlformats.org/drawingml/2006/main">
            <a:r>
              <a:t>    "users": "공항·항공사·조업 담당자",</a:t>
            </a:r>
          </a:p>
          <a:p xmlns:a="http://schemas.openxmlformats.org/drawingml/2006/main">
            <a:r>
              <a:t>    "scope": [</a:t>
            </a:r>
          </a:p>
          <a:p xmlns:a="http://schemas.openxmlformats.org/drawingml/2006/main">
            <a:r>
              <a:t>      "영상 분석",</a:t>
            </a:r>
          </a:p>
          <a:p xmlns:a="http://schemas.openxmlformats.org/drawingml/2006/main">
            <a:r>
              <a:t>      "조업 단계",</a:t>
            </a:r>
          </a:p>
          <a:p xmlns:a="http://schemas.openxmlformats.org/drawingml/2006/main">
            <a:r>
              <a:t>      "협업 알림"</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"계류장 카메라",</a:t>
            </a:r>
          </a:p>
          <a:p xmlns:a="http://schemas.openxmlformats.org/drawingml/2006/main">
            <a:r>
              <a:t>        "detail": "항공편·주기장·관측시각 매핑",</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"영상 분석 / 조업 단계 / 협업 알림",</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"조업 이벤트 인식",</a:t>
            </a:r>
          </a:p>
          <a:p xmlns:a="http://schemas.openxmlformats.org/drawingml/2006/main">
            <a:r>
              <a:t>        "detail": "영상에서 조업 이벤트와 상태 추출",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"공항·조업 담당",</a:t>
            </a:r>
          </a:p>
          <a:p xmlns:a="http://schemas.openxmlformats.org/drawingml/2006/main">
            <a:r>
              <a:t>        "detail": "지연 예상과 확인 필요 상태를 조업 담당자에게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"시간별 조업 상태",</a:t>
            </a:r>
          </a:p>
          <a:p xmlns:a="http://schemas.openxmlformats.org/drawingml/2006/main">
            <a:r>
              <a:t>        "detail": "카메라 프레임·항공편 일정·상태 이력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"누락 이벤트와 실제 이륙 준비상태 대조",</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"카메라 영상",</a:t>
            </a:r>
          </a:p>
          <a:p xmlns:a="http://schemas.openxmlformats.org/drawingml/2006/main">
            <a:r>
              <a:t>        "input": "항공편·주기장·관측시각 매핑",</a:t>
            </a:r>
          </a:p>
          <a:p xmlns:a="http://schemas.openxmlformats.org/drawingml/2006/main">
            <a:r>
              <a:t>        "process": "카메라 프레임·항공편 일정·상태 이력 연결",</a:t>
            </a:r>
          </a:p>
          <a:p xmlns:a="http://schemas.openxmlformats.org/drawingml/2006/main">
            <a:r>
              <a:t>        "output": "영상 프레임"</a:t>
            </a:r>
          </a:p>
          <a:p xmlns:a="http://schemas.openxmlformats.org/drawingml/2006/main">
            <a:r>
              <a:t>      },</a:t>
            </a:r>
          </a:p>
          <a:p xmlns:a="http://schemas.openxmlformats.org/drawingml/2006/main">
            <a:r>
              <a:t>      {</a:t>
            </a:r>
          </a:p>
          <a:p xmlns:a="http://schemas.openxmlformats.org/drawingml/2006/main">
            <a:r>
              <a:t>        "title": "조업 상태 인식",</a:t>
            </a:r>
          </a:p>
          <a:p xmlns:a="http://schemas.openxmlformats.org/drawingml/2006/main">
            <a:r>
              <a:t>        "input": "영상 프레임",</a:t>
            </a:r>
          </a:p>
          <a:p xmlns:a="http://schemas.openxmlformats.org/drawingml/2006/main">
            <a:r>
              <a:t>        "process": "영상에서 조업 이벤트와 상태 추출",</a:t>
            </a:r>
          </a:p>
          <a:p xmlns:a="http://schemas.openxmlformats.org/drawingml/2006/main">
            <a:r>
              <a:t>        "output": "이벤트·시각"</a:t>
            </a:r>
          </a:p>
          <a:p xmlns:a="http://schemas.openxmlformats.org/drawingml/2006/main">
            <a:r>
              <a:t>      },</a:t>
            </a:r>
          </a:p>
          <a:p xmlns:a="http://schemas.openxmlformats.org/drawingml/2006/main">
            <a:r>
              <a:t>      {</a:t>
            </a:r>
          </a:p>
          <a:p xmlns:a="http://schemas.openxmlformats.org/drawingml/2006/main">
            <a:r>
              <a:t>        "title": "대시보드·API",</a:t>
            </a:r>
          </a:p>
          <a:p xmlns:a="http://schemas.openxmlformats.org/drawingml/2006/main">
            <a:r>
              <a:t>        "input": "이벤트·시각",</a:t>
            </a:r>
          </a:p>
          <a:p xmlns:a="http://schemas.openxmlformats.org/drawingml/2006/main">
            <a:r>
              <a:t>        "process": "현장 기준 이벤트와 탐지 시각 대조",</a:t>
            </a:r>
          </a:p>
          <a:p xmlns:a="http://schemas.openxmlformats.org/drawingml/2006/main">
            <a:r>
              <a:t>        "output": "대시보드·API 상태"</a:t>
            </a:r>
          </a:p>
          <a:p xmlns:a="http://schemas.openxmlformats.org/drawingml/2006/main">
            <a:r>
              <a:t>      },</a:t>
            </a:r>
          </a:p>
          <a:p xmlns:a="http://schemas.openxmlformats.org/drawingml/2006/main">
            <a:r>
              <a:t>      {</a:t>
            </a:r>
          </a:p>
          <a:p xmlns:a="http://schemas.openxmlformats.org/drawingml/2006/main">
            <a:r>
              <a:t>        "title": "담당자 조정",</a:t>
            </a:r>
          </a:p>
          <a:p xmlns:a="http://schemas.openxmlformats.org/drawingml/2006/main">
            <a:r>
              <a:t>        "input": "대시보드·API 상태",</a:t>
            </a:r>
          </a:p>
          <a:p xmlns:a="http://schemas.openxmlformats.org/drawingml/2006/main">
            <a:r>
              <a:t>        "process": "지연 예상과 확인 필요 상태를 조업 담당자에게 제공",</a:t>
            </a:r>
          </a:p>
          <a:p xmlns:a="http://schemas.openxmlformats.org/drawingml/2006/main">
            <a:r>
              <a:t>        "output": "조업 조정"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"항공편별 지상조업 단계와 지연 후보를 공동 확인",</a:t>
            </a:r>
          </a:p>
          <a:p xmlns:a="http://schemas.openxmlformats.org/drawingml/2006/main">
            <a:r>
              <a:t>      "exception": "카메라 가림·항공편 변경·이벤트 순서 역전",</a:t>
            </a:r>
          </a:p>
          <a:p xmlns:a="http://schemas.openxmlformats.org/drawingml/2006/main">
            <a:r>
              <a:t>      "evidence": "영상 시각 대비 상태 전이표와 담당자 확인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"공항·항공사·조업 담당자",</a:t>
            </a:r>
          </a:p>
          <a:p xmlns:a="http://schemas.openxmlformats.org/drawingml/2006/main">
            <a:r>
              <a:t>          "processing": "항공편·주기장·관측시각 매핑",</a:t>
            </a:r>
          </a:p>
          <a:p xmlns:a="http://schemas.openxmlformats.org/drawingml/2006/main">
            <a:r>
              <a:t>          "output": "영상 프레임"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"시간별 조업 상태",</a:t>
            </a:r>
          </a:p>
          <a:p xmlns:a="http://schemas.openxmlformats.org/drawingml/2006/main">
            <a:r>
              <a:t>          "processing": "카메라 프레임·항공편 일정·상태 이력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"영상 프레임",</a:t>
            </a:r>
          </a:p>
          <a:p xmlns:a="http://schemas.openxmlformats.org/drawingml/2006/main">
            <a:r>
              <a:t>          "processing": "영상에서 조업 이벤트와 상태 추출",</a:t>
            </a:r>
          </a:p>
          <a:p xmlns:a="http://schemas.openxmlformats.org/drawingml/2006/main">
            <a:r>
              <a:t>          "output": "대시보드·API 상태"</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"대시보드·API 상태",</a:t>
            </a:r>
          </a:p>
          <a:p xmlns:a="http://schemas.openxmlformats.org/drawingml/2006/main">
            <a:r>
              <a:t>          "processing": "지연 예상과 확인 필요 상태를 조업 담당자에게 제공",</a:t>
            </a:r>
          </a:p>
          <a:p xmlns:a="http://schemas.openxmlformats.org/drawingml/2006/main">
            <a:r>
              <a:t>          "output": "조업 조정"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"누락 이벤트와 실제 이륙 준비상태 대조",</a:t>
            </a:r>
          </a:p>
          <a:p xmlns:a="http://schemas.openxmlformats.org/drawingml/2006/main">
            <a:r>
              <a:t>          "output": "영상 시각 대비 상태 전이표와 담당자 확인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"누락 이벤트와 실제 이륙 준비상태 대조",</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"S-AX10",</a:t>
            </a:r>
          </a:p>
          <a:p xmlns:a="http://schemas.openxmlformats.org/drawingml/2006/main">
            <a:r>
              <a:t>        "title": "스키폴 Deep Turnaround · 운영기관 사례 / 게시일 미표시",</a:t>
            </a:r>
          </a:p>
          <a:p xmlns:a="http://schemas.openxmlformats.org/drawingml/2006/main">
            <a:r>
              <a:t>        "url": "https://www.schiphol.nl/en/aviation-solutions/case-study-amsterdam-airport-schiphol-deep-turnaround/",</a:t>
            </a:r>
          </a:p>
          <a:p xmlns:a="http://schemas.openxmlformats.org/drawingml/2006/main">
            <a:r>
              <a:t>        "published": "운영 사례",</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"현장 이벤트의 공동 상황판 연결",</a:t>
            </a:r>
          </a:p>
          <a:p xmlns:a="http://schemas.openxmlformats.org/drawingml/2006/main">
            <a:r>
              <a:t>    "local": "교통안전 점검 사건·담당자·보고 시점을 연결",</a:t>
            </a:r>
          </a:p>
          <a:p xmlns:a="http://schemas.openxmlformats.org/drawingml/2006/main">
            <a:r>
              <a:t>    "sourceDetail": null,</a:t>
            </a:r>
          </a:p>
          <a:p xmlns:a="http://schemas.openxmlformats.org/drawingml/2006/main">
            <a:r>
              <a:t>    "narrative": [</a:t>
            </a:r>
          </a:p>
          <a:p xmlns:a="http://schemas.openxmlformats.org/drawingml/2006/main">
            <a:r>
              <a:t>      "공항 지상조업의 진행 상태를 영상으로 파악하고 항공사·조업사·공항이 공유하는 사례. 서로 다른 담당자가 같은 항공편의 준비 상태를 확인하도록 하는 협업 변화.",</a:t>
            </a:r>
          </a:p>
          <a:p xmlns:a="http://schemas.openxmlformats.org/drawingml/2006/main">
            <a:r>
              <a:t>      "카메라 관측을 항공편·주기장·시각과 연결하고 조업 이벤트와 상태를 대시보드·API로 전달하는 구조의 재구성. 관측된 상태, 지연 추정, 실제 조업 조치를 별도 기록으로 관리.",</a:t>
            </a:r>
          </a:p>
          <a:p xmlns:a="http://schemas.openxmlformats.org/drawingml/2006/main">
            <a:r>
              <a:t>      "TS 현장 모니터링에 적용할 경우 야간·가림·날씨·카메라 위치별 편차를 평가할 필요. 탐지 정확도뿐 아니라 담당자가 확인한 시점, 조정 조치, 누락 이벤트의 복구까지 비교할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"조업 관측 접점",</a:t>
            </a:r>
          </a:p>
          <a:p xmlns:a="http://schemas.openxmlformats.org/drawingml/2006/main">
            <a:r>
              <a:t>          "layer": "이용 접점",</a:t>
            </a:r>
          </a:p>
          <a:p xmlns:a="http://schemas.openxmlformats.org/drawingml/2006/main">
            <a:r>
              <a:t>          "detail": "공항·항공사·조업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"항공편·주기장",</a:t>
            </a:r>
          </a:p>
          <a:p xmlns:a="http://schemas.openxmlformats.org/drawingml/2006/main">
            <a:r>
              <a:t>          "layer": "업무 문맥",</a:t>
            </a:r>
          </a:p>
          <a:p xmlns:a="http://schemas.openxmlformats.org/drawingml/2006/main">
            <a:r>
              <a:t>          "detail": "항공편·주기장·관측시각 매핑",</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"프레임·일정 조회",</a:t>
            </a:r>
          </a:p>
          <a:p xmlns:a="http://schemas.openxmlformats.org/drawingml/2006/main">
            <a:r>
              <a:t>          "layer": "자료 조회",</a:t>
            </a:r>
          </a:p>
          <a:p xmlns:a="http://schemas.openxmlformats.org/drawingml/2006/main">
            <a:r>
              <a:t>          "detail": "영상 프레임",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"조업 이벤트 인식",</a:t>
            </a:r>
          </a:p>
          <a:p xmlns:a="http://schemas.openxmlformats.org/drawingml/2006/main">
            <a:r>
              <a:t>          "layer": "핵심 처리",</a:t>
            </a:r>
          </a:p>
          <a:p xmlns:a="http://schemas.openxmlformats.org/drawingml/2006/main">
            <a:r>
              <a:t>          "detail": "영상에서 조업 이벤트와 상태 추출",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"시각·누락 대조",</a:t>
            </a:r>
          </a:p>
          <a:p xmlns:a="http://schemas.openxmlformats.org/drawingml/2006/main">
            <a:r>
              <a:t>          "layer": "결과 검증",</a:t>
            </a:r>
          </a:p>
          <a:p xmlns:a="http://schemas.openxmlformats.org/drawingml/2006/main">
            <a:r>
              <a:t>          "detail": "현장 기준 이벤트와 탐지 시각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"조업 담당 확인",</a:t>
            </a:r>
          </a:p>
          <a:p xmlns:a="http://schemas.openxmlformats.org/drawingml/2006/main">
            <a:r>
              <a:t>          "layer": "사람 확인",</a:t>
            </a:r>
          </a:p>
          <a:p xmlns:a="http://schemas.openxmlformats.org/drawingml/2006/main">
            <a:r>
              <a:t>          "detail": "항공편별 지상조업 단계와 지연 후보를 공동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"상황판·API 공유",</a:t>
            </a:r>
          </a:p>
          <a:p xmlns:a="http://schemas.openxmlformats.org/drawingml/2006/main">
            <a:r>
              <a:t>          "layer": "업무 연결",</a:t>
            </a:r>
          </a:p>
          <a:p xmlns:a="http://schemas.openxmlformats.org/drawingml/2006/main">
            <a:r>
              <a:t>          "detail": "지연 예상과 확인 필요 상태를 조업 담당자에게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"지연·현장 결과",</a:t>
            </a:r>
          </a:p>
          <a:p xmlns:a="http://schemas.openxmlformats.org/drawingml/2006/main">
            <a:r>
              <a:t>          "layer": "운영 관측",</a:t>
            </a:r>
          </a:p>
          <a:p xmlns:a="http://schemas.openxmlformats.org/drawingml/2006/main">
            <a:r>
              <a:t>          "detail": "누락 이벤트와 실제 이륙 준비상태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"계류장 영상",</a:t>
            </a:r>
          </a:p>
          <a:p xmlns:a="http://schemas.openxmlformats.org/drawingml/2006/main">
            <a:r>
              <a:t>          "layer": "데이터 원천",</a:t>
            </a:r>
          </a:p>
          <a:p xmlns:a="http://schemas.openxmlformats.org/drawingml/2006/main">
            <a:r>
              <a:t>          "detail": "시간별 조업 상태",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"영상·항공편 매핑",</a:t>
            </a:r>
          </a:p>
          <a:p xmlns:a="http://schemas.openxmlformats.org/drawingml/2006/main">
            <a:r>
              <a:t>          "layer": "준비·갱신",</a:t>
            </a:r>
          </a:p>
          <a:p xmlns:a="http://schemas.openxmlformats.org/drawingml/2006/main">
            <a:r>
              <a:t>          "detail": "카메라 프레임·항공편 일정·상태 이력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"이벤트 타임라인",</a:t>
            </a:r>
          </a:p>
          <a:p xmlns:a="http://schemas.openxmlformats.org/drawingml/2006/main">
            <a:r>
              <a:t>          "layer": "상태·지식 저장",</a:t>
            </a:r>
          </a:p>
          <a:p xmlns:a="http://schemas.openxmlformats.org/drawingml/2006/main">
            <a:r>
              <a:t>          "detail": "영상 시각 대비 상태 전이표와 담당자 확인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"영상·협업 권한",</a:t>
            </a:r>
          </a:p>
          <a:p xmlns:a="http://schemas.openxmlformats.org/drawingml/2006/main">
            <a:r>
              <a:t>          "layer": "권한·정책",</a:t>
            </a:r>
          </a:p>
          <a:p xmlns:a="http://schemas.openxmlformats.org/drawingml/2006/main">
            <a:r>
              <a:t>          "detail": "카메라 가림·항공편 변경·이벤트 순서 역전",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"카메라 영상 → 조업 상태 인식 → 대시보드·API → 담당자 조정"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"시간별 조업 상태",</a:t>
            </a:r>
          </a:p>
          <a:p xmlns:a="http://schemas.openxmlformats.org/drawingml/2006/main">
            <a:r>
              <a:t>          "check": "카메라 프레임·항공편 일정·상태 이력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"카메라 프레임·항공편 일정·상태 이력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"대시보드·API 상태",</a:t>
            </a:r>
          </a:p>
          <a:p xmlns:a="http://schemas.openxmlformats.org/drawingml/2006/main">
            <a:r>
              <a:t>          "check": "영상 시각 대비 상태 전이표와 담당자 확인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"영상·협업 권한",</a:t>
            </a:r>
          </a:p>
          <a:p xmlns:a="http://schemas.openxmlformats.org/drawingml/2006/main">
            <a:r>
              <a:t>          "check": "현장 기준 이벤트와 탐지 시각 대조"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"조업 조정",</a:t>
            </a:r>
          </a:p>
          <a:p xmlns:a="http://schemas.openxmlformats.org/drawingml/2006/main">
            <a:r>
              <a:t>          "check": "영상 시각 대비 상태 전이표와 담당자 확인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"누락 이벤트와 실제 이륙 준비상태 대조",</a:t>
            </a:r>
          </a:p>
          <a:p xmlns:a="http://schemas.openxmlformats.org/drawingml/2006/main">
            <a:r>
              <a:t>          "check": "누락 이벤트와 실제 이륙 준비상태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"항공기 지상조업 진행상태의 공동 파악 / 영상 분석·조업 단계·협업 알림",</a:t>
            </a:r>
          </a:p>
          <a:p xmlns:a="http://schemas.openxmlformats.org/drawingml/2006/main">
            <a:r>
              <a:t>        "extension": "교통안전 점검 사건·담당자·보고 시점을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"카메라 가림·항공편 변경·이벤트 순서 역전",</a:t>
            </a:r>
          </a:p>
          <a:p xmlns:a="http://schemas.openxmlformats.org/drawingml/2006/main">
            <a:r>
              <a:t>        "hold": "현장 기준 이벤트와 탐지 시각 대조",</a:t>
            </a:r>
          </a:p>
          <a:p xmlns:a="http://schemas.openxmlformats.org/drawingml/2006/main">
            <a:r>
              <a:t>        "recovery": "누락 이벤트와 실제 이륙 준비상태 대조",</a:t>
            </a:r>
          </a:p>
          <a:p xmlns:a="http://schemas.openxmlformats.org/drawingml/2006/main">
            <a:r>
              <a:t>        "evidence": "영상 시각 대비 상태 전이표와 담당자 확인 기록"</a:t>
            </a:r>
          </a:p>
          <a:p xmlns:a="http://schemas.openxmlformats.org/drawingml/2006/main">
            <a:r>
              <a:t>      },</a:t>
            </a:r>
          </a:p>
          <a:p xmlns:a="http://schemas.openxmlformats.org/drawingml/2006/main">
            <a:r>
              <a:t>      "data": {</a:t>
            </a:r>
          </a:p>
          <a:p xmlns:a="http://schemas.openxmlformats.org/drawingml/2006/main">
            <a:r>
              <a:t>        "source": "시간별 조업 상태",</a:t>
            </a:r>
          </a:p>
          <a:p xmlns:a="http://schemas.openxmlformats.org/drawingml/2006/main">
            <a:r>
              <a:t>        "prepare": "카메라 프레임·항공편 일정·상태 이력 연결",</a:t>
            </a:r>
          </a:p>
          <a:p xmlns:a="http://schemas.openxmlformats.org/drawingml/2006/main">
            <a:r>
              <a:t>        "output": "영상 프레임",</a:t>
            </a:r>
          </a:p>
          <a:p xmlns:a="http://schemas.openxmlformats.org/drawingml/2006/main">
            <a:r>
              <a:t>        "refresh": "누락 이벤트와 실제 이륙 준비상태 대조"</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"AX10",</a:t>
            </a:r>
          </a:p>
          <a:p xmlns:a="http://schemas.openxmlformats.org/drawingml/2006/main">
            <a:r>
              <a:t>    "success": [</a:t>
            </a:r>
          </a:p>
          <a:p xmlns:a="http://schemas.openxmlformats.org/drawingml/2006/main">
            <a:r>
              <a:t>      "공통 조업 상태의 공유",</a:t>
            </a:r>
          </a:p>
          <a:p xmlns:a="http://schemas.openxmlformats.org/drawingml/2006/main">
            <a:r>
              <a:t>      "영상 관측과 실제 현장 조정 연결"</a:t>
            </a:r>
          </a:p>
          <a:p xmlns:a="http://schemas.openxmlformats.org/drawingml/2006/main">
            <a:r>
              <a:t>    ],</a:t>
            </a:r>
          </a:p>
          <a:p xmlns:a="http://schemas.openxmlformats.org/drawingml/2006/main">
            <a:r>
              <a:t>    "risks": [</a:t>
            </a:r>
          </a:p>
          <a:p xmlns:a="http://schemas.openxmlformats.org/drawingml/2006/main">
            <a:r>
              <a:t>      "가림·야간·날씨에 따른 인식 편차",</a:t>
            </a:r>
          </a:p>
          <a:p xmlns:a="http://schemas.openxmlformats.org/drawingml/2006/main">
            <a:r>
              <a:t>      "상태 추정과 안전 판단의 혼동"</a:t>
            </a:r>
          </a:p>
          <a:p xmlns:a="http://schemas.openxmlformats.org/drawingml/2006/main">
            <a:r>
              <a:t>    ],</a:t>
            </a:r>
          </a:p>
          <a:p xmlns:a="http://schemas.openxmlformats.org/drawingml/2006/main">
            <a:r>
              <a:t>    "architecture": [</a:t>
            </a:r>
          </a:p>
          <a:p xmlns:a="http://schemas.openxmlformats.org/drawingml/2006/main">
            <a:r>
              <a:t>      "계류장 카메라",</a:t>
            </a:r>
          </a:p>
          <a:p xmlns:a="http://schemas.openxmlformats.org/drawingml/2006/main">
            <a:r>
              <a:t>      "조업 이벤트 인식",</a:t>
            </a:r>
          </a:p>
          <a:p xmlns:a="http://schemas.openxmlformats.org/drawingml/2006/main">
            <a:r>
              <a:t>      "시간별 조업 상태",</a:t>
            </a:r>
          </a:p>
          <a:p xmlns:a="http://schemas.openxmlformats.org/drawingml/2006/main">
            <a:r>
              <a:t>      "공항·조업 담당"</a:t>
            </a:r>
          </a:p>
          <a:p xmlns:a="http://schemas.openxmlformats.org/drawingml/2006/main">
            <a:r>
              <a:t>    ],</a:t>
            </a:r>
          </a:p>
          <a:p xmlns:a="http://schemas.openxmlformats.org/drawingml/2006/main">
            <a:r>
              <a:t>    "transfers": [</a:t>
            </a:r>
          </a:p>
          <a:p xmlns:a="http://schemas.openxmlformats.org/drawingml/2006/main">
            <a:r>
              <a:t>      "영상 프레임",</a:t>
            </a:r>
          </a:p>
          <a:p xmlns:a="http://schemas.openxmlformats.org/drawingml/2006/main">
            <a:r>
              <a:t>      "이벤트·시각",</a:t>
            </a:r>
          </a:p>
          <a:p xmlns:a="http://schemas.openxmlformats.org/drawingml/2006/main">
            <a:r>
              <a:t>      "대시보드·API 상태",</a:t>
            </a:r>
          </a:p>
          <a:p xmlns:a="http://schemas.openxmlformats.org/drawingml/2006/main">
            <a:r>
              <a:t>      "조업 조정"</a:t>
            </a:r>
          </a:p>
          <a:p xmlns:a="http://schemas.openxmlformats.org/drawingml/2006/main">
            <a:r>
              <a:t>    ],</a:t>
            </a:r>
          </a:p>
          <a:p xmlns:a="http://schemas.openxmlformats.org/drawingml/2006/main">
            <a:r>
              <a:t>    "control": "현장 기준 이벤트와 탐지 시각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스키폴 Deep Turnaround · 운영기관 사례 / 게시일 미표시 https://www.schiphol.nl/en/aviation-solutions/case-study-amsterdam-airport-schiphol-deep-turnaround/</a:t>
            </a:r>
          </a:p>
          <a:p xmlns:a="http://schemas.openxmlformats.org/drawingml/2006/main">
            <a:r>
              <a:t>홈페이지 https://heen1987-ops.github.io/TS-business-Plan-001/index.html?view=casebook&amp;case=AX10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"AX10",</a:t>
            </a:r>
          </a:p>
          <a:p xmlns:a="http://schemas.openxmlformats.org/drawingml/2006/main">
            <a:r>
              <a:t>    "title": "스키폴 Deep Turnaround",</a:t>
            </a:r>
          </a:p>
          <a:p xmlns:a="http://schemas.openxmlformats.org/drawingml/2006/main">
            <a:r>
              <a:t>    "region": "해외",</a:t>
            </a:r>
          </a:p>
          <a:p xmlns:a="http://schemas.openxmlformats.org/drawingml/2006/main">
            <a:r>
              <a:t>    "country": "네덜란드",</a:t>
            </a:r>
          </a:p>
          <a:p xmlns:a="http://schemas.openxmlformats.org/drawingml/2006/main">
            <a:r>
              <a:t>    "result": "성공",</a:t>
            </a:r>
          </a:p>
          <a:p xmlns:a="http://schemas.openxmlformats.org/drawingml/2006/main">
            <a:r>
              <a:t>    "kind": "공항 지상조업 영상 분석",</a:t>
            </a:r>
          </a:p>
          <a:p xmlns:a="http://schemas.openxmlformats.org/drawingml/2006/main">
            <a:r>
              <a:t>    "period": "운영 사례",</a:t>
            </a:r>
          </a:p>
          <a:p xmlns:a="http://schemas.openxmlformats.org/drawingml/2006/main">
            <a:r>
              <a:t>    "sources": [</a:t>
            </a:r>
          </a:p>
          <a:p xmlns:a="http://schemas.openxmlformats.org/drawingml/2006/main">
            <a:r>
              <a:t>      "S-AX10"</a:t>
            </a:r>
          </a:p>
          <a:p xmlns:a="http://schemas.openxmlformats.org/drawingml/2006/main">
            <a:r>
              <a:t>    ],</a:t>
            </a:r>
          </a:p>
          <a:p xmlns:a="http://schemas.openxmlformats.org/drawingml/2006/main">
            <a:r>
              <a:t>    "keywords": [</a:t>
            </a:r>
          </a:p>
          <a:p xmlns:a="http://schemas.openxmlformats.org/drawingml/2006/main">
            <a:r>
              <a:t>      "공항 지상조업 영상 분석"</a:t>
            </a:r>
          </a:p>
          <a:p xmlns:a="http://schemas.openxmlformats.org/drawingml/2006/main">
            <a:r>
              <a:t>    ],</a:t>
            </a:r>
          </a:p>
          <a:p xmlns:a="http://schemas.openxmlformats.org/drawingml/2006/main">
            <a:r>
              <a:t>    "fact": "카메라 영상에서 지상조업 진행 상태를 추출하여 공항·조업 담당자의 협업에 활용",</a:t>
            </a:r>
          </a:p>
          <a:p xmlns:a="http://schemas.openxmlformats.org/drawingml/2006/main">
            <a:r>
              <a:t>    "limit": "운영기관 발표 · TS 감독 업무와 공항 조업 운영의 역할 차이",</a:t>
            </a:r>
          </a:p>
          <a:p xmlns:a="http://schemas.openxmlformats.org/drawingml/2006/main">
            <a:r>
              <a:t>    "flow": [</a:t>
            </a:r>
          </a:p>
          <a:p xmlns:a="http://schemas.openxmlformats.org/drawingml/2006/main">
            <a:r>
              <a:t>      "카메라 영상",</a:t>
            </a:r>
          </a:p>
          <a:p xmlns:a="http://schemas.openxmlformats.org/drawingml/2006/main">
            <a:r>
              <a:t>      "조업 상태 인식",</a:t>
            </a:r>
          </a:p>
          <a:p xmlns:a="http://schemas.openxmlformats.org/drawingml/2006/main">
            <a:r>
              <a:t>      "대시보드·API",</a:t>
            </a:r>
          </a:p>
          <a:p xmlns:a="http://schemas.openxmlformats.org/drawingml/2006/main">
            <a:r>
              <a:t>      "담당자 조정"</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"현장 이벤트의 공동 상황판 연결",</a:t>
            </a:r>
          </a:p>
          <a:p xmlns:a="http://schemas.openxmlformats.org/drawingml/2006/main">
            <a:r>
              <a:t>    "local": "교통안전 점검 사건·담당자·보고 시점을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"사건 분류·증거 시각·협업 인계",</a:t>
            </a:r>
          </a:p>
          <a:p xmlns:a="http://schemas.openxmlformats.org/drawingml/2006/main">
            <a:r>
              <a:t>    "test": "지연·중복 이벤트와 원영상 대조",</a:t>
            </a:r>
          </a:p>
          <a:p xmlns:a="http://schemas.openxmlformats.org/drawingml/2006/main">
            <a:r>
              <a:t>    "metric": "상황 확인시간 / 인계 누락률",</a:t>
            </a:r>
          </a:p>
          <a:p xmlns:a="http://schemas.openxmlformats.org/drawingml/2006/main">
            <a:r>
              <a:t>    "strategies": [</a:t>
            </a:r>
          </a:p>
          <a:p xmlns:a="http://schemas.openxmlformats.org/drawingml/2006/main">
            <a:r>
              <a:t>      "ST-03",</a:t>
            </a:r>
          </a:p>
          <a:p xmlns:a="http://schemas.openxmlformats.org/drawingml/2006/main">
            <a:r>
              <a:t>      "ST-05",</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"AX10",</a:t>
            </a:r>
          </a:p>
          <a:p xmlns:a="http://schemas.openxmlformats.org/drawingml/2006/main">
            <a:r>
              <a:t>    "canonicalId": "AX10",</a:t>
            </a:r>
          </a:p>
          <a:p xmlns:a="http://schemas.openxmlformats.org/drawingml/2006/main">
            <a:r>
              <a:t>    "purpose": "항공기 지상조업 진행상태의 공동 파악",</a:t>
            </a:r>
          </a:p>
          <a:p xmlns:a="http://schemas.openxmlformats.org/drawingml/2006/main">
            <a:r>
              <a:t>    "users": "공항·항공사·조업 담당자",</a:t>
            </a:r>
          </a:p>
          <a:p xmlns:a="http://schemas.openxmlformats.org/drawingml/2006/main">
            <a:r>
              <a:t>    "scope": [</a:t>
            </a:r>
          </a:p>
          <a:p xmlns:a="http://schemas.openxmlformats.org/drawingml/2006/main">
            <a:r>
              <a:t>      "영상 분석",</a:t>
            </a:r>
          </a:p>
          <a:p xmlns:a="http://schemas.openxmlformats.org/drawingml/2006/main">
            <a:r>
              <a:t>      "조업 단계",</a:t>
            </a:r>
          </a:p>
          <a:p xmlns:a="http://schemas.openxmlformats.org/drawingml/2006/main">
            <a:r>
              <a:t>      "협업 알림"</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"계류장 카메라",</a:t>
            </a:r>
          </a:p>
          <a:p xmlns:a="http://schemas.openxmlformats.org/drawingml/2006/main">
            <a:r>
              <a:t>        "detail": "항공편·주기장·관측시각 매핑",</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"영상 분석 / 조업 단계 / 협업 알림",</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"조업 이벤트 인식",</a:t>
            </a:r>
          </a:p>
          <a:p xmlns:a="http://schemas.openxmlformats.org/drawingml/2006/main">
            <a:r>
              <a:t>        "detail": "영상에서 조업 이벤트와 상태 추출",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"공항·조업 담당",</a:t>
            </a:r>
          </a:p>
          <a:p xmlns:a="http://schemas.openxmlformats.org/drawingml/2006/main">
            <a:r>
              <a:t>        "detail": "지연 예상과 확인 필요 상태를 조업 담당자에게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"시간별 조업 상태",</a:t>
            </a:r>
          </a:p>
          <a:p xmlns:a="http://schemas.openxmlformats.org/drawingml/2006/main">
            <a:r>
              <a:t>        "detail": "카메라 프레임·항공편 일정·상태 이력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"누락 이벤트와 실제 이륙 준비상태 대조",</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"카메라 영상",</a:t>
            </a:r>
          </a:p>
          <a:p xmlns:a="http://schemas.openxmlformats.org/drawingml/2006/main">
            <a:r>
              <a:t>        "input": "항공편·주기장·관측시각 매핑",</a:t>
            </a:r>
          </a:p>
          <a:p xmlns:a="http://schemas.openxmlformats.org/drawingml/2006/main">
            <a:r>
              <a:t>        "process": "카메라 프레임·항공편 일정·상태 이력 연결",</a:t>
            </a:r>
          </a:p>
          <a:p xmlns:a="http://schemas.openxmlformats.org/drawingml/2006/main">
            <a:r>
              <a:t>        "output": "영상 프레임"</a:t>
            </a:r>
          </a:p>
          <a:p xmlns:a="http://schemas.openxmlformats.org/drawingml/2006/main">
            <a:r>
              <a:t>      },</a:t>
            </a:r>
          </a:p>
          <a:p xmlns:a="http://schemas.openxmlformats.org/drawingml/2006/main">
            <a:r>
              <a:t>      {</a:t>
            </a:r>
          </a:p>
          <a:p xmlns:a="http://schemas.openxmlformats.org/drawingml/2006/main">
            <a:r>
              <a:t>        "title": "조업 상태 인식",</a:t>
            </a:r>
          </a:p>
          <a:p xmlns:a="http://schemas.openxmlformats.org/drawingml/2006/main">
            <a:r>
              <a:t>        "input": "영상 프레임",</a:t>
            </a:r>
          </a:p>
          <a:p xmlns:a="http://schemas.openxmlformats.org/drawingml/2006/main">
            <a:r>
              <a:t>        "process": "영상에서 조업 이벤트와 상태 추출",</a:t>
            </a:r>
          </a:p>
          <a:p xmlns:a="http://schemas.openxmlformats.org/drawingml/2006/main">
            <a:r>
              <a:t>        "output": "이벤트·시각"</a:t>
            </a:r>
          </a:p>
          <a:p xmlns:a="http://schemas.openxmlformats.org/drawingml/2006/main">
            <a:r>
              <a:t>      },</a:t>
            </a:r>
          </a:p>
          <a:p xmlns:a="http://schemas.openxmlformats.org/drawingml/2006/main">
            <a:r>
              <a:t>      {</a:t>
            </a:r>
          </a:p>
          <a:p xmlns:a="http://schemas.openxmlformats.org/drawingml/2006/main">
            <a:r>
              <a:t>        "title": "대시보드·API",</a:t>
            </a:r>
          </a:p>
          <a:p xmlns:a="http://schemas.openxmlformats.org/drawingml/2006/main">
            <a:r>
              <a:t>        "input": "이벤트·시각",</a:t>
            </a:r>
          </a:p>
          <a:p xmlns:a="http://schemas.openxmlformats.org/drawingml/2006/main">
            <a:r>
              <a:t>        "process": "현장 기준 이벤트와 탐지 시각 대조",</a:t>
            </a:r>
          </a:p>
          <a:p xmlns:a="http://schemas.openxmlformats.org/drawingml/2006/main">
            <a:r>
              <a:t>        "output": "대시보드·API 상태"</a:t>
            </a:r>
          </a:p>
          <a:p xmlns:a="http://schemas.openxmlformats.org/drawingml/2006/main">
            <a:r>
              <a:t>      },</a:t>
            </a:r>
          </a:p>
          <a:p xmlns:a="http://schemas.openxmlformats.org/drawingml/2006/main">
            <a:r>
              <a:t>      {</a:t>
            </a:r>
          </a:p>
          <a:p xmlns:a="http://schemas.openxmlformats.org/drawingml/2006/main">
            <a:r>
              <a:t>        "title": "담당자 조정",</a:t>
            </a:r>
          </a:p>
          <a:p xmlns:a="http://schemas.openxmlformats.org/drawingml/2006/main">
            <a:r>
              <a:t>        "input": "대시보드·API 상태",</a:t>
            </a:r>
          </a:p>
          <a:p xmlns:a="http://schemas.openxmlformats.org/drawingml/2006/main">
            <a:r>
              <a:t>        "process": "지연 예상과 확인 필요 상태를 조업 담당자에게 제공",</a:t>
            </a:r>
          </a:p>
          <a:p xmlns:a="http://schemas.openxmlformats.org/drawingml/2006/main">
            <a:r>
              <a:t>        "output": "조업 조정"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"항공편별 지상조업 단계와 지연 후보를 공동 확인",</a:t>
            </a:r>
          </a:p>
          <a:p xmlns:a="http://schemas.openxmlformats.org/drawingml/2006/main">
            <a:r>
              <a:t>      "exception": "카메라 가림·항공편 변경·이벤트 순서 역전",</a:t>
            </a:r>
          </a:p>
          <a:p xmlns:a="http://schemas.openxmlformats.org/drawingml/2006/main">
            <a:r>
              <a:t>      "evidence": "영상 시각 대비 상태 전이표와 담당자 확인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"공항·항공사·조업 담당자",</a:t>
            </a:r>
          </a:p>
          <a:p xmlns:a="http://schemas.openxmlformats.org/drawingml/2006/main">
            <a:r>
              <a:t>          "processing": "항공편·주기장·관측시각 매핑",</a:t>
            </a:r>
          </a:p>
          <a:p xmlns:a="http://schemas.openxmlformats.org/drawingml/2006/main">
            <a:r>
              <a:t>          "output": "영상 프레임"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"시간별 조업 상태",</a:t>
            </a:r>
          </a:p>
          <a:p xmlns:a="http://schemas.openxmlformats.org/drawingml/2006/main">
            <a:r>
              <a:t>          "processing": "카메라 프레임·항공편 일정·상태 이력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"영상 프레임",</a:t>
            </a:r>
          </a:p>
          <a:p xmlns:a="http://schemas.openxmlformats.org/drawingml/2006/main">
            <a:r>
              <a:t>          "processing": "영상에서 조업 이벤트와 상태 추출",</a:t>
            </a:r>
          </a:p>
          <a:p xmlns:a="http://schemas.openxmlformats.org/drawingml/2006/main">
            <a:r>
              <a:t>          "output": "대시보드·API 상태"</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"대시보드·API 상태",</a:t>
            </a:r>
          </a:p>
          <a:p xmlns:a="http://schemas.openxmlformats.org/drawingml/2006/main">
            <a:r>
              <a:t>          "processing": "지연 예상과 확인 필요 상태를 조업 담당자에게 제공",</a:t>
            </a:r>
          </a:p>
          <a:p xmlns:a="http://schemas.openxmlformats.org/drawingml/2006/main">
            <a:r>
              <a:t>          "output": "조업 조정"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"누락 이벤트와 실제 이륙 준비상태 대조",</a:t>
            </a:r>
          </a:p>
          <a:p xmlns:a="http://schemas.openxmlformats.org/drawingml/2006/main">
            <a:r>
              <a:t>          "output": "영상 시각 대비 상태 전이표와 담당자 확인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"누락 이벤트와 실제 이륙 준비상태 대조",</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"S-AX10",</a:t>
            </a:r>
          </a:p>
          <a:p xmlns:a="http://schemas.openxmlformats.org/drawingml/2006/main">
            <a:r>
              <a:t>        "title": "스키폴 Deep Turnaround · 운영기관 사례 / 게시일 미표시",</a:t>
            </a:r>
          </a:p>
          <a:p xmlns:a="http://schemas.openxmlformats.org/drawingml/2006/main">
            <a:r>
              <a:t>        "url": "https://www.schiphol.nl/en/aviation-solutions/case-study-amsterdam-airport-schiphol-deep-turnaround/",</a:t>
            </a:r>
          </a:p>
          <a:p xmlns:a="http://schemas.openxmlformats.org/drawingml/2006/main">
            <a:r>
              <a:t>        "published": "운영 사례",</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"현장 이벤트의 공동 상황판 연결",</a:t>
            </a:r>
          </a:p>
          <a:p xmlns:a="http://schemas.openxmlformats.org/drawingml/2006/main">
            <a:r>
              <a:t>    "local": "교통안전 점검 사건·담당자·보고 시점을 연결",</a:t>
            </a:r>
          </a:p>
          <a:p xmlns:a="http://schemas.openxmlformats.org/drawingml/2006/main">
            <a:r>
              <a:t>    "sourceDetail": null,</a:t>
            </a:r>
          </a:p>
          <a:p xmlns:a="http://schemas.openxmlformats.org/drawingml/2006/main">
            <a:r>
              <a:t>    "narrative": [</a:t>
            </a:r>
          </a:p>
          <a:p xmlns:a="http://schemas.openxmlformats.org/drawingml/2006/main">
            <a:r>
              <a:t>      "공항 지상조업의 진행 상태를 영상으로 파악하고 항공사·조업사·공항이 공유하는 사례. 서로 다른 담당자가 같은 항공편의 준비 상태를 확인하도록 하는 협업 변화.",</a:t>
            </a:r>
          </a:p>
          <a:p xmlns:a="http://schemas.openxmlformats.org/drawingml/2006/main">
            <a:r>
              <a:t>      "카메라 관측을 항공편·주기장·시각과 연결하고 조업 이벤트와 상태를 대시보드·API로 전달하는 구조의 재구성. 관측된 상태, 지연 추정, 실제 조업 조치를 별도 기록으로 관리.",</a:t>
            </a:r>
          </a:p>
          <a:p xmlns:a="http://schemas.openxmlformats.org/drawingml/2006/main">
            <a:r>
              <a:t>      "TS 현장 모니터링에 적용할 경우 야간·가림·날씨·카메라 위치별 편차를 평가할 필요. 탐지 정확도뿐 아니라 담당자가 확인한 시점, 조정 조치, 누락 이벤트의 복구까지 비교할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"조업 관측 접점",</a:t>
            </a:r>
          </a:p>
          <a:p xmlns:a="http://schemas.openxmlformats.org/drawingml/2006/main">
            <a:r>
              <a:t>          "layer": "이용 접점",</a:t>
            </a:r>
          </a:p>
          <a:p xmlns:a="http://schemas.openxmlformats.org/drawingml/2006/main">
            <a:r>
              <a:t>          "detail": "공항·항공사·조업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"항공편·주기장",</a:t>
            </a:r>
          </a:p>
          <a:p xmlns:a="http://schemas.openxmlformats.org/drawingml/2006/main">
            <a:r>
              <a:t>          "layer": "업무 문맥",</a:t>
            </a:r>
          </a:p>
          <a:p xmlns:a="http://schemas.openxmlformats.org/drawingml/2006/main">
            <a:r>
              <a:t>          "detail": "항공편·주기장·관측시각 매핑",</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"프레임·일정 조회",</a:t>
            </a:r>
          </a:p>
          <a:p xmlns:a="http://schemas.openxmlformats.org/drawingml/2006/main">
            <a:r>
              <a:t>          "layer": "자료 조회",</a:t>
            </a:r>
          </a:p>
          <a:p xmlns:a="http://schemas.openxmlformats.org/drawingml/2006/main">
            <a:r>
              <a:t>          "detail": "영상 프레임",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"조업 이벤트 인식",</a:t>
            </a:r>
          </a:p>
          <a:p xmlns:a="http://schemas.openxmlformats.org/drawingml/2006/main">
            <a:r>
              <a:t>          "layer": "핵심 처리",</a:t>
            </a:r>
          </a:p>
          <a:p xmlns:a="http://schemas.openxmlformats.org/drawingml/2006/main">
            <a:r>
              <a:t>          "detail": "영상에서 조업 이벤트와 상태 추출",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"시각·누락 대조",</a:t>
            </a:r>
          </a:p>
          <a:p xmlns:a="http://schemas.openxmlformats.org/drawingml/2006/main">
            <a:r>
              <a:t>          "layer": "결과 검증",</a:t>
            </a:r>
          </a:p>
          <a:p xmlns:a="http://schemas.openxmlformats.org/drawingml/2006/main">
            <a:r>
              <a:t>          "detail": "현장 기준 이벤트와 탐지 시각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"조업 담당 확인",</a:t>
            </a:r>
          </a:p>
          <a:p xmlns:a="http://schemas.openxmlformats.org/drawingml/2006/main">
            <a:r>
              <a:t>          "layer": "사람 확인",</a:t>
            </a:r>
          </a:p>
          <a:p xmlns:a="http://schemas.openxmlformats.org/drawingml/2006/main">
            <a:r>
              <a:t>          "detail": "항공편별 지상조업 단계와 지연 후보를 공동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"상황판·API 공유",</a:t>
            </a:r>
          </a:p>
          <a:p xmlns:a="http://schemas.openxmlformats.org/drawingml/2006/main">
            <a:r>
              <a:t>          "layer": "업무 연결",</a:t>
            </a:r>
          </a:p>
          <a:p xmlns:a="http://schemas.openxmlformats.org/drawingml/2006/main">
            <a:r>
              <a:t>          "detail": "지연 예상과 확인 필요 상태를 조업 담당자에게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"지연·현장 결과",</a:t>
            </a:r>
          </a:p>
          <a:p xmlns:a="http://schemas.openxmlformats.org/drawingml/2006/main">
            <a:r>
              <a:t>          "layer": "운영 관측",</a:t>
            </a:r>
          </a:p>
          <a:p xmlns:a="http://schemas.openxmlformats.org/drawingml/2006/main">
            <a:r>
              <a:t>          "detail": "누락 이벤트와 실제 이륙 준비상태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"계류장 영상",</a:t>
            </a:r>
          </a:p>
          <a:p xmlns:a="http://schemas.openxmlformats.org/drawingml/2006/main">
            <a:r>
              <a:t>          "layer": "데이터 원천",</a:t>
            </a:r>
          </a:p>
          <a:p xmlns:a="http://schemas.openxmlformats.org/drawingml/2006/main">
            <a:r>
              <a:t>          "detail": "시간별 조업 상태",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"영상·항공편 매핑",</a:t>
            </a:r>
          </a:p>
          <a:p xmlns:a="http://schemas.openxmlformats.org/drawingml/2006/main">
            <a:r>
              <a:t>          "layer": "준비·갱신",</a:t>
            </a:r>
          </a:p>
          <a:p xmlns:a="http://schemas.openxmlformats.org/drawingml/2006/main">
            <a:r>
              <a:t>          "detail": "카메라 프레임·항공편 일정·상태 이력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"이벤트 타임라인",</a:t>
            </a:r>
          </a:p>
          <a:p xmlns:a="http://schemas.openxmlformats.org/drawingml/2006/main">
            <a:r>
              <a:t>          "layer": "상태·지식 저장",</a:t>
            </a:r>
          </a:p>
          <a:p xmlns:a="http://schemas.openxmlformats.org/drawingml/2006/main">
            <a:r>
              <a:t>          "detail": "영상 시각 대비 상태 전이표와 담당자 확인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"영상·협업 권한",</a:t>
            </a:r>
          </a:p>
          <a:p xmlns:a="http://schemas.openxmlformats.org/drawingml/2006/main">
            <a:r>
              <a:t>          "layer": "권한·정책",</a:t>
            </a:r>
          </a:p>
          <a:p xmlns:a="http://schemas.openxmlformats.org/drawingml/2006/main">
            <a:r>
              <a:t>          "detail": "카메라 가림·항공편 변경·이벤트 순서 역전",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"카메라 영상 → 조업 상태 인식 → 대시보드·API → 담당자 조정"</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"시간별 조업 상태",</a:t>
            </a:r>
          </a:p>
          <a:p xmlns:a="http://schemas.openxmlformats.org/drawingml/2006/main">
            <a:r>
              <a:t>          "check": "카메라 프레임·항공편 일정·상태 이력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"카메라 프레임·항공편 일정·상태 이력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"대시보드·API 상태",</a:t>
            </a:r>
          </a:p>
          <a:p xmlns:a="http://schemas.openxmlformats.org/drawingml/2006/main">
            <a:r>
              <a:t>          "check": "영상 시각 대비 상태 전이표와 담당자 확인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"영상·협업 권한",</a:t>
            </a:r>
          </a:p>
          <a:p xmlns:a="http://schemas.openxmlformats.org/drawingml/2006/main">
            <a:r>
              <a:t>          "check": "현장 기준 이벤트와 탐지 시각 대조"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"조업 조정",</a:t>
            </a:r>
          </a:p>
          <a:p xmlns:a="http://schemas.openxmlformats.org/drawingml/2006/main">
            <a:r>
              <a:t>          "check": "영상 시각 대비 상태 전이표와 담당자 확인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"누락 이벤트와 실제 이륙 준비상태 대조",</a:t>
            </a:r>
          </a:p>
          <a:p xmlns:a="http://schemas.openxmlformats.org/drawingml/2006/main">
            <a:r>
              <a:t>          "check": "누락 이벤트와 실제 이륙 준비상태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"항공기 지상조업 진행상태의 공동 파악 / 영상 분석·조업 단계·협업 알림",</a:t>
            </a:r>
          </a:p>
          <a:p xmlns:a="http://schemas.openxmlformats.org/drawingml/2006/main">
            <a:r>
              <a:t>        "extension": "교통안전 점검 사건·담당자·보고 시점을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"카메라 가림·항공편 변경·이벤트 순서 역전",</a:t>
            </a:r>
          </a:p>
          <a:p xmlns:a="http://schemas.openxmlformats.org/drawingml/2006/main">
            <a:r>
              <a:t>        "hold": "현장 기준 이벤트와 탐지 시각 대조",</a:t>
            </a:r>
          </a:p>
          <a:p xmlns:a="http://schemas.openxmlformats.org/drawingml/2006/main">
            <a:r>
              <a:t>        "recovery": "누락 이벤트와 실제 이륙 준비상태 대조",</a:t>
            </a:r>
          </a:p>
          <a:p xmlns:a="http://schemas.openxmlformats.org/drawingml/2006/main">
            <a:r>
              <a:t>        "evidence": "영상 시각 대비 상태 전이표와 담당자 확인 기록"</a:t>
            </a:r>
          </a:p>
          <a:p xmlns:a="http://schemas.openxmlformats.org/drawingml/2006/main">
            <a:r>
              <a:t>      },</a:t>
            </a:r>
          </a:p>
          <a:p xmlns:a="http://schemas.openxmlformats.org/drawingml/2006/main">
            <a:r>
              <a:t>      "data": {</a:t>
            </a:r>
          </a:p>
          <a:p xmlns:a="http://schemas.openxmlformats.org/drawingml/2006/main">
            <a:r>
              <a:t>        "source": "시간별 조업 상태",</a:t>
            </a:r>
          </a:p>
          <a:p xmlns:a="http://schemas.openxmlformats.org/drawingml/2006/main">
            <a:r>
              <a:t>        "prepare": "카메라 프레임·항공편 일정·상태 이력 연결",</a:t>
            </a:r>
          </a:p>
          <a:p xmlns:a="http://schemas.openxmlformats.org/drawingml/2006/main">
            <a:r>
              <a:t>        "output": "영상 프레임",</a:t>
            </a:r>
          </a:p>
          <a:p xmlns:a="http://schemas.openxmlformats.org/drawingml/2006/main">
            <a:r>
              <a:t>        "refresh": "누락 이벤트와 실제 이륙 준비상태 대조"</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"AX10",</a:t>
            </a:r>
          </a:p>
          <a:p xmlns:a="http://schemas.openxmlformats.org/drawingml/2006/main">
            <a:r>
              <a:t>    "success": [</a:t>
            </a:r>
          </a:p>
          <a:p xmlns:a="http://schemas.openxmlformats.org/drawingml/2006/main">
            <a:r>
              <a:t>      "공통 조업 상태의 공유",</a:t>
            </a:r>
          </a:p>
          <a:p xmlns:a="http://schemas.openxmlformats.org/drawingml/2006/main">
            <a:r>
              <a:t>      "영상 관측과 실제 현장 조정 연결"</a:t>
            </a:r>
          </a:p>
          <a:p xmlns:a="http://schemas.openxmlformats.org/drawingml/2006/main">
            <a:r>
              <a:t>    ],</a:t>
            </a:r>
          </a:p>
          <a:p xmlns:a="http://schemas.openxmlformats.org/drawingml/2006/main">
            <a:r>
              <a:t>    "risks": [</a:t>
            </a:r>
          </a:p>
          <a:p xmlns:a="http://schemas.openxmlformats.org/drawingml/2006/main">
            <a:r>
              <a:t>      "가림·야간·날씨에 따른 인식 편차",</a:t>
            </a:r>
          </a:p>
          <a:p xmlns:a="http://schemas.openxmlformats.org/drawingml/2006/main">
            <a:r>
              <a:t>      "상태 추정과 안전 판단의 혼동"</a:t>
            </a:r>
          </a:p>
          <a:p xmlns:a="http://schemas.openxmlformats.org/drawingml/2006/main">
            <a:r>
              <a:t>    ],</a:t>
            </a:r>
          </a:p>
          <a:p xmlns:a="http://schemas.openxmlformats.org/drawingml/2006/main">
            <a:r>
              <a:t>    "architecture": [</a:t>
            </a:r>
          </a:p>
          <a:p xmlns:a="http://schemas.openxmlformats.org/drawingml/2006/main">
            <a:r>
              <a:t>      "계류장 카메라",</a:t>
            </a:r>
          </a:p>
          <a:p xmlns:a="http://schemas.openxmlformats.org/drawingml/2006/main">
            <a:r>
              <a:t>      "조업 이벤트 인식",</a:t>
            </a:r>
          </a:p>
          <a:p xmlns:a="http://schemas.openxmlformats.org/drawingml/2006/main">
            <a:r>
              <a:t>      "시간별 조업 상태",</a:t>
            </a:r>
          </a:p>
          <a:p xmlns:a="http://schemas.openxmlformats.org/drawingml/2006/main">
            <a:r>
              <a:t>      "공항·조업 담당"</a:t>
            </a:r>
          </a:p>
          <a:p xmlns:a="http://schemas.openxmlformats.org/drawingml/2006/main">
            <a:r>
              <a:t>    ],</a:t>
            </a:r>
          </a:p>
          <a:p xmlns:a="http://schemas.openxmlformats.org/drawingml/2006/main">
            <a:r>
              <a:t>    "transfers": [</a:t>
            </a:r>
          </a:p>
          <a:p xmlns:a="http://schemas.openxmlformats.org/drawingml/2006/main">
            <a:r>
              <a:t>      "영상 프레임",</a:t>
            </a:r>
          </a:p>
          <a:p xmlns:a="http://schemas.openxmlformats.org/drawingml/2006/main">
            <a:r>
              <a:t>      "이벤트·시각",</a:t>
            </a:r>
          </a:p>
          <a:p xmlns:a="http://schemas.openxmlformats.org/drawingml/2006/main">
            <a:r>
              <a:t>      "대시보드·API 상태",</a:t>
            </a:r>
          </a:p>
          <a:p xmlns:a="http://schemas.openxmlformats.org/drawingml/2006/main">
            <a:r>
              <a:t>      "조업 조정"</a:t>
            </a:r>
          </a:p>
          <a:p xmlns:a="http://schemas.openxmlformats.org/drawingml/2006/main">
            <a:r>
              <a:t>    ],</a:t>
            </a:r>
          </a:p>
          <a:p xmlns:a="http://schemas.openxmlformats.org/drawingml/2006/main">
            <a:r>
              <a:t>    "control": "현장 기준 이벤트와 탐지 시각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스키폴 Deep Turnaround · 운영기관 사례 / 게시일 미표시 https://www.schiphol.nl/en/aviation-solutions/case-study-amsterdam-airport-schiphol-deep-turnaround/</a:t>
            </a:r>
          </a:p>
          <a:p xmlns:a="http://schemas.openxmlformats.org/drawingml/2006/main">
            <a:r>
              <a:t>홈페이지 https://heen1987-ops.github.io/TS-business-Plan-001/index.html?view=casebook&amp;case=AX10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"AX11",</a:t>
            </a:r>
          </a:p>
          <a:p xmlns:a="http://schemas.openxmlformats.org/drawingml/2006/main">
            <a:r>
              <a:t>    "title": "Google Green Light",</a:t>
            </a:r>
          </a:p>
          <a:p xmlns:a="http://schemas.openxmlformats.org/drawingml/2006/main">
            <a:r>
              <a:t>    "region": "해외",</a:t>
            </a:r>
          </a:p>
          <a:p xmlns:a="http://schemas.openxmlformats.org/drawingml/2006/main">
            <a:r>
              <a:t>    "country": "다국가",</a:t>
            </a:r>
          </a:p>
          <a:p xmlns:a="http://schemas.openxmlformats.org/drawingml/2006/main">
            <a:r>
              <a:t>    "result": "성공",</a:t>
            </a:r>
          </a:p>
          <a:p xmlns:a="http://schemas.openxmlformats.org/drawingml/2006/main">
            <a:r>
              <a:t>    "kind": "신호 운영 최적화 지원",</a:t>
            </a:r>
          </a:p>
          <a:p xmlns:a="http://schemas.openxmlformats.org/drawingml/2006/main">
            <a:r>
              <a:t>    "period": "운영 적용",</a:t>
            </a:r>
          </a:p>
          <a:p xmlns:a="http://schemas.openxmlformats.org/drawingml/2006/main">
            <a:r>
              <a:t>    "sources": [</a:t>
            </a:r>
          </a:p>
          <a:p xmlns:a="http://schemas.openxmlformats.org/drawingml/2006/main">
            <a:r>
              <a:t>      "S-AX11"</a:t>
            </a:r>
          </a:p>
          <a:p xmlns:a="http://schemas.openxmlformats.org/drawingml/2006/main">
            <a:r>
              <a:t>    ],</a:t>
            </a:r>
          </a:p>
          <a:p xmlns:a="http://schemas.openxmlformats.org/drawingml/2006/main">
            <a:r>
              <a:t>    "keywords": [</a:t>
            </a:r>
          </a:p>
          <a:p xmlns:a="http://schemas.openxmlformats.org/drawingml/2006/main">
            <a:r>
              <a:t>      "신호 운영 최적화 지원"</a:t>
            </a:r>
          </a:p>
          <a:p xmlns:a="http://schemas.openxmlformats.org/drawingml/2006/main">
            <a:r>
              <a:t>    ],</a:t>
            </a:r>
          </a:p>
          <a:p xmlns:a="http://schemas.openxmlformats.org/drawingml/2006/main">
            <a:r>
              <a:t>    "fact": "교통 흐름 분석과 AI 권고를 도시 교통기술자의 신호 운영 검토에 제공",</a:t>
            </a:r>
          </a:p>
          <a:p xmlns:a="http://schemas.openxmlformats.org/drawingml/2006/main">
            <a:r>
              <a:t>    "limit": "도시별 효과 차이 · 신호 변경 권한은 운영기관 소관",</a:t>
            </a:r>
          </a:p>
          <a:p xmlns:a="http://schemas.openxmlformats.org/drawingml/2006/main">
            <a:r>
              <a:t>    "flow": [</a:t>
            </a:r>
          </a:p>
          <a:p xmlns:a="http://schemas.openxmlformats.org/drawingml/2006/main">
            <a:r>
              <a:t>      "교통 흐름 데이터",</a:t>
            </a:r>
          </a:p>
          <a:p xmlns:a="http://schemas.openxmlformats.org/drawingml/2006/main">
            <a:r>
              <a:t>      "AI 개선 권고",</a:t>
            </a:r>
          </a:p>
          <a:p xmlns:a="http://schemas.openxmlformats.org/drawingml/2006/main">
            <a:r>
              <a:t>      "기술자 검토",</a:t>
            </a:r>
          </a:p>
          <a:p xmlns:a="http://schemas.openxmlformats.org/drawingml/2006/main">
            <a:r>
              <a:t>      "신호 운영 반영"</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"권고와 현장 실행 권한의 분리",</a:t>
            </a:r>
          </a:p>
          <a:p xmlns:a="http://schemas.openxmlformats.org/drawingml/2006/main">
            <a:r>
              <a:t>    "local": "TS 분석·점검 의견을 지자체 소관 업무로 인계",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"지역·교차로·관할·개선 전후 지표 연결",</a:t>
            </a:r>
          </a:p>
          <a:p xmlns:a="http://schemas.openxmlformats.org/drawingml/2006/main">
            <a:r>
              <a:t>    "test": "동일 시간대·교통량 비교와 담당자 승인 확인",</a:t>
            </a:r>
          </a:p>
          <a:p xmlns:a="http://schemas.openxmlformats.org/drawingml/2006/main">
            <a:r>
              <a:t>    "metric": "정체·대기 지표 / 권고 채택률",</a:t>
            </a:r>
          </a:p>
          <a:p xmlns:a="http://schemas.openxmlformats.org/drawingml/2006/main">
            <a:r>
              <a:t>    "strategies": [</a:t>
            </a:r>
          </a:p>
          <a:p xmlns:a="http://schemas.openxmlformats.org/drawingml/2006/main">
            <a:r>
              <a:t>      "ST-06",</a:t>
            </a:r>
          </a:p>
          <a:p xmlns:a="http://schemas.openxmlformats.org/drawingml/2006/main">
            <a:r>
              <a:t>      "ST-07",</a:t>
            </a:r>
          </a:p>
          <a:p xmlns:a="http://schemas.openxmlformats.org/drawingml/2006/main">
            <a:r>
              <a:t>      "ST-08"</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"AX11",</a:t>
            </a:r>
          </a:p>
          <a:p xmlns:a="http://schemas.openxmlformats.org/drawingml/2006/main">
            <a:r>
              <a:t>    "canonicalId": "AX11",</a:t>
            </a:r>
          </a:p>
          <a:p xmlns:a="http://schemas.openxmlformats.org/drawingml/2006/main">
            <a:r>
              <a:t>    "purpose": "신호 운영 검토를 위한 교통 흐름 분석",</a:t>
            </a:r>
          </a:p>
          <a:p xmlns:a="http://schemas.openxmlformats.org/drawingml/2006/main">
            <a:r>
              <a:t>    "users": "도시 교통기술자·운영 담당",</a:t>
            </a:r>
          </a:p>
          <a:p xmlns:a="http://schemas.openxmlformats.org/drawingml/2006/main">
            <a:r>
              <a:t>    "scope": [</a:t>
            </a:r>
          </a:p>
          <a:p xmlns:a="http://schemas.openxmlformats.org/drawingml/2006/main">
            <a:r>
              <a:t>      "교차로 흐름",</a:t>
            </a:r>
          </a:p>
          <a:p xmlns:a="http://schemas.openxmlformats.org/drawingml/2006/main">
            <a:r>
              <a:t>      "신호 권고",</a:t>
            </a:r>
          </a:p>
          <a:p xmlns:a="http://schemas.openxmlformats.org/drawingml/2006/main">
            <a:r>
              <a:t>      "효과 점검"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"교통 흐름 자료",</a:t>
            </a:r>
          </a:p>
          <a:p xmlns:a="http://schemas.openxmlformats.org/drawingml/2006/main">
            <a:r>
              <a:t>        "detail": "교차로·시간대·운영 조건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"교차로 흐름 / 신호 권고 / 효과 점검",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"신호 개선 권고",</a:t>
            </a:r>
          </a:p>
          <a:p xmlns:a="http://schemas.openxmlformats.org/drawingml/2006/main">
            <a:r>
              <a:t>        "detail": "정체·정지 패턴에 따른 신호 조정 후보",</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"도시 교통기술자",</a:t>
            </a:r>
          </a:p>
          <a:p xmlns:a="http://schemas.openxmlformats.org/drawingml/2006/main">
            <a:r>
              <a:t>        "detail": "교통기술자의 검토 후 신호 계획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"교차로·교통 패턴",</a:t>
            </a:r>
          </a:p>
          <a:p xmlns:a="http://schemas.openxmlformats.org/drawingml/2006/main">
            <a:r>
              <a:t>        "detail": "교통 흐름·교차로·신호 운영자료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"변경 전후 교통지표와 안전 제약의 병행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"교통 흐름 데이터",</a:t>
            </a:r>
          </a:p>
          <a:p xmlns:a="http://schemas.openxmlformats.org/drawingml/2006/main">
            <a:r>
              <a:t>        "input": "교차로·시간대·운영 조건 지정",</a:t>
            </a:r>
          </a:p>
          <a:p xmlns:a="http://schemas.openxmlformats.org/drawingml/2006/main">
            <a:r>
              <a:t>        "process": "교통 흐름·교차로·신호 운영자료 정합화",</a:t>
            </a:r>
          </a:p>
          <a:p xmlns:a="http://schemas.openxmlformats.org/drawingml/2006/main">
            <a:r>
              <a:t>        "output": "교차로 흐름"</a:t>
            </a:r>
          </a:p>
          <a:p xmlns:a="http://schemas.openxmlformats.org/drawingml/2006/main">
            <a:r>
              <a:t>      },</a:t>
            </a:r>
          </a:p>
          <a:p xmlns:a="http://schemas.openxmlformats.org/drawingml/2006/main">
            <a:r>
              <a:t>      {</a:t>
            </a:r>
          </a:p>
          <a:p xmlns:a="http://schemas.openxmlformats.org/drawingml/2006/main">
            <a:r>
              <a:t>        "title": "AI 개선 권고",</a:t>
            </a:r>
          </a:p>
          <a:p xmlns:a="http://schemas.openxmlformats.org/drawingml/2006/main">
            <a:r>
              <a:t>        "input": "교차로 흐름",</a:t>
            </a:r>
          </a:p>
          <a:p xmlns:a="http://schemas.openxmlformats.org/drawingml/2006/main">
            <a:r>
              <a:t>        "process": "정체·정지 패턴에 따른 신호 조정 후보",</a:t>
            </a:r>
          </a:p>
          <a:p xmlns:a="http://schemas.openxmlformats.org/drawingml/2006/main">
            <a:r>
              <a:t>        "output": "정체 패턴"</a:t>
            </a:r>
          </a:p>
          <a:p xmlns:a="http://schemas.openxmlformats.org/drawingml/2006/main">
            <a:r>
              <a:t>      },</a:t>
            </a:r>
          </a:p>
          <a:p xmlns:a="http://schemas.openxmlformats.org/drawingml/2006/main">
            <a:r>
              <a:t>      {</a:t>
            </a:r>
          </a:p>
          <a:p xmlns:a="http://schemas.openxmlformats.org/drawingml/2006/main">
            <a:r>
              <a:t>        "title": "기술자 검토",</a:t>
            </a:r>
          </a:p>
          <a:p xmlns:a="http://schemas.openxmlformats.org/drawingml/2006/main">
            <a:r>
              <a:t>        "input": "정체 패턴",</a:t>
            </a:r>
          </a:p>
          <a:p xmlns:a="http://schemas.openxmlformats.org/drawingml/2006/main">
            <a:r>
              <a:t>        "process": "지역 제약·안전 조건 검토",</a:t>
            </a:r>
          </a:p>
          <a:p xmlns:a="http://schemas.openxmlformats.org/drawingml/2006/main">
            <a:r>
              <a:t>        "output": "신호 조정안"</a:t>
            </a:r>
          </a:p>
          <a:p xmlns:a="http://schemas.openxmlformats.org/drawingml/2006/main">
            <a:r>
              <a:t>      },</a:t>
            </a:r>
          </a:p>
          <a:p xmlns:a="http://schemas.openxmlformats.org/drawingml/2006/main">
            <a:r>
              <a:t>      {</a:t>
            </a:r>
          </a:p>
          <a:p xmlns:a="http://schemas.openxmlformats.org/drawingml/2006/main">
            <a:r>
              <a:t>        "title": "신호 운영 반영",</a:t>
            </a:r>
          </a:p>
          <a:p xmlns:a="http://schemas.openxmlformats.org/drawingml/2006/main">
            <a:r>
              <a:t>        "input": "신호 조정안",</a:t>
            </a:r>
          </a:p>
          <a:p xmlns:a="http://schemas.openxmlformats.org/drawingml/2006/main">
            <a:r>
              <a:t>        "process": "교통기술자의 검토 후 신호 계획 반영",</a:t>
            </a:r>
          </a:p>
          <a:p xmlns:a="http://schemas.openxmlformats.org/drawingml/2006/main">
            <a:r>
              <a:t>        "output": "기술자 적용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"교차로의 신호 조정 후보를 기술자가 현장 조건과 대조",</a:t>
            </a:r>
          </a:p>
          <a:p xmlns:a="http://schemas.openxmlformats.org/drawingml/2006/main">
            <a:r>
              <a:t>      "exception": "보행시간 부족·인접 교차로 정체·특수 행사일",</a:t>
            </a:r>
          </a:p>
          <a:p xmlns:a="http://schemas.openxmlformats.org/drawingml/2006/main">
            <a:r>
              <a:t>      "evidence": "변경 전후 지표와 보행·안전 제약 확인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"도시 교통기술자·운영 담당",</a:t>
            </a:r>
          </a:p>
          <a:p xmlns:a="http://schemas.openxmlformats.org/drawingml/2006/main">
            <a:r>
              <a:t>          "processing": "교차로·시간대·운영 조건 지정",</a:t>
            </a:r>
          </a:p>
          <a:p xmlns:a="http://schemas.openxmlformats.org/drawingml/2006/main">
            <a:r>
              <a:t>          "output": "교차로 흐름"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"교차로·교통 패턴",</a:t>
            </a:r>
          </a:p>
          <a:p xmlns:a="http://schemas.openxmlformats.org/drawingml/2006/main">
            <a:r>
              <a:t>          "processing": "교통 흐름·교차로·신호 운영자료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"교차로 흐름",</a:t>
            </a:r>
          </a:p>
          <a:p xmlns:a="http://schemas.openxmlformats.org/drawingml/2006/main">
            <a:r>
              <a:t>          "processing": "정체·정지 패턴에 따른 신호 조정 후보",</a:t>
            </a:r>
          </a:p>
          <a:p xmlns:a="http://schemas.openxmlformats.org/drawingml/2006/main">
            <a:r>
              <a:t>          "output": "신호 조정안"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"신호 조정안",</a:t>
            </a:r>
          </a:p>
          <a:p xmlns:a="http://schemas.openxmlformats.org/drawingml/2006/main">
            <a:r>
              <a:t>          "processing": "교통기술자의 검토 후 신호 계획 반영",</a:t>
            </a:r>
          </a:p>
          <a:p xmlns:a="http://schemas.openxmlformats.org/drawingml/2006/main">
            <a:r>
              <a:t>          "output": "기술자 적용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"변경 전후 교통지표와 안전 제약의 병행 평가",</a:t>
            </a:r>
          </a:p>
          <a:p xmlns:a="http://schemas.openxmlformats.org/drawingml/2006/main">
            <a:r>
              <a:t>          "output": "변경 전후 지표와 보행·안전 제약 확인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"변경 전후 교통지표와 안전 제약의 병행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"S-AX11",</a:t>
            </a:r>
          </a:p>
          <a:p xmlns:a="http://schemas.openxmlformats.org/drawingml/2006/main">
            <a:r>
              <a:t>        "title": "Google Green Light · 개발기관 사업 소개 / 게시일 미표시",</a:t>
            </a:r>
          </a:p>
          <a:p xmlns:a="http://schemas.openxmlformats.org/drawingml/2006/main">
            <a:r>
              <a:t>        "url": "https://sites.research.google/greenlight/",</a:t>
            </a:r>
          </a:p>
          <a:p xmlns:a="http://schemas.openxmlformats.org/drawingml/2006/main">
            <a:r>
              <a:t>        "published": "운영 적용",</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"권고와 현장 실행 권한의 분리",</a:t>
            </a:r>
          </a:p>
          <a:p xmlns:a="http://schemas.openxmlformats.org/drawingml/2006/main">
            <a:r>
              <a:t>    "local": "TS 분석·점검 의견을 지자체 소관 업무로 인계",</a:t>
            </a:r>
          </a:p>
          <a:p xmlns:a="http://schemas.openxmlformats.org/drawingml/2006/main">
            <a:r>
              <a:t>    "sourceDetail": null,</a:t>
            </a:r>
          </a:p>
          <a:p xmlns:a="http://schemas.openxmlformats.org/drawingml/2006/main">
            <a:r>
              <a:t>    "narrative": [</a:t>
            </a:r>
          </a:p>
          <a:p xmlns:a="http://schemas.openxmlformats.org/drawingml/2006/main">
            <a:r>
              <a:t>      "도시 교통 흐름을 분석해 신호 운영 개선안을 기술자에게 제공하는 사례. AI가 모든 교차로 신호를 직접 제어하는 방식으로 일반화하기보다 권고와 현장 적용의 연결에 주목.",</a:t>
            </a:r>
          </a:p>
          <a:p xmlns:a="http://schemas.openxmlformats.org/drawingml/2006/main">
            <a:r>
              <a:t>      "교차로·시간대별 흐름에서 정체·정지 패턴을 찾고 신호 조정 후보를 만드는 흐름. 지역 교통기술자가 보행자·긴급차량·현장 제약을 확인한 뒤 운영계획에 반영하는 CCK 적용 구조.",</a:t>
            </a:r>
          </a:p>
          <a:p xmlns:a="http://schemas.openxmlformats.org/drawingml/2006/main">
            <a:r>
              <a:t>      "관측 교차로의 결과를 다른 지역 성과로 그대로 환산하지 않는 비교. 변경 전후 교통지표, 안전 제약 위반, 권고 채택 여부와 실제 운영 반영시간을 함께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"신호 검토 요청",</a:t>
            </a:r>
          </a:p>
          <a:p xmlns:a="http://schemas.openxmlformats.org/drawingml/2006/main">
            <a:r>
              <a:t>          "layer": "이용 접점",</a:t>
            </a:r>
          </a:p>
          <a:p xmlns:a="http://schemas.openxmlformats.org/drawingml/2006/main">
            <a:r>
              <a:t>          "detail": "도시 교통기술자·운영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"교차로·시간대",</a:t>
            </a:r>
          </a:p>
          <a:p xmlns:a="http://schemas.openxmlformats.org/drawingml/2006/main">
            <a:r>
              <a:t>          "layer": "업무 문맥",</a:t>
            </a:r>
          </a:p>
          <a:p xmlns:a="http://schemas.openxmlformats.org/drawingml/2006/main">
            <a:r>
              <a:t>          "detail": "교차로·시간대·운영 조건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"교통 흐름 조회",</a:t>
            </a:r>
          </a:p>
          <a:p xmlns:a="http://schemas.openxmlformats.org/drawingml/2006/main">
            <a:r>
              <a:t>          "layer": "자료 조회",</a:t>
            </a:r>
          </a:p>
          <a:p xmlns:a="http://schemas.openxmlformats.org/drawingml/2006/main">
            <a:r>
              <a:t>          "detail": "교차로 흐름",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"신호 조정 후보",</a:t>
            </a:r>
          </a:p>
          <a:p xmlns:a="http://schemas.openxmlformats.org/drawingml/2006/main">
            <a:r>
              <a:t>          "layer": "핵심 처리",</a:t>
            </a:r>
          </a:p>
          <a:p xmlns:a="http://schemas.openxmlformats.org/drawingml/2006/main">
            <a:r>
              <a:t>          "detail": "정체·정지 패턴에 따른 신호 조정 후보",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"지역·안전 제약",</a:t>
            </a:r>
          </a:p>
          <a:p xmlns:a="http://schemas.openxmlformats.org/drawingml/2006/main">
            <a:r>
              <a:t>          "layer": "결과 검증",</a:t>
            </a:r>
          </a:p>
          <a:p xmlns:a="http://schemas.openxmlformats.org/drawingml/2006/main">
            <a:r>
              <a:t>          "detail": "지역 제약·안전 조건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"교통기술자 검토",</a:t>
            </a:r>
          </a:p>
          <a:p xmlns:a="http://schemas.openxmlformats.org/drawingml/2006/main">
            <a:r>
              <a:t>          "layer": "사람 확인",</a:t>
            </a:r>
          </a:p>
          <a:p xmlns:a="http://schemas.openxmlformats.org/drawingml/2006/main">
            <a:r>
              <a:t>          "detail": "교차로의 신호 조정 후보를 기술자가 현장 조건과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"신호계획 반영",</a:t>
            </a:r>
          </a:p>
          <a:p xmlns:a="http://schemas.openxmlformats.org/drawingml/2006/main">
            <a:r>
              <a:t>          "layer": "업무 연결",</a:t>
            </a:r>
          </a:p>
          <a:p xmlns:a="http://schemas.openxmlformats.org/drawingml/2006/main">
            <a:r>
              <a:t>          "detail": "교통기술자의 검토 후 신호 계획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"변경 전후 평가",</a:t>
            </a:r>
          </a:p>
          <a:p xmlns:a="http://schemas.openxmlformats.org/drawingml/2006/main">
            <a:r>
              <a:t>          "layer": "운영 관측",</a:t>
            </a:r>
          </a:p>
          <a:p xmlns:a="http://schemas.openxmlformats.org/drawingml/2006/main">
            <a:r>
              <a:t>          "detail": "변경 전후 교통지표와 안전 제약의 병행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"교통·신호 자료",</a:t>
            </a:r>
          </a:p>
          <a:p xmlns:a="http://schemas.openxmlformats.org/drawingml/2006/main">
            <a:r>
              <a:t>          "layer": "데이터 원천",</a:t>
            </a:r>
          </a:p>
          <a:p xmlns:a="http://schemas.openxmlformats.org/drawingml/2006/main">
            <a:r>
              <a:t>          "detail": "교차로·교통 패턴",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"교차로 코드 정리",</a:t>
            </a:r>
          </a:p>
          <a:p xmlns:a="http://schemas.openxmlformats.org/drawingml/2006/main">
            <a:r>
              <a:t>          "layer": "준비·갱신",</a:t>
            </a:r>
          </a:p>
          <a:p xmlns:a="http://schemas.openxmlformats.org/drawingml/2006/main">
            <a:r>
              <a:t>          "detail": "교통 흐름·교차로·신호 운영자료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"흐름·계획 이력",</a:t>
            </a:r>
          </a:p>
          <a:p xmlns:a="http://schemas.openxmlformats.org/drawingml/2006/main">
            <a:r>
              <a:t>          "layer": "상태·지식 저장",</a:t>
            </a:r>
          </a:p>
          <a:p xmlns:a="http://schemas.openxmlformats.org/drawingml/2006/main">
            <a:r>
              <a:t>          "detail": "변경 전후 지표와 보행·안전 제약 확인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"보행·긴급 제약",</a:t>
            </a:r>
          </a:p>
          <a:p xmlns:a="http://schemas.openxmlformats.org/drawingml/2006/main">
            <a:r>
              <a:t>          "layer": "권한·정책",</a:t>
            </a:r>
          </a:p>
          <a:p xmlns:a="http://schemas.openxmlformats.org/drawingml/2006/main">
            <a:r>
              <a:t>          "detail": "보행시간 부족·인접 교차로 정체·특수 행사일",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"교통 흐름 데이터 → AI 개선 권고 → 기술자 검토 → 신호 운영 반영"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"교차로·교통 패턴",</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"정체 패턴",</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"신호 조정안",</a:t>
            </a:r>
          </a:p>
          <a:p xmlns:a="http://schemas.openxmlformats.org/drawingml/2006/main">
            <a:r>
              <a:t>          "check": "변경 전후 지표와 보행·안전 제약 확인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"신호 조정안",</a:t>
            </a:r>
          </a:p>
          <a:p xmlns:a="http://schemas.openxmlformats.org/drawingml/2006/main">
            <a:r>
              <a:t>          "check": "지역 제약·안전 조건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"기술자 적용 결과",</a:t>
            </a:r>
          </a:p>
          <a:p xmlns:a="http://schemas.openxmlformats.org/drawingml/2006/main">
            <a:r>
              <a:t>          "check": "변경 전후 지표와 보행·안전 제약 확인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"신호 운영 검토를 위한 교통 흐름 분석 / 교차로 흐름·신호 권고·효과 점검",</a:t>
            </a:r>
          </a:p>
          <a:p xmlns:a="http://schemas.openxmlformats.org/drawingml/2006/main">
            <a:r>
              <a:t>        "extension": "TS 분석·점검 의견을 지자체 소관 업무로 인계"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"보행시간 부족·인접 교차로 정체·특수 행사일",</a:t>
            </a:r>
          </a:p>
          <a:p xmlns:a="http://schemas.openxmlformats.org/drawingml/2006/main">
            <a:r>
              <a:t>        "hold": "지역 제약·안전 조건 검토",</a:t>
            </a:r>
          </a:p>
          <a:p xmlns:a="http://schemas.openxmlformats.org/drawingml/2006/main">
            <a:r>
              <a:t>        "recovery": "변경 전후 교통지표와 안전 제약의 병행 평가",</a:t>
            </a:r>
          </a:p>
          <a:p xmlns:a="http://schemas.openxmlformats.org/drawingml/2006/main">
            <a:r>
              <a:t>        "evidence": "변경 전후 지표와 보행·안전 제약 확인 기록"</a:t>
            </a:r>
          </a:p>
          <a:p xmlns:a="http://schemas.openxmlformats.org/drawingml/2006/main">
            <a:r>
              <a:t>      },</a:t>
            </a:r>
          </a:p>
          <a:p xmlns:a="http://schemas.openxmlformats.org/drawingml/2006/main">
            <a:r>
              <a:t>      "data": {</a:t>
            </a:r>
          </a:p>
          <a:p xmlns:a="http://schemas.openxmlformats.org/drawingml/2006/main">
            <a:r>
              <a:t>        "source": "교차로·교통 패턴",</a:t>
            </a:r>
          </a:p>
          <a:p xmlns:a="http://schemas.openxmlformats.org/drawingml/2006/main">
            <a:r>
              <a:t>        "prepare": "교통 흐름·교차로·신호 운영자료 정합화",</a:t>
            </a:r>
          </a:p>
          <a:p xmlns:a="http://schemas.openxmlformats.org/drawingml/2006/main">
            <a:r>
              <a:t>        "output": "교차로 흐름",</a:t>
            </a:r>
          </a:p>
          <a:p xmlns:a="http://schemas.openxmlformats.org/drawingml/2006/main">
            <a:r>
              <a:t>        "refresh": "변경 전후 교통지표와 안전 제약의 병행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"AX11",</a:t>
            </a:r>
          </a:p>
          <a:p xmlns:a="http://schemas.openxmlformats.org/drawingml/2006/main">
            <a:r>
              <a:t>    "success": [</a:t>
            </a:r>
          </a:p>
          <a:p xmlns:a="http://schemas.openxmlformats.org/drawingml/2006/main">
            <a:r>
              <a:t>      "기존 신호 운영에 개선 권고 제공",</a:t>
            </a:r>
          </a:p>
          <a:p xmlns:a="http://schemas.openxmlformats.org/drawingml/2006/main">
            <a:r>
              <a:t>      "도시 기술자의 검토 후 반영"</a:t>
            </a:r>
          </a:p>
          <a:p xmlns:a="http://schemas.openxmlformats.org/drawingml/2006/main">
            <a:r>
              <a:t>    ],</a:t>
            </a:r>
          </a:p>
          <a:p xmlns:a="http://schemas.openxmlformats.org/drawingml/2006/main">
            <a:r>
              <a:t>    "risks": [</a:t>
            </a:r>
          </a:p>
          <a:p xmlns:a="http://schemas.openxmlformats.org/drawingml/2006/main">
            <a:r>
              <a:t>      "관측 교차로 외 일반화 위험",</a:t>
            </a:r>
          </a:p>
          <a:p xmlns:a="http://schemas.openxmlformats.org/drawingml/2006/main">
            <a:r>
              <a:t>      "보행자·긴급차량 조건 누락 가능성"</a:t>
            </a:r>
          </a:p>
          <a:p xmlns:a="http://schemas.openxmlformats.org/drawingml/2006/main">
            <a:r>
              <a:t>    ],</a:t>
            </a:r>
          </a:p>
          <a:p xmlns:a="http://schemas.openxmlformats.org/drawingml/2006/main">
            <a:r>
              <a:t>    "architecture": [</a:t>
            </a:r>
          </a:p>
          <a:p xmlns:a="http://schemas.openxmlformats.org/drawingml/2006/main">
            <a:r>
              <a:t>      "교통 흐름 자료",</a:t>
            </a:r>
          </a:p>
          <a:p xmlns:a="http://schemas.openxmlformats.org/drawingml/2006/main">
            <a:r>
              <a:t>      "신호 개선 권고",</a:t>
            </a:r>
          </a:p>
          <a:p xmlns:a="http://schemas.openxmlformats.org/drawingml/2006/main">
            <a:r>
              <a:t>      "교차로·교통 패턴",</a:t>
            </a:r>
          </a:p>
          <a:p xmlns:a="http://schemas.openxmlformats.org/drawingml/2006/main">
            <a:r>
              <a:t>      "도시 교통기술자"</a:t>
            </a:r>
          </a:p>
          <a:p xmlns:a="http://schemas.openxmlformats.org/drawingml/2006/main">
            <a:r>
              <a:t>    ],</a:t>
            </a:r>
          </a:p>
          <a:p xmlns:a="http://schemas.openxmlformats.org/drawingml/2006/main">
            <a:r>
              <a:t>    "transfers": [</a:t>
            </a:r>
          </a:p>
          <a:p xmlns:a="http://schemas.openxmlformats.org/drawingml/2006/main">
            <a:r>
              <a:t>      "교차로 흐름",</a:t>
            </a:r>
          </a:p>
          <a:p xmlns:a="http://schemas.openxmlformats.org/drawingml/2006/main">
            <a:r>
              <a:t>      "정체 패턴",</a:t>
            </a:r>
          </a:p>
          <a:p xmlns:a="http://schemas.openxmlformats.org/drawingml/2006/main">
            <a:r>
              <a:t>      "신호 조정안",</a:t>
            </a:r>
          </a:p>
          <a:p xmlns:a="http://schemas.openxmlformats.org/drawingml/2006/main">
            <a:r>
              <a:t>      "기술자 적용 결과"</a:t>
            </a:r>
          </a:p>
          <a:p xmlns:a="http://schemas.openxmlformats.org/drawingml/2006/main">
            <a:r>
              <a:t>    ],</a:t>
            </a:r>
          </a:p>
          <a:p xmlns:a="http://schemas.openxmlformats.org/drawingml/2006/main">
            <a:r>
              <a:t>    "control": "지역 제약·안전 조건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Green Light · 개발기관 사업 소개 / 게시일 미표시 https://sites.research.google/greenlight/</a:t>
            </a:r>
          </a:p>
          <a:p xmlns:a="http://schemas.openxmlformats.org/drawingml/2006/main">
            <a:r>
              <a:t>홈페이지 https://heen1987-ops.github.io/TS-business-Plan-001/index.html?view=casebook&amp;case=AX11</a:t>
            </a:r>
          </a:p>
          <a:p xmlns:a="http://schemas.openxmlformats.org/drawingml/2006/main">
            <a:r>
              <a:t>한계: 도시별 효과 차이 · 신호 변경 권한은 운영기관 소관</a:t>
            </a:r>
          </a:p>
          <a:p xmlns:a="http://schemas.openxmlformats.org/drawingml/2006/main">
            <a:r>
              <a:t>실패 위험: 관측 교차로 외 일반화 위험 / 보행자·긴급차량 조건 누락 가능성</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"AX11",</a:t>
            </a:r>
          </a:p>
          <a:p xmlns:a="http://schemas.openxmlformats.org/drawingml/2006/main">
            <a:r>
              <a:t>    "title": "Google Green Light",</a:t>
            </a:r>
          </a:p>
          <a:p xmlns:a="http://schemas.openxmlformats.org/drawingml/2006/main">
            <a:r>
              <a:t>    "region": "해외",</a:t>
            </a:r>
          </a:p>
          <a:p xmlns:a="http://schemas.openxmlformats.org/drawingml/2006/main">
            <a:r>
              <a:t>    "country": "다국가",</a:t>
            </a:r>
          </a:p>
          <a:p xmlns:a="http://schemas.openxmlformats.org/drawingml/2006/main">
            <a:r>
              <a:t>    "result": "성공",</a:t>
            </a:r>
          </a:p>
          <a:p xmlns:a="http://schemas.openxmlformats.org/drawingml/2006/main">
            <a:r>
              <a:t>    "kind": "신호 운영 최적화 지원",</a:t>
            </a:r>
          </a:p>
          <a:p xmlns:a="http://schemas.openxmlformats.org/drawingml/2006/main">
            <a:r>
              <a:t>    "period": "운영 적용",</a:t>
            </a:r>
          </a:p>
          <a:p xmlns:a="http://schemas.openxmlformats.org/drawingml/2006/main">
            <a:r>
              <a:t>    "sources": [</a:t>
            </a:r>
          </a:p>
          <a:p xmlns:a="http://schemas.openxmlformats.org/drawingml/2006/main">
            <a:r>
              <a:t>      "S-AX11"</a:t>
            </a:r>
          </a:p>
          <a:p xmlns:a="http://schemas.openxmlformats.org/drawingml/2006/main">
            <a:r>
              <a:t>    ],</a:t>
            </a:r>
          </a:p>
          <a:p xmlns:a="http://schemas.openxmlformats.org/drawingml/2006/main">
            <a:r>
              <a:t>    "keywords": [</a:t>
            </a:r>
          </a:p>
          <a:p xmlns:a="http://schemas.openxmlformats.org/drawingml/2006/main">
            <a:r>
              <a:t>      "신호 운영 최적화 지원"</a:t>
            </a:r>
          </a:p>
          <a:p xmlns:a="http://schemas.openxmlformats.org/drawingml/2006/main">
            <a:r>
              <a:t>    ],</a:t>
            </a:r>
          </a:p>
          <a:p xmlns:a="http://schemas.openxmlformats.org/drawingml/2006/main">
            <a:r>
              <a:t>    "fact": "교통 흐름 분석과 AI 권고를 도시 교통기술자의 신호 운영 검토에 제공",</a:t>
            </a:r>
          </a:p>
          <a:p xmlns:a="http://schemas.openxmlformats.org/drawingml/2006/main">
            <a:r>
              <a:t>    "limit": "도시별 효과 차이 · 신호 변경 권한은 운영기관 소관",</a:t>
            </a:r>
          </a:p>
          <a:p xmlns:a="http://schemas.openxmlformats.org/drawingml/2006/main">
            <a:r>
              <a:t>    "flow": [</a:t>
            </a:r>
          </a:p>
          <a:p xmlns:a="http://schemas.openxmlformats.org/drawingml/2006/main">
            <a:r>
              <a:t>      "교통 흐름 데이터",</a:t>
            </a:r>
          </a:p>
          <a:p xmlns:a="http://schemas.openxmlformats.org/drawingml/2006/main">
            <a:r>
              <a:t>      "AI 개선 권고",</a:t>
            </a:r>
          </a:p>
          <a:p xmlns:a="http://schemas.openxmlformats.org/drawingml/2006/main">
            <a:r>
              <a:t>      "기술자 검토",</a:t>
            </a:r>
          </a:p>
          <a:p xmlns:a="http://schemas.openxmlformats.org/drawingml/2006/main">
            <a:r>
              <a:t>      "신호 운영 반영"</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"권고와 현장 실행 권한의 분리",</a:t>
            </a:r>
          </a:p>
          <a:p xmlns:a="http://schemas.openxmlformats.org/drawingml/2006/main">
            <a:r>
              <a:t>    "local": "TS 분석·점검 의견을 지자체 소관 업무로 인계",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"지역·교차로·관할·개선 전후 지표 연결",</a:t>
            </a:r>
          </a:p>
          <a:p xmlns:a="http://schemas.openxmlformats.org/drawingml/2006/main">
            <a:r>
              <a:t>    "test": "동일 시간대·교통량 비교와 담당자 승인 확인",</a:t>
            </a:r>
          </a:p>
          <a:p xmlns:a="http://schemas.openxmlformats.org/drawingml/2006/main">
            <a:r>
              <a:t>    "metric": "정체·대기 지표 / 권고 채택률",</a:t>
            </a:r>
          </a:p>
          <a:p xmlns:a="http://schemas.openxmlformats.org/drawingml/2006/main">
            <a:r>
              <a:t>    "strategies": [</a:t>
            </a:r>
          </a:p>
          <a:p xmlns:a="http://schemas.openxmlformats.org/drawingml/2006/main">
            <a:r>
              <a:t>      "ST-06",</a:t>
            </a:r>
          </a:p>
          <a:p xmlns:a="http://schemas.openxmlformats.org/drawingml/2006/main">
            <a:r>
              <a:t>      "ST-07",</a:t>
            </a:r>
          </a:p>
          <a:p xmlns:a="http://schemas.openxmlformats.org/drawingml/2006/main">
            <a:r>
              <a:t>      "ST-08"</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"AX11",</a:t>
            </a:r>
          </a:p>
          <a:p xmlns:a="http://schemas.openxmlformats.org/drawingml/2006/main">
            <a:r>
              <a:t>    "canonicalId": "AX11",</a:t>
            </a:r>
          </a:p>
          <a:p xmlns:a="http://schemas.openxmlformats.org/drawingml/2006/main">
            <a:r>
              <a:t>    "purpose": "신호 운영 검토를 위한 교통 흐름 분석",</a:t>
            </a:r>
          </a:p>
          <a:p xmlns:a="http://schemas.openxmlformats.org/drawingml/2006/main">
            <a:r>
              <a:t>    "users": "도시 교통기술자·운영 담당",</a:t>
            </a:r>
          </a:p>
          <a:p xmlns:a="http://schemas.openxmlformats.org/drawingml/2006/main">
            <a:r>
              <a:t>    "scope": [</a:t>
            </a:r>
          </a:p>
          <a:p xmlns:a="http://schemas.openxmlformats.org/drawingml/2006/main">
            <a:r>
              <a:t>      "교차로 흐름",</a:t>
            </a:r>
          </a:p>
          <a:p xmlns:a="http://schemas.openxmlformats.org/drawingml/2006/main">
            <a:r>
              <a:t>      "신호 권고",</a:t>
            </a:r>
          </a:p>
          <a:p xmlns:a="http://schemas.openxmlformats.org/drawingml/2006/main">
            <a:r>
              <a:t>      "효과 점검"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"교통 흐름 자료",</a:t>
            </a:r>
          </a:p>
          <a:p xmlns:a="http://schemas.openxmlformats.org/drawingml/2006/main">
            <a:r>
              <a:t>        "detail": "교차로·시간대·운영 조건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"교차로 흐름 / 신호 권고 / 효과 점검",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"신호 개선 권고",</a:t>
            </a:r>
          </a:p>
          <a:p xmlns:a="http://schemas.openxmlformats.org/drawingml/2006/main">
            <a:r>
              <a:t>        "detail": "정체·정지 패턴에 따른 신호 조정 후보",</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"도시 교통기술자",</a:t>
            </a:r>
          </a:p>
          <a:p xmlns:a="http://schemas.openxmlformats.org/drawingml/2006/main">
            <a:r>
              <a:t>        "detail": "교통기술자의 검토 후 신호 계획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"교차로·교통 패턴",</a:t>
            </a:r>
          </a:p>
          <a:p xmlns:a="http://schemas.openxmlformats.org/drawingml/2006/main">
            <a:r>
              <a:t>        "detail": "교통 흐름·교차로·신호 운영자료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"변경 전후 교통지표와 안전 제약의 병행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"교통 흐름 데이터",</a:t>
            </a:r>
          </a:p>
          <a:p xmlns:a="http://schemas.openxmlformats.org/drawingml/2006/main">
            <a:r>
              <a:t>        "input": "교차로·시간대·운영 조건 지정",</a:t>
            </a:r>
          </a:p>
          <a:p xmlns:a="http://schemas.openxmlformats.org/drawingml/2006/main">
            <a:r>
              <a:t>        "process": "교통 흐름·교차로·신호 운영자료 정합화",</a:t>
            </a:r>
          </a:p>
          <a:p xmlns:a="http://schemas.openxmlformats.org/drawingml/2006/main">
            <a:r>
              <a:t>        "output": "교차로 흐름"</a:t>
            </a:r>
          </a:p>
          <a:p xmlns:a="http://schemas.openxmlformats.org/drawingml/2006/main">
            <a:r>
              <a:t>      },</a:t>
            </a:r>
          </a:p>
          <a:p xmlns:a="http://schemas.openxmlformats.org/drawingml/2006/main">
            <a:r>
              <a:t>      {</a:t>
            </a:r>
          </a:p>
          <a:p xmlns:a="http://schemas.openxmlformats.org/drawingml/2006/main">
            <a:r>
              <a:t>        "title": "AI 개선 권고",</a:t>
            </a:r>
          </a:p>
          <a:p xmlns:a="http://schemas.openxmlformats.org/drawingml/2006/main">
            <a:r>
              <a:t>        "input": "교차로 흐름",</a:t>
            </a:r>
          </a:p>
          <a:p xmlns:a="http://schemas.openxmlformats.org/drawingml/2006/main">
            <a:r>
              <a:t>        "process": "정체·정지 패턴에 따른 신호 조정 후보",</a:t>
            </a:r>
          </a:p>
          <a:p xmlns:a="http://schemas.openxmlformats.org/drawingml/2006/main">
            <a:r>
              <a:t>        "output": "정체 패턴"</a:t>
            </a:r>
          </a:p>
          <a:p xmlns:a="http://schemas.openxmlformats.org/drawingml/2006/main">
            <a:r>
              <a:t>      },</a:t>
            </a:r>
          </a:p>
          <a:p xmlns:a="http://schemas.openxmlformats.org/drawingml/2006/main">
            <a:r>
              <a:t>      {</a:t>
            </a:r>
          </a:p>
          <a:p xmlns:a="http://schemas.openxmlformats.org/drawingml/2006/main">
            <a:r>
              <a:t>        "title": "기술자 검토",</a:t>
            </a:r>
          </a:p>
          <a:p xmlns:a="http://schemas.openxmlformats.org/drawingml/2006/main">
            <a:r>
              <a:t>        "input": "정체 패턴",</a:t>
            </a:r>
          </a:p>
          <a:p xmlns:a="http://schemas.openxmlformats.org/drawingml/2006/main">
            <a:r>
              <a:t>        "process": "지역 제약·안전 조건 검토",</a:t>
            </a:r>
          </a:p>
          <a:p xmlns:a="http://schemas.openxmlformats.org/drawingml/2006/main">
            <a:r>
              <a:t>        "output": "신호 조정안"</a:t>
            </a:r>
          </a:p>
          <a:p xmlns:a="http://schemas.openxmlformats.org/drawingml/2006/main">
            <a:r>
              <a:t>      },</a:t>
            </a:r>
          </a:p>
          <a:p xmlns:a="http://schemas.openxmlformats.org/drawingml/2006/main">
            <a:r>
              <a:t>      {</a:t>
            </a:r>
          </a:p>
          <a:p xmlns:a="http://schemas.openxmlformats.org/drawingml/2006/main">
            <a:r>
              <a:t>        "title": "신호 운영 반영",</a:t>
            </a:r>
          </a:p>
          <a:p xmlns:a="http://schemas.openxmlformats.org/drawingml/2006/main">
            <a:r>
              <a:t>        "input": "신호 조정안",</a:t>
            </a:r>
          </a:p>
          <a:p xmlns:a="http://schemas.openxmlformats.org/drawingml/2006/main">
            <a:r>
              <a:t>        "process": "교통기술자의 검토 후 신호 계획 반영",</a:t>
            </a:r>
          </a:p>
          <a:p xmlns:a="http://schemas.openxmlformats.org/drawingml/2006/main">
            <a:r>
              <a:t>        "output": "기술자 적용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"교차로의 신호 조정 후보를 기술자가 현장 조건과 대조",</a:t>
            </a:r>
          </a:p>
          <a:p xmlns:a="http://schemas.openxmlformats.org/drawingml/2006/main">
            <a:r>
              <a:t>      "exception": "보행시간 부족·인접 교차로 정체·특수 행사일",</a:t>
            </a:r>
          </a:p>
          <a:p xmlns:a="http://schemas.openxmlformats.org/drawingml/2006/main">
            <a:r>
              <a:t>      "evidence": "변경 전후 지표와 보행·안전 제약 확인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"도시 교통기술자·운영 담당",</a:t>
            </a:r>
          </a:p>
          <a:p xmlns:a="http://schemas.openxmlformats.org/drawingml/2006/main">
            <a:r>
              <a:t>          "processing": "교차로·시간대·운영 조건 지정",</a:t>
            </a:r>
          </a:p>
          <a:p xmlns:a="http://schemas.openxmlformats.org/drawingml/2006/main">
            <a:r>
              <a:t>          "output": "교차로 흐름"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"교차로·교통 패턴",</a:t>
            </a:r>
          </a:p>
          <a:p xmlns:a="http://schemas.openxmlformats.org/drawingml/2006/main">
            <a:r>
              <a:t>          "processing": "교통 흐름·교차로·신호 운영자료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"교차로 흐름",</a:t>
            </a:r>
          </a:p>
          <a:p xmlns:a="http://schemas.openxmlformats.org/drawingml/2006/main">
            <a:r>
              <a:t>          "processing": "정체·정지 패턴에 따른 신호 조정 후보",</a:t>
            </a:r>
          </a:p>
          <a:p xmlns:a="http://schemas.openxmlformats.org/drawingml/2006/main">
            <a:r>
              <a:t>          "output": "신호 조정안"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"신호 조정안",</a:t>
            </a:r>
          </a:p>
          <a:p xmlns:a="http://schemas.openxmlformats.org/drawingml/2006/main">
            <a:r>
              <a:t>          "processing": "교통기술자의 검토 후 신호 계획 반영",</a:t>
            </a:r>
          </a:p>
          <a:p xmlns:a="http://schemas.openxmlformats.org/drawingml/2006/main">
            <a:r>
              <a:t>          "output": "기술자 적용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"변경 전후 교통지표와 안전 제약의 병행 평가",</a:t>
            </a:r>
          </a:p>
          <a:p xmlns:a="http://schemas.openxmlformats.org/drawingml/2006/main">
            <a:r>
              <a:t>          "output": "변경 전후 지표와 보행·안전 제약 확인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"변경 전후 교통지표와 안전 제약의 병행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"S-AX11",</a:t>
            </a:r>
          </a:p>
          <a:p xmlns:a="http://schemas.openxmlformats.org/drawingml/2006/main">
            <a:r>
              <a:t>        "title": "Google Green Light · 개발기관 사업 소개 / 게시일 미표시",</a:t>
            </a:r>
          </a:p>
          <a:p xmlns:a="http://schemas.openxmlformats.org/drawingml/2006/main">
            <a:r>
              <a:t>        "url": "https://sites.research.google/greenlight/",</a:t>
            </a:r>
          </a:p>
          <a:p xmlns:a="http://schemas.openxmlformats.org/drawingml/2006/main">
            <a:r>
              <a:t>        "published": "운영 적용",</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"권고와 현장 실행 권한의 분리",</a:t>
            </a:r>
          </a:p>
          <a:p xmlns:a="http://schemas.openxmlformats.org/drawingml/2006/main">
            <a:r>
              <a:t>    "local": "TS 분석·점검 의견을 지자체 소관 업무로 인계",</a:t>
            </a:r>
          </a:p>
          <a:p xmlns:a="http://schemas.openxmlformats.org/drawingml/2006/main">
            <a:r>
              <a:t>    "sourceDetail": null,</a:t>
            </a:r>
          </a:p>
          <a:p xmlns:a="http://schemas.openxmlformats.org/drawingml/2006/main">
            <a:r>
              <a:t>    "narrative": [</a:t>
            </a:r>
          </a:p>
          <a:p xmlns:a="http://schemas.openxmlformats.org/drawingml/2006/main">
            <a:r>
              <a:t>      "도시 교통 흐름을 분석해 신호 운영 개선안을 기술자에게 제공하는 사례. AI가 모든 교차로 신호를 직접 제어하는 방식으로 일반화하기보다 권고와 현장 적용의 연결에 주목.",</a:t>
            </a:r>
          </a:p>
          <a:p xmlns:a="http://schemas.openxmlformats.org/drawingml/2006/main">
            <a:r>
              <a:t>      "교차로·시간대별 흐름에서 정체·정지 패턴을 찾고 신호 조정 후보를 만드는 흐름. 지역 교통기술자가 보행자·긴급차량·현장 제약을 확인한 뒤 운영계획에 반영하는 CCK 적용 구조.",</a:t>
            </a:r>
          </a:p>
          <a:p xmlns:a="http://schemas.openxmlformats.org/drawingml/2006/main">
            <a:r>
              <a:t>      "관측 교차로의 결과를 다른 지역 성과로 그대로 환산하지 않는 비교. 변경 전후 교통지표, 안전 제약 위반, 권고 채택 여부와 실제 운영 반영시간을 함께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"신호 검토 요청",</a:t>
            </a:r>
          </a:p>
          <a:p xmlns:a="http://schemas.openxmlformats.org/drawingml/2006/main">
            <a:r>
              <a:t>          "layer": "이용 접점",</a:t>
            </a:r>
          </a:p>
          <a:p xmlns:a="http://schemas.openxmlformats.org/drawingml/2006/main">
            <a:r>
              <a:t>          "detail": "도시 교통기술자·운영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"교차로·시간대",</a:t>
            </a:r>
          </a:p>
          <a:p xmlns:a="http://schemas.openxmlformats.org/drawingml/2006/main">
            <a:r>
              <a:t>          "layer": "업무 문맥",</a:t>
            </a:r>
          </a:p>
          <a:p xmlns:a="http://schemas.openxmlformats.org/drawingml/2006/main">
            <a:r>
              <a:t>          "detail": "교차로·시간대·운영 조건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"교통 흐름 조회",</a:t>
            </a:r>
          </a:p>
          <a:p xmlns:a="http://schemas.openxmlformats.org/drawingml/2006/main">
            <a:r>
              <a:t>          "layer": "자료 조회",</a:t>
            </a:r>
          </a:p>
          <a:p xmlns:a="http://schemas.openxmlformats.org/drawingml/2006/main">
            <a:r>
              <a:t>          "detail": "교차로 흐름",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"신호 조정 후보",</a:t>
            </a:r>
          </a:p>
          <a:p xmlns:a="http://schemas.openxmlformats.org/drawingml/2006/main">
            <a:r>
              <a:t>          "layer": "핵심 처리",</a:t>
            </a:r>
          </a:p>
          <a:p xmlns:a="http://schemas.openxmlformats.org/drawingml/2006/main">
            <a:r>
              <a:t>          "detail": "정체·정지 패턴에 따른 신호 조정 후보",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"지역·안전 제약",</a:t>
            </a:r>
          </a:p>
          <a:p xmlns:a="http://schemas.openxmlformats.org/drawingml/2006/main">
            <a:r>
              <a:t>          "layer": "결과 검증",</a:t>
            </a:r>
          </a:p>
          <a:p xmlns:a="http://schemas.openxmlformats.org/drawingml/2006/main">
            <a:r>
              <a:t>          "detail": "지역 제약·안전 조건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"교통기술자 검토",</a:t>
            </a:r>
          </a:p>
          <a:p xmlns:a="http://schemas.openxmlformats.org/drawingml/2006/main">
            <a:r>
              <a:t>          "layer": "사람 확인",</a:t>
            </a:r>
          </a:p>
          <a:p xmlns:a="http://schemas.openxmlformats.org/drawingml/2006/main">
            <a:r>
              <a:t>          "detail": "교차로의 신호 조정 후보를 기술자가 현장 조건과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"신호계획 반영",</a:t>
            </a:r>
          </a:p>
          <a:p xmlns:a="http://schemas.openxmlformats.org/drawingml/2006/main">
            <a:r>
              <a:t>          "layer": "업무 연결",</a:t>
            </a:r>
          </a:p>
          <a:p xmlns:a="http://schemas.openxmlformats.org/drawingml/2006/main">
            <a:r>
              <a:t>          "detail": "교통기술자의 검토 후 신호 계획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"변경 전후 평가",</a:t>
            </a:r>
          </a:p>
          <a:p xmlns:a="http://schemas.openxmlformats.org/drawingml/2006/main">
            <a:r>
              <a:t>          "layer": "운영 관측",</a:t>
            </a:r>
          </a:p>
          <a:p xmlns:a="http://schemas.openxmlformats.org/drawingml/2006/main">
            <a:r>
              <a:t>          "detail": "변경 전후 교통지표와 안전 제약의 병행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"교통·신호 자료",</a:t>
            </a:r>
          </a:p>
          <a:p xmlns:a="http://schemas.openxmlformats.org/drawingml/2006/main">
            <a:r>
              <a:t>          "layer": "데이터 원천",</a:t>
            </a:r>
          </a:p>
          <a:p xmlns:a="http://schemas.openxmlformats.org/drawingml/2006/main">
            <a:r>
              <a:t>          "detail": "교차로·교통 패턴",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"교차로 코드 정리",</a:t>
            </a:r>
          </a:p>
          <a:p xmlns:a="http://schemas.openxmlformats.org/drawingml/2006/main">
            <a:r>
              <a:t>          "layer": "준비·갱신",</a:t>
            </a:r>
          </a:p>
          <a:p xmlns:a="http://schemas.openxmlformats.org/drawingml/2006/main">
            <a:r>
              <a:t>          "detail": "교통 흐름·교차로·신호 운영자료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"흐름·계획 이력",</a:t>
            </a:r>
          </a:p>
          <a:p xmlns:a="http://schemas.openxmlformats.org/drawingml/2006/main">
            <a:r>
              <a:t>          "layer": "상태·지식 저장",</a:t>
            </a:r>
          </a:p>
          <a:p xmlns:a="http://schemas.openxmlformats.org/drawingml/2006/main">
            <a:r>
              <a:t>          "detail": "변경 전후 지표와 보행·안전 제약 확인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"보행·긴급 제약",</a:t>
            </a:r>
          </a:p>
          <a:p xmlns:a="http://schemas.openxmlformats.org/drawingml/2006/main">
            <a:r>
              <a:t>          "layer": "권한·정책",</a:t>
            </a:r>
          </a:p>
          <a:p xmlns:a="http://schemas.openxmlformats.org/drawingml/2006/main">
            <a:r>
              <a:t>          "detail": "보행시간 부족·인접 교차로 정체·특수 행사일",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"교통 흐름 데이터 → AI 개선 권고 → 기술자 검토 → 신호 운영 반영"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"교차로·교통 패턴",</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"정체 패턴",</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"신호 조정안",</a:t>
            </a:r>
          </a:p>
          <a:p xmlns:a="http://schemas.openxmlformats.org/drawingml/2006/main">
            <a:r>
              <a:t>          "check": "변경 전후 지표와 보행·안전 제약 확인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"신호 조정안",</a:t>
            </a:r>
          </a:p>
          <a:p xmlns:a="http://schemas.openxmlformats.org/drawingml/2006/main">
            <a:r>
              <a:t>          "check": "지역 제약·안전 조건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"기술자 적용 결과",</a:t>
            </a:r>
          </a:p>
          <a:p xmlns:a="http://schemas.openxmlformats.org/drawingml/2006/main">
            <a:r>
              <a:t>          "check": "변경 전후 지표와 보행·안전 제약 확인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"신호 운영 검토를 위한 교통 흐름 분석 / 교차로 흐름·신호 권고·효과 점검",</a:t>
            </a:r>
          </a:p>
          <a:p xmlns:a="http://schemas.openxmlformats.org/drawingml/2006/main">
            <a:r>
              <a:t>        "extension": "TS 분석·점검 의견을 지자체 소관 업무로 인계"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"보행시간 부족·인접 교차로 정체·특수 행사일",</a:t>
            </a:r>
          </a:p>
          <a:p xmlns:a="http://schemas.openxmlformats.org/drawingml/2006/main">
            <a:r>
              <a:t>        "hold": "지역 제약·안전 조건 검토",</a:t>
            </a:r>
          </a:p>
          <a:p xmlns:a="http://schemas.openxmlformats.org/drawingml/2006/main">
            <a:r>
              <a:t>        "recovery": "변경 전후 교통지표와 안전 제약의 병행 평가",</a:t>
            </a:r>
          </a:p>
          <a:p xmlns:a="http://schemas.openxmlformats.org/drawingml/2006/main">
            <a:r>
              <a:t>        "evidence": "변경 전후 지표와 보행·안전 제약 확인 기록"</a:t>
            </a:r>
          </a:p>
          <a:p xmlns:a="http://schemas.openxmlformats.org/drawingml/2006/main">
            <a:r>
              <a:t>      },</a:t>
            </a:r>
          </a:p>
          <a:p xmlns:a="http://schemas.openxmlformats.org/drawingml/2006/main">
            <a:r>
              <a:t>      "data": {</a:t>
            </a:r>
          </a:p>
          <a:p xmlns:a="http://schemas.openxmlformats.org/drawingml/2006/main">
            <a:r>
              <a:t>        "source": "교차로·교통 패턴",</a:t>
            </a:r>
          </a:p>
          <a:p xmlns:a="http://schemas.openxmlformats.org/drawingml/2006/main">
            <a:r>
              <a:t>        "prepare": "교통 흐름·교차로·신호 운영자료 정합화",</a:t>
            </a:r>
          </a:p>
          <a:p xmlns:a="http://schemas.openxmlformats.org/drawingml/2006/main">
            <a:r>
              <a:t>        "output": "교차로 흐름",</a:t>
            </a:r>
          </a:p>
          <a:p xmlns:a="http://schemas.openxmlformats.org/drawingml/2006/main">
            <a:r>
              <a:t>        "refresh": "변경 전후 교통지표와 안전 제약의 병행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"AX11",</a:t>
            </a:r>
          </a:p>
          <a:p xmlns:a="http://schemas.openxmlformats.org/drawingml/2006/main">
            <a:r>
              <a:t>    "success": [</a:t>
            </a:r>
          </a:p>
          <a:p xmlns:a="http://schemas.openxmlformats.org/drawingml/2006/main">
            <a:r>
              <a:t>      "기존 신호 운영에 개선 권고 제공",</a:t>
            </a:r>
          </a:p>
          <a:p xmlns:a="http://schemas.openxmlformats.org/drawingml/2006/main">
            <a:r>
              <a:t>      "도시 기술자의 검토 후 반영"</a:t>
            </a:r>
          </a:p>
          <a:p xmlns:a="http://schemas.openxmlformats.org/drawingml/2006/main">
            <a:r>
              <a:t>    ],</a:t>
            </a:r>
          </a:p>
          <a:p xmlns:a="http://schemas.openxmlformats.org/drawingml/2006/main">
            <a:r>
              <a:t>    "risks": [</a:t>
            </a:r>
          </a:p>
          <a:p xmlns:a="http://schemas.openxmlformats.org/drawingml/2006/main">
            <a:r>
              <a:t>      "관측 교차로 외 일반화 위험",</a:t>
            </a:r>
          </a:p>
          <a:p xmlns:a="http://schemas.openxmlformats.org/drawingml/2006/main">
            <a:r>
              <a:t>      "보행자·긴급차량 조건 누락 가능성"</a:t>
            </a:r>
          </a:p>
          <a:p xmlns:a="http://schemas.openxmlformats.org/drawingml/2006/main">
            <a:r>
              <a:t>    ],</a:t>
            </a:r>
          </a:p>
          <a:p xmlns:a="http://schemas.openxmlformats.org/drawingml/2006/main">
            <a:r>
              <a:t>    "architecture": [</a:t>
            </a:r>
          </a:p>
          <a:p xmlns:a="http://schemas.openxmlformats.org/drawingml/2006/main">
            <a:r>
              <a:t>      "교통 흐름 자료",</a:t>
            </a:r>
          </a:p>
          <a:p xmlns:a="http://schemas.openxmlformats.org/drawingml/2006/main">
            <a:r>
              <a:t>      "신호 개선 권고",</a:t>
            </a:r>
          </a:p>
          <a:p xmlns:a="http://schemas.openxmlformats.org/drawingml/2006/main">
            <a:r>
              <a:t>      "교차로·교통 패턴",</a:t>
            </a:r>
          </a:p>
          <a:p xmlns:a="http://schemas.openxmlformats.org/drawingml/2006/main">
            <a:r>
              <a:t>      "도시 교통기술자"</a:t>
            </a:r>
          </a:p>
          <a:p xmlns:a="http://schemas.openxmlformats.org/drawingml/2006/main">
            <a:r>
              <a:t>    ],</a:t>
            </a:r>
          </a:p>
          <a:p xmlns:a="http://schemas.openxmlformats.org/drawingml/2006/main">
            <a:r>
              <a:t>    "transfers": [</a:t>
            </a:r>
          </a:p>
          <a:p xmlns:a="http://schemas.openxmlformats.org/drawingml/2006/main">
            <a:r>
              <a:t>      "교차로 흐름",</a:t>
            </a:r>
          </a:p>
          <a:p xmlns:a="http://schemas.openxmlformats.org/drawingml/2006/main">
            <a:r>
              <a:t>      "정체 패턴",</a:t>
            </a:r>
          </a:p>
          <a:p xmlns:a="http://schemas.openxmlformats.org/drawingml/2006/main">
            <a:r>
              <a:t>      "신호 조정안",</a:t>
            </a:r>
          </a:p>
          <a:p xmlns:a="http://schemas.openxmlformats.org/drawingml/2006/main">
            <a:r>
              <a:t>      "기술자 적용 결과"</a:t>
            </a:r>
          </a:p>
          <a:p xmlns:a="http://schemas.openxmlformats.org/drawingml/2006/main">
            <a:r>
              <a:t>    ],</a:t>
            </a:r>
          </a:p>
          <a:p xmlns:a="http://schemas.openxmlformats.org/drawingml/2006/main">
            <a:r>
              <a:t>    "control": "지역 제약·안전 조건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Green Light · 개발기관 사업 소개 / 게시일 미표시 https://sites.research.google/greenlight/</a:t>
            </a:r>
          </a:p>
          <a:p xmlns:a="http://schemas.openxmlformats.org/drawingml/2006/main">
            <a:r>
              <a:t>홈페이지 https://heen1987-ops.github.io/TS-business-Plan-001/index.html?view=casebook&amp;case=AX11</a:t>
            </a:r>
          </a:p>
          <a:p xmlns:a="http://schemas.openxmlformats.org/drawingml/2006/main">
            <a:r>
              <a:t>성과 대조</a:t>
            </a:r>
          </a:p>
          <a:p xmlns:a="http://schemas.openxmlformats.org/drawingml/2006/main">
            <a:r>
              <a:t>{</a:t>
            </a:r>
          </a:p>
          <a:p xmlns:a="http://schemas.openxmlformats.org/drawingml/2006/main">
            <a:r>
              <a:t>  "caseId": "AX11",</a:t>
            </a:r>
          </a:p>
          <a:p xmlns:a="http://schemas.openxmlformats.org/drawingml/2006/main">
            <a:r>
              <a:t>  "asIs": "도시 신호 조정에 고비용 센서 설치·수작업 교통량 조사와 교차로별 분절 판단 필요",</a:t>
            </a:r>
          </a:p>
          <a:p xmlns:a="http://schemas.openxmlformats.org/drawingml/2006/main">
            <a:r>
              <a:t>  "toBe": "Maps 교통 추세로 신호 패턴을 분석하고 기술자가 검토·승인할 개선 권고 제공",</a:t>
            </a:r>
          </a:p>
          <a:p xmlns:a="http://schemas.openxmlformats.org/drawingml/2006/main">
            <a:r>
              <a:t>  "expectedEffect": "불필요한 정지·대기와 연료 소비·배출 감소",</a:t>
            </a:r>
          </a:p>
          <a:p xmlns:a="http://schemas.openxmlformats.org/drawingml/2006/main">
            <a:r>
              <a:t>  "observed": "Google은 100개 이상 도시 적용 및 변경 후 영향 분석 제공을 공개; 정지 최대 30%, 온실가스 최대 10% 감소는 초기·잠재치로 설명",</a:t>
            </a:r>
          </a:p>
          <a:p xmlns:a="http://schemas.openxmlformats.org/drawingml/2006/main">
            <a:r>
              <a:t>  "verdict": "부분 성과",</a:t>
            </a:r>
          </a:p>
          <a:p xmlns:a="http://schemas.openxmlformats.org/drawingml/2006/main">
            <a:r>
              <a:t>  "verdictReason": "도시 도입과 기술자 승인·사후 측정 절차는 확인; 모든 도시에서 동일 절감률의 독립 실측은 확인되지 않음",</a:t>
            </a:r>
          </a:p>
          <a:p xmlns:a="http://schemas.openxmlformats.org/drawingml/2006/main">
            <a:r>
              <a:t>  "limits": "개발기관 발표. 도시별 조건과 신호 변경 주체가 다르며 최대·잠재치를 평균 실적처럼 표시 불가",</a:t>
            </a:r>
          </a:p>
          <a:p xmlns:a="http://schemas.openxmlformats.org/drawingml/2006/main">
            <a:r>
              <a:t>  "evidenceStage": "개발기관 운영 소개",</a:t>
            </a:r>
          </a:p>
          <a:p xmlns:a="http://schemas.openxmlformats.org/drawingml/2006/main">
            <a:r>
              <a:t>  "sourceUrl": "https://sites.research.google/greenlight/"</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"AX11",</a:t>
            </a:r>
          </a:p>
          <a:p xmlns:a="http://schemas.openxmlformats.org/drawingml/2006/main">
            <a:r>
              <a:t>    "title": "Google Green Light",</a:t>
            </a:r>
          </a:p>
          <a:p xmlns:a="http://schemas.openxmlformats.org/drawingml/2006/main">
            <a:r>
              <a:t>    "region": "해외",</a:t>
            </a:r>
          </a:p>
          <a:p xmlns:a="http://schemas.openxmlformats.org/drawingml/2006/main">
            <a:r>
              <a:t>    "country": "다국가",</a:t>
            </a:r>
          </a:p>
          <a:p xmlns:a="http://schemas.openxmlformats.org/drawingml/2006/main">
            <a:r>
              <a:t>    "result": "성공",</a:t>
            </a:r>
          </a:p>
          <a:p xmlns:a="http://schemas.openxmlformats.org/drawingml/2006/main">
            <a:r>
              <a:t>    "kind": "신호 운영 최적화 지원",</a:t>
            </a:r>
          </a:p>
          <a:p xmlns:a="http://schemas.openxmlformats.org/drawingml/2006/main">
            <a:r>
              <a:t>    "period": "운영 적용",</a:t>
            </a:r>
          </a:p>
          <a:p xmlns:a="http://schemas.openxmlformats.org/drawingml/2006/main">
            <a:r>
              <a:t>    "sources": [</a:t>
            </a:r>
          </a:p>
          <a:p xmlns:a="http://schemas.openxmlformats.org/drawingml/2006/main">
            <a:r>
              <a:t>      "S-AX11"</a:t>
            </a:r>
          </a:p>
          <a:p xmlns:a="http://schemas.openxmlformats.org/drawingml/2006/main">
            <a:r>
              <a:t>    ],</a:t>
            </a:r>
          </a:p>
          <a:p xmlns:a="http://schemas.openxmlformats.org/drawingml/2006/main">
            <a:r>
              <a:t>    "keywords": [</a:t>
            </a:r>
          </a:p>
          <a:p xmlns:a="http://schemas.openxmlformats.org/drawingml/2006/main">
            <a:r>
              <a:t>      "신호 운영 최적화 지원"</a:t>
            </a:r>
          </a:p>
          <a:p xmlns:a="http://schemas.openxmlformats.org/drawingml/2006/main">
            <a:r>
              <a:t>    ],</a:t>
            </a:r>
          </a:p>
          <a:p xmlns:a="http://schemas.openxmlformats.org/drawingml/2006/main">
            <a:r>
              <a:t>    "fact": "교통 흐름 분석과 AI 권고를 도시 교통기술자의 신호 운영 검토에 제공",</a:t>
            </a:r>
          </a:p>
          <a:p xmlns:a="http://schemas.openxmlformats.org/drawingml/2006/main">
            <a:r>
              <a:t>    "limit": "도시별 효과 차이 · 신호 변경 권한은 운영기관 소관",</a:t>
            </a:r>
          </a:p>
          <a:p xmlns:a="http://schemas.openxmlformats.org/drawingml/2006/main">
            <a:r>
              <a:t>    "flow": [</a:t>
            </a:r>
          </a:p>
          <a:p xmlns:a="http://schemas.openxmlformats.org/drawingml/2006/main">
            <a:r>
              <a:t>      "교통 흐름 데이터",</a:t>
            </a:r>
          </a:p>
          <a:p xmlns:a="http://schemas.openxmlformats.org/drawingml/2006/main">
            <a:r>
              <a:t>      "AI 개선 권고",</a:t>
            </a:r>
          </a:p>
          <a:p xmlns:a="http://schemas.openxmlformats.org/drawingml/2006/main">
            <a:r>
              <a:t>      "기술자 검토",</a:t>
            </a:r>
          </a:p>
          <a:p xmlns:a="http://schemas.openxmlformats.org/drawingml/2006/main">
            <a:r>
              <a:t>      "신호 운영 반영"</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"권고와 현장 실행 권한의 분리",</a:t>
            </a:r>
          </a:p>
          <a:p xmlns:a="http://schemas.openxmlformats.org/drawingml/2006/main">
            <a:r>
              <a:t>    "local": "TS 분석·점검 의견을 지자체 소관 업무로 인계",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"지역·교차로·관할·개선 전후 지표 연결",</a:t>
            </a:r>
          </a:p>
          <a:p xmlns:a="http://schemas.openxmlformats.org/drawingml/2006/main">
            <a:r>
              <a:t>    "test": "동일 시간대·교통량 비교와 담당자 승인 확인",</a:t>
            </a:r>
          </a:p>
          <a:p xmlns:a="http://schemas.openxmlformats.org/drawingml/2006/main">
            <a:r>
              <a:t>    "metric": "정체·대기 지표 / 권고 채택률",</a:t>
            </a:r>
          </a:p>
          <a:p xmlns:a="http://schemas.openxmlformats.org/drawingml/2006/main">
            <a:r>
              <a:t>    "strategies": [</a:t>
            </a:r>
          </a:p>
          <a:p xmlns:a="http://schemas.openxmlformats.org/drawingml/2006/main">
            <a:r>
              <a:t>      "ST-06",</a:t>
            </a:r>
          </a:p>
          <a:p xmlns:a="http://schemas.openxmlformats.org/drawingml/2006/main">
            <a:r>
              <a:t>      "ST-07",</a:t>
            </a:r>
          </a:p>
          <a:p xmlns:a="http://schemas.openxmlformats.org/drawingml/2006/main">
            <a:r>
              <a:t>      "ST-08"</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"AX11",</a:t>
            </a:r>
          </a:p>
          <a:p xmlns:a="http://schemas.openxmlformats.org/drawingml/2006/main">
            <a:r>
              <a:t>    "canonicalId": "AX11",</a:t>
            </a:r>
          </a:p>
          <a:p xmlns:a="http://schemas.openxmlformats.org/drawingml/2006/main">
            <a:r>
              <a:t>    "purpose": "신호 운영 검토를 위한 교통 흐름 분석",</a:t>
            </a:r>
          </a:p>
          <a:p xmlns:a="http://schemas.openxmlformats.org/drawingml/2006/main">
            <a:r>
              <a:t>    "users": "도시 교통기술자·운영 담당",</a:t>
            </a:r>
          </a:p>
          <a:p xmlns:a="http://schemas.openxmlformats.org/drawingml/2006/main">
            <a:r>
              <a:t>    "scope": [</a:t>
            </a:r>
          </a:p>
          <a:p xmlns:a="http://schemas.openxmlformats.org/drawingml/2006/main">
            <a:r>
              <a:t>      "교차로 흐름",</a:t>
            </a:r>
          </a:p>
          <a:p xmlns:a="http://schemas.openxmlformats.org/drawingml/2006/main">
            <a:r>
              <a:t>      "신호 권고",</a:t>
            </a:r>
          </a:p>
          <a:p xmlns:a="http://schemas.openxmlformats.org/drawingml/2006/main">
            <a:r>
              <a:t>      "효과 점검"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"교통 흐름 자료",</a:t>
            </a:r>
          </a:p>
          <a:p xmlns:a="http://schemas.openxmlformats.org/drawingml/2006/main">
            <a:r>
              <a:t>        "detail": "교차로·시간대·운영 조건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"교차로 흐름 / 신호 권고 / 효과 점검",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"신호 개선 권고",</a:t>
            </a:r>
          </a:p>
          <a:p xmlns:a="http://schemas.openxmlformats.org/drawingml/2006/main">
            <a:r>
              <a:t>        "detail": "정체·정지 패턴에 따른 신호 조정 후보",</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"도시 교통기술자",</a:t>
            </a:r>
          </a:p>
          <a:p xmlns:a="http://schemas.openxmlformats.org/drawingml/2006/main">
            <a:r>
              <a:t>        "detail": "교통기술자의 검토 후 신호 계획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"교차로·교통 패턴",</a:t>
            </a:r>
          </a:p>
          <a:p xmlns:a="http://schemas.openxmlformats.org/drawingml/2006/main">
            <a:r>
              <a:t>        "detail": "교통 흐름·교차로·신호 운영자료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"변경 전후 교통지표와 안전 제약의 병행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"교통 흐름 데이터",</a:t>
            </a:r>
          </a:p>
          <a:p xmlns:a="http://schemas.openxmlformats.org/drawingml/2006/main">
            <a:r>
              <a:t>        "input": "교차로·시간대·운영 조건 지정",</a:t>
            </a:r>
          </a:p>
          <a:p xmlns:a="http://schemas.openxmlformats.org/drawingml/2006/main">
            <a:r>
              <a:t>        "process": "교통 흐름·교차로·신호 운영자료 정합화",</a:t>
            </a:r>
          </a:p>
          <a:p xmlns:a="http://schemas.openxmlformats.org/drawingml/2006/main">
            <a:r>
              <a:t>        "output": "교차로 흐름"</a:t>
            </a:r>
          </a:p>
          <a:p xmlns:a="http://schemas.openxmlformats.org/drawingml/2006/main">
            <a:r>
              <a:t>      },</a:t>
            </a:r>
          </a:p>
          <a:p xmlns:a="http://schemas.openxmlformats.org/drawingml/2006/main">
            <a:r>
              <a:t>      {</a:t>
            </a:r>
          </a:p>
          <a:p xmlns:a="http://schemas.openxmlformats.org/drawingml/2006/main">
            <a:r>
              <a:t>        "title": "AI 개선 권고",</a:t>
            </a:r>
          </a:p>
          <a:p xmlns:a="http://schemas.openxmlformats.org/drawingml/2006/main">
            <a:r>
              <a:t>        "input": "교차로 흐름",</a:t>
            </a:r>
          </a:p>
          <a:p xmlns:a="http://schemas.openxmlformats.org/drawingml/2006/main">
            <a:r>
              <a:t>        "process": "정체·정지 패턴에 따른 신호 조정 후보",</a:t>
            </a:r>
          </a:p>
          <a:p xmlns:a="http://schemas.openxmlformats.org/drawingml/2006/main">
            <a:r>
              <a:t>        "output": "정체 패턴"</a:t>
            </a:r>
          </a:p>
          <a:p xmlns:a="http://schemas.openxmlformats.org/drawingml/2006/main">
            <a:r>
              <a:t>      },</a:t>
            </a:r>
          </a:p>
          <a:p xmlns:a="http://schemas.openxmlformats.org/drawingml/2006/main">
            <a:r>
              <a:t>      {</a:t>
            </a:r>
          </a:p>
          <a:p xmlns:a="http://schemas.openxmlformats.org/drawingml/2006/main">
            <a:r>
              <a:t>        "title": "기술자 검토",</a:t>
            </a:r>
          </a:p>
          <a:p xmlns:a="http://schemas.openxmlformats.org/drawingml/2006/main">
            <a:r>
              <a:t>        "input": "정체 패턴",</a:t>
            </a:r>
          </a:p>
          <a:p xmlns:a="http://schemas.openxmlformats.org/drawingml/2006/main">
            <a:r>
              <a:t>        "process": "지역 제약·안전 조건 검토",</a:t>
            </a:r>
          </a:p>
          <a:p xmlns:a="http://schemas.openxmlformats.org/drawingml/2006/main">
            <a:r>
              <a:t>        "output": "신호 조정안"</a:t>
            </a:r>
          </a:p>
          <a:p xmlns:a="http://schemas.openxmlformats.org/drawingml/2006/main">
            <a:r>
              <a:t>      },</a:t>
            </a:r>
          </a:p>
          <a:p xmlns:a="http://schemas.openxmlformats.org/drawingml/2006/main">
            <a:r>
              <a:t>      {</a:t>
            </a:r>
          </a:p>
          <a:p xmlns:a="http://schemas.openxmlformats.org/drawingml/2006/main">
            <a:r>
              <a:t>        "title": "신호 운영 반영",</a:t>
            </a:r>
          </a:p>
          <a:p xmlns:a="http://schemas.openxmlformats.org/drawingml/2006/main">
            <a:r>
              <a:t>        "input": "신호 조정안",</a:t>
            </a:r>
          </a:p>
          <a:p xmlns:a="http://schemas.openxmlformats.org/drawingml/2006/main">
            <a:r>
              <a:t>        "process": "교통기술자의 검토 후 신호 계획 반영",</a:t>
            </a:r>
          </a:p>
          <a:p xmlns:a="http://schemas.openxmlformats.org/drawingml/2006/main">
            <a:r>
              <a:t>        "output": "기술자 적용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"교차로의 신호 조정 후보를 기술자가 현장 조건과 대조",</a:t>
            </a:r>
          </a:p>
          <a:p xmlns:a="http://schemas.openxmlformats.org/drawingml/2006/main">
            <a:r>
              <a:t>      "exception": "보행시간 부족·인접 교차로 정체·특수 행사일",</a:t>
            </a:r>
          </a:p>
          <a:p xmlns:a="http://schemas.openxmlformats.org/drawingml/2006/main">
            <a:r>
              <a:t>      "evidence": "변경 전후 지표와 보행·안전 제약 확인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"도시 교통기술자·운영 담당",</a:t>
            </a:r>
          </a:p>
          <a:p xmlns:a="http://schemas.openxmlformats.org/drawingml/2006/main">
            <a:r>
              <a:t>          "processing": "교차로·시간대·운영 조건 지정",</a:t>
            </a:r>
          </a:p>
          <a:p xmlns:a="http://schemas.openxmlformats.org/drawingml/2006/main">
            <a:r>
              <a:t>          "output": "교차로 흐름"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"교차로·교통 패턴",</a:t>
            </a:r>
          </a:p>
          <a:p xmlns:a="http://schemas.openxmlformats.org/drawingml/2006/main">
            <a:r>
              <a:t>          "processing": "교통 흐름·교차로·신호 운영자료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"교차로 흐름",</a:t>
            </a:r>
          </a:p>
          <a:p xmlns:a="http://schemas.openxmlformats.org/drawingml/2006/main">
            <a:r>
              <a:t>          "processing": "정체·정지 패턴에 따른 신호 조정 후보",</a:t>
            </a:r>
          </a:p>
          <a:p xmlns:a="http://schemas.openxmlformats.org/drawingml/2006/main">
            <a:r>
              <a:t>          "output": "신호 조정안"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"신호 조정안",</a:t>
            </a:r>
          </a:p>
          <a:p xmlns:a="http://schemas.openxmlformats.org/drawingml/2006/main">
            <a:r>
              <a:t>          "processing": "교통기술자의 검토 후 신호 계획 반영",</a:t>
            </a:r>
          </a:p>
          <a:p xmlns:a="http://schemas.openxmlformats.org/drawingml/2006/main">
            <a:r>
              <a:t>          "output": "기술자 적용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"변경 전후 교통지표와 안전 제약의 병행 평가",</a:t>
            </a:r>
          </a:p>
          <a:p xmlns:a="http://schemas.openxmlformats.org/drawingml/2006/main">
            <a:r>
              <a:t>          "output": "변경 전후 지표와 보행·안전 제약 확인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"변경 전후 교통지표와 안전 제약의 병행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"S-AX11",</a:t>
            </a:r>
          </a:p>
          <a:p xmlns:a="http://schemas.openxmlformats.org/drawingml/2006/main">
            <a:r>
              <a:t>        "title": "Google Green Light · 개발기관 사업 소개 / 게시일 미표시",</a:t>
            </a:r>
          </a:p>
          <a:p xmlns:a="http://schemas.openxmlformats.org/drawingml/2006/main">
            <a:r>
              <a:t>        "url": "https://sites.research.google/greenlight/",</a:t>
            </a:r>
          </a:p>
          <a:p xmlns:a="http://schemas.openxmlformats.org/drawingml/2006/main">
            <a:r>
              <a:t>        "published": "운영 적용",</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"권고와 현장 실행 권한의 분리",</a:t>
            </a:r>
          </a:p>
          <a:p xmlns:a="http://schemas.openxmlformats.org/drawingml/2006/main">
            <a:r>
              <a:t>    "local": "TS 분석·점검 의견을 지자체 소관 업무로 인계",</a:t>
            </a:r>
          </a:p>
          <a:p xmlns:a="http://schemas.openxmlformats.org/drawingml/2006/main">
            <a:r>
              <a:t>    "sourceDetail": null,</a:t>
            </a:r>
          </a:p>
          <a:p xmlns:a="http://schemas.openxmlformats.org/drawingml/2006/main">
            <a:r>
              <a:t>    "narrative": [</a:t>
            </a:r>
          </a:p>
          <a:p xmlns:a="http://schemas.openxmlformats.org/drawingml/2006/main">
            <a:r>
              <a:t>      "도시 교통 흐름을 분석해 신호 운영 개선안을 기술자에게 제공하는 사례. AI가 모든 교차로 신호를 직접 제어하는 방식으로 일반화하기보다 권고와 현장 적용의 연결에 주목.",</a:t>
            </a:r>
          </a:p>
          <a:p xmlns:a="http://schemas.openxmlformats.org/drawingml/2006/main">
            <a:r>
              <a:t>      "교차로·시간대별 흐름에서 정체·정지 패턴을 찾고 신호 조정 후보를 만드는 흐름. 지역 교통기술자가 보행자·긴급차량·현장 제약을 확인한 뒤 운영계획에 반영하는 CCK 적용 구조.",</a:t>
            </a:r>
          </a:p>
          <a:p xmlns:a="http://schemas.openxmlformats.org/drawingml/2006/main">
            <a:r>
              <a:t>      "관측 교차로의 결과를 다른 지역 성과로 그대로 환산하지 않는 비교. 변경 전후 교통지표, 안전 제약 위반, 권고 채택 여부와 실제 운영 반영시간을 함께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"신호 검토 요청",</a:t>
            </a:r>
          </a:p>
          <a:p xmlns:a="http://schemas.openxmlformats.org/drawingml/2006/main">
            <a:r>
              <a:t>          "layer": "이용 접점",</a:t>
            </a:r>
          </a:p>
          <a:p xmlns:a="http://schemas.openxmlformats.org/drawingml/2006/main">
            <a:r>
              <a:t>          "detail": "도시 교통기술자·운영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"교차로·시간대",</a:t>
            </a:r>
          </a:p>
          <a:p xmlns:a="http://schemas.openxmlformats.org/drawingml/2006/main">
            <a:r>
              <a:t>          "layer": "업무 문맥",</a:t>
            </a:r>
          </a:p>
          <a:p xmlns:a="http://schemas.openxmlformats.org/drawingml/2006/main">
            <a:r>
              <a:t>          "detail": "교차로·시간대·운영 조건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"교통 흐름 조회",</a:t>
            </a:r>
          </a:p>
          <a:p xmlns:a="http://schemas.openxmlformats.org/drawingml/2006/main">
            <a:r>
              <a:t>          "layer": "자료 조회",</a:t>
            </a:r>
          </a:p>
          <a:p xmlns:a="http://schemas.openxmlformats.org/drawingml/2006/main">
            <a:r>
              <a:t>          "detail": "교차로 흐름",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"신호 조정 후보",</a:t>
            </a:r>
          </a:p>
          <a:p xmlns:a="http://schemas.openxmlformats.org/drawingml/2006/main">
            <a:r>
              <a:t>          "layer": "핵심 처리",</a:t>
            </a:r>
          </a:p>
          <a:p xmlns:a="http://schemas.openxmlformats.org/drawingml/2006/main">
            <a:r>
              <a:t>          "detail": "정체·정지 패턴에 따른 신호 조정 후보",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"지역·안전 제약",</a:t>
            </a:r>
          </a:p>
          <a:p xmlns:a="http://schemas.openxmlformats.org/drawingml/2006/main">
            <a:r>
              <a:t>          "layer": "결과 검증",</a:t>
            </a:r>
          </a:p>
          <a:p xmlns:a="http://schemas.openxmlformats.org/drawingml/2006/main">
            <a:r>
              <a:t>          "detail": "지역 제약·안전 조건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"교통기술자 검토",</a:t>
            </a:r>
          </a:p>
          <a:p xmlns:a="http://schemas.openxmlformats.org/drawingml/2006/main">
            <a:r>
              <a:t>          "layer": "사람 확인",</a:t>
            </a:r>
          </a:p>
          <a:p xmlns:a="http://schemas.openxmlformats.org/drawingml/2006/main">
            <a:r>
              <a:t>          "detail": "교차로의 신호 조정 후보를 기술자가 현장 조건과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"신호계획 반영",</a:t>
            </a:r>
          </a:p>
          <a:p xmlns:a="http://schemas.openxmlformats.org/drawingml/2006/main">
            <a:r>
              <a:t>          "layer": "업무 연결",</a:t>
            </a:r>
          </a:p>
          <a:p xmlns:a="http://schemas.openxmlformats.org/drawingml/2006/main">
            <a:r>
              <a:t>          "detail": "교통기술자의 검토 후 신호 계획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"변경 전후 평가",</a:t>
            </a:r>
          </a:p>
          <a:p xmlns:a="http://schemas.openxmlformats.org/drawingml/2006/main">
            <a:r>
              <a:t>          "layer": "운영 관측",</a:t>
            </a:r>
          </a:p>
          <a:p xmlns:a="http://schemas.openxmlformats.org/drawingml/2006/main">
            <a:r>
              <a:t>          "detail": "변경 전후 교통지표와 안전 제약의 병행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"교통·신호 자료",</a:t>
            </a:r>
          </a:p>
          <a:p xmlns:a="http://schemas.openxmlformats.org/drawingml/2006/main">
            <a:r>
              <a:t>          "layer": "데이터 원천",</a:t>
            </a:r>
          </a:p>
          <a:p xmlns:a="http://schemas.openxmlformats.org/drawingml/2006/main">
            <a:r>
              <a:t>          "detail": "교차로·교통 패턴",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"교차로 코드 정리",</a:t>
            </a:r>
          </a:p>
          <a:p xmlns:a="http://schemas.openxmlformats.org/drawingml/2006/main">
            <a:r>
              <a:t>          "layer": "준비·갱신",</a:t>
            </a:r>
          </a:p>
          <a:p xmlns:a="http://schemas.openxmlformats.org/drawingml/2006/main">
            <a:r>
              <a:t>          "detail": "교통 흐름·교차로·신호 운영자료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"흐름·계획 이력",</a:t>
            </a:r>
          </a:p>
          <a:p xmlns:a="http://schemas.openxmlformats.org/drawingml/2006/main">
            <a:r>
              <a:t>          "layer": "상태·지식 저장",</a:t>
            </a:r>
          </a:p>
          <a:p xmlns:a="http://schemas.openxmlformats.org/drawingml/2006/main">
            <a:r>
              <a:t>          "detail": "변경 전후 지표와 보행·안전 제약 확인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"보행·긴급 제약",</a:t>
            </a:r>
          </a:p>
          <a:p xmlns:a="http://schemas.openxmlformats.org/drawingml/2006/main">
            <a:r>
              <a:t>          "layer": "권한·정책",</a:t>
            </a:r>
          </a:p>
          <a:p xmlns:a="http://schemas.openxmlformats.org/drawingml/2006/main">
            <a:r>
              <a:t>          "detail": "보행시간 부족·인접 교차로 정체·특수 행사일",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"교통 흐름 데이터 → AI 개선 권고 → 기술자 검토 → 신호 운영 반영"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"교차로·교통 패턴",</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"정체 패턴",</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"신호 조정안",</a:t>
            </a:r>
          </a:p>
          <a:p xmlns:a="http://schemas.openxmlformats.org/drawingml/2006/main">
            <a:r>
              <a:t>          "check": "변경 전후 지표와 보행·안전 제약 확인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"신호 조정안",</a:t>
            </a:r>
          </a:p>
          <a:p xmlns:a="http://schemas.openxmlformats.org/drawingml/2006/main">
            <a:r>
              <a:t>          "check": "지역 제약·안전 조건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"기술자 적용 결과",</a:t>
            </a:r>
          </a:p>
          <a:p xmlns:a="http://schemas.openxmlformats.org/drawingml/2006/main">
            <a:r>
              <a:t>          "check": "변경 전후 지표와 보행·안전 제약 확인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"신호 운영 검토를 위한 교통 흐름 분석 / 교차로 흐름·신호 권고·효과 점검",</a:t>
            </a:r>
          </a:p>
          <a:p xmlns:a="http://schemas.openxmlformats.org/drawingml/2006/main">
            <a:r>
              <a:t>        "extension": "TS 분석·점검 의견을 지자체 소관 업무로 인계"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"보행시간 부족·인접 교차로 정체·특수 행사일",</a:t>
            </a:r>
          </a:p>
          <a:p xmlns:a="http://schemas.openxmlformats.org/drawingml/2006/main">
            <a:r>
              <a:t>        "hold": "지역 제약·안전 조건 검토",</a:t>
            </a:r>
          </a:p>
          <a:p xmlns:a="http://schemas.openxmlformats.org/drawingml/2006/main">
            <a:r>
              <a:t>        "recovery": "변경 전후 교통지표와 안전 제약의 병행 평가",</a:t>
            </a:r>
          </a:p>
          <a:p xmlns:a="http://schemas.openxmlformats.org/drawingml/2006/main">
            <a:r>
              <a:t>        "evidence": "변경 전후 지표와 보행·안전 제약 확인 기록"</a:t>
            </a:r>
          </a:p>
          <a:p xmlns:a="http://schemas.openxmlformats.org/drawingml/2006/main">
            <a:r>
              <a:t>      },</a:t>
            </a:r>
          </a:p>
          <a:p xmlns:a="http://schemas.openxmlformats.org/drawingml/2006/main">
            <a:r>
              <a:t>      "data": {</a:t>
            </a:r>
          </a:p>
          <a:p xmlns:a="http://schemas.openxmlformats.org/drawingml/2006/main">
            <a:r>
              <a:t>        "source": "교차로·교통 패턴",</a:t>
            </a:r>
          </a:p>
          <a:p xmlns:a="http://schemas.openxmlformats.org/drawingml/2006/main">
            <a:r>
              <a:t>        "prepare": "교통 흐름·교차로·신호 운영자료 정합화",</a:t>
            </a:r>
          </a:p>
          <a:p xmlns:a="http://schemas.openxmlformats.org/drawingml/2006/main">
            <a:r>
              <a:t>        "output": "교차로 흐름",</a:t>
            </a:r>
          </a:p>
          <a:p xmlns:a="http://schemas.openxmlformats.org/drawingml/2006/main">
            <a:r>
              <a:t>        "refresh": "변경 전후 교통지표와 안전 제약의 병행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"AX11",</a:t>
            </a:r>
          </a:p>
          <a:p xmlns:a="http://schemas.openxmlformats.org/drawingml/2006/main">
            <a:r>
              <a:t>    "success": [</a:t>
            </a:r>
          </a:p>
          <a:p xmlns:a="http://schemas.openxmlformats.org/drawingml/2006/main">
            <a:r>
              <a:t>      "기존 신호 운영에 개선 권고 제공",</a:t>
            </a:r>
          </a:p>
          <a:p xmlns:a="http://schemas.openxmlformats.org/drawingml/2006/main">
            <a:r>
              <a:t>      "도시 기술자의 검토 후 반영"</a:t>
            </a:r>
          </a:p>
          <a:p xmlns:a="http://schemas.openxmlformats.org/drawingml/2006/main">
            <a:r>
              <a:t>    ],</a:t>
            </a:r>
          </a:p>
          <a:p xmlns:a="http://schemas.openxmlformats.org/drawingml/2006/main">
            <a:r>
              <a:t>    "risks": [</a:t>
            </a:r>
          </a:p>
          <a:p xmlns:a="http://schemas.openxmlformats.org/drawingml/2006/main">
            <a:r>
              <a:t>      "관측 교차로 외 일반화 위험",</a:t>
            </a:r>
          </a:p>
          <a:p xmlns:a="http://schemas.openxmlformats.org/drawingml/2006/main">
            <a:r>
              <a:t>      "보행자·긴급차량 조건 누락 가능성"</a:t>
            </a:r>
          </a:p>
          <a:p xmlns:a="http://schemas.openxmlformats.org/drawingml/2006/main">
            <a:r>
              <a:t>    ],</a:t>
            </a:r>
          </a:p>
          <a:p xmlns:a="http://schemas.openxmlformats.org/drawingml/2006/main">
            <a:r>
              <a:t>    "architecture": [</a:t>
            </a:r>
          </a:p>
          <a:p xmlns:a="http://schemas.openxmlformats.org/drawingml/2006/main">
            <a:r>
              <a:t>      "교통 흐름 자료",</a:t>
            </a:r>
          </a:p>
          <a:p xmlns:a="http://schemas.openxmlformats.org/drawingml/2006/main">
            <a:r>
              <a:t>      "신호 개선 권고",</a:t>
            </a:r>
          </a:p>
          <a:p xmlns:a="http://schemas.openxmlformats.org/drawingml/2006/main">
            <a:r>
              <a:t>      "교차로·교통 패턴",</a:t>
            </a:r>
          </a:p>
          <a:p xmlns:a="http://schemas.openxmlformats.org/drawingml/2006/main">
            <a:r>
              <a:t>      "도시 교통기술자"</a:t>
            </a:r>
          </a:p>
          <a:p xmlns:a="http://schemas.openxmlformats.org/drawingml/2006/main">
            <a:r>
              <a:t>    ],</a:t>
            </a:r>
          </a:p>
          <a:p xmlns:a="http://schemas.openxmlformats.org/drawingml/2006/main">
            <a:r>
              <a:t>    "transfers": [</a:t>
            </a:r>
          </a:p>
          <a:p xmlns:a="http://schemas.openxmlformats.org/drawingml/2006/main">
            <a:r>
              <a:t>      "교차로 흐름",</a:t>
            </a:r>
          </a:p>
          <a:p xmlns:a="http://schemas.openxmlformats.org/drawingml/2006/main">
            <a:r>
              <a:t>      "정체 패턴",</a:t>
            </a:r>
          </a:p>
          <a:p xmlns:a="http://schemas.openxmlformats.org/drawingml/2006/main">
            <a:r>
              <a:t>      "신호 조정안",</a:t>
            </a:r>
          </a:p>
          <a:p xmlns:a="http://schemas.openxmlformats.org/drawingml/2006/main">
            <a:r>
              <a:t>      "기술자 적용 결과"</a:t>
            </a:r>
          </a:p>
          <a:p xmlns:a="http://schemas.openxmlformats.org/drawingml/2006/main">
            <a:r>
              <a:t>    ],</a:t>
            </a:r>
          </a:p>
          <a:p xmlns:a="http://schemas.openxmlformats.org/drawingml/2006/main">
            <a:r>
              <a:t>    "control": "지역 제약·안전 조건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Green Light · 개발기관 사업 소개 / 게시일 미표시 https://sites.research.google/greenlight/</a:t>
            </a:r>
          </a:p>
          <a:p xmlns:a="http://schemas.openxmlformats.org/drawingml/2006/main">
            <a:r>
              <a:t>홈페이지 https://heen1987-ops.github.io/TS-business-Plan-001/index.html?view=casebook&amp;case=AX11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"AX11",</a:t>
            </a:r>
          </a:p>
          <a:p xmlns:a="http://schemas.openxmlformats.org/drawingml/2006/main">
            <a:r>
              <a:t>    "title": "Google Green Light",</a:t>
            </a:r>
          </a:p>
          <a:p xmlns:a="http://schemas.openxmlformats.org/drawingml/2006/main">
            <a:r>
              <a:t>    "region": "해외",</a:t>
            </a:r>
          </a:p>
          <a:p xmlns:a="http://schemas.openxmlformats.org/drawingml/2006/main">
            <a:r>
              <a:t>    "country": "다국가",</a:t>
            </a:r>
          </a:p>
          <a:p xmlns:a="http://schemas.openxmlformats.org/drawingml/2006/main">
            <a:r>
              <a:t>    "result": "성공",</a:t>
            </a:r>
          </a:p>
          <a:p xmlns:a="http://schemas.openxmlformats.org/drawingml/2006/main">
            <a:r>
              <a:t>    "kind": "신호 운영 최적화 지원",</a:t>
            </a:r>
          </a:p>
          <a:p xmlns:a="http://schemas.openxmlformats.org/drawingml/2006/main">
            <a:r>
              <a:t>    "period": "운영 적용",</a:t>
            </a:r>
          </a:p>
          <a:p xmlns:a="http://schemas.openxmlformats.org/drawingml/2006/main">
            <a:r>
              <a:t>    "sources": [</a:t>
            </a:r>
          </a:p>
          <a:p xmlns:a="http://schemas.openxmlformats.org/drawingml/2006/main">
            <a:r>
              <a:t>      "S-AX11"</a:t>
            </a:r>
          </a:p>
          <a:p xmlns:a="http://schemas.openxmlformats.org/drawingml/2006/main">
            <a:r>
              <a:t>    ],</a:t>
            </a:r>
          </a:p>
          <a:p xmlns:a="http://schemas.openxmlformats.org/drawingml/2006/main">
            <a:r>
              <a:t>    "keywords": [</a:t>
            </a:r>
          </a:p>
          <a:p xmlns:a="http://schemas.openxmlformats.org/drawingml/2006/main">
            <a:r>
              <a:t>      "신호 운영 최적화 지원"</a:t>
            </a:r>
          </a:p>
          <a:p xmlns:a="http://schemas.openxmlformats.org/drawingml/2006/main">
            <a:r>
              <a:t>    ],</a:t>
            </a:r>
          </a:p>
          <a:p xmlns:a="http://schemas.openxmlformats.org/drawingml/2006/main">
            <a:r>
              <a:t>    "fact": "교통 흐름 분석과 AI 권고를 도시 교통기술자의 신호 운영 검토에 제공",</a:t>
            </a:r>
          </a:p>
          <a:p xmlns:a="http://schemas.openxmlformats.org/drawingml/2006/main">
            <a:r>
              <a:t>    "limit": "도시별 효과 차이 · 신호 변경 권한은 운영기관 소관",</a:t>
            </a:r>
          </a:p>
          <a:p xmlns:a="http://schemas.openxmlformats.org/drawingml/2006/main">
            <a:r>
              <a:t>    "flow": [</a:t>
            </a:r>
          </a:p>
          <a:p xmlns:a="http://schemas.openxmlformats.org/drawingml/2006/main">
            <a:r>
              <a:t>      "교통 흐름 데이터",</a:t>
            </a:r>
          </a:p>
          <a:p xmlns:a="http://schemas.openxmlformats.org/drawingml/2006/main">
            <a:r>
              <a:t>      "AI 개선 권고",</a:t>
            </a:r>
          </a:p>
          <a:p xmlns:a="http://schemas.openxmlformats.org/drawingml/2006/main">
            <a:r>
              <a:t>      "기술자 검토",</a:t>
            </a:r>
          </a:p>
          <a:p xmlns:a="http://schemas.openxmlformats.org/drawingml/2006/main">
            <a:r>
              <a:t>      "신호 운영 반영"</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"권고와 현장 실행 권한의 분리",</a:t>
            </a:r>
          </a:p>
          <a:p xmlns:a="http://schemas.openxmlformats.org/drawingml/2006/main">
            <a:r>
              <a:t>    "local": "TS 분석·점검 의견을 지자체 소관 업무로 인계",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"지역·교차로·관할·개선 전후 지표 연결",</a:t>
            </a:r>
          </a:p>
          <a:p xmlns:a="http://schemas.openxmlformats.org/drawingml/2006/main">
            <a:r>
              <a:t>    "test": "동일 시간대·교통량 비교와 담당자 승인 확인",</a:t>
            </a:r>
          </a:p>
          <a:p xmlns:a="http://schemas.openxmlformats.org/drawingml/2006/main">
            <a:r>
              <a:t>    "metric": "정체·대기 지표 / 권고 채택률",</a:t>
            </a:r>
          </a:p>
          <a:p xmlns:a="http://schemas.openxmlformats.org/drawingml/2006/main">
            <a:r>
              <a:t>    "strategies": [</a:t>
            </a:r>
          </a:p>
          <a:p xmlns:a="http://schemas.openxmlformats.org/drawingml/2006/main">
            <a:r>
              <a:t>      "ST-06",</a:t>
            </a:r>
          </a:p>
          <a:p xmlns:a="http://schemas.openxmlformats.org/drawingml/2006/main">
            <a:r>
              <a:t>      "ST-07",</a:t>
            </a:r>
          </a:p>
          <a:p xmlns:a="http://schemas.openxmlformats.org/drawingml/2006/main">
            <a:r>
              <a:t>      "ST-08"</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"AX11",</a:t>
            </a:r>
          </a:p>
          <a:p xmlns:a="http://schemas.openxmlformats.org/drawingml/2006/main">
            <a:r>
              <a:t>    "canonicalId": "AX11",</a:t>
            </a:r>
          </a:p>
          <a:p xmlns:a="http://schemas.openxmlformats.org/drawingml/2006/main">
            <a:r>
              <a:t>    "purpose": "신호 운영 검토를 위한 교통 흐름 분석",</a:t>
            </a:r>
          </a:p>
          <a:p xmlns:a="http://schemas.openxmlformats.org/drawingml/2006/main">
            <a:r>
              <a:t>    "users": "도시 교통기술자·운영 담당",</a:t>
            </a:r>
          </a:p>
          <a:p xmlns:a="http://schemas.openxmlformats.org/drawingml/2006/main">
            <a:r>
              <a:t>    "scope": [</a:t>
            </a:r>
          </a:p>
          <a:p xmlns:a="http://schemas.openxmlformats.org/drawingml/2006/main">
            <a:r>
              <a:t>      "교차로 흐름",</a:t>
            </a:r>
          </a:p>
          <a:p xmlns:a="http://schemas.openxmlformats.org/drawingml/2006/main">
            <a:r>
              <a:t>      "신호 권고",</a:t>
            </a:r>
          </a:p>
          <a:p xmlns:a="http://schemas.openxmlformats.org/drawingml/2006/main">
            <a:r>
              <a:t>      "효과 점검"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"교통 흐름 자료",</a:t>
            </a:r>
          </a:p>
          <a:p xmlns:a="http://schemas.openxmlformats.org/drawingml/2006/main">
            <a:r>
              <a:t>        "detail": "교차로·시간대·운영 조건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"교차로 흐름 / 신호 권고 / 효과 점검",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"신호 개선 권고",</a:t>
            </a:r>
          </a:p>
          <a:p xmlns:a="http://schemas.openxmlformats.org/drawingml/2006/main">
            <a:r>
              <a:t>        "detail": "정체·정지 패턴에 따른 신호 조정 후보",</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"도시 교통기술자",</a:t>
            </a:r>
          </a:p>
          <a:p xmlns:a="http://schemas.openxmlformats.org/drawingml/2006/main">
            <a:r>
              <a:t>        "detail": "교통기술자의 검토 후 신호 계획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"교차로·교통 패턴",</a:t>
            </a:r>
          </a:p>
          <a:p xmlns:a="http://schemas.openxmlformats.org/drawingml/2006/main">
            <a:r>
              <a:t>        "detail": "교통 흐름·교차로·신호 운영자료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"변경 전후 교통지표와 안전 제약의 병행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"교통 흐름 데이터",</a:t>
            </a:r>
          </a:p>
          <a:p xmlns:a="http://schemas.openxmlformats.org/drawingml/2006/main">
            <a:r>
              <a:t>        "input": "교차로·시간대·운영 조건 지정",</a:t>
            </a:r>
          </a:p>
          <a:p xmlns:a="http://schemas.openxmlformats.org/drawingml/2006/main">
            <a:r>
              <a:t>        "process": "교통 흐름·교차로·신호 운영자료 정합화",</a:t>
            </a:r>
          </a:p>
          <a:p xmlns:a="http://schemas.openxmlformats.org/drawingml/2006/main">
            <a:r>
              <a:t>        "output": "교차로 흐름"</a:t>
            </a:r>
          </a:p>
          <a:p xmlns:a="http://schemas.openxmlformats.org/drawingml/2006/main">
            <a:r>
              <a:t>      },</a:t>
            </a:r>
          </a:p>
          <a:p xmlns:a="http://schemas.openxmlformats.org/drawingml/2006/main">
            <a:r>
              <a:t>      {</a:t>
            </a:r>
          </a:p>
          <a:p xmlns:a="http://schemas.openxmlformats.org/drawingml/2006/main">
            <a:r>
              <a:t>        "title": "AI 개선 권고",</a:t>
            </a:r>
          </a:p>
          <a:p xmlns:a="http://schemas.openxmlformats.org/drawingml/2006/main">
            <a:r>
              <a:t>        "input": "교차로 흐름",</a:t>
            </a:r>
          </a:p>
          <a:p xmlns:a="http://schemas.openxmlformats.org/drawingml/2006/main">
            <a:r>
              <a:t>        "process": "정체·정지 패턴에 따른 신호 조정 후보",</a:t>
            </a:r>
          </a:p>
          <a:p xmlns:a="http://schemas.openxmlformats.org/drawingml/2006/main">
            <a:r>
              <a:t>        "output": "정체 패턴"</a:t>
            </a:r>
          </a:p>
          <a:p xmlns:a="http://schemas.openxmlformats.org/drawingml/2006/main">
            <a:r>
              <a:t>      },</a:t>
            </a:r>
          </a:p>
          <a:p xmlns:a="http://schemas.openxmlformats.org/drawingml/2006/main">
            <a:r>
              <a:t>      {</a:t>
            </a:r>
          </a:p>
          <a:p xmlns:a="http://schemas.openxmlformats.org/drawingml/2006/main">
            <a:r>
              <a:t>        "title": "기술자 검토",</a:t>
            </a:r>
          </a:p>
          <a:p xmlns:a="http://schemas.openxmlformats.org/drawingml/2006/main">
            <a:r>
              <a:t>        "input": "정체 패턴",</a:t>
            </a:r>
          </a:p>
          <a:p xmlns:a="http://schemas.openxmlformats.org/drawingml/2006/main">
            <a:r>
              <a:t>        "process": "지역 제약·안전 조건 검토",</a:t>
            </a:r>
          </a:p>
          <a:p xmlns:a="http://schemas.openxmlformats.org/drawingml/2006/main">
            <a:r>
              <a:t>        "output": "신호 조정안"</a:t>
            </a:r>
          </a:p>
          <a:p xmlns:a="http://schemas.openxmlformats.org/drawingml/2006/main">
            <a:r>
              <a:t>      },</a:t>
            </a:r>
          </a:p>
          <a:p xmlns:a="http://schemas.openxmlformats.org/drawingml/2006/main">
            <a:r>
              <a:t>      {</a:t>
            </a:r>
          </a:p>
          <a:p xmlns:a="http://schemas.openxmlformats.org/drawingml/2006/main">
            <a:r>
              <a:t>        "title": "신호 운영 반영",</a:t>
            </a:r>
          </a:p>
          <a:p xmlns:a="http://schemas.openxmlformats.org/drawingml/2006/main">
            <a:r>
              <a:t>        "input": "신호 조정안",</a:t>
            </a:r>
          </a:p>
          <a:p xmlns:a="http://schemas.openxmlformats.org/drawingml/2006/main">
            <a:r>
              <a:t>        "process": "교통기술자의 검토 후 신호 계획 반영",</a:t>
            </a:r>
          </a:p>
          <a:p xmlns:a="http://schemas.openxmlformats.org/drawingml/2006/main">
            <a:r>
              <a:t>        "output": "기술자 적용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"교차로의 신호 조정 후보를 기술자가 현장 조건과 대조",</a:t>
            </a:r>
          </a:p>
          <a:p xmlns:a="http://schemas.openxmlformats.org/drawingml/2006/main">
            <a:r>
              <a:t>      "exception": "보행시간 부족·인접 교차로 정체·특수 행사일",</a:t>
            </a:r>
          </a:p>
          <a:p xmlns:a="http://schemas.openxmlformats.org/drawingml/2006/main">
            <a:r>
              <a:t>      "evidence": "변경 전후 지표와 보행·안전 제약 확인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"도시 교통기술자·운영 담당",</a:t>
            </a:r>
          </a:p>
          <a:p xmlns:a="http://schemas.openxmlformats.org/drawingml/2006/main">
            <a:r>
              <a:t>          "processing": "교차로·시간대·운영 조건 지정",</a:t>
            </a:r>
          </a:p>
          <a:p xmlns:a="http://schemas.openxmlformats.org/drawingml/2006/main">
            <a:r>
              <a:t>          "output": "교차로 흐름"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"교차로·교통 패턴",</a:t>
            </a:r>
          </a:p>
          <a:p xmlns:a="http://schemas.openxmlformats.org/drawingml/2006/main">
            <a:r>
              <a:t>          "processing": "교통 흐름·교차로·신호 운영자료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"교차로 흐름",</a:t>
            </a:r>
          </a:p>
          <a:p xmlns:a="http://schemas.openxmlformats.org/drawingml/2006/main">
            <a:r>
              <a:t>          "processing": "정체·정지 패턴에 따른 신호 조정 후보",</a:t>
            </a:r>
          </a:p>
          <a:p xmlns:a="http://schemas.openxmlformats.org/drawingml/2006/main">
            <a:r>
              <a:t>          "output": "신호 조정안"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"신호 조정안",</a:t>
            </a:r>
          </a:p>
          <a:p xmlns:a="http://schemas.openxmlformats.org/drawingml/2006/main">
            <a:r>
              <a:t>          "processing": "교통기술자의 검토 후 신호 계획 반영",</a:t>
            </a:r>
          </a:p>
          <a:p xmlns:a="http://schemas.openxmlformats.org/drawingml/2006/main">
            <a:r>
              <a:t>          "output": "기술자 적용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"변경 전후 교통지표와 안전 제약의 병행 평가",</a:t>
            </a:r>
          </a:p>
          <a:p xmlns:a="http://schemas.openxmlformats.org/drawingml/2006/main">
            <a:r>
              <a:t>          "output": "변경 전후 지표와 보행·안전 제약 확인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"변경 전후 교통지표와 안전 제약의 병행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"S-AX11",</a:t>
            </a:r>
          </a:p>
          <a:p xmlns:a="http://schemas.openxmlformats.org/drawingml/2006/main">
            <a:r>
              <a:t>        "title": "Google Green Light · 개발기관 사업 소개 / 게시일 미표시",</a:t>
            </a:r>
          </a:p>
          <a:p xmlns:a="http://schemas.openxmlformats.org/drawingml/2006/main">
            <a:r>
              <a:t>        "url": "https://sites.research.google/greenlight/",</a:t>
            </a:r>
          </a:p>
          <a:p xmlns:a="http://schemas.openxmlformats.org/drawingml/2006/main">
            <a:r>
              <a:t>        "published": "운영 적용",</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"권고와 현장 실행 권한의 분리",</a:t>
            </a:r>
          </a:p>
          <a:p xmlns:a="http://schemas.openxmlformats.org/drawingml/2006/main">
            <a:r>
              <a:t>    "local": "TS 분석·점검 의견을 지자체 소관 업무로 인계",</a:t>
            </a:r>
          </a:p>
          <a:p xmlns:a="http://schemas.openxmlformats.org/drawingml/2006/main">
            <a:r>
              <a:t>    "sourceDetail": null,</a:t>
            </a:r>
          </a:p>
          <a:p xmlns:a="http://schemas.openxmlformats.org/drawingml/2006/main">
            <a:r>
              <a:t>    "narrative": [</a:t>
            </a:r>
          </a:p>
          <a:p xmlns:a="http://schemas.openxmlformats.org/drawingml/2006/main">
            <a:r>
              <a:t>      "도시 교통 흐름을 분석해 신호 운영 개선안을 기술자에게 제공하는 사례. AI가 모든 교차로 신호를 직접 제어하는 방식으로 일반화하기보다 권고와 현장 적용의 연결에 주목.",</a:t>
            </a:r>
          </a:p>
          <a:p xmlns:a="http://schemas.openxmlformats.org/drawingml/2006/main">
            <a:r>
              <a:t>      "교차로·시간대별 흐름에서 정체·정지 패턴을 찾고 신호 조정 후보를 만드는 흐름. 지역 교통기술자가 보행자·긴급차량·현장 제약을 확인한 뒤 운영계획에 반영하는 CCK 적용 구조.",</a:t>
            </a:r>
          </a:p>
          <a:p xmlns:a="http://schemas.openxmlformats.org/drawingml/2006/main">
            <a:r>
              <a:t>      "관측 교차로의 결과를 다른 지역 성과로 그대로 환산하지 않는 비교. 변경 전후 교통지표, 안전 제약 위반, 권고 채택 여부와 실제 운영 반영시간을 함께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"신호 검토 요청",</a:t>
            </a:r>
          </a:p>
          <a:p xmlns:a="http://schemas.openxmlformats.org/drawingml/2006/main">
            <a:r>
              <a:t>          "layer": "이용 접점",</a:t>
            </a:r>
          </a:p>
          <a:p xmlns:a="http://schemas.openxmlformats.org/drawingml/2006/main">
            <a:r>
              <a:t>          "detail": "도시 교통기술자·운영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"교차로·시간대",</a:t>
            </a:r>
          </a:p>
          <a:p xmlns:a="http://schemas.openxmlformats.org/drawingml/2006/main">
            <a:r>
              <a:t>          "layer": "업무 문맥",</a:t>
            </a:r>
          </a:p>
          <a:p xmlns:a="http://schemas.openxmlformats.org/drawingml/2006/main">
            <a:r>
              <a:t>          "detail": "교차로·시간대·운영 조건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"교통 흐름 조회",</a:t>
            </a:r>
          </a:p>
          <a:p xmlns:a="http://schemas.openxmlformats.org/drawingml/2006/main">
            <a:r>
              <a:t>          "layer": "자료 조회",</a:t>
            </a:r>
          </a:p>
          <a:p xmlns:a="http://schemas.openxmlformats.org/drawingml/2006/main">
            <a:r>
              <a:t>          "detail": "교차로 흐름",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"신호 조정 후보",</a:t>
            </a:r>
          </a:p>
          <a:p xmlns:a="http://schemas.openxmlformats.org/drawingml/2006/main">
            <a:r>
              <a:t>          "layer": "핵심 처리",</a:t>
            </a:r>
          </a:p>
          <a:p xmlns:a="http://schemas.openxmlformats.org/drawingml/2006/main">
            <a:r>
              <a:t>          "detail": "정체·정지 패턴에 따른 신호 조정 후보",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"지역·안전 제약",</a:t>
            </a:r>
          </a:p>
          <a:p xmlns:a="http://schemas.openxmlformats.org/drawingml/2006/main">
            <a:r>
              <a:t>          "layer": "결과 검증",</a:t>
            </a:r>
          </a:p>
          <a:p xmlns:a="http://schemas.openxmlformats.org/drawingml/2006/main">
            <a:r>
              <a:t>          "detail": "지역 제약·안전 조건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"교통기술자 검토",</a:t>
            </a:r>
          </a:p>
          <a:p xmlns:a="http://schemas.openxmlformats.org/drawingml/2006/main">
            <a:r>
              <a:t>          "layer": "사람 확인",</a:t>
            </a:r>
          </a:p>
          <a:p xmlns:a="http://schemas.openxmlformats.org/drawingml/2006/main">
            <a:r>
              <a:t>          "detail": "교차로의 신호 조정 후보를 기술자가 현장 조건과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"신호계획 반영",</a:t>
            </a:r>
          </a:p>
          <a:p xmlns:a="http://schemas.openxmlformats.org/drawingml/2006/main">
            <a:r>
              <a:t>          "layer": "업무 연결",</a:t>
            </a:r>
          </a:p>
          <a:p xmlns:a="http://schemas.openxmlformats.org/drawingml/2006/main">
            <a:r>
              <a:t>          "detail": "교통기술자의 검토 후 신호 계획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"변경 전후 평가",</a:t>
            </a:r>
          </a:p>
          <a:p xmlns:a="http://schemas.openxmlformats.org/drawingml/2006/main">
            <a:r>
              <a:t>          "layer": "운영 관측",</a:t>
            </a:r>
          </a:p>
          <a:p xmlns:a="http://schemas.openxmlformats.org/drawingml/2006/main">
            <a:r>
              <a:t>          "detail": "변경 전후 교통지표와 안전 제약의 병행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"교통·신호 자료",</a:t>
            </a:r>
          </a:p>
          <a:p xmlns:a="http://schemas.openxmlformats.org/drawingml/2006/main">
            <a:r>
              <a:t>          "layer": "데이터 원천",</a:t>
            </a:r>
          </a:p>
          <a:p xmlns:a="http://schemas.openxmlformats.org/drawingml/2006/main">
            <a:r>
              <a:t>          "detail": "교차로·교통 패턴",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"교차로 코드 정리",</a:t>
            </a:r>
          </a:p>
          <a:p xmlns:a="http://schemas.openxmlformats.org/drawingml/2006/main">
            <a:r>
              <a:t>          "layer": "준비·갱신",</a:t>
            </a:r>
          </a:p>
          <a:p xmlns:a="http://schemas.openxmlformats.org/drawingml/2006/main">
            <a:r>
              <a:t>          "detail": "교통 흐름·교차로·신호 운영자료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"흐름·계획 이력",</a:t>
            </a:r>
          </a:p>
          <a:p xmlns:a="http://schemas.openxmlformats.org/drawingml/2006/main">
            <a:r>
              <a:t>          "layer": "상태·지식 저장",</a:t>
            </a:r>
          </a:p>
          <a:p xmlns:a="http://schemas.openxmlformats.org/drawingml/2006/main">
            <a:r>
              <a:t>          "detail": "변경 전후 지표와 보행·안전 제약 확인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"보행·긴급 제약",</a:t>
            </a:r>
          </a:p>
          <a:p xmlns:a="http://schemas.openxmlformats.org/drawingml/2006/main">
            <a:r>
              <a:t>          "layer": "권한·정책",</a:t>
            </a:r>
          </a:p>
          <a:p xmlns:a="http://schemas.openxmlformats.org/drawingml/2006/main">
            <a:r>
              <a:t>          "detail": "보행시간 부족·인접 교차로 정체·특수 행사일",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"교통 흐름 데이터 → AI 개선 권고 → 기술자 검토 → 신호 운영 반영"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"교차로·교통 패턴",</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"정체 패턴",</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"신호 조정안",</a:t>
            </a:r>
          </a:p>
          <a:p xmlns:a="http://schemas.openxmlformats.org/drawingml/2006/main">
            <a:r>
              <a:t>          "check": "변경 전후 지표와 보행·안전 제약 확인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"신호 조정안",</a:t>
            </a:r>
          </a:p>
          <a:p xmlns:a="http://schemas.openxmlformats.org/drawingml/2006/main">
            <a:r>
              <a:t>          "check": "지역 제약·안전 조건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"기술자 적용 결과",</a:t>
            </a:r>
          </a:p>
          <a:p xmlns:a="http://schemas.openxmlformats.org/drawingml/2006/main">
            <a:r>
              <a:t>          "check": "변경 전후 지표와 보행·안전 제약 확인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"신호 운영 검토를 위한 교통 흐름 분석 / 교차로 흐름·신호 권고·효과 점검",</a:t>
            </a:r>
          </a:p>
          <a:p xmlns:a="http://schemas.openxmlformats.org/drawingml/2006/main">
            <a:r>
              <a:t>        "extension": "TS 분석·점검 의견을 지자체 소관 업무로 인계"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"보행시간 부족·인접 교차로 정체·특수 행사일",</a:t>
            </a:r>
          </a:p>
          <a:p xmlns:a="http://schemas.openxmlformats.org/drawingml/2006/main">
            <a:r>
              <a:t>        "hold": "지역 제약·안전 조건 검토",</a:t>
            </a:r>
          </a:p>
          <a:p xmlns:a="http://schemas.openxmlformats.org/drawingml/2006/main">
            <a:r>
              <a:t>        "recovery": "변경 전후 교통지표와 안전 제약의 병행 평가",</a:t>
            </a:r>
          </a:p>
          <a:p xmlns:a="http://schemas.openxmlformats.org/drawingml/2006/main">
            <a:r>
              <a:t>        "evidence": "변경 전후 지표와 보행·안전 제약 확인 기록"</a:t>
            </a:r>
          </a:p>
          <a:p xmlns:a="http://schemas.openxmlformats.org/drawingml/2006/main">
            <a:r>
              <a:t>      },</a:t>
            </a:r>
          </a:p>
          <a:p xmlns:a="http://schemas.openxmlformats.org/drawingml/2006/main">
            <a:r>
              <a:t>      "data": {</a:t>
            </a:r>
          </a:p>
          <a:p xmlns:a="http://schemas.openxmlformats.org/drawingml/2006/main">
            <a:r>
              <a:t>        "source": "교차로·교통 패턴",</a:t>
            </a:r>
          </a:p>
          <a:p xmlns:a="http://schemas.openxmlformats.org/drawingml/2006/main">
            <a:r>
              <a:t>        "prepare": "교통 흐름·교차로·신호 운영자료 정합화",</a:t>
            </a:r>
          </a:p>
          <a:p xmlns:a="http://schemas.openxmlformats.org/drawingml/2006/main">
            <a:r>
              <a:t>        "output": "교차로 흐름",</a:t>
            </a:r>
          </a:p>
          <a:p xmlns:a="http://schemas.openxmlformats.org/drawingml/2006/main">
            <a:r>
              <a:t>        "refresh": "변경 전후 교통지표와 안전 제약의 병행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"AX11",</a:t>
            </a:r>
          </a:p>
          <a:p xmlns:a="http://schemas.openxmlformats.org/drawingml/2006/main">
            <a:r>
              <a:t>    "success": [</a:t>
            </a:r>
          </a:p>
          <a:p xmlns:a="http://schemas.openxmlformats.org/drawingml/2006/main">
            <a:r>
              <a:t>      "기존 신호 운영에 개선 권고 제공",</a:t>
            </a:r>
          </a:p>
          <a:p xmlns:a="http://schemas.openxmlformats.org/drawingml/2006/main">
            <a:r>
              <a:t>      "도시 기술자의 검토 후 반영"</a:t>
            </a:r>
          </a:p>
          <a:p xmlns:a="http://schemas.openxmlformats.org/drawingml/2006/main">
            <a:r>
              <a:t>    ],</a:t>
            </a:r>
          </a:p>
          <a:p xmlns:a="http://schemas.openxmlformats.org/drawingml/2006/main">
            <a:r>
              <a:t>    "risks": [</a:t>
            </a:r>
          </a:p>
          <a:p xmlns:a="http://schemas.openxmlformats.org/drawingml/2006/main">
            <a:r>
              <a:t>      "관측 교차로 외 일반화 위험",</a:t>
            </a:r>
          </a:p>
          <a:p xmlns:a="http://schemas.openxmlformats.org/drawingml/2006/main">
            <a:r>
              <a:t>      "보행자·긴급차량 조건 누락 가능성"</a:t>
            </a:r>
          </a:p>
          <a:p xmlns:a="http://schemas.openxmlformats.org/drawingml/2006/main">
            <a:r>
              <a:t>    ],</a:t>
            </a:r>
          </a:p>
          <a:p xmlns:a="http://schemas.openxmlformats.org/drawingml/2006/main">
            <a:r>
              <a:t>    "architecture": [</a:t>
            </a:r>
          </a:p>
          <a:p xmlns:a="http://schemas.openxmlformats.org/drawingml/2006/main">
            <a:r>
              <a:t>      "교통 흐름 자료",</a:t>
            </a:r>
          </a:p>
          <a:p xmlns:a="http://schemas.openxmlformats.org/drawingml/2006/main">
            <a:r>
              <a:t>      "신호 개선 권고",</a:t>
            </a:r>
          </a:p>
          <a:p xmlns:a="http://schemas.openxmlformats.org/drawingml/2006/main">
            <a:r>
              <a:t>      "교차로·교통 패턴",</a:t>
            </a:r>
          </a:p>
          <a:p xmlns:a="http://schemas.openxmlformats.org/drawingml/2006/main">
            <a:r>
              <a:t>      "도시 교통기술자"</a:t>
            </a:r>
          </a:p>
          <a:p xmlns:a="http://schemas.openxmlformats.org/drawingml/2006/main">
            <a:r>
              <a:t>    ],</a:t>
            </a:r>
          </a:p>
          <a:p xmlns:a="http://schemas.openxmlformats.org/drawingml/2006/main">
            <a:r>
              <a:t>    "transfers": [</a:t>
            </a:r>
          </a:p>
          <a:p xmlns:a="http://schemas.openxmlformats.org/drawingml/2006/main">
            <a:r>
              <a:t>      "교차로 흐름",</a:t>
            </a:r>
          </a:p>
          <a:p xmlns:a="http://schemas.openxmlformats.org/drawingml/2006/main">
            <a:r>
              <a:t>      "정체 패턴",</a:t>
            </a:r>
          </a:p>
          <a:p xmlns:a="http://schemas.openxmlformats.org/drawingml/2006/main">
            <a:r>
              <a:t>      "신호 조정안",</a:t>
            </a:r>
          </a:p>
          <a:p xmlns:a="http://schemas.openxmlformats.org/drawingml/2006/main">
            <a:r>
              <a:t>      "기술자 적용 결과"</a:t>
            </a:r>
          </a:p>
          <a:p xmlns:a="http://schemas.openxmlformats.org/drawingml/2006/main">
            <a:r>
              <a:t>    ],</a:t>
            </a:r>
          </a:p>
          <a:p xmlns:a="http://schemas.openxmlformats.org/drawingml/2006/main">
            <a:r>
              <a:t>    "control": "지역 제약·안전 조건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Green Light · 개발기관 사업 소개 / 게시일 미표시 https://sites.research.google/greenlight/</a:t>
            </a:r>
          </a:p>
          <a:p xmlns:a="http://schemas.openxmlformats.org/drawingml/2006/main">
            <a:r>
              <a:t>홈페이지 https://heen1987-ops.github.io/TS-business-Plan-001/index.html?view=casebook&amp;case=AX11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"AX11",</a:t>
            </a:r>
          </a:p>
          <a:p xmlns:a="http://schemas.openxmlformats.org/drawingml/2006/main">
            <a:r>
              <a:t>    "title": "Google Green Light",</a:t>
            </a:r>
          </a:p>
          <a:p xmlns:a="http://schemas.openxmlformats.org/drawingml/2006/main">
            <a:r>
              <a:t>    "region": "해외",</a:t>
            </a:r>
          </a:p>
          <a:p xmlns:a="http://schemas.openxmlformats.org/drawingml/2006/main">
            <a:r>
              <a:t>    "country": "다국가",</a:t>
            </a:r>
          </a:p>
          <a:p xmlns:a="http://schemas.openxmlformats.org/drawingml/2006/main">
            <a:r>
              <a:t>    "result": "성공",</a:t>
            </a:r>
          </a:p>
          <a:p xmlns:a="http://schemas.openxmlformats.org/drawingml/2006/main">
            <a:r>
              <a:t>    "kind": "신호 운영 최적화 지원",</a:t>
            </a:r>
          </a:p>
          <a:p xmlns:a="http://schemas.openxmlformats.org/drawingml/2006/main">
            <a:r>
              <a:t>    "period": "운영 적용",</a:t>
            </a:r>
          </a:p>
          <a:p xmlns:a="http://schemas.openxmlformats.org/drawingml/2006/main">
            <a:r>
              <a:t>    "sources": [</a:t>
            </a:r>
          </a:p>
          <a:p xmlns:a="http://schemas.openxmlformats.org/drawingml/2006/main">
            <a:r>
              <a:t>      "S-AX11"</a:t>
            </a:r>
          </a:p>
          <a:p xmlns:a="http://schemas.openxmlformats.org/drawingml/2006/main">
            <a:r>
              <a:t>    ],</a:t>
            </a:r>
          </a:p>
          <a:p xmlns:a="http://schemas.openxmlformats.org/drawingml/2006/main">
            <a:r>
              <a:t>    "keywords": [</a:t>
            </a:r>
          </a:p>
          <a:p xmlns:a="http://schemas.openxmlformats.org/drawingml/2006/main">
            <a:r>
              <a:t>      "신호 운영 최적화 지원"</a:t>
            </a:r>
          </a:p>
          <a:p xmlns:a="http://schemas.openxmlformats.org/drawingml/2006/main">
            <a:r>
              <a:t>    ],</a:t>
            </a:r>
          </a:p>
          <a:p xmlns:a="http://schemas.openxmlformats.org/drawingml/2006/main">
            <a:r>
              <a:t>    "fact": "교통 흐름 분석과 AI 권고를 도시 교통기술자의 신호 운영 검토에 제공",</a:t>
            </a:r>
          </a:p>
          <a:p xmlns:a="http://schemas.openxmlformats.org/drawingml/2006/main">
            <a:r>
              <a:t>    "limit": "도시별 효과 차이 · 신호 변경 권한은 운영기관 소관",</a:t>
            </a:r>
          </a:p>
          <a:p xmlns:a="http://schemas.openxmlformats.org/drawingml/2006/main">
            <a:r>
              <a:t>    "flow": [</a:t>
            </a:r>
          </a:p>
          <a:p xmlns:a="http://schemas.openxmlformats.org/drawingml/2006/main">
            <a:r>
              <a:t>      "교통 흐름 데이터",</a:t>
            </a:r>
          </a:p>
          <a:p xmlns:a="http://schemas.openxmlformats.org/drawingml/2006/main">
            <a:r>
              <a:t>      "AI 개선 권고",</a:t>
            </a:r>
          </a:p>
          <a:p xmlns:a="http://schemas.openxmlformats.org/drawingml/2006/main">
            <a:r>
              <a:t>      "기술자 검토",</a:t>
            </a:r>
          </a:p>
          <a:p xmlns:a="http://schemas.openxmlformats.org/drawingml/2006/main">
            <a:r>
              <a:t>      "신호 운영 반영"</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"권고와 현장 실행 권한의 분리",</a:t>
            </a:r>
          </a:p>
          <a:p xmlns:a="http://schemas.openxmlformats.org/drawingml/2006/main">
            <a:r>
              <a:t>    "local": "TS 분석·점검 의견을 지자체 소관 업무로 인계",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"지역·교차로·관할·개선 전후 지표 연결",</a:t>
            </a:r>
          </a:p>
          <a:p xmlns:a="http://schemas.openxmlformats.org/drawingml/2006/main">
            <a:r>
              <a:t>    "test": "동일 시간대·교통량 비교와 담당자 승인 확인",</a:t>
            </a:r>
          </a:p>
          <a:p xmlns:a="http://schemas.openxmlformats.org/drawingml/2006/main">
            <a:r>
              <a:t>    "metric": "정체·대기 지표 / 권고 채택률",</a:t>
            </a:r>
          </a:p>
          <a:p xmlns:a="http://schemas.openxmlformats.org/drawingml/2006/main">
            <a:r>
              <a:t>    "strategies": [</a:t>
            </a:r>
          </a:p>
          <a:p xmlns:a="http://schemas.openxmlformats.org/drawingml/2006/main">
            <a:r>
              <a:t>      "ST-06",</a:t>
            </a:r>
          </a:p>
          <a:p xmlns:a="http://schemas.openxmlformats.org/drawingml/2006/main">
            <a:r>
              <a:t>      "ST-07",</a:t>
            </a:r>
          </a:p>
          <a:p xmlns:a="http://schemas.openxmlformats.org/drawingml/2006/main">
            <a:r>
              <a:t>      "ST-08"</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"AX11",</a:t>
            </a:r>
          </a:p>
          <a:p xmlns:a="http://schemas.openxmlformats.org/drawingml/2006/main">
            <a:r>
              <a:t>    "canonicalId": "AX11",</a:t>
            </a:r>
          </a:p>
          <a:p xmlns:a="http://schemas.openxmlformats.org/drawingml/2006/main">
            <a:r>
              <a:t>    "purpose": "신호 운영 검토를 위한 교통 흐름 분석",</a:t>
            </a:r>
          </a:p>
          <a:p xmlns:a="http://schemas.openxmlformats.org/drawingml/2006/main">
            <a:r>
              <a:t>    "users": "도시 교통기술자·운영 담당",</a:t>
            </a:r>
          </a:p>
          <a:p xmlns:a="http://schemas.openxmlformats.org/drawingml/2006/main">
            <a:r>
              <a:t>    "scope": [</a:t>
            </a:r>
          </a:p>
          <a:p xmlns:a="http://schemas.openxmlformats.org/drawingml/2006/main">
            <a:r>
              <a:t>      "교차로 흐름",</a:t>
            </a:r>
          </a:p>
          <a:p xmlns:a="http://schemas.openxmlformats.org/drawingml/2006/main">
            <a:r>
              <a:t>      "신호 권고",</a:t>
            </a:r>
          </a:p>
          <a:p xmlns:a="http://schemas.openxmlformats.org/drawingml/2006/main">
            <a:r>
              <a:t>      "효과 점검"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"교통 흐름 자료",</a:t>
            </a:r>
          </a:p>
          <a:p xmlns:a="http://schemas.openxmlformats.org/drawingml/2006/main">
            <a:r>
              <a:t>        "detail": "교차로·시간대·운영 조건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"교차로 흐름 / 신호 권고 / 효과 점검",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"신호 개선 권고",</a:t>
            </a:r>
          </a:p>
          <a:p xmlns:a="http://schemas.openxmlformats.org/drawingml/2006/main">
            <a:r>
              <a:t>        "detail": "정체·정지 패턴에 따른 신호 조정 후보",</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"도시 교통기술자",</a:t>
            </a:r>
          </a:p>
          <a:p xmlns:a="http://schemas.openxmlformats.org/drawingml/2006/main">
            <a:r>
              <a:t>        "detail": "교통기술자의 검토 후 신호 계획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"교차로·교통 패턴",</a:t>
            </a:r>
          </a:p>
          <a:p xmlns:a="http://schemas.openxmlformats.org/drawingml/2006/main">
            <a:r>
              <a:t>        "detail": "교통 흐름·교차로·신호 운영자료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"변경 전후 교통지표와 안전 제약의 병행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"교통 흐름 데이터",</a:t>
            </a:r>
          </a:p>
          <a:p xmlns:a="http://schemas.openxmlformats.org/drawingml/2006/main">
            <a:r>
              <a:t>        "input": "교차로·시간대·운영 조건 지정",</a:t>
            </a:r>
          </a:p>
          <a:p xmlns:a="http://schemas.openxmlformats.org/drawingml/2006/main">
            <a:r>
              <a:t>        "process": "교통 흐름·교차로·신호 운영자료 정합화",</a:t>
            </a:r>
          </a:p>
          <a:p xmlns:a="http://schemas.openxmlformats.org/drawingml/2006/main">
            <a:r>
              <a:t>        "output": "교차로 흐름"</a:t>
            </a:r>
          </a:p>
          <a:p xmlns:a="http://schemas.openxmlformats.org/drawingml/2006/main">
            <a:r>
              <a:t>      },</a:t>
            </a:r>
          </a:p>
          <a:p xmlns:a="http://schemas.openxmlformats.org/drawingml/2006/main">
            <a:r>
              <a:t>      {</a:t>
            </a:r>
          </a:p>
          <a:p xmlns:a="http://schemas.openxmlformats.org/drawingml/2006/main">
            <a:r>
              <a:t>        "title": "AI 개선 권고",</a:t>
            </a:r>
          </a:p>
          <a:p xmlns:a="http://schemas.openxmlformats.org/drawingml/2006/main">
            <a:r>
              <a:t>        "input": "교차로 흐름",</a:t>
            </a:r>
          </a:p>
          <a:p xmlns:a="http://schemas.openxmlformats.org/drawingml/2006/main">
            <a:r>
              <a:t>        "process": "정체·정지 패턴에 따른 신호 조정 후보",</a:t>
            </a:r>
          </a:p>
          <a:p xmlns:a="http://schemas.openxmlformats.org/drawingml/2006/main">
            <a:r>
              <a:t>        "output": "정체 패턴"</a:t>
            </a:r>
          </a:p>
          <a:p xmlns:a="http://schemas.openxmlformats.org/drawingml/2006/main">
            <a:r>
              <a:t>      },</a:t>
            </a:r>
          </a:p>
          <a:p xmlns:a="http://schemas.openxmlformats.org/drawingml/2006/main">
            <a:r>
              <a:t>      {</a:t>
            </a:r>
          </a:p>
          <a:p xmlns:a="http://schemas.openxmlformats.org/drawingml/2006/main">
            <a:r>
              <a:t>        "title": "기술자 검토",</a:t>
            </a:r>
          </a:p>
          <a:p xmlns:a="http://schemas.openxmlformats.org/drawingml/2006/main">
            <a:r>
              <a:t>        "input": "정체 패턴",</a:t>
            </a:r>
          </a:p>
          <a:p xmlns:a="http://schemas.openxmlformats.org/drawingml/2006/main">
            <a:r>
              <a:t>        "process": "지역 제약·안전 조건 검토",</a:t>
            </a:r>
          </a:p>
          <a:p xmlns:a="http://schemas.openxmlformats.org/drawingml/2006/main">
            <a:r>
              <a:t>        "output": "신호 조정안"</a:t>
            </a:r>
          </a:p>
          <a:p xmlns:a="http://schemas.openxmlformats.org/drawingml/2006/main">
            <a:r>
              <a:t>      },</a:t>
            </a:r>
          </a:p>
          <a:p xmlns:a="http://schemas.openxmlformats.org/drawingml/2006/main">
            <a:r>
              <a:t>      {</a:t>
            </a:r>
          </a:p>
          <a:p xmlns:a="http://schemas.openxmlformats.org/drawingml/2006/main">
            <a:r>
              <a:t>        "title": "신호 운영 반영",</a:t>
            </a:r>
          </a:p>
          <a:p xmlns:a="http://schemas.openxmlformats.org/drawingml/2006/main">
            <a:r>
              <a:t>        "input": "신호 조정안",</a:t>
            </a:r>
          </a:p>
          <a:p xmlns:a="http://schemas.openxmlformats.org/drawingml/2006/main">
            <a:r>
              <a:t>        "process": "교통기술자의 검토 후 신호 계획 반영",</a:t>
            </a:r>
          </a:p>
          <a:p xmlns:a="http://schemas.openxmlformats.org/drawingml/2006/main">
            <a:r>
              <a:t>        "output": "기술자 적용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"교차로의 신호 조정 후보를 기술자가 현장 조건과 대조",</a:t>
            </a:r>
          </a:p>
          <a:p xmlns:a="http://schemas.openxmlformats.org/drawingml/2006/main">
            <a:r>
              <a:t>      "exception": "보행시간 부족·인접 교차로 정체·특수 행사일",</a:t>
            </a:r>
          </a:p>
          <a:p xmlns:a="http://schemas.openxmlformats.org/drawingml/2006/main">
            <a:r>
              <a:t>      "evidence": "변경 전후 지표와 보행·안전 제약 확인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"도시 교통기술자·운영 담당",</a:t>
            </a:r>
          </a:p>
          <a:p xmlns:a="http://schemas.openxmlformats.org/drawingml/2006/main">
            <a:r>
              <a:t>          "processing": "교차로·시간대·운영 조건 지정",</a:t>
            </a:r>
          </a:p>
          <a:p xmlns:a="http://schemas.openxmlformats.org/drawingml/2006/main">
            <a:r>
              <a:t>          "output": "교차로 흐름"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"교차로·교통 패턴",</a:t>
            </a:r>
          </a:p>
          <a:p xmlns:a="http://schemas.openxmlformats.org/drawingml/2006/main">
            <a:r>
              <a:t>          "processing": "교통 흐름·교차로·신호 운영자료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"교차로 흐름",</a:t>
            </a:r>
          </a:p>
          <a:p xmlns:a="http://schemas.openxmlformats.org/drawingml/2006/main">
            <a:r>
              <a:t>          "processing": "정체·정지 패턴에 따른 신호 조정 후보",</a:t>
            </a:r>
          </a:p>
          <a:p xmlns:a="http://schemas.openxmlformats.org/drawingml/2006/main">
            <a:r>
              <a:t>          "output": "신호 조정안"</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"신호 조정안",</a:t>
            </a:r>
          </a:p>
          <a:p xmlns:a="http://schemas.openxmlformats.org/drawingml/2006/main">
            <a:r>
              <a:t>          "processing": "교통기술자의 검토 후 신호 계획 반영",</a:t>
            </a:r>
          </a:p>
          <a:p xmlns:a="http://schemas.openxmlformats.org/drawingml/2006/main">
            <a:r>
              <a:t>          "output": "기술자 적용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"변경 전후 교통지표와 안전 제약의 병행 평가",</a:t>
            </a:r>
          </a:p>
          <a:p xmlns:a="http://schemas.openxmlformats.org/drawingml/2006/main">
            <a:r>
              <a:t>          "output": "변경 전후 지표와 보행·안전 제약 확인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"변경 전후 교통지표와 안전 제약의 병행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"S-AX11",</a:t>
            </a:r>
          </a:p>
          <a:p xmlns:a="http://schemas.openxmlformats.org/drawingml/2006/main">
            <a:r>
              <a:t>        "title": "Google Green Light · 개발기관 사업 소개 / 게시일 미표시",</a:t>
            </a:r>
          </a:p>
          <a:p xmlns:a="http://schemas.openxmlformats.org/drawingml/2006/main">
            <a:r>
              <a:t>        "url": "https://sites.research.google/greenlight/",</a:t>
            </a:r>
          </a:p>
          <a:p xmlns:a="http://schemas.openxmlformats.org/drawingml/2006/main">
            <a:r>
              <a:t>        "published": "운영 적용",</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"권고와 현장 실행 권한의 분리",</a:t>
            </a:r>
          </a:p>
          <a:p xmlns:a="http://schemas.openxmlformats.org/drawingml/2006/main">
            <a:r>
              <a:t>    "local": "TS 분석·점검 의견을 지자체 소관 업무로 인계",</a:t>
            </a:r>
          </a:p>
          <a:p xmlns:a="http://schemas.openxmlformats.org/drawingml/2006/main">
            <a:r>
              <a:t>    "sourceDetail": null,</a:t>
            </a:r>
          </a:p>
          <a:p xmlns:a="http://schemas.openxmlformats.org/drawingml/2006/main">
            <a:r>
              <a:t>    "narrative": [</a:t>
            </a:r>
          </a:p>
          <a:p xmlns:a="http://schemas.openxmlformats.org/drawingml/2006/main">
            <a:r>
              <a:t>      "도시 교통 흐름을 분석해 신호 운영 개선안을 기술자에게 제공하는 사례. AI가 모든 교차로 신호를 직접 제어하는 방식으로 일반화하기보다 권고와 현장 적용의 연결에 주목.",</a:t>
            </a:r>
          </a:p>
          <a:p xmlns:a="http://schemas.openxmlformats.org/drawingml/2006/main">
            <a:r>
              <a:t>      "교차로·시간대별 흐름에서 정체·정지 패턴을 찾고 신호 조정 후보를 만드는 흐름. 지역 교통기술자가 보행자·긴급차량·현장 제약을 확인한 뒤 운영계획에 반영하는 CCK 적용 구조.",</a:t>
            </a:r>
          </a:p>
          <a:p xmlns:a="http://schemas.openxmlformats.org/drawingml/2006/main">
            <a:r>
              <a:t>      "관측 교차로의 결과를 다른 지역 성과로 그대로 환산하지 않는 비교. 변경 전후 교통지표, 안전 제약 위반, 권고 채택 여부와 실제 운영 반영시간을 함께 검수할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"신호 검토 요청",</a:t>
            </a:r>
          </a:p>
          <a:p xmlns:a="http://schemas.openxmlformats.org/drawingml/2006/main">
            <a:r>
              <a:t>          "layer": "이용 접점",</a:t>
            </a:r>
          </a:p>
          <a:p xmlns:a="http://schemas.openxmlformats.org/drawingml/2006/main">
            <a:r>
              <a:t>          "detail": "도시 교통기술자·운영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"교차로·시간대",</a:t>
            </a:r>
          </a:p>
          <a:p xmlns:a="http://schemas.openxmlformats.org/drawingml/2006/main">
            <a:r>
              <a:t>          "layer": "업무 문맥",</a:t>
            </a:r>
          </a:p>
          <a:p xmlns:a="http://schemas.openxmlformats.org/drawingml/2006/main">
            <a:r>
              <a:t>          "detail": "교차로·시간대·운영 조건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"교통 흐름 조회",</a:t>
            </a:r>
          </a:p>
          <a:p xmlns:a="http://schemas.openxmlformats.org/drawingml/2006/main">
            <a:r>
              <a:t>          "layer": "자료 조회",</a:t>
            </a:r>
          </a:p>
          <a:p xmlns:a="http://schemas.openxmlformats.org/drawingml/2006/main">
            <a:r>
              <a:t>          "detail": "교차로 흐름",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"신호 조정 후보",</a:t>
            </a:r>
          </a:p>
          <a:p xmlns:a="http://schemas.openxmlformats.org/drawingml/2006/main">
            <a:r>
              <a:t>          "layer": "핵심 처리",</a:t>
            </a:r>
          </a:p>
          <a:p xmlns:a="http://schemas.openxmlformats.org/drawingml/2006/main">
            <a:r>
              <a:t>          "detail": "정체·정지 패턴에 따른 신호 조정 후보",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"지역·안전 제약",</a:t>
            </a:r>
          </a:p>
          <a:p xmlns:a="http://schemas.openxmlformats.org/drawingml/2006/main">
            <a:r>
              <a:t>          "layer": "결과 검증",</a:t>
            </a:r>
          </a:p>
          <a:p xmlns:a="http://schemas.openxmlformats.org/drawingml/2006/main">
            <a:r>
              <a:t>          "detail": "지역 제약·안전 조건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"교통기술자 검토",</a:t>
            </a:r>
          </a:p>
          <a:p xmlns:a="http://schemas.openxmlformats.org/drawingml/2006/main">
            <a:r>
              <a:t>          "layer": "사람 확인",</a:t>
            </a:r>
          </a:p>
          <a:p xmlns:a="http://schemas.openxmlformats.org/drawingml/2006/main">
            <a:r>
              <a:t>          "detail": "교차로의 신호 조정 후보를 기술자가 현장 조건과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"신호계획 반영",</a:t>
            </a:r>
          </a:p>
          <a:p xmlns:a="http://schemas.openxmlformats.org/drawingml/2006/main">
            <a:r>
              <a:t>          "layer": "업무 연결",</a:t>
            </a:r>
          </a:p>
          <a:p xmlns:a="http://schemas.openxmlformats.org/drawingml/2006/main">
            <a:r>
              <a:t>          "detail": "교통기술자의 검토 후 신호 계획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"변경 전후 평가",</a:t>
            </a:r>
          </a:p>
          <a:p xmlns:a="http://schemas.openxmlformats.org/drawingml/2006/main">
            <a:r>
              <a:t>          "layer": "운영 관측",</a:t>
            </a:r>
          </a:p>
          <a:p xmlns:a="http://schemas.openxmlformats.org/drawingml/2006/main">
            <a:r>
              <a:t>          "detail": "변경 전후 교통지표와 안전 제약의 병행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"교통·신호 자료",</a:t>
            </a:r>
          </a:p>
          <a:p xmlns:a="http://schemas.openxmlformats.org/drawingml/2006/main">
            <a:r>
              <a:t>          "layer": "데이터 원천",</a:t>
            </a:r>
          </a:p>
          <a:p xmlns:a="http://schemas.openxmlformats.org/drawingml/2006/main">
            <a:r>
              <a:t>          "detail": "교차로·교통 패턴",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"교차로 코드 정리",</a:t>
            </a:r>
          </a:p>
          <a:p xmlns:a="http://schemas.openxmlformats.org/drawingml/2006/main">
            <a:r>
              <a:t>          "layer": "준비·갱신",</a:t>
            </a:r>
          </a:p>
          <a:p xmlns:a="http://schemas.openxmlformats.org/drawingml/2006/main">
            <a:r>
              <a:t>          "detail": "교통 흐름·교차로·신호 운영자료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"흐름·계획 이력",</a:t>
            </a:r>
          </a:p>
          <a:p xmlns:a="http://schemas.openxmlformats.org/drawingml/2006/main">
            <a:r>
              <a:t>          "layer": "상태·지식 저장",</a:t>
            </a:r>
          </a:p>
          <a:p xmlns:a="http://schemas.openxmlformats.org/drawingml/2006/main">
            <a:r>
              <a:t>          "detail": "변경 전후 지표와 보행·안전 제약 확인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"보행·긴급 제약",</a:t>
            </a:r>
          </a:p>
          <a:p xmlns:a="http://schemas.openxmlformats.org/drawingml/2006/main">
            <a:r>
              <a:t>          "layer": "권한·정책",</a:t>
            </a:r>
          </a:p>
          <a:p xmlns:a="http://schemas.openxmlformats.org/drawingml/2006/main">
            <a:r>
              <a:t>          "detail": "보행시간 부족·인접 교차로 정체·특수 행사일",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"교통 흐름 데이터 → AI 개선 권고 → 기술자 검토 → 신호 운영 반영"</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"교차로·교통 패턴",</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"정체 패턴",</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"교통 흐름·교차로·신호 운영자료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"신호 조정안",</a:t>
            </a:r>
          </a:p>
          <a:p xmlns:a="http://schemas.openxmlformats.org/drawingml/2006/main">
            <a:r>
              <a:t>          "check": "변경 전후 지표와 보행·안전 제약 확인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"신호 조정안",</a:t>
            </a:r>
          </a:p>
          <a:p xmlns:a="http://schemas.openxmlformats.org/drawingml/2006/main">
            <a:r>
              <a:t>          "check": "지역 제약·안전 조건 검토"</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"기술자 적용 결과",</a:t>
            </a:r>
          </a:p>
          <a:p xmlns:a="http://schemas.openxmlformats.org/drawingml/2006/main">
            <a:r>
              <a:t>          "check": "변경 전후 지표와 보행·안전 제약 확인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"신호 운영 검토를 위한 교통 흐름 분석 / 교차로 흐름·신호 권고·효과 점검",</a:t>
            </a:r>
          </a:p>
          <a:p xmlns:a="http://schemas.openxmlformats.org/drawingml/2006/main">
            <a:r>
              <a:t>        "extension": "TS 분석·점검 의견을 지자체 소관 업무로 인계"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"보행시간 부족·인접 교차로 정체·특수 행사일",</a:t>
            </a:r>
          </a:p>
          <a:p xmlns:a="http://schemas.openxmlformats.org/drawingml/2006/main">
            <a:r>
              <a:t>        "hold": "지역 제약·안전 조건 검토",</a:t>
            </a:r>
          </a:p>
          <a:p xmlns:a="http://schemas.openxmlformats.org/drawingml/2006/main">
            <a:r>
              <a:t>        "recovery": "변경 전후 교통지표와 안전 제약의 병행 평가",</a:t>
            </a:r>
          </a:p>
          <a:p xmlns:a="http://schemas.openxmlformats.org/drawingml/2006/main">
            <a:r>
              <a:t>        "evidence": "변경 전후 지표와 보행·안전 제약 확인 기록"</a:t>
            </a:r>
          </a:p>
          <a:p xmlns:a="http://schemas.openxmlformats.org/drawingml/2006/main">
            <a:r>
              <a:t>      },</a:t>
            </a:r>
          </a:p>
          <a:p xmlns:a="http://schemas.openxmlformats.org/drawingml/2006/main">
            <a:r>
              <a:t>      "data": {</a:t>
            </a:r>
          </a:p>
          <a:p xmlns:a="http://schemas.openxmlformats.org/drawingml/2006/main">
            <a:r>
              <a:t>        "source": "교차로·교통 패턴",</a:t>
            </a:r>
          </a:p>
          <a:p xmlns:a="http://schemas.openxmlformats.org/drawingml/2006/main">
            <a:r>
              <a:t>        "prepare": "교통 흐름·교차로·신호 운영자료 정합화",</a:t>
            </a:r>
          </a:p>
          <a:p xmlns:a="http://schemas.openxmlformats.org/drawingml/2006/main">
            <a:r>
              <a:t>        "output": "교차로 흐름",</a:t>
            </a:r>
          </a:p>
          <a:p xmlns:a="http://schemas.openxmlformats.org/drawingml/2006/main">
            <a:r>
              <a:t>        "refresh": "변경 전후 교통지표와 안전 제약의 병행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"AX11",</a:t>
            </a:r>
          </a:p>
          <a:p xmlns:a="http://schemas.openxmlformats.org/drawingml/2006/main">
            <a:r>
              <a:t>    "success": [</a:t>
            </a:r>
          </a:p>
          <a:p xmlns:a="http://schemas.openxmlformats.org/drawingml/2006/main">
            <a:r>
              <a:t>      "기존 신호 운영에 개선 권고 제공",</a:t>
            </a:r>
          </a:p>
          <a:p xmlns:a="http://schemas.openxmlformats.org/drawingml/2006/main">
            <a:r>
              <a:t>      "도시 기술자의 검토 후 반영"</a:t>
            </a:r>
          </a:p>
          <a:p xmlns:a="http://schemas.openxmlformats.org/drawingml/2006/main">
            <a:r>
              <a:t>    ],</a:t>
            </a:r>
          </a:p>
          <a:p xmlns:a="http://schemas.openxmlformats.org/drawingml/2006/main">
            <a:r>
              <a:t>    "risks": [</a:t>
            </a:r>
          </a:p>
          <a:p xmlns:a="http://schemas.openxmlformats.org/drawingml/2006/main">
            <a:r>
              <a:t>      "관측 교차로 외 일반화 위험",</a:t>
            </a:r>
          </a:p>
          <a:p xmlns:a="http://schemas.openxmlformats.org/drawingml/2006/main">
            <a:r>
              <a:t>      "보행자·긴급차량 조건 누락 가능성"</a:t>
            </a:r>
          </a:p>
          <a:p xmlns:a="http://schemas.openxmlformats.org/drawingml/2006/main">
            <a:r>
              <a:t>    ],</a:t>
            </a:r>
          </a:p>
          <a:p xmlns:a="http://schemas.openxmlformats.org/drawingml/2006/main">
            <a:r>
              <a:t>    "architecture": [</a:t>
            </a:r>
          </a:p>
          <a:p xmlns:a="http://schemas.openxmlformats.org/drawingml/2006/main">
            <a:r>
              <a:t>      "교통 흐름 자료",</a:t>
            </a:r>
          </a:p>
          <a:p xmlns:a="http://schemas.openxmlformats.org/drawingml/2006/main">
            <a:r>
              <a:t>      "신호 개선 권고",</a:t>
            </a:r>
          </a:p>
          <a:p xmlns:a="http://schemas.openxmlformats.org/drawingml/2006/main">
            <a:r>
              <a:t>      "교차로·교통 패턴",</a:t>
            </a:r>
          </a:p>
          <a:p xmlns:a="http://schemas.openxmlformats.org/drawingml/2006/main">
            <a:r>
              <a:t>      "도시 교통기술자"</a:t>
            </a:r>
          </a:p>
          <a:p xmlns:a="http://schemas.openxmlformats.org/drawingml/2006/main">
            <a:r>
              <a:t>    ],</a:t>
            </a:r>
          </a:p>
          <a:p xmlns:a="http://schemas.openxmlformats.org/drawingml/2006/main">
            <a:r>
              <a:t>    "transfers": [</a:t>
            </a:r>
          </a:p>
          <a:p xmlns:a="http://schemas.openxmlformats.org/drawingml/2006/main">
            <a:r>
              <a:t>      "교차로 흐름",</a:t>
            </a:r>
          </a:p>
          <a:p xmlns:a="http://schemas.openxmlformats.org/drawingml/2006/main">
            <a:r>
              <a:t>      "정체 패턴",</a:t>
            </a:r>
          </a:p>
          <a:p xmlns:a="http://schemas.openxmlformats.org/drawingml/2006/main">
            <a:r>
              <a:t>      "신호 조정안",</a:t>
            </a:r>
          </a:p>
          <a:p xmlns:a="http://schemas.openxmlformats.org/drawingml/2006/main">
            <a:r>
              <a:t>      "기술자 적용 결과"</a:t>
            </a:r>
          </a:p>
          <a:p xmlns:a="http://schemas.openxmlformats.org/drawingml/2006/main">
            <a:r>
              <a:t>    ],</a:t>
            </a:r>
          </a:p>
          <a:p xmlns:a="http://schemas.openxmlformats.org/drawingml/2006/main">
            <a:r>
              <a:t>    "control": "지역 제약·안전 조건 검토",</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Green Light · 개발기관 사업 소개 / 게시일 미표시 https://sites.research.google/greenlight/</a:t>
            </a:r>
          </a:p>
          <a:p xmlns:a="http://schemas.openxmlformats.org/drawingml/2006/main">
            <a:r>
              <a:t>홈페이지 https://heen1987-ops.github.io/TS-business-Plan-001/index.html?view=casebook&amp;case=AX11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"AX12",</a:t>
            </a:r>
          </a:p>
          <a:p xmlns:a="http://schemas.openxmlformats.org/drawingml/2006/main">
            <a:r>
              <a:t>    "title": "Google 홍수 예측",</a:t>
            </a:r>
          </a:p>
          <a:p xmlns:a="http://schemas.openxmlformats.org/drawingml/2006/main">
            <a:r>
              <a:t>    "region": "해외",</a:t>
            </a:r>
          </a:p>
          <a:p xmlns:a="http://schemas.openxmlformats.org/drawingml/2006/main">
            <a:r>
              <a:t>    "country": "다국가",</a:t>
            </a:r>
          </a:p>
          <a:p xmlns:a="http://schemas.openxmlformats.org/drawingml/2006/main">
            <a:r>
              <a:t>    "result": "성공",</a:t>
            </a:r>
          </a:p>
          <a:p xmlns:a="http://schemas.openxmlformats.org/drawingml/2006/main">
            <a:r>
              <a:t>    "kind": "수문 위험 예측",</a:t>
            </a:r>
          </a:p>
          <a:p xmlns:a="http://schemas.openxmlformats.org/drawingml/2006/main">
            <a:r>
              <a:t>    "period": "2024 연구·운영",</a:t>
            </a:r>
          </a:p>
          <a:p xmlns:a="http://schemas.openxmlformats.org/drawingml/2006/main">
            <a:r>
              <a:t>    "sources": [</a:t>
            </a:r>
          </a:p>
          <a:p xmlns:a="http://schemas.openxmlformats.org/drawingml/2006/main">
            <a:r>
              <a:t>      "S-AX12"</a:t>
            </a:r>
          </a:p>
          <a:p xmlns:a="http://schemas.openxmlformats.org/drawingml/2006/main">
            <a:r>
              <a:t>    ],</a:t>
            </a:r>
          </a:p>
          <a:p xmlns:a="http://schemas.openxmlformats.org/drawingml/2006/main">
            <a:r>
              <a:t>    "keywords": [</a:t>
            </a:r>
          </a:p>
          <a:p xmlns:a="http://schemas.openxmlformats.org/drawingml/2006/main">
            <a:r>
              <a:t>      "수문 위험 예측"</a:t>
            </a:r>
          </a:p>
          <a:p xmlns:a="http://schemas.openxmlformats.org/drawingml/2006/main">
            <a:r>
              <a:t>    ],</a:t>
            </a:r>
          </a:p>
          <a:p xmlns:a="http://schemas.openxmlformats.org/drawingml/2006/main">
            <a:r>
              <a:t>    "fact": "관측이 부족한 하천까지 확장한 AI 홍수 예측의 비교 평가와 서비스 적용",</a:t>
            </a:r>
          </a:p>
          <a:p xmlns:a="http://schemas.openxmlformats.org/drawingml/2006/main">
            <a:r>
              <a:t>    "limit": "논문의 하천 홍수 평가 범위 · 모든 재난 예측 성능으로 확대 불가",</a:t>
            </a:r>
          </a:p>
          <a:p xmlns:a="http://schemas.openxmlformats.org/drawingml/2006/main">
            <a:r>
              <a:t>    "flow": [</a:t>
            </a:r>
          </a:p>
          <a:p xmlns:a="http://schemas.openxmlformats.org/drawingml/2006/main">
            <a:r>
              <a:t>      "수문·기상 입력",</a:t>
            </a:r>
          </a:p>
          <a:p xmlns:a="http://schemas.openxmlformats.org/drawingml/2006/main">
            <a:r>
              <a:t>      "예측 모델",</a:t>
            </a:r>
          </a:p>
          <a:p xmlns:a="http://schemas.openxmlformats.org/drawingml/2006/main">
            <a:r>
              <a:t>      "위험·시점 안내",</a:t>
            </a:r>
          </a:p>
          <a:p xmlns:a="http://schemas.openxmlformats.org/drawingml/2006/main">
            <a:r>
              <a:t>      "현장 대응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"예측 불확실성과 대응 책임의 동시 관리",</a:t>
            </a:r>
          </a:p>
          <a:p xmlns:a="http://schemas.openxmlformats.org/drawingml/2006/main">
            <a:r>
              <a:t>    "local": "교통시설 위험 알림과 관할 점검 조치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"시설·위험 등급·대응 절차·조치기한 매핑",</a:t>
            </a:r>
          </a:p>
          <a:p xmlns:a="http://schemas.openxmlformats.org/drawingml/2006/main">
            <a:r>
              <a:t>    "test": "지역·계절 분리 평가와 오경보·미탐 점검",</a:t>
            </a:r>
          </a:p>
          <a:p xmlns:a="http://schemas.openxmlformats.org/drawingml/2006/main">
            <a:r>
              <a:t>    "metric": "경보 선행시간 / 미조치 건수",</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"ST-11"</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"AX12",</a:t>
            </a:r>
          </a:p>
          <a:p xmlns:a="http://schemas.openxmlformats.org/drawingml/2006/main">
            <a:r>
              <a:t>    "canonicalId": "AX12",</a:t>
            </a:r>
          </a:p>
          <a:p xmlns:a="http://schemas.openxmlformats.org/drawingml/2006/main">
            <a:r>
              <a:t>    "purpose": "관측이 부족한 하천의 홍수 위험 예측",</a:t>
            </a:r>
          </a:p>
          <a:p xmlns:a="http://schemas.openxmlformats.org/drawingml/2006/main">
            <a:r>
              <a:t>    "users": "예보 운영자·방재 담당·주민",</a:t>
            </a:r>
          </a:p>
          <a:p xmlns:a="http://schemas.openxmlformats.org/drawingml/2006/main">
            <a:r>
              <a:t>    "scope": [</a:t>
            </a:r>
          </a:p>
          <a:p xmlns:a="http://schemas.openxmlformats.org/drawingml/2006/main">
            <a:r>
              <a:t>      "수문 예측",</a:t>
            </a:r>
          </a:p>
          <a:p xmlns:a="http://schemas.openxmlformats.org/drawingml/2006/main">
            <a:r>
              <a:t>      "위험 정보",</a:t>
            </a:r>
          </a:p>
          <a:p xmlns:a="http://schemas.openxmlformats.org/drawingml/2006/main">
            <a:r>
              <a:t>      "알림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"수문·기상 자료",</a:t>
            </a:r>
          </a:p>
          <a:p xmlns:a="http://schemas.openxmlformats.org/drawingml/2006/main">
            <a:r>
              <a:t>        "detail": "유역·예측시점·대상 지역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"수문 예측 / 위험 정보 / 알림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"홍수 예측 모델",</a:t>
            </a:r>
          </a:p>
          <a:p xmlns:a="http://schemas.openxmlformats.org/drawingml/2006/main">
            <a:r>
              <a:t>        "detail": "수문 입력을 활용한 범위별 위험 예측",</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"지역 대응 담당",</a:t>
            </a:r>
          </a:p>
          <a:p xmlns:a="http://schemas.openxmlformats.org/drawingml/2006/main">
            <a:r>
              <a:t>        "detail": "위험 지역·시점 정보를 공식 대응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"하천·예측 이력",</a:t>
            </a:r>
          </a:p>
          <a:p xmlns:a="http://schemas.openxmlformats.org/drawingml/2006/main">
            <a:r>
              <a:t>        "detail": "유역 특성·관측·기상자료의 시간·공간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"미탐·과경보와 지역별 오차의 사후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"수문·기상 입력",</a:t>
            </a:r>
          </a:p>
          <a:p xmlns:a="http://schemas.openxmlformats.org/drawingml/2006/main">
            <a:r>
              <a:t>        "input": "유역·예측시점·대상 지역 지정",</a:t>
            </a:r>
          </a:p>
          <a:p xmlns:a="http://schemas.openxmlformats.org/drawingml/2006/main">
            <a:r>
              <a:t>        "process": "유역 특성·관측·기상자료의 시간·공간 정합화",</a:t>
            </a:r>
          </a:p>
          <a:p xmlns:a="http://schemas.openxmlformats.org/drawingml/2006/main">
            <a:r>
              <a:t>        "output": "강수·유량"</a:t>
            </a:r>
          </a:p>
          <a:p xmlns:a="http://schemas.openxmlformats.org/drawingml/2006/main">
            <a:r>
              <a:t>      },</a:t>
            </a:r>
          </a:p>
          <a:p xmlns:a="http://schemas.openxmlformats.org/drawingml/2006/main">
            <a:r>
              <a:t>      {</a:t>
            </a:r>
          </a:p>
          <a:p xmlns:a="http://schemas.openxmlformats.org/drawingml/2006/main">
            <a:r>
              <a:t>        "title": "예측 모델",</a:t>
            </a:r>
          </a:p>
          <a:p xmlns:a="http://schemas.openxmlformats.org/drawingml/2006/main">
            <a:r>
              <a:t>        "input": "강수·유량",</a:t>
            </a:r>
          </a:p>
          <a:p xmlns:a="http://schemas.openxmlformats.org/drawingml/2006/main">
            <a:r>
              <a:t>        "process": "수문 입력을 활용한 범위별 위험 예측",</a:t>
            </a:r>
          </a:p>
          <a:p xmlns:a="http://schemas.openxmlformats.org/drawingml/2006/main">
            <a:r>
              <a:t>        "output": "시간별 예측"</a:t>
            </a:r>
          </a:p>
          <a:p xmlns:a="http://schemas.openxmlformats.org/drawingml/2006/main">
            <a:r>
              <a:t>      },</a:t>
            </a:r>
          </a:p>
          <a:p xmlns:a="http://schemas.openxmlformats.org/drawingml/2006/main">
            <a:r>
              <a:t>      {</a:t>
            </a:r>
          </a:p>
          <a:p xmlns:a="http://schemas.openxmlformats.org/drawingml/2006/main">
            <a:r>
              <a:t>        "title": "위험·시점 안내",</a:t>
            </a:r>
          </a:p>
          <a:p xmlns:a="http://schemas.openxmlformats.org/drawingml/2006/main">
            <a:r>
              <a:t>        "input": "시간별 예측",</a:t>
            </a:r>
          </a:p>
          <a:p xmlns:a="http://schemas.openxmlformats.org/drawingml/2006/main">
            <a:r>
              <a:t>        "process": "지역별 오탐·미탐과 선행시간 평가",</a:t>
            </a:r>
          </a:p>
          <a:p xmlns:a="http://schemas.openxmlformats.org/drawingml/2006/main">
            <a:r>
              <a:t>        "output": "위험·예상 시점"</a:t>
            </a:r>
          </a:p>
          <a:p xmlns:a="http://schemas.openxmlformats.org/drawingml/2006/main">
            <a:r>
              <a:t>      },</a:t>
            </a:r>
          </a:p>
          <a:p xmlns:a="http://schemas.openxmlformats.org/drawingml/2006/main">
            <a:r>
              <a:t>      {</a:t>
            </a:r>
          </a:p>
          <a:p xmlns:a="http://schemas.openxmlformats.org/drawingml/2006/main">
            <a:r>
              <a:t>        "title": "현장 대응 검토",</a:t>
            </a:r>
          </a:p>
          <a:p xmlns:a="http://schemas.openxmlformats.org/drawingml/2006/main">
            <a:r>
              <a:t>        "input": "위험·예상 시점",</a:t>
            </a:r>
          </a:p>
          <a:p xmlns:a="http://schemas.openxmlformats.org/drawingml/2006/main">
            <a:r>
              <a:t>        "process": "위험 지역·시점 정보를 공식 대응 검토에 전달",</a:t>
            </a:r>
          </a:p>
          <a:p xmlns:a="http://schemas.openxmlformats.org/drawingml/2006/main">
            <a:r>
              <a:t>        "output": "현장 대응 판단"</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"유역별 예측 위험을 지역별 대응 검토에 제공",</a:t>
            </a:r>
          </a:p>
          <a:p xmlns:a="http://schemas.openxmlformats.org/drawingml/2006/main">
            <a:r>
              <a:t>      "exception": "관측 결측·분포가 다른 유역·예측시점 이후 자료 혼입",</a:t>
            </a:r>
          </a:p>
          <a:p xmlns:a="http://schemas.openxmlformats.org/drawingml/2006/main">
            <a:r>
              <a:t>      "evidence": "시점 분리 평가와 유역별 미탐·과경보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"예보 운영자·방재 담당·주민",</a:t>
            </a:r>
          </a:p>
          <a:p xmlns:a="http://schemas.openxmlformats.org/drawingml/2006/main">
            <a:r>
              <a:t>          "processing": "유역·예측시점·대상 지역 지정",</a:t>
            </a:r>
          </a:p>
          <a:p xmlns:a="http://schemas.openxmlformats.org/drawingml/2006/main">
            <a:r>
              <a:t>          "output": "강수·유량"</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"하천·예측 이력",</a:t>
            </a:r>
          </a:p>
          <a:p xmlns:a="http://schemas.openxmlformats.org/drawingml/2006/main">
            <a:r>
              <a:t>          "processing": "유역 특성·관측·기상자료의 시간·공간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"강수·유량",</a:t>
            </a:r>
          </a:p>
          <a:p xmlns:a="http://schemas.openxmlformats.org/drawingml/2006/main">
            <a:r>
              <a:t>          "processing": "수문 입력을 활용한 범위별 위험 예측",</a:t>
            </a:r>
          </a:p>
          <a:p xmlns:a="http://schemas.openxmlformats.org/drawingml/2006/main">
            <a:r>
              <a:t>          "output": "위험·예상 시점"</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"위험·예상 시점",</a:t>
            </a:r>
          </a:p>
          <a:p xmlns:a="http://schemas.openxmlformats.org/drawingml/2006/main">
            <a:r>
              <a:t>          "processing": "위험 지역·시점 정보를 공식 대응 검토에 전달",</a:t>
            </a:r>
          </a:p>
          <a:p xmlns:a="http://schemas.openxmlformats.org/drawingml/2006/main">
            <a:r>
              <a:t>          "output": "현장 대응 판단"</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"미탐·과경보와 지역별 오차의 사후 분석",</a:t>
            </a:r>
          </a:p>
          <a:p xmlns:a="http://schemas.openxmlformats.org/drawingml/2006/main">
            <a:r>
              <a:t>          "output": "시점 분리 평가와 유역별 미탐·과경보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"미탐·과경보와 지역별 오차의 사후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"S-AX12",</a:t>
            </a:r>
          </a:p>
          <a:p xmlns:a="http://schemas.openxmlformats.org/drawingml/2006/main">
            <a:r>
              <a:t>        "title": "Google 홍수 예측 · Nature 연구 / 2024",</a:t>
            </a:r>
          </a:p>
          <a:p xmlns:a="http://schemas.openxmlformats.org/drawingml/2006/main">
            <a:r>
              <a:t>        "url": "https://research.google/pubs/ai-increases-global-access-to-reliable-flood-forecasts-2/",</a:t>
            </a:r>
          </a:p>
          <a:p xmlns:a="http://schemas.openxmlformats.org/drawingml/2006/main">
            <a:r>
              <a:t>        "published": "2024 연구·운영",</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"예측 불확실성과 대응 책임의 동시 관리",</a:t>
            </a:r>
          </a:p>
          <a:p xmlns:a="http://schemas.openxmlformats.org/drawingml/2006/main">
            <a:r>
              <a:t>    "local": "교통시설 위험 알림과 관할 점검 조치 연결",</a:t>
            </a:r>
          </a:p>
          <a:p xmlns:a="http://schemas.openxmlformats.org/drawingml/2006/main">
            <a:r>
              <a:t>    "sourceDetail": null,</a:t>
            </a:r>
          </a:p>
          <a:p xmlns:a="http://schemas.openxmlformats.org/drawingml/2006/main">
            <a:r>
              <a:t>    "narrative": [</a:t>
            </a:r>
          </a:p>
          <a:p xmlns:a="http://schemas.openxmlformats.org/drawingml/2006/main">
            <a:r>
              <a:t>      "관측 자료가 부족한 지역까지 홍수 예측 정보를 제공하려는 사례. 예측 모델의 지역 일반화와 주민·대응기관의 실제 행동을 연결하는 단계가 별도 과제.",</a:t>
            </a:r>
          </a:p>
          <a:p xmlns:a="http://schemas.openxmlformats.org/drawingml/2006/main">
            <a:r>
              <a:t>      "유역 특성·강수·유량을 시간·공간 단위로 정합화하고 위험 지역·예상 시점을 산출하는 구조. TS 적용 설계에서는 기상·재난 위험을 교통시설·운행 업무와 연결해 담당자의 대응 검토를 지원.",</a:t>
            </a:r>
          </a:p>
          <a:p xmlns:a="http://schemas.openxmlformats.org/drawingml/2006/main">
            <a:r>
              <a:t>      "예측 정확도와 사고 예방 효과의 분리. 지역별 미탐·과경보·선행시간, 경보 수신과 조치 완료를 함께 평가하며 관측 부족 구간의 불확실성을 보존할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"예측 대상 지정",</a:t>
            </a:r>
          </a:p>
          <a:p xmlns:a="http://schemas.openxmlformats.org/drawingml/2006/main">
            <a:r>
              <a:t>          "layer": "이용 접점",</a:t>
            </a:r>
          </a:p>
          <a:p xmlns:a="http://schemas.openxmlformats.org/drawingml/2006/main">
            <a:r>
              <a:t>          "detail": "예보 운영자·방재 담당·주민",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"유역·예측시점",</a:t>
            </a:r>
          </a:p>
          <a:p xmlns:a="http://schemas.openxmlformats.org/drawingml/2006/main">
            <a:r>
              <a:t>          "layer": "업무 문맥",</a:t>
            </a:r>
          </a:p>
          <a:p xmlns:a="http://schemas.openxmlformats.org/drawingml/2006/main">
            <a:r>
              <a:t>          "detail": "유역·예측시점·대상 지역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"기상·수문 조회",</a:t>
            </a:r>
          </a:p>
          <a:p xmlns:a="http://schemas.openxmlformats.org/drawingml/2006/main">
            <a:r>
              <a:t>          "layer": "자료 조회",</a:t>
            </a:r>
          </a:p>
          <a:p xmlns:a="http://schemas.openxmlformats.org/drawingml/2006/main">
            <a:r>
              <a:t>          "detail": "강수·유량",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"홍수 위험 예측",</a:t>
            </a:r>
          </a:p>
          <a:p xmlns:a="http://schemas.openxmlformats.org/drawingml/2006/main">
            <a:r>
              <a:t>          "layer": "핵심 처리",</a:t>
            </a:r>
          </a:p>
          <a:p xmlns:a="http://schemas.openxmlformats.org/drawingml/2006/main">
            <a:r>
              <a:t>          "detail": "수문 입력을 활용한 범위별 위험 예측",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"지역별 오차 검사",</a:t>
            </a:r>
          </a:p>
          <a:p xmlns:a="http://schemas.openxmlformats.org/drawingml/2006/main">
            <a:r>
              <a:t>          "layer": "결과 검증",</a:t>
            </a:r>
          </a:p>
          <a:p xmlns:a="http://schemas.openxmlformats.org/drawingml/2006/main">
            <a:r>
              <a:t>          "detail": "지역별 오탐·미탐과 선행시간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"예보 담당 판단",</a:t>
            </a:r>
          </a:p>
          <a:p xmlns:a="http://schemas.openxmlformats.org/drawingml/2006/main">
            <a:r>
              <a:t>          "layer": "사람 확인",</a:t>
            </a:r>
          </a:p>
          <a:p xmlns:a="http://schemas.openxmlformats.org/drawingml/2006/main">
            <a:r>
              <a:t>          "detail": "유역별 예측 위험을 지역별 대응 검토에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"경보·대응 연결",</a:t>
            </a:r>
          </a:p>
          <a:p xmlns:a="http://schemas.openxmlformats.org/drawingml/2006/main">
            <a:r>
              <a:t>          "layer": "업무 연결",</a:t>
            </a:r>
          </a:p>
          <a:p xmlns:a="http://schemas.openxmlformats.org/drawingml/2006/main">
            <a:r>
              <a:t>          "detail": "위험 지역·시점 정보를 공식 대응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"미탐·과경보 분석",</a:t>
            </a:r>
          </a:p>
          <a:p xmlns:a="http://schemas.openxmlformats.org/drawingml/2006/main">
            <a:r>
              <a:t>          "layer": "운영 관측",</a:t>
            </a:r>
          </a:p>
          <a:p xmlns:a="http://schemas.openxmlformats.org/drawingml/2006/main">
            <a:r>
              <a:t>          "detail": "미탐·과경보와 지역별 오차의 사후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"유역·관측 자료",</a:t>
            </a:r>
          </a:p>
          <a:p xmlns:a="http://schemas.openxmlformats.org/drawingml/2006/main">
            <a:r>
              <a:t>          "layer": "데이터 원천",</a:t>
            </a:r>
          </a:p>
          <a:p xmlns:a="http://schemas.openxmlformats.org/drawingml/2006/main">
            <a:r>
              <a:t>          "detail": "하천·예측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"시간·공간 정합화",</a:t>
            </a:r>
          </a:p>
          <a:p xmlns:a="http://schemas.openxmlformats.org/drawingml/2006/main">
            <a:r>
              <a:t>          "layer": "준비·갱신",</a:t>
            </a:r>
          </a:p>
          <a:p xmlns:a="http://schemas.openxmlformats.org/drawingml/2006/main">
            <a:r>
              <a:t>          "detail": "유역 특성·관측·기상자료의 시간·공간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"예측·관측 이력",</a:t>
            </a:r>
          </a:p>
          <a:p xmlns:a="http://schemas.openxmlformats.org/drawingml/2006/main">
            <a:r>
              <a:t>          "layer": "상태·지식 저장",</a:t>
            </a:r>
          </a:p>
          <a:p xmlns:a="http://schemas.openxmlformats.org/drawingml/2006/main">
            <a:r>
              <a:t>          "detail": "시점 분리 평가와 유역별 미탐·과경보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"경보·대응 기준",</a:t>
            </a:r>
          </a:p>
          <a:p xmlns:a="http://schemas.openxmlformats.org/drawingml/2006/main">
            <a:r>
              <a:t>          "layer": "권한·정책",</a:t>
            </a:r>
          </a:p>
          <a:p xmlns:a="http://schemas.openxmlformats.org/drawingml/2006/main">
            <a:r>
              <a:t>          "detail": "관측 결측·분포가 다른 유역·예측시점 이후 자료 혼입",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"수문·기상 입력 → 예측 모델 → 위험·시점 안내 → 현장 대응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"하천·예측 이력",</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"시간별 예측",</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"위험·예상 시점",</a:t>
            </a:r>
          </a:p>
          <a:p xmlns:a="http://schemas.openxmlformats.org/drawingml/2006/main">
            <a:r>
              <a:t>          "check": "시점 분리 평가와 유역별 미탐·과경보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"위험·예상 시점",</a:t>
            </a:r>
          </a:p>
          <a:p xmlns:a="http://schemas.openxmlformats.org/drawingml/2006/main">
            <a:r>
              <a:t>          "check": "지역별 오탐·미탐과 선행시간 평가"</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"현장 대응 판단",</a:t>
            </a:r>
          </a:p>
          <a:p xmlns:a="http://schemas.openxmlformats.org/drawingml/2006/main">
            <a:r>
              <a:t>          "check": "시점 분리 평가와 유역별 미탐·과경보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"관측이 부족한 하천의 홍수 위험 예측 / 수문 예측·위험 정보·알림 연결",</a:t>
            </a:r>
          </a:p>
          <a:p xmlns:a="http://schemas.openxmlformats.org/drawingml/2006/main">
            <a:r>
              <a:t>        "extension": "교통시설 위험 알림과 관할 점검 조치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"관측 결측·분포가 다른 유역·예측시점 이후 자료 혼입",</a:t>
            </a:r>
          </a:p>
          <a:p xmlns:a="http://schemas.openxmlformats.org/drawingml/2006/main">
            <a:r>
              <a:t>        "hold": "지역별 오탐·미탐과 선행시간 평가",</a:t>
            </a:r>
          </a:p>
          <a:p xmlns:a="http://schemas.openxmlformats.org/drawingml/2006/main">
            <a:r>
              <a:t>        "recovery": "미탐·과경보와 지역별 오차의 사후 분석",</a:t>
            </a:r>
          </a:p>
          <a:p xmlns:a="http://schemas.openxmlformats.org/drawingml/2006/main">
            <a:r>
              <a:t>        "evidence": "시점 분리 평가와 유역별 미탐·과경보 결과"</a:t>
            </a:r>
          </a:p>
          <a:p xmlns:a="http://schemas.openxmlformats.org/drawingml/2006/main">
            <a:r>
              <a:t>      },</a:t>
            </a:r>
          </a:p>
          <a:p xmlns:a="http://schemas.openxmlformats.org/drawingml/2006/main">
            <a:r>
              <a:t>      "data": {</a:t>
            </a:r>
          </a:p>
          <a:p xmlns:a="http://schemas.openxmlformats.org/drawingml/2006/main">
            <a:r>
              <a:t>        "source": "하천·예측 이력",</a:t>
            </a:r>
          </a:p>
          <a:p xmlns:a="http://schemas.openxmlformats.org/drawingml/2006/main">
            <a:r>
              <a:t>        "prepare": "유역 특성·관측·기상자료의 시간·공간 정합화",</a:t>
            </a:r>
          </a:p>
          <a:p xmlns:a="http://schemas.openxmlformats.org/drawingml/2006/main">
            <a:r>
              <a:t>        "output": "강수·유량",</a:t>
            </a:r>
          </a:p>
          <a:p xmlns:a="http://schemas.openxmlformats.org/drawingml/2006/main">
            <a:r>
              <a:t>        "refresh": "미탐·과경보와 지역별 오차의 사후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"AX12",</a:t>
            </a:r>
          </a:p>
          <a:p xmlns:a="http://schemas.openxmlformats.org/drawingml/2006/main">
            <a:r>
              <a:t>    "success": [</a:t>
            </a:r>
          </a:p>
          <a:p xmlns:a="http://schemas.openxmlformats.org/drawingml/2006/main">
            <a:r>
              <a:t>      "관측 부족 지역의 예측 범위 확대",</a:t>
            </a:r>
          </a:p>
          <a:p xmlns:a="http://schemas.openxmlformats.org/drawingml/2006/main">
            <a:r>
              <a:t>      "비교 평가를 통한 예측 검토"</a:t>
            </a:r>
          </a:p>
          <a:p xmlns:a="http://schemas.openxmlformats.org/drawingml/2006/main">
            <a:r>
              <a:t>    ],</a:t>
            </a:r>
          </a:p>
          <a:p xmlns:a="http://schemas.openxmlformats.org/drawingml/2006/main">
            <a:r>
              <a:t>    "risks": [</a:t>
            </a:r>
          </a:p>
          <a:p xmlns:a="http://schemas.openxmlformats.org/drawingml/2006/main">
            <a:r>
              <a:t>      "관측 분포·지역별 불확실성",</a:t>
            </a:r>
          </a:p>
          <a:p xmlns:a="http://schemas.openxmlformats.org/drawingml/2006/main">
            <a:r>
              <a:t>      "경보 정확도와 실제 대응 효과의 차이"</a:t>
            </a:r>
          </a:p>
          <a:p xmlns:a="http://schemas.openxmlformats.org/drawingml/2006/main">
            <a:r>
              <a:t>    ],</a:t>
            </a:r>
          </a:p>
          <a:p xmlns:a="http://schemas.openxmlformats.org/drawingml/2006/main">
            <a:r>
              <a:t>    "architecture": [</a:t>
            </a:r>
          </a:p>
          <a:p xmlns:a="http://schemas.openxmlformats.org/drawingml/2006/main">
            <a:r>
              <a:t>      "수문·기상 자료",</a:t>
            </a:r>
          </a:p>
          <a:p xmlns:a="http://schemas.openxmlformats.org/drawingml/2006/main">
            <a:r>
              <a:t>      "홍수 예측 모델",</a:t>
            </a:r>
          </a:p>
          <a:p xmlns:a="http://schemas.openxmlformats.org/drawingml/2006/main">
            <a:r>
              <a:t>      "하천·예측 이력",</a:t>
            </a:r>
          </a:p>
          <a:p xmlns:a="http://schemas.openxmlformats.org/drawingml/2006/main">
            <a:r>
              <a:t>      "지역 대응 담당"</a:t>
            </a:r>
          </a:p>
          <a:p xmlns:a="http://schemas.openxmlformats.org/drawingml/2006/main">
            <a:r>
              <a:t>    ],</a:t>
            </a:r>
          </a:p>
          <a:p xmlns:a="http://schemas.openxmlformats.org/drawingml/2006/main">
            <a:r>
              <a:t>    "transfers": [</a:t>
            </a:r>
          </a:p>
          <a:p xmlns:a="http://schemas.openxmlformats.org/drawingml/2006/main">
            <a:r>
              <a:t>      "강수·유량",</a:t>
            </a:r>
          </a:p>
          <a:p xmlns:a="http://schemas.openxmlformats.org/drawingml/2006/main">
            <a:r>
              <a:t>      "시간별 예측",</a:t>
            </a:r>
          </a:p>
          <a:p xmlns:a="http://schemas.openxmlformats.org/drawingml/2006/main">
            <a:r>
              <a:t>      "위험·예상 시점",</a:t>
            </a:r>
          </a:p>
          <a:p xmlns:a="http://schemas.openxmlformats.org/drawingml/2006/main">
            <a:r>
              <a:t>      "현장 대응 판단"</a:t>
            </a:r>
          </a:p>
          <a:p xmlns:a="http://schemas.openxmlformats.org/drawingml/2006/main">
            <a:r>
              <a:t>    ],</a:t>
            </a:r>
          </a:p>
          <a:p xmlns:a="http://schemas.openxmlformats.org/drawingml/2006/main">
            <a:r>
              <a:t>    "control": "지역별 오탐·미탐과 선행시간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홍수 예측 · Nature 연구 / 2024 https://research.google/pubs/ai-increases-global-access-to-reliable-flood-forecasts-2/</a:t>
            </a:r>
          </a:p>
          <a:p xmlns:a="http://schemas.openxmlformats.org/drawingml/2006/main">
            <a:r>
              <a:t>홈페이지 https://heen1987-ops.github.io/TS-business-Plan-001/index.html?view=casebook&amp;case=AX12</a:t>
            </a:r>
          </a:p>
          <a:p xmlns:a="http://schemas.openxmlformats.org/drawingml/2006/main">
            <a:r>
              <a:t>한계: 논문의 하천 홍수 평가 범위 · 모든 재난 예측 성능으로 확대 불가</a:t>
            </a:r>
          </a:p>
          <a:p xmlns:a="http://schemas.openxmlformats.org/drawingml/2006/main">
            <a:r>
              <a:t>실패 위험: 관측 분포·지역별 불확실성 / 경보 정확도와 실제 대응 효과의 차이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"AX12",</a:t>
            </a:r>
          </a:p>
          <a:p xmlns:a="http://schemas.openxmlformats.org/drawingml/2006/main">
            <a:r>
              <a:t>    "title": "Google 홍수 예측",</a:t>
            </a:r>
          </a:p>
          <a:p xmlns:a="http://schemas.openxmlformats.org/drawingml/2006/main">
            <a:r>
              <a:t>    "region": "해외",</a:t>
            </a:r>
          </a:p>
          <a:p xmlns:a="http://schemas.openxmlformats.org/drawingml/2006/main">
            <a:r>
              <a:t>    "country": "다국가",</a:t>
            </a:r>
          </a:p>
          <a:p xmlns:a="http://schemas.openxmlformats.org/drawingml/2006/main">
            <a:r>
              <a:t>    "result": "성공",</a:t>
            </a:r>
          </a:p>
          <a:p xmlns:a="http://schemas.openxmlformats.org/drawingml/2006/main">
            <a:r>
              <a:t>    "kind": "수문 위험 예측",</a:t>
            </a:r>
          </a:p>
          <a:p xmlns:a="http://schemas.openxmlformats.org/drawingml/2006/main">
            <a:r>
              <a:t>    "period": "2024 연구·운영",</a:t>
            </a:r>
          </a:p>
          <a:p xmlns:a="http://schemas.openxmlformats.org/drawingml/2006/main">
            <a:r>
              <a:t>    "sources": [</a:t>
            </a:r>
          </a:p>
          <a:p xmlns:a="http://schemas.openxmlformats.org/drawingml/2006/main">
            <a:r>
              <a:t>      "S-AX12"</a:t>
            </a:r>
          </a:p>
          <a:p xmlns:a="http://schemas.openxmlformats.org/drawingml/2006/main">
            <a:r>
              <a:t>    ],</a:t>
            </a:r>
          </a:p>
          <a:p xmlns:a="http://schemas.openxmlformats.org/drawingml/2006/main">
            <a:r>
              <a:t>    "keywords": [</a:t>
            </a:r>
          </a:p>
          <a:p xmlns:a="http://schemas.openxmlformats.org/drawingml/2006/main">
            <a:r>
              <a:t>      "수문 위험 예측"</a:t>
            </a:r>
          </a:p>
          <a:p xmlns:a="http://schemas.openxmlformats.org/drawingml/2006/main">
            <a:r>
              <a:t>    ],</a:t>
            </a:r>
          </a:p>
          <a:p xmlns:a="http://schemas.openxmlformats.org/drawingml/2006/main">
            <a:r>
              <a:t>    "fact": "관측이 부족한 하천까지 확장한 AI 홍수 예측의 비교 평가와 서비스 적용",</a:t>
            </a:r>
          </a:p>
          <a:p xmlns:a="http://schemas.openxmlformats.org/drawingml/2006/main">
            <a:r>
              <a:t>    "limit": "논문의 하천 홍수 평가 범위 · 모든 재난 예측 성능으로 확대 불가",</a:t>
            </a:r>
          </a:p>
          <a:p xmlns:a="http://schemas.openxmlformats.org/drawingml/2006/main">
            <a:r>
              <a:t>    "flow": [</a:t>
            </a:r>
          </a:p>
          <a:p xmlns:a="http://schemas.openxmlformats.org/drawingml/2006/main">
            <a:r>
              <a:t>      "수문·기상 입력",</a:t>
            </a:r>
          </a:p>
          <a:p xmlns:a="http://schemas.openxmlformats.org/drawingml/2006/main">
            <a:r>
              <a:t>      "예측 모델",</a:t>
            </a:r>
          </a:p>
          <a:p xmlns:a="http://schemas.openxmlformats.org/drawingml/2006/main">
            <a:r>
              <a:t>      "위험·시점 안내",</a:t>
            </a:r>
          </a:p>
          <a:p xmlns:a="http://schemas.openxmlformats.org/drawingml/2006/main">
            <a:r>
              <a:t>      "현장 대응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"예측 불확실성과 대응 책임의 동시 관리",</a:t>
            </a:r>
          </a:p>
          <a:p xmlns:a="http://schemas.openxmlformats.org/drawingml/2006/main">
            <a:r>
              <a:t>    "local": "교통시설 위험 알림과 관할 점검 조치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"시설·위험 등급·대응 절차·조치기한 매핑",</a:t>
            </a:r>
          </a:p>
          <a:p xmlns:a="http://schemas.openxmlformats.org/drawingml/2006/main">
            <a:r>
              <a:t>    "test": "지역·계절 분리 평가와 오경보·미탐 점검",</a:t>
            </a:r>
          </a:p>
          <a:p xmlns:a="http://schemas.openxmlformats.org/drawingml/2006/main">
            <a:r>
              <a:t>    "metric": "경보 선행시간 / 미조치 건수",</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"ST-11"</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"AX12",</a:t>
            </a:r>
          </a:p>
          <a:p xmlns:a="http://schemas.openxmlformats.org/drawingml/2006/main">
            <a:r>
              <a:t>    "canonicalId": "AX12",</a:t>
            </a:r>
          </a:p>
          <a:p xmlns:a="http://schemas.openxmlformats.org/drawingml/2006/main">
            <a:r>
              <a:t>    "purpose": "관측이 부족한 하천의 홍수 위험 예측",</a:t>
            </a:r>
          </a:p>
          <a:p xmlns:a="http://schemas.openxmlformats.org/drawingml/2006/main">
            <a:r>
              <a:t>    "users": "예보 운영자·방재 담당·주민",</a:t>
            </a:r>
          </a:p>
          <a:p xmlns:a="http://schemas.openxmlformats.org/drawingml/2006/main">
            <a:r>
              <a:t>    "scope": [</a:t>
            </a:r>
          </a:p>
          <a:p xmlns:a="http://schemas.openxmlformats.org/drawingml/2006/main">
            <a:r>
              <a:t>      "수문 예측",</a:t>
            </a:r>
          </a:p>
          <a:p xmlns:a="http://schemas.openxmlformats.org/drawingml/2006/main">
            <a:r>
              <a:t>      "위험 정보",</a:t>
            </a:r>
          </a:p>
          <a:p xmlns:a="http://schemas.openxmlformats.org/drawingml/2006/main">
            <a:r>
              <a:t>      "알림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"수문·기상 자료",</a:t>
            </a:r>
          </a:p>
          <a:p xmlns:a="http://schemas.openxmlformats.org/drawingml/2006/main">
            <a:r>
              <a:t>        "detail": "유역·예측시점·대상 지역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"수문 예측 / 위험 정보 / 알림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"홍수 예측 모델",</a:t>
            </a:r>
          </a:p>
          <a:p xmlns:a="http://schemas.openxmlformats.org/drawingml/2006/main">
            <a:r>
              <a:t>        "detail": "수문 입력을 활용한 범위별 위험 예측",</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"지역 대응 담당",</a:t>
            </a:r>
          </a:p>
          <a:p xmlns:a="http://schemas.openxmlformats.org/drawingml/2006/main">
            <a:r>
              <a:t>        "detail": "위험 지역·시점 정보를 공식 대응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"하천·예측 이력",</a:t>
            </a:r>
          </a:p>
          <a:p xmlns:a="http://schemas.openxmlformats.org/drawingml/2006/main">
            <a:r>
              <a:t>        "detail": "유역 특성·관측·기상자료의 시간·공간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"미탐·과경보와 지역별 오차의 사후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"수문·기상 입력",</a:t>
            </a:r>
          </a:p>
          <a:p xmlns:a="http://schemas.openxmlformats.org/drawingml/2006/main">
            <a:r>
              <a:t>        "input": "유역·예측시점·대상 지역 지정",</a:t>
            </a:r>
          </a:p>
          <a:p xmlns:a="http://schemas.openxmlformats.org/drawingml/2006/main">
            <a:r>
              <a:t>        "process": "유역 특성·관측·기상자료의 시간·공간 정합화",</a:t>
            </a:r>
          </a:p>
          <a:p xmlns:a="http://schemas.openxmlformats.org/drawingml/2006/main">
            <a:r>
              <a:t>        "output": "강수·유량"</a:t>
            </a:r>
          </a:p>
          <a:p xmlns:a="http://schemas.openxmlformats.org/drawingml/2006/main">
            <a:r>
              <a:t>      },</a:t>
            </a:r>
          </a:p>
          <a:p xmlns:a="http://schemas.openxmlformats.org/drawingml/2006/main">
            <a:r>
              <a:t>      {</a:t>
            </a:r>
          </a:p>
          <a:p xmlns:a="http://schemas.openxmlformats.org/drawingml/2006/main">
            <a:r>
              <a:t>        "title": "예측 모델",</a:t>
            </a:r>
          </a:p>
          <a:p xmlns:a="http://schemas.openxmlformats.org/drawingml/2006/main">
            <a:r>
              <a:t>        "input": "강수·유량",</a:t>
            </a:r>
          </a:p>
          <a:p xmlns:a="http://schemas.openxmlformats.org/drawingml/2006/main">
            <a:r>
              <a:t>        "process": "수문 입력을 활용한 범위별 위험 예측",</a:t>
            </a:r>
          </a:p>
          <a:p xmlns:a="http://schemas.openxmlformats.org/drawingml/2006/main">
            <a:r>
              <a:t>        "output": "시간별 예측"</a:t>
            </a:r>
          </a:p>
          <a:p xmlns:a="http://schemas.openxmlformats.org/drawingml/2006/main">
            <a:r>
              <a:t>      },</a:t>
            </a:r>
          </a:p>
          <a:p xmlns:a="http://schemas.openxmlformats.org/drawingml/2006/main">
            <a:r>
              <a:t>      {</a:t>
            </a:r>
          </a:p>
          <a:p xmlns:a="http://schemas.openxmlformats.org/drawingml/2006/main">
            <a:r>
              <a:t>        "title": "위험·시점 안내",</a:t>
            </a:r>
          </a:p>
          <a:p xmlns:a="http://schemas.openxmlformats.org/drawingml/2006/main">
            <a:r>
              <a:t>        "input": "시간별 예측",</a:t>
            </a:r>
          </a:p>
          <a:p xmlns:a="http://schemas.openxmlformats.org/drawingml/2006/main">
            <a:r>
              <a:t>        "process": "지역별 오탐·미탐과 선행시간 평가",</a:t>
            </a:r>
          </a:p>
          <a:p xmlns:a="http://schemas.openxmlformats.org/drawingml/2006/main">
            <a:r>
              <a:t>        "output": "위험·예상 시점"</a:t>
            </a:r>
          </a:p>
          <a:p xmlns:a="http://schemas.openxmlformats.org/drawingml/2006/main">
            <a:r>
              <a:t>      },</a:t>
            </a:r>
          </a:p>
          <a:p xmlns:a="http://schemas.openxmlformats.org/drawingml/2006/main">
            <a:r>
              <a:t>      {</a:t>
            </a:r>
          </a:p>
          <a:p xmlns:a="http://schemas.openxmlformats.org/drawingml/2006/main">
            <a:r>
              <a:t>        "title": "현장 대응 검토",</a:t>
            </a:r>
          </a:p>
          <a:p xmlns:a="http://schemas.openxmlformats.org/drawingml/2006/main">
            <a:r>
              <a:t>        "input": "위험·예상 시점",</a:t>
            </a:r>
          </a:p>
          <a:p xmlns:a="http://schemas.openxmlformats.org/drawingml/2006/main">
            <a:r>
              <a:t>        "process": "위험 지역·시점 정보를 공식 대응 검토에 전달",</a:t>
            </a:r>
          </a:p>
          <a:p xmlns:a="http://schemas.openxmlformats.org/drawingml/2006/main">
            <a:r>
              <a:t>        "output": "현장 대응 판단"</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"유역별 예측 위험을 지역별 대응 검토에 제공",</a:t>
            </a:r>
          </a:p>
          <a:p xmlns:a="http://schemas.openxmlformats.org/drawingml/2006/main">
            <a:r>
              <a:t>      "exception": "관측 결측·분포가 다른 유역·예측시점 이후 자료 혼입",</a:t>
            </a:r>
          </a:p>
          <a:p xmlns:a="http://schemas.openxmlformats.org/drawingml/2006/main">
            <a:r>
              <a:t>      "evidence": "시점 분리 평가와 유역별 미탐·과경보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"예보 운영자·방재 담당·주민",</a:t>
            </a:r>
          </a:p>
          <a:p xmlns:a="http://schemas.openxmlformats.org/drawingml/2006/main">
            <a:r>
              <a:t>          "processing": "유역·예측시점·대상 지역 지정",</a:t>
            </a:r>
          </a:p>
          <a:p xmlns:a="http://schemas.openxmlformats.org/drawingml/2006/main">
            <a:r>
              <a:t>          "output": "강수·유량"</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"하천·예측 이력",</a:t>
            </a:r>
          </a:p>
          <a:p xmlns:a="http://schemas.openxmlformats.org/drawingml/2006/main">
            <a:r>
              <a:t>          "processing": "유역 특성·관측·기상자료의 시간·공간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"강수·유량",</a:t>
            </a:r>
          </a:p>
          <a:p xmlns:a="http://schemas.openxmlformats.org/drawingml/2006/main">
            <a:r>
              <a:t>          "processing": "수문 입력을 활용한 범위별 위험 예측",</a:t>
            </a:r>
          </a:p>
          <a:p xmlns:a="http://schemas.openxmlformats.org/drawingml/2006/main">
            <a:r>
              <a:t>          "output": "위험·예상 시점"</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"위험·예상 시점",</a:t>
            </a:r>
          </a:p>
          <a:p xmlns:a="http://schemas.openxmlformats.org/drawingml/2006/main">
            <a:r>
              <a:t>          "processing": "위험 지역·시점 정보를 공식 대응 검토에 전달",</a:t>
            </a:r>
          </a:p>
          <a:p xmlns:a="http://schemas.openxmlformats.org/drawingml/2006/main">
            <a:r>
              <a:t>          "output": "현장 대응 판단"</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"미탐·과경보와 지역별 오차의 사후 분석",</a:t>
            </a:r>
          </a:p>
          <a:p xmlns:a="http://schemas.openxmlformats.org/drawingml/2006/main">
            <a:r>
              <a:t>          "output": "시점 분리 평가와 유역별 미탐·과경보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"미탐·과경보와 지역별 오차의 사후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"S-AX12",</a:t>
            </a:r>
          </a:p>
          <a:p xmlns:a="http://schemas.openxmlformats.org/drawingml/2006/main">
            <a:r>
              <a:t>        "title": "Google 홍수 예측 · Nature 연구 / 2024",</a:t>
            </a:r>
          </a:p>
          <a:p xmlns:a="http://schemas.openxmlformats.org/drawingml/2006/main">
            <a:r>
              <a:t>        "url": "https://research.google/pubs/ai-increases-global-access-to-reliable-flood-forecasts-2/",</a:t>
            </a:r>
          </a:p>
          <a:p xmlns:a="http://schemas.openxmlformats.org/drawingml/2006/main">
            <a:r>
              <a:t>        "published": "2024 연구·운영",</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"예측 불확실성과 대응 책임의 동시 관리",</a:t>
            </a:r>
          </a:p>
          <a:p xmlns:a="http://schemas.openxmlformats.org/drawingml/2006/main">
            <a:r>
              <a:t>    "local": "교통시설 위험 알림과 관할 점검 조치 연결",</a:t>
            </a:r>
          </a:p>
          <a:p xmlns:a="http://schemas.openxmlformats.org/drawingml/2006/main">
            <a:r>
              <a:t>    "sourceDetail": null,</a:t>
            </a:r>
          </a:p>
          <a:p xmlns:a="http://schemas.openxmlformats.org/drawingml/2006/main">
            <a:r>
              <a:t>    "narrative": [</a:t>
            </a:r>
          </a:p>
          <a:p xmlns:a="http://schemas.openxmlformats.org/drawingml/2006/main">
            <a:r>
              <a:t>      "관측 자료가 부족한 지역까지 홍수 예측 정보를 제공하려는 사례. 예측 모델의 지역 일반화와 주민·대응기관의 실제 행동을 연결하는 단계가 별도 과제.",</a:t>
            </a:r>
          </a:p>
          <a:p xmlns:a="http://schemas.openxmlformats.org/drawingml/2006/main">
            <a:r>
              <a:t>      "유역 특성·강수·유량을 시간·공간 단위로 정합화하고 위험 지역·예상 시점을 산출하는 구조. TS 적용 설계에서는 기상·재난 위험을 교통시설·운행 업무와 연결해 담당자의 대응 검토를 지원.",</a:t>
            </a:r>
          </a:p>
          <a:p xmlns:a="http://schemas.openxmlformats.org/drawingml/2006/main">
            <a:r>
              <a:t>      "예측 정확도와 사고 예방 효과의 분리. 지역별 미탐·과경보·선행시간, 경보 수신과 조치 완료를 함께 평가하며 관측 부족 구간의 불확실성을 보존할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"예측 대상 지정",</a:t>
            </a:r>
          </a:p>
          <a:p xmlns:a="http://schemas.openxmlformats.org/drawingml/2006/main">
            <a:r>
              <a:t>          "layer": "이용 접점",</a:t>
            </a:r>
          </a:p>
          <a:p xmlns:a="http://schemas.openxmlformats.org/drawingml/2006/main">
            <a:r>
              <a:t>          "detail": "예보 운영자·방재 담당·주민",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"유역·예측시점",</a:t>
            </a:r>
          </a:p>
          <a:p xmlns:a="http://schemas.openxmlformats.org/drawingml/2006/main">
            <a:r>
              <a:t>          "layer": "업무 문맥",</a:t>
            </a:r>
          </a:p>
          <a:p xmlns:a="http://schemas.openxmlformats.org/drawingml/2006/main">
            <a:r>
              <a:t>          "detail": "유역·예측시점·대상 지역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"기상·수문 조회",</a:t>
            </a:r>
          </a:p>
          <a:p xmlns:a="http://schemas.openxmlformats.org/drawingml/2006/main">
            <a:r>
              <a:t>          "layer": "자료 조회",</a:t>
            </a:r>
          </a:p>
          <a:p xmlns:a="http://schemas.openxmlformats.org/drawingml/2006/main">
            <a:r>
              <a:t>          "detail": "강수·유량",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"홍수 위험 예측",</a:t>
            </a:r>
          </a:p>
          <a:p xmlns:a="http://schemas.openxmlformats.org/drawingml/2006/main">
            <a:r>
              <a:t>          "layer": "핵심 처리",</a:t>
            </a:r>
          </a:p>
          <a:p xmlns:a="http://schemas.openxmlformats.org/drawingml/2006/main">
            <a:r>
              <a:t>          "detail": "수문 입력을 활용한 범위별 위험 예측",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"지역별 오차 검사",</a:t>
            </a:r>
          </a:p>
          <a:p xmlns:a="http://schemas.openxmlformats.org/drawingml/2006/main">
            <a:r>
              <a:t>          "layer": "결과 검증",</a:t>
            </a:r>
          </a:p>
          <a:p xmlns:a="http://schemas.openxmlformats.org/drawingml/2006/main">
            <a:r>
              <a:t>          "detail": "지역별 오탐·미탐과 선행시간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"예보 담당 판단",</a:t>
            </a:r>
          </a:p>
          <a:p xmlns:a="http://schemas.openxmlformats.org/drawingml/2006/main">
            <a:r>
              <a:t>          "layer": "사람 확인",</a:t>
            </a:r>
          </a:p>
          <a:p xmlns:a="http://schemas.openxmlformats.org/drawingml/2006/main">
            <a:r>
              <a:t>          "detail": "유역별 예측 위험을 지역별 대응 검토에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"경보·대응 연결",</a:t>
            </a:r>
          </a:p>
          <a:p xmlns:a="http://schemas.openxmlformats.org/drawingml/2006/main">
            <a:r>
              <a:t>          "layer": "업무 연결",</a:t>
            </a:r>
          </a:p>
          <a:p xmlns:a="http://schemas.openxmlformats.org/drawingml/2006/main">
            <a:r>
              <a:t>          "detail": "위험 지역·시점 정보를 공식 대응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"미탐·과경보 분석",</a:t>
            </a:r>
          </a:p>
          <a:p xmlns:a="http://schemas.openxmlformats.org/drawingml/2006/main">
            <a:r>
              <a:t>          "layer": "운영 관측",</a:t>
            </a:r>
          </a:p>
          <a:p xmlns:a="http://schemas.openxmlformats.org/drawingml/2006/main">
            <a:r>
              <a:t>          "detail": "미탐·과경보와 지역별 오차의 사후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"유역·관측 자료",</a:t>
            </a:r>
          </a:p>
          <a:p xmlns:a="http://schemas.openxmlformats.org/drawingml/2006/main">
            <a:r>
              <a:t>          "layer": "데이터 원천",</a:t>
            </a:r>
          </a:p>
          <a:p xmlns:a="http://schemas.openxmlformats.org/drawingml/2006/main">
            <a:r>
              <a:t>          "detail": "하천·예측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"시간·공간 정합화",</a:t>
            </a:r>
          </a:p>
          <a:p xmlns:a="http://schemas.openxmlformats.org/drawingml/2006/main">
            <a:r>
              <a:t>          "layer": "준비·갱신",</a:t>
            </a:r>
          </a:p>
          <a:p xmlns:a="http://schemas.openxmlformats.org/drawingml/2006/main">
            <a:r>
              <a:t>          "detail": "유역 특성·관측·기상자료의 시간·공간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"예측·관측 이력",</a:t>
            </a:r>
          </a:p>
          <a:p xmlns:a="http://schemas.openxmlformats.org/drawingml/2006/main">
            <a:r>
              <a:t>          "layer": "상태·지식 저장",</a:t>
            </a:r>
          </a:p>
          <a:p xmlns:a="http://schemas.openxmlformats.org/drawingml/2006/main">
            <a:r>
              <a:t>          "detail": "시점 분리 평가와 유역별 미탐·과경보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"경보·대응 기준",</a:t>
            </a:r>
          </a:p>
          <a:p xmlns:a="http://schemas.openxmlformats.org/drawingml/2006/main">
            <a:r>
              <a:t>          "layer": "권한·정책",</a:t>
            </a:r>
          </a:p>
          <a:p xmlns:a="http://schemas.openxmlformats.org/drawingml/2006/main">
            <a:r>
              <a:t>          "detail": "관측 결측·분포가 다른 유역·예측시점 이후 자료 혼입",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"수문·기상 입력 → 예측 모델 → 위험·시점 안내 → 현장 대응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"하천·예측 이력",</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"시간별 예측",</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"위험·예상 시점",</a:t>
            </a:r>
          </a:p>
          <a:p xmlns:a="http://schemas.openxmlformats.org/drawingml/2006/main">
            <a:r>
              <a:t>          "check": "시점 분리 평가와 유역별 미탐·과경보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"위험·예상 시점",</a:t>
            </a:r>
          </a:p>
          <a:p xmlns:a="http://schemas.openxmlformats.org/drawingml/2006/main">
            <a:r>
              <a:t>          "check": "지역별 오탐·미탐과 선행시간 평가"</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"현장 대응 판단",</a:t>
            </a:r>
          </a:p>
          <a:p xmlns:a="http://schemas.openxmlformats.org/drawingml/2006/main">
            <a:r>
              <a:t>          "check": "시점 분리 평가와 유역별 미탐·과경보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"관측이 부족한 하천의 홍수 위험 예측 / 수문 예측·위험 정보·알림 연결",</a:t>
            </a:r>
          </a:p>
          <a:p xmlns:a="http://schemas.openxmlformats.org/drawingml/2006/main">
            <a:r>
              <a:t>        "extension": "교통시설 위험 알림과 관할 점검 조치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"관측 결측·분포가 다른 유역·예측시점 이후 자료 혼입",</a:t>
            </a:r>
          </a:p>
          <a:p xmlns:a="http://schemas.openxmlformats.org/drawingml/2006/main">
            <a:r>
              <a:t>        "hold": "지역별 오탐·미탐과 선행시간 평가",</a:t>
            </a:r>
          </a:p>
          <a:p xmlns:a="http://schemas.openxmlformats.org/drawingml/2006/main">
            <a:r>
              <a:t>        "recovery": "미탐·과경보와 지역별 오차의 사후 분석",</a:t>
            </a:r>
          </a:p>
          <a:p xmlns:a="http://schemas.openxmlformats.org/drawingml/2006/main">
            <a:r>
              <a:t>        "evidence": "시점 분리 평가와 유역별 미탐·과경보 결과"</a:t>
            </a:r>
          </a:p>
          <a:p xmlns:a="http://schemas.openxmlformats.org/drawingml/2006/main">
            <a:r>
              <a:t>      },</a:t>
            </a:r>
          </a:p>
          <a:p xmlns:a="http://schemas.openxmlformats.org/drawingml/2006/main">
            <a:r>
              <a:t>      "data": {</a:t>
            </a:r>
          </a:p>
          <a:p xmlns:a="http://schemas.openxmlformats.org/drawingml/2006/main">
            <a:r>
              <a:t>        "source": "하천·예측 이력",</a:t>
            </a:r>
          </a:p>
          <a:p xmlns:a="http://schemas.openxmlformats.org/drawingml/2006/main">
            <a:r>
              <a:t>        "prepare": "유역 특성·관측·기상자료의 시간·공간 정합화",</a:t>
            </a:r>
          </a:p>
          <a:p xmlns:a="http://schemas.openxmlformats.org/drawingml/2006/main">
            <a:r>
              <a:t>        "output": "강수·유량",</a:t>
            </a:r>
          </a:p>
          <a:p xmlns:a="http://schemas.openxmlformats.org/drawingml/2006/main">
            <a:r>
              <a:t>        "refresh": "미탐·과경보와 지역별 오차의 사후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"AX12",</a:t>
            </a:r>
          </a:p>
          <a:p xmlns:a="http://schemas.openxmlformats.org/drawingml/2006/main">
            <a:r>
              <a:t>    "success": [</a:t>
            </a:r>
          </a:p>
          <a:p xmlns:a="http://schemas.openxmlformats.org/drawingml/2006/main">
            <a:r>
              <a:t>      "관측 부족 지역의 예측 범위 확대",</a:t>
            </a:r>
          </a:p>
          <a:p xmlns:a="http://schemas.openxmlformats.org/drawingml/2006/main">
            <a:r>
              <a:t>      "비교 평가를 통한 예측 검토"</a:t>
            </a:r>
          </a:p>
          <a:p xmlns:a="http://schemas.openxmlformats.org/drawingml/2006/main">
            <a:r>
              <a:t>    ],</a:t>
            </a:r>
          </a:p>
          <a:p xmlns:a="http://schemas.openxmlformats.org/drawingml/2006/main">
            <a:r>
              <a:t>    "risks": [</a:t>
            </a:r>
          </a:p>
          <a:p xmlns:a="http://schemas.openxmlformats.org/drawingml/2006/main">
            <a:r>
              <a:t>      "관측 분포·지역별 불확실성",</a:t>
            </a:r>
          </a:p>
          <a:p xmlns:a="http://schemas.openxmlformats.org/drawingml/2006/main">
            <a:r>
              <a:t>      "경보 정확도와 실제 대응 효과의 차이"</a:t>
            </a:r>
          </a:p>
          <a:p xmlns:a="http://schemas.openxmlformats.org/drawingml/2006/main">
            <a:r>
              <a:t>    ],</a:t>
            </a:r>
          </a:p>
          <a:p xmlns:a="http://schemas.openxmlformats.org/drawingml/2006/main">
            <a:r>
              <a:t>    "architecture": [</a:t>
            </a:r>
          </a:p>
          <a:p xmlns:a="http://schemas.openxmlformats.org/drawingml/2006/main">
            <a:r>
              <a:t>      "수문·기상 자료",</a:t>
            </a:r>
          </a:p>
          <a:p xmlns:a="http://schemas.openxmlformats.org/drawingml/2006/main">
            <a:r>
              <a:t>      "홍수 예측 모델",</a:t>
            </a:r>
          </a:p>
          <a:p xmlns:a="http://schemas.openxmlformats.org/drawingml/2006/main">
            <a:r>
              <a:t>      "하천·예측 이력",</a:t>
            </a:r>
          </a:p>
          <a:p xmlns:a="http://schemas.openxmlformats.org/drawingml/2006/main">
            <a:r>
              <a:t>      "지역 대응 담당"</a:t>
            </a:r>
          </a:p>
          <a:p xmlns:a="http://schemas.openxmlformats.org/drawingml/2006/main">
            <a:r>
              <a:t>    ],</a:t>
            </a:r>
          </a:p>
          <a:p xmlns:a="http://schemas.openxmlformats.org/drawingml/2006/main">
            <a:r>
              <a:t>    "transfers": [</a:t>
            </a:r>
          </a:p>
          <a:p xmlns:a="http://schemas.openxmlformats.org/drawingml/2006/main">
            <a:r>
              <a:t>      "강수·유량",</a:t>
            </a:r>
          </a:p>
          <a:p xmlns:a="http://schemas.openxmlformats.org/drawingml/2006/main">
            <a:r>
              <a:t>      "시간별 예측",</a:t>
            </a:r>
          </a:p>
          <a:p xmlns:a="http://schemas.openxmlformats.org/drawingml/2006/main">
            <a:r>
              <a:t>      "위험·예상 시점",</a:t>
            </a:r>
          </a:p>
          <a:p xmlns:a="http://schemas.openxmlformats.org/drawingml/2006/main">
            <a:r>
              <a:t>      "현장 대응 판단"</a:t>
            </a:r>
          </a:p>
          <a:p xmlns:a="http://schemas.openxmlformats.org/drawingml/2006/main">
            <a:r>
              <a:t>    ],</a:t>
            </a:r>
          </a:p>
          <a:p xmlns:a="http://schemas.openxmlformats.org/drawingml/2006/main">
            <a:r>
              <a:t>    "control": "지역별 오탐·미탐과 선행시간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홍수 예측 · Nature 연구 / 2024 https://research.google/pubs/ai-increases-global-access-to-reliable-flood-forecasts-2/</a:t>
            </a:r>
          </a:p>
          <a:p xmlns:a="http://schemas.openxmlformats.org/drawingml/2006/main">
            <a:r>
              <a:t>홈페이지 https://heen1987-ops.github.io/TS-business-Plan-001/index.html?view=casebook&amp;case=AX12</a:t>
            </a:r>
          </a:p>
          <a:p xmlns:a="http://schemas.openxmlformats.org/drawingml/2006/main">
            <a:r>
              <a:t>성과 대조</a:t>
            </a:r>
          </a:p>
          <a:p xmlns:a="http://schemas.openxmlformats.org/drawingml/2006/main">
            <a:r>
              <a:t>{</a:t>
            </a:r>
          </a:p>
          <a:p xmlns:a="http://schemas.openxmlformats.org/drawingml/2006/main">
            <a:r>
              <a:t>  "caseId": "AX12",</a:t>
            </a:r>
          </a:p>
          <a:p xmlns:a="http://schemas.openxmlformats.org/drawingml/2006/main">
            <a:r>
              <a:t>  "asIs": "관측소가 부족한 하천에서 기존 수문 예측 모델의 적용·경보 도달 범위 제한",</a:t>
            </a:r>
          </a:p>
          <a:p xmlns:a="http://schemas.openxmlformats.org/drawingml/2006/main">
            <a:r>
              <a:t>  "toBe": "관측·기상 정보를 학습한 AI 예측을 미관측 하천에도 확장해 조기 홍수 경보",</a:t>
            </a:r>
          </a:p>
          <a:p xmlns:a="http://schemas.openxmlformats.org/drawingml/2006/main">
            <a:r>
              <a:t>  "expectedEffect": "예보 선행시간·공간 범위 확대와 현장 대비 지원",</a:t>
            </a:r>
          </a:p>
          <a:p xmlns:a="http://schemas.openxmlformats.org/drawingml/2006/main">
            <a:r>
              <a:t>  "observed": "Google 연구 논문이 미관측 하천 비교 평가와 글로벌 예보 서비스 확장을 보고",</a:t>
            </a:r>
          </a:p>
          <a:p xmlns:a="http://schemas.openxmlformats.org/drawingml/2006/main">
            <a:r>
              <a:t>  "verdict": "부분 성과",</a:t>
            </a:r>
          </a:p>
          <a:p xmlns:a="http://schemas.openxmlformats.org/drawingml/2006/main">
            <a:r>
              <a:t>  "verdictReason": "논문 범위의 예측 비교 성능과 제공 확대는 확인; 실제 피해 감소의 인과효과는 별도",</a:t>
            </a:r>
          </a:p>
          <a:p xmlns:a="http://schemas.openxmlformats.org/drawingml/2006/main">
            <a:r>
              <a:t>  "limits": "하천 홍수 예측 연구·운영 범위. 모든 재난 또는 TS 시설 위험 예측 성능으로 확대 불가",</a:t>
            </a:r>
          </a:p>
          <a:p xmlns:a="http://schemas.openxmlformats.org/drawingml/2006/main">
            <a:r>
              <a:t>  "evidenceStage": "동료심사 연구·서비스 적용 소개",</a:t>
            </a:r>
          </a:p>
          <a:p xmlns:a="http://schemas.openxmlformats.org/drawingml/2006/main">
            <a:r>
              <a:t>  "sourceUrl": "https://research.google/pubs/ai-increases-global-access-to-reliable-flood-forecasts-2/"</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"AX12",</a:t>
            </a:r>
          </a:p>
          <a:p xmlns:a="http://schemas.openxmlformats.org/drawingml/2006/main">
            <a:r>
              <a:t>    "title": "Google 홍수 예측",</a:t>
            </a:r>
          </a:p>
          <a:p xmlns:a="http://schemas.openxmlformats.org/drawingml/2006/main">
            <a:r>
              <a:t>    "region": "해외",</a:t>
            </a:r>
          </a:p>
          <a:p xmlns:a="http://schemas.openxmlformats.org/drawingml/2006/main">
            <a:r>
              <a:t>    "country": "다국가",</a:t>
            </a:r>
          </a:p>
          <a:p xmlns:a="http://schemas.openxmlformats.org/drawingml/2006/main">
            <a:r>
              <a:t>    "result": "성공",</a:t>
            </a:r>
          </a:p>
          <a:p xmlns:a="http://schemas.openxmlformats.org/drawingml/2006/main">
            <a:r>
              <a:t>    "kind": "수문 위험 예측",</a:t>
            </a:r>
          </a:p>
          <a:p xmlns:a="http://schemas.openxmlformats.org/drawingml/2006/main">
            <a:r>
              <a:t>    "period": "2024 연구·운영",</a:t>
            </a:r>
          </a:p>
          <a:p xmlns:a="http://schemas.openxmlformats.org/drawingml/2006/main">
            <a:r>
              <a:t>    "sources": [</a:t>
            </a:r>
          </a:p>
          <a:p xmlns:a="http://schemas.openxmlformats.org/drawingml/2006/main">
            <a:r>
              <a:t>      "S-AX12"</a:t>
            </a:r>
          </a:p>
          <a:p xmlns:a="http://schemas.openxmlformats.org/drawingml/2006/main">
            <a:r>
              <a:t>    ],</a:t>
            </a:r>
          </a:p>
          <a:p xmlns:a="http://schemas.openxmlformats.org/drawingml/2006/main">
            <a:r>
              <a:t>    "keywords": [</a:t>
            </a:r>
          </a:p>
          <a:p xmlns:a="http://schemas.openxmlformats.org/drawingml/2006/main">
            <a:r>
              <a:t>      "수문 위험 예측"</a:t>
            </a:r>
          </a:p>
          <a:p xmlns:a="http://schemas.openxmlformats.org/drawingml/2006/main">
            <a:r>
              <a:t>    ],</a:t>
            </a:r>
          </a:p>
          <a:p xmlns:a="http://schemas.openxmlformats.org/drawingml/2006/main">
            <a:r>
              <a:t>    "fact": "관측이 부족한 하천까지 확장한 AI 홍수 예측의 비교 평가와 서비스 적용",</a:t>
            </a:r>
          </a:p>
          <a:p xmlns:a="http://schemas.openxmlformats.org/drawingml/2006/main">
            <a:r>
              <a:t>    "limit": "논문의 하천 홍수 평가 범위 · 모든 재난 예측 성능으로 확대 불가",</a:t>
            </a:r>
          </a:p>
          <a:p xmlns:a="http://schemas.openxmlformats.org/drawingml/2006/main">
            <a:r>
              <a:t>    "flow": [</a:t>
            </a:r>
          </a:p>
          <a:p xmlns:a="http://schemas.openxmlformats.org/drawingml/2006/main">
            <a:r>
              <a:t>      "수문·기상 입력",</a:t>
            </a:r>
          </a:p>
          <a:p xmlns:a="http://schemas.openxmlformats.org/drawingml/2006/main">
            <a:r>
              <a:t>      "예측 모델",</a:t>
            </a:r>
          </a:p>
          <a:p xmlns:a="http://schemas.openxmlformats.org/drawingml/2006/main">
            <a:r>
              <a:t>      "위험·시점 안내",</a:t>
            </a:r>
          </a:p>
          <a:p xmlns:a="http://schemas.openxmlformats.org/drawingml/2006/main">
            <a:r>
              <a:t>      "현장 대응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"예측 불확실성과 대응 책임의 동시 관리",</a:t>
            </a:r>
          </a:p>
          <a:p xmlns:a="http://schemas.openxmlformats.org/drawingml/2006/main">
            <a:r>
              <a:t>    "local": "교통시설 위험 알림과 관할 점검 조치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"시설·위험 등급·대응 절차·조치기한 매핑",</a:t>
            </a:r>
          </a:p>
          <a:p xmlns:a="http://schemas.openxmlformats.org/drawingml/2006/main">
            <a:r>
              <a:t>    "test": "지역·계절 분리 평가와 오경보·미탐 점검",</a:t>
            </a:r>
          </a:p>
          <a:p xmlns:a="http://schemas.openxmlformats.org/drawingml/2006/main">
            <a:r>
              <a:t>    "metric": "경보 선행시간 / 미조치 건수",</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"ST-11"</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"AX12",</a:t>
            </a:r>
          </a:p>
          <a:p xmlns:a="http://schemas.openxmlformats.org/drawingml/2006/main">
            <a:r>
              <a:t>    "canonicalId": "AX12",</a:t>
            </a:r>
          </a:p>
          <a:p xmlns:a="http://schemas.openxmlformats.org/drawingml/2006/main">
            <a:r>
              <a:t>    "purpose": "관측이 부족한 하천의 홍수 위험 예측",</a:t>
            </a:r>
          </a:p>
          <a:p xmlns:a="http://schemas.openxmlformats.org/drawingml/2006/main">
            <a:r>
              <a:t>    "users": "예보 운영자·방재 담당·주민",</a:t>
            </a:r>
          </a:p>
          <a:p xmlns:a="http://schemas.openxmlformats.org/drawingml/2006/main">
            <a:r>
              <a:t>    "scope": [</a:t>
            </a:r>
          </a:p>
          <a:p xmlns:a="http://schemas.openxmlformats.org/drawingml/2006/main">
            <a:r>
              <a:t>      "수문 예측",</a:t>
            </a:r>
          </a:p>
          <a:p xmlns:a="http://schemas.openxmlformats.org/drawingml/2006/main">
            <a:r>
              <a:t>      "위험 정보",</a:t>
            </a:r>
          </a:p>
          <a:p xmlns:a="http://schemas.openxmlformats.org/drawingml/2006/main">
            <a:r>
              <a:t>      "알림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"수문·기상 자료",</a:t>
            </a:r>
          </a:p>
          <a:p xmlns:a="http://schemas.openxmlformats.org/drawingml/2006/main">
            <a:r>
              <a:t>        "detail": "유역·예측시점·대상 지역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"수문 예측 / 위험 정보 / 알림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"홍수 예측 모델",</a:t>
            </a:r>
          </a:p>
          <a:p xmlns:a="http://schemas.openxmlformats.org/drawingml/2006/main">
            <a:r>
              <a:t>        "detail": "수문 입력을 활용한 범위별 위험 예측",</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"지역 대응 담당",</a:t>
            </a:r>
          </a:p>
          <a:p xmlns:a="http://schemas.openxmlformats.org/drawingml/2006/main">
            <a:r>
              <a:t>        "detail": "위험 지역·시점 정보를 공식 대응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"하천·예측 이력",</a:t>
            </a:r>
          </a:p>
          <a:p xmlns:a="http://schemas.openxmlformats.org/drawingml/2006/main">
            <a:r>
              <a:t>        "detail": "유역 특성·관측·기상자료의 시간·공간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"미탐·과경보와 지역별 오차의 사후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"수문·기상 입력",</a:t>
            </a:r>
          </a:p>
          <a:p xmlns:a="http://schemas.openxmlformats.org/drawingml/2006/main">
            <a:r>
              <a:t>        "input": "유역·예측시점·대상 지역 지정",</a:t>
            </a:r>
          </a:p>
          <a:p xmlns:a="http://schemas.openxmlformats.org/drawingml/2006/main">
            <a:r>
              <a:t>        "process": "유역 특성·관측·기상자료의 시간·공간 정합화",</a:t>
            </a:r>
          </a:p>
          <a:p xmlns:a="http://schemas.openxmlformats.org/drawingml/2006/main">
            <a:r>
              <a:t>        "output": "강수·유량"</a:t>
            </a:r>
          </a:p>
          <a:p xmlns:a="http://schemas.openxmlformats.org/drawingml/2006/main">
            <a:r>
              <a:t>      },</a:t>
            </a:r>
          </a:p>
          <a:p xmlns:a="http://schemas.openxmlformats.org/drawingml/2006/main">
            <a:r>
              <a:t>      {</a:t>
            </a:r>
          </a:p>
          <a:p xmlns:a="http://schemas.openxmlformats.org/drawingml/2006/main">
            <a:r>
              <a:t>        "title": "예측 모델",</a:t>
            </a:r>
          </a:p>
          <a:p xmlns:a="http://schemas.openxmlformats.org/drawingml/2006/main">
            <a:r>
              <a:t>        "input": "강수·유량",</a:t>
            </a:r>
          </a:p>
          <a:p xmlns:a="http://schemas.openxmlformats.org/drawingml/2006/main">
            <a:r>
              <a:t>        "process": "수문 입력을 활용한 범위별 위험 예측",</a:t>
            </a:r>
          </a:p>
          <a:p xmlns:a="http://schemas.openxmlformats.org/drawingml/2006/main">
            <a:r>
              <a:t>        "output": "시간별 예측"</a:t>
            </a:r>
          </a:p>
          <a:p xmlns:a="http://schemas.openxmlformats.org/drawingml/2006/main">
            <a:r>
              <a:t>      },</a:t>
            </a:r>
          </a:p>
          <a:p xmlns:a="http://schemas.openxmlformats.org/drawingml/2006/main">
            <a:r>
              <a:t>      {</a:t>
            </a:r>
          </a:p>
          <a:p xmlns:a="http://schemas.openxmlformats.org/drawingml/2006/main">
            <a:r>
              <a:t>        "title": "위험·시점 안내",</a:t>
            </a:r>
          </a:p>
          <a:p xmlns:a="http://schemas.openxmlformats.org/drawingml/2006/main">
            <a:r>
              <a:t>        "input": "시간별 예측",</a:t>
            </a:r>
          </a:p>
          <a:p xmlns:a="http://schemas.openxmlformats.org/drawingml/2006/main">
            <a:r>
              <a:t>        "process": "지역별 오탐·미탐과 선행시간 평가",</a:t>
            </a:r>
          </a:p>
          <a:p xmlns:a="http://schemas.openxmlformats.org/drawingml/2006/main">
            <a:r>
              <a:t>        "output": "위험·예상 시점"</a:t>
            </a:r>
          </a:p>
          <a:p xmlns:a="http://schemas.openxmlformats.org/drawingml/2006/main">
            <a:r>
              <a:t>      },</a:t>
            </a:r>
          </a:p>
          <a:p xmlns:a="http://schemas.openxmlformats.org/drawingml/2006/main">
            <a:r>
              <a:t>      {</a:t>
            </a:r>
          </a:p>
          <a:p xmlns:a="http://schemas.openxmlformats.org/drawingml/2006/main">
            <a:r>
              <a:t>        "title": "현장 대응 검토",</a:t>
            </a:r>
          </a:p>
          <a:p xmlns:a="http://schemas.openxmlformats.org/drawingml/2006/main">
            <a:r>
              <a:t>        "input": "위험·예상 시점",</a:t>
            </a:r>
          </a:p>
          <a:p xmlns:a="http://schemas.openxmlformats.org/drawingml/2006/main">
            <a:r>
              <a:t>        "process": "위험 지역·시점 정보를 공식 대응 검토에 전달",</a:t>
            </a:r>
          </a:p>
          <a:p xmlns:a="http://schemas.openxmlformats.org/drawingml/2006/main">
            <a:r>
              <a:t>        "output": "현장 대응 판단"</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"유역별 예측 위험을 지역별 대응 검토에 제공",</a:t>
            </a:r>
          </a:p>
          <a:p xmlns:a="http://schemas.openxmlformats.org/drawingml/2006/main">
            <a:r>
              <a:t>      "exception": "관측 결측·분포가 다른 유역·예측시점 이후 자료 혼입",</a:t>
            </a:r>
          </a:p>
          <a:p xmlns:a="http://schemas.openxmlformats.org/drawingml/2006/main">
            <a:r>
              <a:t>      "evidence": "시점 분리 평가와 유역별 미탐·과경보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"예보 운영자·방재 담당·주민",</a:t>
            </a:r>
          </a:p>
          <a:p xmlns:a="http://schemas.openxmlformats.org/drawingml/2006/main">
            <a:r>
              <a:t>          "processing": "유역·예측시점·대상 지역 지정",</a:t>
            </a:r>
          </a:p>
          <a:p xmlns:a="http://schemas.openxmlformats.org/drawingml/2006/main">
            <a:r>
              <a:t>          "output": "강수·유량"</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"하천·예측 이력",</a:t>
            </a:r>
          </a:p>
          <a:p xmlns:a="http://schemas.openxmlformats.org/drawingml/2006/main">
            <a:r>
              <a:t>          "processing": "유역 특성·관측·기상자료의 시간·공간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"강수·유량",</a:t>
            </a:r>
          </a:p>
          <a:p xmlns:a="http://schemas.openxmlformats.org/drawingml/2006/main">
            <a:r>
              <a:t>          "processing": "수문 입력을 활용한 범위별 위험 예측",</a:t>
            </a:r>
          </a:p>
          <a:p xmlns:a="http://schemas.openxmlformats.org/drawingml/2006/main">
            <a:r>
              <a:t>          "output": "위험·예상 시점"</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"위험·예상 시점",</a:t>
            </a:r>
          </a:p>
          <a:p xmlns:a="http://schemas.openxmlformats.org/drawingml/2006/main">
            <a:r>
              <a:t>          "processing": "위험 지역·시점 정보를 공식 대응 검토에 전달",</a:t>
            </a:r>
          </a:p>
          <a:p xmlns:a="http://schemas.openxmlformats.org/drawingml/2006/main">
            <a:r>
              <a:t>          "output": "현장 대응 판단"</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"미탐·과경보와 지역별 오차의 사후 분석",</a:t>
            </a:r>
          </a:p>
          <a:p xmlns:a="http://schemas.openxmlformats.org/drawingml/2006/main">
            <a:r>
              <a:t>          "output": "시점 분리 평가와 유역별 미탐·과경보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"미탐·과경보와 지역별 오차의 사후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"S-AX12",</a:t>
            </a:r>
          </a:p>
          <a:p xmlns:a="http://schemas.openxmlformats.org/drawingml/2006/main">
            <a:r>
              <a:t>        "title": "Google 홍수 예측 · Nature 연구 / 2024",</a:t>
            </a:r>
          </a:p>
          <a:p xmlns:a="http://schemas.openxmlformats.org/drawingml/2006/main">
            <a:r>
              <a:t>        "url": "https://research.google/pubs/ai-increases-global-access-to-reliable-flood-forecasts-2/",</a:t>
            </a:r>
          </a:p>
          <a:p xmlns:a="http://schemas.openxmlformats.org/drawingml/2006/main">
            <a:r>
              <a:t>        "published": "2024 연구·운영",</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"예측 불확실성과 대응 책임의 동시 관리",</a:t>
            </a:r>
          </a:p>
          <a:p xmlns:a="http://schemas.openxmlformats.org/drawingml/2006/main">
            <a:r>
              <a:t>    "local": "교통시설 위험 알림과 관할 점검 조치 연결",</a:t>
            </a:r>
          </a:p>
          <a:p xmlns:a="http://schemas.openxmlformats.org/drawingml/2006/main">
            <a:r>
              <a:t>    "sourceDetail": null,</a:t>
            </a:r>
          </a:p>
          <a:p xmlns:a="http://schemas.openxmlformats.org/drawingml/2006/main">
            <a:r>
              <a:t>    "narrative": [</a:t>
            </a:r>
          </a:p>
          <a:p xmlns:a="http://schemas.openxmlformats.org/drawingml/2006/main">
            <a:r>
              <a:t>      "관측 자료가 부족한 지역까지 홍수 예측 정보를 제공하려는 사례. 예측 모델의 지역 일반화와 주민·대응기관의 실제 행동을 연결하는 단계가 별도 과제.",</a:t>
            </a:r>
          </a:p>
          <a:p xmlns:a="http://schemas.openxmlformats.org/drawingml/2006/main">
            <a:r>
              <a:t>      "유역 특성·강수·유량을 시간·공간 단위로 정합화하고 위험 지역·예상 시점을 산출하는 구조. TS 적용 설계에서는 기상·재난 위험을 교통시설·운행 업무와 연결해 담당자의 대응 검토를 지원.",</a:t>
            </a:r>
          </a:p>
          <a:p xmlns:a="http://schemas.openxmlformats.org/drawingml/2006/main">
            <a:r>
              <a:t>      "예측 정확도와 사고 예방 효과의 분리. 지역별 미탐·과경보·선행시간, 경보 수신과 조치 완료를 함께 평가하며 관측 부족 구간의 불확실성을 보존할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"예측 대상 지정",</a:t>
            </a:r>
          </a:p>
          <a:p xmlns:a="http://schemas.openxmlformats.org/drawingml/2006/main">
            <a:r>
              <a:t>          "layer": "이용 접점",</a:t>
            </a:r>
          </a:p>
          <a:p xmlns:a="http://schemas.openxmlformats.org/drawingml/2006/main">
            <a:r>
              <a:t>          "detail": "예보 운영자·방재 담당·주민",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"유역·예측시점",</a:t>
            </a:r>
          </a:p>
          <a:p xmlns:a="http://schemas.openxmlformats.org/drawingml/2006/main">
            <a:r>
              <a:t>          "layer": "업무 문맥",</a:t>
            </a:r>
          </a:p>
          <a:p xmlns:a="http://schemas.openxmlformats.org/drawingml/2006/main">
            <a:r>
              <a:t>          "detail": "유역·예측시점·대상 지역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"기상·수문 조회",</a:t>
            </a:r>
          </a:p>
          <a:p xmlns:a="http://schemas.openxmlformats.org/drawingml/2006/main">
            <a:r>
              <a:t>          "layer": "자료 조회",</a:t>
            </a:r>
          </a:p>
          <a:p xmlns:a="http://schemas.openxmlformats.org/drawingml/2006/main">
            <a:r>
              <a:t>          "detail": "강수·유량",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"홍수 위험 예측",</a:t>
            </a:r>
          </a:p>
          <a:p xmlns:a="http://schemas.openxmlformats.org/drawingml/2006/main">
            <a:r>
              <a:t>          "layer": "핵심 처리",</a:t>
            </a:r>
          </a:p>
          <a:p xmlns:a="http://schemas.openxmlformats.org/drawingml/2006/main">
            <a:r>
              <a:t>          "detail": "수문 입력을 활용한 범위별 위험 예측",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"지역별 오차 검사",</a:t>
            </a:r>
          </a:p>
          <a:p xmlns:a="http://schemas.openxmlformats.org/drawingml/2006/main">
            <a:r>
              <a:t>          "layer": "결과 검증",</a:t>
            </a:r>
          </a:p>
          <a:p xmlns:a="http://schemas.openxmlformats.org/drawingml/2006/main">
            <a:r>
              <a:t>          "detail": "지역별 오탐·미탐과 선행시간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"예보 담당 판단",</a:t>
            </a:r>
          </a:p>
          <a:p xmlns:a="http://schemas.openxmlformats.org/drawingml/2006/main">
            <a:r>
              <a:t>          "layer": "사람 확인",</a:t>
            </a:r>
          </a:p>
          <a:p xmlns:a="http://schemas.openxmlformats.org/drawingml/2006/main">
            <a:r>
              <a:t>          "detail": "유역별 예측 위험을 지역별 대응 검토에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"경보·대응 연결",</a:t>
            </a:r>
          </a:p>
          <a:p xmlns:a="http://schemas.openxmlformats.org/drawingml/2006/main">
            <a:r>
              <a:t>          "layer": "업무 연결",</a:t>
            </a:r>
          </a:p>
          <a:p xmlns:a="http://schemas.openxmlformats.org/drawingml/2006/main">
            <a:r>
              <a:t>          "detail": "위험 지역·시점 정보를 공식 대응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"미탐·과경보 분석",</a:t>
            </a:r>
          </a:p>
          <a:p xmlns:a="http://schemas.openxmlformats.org/drawingml/2006/main">
            <a:r>
              <a:t>          "layer": "운영 관측",</a:t>
            </a:r>
          </a:p>
          <a:p xmlns:a="http://schemas.openxmlformats.org/drawingml/2006/main">
            <a:r>
              <a:t>          "detail": "미탐·과경보와 지역별 오차의 사후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"유역·관측 자료",</a:t>
            </a:r>
          </a:p>
          <a:p xmlns:a="http://schemas.openxmlformats.org/drawingml/2006/main">
            <a:r>
              <a:t>          "layer": "데이터 원천",</a:t>
            </a:r>
          </a:p>
          <a:p xmlns:a="http://schemas.openxmlformats.org/drawingml/2006/main">
            <a:r>
              <a:t>          "detail": "하천·예측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"시간·공간 정합화",</a:t>
            </a:r>
          </a:p>
          <a:p xmlns:a="http://schemas.openxmlformats.org/drawingml/2006/main">
            <a:r>
              <a:t>          "layer": "준비·갱신",</a:t>
            </a:r>
          </a:p>
          <a:p xmlns:a="http://schemas.openxmlformats.org/drawingml/2006/main">
            <a:r>
              <a:t>          "detail": "유역 특성·관측·기상자료의 시간·공간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"예측·관측 이력",</a:t>
            </a:r>
          </a:p>
          <a:p xmlns:a="http://schemas.openxmlformats.org/drawingml/2006/main">
            <a:r>
              <a:t>          "layer": "상태·지식 저장",</a:t>
            </a:r>
          </a:p>
          <a:p xmlns:a="http://schemas.openxmlformats.org/drawingml/2006/main">
            <a:r>
              <a:t>          "detail": "시점 분리 평가와 유역별 미탐·과경보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"경보·대응 기준",</a:t>
            </a:r>
          </a:p>
          <a:p xmlns:a="http://schemas.openxmlformats.org/drawingml/2006/main">
            <a:r>
              <a:t>          "layer": "권한·정책",</a:t>
            </a:r>
          </a:p>
          <a:p xmlns:a="http://schemas.openxmlformats.org/drawingml/2006/main">
            <a:r>
              <a:t>          "detail": "관측 결측·분포가 다른 유역·예측시점 이후 자료 혼입",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"수문·기상 입력 → 예측 모델 → 위험·시점 안내 → 현장 대응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"하천·예측 이력",</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"시간별 예측",</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"위험·예상 시점",</a:t>
            </a:r>
          </a:p>
          <a:p xmlns:a="http://schemas.openxmlformats.org/drawingml/2006/main">
            <a:r>
              <a:t>          "check": "시점 분리 평가와 유역별 미탐·과경보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"위험·예상 시점",</a:t>
            </a:r>
          </a:p>
          <a:p xmlns:a="http://schemas.openxmlformats.org/drawingml/2006/main">
            <a:r>
              <a:t>          "check": "지역별 오탐·미탐과 선행시간 평가"</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"현장 대응 판단",</a:t>
            </a:r>
          </a:p>
          <a:p xmlns:a="http://schemas.openxmlformats.org/drawingml/2006/main">
            <a:r>
              <a:t>          "check": "시점 분리 평가와 유역별 미탐·과경보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"관측이 부족한 하천의 홍수 위험 예측 / 수문 예측·위험 정보·알림 연결",</a:t>
            </a:r>
          </a:p>
          <a:p xmlns:a="http://schemas.openxmlformats.org/drawingml/2006/main">
            <a:r>
              <a:t>        "extension": "교통시설 위험 알림과 관할 점검 조치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"관측 결측·분포가 다른 유역·예측시점 이후 자료 혼입",</a:t>
            </a:r>
          </a:p>
          <a:p xmlns:a="http://schemas.openxmlformats.org/drawingml/2006/main">
            <a:r>
              <a:t>        "hold": "지역별 오탐·미탐과 선행시간 평가",</a:t>
            </a:r>
          </a:p>
          <a:p xmlns:a="http://schemas.openxmlformats.org/drawingml/2006/main">
            <a:r>
              <a:t>        "recovery": "미탐·과경보와 지역별 오차의 사후 분석",</a:t>
            </a:r>
          </a:p>
          <a:p xmlns:a="http://schemas.openxmlformats.org/drawingml/2006/main">
            <a:r>
              <a:t>        "evidence": "시점 분리 평가와 유역별 미탐·과경보 결과"</a:t>
            </a:r>
          </a:p>
          <a:p xmlns:a="http://schemas.openxmlformats.org/drawingml/2006/main">
            <a:r>
              <a:t>      },</a:t>
            </a:r>
          </a:p>
          <a:p xmlns:a="http://schemas.openxmlformats.org/drawingml/2006/main">
            <a:r>
              <a:t>      "data": {</a:t>
            </a:r>
          </a:p>
          <a:p xmlns:a="http://schemas.openxmlformats.org/drawingml/2006/main">
            <a:r>
              <a:t>        "source": "하천·예측 이력",</a:t>
            </a:r>
          </a:p>
          <a:p xmlns:a="http://schemas.openxmlformats.org/drawingml/2006/main">
            <a:r>
              <a:t>        "prepare": "유역 특성·관측·기상자료의 시간·공간 정합화",</a:t>
            </a:r>
          </a:p>
          <a:p xmlns:a="http://schemas.openxmlformats.org/drawingml/2006/main">
            <a:r>
              <a:t>        "output": "강수·유량",</a:t>
            </a:r>
          </a:p>
          <a:p xmlns:a="http://schemas.openxmlformats.org/drawingml/2006/main">
            <a:r>
              <a:t>        "refresh": "미탐·과경보와 지역별 오차의 사후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"AX12",</a:t>
            </a:r>
          </a:p>
          <a:p xmlns:a="http://schemas.openxmlformats.org/drawingml/2006/main">
            <a:r>
              <a:t>    "success": [</a:t>
            </a:r>
          </a:p>
          <a:p xmlns:a="http://schemas.openxmlformats.org/drawingml/2006/main">
            <a:r>
              <a:t>      "관측 부족 지역의 예측 범위 확대",</a:t>
            </a:r>
          </a:p>
          <a:p xmlns:a="http://schemas.openxmlformats.org/drawingml/2006/main">
            <a:r>
              <a:t>      "비교 평가를 통한 예측 검토"</a:t>
            </a:r>
          </a:p>
          <a:p xmlns:a="http://schemas.openxmlformats.org/drawingml/2006/main">
            <a:r>
              <a:t>    ],</a:t>
            </a:r>
          </a:p>
          <a:p xmlns:a="http://schemas.openxmlformats.org/drawingml/2006/main">
            <a:r>
              <a:t>    "risks": [</a:t>
            </a:r>
          </a:p>
          <a:p xmlns:a="http://schemas.openxmlformats.org/drawingml/2006/main">
            <a:r>
              <a:t>      "관측 분포·지역별 불확실성",</a:t>
            </a:r>
          </a:p>
          <a:p xmlns:a="http://schemas.openxmlformats.org/drawingml/2006/main">
            <a:r>
              <a:t>      "경보 정확도와 실제 대응 효과의 차이"</a:t>
            </a:r>
          </a:p>
          <a:p xmlns:a="http://schemas.openxmlformats.org/drawingml/2006/main">
            <a:r>
              <a:t>    ],</a:t>
            </a:r>
          </a:p>
          <a:p xmlns:a="http://schemas.openxmlformats.org/drawingml/2006/main">
            <a:r>
              <a:t>    "architecture": [</a:t>
            </a:r>
          </a:p>
          <a:p xmlns:a="http://schemas.openxmlformats.org/drawingml/2006/main">
            <a:r>
              <a:t>      "수문·기상 자료",</a:t>
            </a:r>
          </a:p>
          <a:p xmlns:a="http://schemas.openxmlformats.org/drawingml/2006/main">
            <a:r>
              <a:t>      "홍수 예측 모델",</a:t>
            </a:r>
          </a:p>
          <a:p xmlns:a="http://schemas.openxmlformats.org/drawingml/2006/main">
            <a:r>
              <a:t>      "하천·예측 이력",</a:t>
            </a:r>
          </a:p>
          <a:p xmlns:a="http://schemas.openxmlformats.org/drawingml/2006/main">
            <a:r>
              <a:t>      "지역 대응 담당"</a:t>
            </a:r>
          </a:p>
          <a:p xmlns:a="http://schemas.openxmlformats.org/drawingml/2006/main">
            <a:r>
              <a:t>    ],</a:t>
            </a:r>
          </a:p>
          <a:p xmlns:a="http://schemas.openxmlformats.org/drawingml/2006/main">
            <a:r>
              <a:t>    "transfers": [</a:t>
            </a:r>
          </a:p>
          <a:p xmlns:a="http://schemas.openxmlformats.org/drawingml/2006/main">
            <a:r>
              <a:t>      "강수·유량",</a:t>
            </a:r>
          </a:p>
          <a:p xmlns:a="http://schemas.openxmlformats.org/drawingml/2006/main">
            <a:r>
              <a:t>      "시간별 예측",</a:t>
            </a:r>
          </a:p>
          <a:p xmlns:a="http://schemas.openxmlformats.org/drawingml/2006/main">
            <a:r>
              <a:t>      "위험·예상 시점",</a:t>
            </a:r>
          </a:p>
          <a:p xmlns:a="http://schemas.openxmlformats.org/drawingml/2006/main">
            <a:r>
              <a:t>      "현장 대응 판단"</a:t>
            </a:r>
          </a:p>
          <a:p xmlns:a="http://schemas.openxmlformats.org/drawingml/2006/main">
            <a:r>
              <a:t>    ],</a:t>
            </a:r>
          </a:p>
          <a:p xmlns:a="http://schemas.openxmlformats.org/drawingml/2006/main">
            <a:r>
              <a:t>    "control": "지역별 오탐·미탐과 선행시간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홍수 예측 · Nature 연구 / 2024 https://research.google/pubs/ai-increases-global-access-to-reliable-flood-forecasts-2/</a:t>
            </a:r>
          </a:p>
          <a:p xmlns:a="http://schemas.openxmlformats.org/drawingml/2006/main">
            <a:r>
              <a:t>홈페이지 https://heen1987-ops.github.io/TS-business-Plan-001/index.html?view=casebook&amp;case=AX12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"AX12",</a:t>
            </a:r>
          </a:p>
          <a:p xmlns:a="http://schemas.openxmlformats.org/drawingml/2006/main">
            <a:r>
              <a:t>    "title": "Google 홍수 예측",</a:t>
            </a:r>
          </a:p>
          <a:p xmlns:a="http://schemas.openxmlformats.org/drawingml/2006/main">
            <a:r>
              <a:t>    "region": "해외",</a:t>
            </a:r>
          </a:p>
          <a:p xmlns:a="http://schemas.openxmlformats.org/drawingml/2006/main">
            <a:r>
              <a:t>    "country": "다국가",</a:t>
            </a:r>
          </a:p>
          <a:p xmlns:a="http://schemas.openxmlformats.org/drawingml/2006/main">
            <a:r>
              <a:t>    "result": "성공",</a:t>
            </a:r>
          </a:p>
          <a:p xmlns:a="http://schemas.openxmlformats.org/drawingml/2006/main">
            <a:r>
              <a:t>    "kind": "수문 위험 예측",</a:t>
            </a:r>
          </a:p>
          <a:p xmlns:a="http://schemas.openxmlformats.org/drawingml/2006/main">
            <a:r>
              <a:t>    "period": "2024 연구·운영",</a:t>
            </a:r>
          </a:p>
          <a:p xmlns:a="http://schemas.openxmlformats.org/drawingml/2006/main">
            <a:r>
              <a:t>    "sources": [</a:t>
            </a:r>
          </a:p>
          <a:p xmlns:a="http://schemas.openxmlformats.org/drawingml/2006/main">
            <a:r>
              <a:t>      "S-AX12"</a:t>
            </a:r>
          </a:p>
          <a:p xmlns:a="http://schemas.openxmlformats.org/drawingml/2006/main">
            <a:r>
              <a:t>    ],</a:t>
            </a:r>
          </a:p>
          <a:p xmlns:a="http://schemas.openxmlformats.org/drawingml/2006/main">
            <a:r>
              <a:t>    "keywords": [</a:t>
            </a:r>
          </a:p>
          <a:p xmlns:a="http://schemas.openxmlformats.org/drawingml/2006/main">
            <a:r>
              <a:t>      "수문 위험 예측"</a:t>
            </a:r>
          </a:p>
          <a:p xmlns:a="http://schemas.openxmlformats.org/drawingml/2006/main">
            <a:r>
              <a:t>    ],</a:t>
            </a:r>
          </a:p>
          <a:p xmlns:a="http://schemas.openxmlformats.org/drawingml/2006/main">
            <a:r>
              <a:t>    "fact": "관측이 부족한 하천까지 확장한 AI 홍수 예측의 비교 평가와 서비스 적용",</a:t>
            </a:r>
          </a:p>
          <a:p xmlns:a="http://schemas.openxmlformats.org/drawingml/2006/main">
            <a:r>
              <a:t>    "limit": "논문의 하천 홍수 평가 범위 · 모든 재난 예측 성능으로 확대 불가",</a:t>
            </a:r>
          </a:p>
          <a:p xmlns:a="http://schemas.openxmlformats.org/drawingml/2006/main">
            <a:r>
              <a:t>    "flow": [</a:t>
            </a:r>
          </a:p>
          <a:p xmlns:a="http://schemas.openxmlformats.org/drawingml/2006/main">
            <a:r>
              <a:t>      "수문·기상 입력",</a:t>
            </a:r>
          </a:p>
          <a:p xmlns:a="http://schemas.openxmlformats.org/drawingml/2006/main">
            <a:r>
              <a:t>      "예측 모델",</a:t>
            </a:r>
          </a:p>
          <a:p xmlns:a="http://schemas.openxmlformats.org/drawingml/2006/main">
            <a:r>
              <a:t>      "위험·시점 안내",</a:t>
            </a:r>
          </a:p>
          <a:p xmlns:a="http://schemas.openxmlformats.org/drawingml/2006/main">
            <a:r>
              <a:t>      "현장 대응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"예측 불확실성과 대응 책임의 동시 관리",</a:t>
            </a:r>
          </a:p>
          <a:p xmlns:a="http://schemas.openxmlformats.org/drawingml/2006/main">
            <a:r>
              <a:t>    "local": "교통시설 위험 알림과 관할 점검 조치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"시설·위험 등급·대응 절차·조치기한 매핑",</a:t>
            </a:r>
          </a:p>
          <a:p xmlns:a="http://schemas.openxmlformats.org/drawingml/2006/main">
            <a:r>
              <a:t>    "test": "지역·계절 분리 평가와 오경보·미탐 점검",</a:t>
            </a:r>
          </a:p>
          <a:p xmlns:a="http://schemas.openxmlformats.org/drawingml/2006/main">
            <a:r>
              <a:t>    "metric": "경보 선행시간 / 미조치 건수",</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"ST-11"</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"AX12",</a:t>
            </a:r>
          </a:p>
          <a:p xmlns:a="http://schemas.openxmlformats.org/drawingml/2006/main">
            <a:r>
              <a:t>    "canonicalId": "AX12",</a:t>
            </a:r>
          </a:p>
          <a:p xmlns:a="http://schemas.openxmlformats.org/drawingml/2006/main">
            <a:r>
              <a:t>    "purpose": "관측이 부족한 하천의 홍수 위험 예측",</a:t>
            </a:r>
          </a:p>
          <a:p xmlns:a="http://schemas.openxmlformats.org/drawingml/2006/main">
            <a:r>
              <a:t>    "users": "예보 운영자·방재 담당·주민",</a:t>
            </a:r>
          </a:p>
          <a:p xmlns:a="http://schemas.openxmlformats.org/drawingml/2006/main">
            <a:r>
              <a:t>    "scope": [</a:t>
            </a:r>
          </a:p>
          <a:p xmlns:a="http://schemas.openxmlformats.org/drawingml/2006/main">
            <a:r>
              <a:t>      "수문 예측",</a:t>
            </a:r>
          </a:p>
          <a:p xmlns:a="http://schemas.openxmlformats.org/drawingml/2006/main">
            <a:r>
              <a:t>      "위험 정보",</a:t>
            </a:r>
          </a:p>
          <a:p xmlns:a="http://schemas.openxmlformats.org/drawingml/2006/main">
            <a:r>
              <a:t>      "알림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"수문·기상 자료",</a:t>
            </a:r>
          </a:p>
          <a:p xmlns:a="http://schemas.openxmlformats.org/drawingml/2006/main">
            <a:r>
              <a:t>        "detail": "유역·예측시점·대상 지역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"수문 예측 / 위험 정보 / 알림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"홍수 예측 모델",</a:t>
            </a:r>
          </a:p>
          <a:p xmlns:a="http://schemas.openxmlformats.org/drawingml/2006/main">
            <a:r>
              <a:t>        "detail": "수문 입력을 활용한 범위별 위험 예측",</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"지역 대응 담당",</a:t>
            </a:r>
          </a:p>
          <a:p xmlns:a="http://schemas.openxmlformats.org/drawingml/2006/main">
            <a:r>
              <a:t>        "detail": "위험 지역·시점 정보를 공식 대응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"하천·예측 이력",</a:t>
            </a:r>
          </a:p>
          <a:p xmlns:a="http://schemas.openxmlformats.org/drawingml/2006/main">
            <a:r>
              <a:t>        "detail": "유역 특성·관측·기상자료의 시간·공간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"미탐·과경보와 지역별 오차의 사후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"수문·기상 입력",</a:t>
            </a:r>
          </a:p>
          <a:p xmlns:a="http://schemas.openxmlformats.org/drawingml/2006/main">
            <a:r>
              <a:t>        "input": "유역·예측시점·대상 지역 지정",</a:t>
            </a:r>
          </a:p>
          <a:p xmlns:a="http://schemas.openxmlformats.org/drawingml/2006/main">
            <a:r>
              <a:t>        "process": "유역 특성·관측·기상자료의 시간·공간 정합화",</a:t>
            </a:r>
          </a:p>
          <a:p xmlns:a="http://schemas.openxmlformats.org/drawingml/2006/main">
            <a:r>
              <a:t>        "output": "강수·유량"</a:t>
            </a:r>
          </a:p>
          <a:p xmlns:a="http://schemas.openxmlformats.org/drawingml/2006/main">
            <a:r>
              <a:t>      },</a:t>
            </a:r>
          </a:p>
          <a:p xmlns:a="http://schemas.openxmlformats.org/drawingml/2006/main">
            <a:r>
              <a:t>      {</a:t>
            </a:r>
          </a:p>
          <a:p xmlns:a="http://schemas.openxmlformats.org/drawingml/2006/main">
            <a:r>
              <a:t>        "title": "예측 모델",</a:t>
            </a:r>
          </a:p>
          <a:p xmlns:a="http://schemas.openxmlformats.org/drawingml/2006/main">
            <a:r>
              <a:t>        "input": "강수·유량",</a:t>
            </a:r>
          </a:p>
          <a:p xmlns:a="http://schemas.openxmlformats.org/drawingml/2006/main">
            <a:r>
              <a:t>        "process": "수문 입력을 활용한 범위별 위험 예측",</a:t>
            </a:r>
          </a:p>
          <a:p xmlns:a="http://schemas.openxmlformats.org/drawingml/2006/main">
            <a:r>
              <a:t>        "output": "시간별 예측"</a:t>
            </a:r>
          </a:p>
          <a:p xmlns:a="http://schemas.openxmlformats.org/drawingml/2006/main">
            <a:r>
              <a:t>      },</a:t>
            </a:r>
          </a:p>
          <a:p xmlns:a="http://schemas.openxmlformats.org/drawingml/2006/main">
            <a:r>
              <a:t>      {</a:t>
            </a:r>
          </a:p>
          <a:p xmlns:a="http://schemas.openxmlformats.org/drawingml/2006/main">
            <a:r>
              <a:t>        "title": "위험·시점 안내",</a:t>
            </a:r>
          </a:p>
          <a:p xmlns:a="http://schemas.openxmlformats.org/drawingml/2006/main">
            <a:r>
              <a:t>        "input": "시간별 예측",</a:t>
            </a:r>
          </a:p>
          <a:p xmlns:a="http://schemas.openxmlformats.org/drawingml/2006/main">
            <a:r>
              <a:t>        "process": "지역별 오탐·미탐과 선행시간 평가",</a:t>
            </a:r>
          </a:p>
          <a:p xmlns:a="http://schemas.openxmlformats.org/drawingml/2006/main">
            <a:r>
              <a:t>        "output": "위험·예상 시점"</a:t>
            </a:r>
          </a:p>
          <a:p xmlns:a="http://schemas.openxmlformats.org/drawingml/2006/main">
            <a:r>
              <a:t>      },</a:t>
            </a:r>
          </a:p>
          <a:p xmlns:a="http://schemas.openxmlformats.org/drawingml/2006/main">
            <a:r>
              <a:t>      {</a:t>
            </a:r>
          </a:p>
          <a:p xmlns:a="http://schemas.openxmlformats.org/drawingml/2006/main">
            <a:r>
              <a:t>        "title": "현장 대응 검토",</a:t>
            </a:r>
          </a:p>
          <a:p xmlns:a="http://schemas.openxmlformats.org/drawingml/2006/main">
            <a:r>
              <a:t>        "input": "위험·예상 시점",</a:t>
            </a:r>
          </a:p>
          <a:p xmlns:a="http://schemas.openxmlformats.org/drawingml/2006/main">
            <a:r>
              <a:t>        "process": "위험 지역·시점 정보를 공식 대응 검토에 전달",</a:t>
            </a:r>
          </a:p>
          <a:p xmlns:a="http://schemas.openxmlformats.org/drawingml/2006/main">
            <a:r>
              <a:t>        "output": "현장 대응 판단"</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"유역별 예측 위험을 지역별 대응 검토에 제공",</a:t>
            </a:r>
          </a:p>
          <a:p xmlns:a="http://schemas.openxmlformats.org/drawingml/2006/main">
            <a:r>
              <a:t>      "exception": "관측 결측·분포가 다른 유역·예측시점 이후 자료 혼입",</a:t>
            </a:r>
          </a:p>
          <a:p xmlns:a="http://schemas.openxmlformats.org/drawingml/2006/main">
            <a:r>
              <a:t>      "evidence": "시점 분리 평가와 유역별 미탐·과경보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"예보 운영자·방재 담당·주민",</a:t>
            </a:r>
          </a:p>
          <a:p xmlns:a="http://schemas.openxmlformats.org/drawingml/2006/main">
            <a:r>
              <a:t>          "processing": "유역·예측시점·대상 지역 지정",</a:t>
            </a:r>
          </a:p>
          <a:p xmlns:a="http://schemas.openxmlformats.org/drawingml/2006/main">
            <a:r>
              <a:t>          "output": "강수·유량"</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"하천·예측 이력",</a:t>
            </a:r>
          </a:p>
          <a:p xmlns:a="http://schemas.openxmlformats.org/drawingml/2006/main">
            <a:r>
              <a:t>          "processing": "유역 특성·관측·기상자료의 시간·공간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"강수·유량",</a:t>
            </a:r>
          </a:p>
          <a:p xmlns:a="http://schemas.openxmlformats.org/drawingml/2006/main">
            <a:r>
              <a:t>          "processing": "수문 입력을 활용한 범위별 위험 예측",</a:t>
            </a:r>
          </a:p>
          <a:p xmlns:a="http://schemas.openxmlformats.org/drawingml/2006/main">
            <a:r>
              <a:t>          "output": "위험·예상 시점"</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"위험·예상 시점",</a:t>
            </a:r>
          </a:p>
          <a:p xmlns:a="http://schemas.openxmlformats.org/drawingml/2006/main">
            <a:r>
              <a:t>          "processing": "위험 지역·시점 정보를 공식 대응 검토에 전달",</a:t>
            </a:r>
          </a:p>
          <a:p xmlns:a="http://schemas.openxmlformats.org/drawingml/2006/main">
            <a:r>
              <a:t>          "output": "현장 대응 판단"</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"미탐·과경보와 지역별 오차의 사후 분석",</a:t>
            </a:r>
          </a:p>
          <a:p xmlns:a="http://schemas.openxmlformats.org/drawingml/2006/main">
            <a:r>
              <a:t>          "output": "시점 분리 평가와 유역별 미탐·과경보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"미탐·과경보와 지역별 오차의 사후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"S-AX12",</a:t>
            </a:r>
          </a:p>
          <a:p xmlns:a="http://schemas.openxmlformats.org/drawingml/2006/main">
            <a:r>
              <a:t>        "title": "Google 홍수 예측 · Nature 연구 / 2024",</a:t>
            </a:r>
          </a:p>
          <a:p xmlns:a="http://schemas.openxmlformats.org/drawingml/2006/main">
            <a:r>
              <a:t>        "url": "https://research.google/pubs/ai-increases-global-access-to-reliable-flood-forecasts-2/",</a:t>
            </a:r>
          </a:p>
          <a:p xmlns:a="http://schemas.openxmlformats.org/drawingml/2006/main">
            <a:r>
              <a:t>        "published": "2024 연구·운영",</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"예측 불확실성과 대응 책임의 동시 관리",</a:t>
            </a:r>
          </a:p>
          <a:p xmlns:a="http://schemas.openxmlformats.org/drawingml/2006/main">
            <a:r>
              <a:t>    "local": "교통시설 위험 알림과 관할 점검 조치 연결",</a:t>
            </a:r>
          </a:p>
          <a:p xmlns:a="http://schemas.openxmlformats.org/drawingml/2006/main">
            <a:r>
              <a:t>    "sourceDetail": null,</a:t>
            </a:r>
          </a:p>
          <a:p xmlns:a="http://schemas.openxmlformats.org/drawingml/2006/main">
            <a:r>
              <a:t>    "narrative": [</a:t>
            </a:r>
          </a:p>
          <a:p xmlns:a="http://schemas.openxmlformats.org/drawingml/2006/main">
            <a:r>
              <a:t>      "관측 자료가 부족한 지역까지 홍수 예측 정보를 제공하려는 사례. 예측 모델의 지역 일반화와 주민·대응기관의 실제 행동을 연결하는 단계가 별도 과제.",</a:t>
            </a:r>
          </a:p>
          <a:p xmlns:a="http://schemas.openxmlformats.org/drawingml/2006/main">
            <a:r>
              <a:t>      "유역 특성·강수·유량을 시간·공간 단위로 정합화하고 위험 지역·예상 시점을 산출하는 구조. TS 적용 설계에서는 기상·재난 위험을 교통시설·운행 업무와 연결해 담당자의 대응 검토를 지원.",</a:t>
            </a:r>
          </a:p>
          <a:p xmlns:a="http://schemas.openxmlformats.org/drawingml/2006/main">
            <a:r>
              <a:t>      "예측 정확도와 사고 예방 효과의 분리. 지역별 미탐·과경보·선행시간, 경보 수신과 조치 완료를 함께 평가하며 관측 부족 구간의 불확실성을 보존할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"예측 대상 지정",</a:t>
            </a:r>
          </a:p>
          <a:p xmlns:a="http://schemas.openxmlformats.org/drawingml/2006/main">
            <a:r>
              <a:t>          "layer": "이용 접점",</a:t>
            </a:r>
          </a:p>
          <a:p xmlns:a="http://schemas.openxmlformats.org/drawingml/2006/main">
            <a:r>
              <a:t>          "detail": "예보 운영자·방재 담당·주민",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"유역·예측시점",</a:t>
            </a:r>
          </a:p>
          <a:p xmlns:a="http://schemas.openxmlformats.org/drawingml/2006/main">
            <a:r>
              <a:t>          "layer": "업무 문맥",</a:t>
            </a:r>
          </a:p>
          <a:p xmlns:a="http://schemas.openxmlformats.org/drawingml/2006/main">
            <a:r>
              <a:t>          "detail": "유역·예측시점·대상 지역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"기상·수문 조회",</a:t>
            </a:r>
          </a:p>
          <a:p xmlns:a="http://schemas.openxmlformats.org/drawingml/2006/main">
            <a:r>
              <a:t>          "layer": "자료 조회",</a:t>
            </a:r>
          </a:p>
          <a:p xmlns:a="http://schemas.openxmlformats.org/drawingml/2006/main">
            <a:r>
              <a:t>          "detail": "강수·유량",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"홍수 위험 예측",</a:t>
            </a:r>
          </a:p>
          <a:p xmlns:a="http://schemas.openxmlformats.org/drawingml/2006/main">
            <a:r>
              <a:t>          "layer": "핵심 처리",</a:t>
            </a:r>
          </a:p>
          <a:p xmlns:a="http://schemas.openxmlformats.org/drawingml/2006/main">
            <a:r>
              <a:t>          "detail": "수문 입력을 활용한 범위별 위험 예측",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"지역별 오차 검사",</a:t>
            </a:r>
          </a:p>
          <a:p xmlns:a="http://schemas.openxmlformats.org/drawingml/2006/main">
            <a:r>
              <a:t>          "layer": "결과 검증",</a:t>
            </a:r>
          </a:p>
          <a:p xmlns:a="http://schemas.openxmlformats.org/drawingml/2006/main">
            <a:r>
              <a:t>          "detail": "지역별 오탐·미탐과 선행시간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"예보 담당 판단",</a:t>
            </a:r>
          </a:p>
          <a:p xmlns:a="http://schemas.openxmlformats.org/drawingml/2006/main">
            <a:r>
              <a:t>          "layer": "사람 확인",</a:t>
            </a:r>
          </a:p>
          <a:p xmlns:a="http://schemas.openxmlformats.org/drawingml/2006/main">
            <a:r>
              <a:t>          "detail": "유역별 예측 위험을 지역별 대응 검토에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"경보·대응 연결",</a:t>
            </a:r>
          </a:p>
          <a:p xmlns:a="http://schemas.openxmlformats.org/drawingml/2006/main">
            <a:r>
              <a:t>          "layer": "업무 연결",</a:t>
            </a:r>
          </a:p>
          <a:p xmlns:a="http://schemas.openxmlformats.org/drawingml/2006/main">
            <a:r>
              <a:t>          "detail": "위험 지역·시점 정보를 공식 대응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"미탐·과경보 분석",</a:t>
            </a:r>
          </a:p>
          <a:p xmlns:a="http://schemas.openxmlformats.org/drawingml/2006/main">
            <a:r>
              <a:t>          "layer": "운영 관측",</a:t>
            </a:r>
          </a:p>
          <a:p xmlns:a="http://schemas.openxmlformats.org/drawingml/2006/main">
            <a:r>
              <a:t>          "detail": "미탐·과경보와 지역별 오차의 사후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"유역·관측 자료",</a:t>
            </a:r>
          </a:p>
          <a:p xmlns:a="http://schemas.openxmlformats.org/drawingml/2006/main">
            <a:r>
              <a:t>          "layer": "데이터 원천",</a:t>
            </a:r>
          </a:p>
          <a:p xmlns:a="http://schemas.openxmlformats.org/drawingml/2006/main">
            <a:r>
              <a:t>          "detail": "하천·예측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"시간·공간 정합화",</a:t>
            </a:r>
          </a:p>
          <a:p xmlns:a="http://schemas.openxmlformats.org/drawingml/2006/main">
            <a:r>
              <a:t>          "layer": "준비·갱신",</a:t>
            </a:r>
          </a:p>
          <a:p xmlns:a="http://schemas.openxmlformats.org/drawingml/2006/main">
            <a:r>
              <a:t>          "detail": "유역 특성·관측·기상자료의 시간·공간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"예측·관측 이력",</a:t>
            </a:r>
          </a:p>
          <a:p xmlns:a="http://schemas.openxmlformats.org/drawingml/2006/main">
            <a:r>
              <a:t>          "layer": "상태·지식 저장",</a:t>
            </a:r>
          </a:p>
          <a:p xmlns:a="http://schemas.openxmlformats.org/drawingml/2006/main">
            <a:r>
              <a:t>          "detail": "시점 분리 평가와 유역별 미탐·과경보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"경보·대응 기준",</a:t>
            </a:r>
          </a:p>
          <a:p xmlns:a="http://schemas.openxmlformats.org/drawingml/2006/main">
            <a:r>
              <a:t>          "layer": "권한·정책",</a:t>
            </a:r>
          </a:p>
          <a:p xmlns:a="http://schemas.openxmlformats.org/drawingml/2006/main">
            <a:r>
              <a:t>          "detail": "관측 결측·분포가 다른 유역·예측시점 이후 자료 혼입",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"수문·기상 입력 → 예측 모델 → 위험·시점 안내 → 현장 대응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"하천·예측 이력",</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"시간별 예측",</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"위험·예상 시점",</a:t>
            </a:r>
          </a:p>
          <a:p xmlns:a="http://schemas.openxmlformats.org/drawingml/2006/main">
            <a:r>
              <a:t>          "check": "시점 분리 평가와 유역별 미탐·과경보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"위험·예상 시점",</a:t>
            </a:r>
          </a:p>
          <a:p xmlns:a="http://schemas.openxmlformats.org/drawingml/2006/main">
            <a:r>
              <a:t>          "check": "지역별 오탐·미탐과 선행시간 평가"</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"현장 대응 판단",</a:t>
            </a:r>
          </a:p>
          <a:p xmlns:a="http://schemas.openxmlformats.org/drawingml/2006/main">
            <a:r>
              <a:t>          "check": "시점 분리 평가와 유역별 미탐·과경보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"관측이 부족한 하천의 홍수 위험 예측 / 수문 예측·위험 정보·알림 연결",</a:t>
            </a:r>
          </a:p>
          <a:p xmlns:a="http://schemas.openxmlformats.org/drawingml/2006/main">
            <a:r>
              <a:t>        "extension": "교통시설 위험 알림과 관할 점검 조치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"관측 결측·분포가 다른 유역·예측시점 이후 자료 혼입",</a:t>
            </a:r>
          </a:p>
          <a:p xmlns:a="http://schemas.openxmlformats.org/drawingml/2006/main">
            <a:r>
              <a:t>        "hold": "지역별 오탐·미탐과 선행시간 평가",</a:t>
            </a:r>
          </a:p>
          <a:p xmlns:a="http://schemas.openxmlformats.org/drawingml/2006/main">
            <a:r>
              <a:t>        "recovery": "미탐·과경보와 지역별 오차의 사후 분석",</a:t>
            </a:r>
          </a:p>
          <a:p xmlns:a="http://schemas.openxmlformats.org/drawingml/2006/main">
            <a:r>
              <a:t>        "evidence": "시점 분리 평가와 유역별 미탐·과경보 결과"</a:t>
            </a:r>
          </a:p>
          <a:p xmlns:a="http://schemas.openxmlformats.org/drawingml/2006/main">
            <a:r>
              <a:t>      },</a:t>
            </a:r>
          </a:p>
          <a:p xmlns:a="http://schemas.openxmlformats.org/drawingml/2006/main">
            <a:r>
              <a:t>      "data": {</a:t>
            </a:r>
          </a:p>
          <a:p xmlns:a="http://schemas.openxmlformats.org/drawingml/2006/main">
            <a:r>
              <a:t>        "source": "하천·예측 이력",</a:t>
            </a:r>
          </a:p>
          <a:p xmlns:a="http://schemas.openxmlformats.org/drawingml/2006/main">
            <a:r>
              <a:t>        "prepare": "유역 특성·관측·기상자료의 시간·공간 정합화",</a:t>
            </a:r>
          </a:p>
          <a:p xmlns:a="http://schemas.openxmlformats.org/drawingml/2006/main">
            <a:r>
              <a:t>        "output": "강수·유량",</a:t>
            </a:r>
          </a:p>
          <a:p xmlns:a="http://schemas.openxmlformats.org/drawingml/2006/main">
            <a:r>
              <a:t>        "refresh": "미탐·과경보와 지역별 오차의 사후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"AX12",</a:t>
            </a:r>
          </a:p>
          <a:p xmlns:a="http://schemas.openxmlformats.org/drawingml/2006/main">
            <a:r>
              <a:t>    "success": [</a:t>
            </a:r>
          </a:p>
          <a:p xmlns:a="http://schemas.openxmlformats.org/drawingml/2006/main">
            <a:r>
              <a:t>      "관측 부족 지역의 예측 범위 확대",</a:t>
            </a:r>
          </a:p>
          <a:p xmlns:a="http://schemas.openxmlformats.org/drawingml/2006/main">
            <a:r>
              <a:t>      "비교 평가를 통한 예측 검토"</a:t>
            </a:r>
          </a:p>
          <a:p xmlns:a="http://schemas.openxmlformats.org/drawingml/2006/main">
            <a:r>
              <a:t>    ],</a:t>
            </a:r>
          </a:p>
          <a:p xmlns:a="http://schemas.openxmlformats.org/drawingml/2006/main">
            <a:r>
              <a:t>    "risks": [</a:t>
            </a:r>
          </a:p>
          <a:p xmlns:a="http://schemas.openxmlformats.org/drawingml/2006/main">
            <a:r>
              <a:t>      "관측 분포·지역별 불확실성",</a:t>
            </a:r>
          </a:p>
          <a:p xmlns:a="http://schemas.openxmlformats.org/drawingml/2006/main">
            <a:r>
              <a:t>      "경보 정확도와 실제 대응 효과의 차이"</a:t>
            </a:r>
          </a:p>
          <a:p xmlns:a="http://schemas.openxmlformats.org/drawingml/2006/main">
            <a:r>
              <a:t>    ],</a:t>
            </a:r>
          </a:p>
          <a:p xmlns:a="http://schemas.openxmlformats.org/drawingml/2006/main">
            <a:r>
              <a:t>    "architecture": [</a:t>
            </a:r>
          </a:p>
          <a:p xmlns:a="http://schemas.openxmlformats.org/drawingml/2006/main">
            <a:r>
              <a:t>      "수문·기상 자료",</a:t>
            </a:r>
          </a:p>
          <a:p xmlns:a="http://schemas.openxmlformats.org/drawingml/2006/main">
            <a:r>
              <a:t>      "홍수 예측 모델",</a:t>
            </a:r>
          </a:p>
          <a:p xmlns:a="http://schemas.openxmlformats.org/drawingml/2006/main">
            <a:r>
              <a:t>      "하천·예측 이력",</a:t>
            </a:r>
          </a:p>
          <a:p xmlns:a="http://schemas.openxmlformats.org/drawingml/2006/main">
            <a:r>
              <a:t>      "지역 대응 담당"</a:t>
            </a:r>
          </a:p>
          <a:p xmlns:a="http://schemas.openxmlformats.org/drawingml/2006/main">
            <a:r>
              <a:t>    ],</a:t>
            </a:r>
          </a:p>
          <a:p xmlns:a="http://schemas.openxmlformats.org/drawingml/2006/main">
            <a:r>
              <a:t>    "transfers": [</a:t>
            </a:r>
          </a:p>
          <a:p xmlns:a="http://schemas.openxmlformats.org/drawingml/2006/main">
            <a:r>
              <a:t>      "강수·유량",</a:t>
            </a:r>
          </a:p>
          <a:p xmlns:a="http://schemas.openxmlformats.org/drawingml/2006/main">
            <a:r>
              <a:t>      "시간별 예측",</a:t>
            </a:r>
          </a:p>
          <a:p xmlns:a="http://schemas.openxmlformats.org/drawingml/2006/main">
            <a:r>
              <a:t>      "위험·예상 시점",</a:t>
            </a:r>
          </a:p>
          <a:p xmlns:a="http://schemas.openxmlformats.org/drawingml/2006/main">
            <a:r>
              <a:t>      "현장 대응 판단"</a:t>
            </a:r>
          </a:p>
          <a:p xmlns:a="http://schemas.openxmlformats.org/drawingml/2006/main">
            <a:r>
              <a:t>    ],</a:t>
            </a:r>
          </a:p>
          <a:p xmlns:a="http://schemas.openxmlformats.org/drawingml/2006/main">
            <a:r>
              <a:t>    "control": "지역별 오탐·미탐과 선행시간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홍수 예측 · Nature 연구 / 2024 https://research.google/pubs/ai-increases-global-access-to-reliable-flood-forecasts-2/</a:t>
            </a:r>
          </a:p>
          <a:p xmlns:a="http://schemas.openxmlformats.org/drawingml/2006/main">
            <a:r>
              <a:t>홈페이지 https://heen1987-ops.github.io/TS-business-Plan-001/index.html?view=casebook&amp;case=AX12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"AX12",</a:t>
            </a:r>
          </a:p>
          <a:p xmlns:a="http://schemas.openxmlformats.org/drawingml/2006/main">
            <a:r>
              <a:t>    "title": "Google 홍수 예측",</a:t>
            </a:r>
          </a:p>
          <a:p xmlns:a="http://schemas.openxmlformats.org/drawingml/2006/main">
            <a:r>
              <a:t>    "region": "해외",</a:t>
            </a:r>
          </a:p>
          <a:p xmlns:a="http://schemas.openxmlformats.org/drawingml/2006/main">
            <a:r>
              <a:t>    "country": "다국가",</a:t>
            </a:r>
          </a:p>
          <a:p xmlns:a="http://schemas.openxmlformats.org/drawingml/2006/main">
            <a:r>
              <a:t>    "result": "성공",</a:t>
            </a:r>
          </a:p>
          <a:p xmlns:a="http://schemas.openxmlformats.org/drawingml/2006/main">
            <a:r>
              <a:t>    "kind": "수문 위험 예측",</a:t>
            </a:r>
          </a:p>
          <a:p xmlns:a="http://schemas.openxmlformats.org/drawingml/2006/main">
            <a:r>
              <a:t>    "period": "2024 연구·운영",</a:t>
            </a:r>
          </a:p>
          <a:p xmlns:a="http://schemas.openxmlformats.org/drawingml/2006/main">
            <a:r>
              <a:t>    "sources": [</a:t>
            </a:r>
          </a:p>
          <a:p xmlns:a="http://schemas.openxmlformats.org/drawingml/2006/main">
            <a:r>
              <a:t>      "S-AX12"</a:t>
            </a:r>
          </a:p>
          <a:p xmlns:a="http://schemas.openxmlformats.org/drawingml/2006/main">
            <a:r>
              <a:t>    ],</a:t>
            </a:r>
          </a:p>
          <a:p xmlns:a="http://schemas.openxmlformats.org/drawingml/2006/main">
            <a:r>
              <a:t>    "keywords": [</a:t>
            </a:r>
          </a:p>
          <a:p xmlns:a="http://schemas.openxmlformats.org/drawingml/2006/main">
            <a:r>
              <a:t>      "수문 위험 예측"</a:t>
            </a:r>
          </a:p>
          <a:p xmlns:a="http://schemas.openxmlformats.org/drawingml/2006/main">
            <a:r>
              <a:t>    ],</a:t>
            </a:r>
          </a:p>
          <a:p xmlns:a="http://schemas.openxmlformats.org/drawingml/2006/main">
            <a:r>
              <a:t>    "fact": "관측이 부족한 하천까지 확장한 AI 홍수 예측의 비교 평가와 서비스 적용",</a:t>
            </a:r>
          </a:p>
          <a:p xmlns:a="http://schemas.openxmlformats.org/drawingml/2006/main">
            <a:r>
              <a:t>    "limit": "논문의 하천 홍수 평가 범위 · 모든 재난 예측 성능으로 확대 불가",</a:t>
            </a:r>
          </a:p>
          <a:p xmlns:a="http://schemas.openxmlformats.org/drawingml/2006/main">
            <a:r>
              <a:t>    "flow": [</a:t>
            </a:r>
          </a:p>
          <a:p xmlns:a="http://schemas.openxmlformats.org/drawingml/2006/main">
            <a:r>
              <a:t>      "수문·기상 입력",</a:t>
            </a:r>
          </a:p>
          <a:p xmlns:a="http://schemas.openxmlformats.org/drawingml/2006/main">
            <a:r>
              <a:t>      "예측 모델",</a:t>
            </a:r>
          </a:p>
          <a:p xmlns:a="http://schemas.openxmlformats.org/drawingml/2006/main">
            <a:r>
              <a:t>      "위험·시점 안내",</a:t>
            </a:r>
          </a:p>
          <a:p xmlns:a="http://schemas.openxmlformats.org/drawingml/2006/main">
            <a:r>
              <a:t>      "현장 대응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"예측 불확실성과 대응 책임의 동시 관리",</a:t>
            </a:r>
          </a:p>
          <a:p xmlns:a="http://schemas.openxmlformats.org/drawingml/2006/main">
            <a:r>
              <a:t>    "local": "교통시설 위험 알림과 관할 점검 조치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"시설·위험 등급·대응 절차·조치기한 매핑",</a:t>
            </a:r>
          </a:p>
          <a:p xmlns:a="http://schemas.openxmlformats.org/drawingml/2006/main">
            <a:r>
              <a:t>    "test": "지역·계절 분리 평가와 오경보·미탐 점검",</a:t>
            </a:r>
          </a:p>
          <a:p xmlns:a="http://schemas.openxmlformats.org/drawingml/2006/main">
            <a:r>
              <a:t>    "metric": "경보 선행시간 / 미조치 건수",</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"ST-11"</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"AX12",</a:t>
            </a:r>
          </a:p>
          <a:p xmlns:a="http://schemas.openxmlformats.org/drawingml/2006/main">
            <a:r>
              <a:t>    "canonicalId": "AX12",</a:t>
            </a:r>
          </a:p>
          <a:p xmlns:a="http://schemas.openxmlformats.org/drawingml/2006/main">
            <a:r>
              <a:t>    "purpose": "관측이 부족한 하천의 홍수 위험 예측",</a:t>
            </a:r>
          </a:p>
          <a:p xmlns:a="http://schemas.openxmlformats.org/drawingml/2006/main">
            <a:r>
              <a:t>    "users": "예보 운영자·방재 담당·주민",</a:t>
            </a:r>
          </a:p>
          <a:p xmlns:a="http://schemas.openxmlformats.org/drawingml/2006/main">
            <a:r>
              <a:t>    "scope": [</a:t>
            </a:r>
          </a:p>
          <a:p xmlns:a="http://schemas.openxmlformats.org/drawingml/2006/main">
            <a:r>
              <a:t>      "수문 예측",</a:t>
            </a:r>
          </a:p>
          <a:p xmlns:a="http://schemas.openxmlformats.org/drawingml/2006/main">
            <a:r>
              <a:t>      "위험 정보",</a:t>
            </a:r>
          </a:p>
          <a:p xmlns:a="http://schemas.openxmlformats.org/drawingml/2006/main">
            <a:r>
              <a:t>      "알림 연결"</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"수문·기상 자료",</a:t>
            </a:r>
          </a:p>
          <a:p xmlns:a="http://schemas.openxmlformats.org/drawingml/2006/main">
            <a:r>
              <a:t>        "detail": "유역·예측시점·대상 지역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"수문 예측 / 위험 정보 / 알림 연결",</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"홍수 예측 모델",</a:t>
            </a:r>
          </a:p>
          <a:p xmlns:a="http://schemas.openxmlformats.org/drawingml/2006/main">
            <a:r>
              <a:t>        "detail": "수문 입력을 활용한 범위별 위험 예측",</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"지역 대응 담당",</a:t>
            </a:r>
          </a:p>
          <a:p xmlns:a="http://schemas.openxmlformats.org/drawingml/2006/main">
            <a:r>
              <a:t>        "detail": "위험 지역·시점 정보를 공식 대응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"하천·예측 이력",</a:t>
            </a:r>
          </a:p>
          <a:p xmlns:a="http://schemas.openxmlformats.org/drawingml/2006/main">
            <a:r>
              <a:t>        "detail": "유역 특성·관측·기상자료의 시간·공간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"미탐·과경보와 지역별 오차의 사후 분석",</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"수문·기상 입력",</a:t>
            </a:r>
          </a:p>
          <a:p xmlns:a="http://schemas.openxmlformats.org/drawingml/2006/main">
            <a:r>
              <a:t>        "input": "유역·예측시점·대상 지역 지정",</a:t>
            </a:r>
          </a:p>
          <a:p xmlns:a="http://schemas.openxmlformats.org/drawingml/2006/main">
            <a:r>
              <a:t>        "process": "유역 특성·관측·기상자료의 시간·공간 정합화",</a:t>
            </a:r>
          </a:p>
          <a:p xmlns:a="http://schemas.openxmlformats.org/drawingml/2006/main">
            <a:r>
              <a:t>        "output": "강수·유량"</a:t>
            </a:r>
          </a:p>
          <a:p xmlns:a="http://schemas.openxmlformats.org/drawingml/2006/main">
            <a:r>
              <a:t>      },</a:t>
            </a:r>
          </a:p>
          <a:p xmlns:a="http://schemas.openxmlformats.org/drawingml/2006/main">
            <a:r>
              <a:t>      {</a:t>
            </a:r>
          </a:p>
          <a:p xmlns:a="http://schemas.openxmlformats.org/drawingml/2006/main">
            <a:r>
              <a:t>        "title": "예측 모델",</a:t>
            </a:r>
          </a:p>
          <a:p xmlns:a="http://schemas.openxmlformats.org/drawingml/2006/main">
            <a:r>
              <a:t>        "input": "강수·유량",</a:t>
            </a:r>
          </a:p>
          <a:p xmlns:a="http://schemas.openxmlformats.org/drawingml/2006/main">
            <a:r>
              <a:t>        "process": "수문 입력을 활용한 범위별 위험 예측",</a:t>
            </a:r>
          </a:p>
          <a:p xmlns:a="http://schemas.openxmlformats.org/drawingml/2006/main">
            <a:r>
              <a:t>        "output": "시간별 예측"</a:t>
            </a:r>
          </a:p>
          <a:p xmlns:a="http://schemas.openxmlformats.org/drawingml/2006/main">
            <a:r>
              <a:t>      },</a:t>
            </a:r>
          </a:p>
          <a:p xmlns:a="http://schemas.openxmlformats.org/drawingml/2006/main">
            <a:r>
              <a:t>      {</a:t>
            </a:r>
          </a:p>
          <a:p xmlns:a="http://schemas.openxmlformats.org/drawingml/2006/main">
            <a:r>
              <a:t>        "title": "위험·시점 안내",</a:t>
            </a:r>
          </a:p>
          <a:p xmlns:a="http://schemas.openxmlformats.org/drawingml/2006/main">
            <a:r>
              <a:t>        "input": "시간별 예측",</a:t>
            </a:r>
          </a:p>
          <a:p xmlns:a="http://schemas.openxmlformats.org/drawingml/2006/main">
            <a:r>
              <a:t>        "process": "지역별 오탐·미탐과 선행시간 평가",</a:t>
            </a:r>
          </a:p>
          <a:p xmlns:a="http://schemas.openxmlformats.org/drawingml/2006/main">
            <a:r>
              <a:t>        "output": "위험·예상 시점"</a:t>
            </a:r>
          </a:p>
          <a:p xmlns:a="http://schemas.openxmlformats.org/drawingml/2006/main">
            <a:r>
              <a:t>      },</a:t>
            </a:r>
          </a:p>
          <a:p xmlns:a="http://schemas.openxmlformats.org/drawingml/2006/main">
            <a:r>
              <a:t>      {</a:t>
            </a:r>
          </a:p>
          <a:p xmlns:a="http://schemas.openxmlformats.org/drawingml/2006/main">
            <a:r>
              <a:t>        "title": "현장 대응 검토",</a:t>
            </a:r>
          </a:p>
          <a:p xmlns:a="http://schemas.openxmlformats.org/drawingml/2006/main">
            <a:r>
              <a:t>        "input": "위험·예상 시점",</a:t>
            </a:r>
          </a:p>
          <a:p xmlns:a="http://schemas.openxmlformats.org/drawingml/2006/main">
            <a:r>
              <a:t>        "process": "위험 지역·시점 정보를 공식 대응 검토에 전달",</a:t>
            </a:r>
          </a:p>
          <a:p xmlns:a="http://schemas.openxmlformats.org/drawingml/2006/main">
            <a:r>
              <a:t>        "output": "현장 대응 판단"</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"유역별 예측 위험을 지역별 대응 검토에 제공",</a:t>
            </a:r>
          </a:p>
          <a:p xmlns:a="http://schemas.openxmlformats.org/drawingml/2006/main">
            <a:r>
              <a:t>      "exception": "관측 결측·분포가 다른 유역·예측시점 이후 자료 혼입",</a:t>
            </a:r>
          </a:p>
          <a:p xmlns:a="http://schemas.openxmlformats.org/drawingml/2006/main">
            <a:r>
              <a:t>      "evidence": "시점 분리 평가와 유역별 미탐·과경보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"예보 운영자·방재 담당·주민",</a:t>
            </a:r>
          </a:p>
          <a:p xmlns:a="http://schemas.openxmlformats.org/drawingml/2006/main">
            <a:r>
              <a:t>          "processing": "유역·예측시점·대상 지역 지정",</a:t>
            </a:r>
          </a:p>
          <a:p xmlns:a="http://schemas.openxmlformats.org/drawingml/2006/main">
            <a:r>
              <a:t>          "output": "강수·유량"</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"하천·예측 이력",</a:t>
            </a:r>
          </a:p>
          <a:p xmlns:a="http://schemas.openxmlformats.org/drawingml/2006/main">
            <a:r>
              <a:t>          "processing": "유역 특성·관측·기상자료의 시간·공간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"강수·유량",</a:t>
            </a:r>
          </a:p>
          <a:p xmlns:a="http://schemas.openxmlformats.org/drawingml/2006/main">
            <a:r>
              <a:t>          "processing": "수문 입력을 활용한 범위별 위험 예측",</a:t>
            </a:r>
          </a:p>
          <a:p xmlns:a="http://schemas.openxmlformats.org/drawingml/2006/main">
            <a:r>
              <a:t>          "output": "위험·예상 시점"</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"위험·예상 시점",</a:t>
            </a:r>
          </a:p>
          <a:p xmlns:a="http://schemas.openxmlformats.org/drawingml/2006/main">
            <a:r>
              <a:t>          "processing": "위험 지역·시점 정보를 공식 대응 검토에 전달",</a:t>
            </a:r>
          </a:p>
          <a:p xmlns:a="http://schemas.openxmlformats.org/drawingml/2006/main">
            <a:r>
              <a:t>          "output": "현장 대응 판단"</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"미탐·과경보와 지역별 오차의 사후 분석",</a:t>
            </a:r>
          </a:p>
          <a:p xmlns:a="http://schemas.openxmlformats.org/drawingml/2006/main">
            <a:r>
              <a:t>          "output": "시점 분리 평가와 유역별 미탐·과경보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"미탐·과경보와 지역별 오차의 사후 분석",</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"S-AX12",</a:t>
            </a:r>
          </a:p>
          <a:p xmlns:a="http://schemas.openxmlformats.org/drawingml/2006/main">
            <a:r>
              <a:t>        "title": "Google 홍수 예측 · Nature 연구 / 2024",</a:t>
            </a:r>
          </a:p>
          <a:p xmlns:a="http://schemas.openxmlformats.org/drawingml/2006/main">
            <a:r>
              <a:t>        "url": "https://research.google/pubs/ai-increases-global-access-to-reliable-flood-forecasts-2/",</a:t>
            </a:r>
          </a:p>
          <a:p xmlns:a="http://schemas.openxmlformats.org/drawingml/2006/main">
            <a:r>
              <a:t>        "published": "2024 연구·운영",</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"예측 불확실성과 대응 책임의 동시 관리",</a:t>
            </a:r>
          </a:p>
          <a:p xmlns:a="http://schemas.openxmlformats.org/drawingml/2006/main">
            <a:r>
              <a:t>    "local": "교통시설 위험 알림과 관할 점검 조치 연결",</a:t>
            </a:r>
          </a:p>
          <a:p xmlns:a="http://schemas.openxmlformats.org/drawingml/2006/main">
            <a:r>
              <a:t>    "sourceDetail": null,</a:t>
            </a:r>
          </a:p>
          <a:p xmlns:a="http://schemas.openxmlformats.org/drawingml/2006/main">
            <a:r>
              <a:t>    "narrative": [</a:t>
            </a:r>
          </a:p>
          <a:p xmlns:a="http://schemas.openxmlformats.org/drawingml/2006/main">
            <a:r>
              <a:t>      "관측 자료가 부족한 지역까지 홍수 예측 정보를 제공하려는 사례. 예측 모델의 지역 일반화와 주민·대응기관의 실제 행동을 연결하는 단계가 별도 과제.",</a:t>
            </a:r>
          </a:p>
          <a:p xmlns:a="http://schemas.openxmlformats.org/drawingml/2006/main">
            <a:r>
              <a:t>      "유역 특성·강수·유량을 시간·공간 단위로 정합화하고 위험 지역·예상 시점을 산출하는 구조. TS 적용 설계에서는 기상·재난 위험을 교통시설·운행 업무와 연결해 담당자의 대응 검토를 지원.",</a:t>
            </a:r>
          </a:p>
          <a:p xmlns:a="http://schemas.openxmlformats.org/drawingml/2006/main">
            <a:r>
              <a:t>      "예측 정확도와 사고 예방 효과의 분리. 지역별 미탐·과경보·선행시간, 경보 수신과 조치 완료를 함께 평가하며 관측 부족 구간의 불확실성을 보존할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"예측 대상 지정",</a:t>
            </a:r>
          </a:p>
          <a:p xmlns:a="http://schemas.openxmlformats.org/drawingml/2006/main">
            <a:r>
              <a:t>          "layer": "이용 접점",</a:t>
            </a:r>
          </a:p>
          <a:p xmlns:a="http://schemas.openxmlformats.org/drawingml/2006/main">
            <a:r>
              <a:t>          "detail": "예보 운영자·방재 담당·주민",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"유역·예측시점",</a:t>
            </a:r>
          </a:p>
          <a:p xmlns:a="http://schemas.openxmlformats.org/drawingml/2006/main">
            <a:r>
              <a:t>          "layer": "업무 문맥",</a:t>
            </a:r>
          </a:p>
          <a:p xmlns:a="http://schemas.openxmlformats.org/drawingml/2006/main">
            <a:r>
              <a:t>          "detail": "유역·예측시점·대상 지역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"기상·수문 조회",</a:t>
            </a:r>
          </a:p>
          <a:p xmlns:a="http://schemas.openxmlformats.org/drawingml/2006/main">
            <a:r>
              <a:t>          "layer": "자료 조회",</a:t>
            </a:r>
          </a:p>
          <a:p xmlns:a="http://schemas.openxmlformats.org/drawingml/2006/main">
            <a:r>
              <a:t>          "detail": "강수·유량",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"홍수 위험 예측",</a:t>
            </a:r>
          </a:p>
          <a:p xmlns:a="http://schemas.openxmlformats.org/drawingml/2006/main">
            <a:r>
              <a:t>          "layer": "핵심 처리",</a:t>
            </a:r>
          </a:p>
          <a:p xmlns:a="http://schemas.openxmlformats.org/drawingml/2006/main">
            <a:r>
              <a:t>          "detail": "수문 입력을 활용한 범위별 위험 예측",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"지역별 오차 검사",</a:t>
            </a:r>
          </a:p>
          <a:p xmlns:a="http://schemas.openxmlformats.org/drawingml/2006/main">
            <a:r>
              <a:t>          "layer": "결과 검증",</a:t>
            </a:r>
          </a:p>
          <a:p xmlns:a="http://schemas.openxmlformats.org/drawingml/2006/main">
            <a:r>
              <a:t>          "detail": "지역별 오탐·미탐과 선행시간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"예보 담당 판단",</a:t>
            </a:r>
          </a:p>
          <a:p xmlns:a="http://schemas.openxmlformats.org/drawingml/2006/main">
            <a:r>
              <a:t>          "layer": "사람 확인",</a:t>
            </a:r>
          </a:p>
          <a:p xmlns:a="http://schemas.openxmlformats.org/drawingml/2006/main">
            <a:r>
              <a:t>          "detail": "유역별 예측 위험을 지역별 대응 검토에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"경보·대응 연결",</a:t>
            </a:r>
          </a:p>
          <a:p xmlns:a="http://schemas.openxmlformats.org/drawingml/2006/main">
            <a:r>
              <a:t>          "layer": "업무 연결",</a:t>
            </a:r>
          </a:p>
          <a:p xmlns:a="http://schemas.openxmlformats.org/drawingml/2006/main">
            <a:r>
              <a:t>          "detail": "위험 지역·시점 정보를 공식 대응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"미탐·과경보 분석",</a:t>
            </a:r>
          </a:p>
          <a:p xmlns:a="http://schemas.openxmlformats.org/drawingml/2006/main">
            <a:r>
              <a:t>          "layer": "운영 관측",</a:t>
            </a:r>
          </a:p>
          <a:p xmlns:a="http://schemas.openxmlformats.org/drawingml/2006/main">
            <a:r>
              <a:t>          "detail": "미탐·과경보와 지역별 오차의 사후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"유역·관측 자료",</a:t>
            </a:r>
          </a:p>
          <a:p xmlns:a="http://schemas.openxmlformats.org/drawingml/2006/main">
            <a:r>
              <a:t>          "layer": "데이터 원천",</a:t>
            </a:r>
          </a:p>
          <a:p xmlns:a="http://schemas.openxmlformats.org/drawingml/2006/main">
            <a:r>
              <a:t>          "detail": "하천·예측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"시간·공간 정합화",</a:t>
            </a:r>
          </a:p>
          <a:p xmlns:a="http://schemas.openxmlformats.org/drawingml/2006/main">
            <a:r>
              <a:t>          "layer": "준비·갱신",</a:t>
            </a:r>
          </a:p>
          <a:p xmlns:a="http://schemas.openxmlformats.org/drawingml/2006/main">
            <a:r>
              <a:t>          "detail": "유역 특성·관측·기상자료의 시간·공간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"예측·관측 이력",</a:t>
            </a:r>
          </a:p>
          <a:p xmlns:a="http://schemas.openxmlformats.org/drawingml/2006/main">
            <a:r>
              <a:t>          "layer": "상태·지식 저장",</a:t>
            </a:r>
          </a:p>
          <a:p xmlns:a="http://schemas.openxmlformats.org/drawingml/2006/main">
            <a:r>
              <a:t>          "detail": "시점 분리 평가와 유역별 미탐·과경보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"경보·대응 기준",</a:t>
            </a:r>
          </a:p>
          <a:p xmlns:a="http://schemas.openxmlformats.org/drawingml/2006/main">
            <a:r>
              <a:t>          "layer": "권한·정책",</a:t>
            </a:r>
          </a:p>
          <a:p xmlns:a="http://schemas.openxmlformats.org/drawingml/2006/main">
            <a:r>
              <a:t>          "detail": "관측 결측·분포가 다른 유역·예측시점 이후 자료 혼입",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"수문·기상 입력 → 예측 모델 → 위험·시점 안내 → 현장 대응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"하천·예측 이력",</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"시간별 예측",</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"유역 특성·관측·기상자료의 시간·공간 정합화"</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"위험·예상 시점",</a:t>
            </a:r>
          </a:p>
          <a:p xmlns:a="http://schemas.openxmlformats.org/drawingml/2006/main">
            <a:r>
              <a:t>          "check": "시점 분리 평가와 유역별 미탐·과경보 결과"</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"위험·예상 시점",</a:t>
            </a:r>
          </a:p>
          <a:p xmlns:a="http://schemas.openxmlformats.org/drawingml/2006/main">
            <a:r>
              <a:t>          "check": "지역별 오탐·미탐과 선행시간 평가"</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"현장 대응 판단",</a:t>
            </a:r>
          </a:p>
          <a:p xmlns:a="http://schemas.openxmlformats.org/drawingml/2006/main">
            <a:r>
              <a:t>          "check": "시점 분리 평가와 유역별 미탐·과경보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"관측이 부족한 하천의 홍수 위험 예측 / 수문 예측·위험 정보·알림 연결",</a:t>
            </a:r>
          </a:p>
          <a:p xmlns:a="http://schemas.openxmlformats.org/drawingml/2006/main">
            <a:r>
              <a:t>        "extension": "교통시설 위험 알림과 관할 점검 조치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"관측 결측·분포가 다른 유역·예측시점 이후 자료 혼입",</a:t>
            </a:r>
          </a:p>
          <a:p xmlns:a="http://schemas.openxmlformats.org/drawingml/2006/main">
            <a:r>
              <a:t>        "hold": "지역별 오탐·미탐과 선행시간 평가",</a:t>
            </a:r>
          </a:p>
          <a:p xmlns:a="http://schemas.openxmlformats.org/drawingml/2006/main">
            <a:r>
              <a:t>        "recovery": "미탐·과경보와 지역별 오차의 사후 분석",</a:t>
            </a:r>
          </a:p>
          <a:p xmlns:a="http://schemas.openxmlformats.org/drawingml/2006/main">
            <a:r>
              <a:t>        "evidence": "시점 분리 평가와 유역별 미탐·과경보 결과"</a:t>
            </a:r>
          </a:p>
          <a:p xmlns:a="http://schemas.openxmlformats.org/drawingml/2006/main">
            <a:r>
              <a:t>      },</a:t>
            </a:r>
          </a:p>
          <a:p xmlns:a="http://schemas.openxmlformats.org/drawingml/2006/main">
            <a:r>
              <a:t>      "data": {</a:t>
            </a:r>
          </a:p>
          <a:p xmlns:a="http://schemas.openxmlformats.org/drawingml/2006/main">
            <a:r>
              <a:t>        "source": "하천·예측 이력",</a:t>
            </a:r>
          </a:p>
          <a:p xmlns:a="http://schemas.openxmlformats.org/drawingml/2006/main">
            <a:r>
              <a:t>        "prepare": "유역 특성·관측·기상자료의 시간·공간 정합화",</a:t>
            </a:r>
          </a:p>
          <a:p xmlns:a="http://schemas.openxmlformats.org/drawingml/2006/main">
            <a:r>
              <a:t>        "output": "강수·유량",</a:t>
            </a:r>
          </a:p>
          <a:p xmlns:a="http://schemas.openxmlformats.org/drawingml/2006/main">
            <a:r>
              <a:t>        "refresh": "미탐·과경보와 지역별 오차의 사후 분석"</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"AX12",</a:t>
            </a:r>
          </a:p>
          <a:p xmlns:a="http://schemas.openxmlformats.org/drawingml/2006/main">
            <a:r>
              <a:t>    "success": [</a:t>
            </a:r>
          </a:p>
          <a:p xmlns:a="http://schemas.openxmlformats.org/drawingml/2006/main">
            <a:r>
              <a:t>      "관측 부족 지역의 예측 범위 확대",</a:t>
            </a:r>
          </a:p>
          <a:p xmlns:a="http://schemas.openxmlformats.org/drawingml/2006/main">
            <a:r>
              <a:t>      "비교 평가를 통한 예측 검토"</a:t>
            </a:r>
          </a:p>
          <a:p xmlns:a="http://schemas.openxmlformats.org/drawingml/2006/main">
            <a:r>
              <a:t>    ],</a:t>
            </a:r>
          </a:p>
          <a:p xmlns:a="http://schemas.openxmlformats.org/drawingml/2006/main">
            <a:r>
              <a:t>    "risks": [</a:t>
            </a:r>
          </a:p>
          <a:p xmlns:a="http://schemas.openxmlformats.org/drawingml/2006/main">
            <a:r>
              <a:t>      "관측 분포·지역별 불확실성",</a:t>
            </a:r>
          </a:p>
          <a:p xmlns:a="http://schemas.openxmlformats.org/drawingml/2006/main">
            <a:r>
              <a:t>      "경보 정확도와 실제 대응 효과의 차이"</a:t>
            </a:r>
          </a:p>
          <a:p xmlns:a="http://schemas.openxmlformats.org/drawingml/2006/main">
            <a:r>
              <a:t>    ],</a:t>
            </a:r>
          </a:p>
          <a:p xmlns:a="http://schemas.openxmlformats.org/drawingml/2006/main">
            <a:r>
              <a:t>    "architecture": [</a:t>
            </a:r>
          </a:p>
          <a:p xmlns:a="http://schemas.openxmlformats.org/drawingml/2006/main">
            <a:r>
              <a:t>      "수문·기상 자료",</a:t>
            </a:r>
          </a:p>
          <a:p xmlns:a="http://schemas.openxmlformats.org/drawingml/2006/main">
            <a:r>
              <a:t>      "홍수 예측 모델",</a:t>
            </a:r>
          </a:p>
          <a:p xmlns:a="http://schemas.openxmlformats.org/drawingml/2006/main">
            <a:r>
              <a:t>      "하천·예측 이력",</a:t>
            </a:r>
          </a:p>
          <a:p xmlns:a="http://schemas.openxmlformats.org/drawingml/2006/main">
            <a:r>
              <a:t>      "지역 대응 담당"</a:t>
            </a:r>
          </a:p>
          <a:p xmlns:a="http://schemas.openxmlformats.org/drawingml/2006/main">
            <a:r>
              <a:t>    ],</a:t>
            </a:r>
          </a:p>
          <a:p xmlns:a="http://schemas.openxmlformats.org/drawingml/2006/main">
            <a:r>
              <a:t>    "transfers": [</a:t>
            </a:r>
          </a:p>
          <a:p xmlns:a="http://schemas.openxmlformats.org/drawingml/2006/main">
            <a:r>
              <a:t>      "강수·유량",</a:t>
            </a:r>
          </a:p>
          <a:p xmlns:a="http://schemas.openxmlformats.org/drawingml/2006/main">
            <a:r>
              <a:t>      "시간별 예측",</a:t>
            </a:r>
          </a:p>
          <a:p xmlns:a="http://schemas.openxmlformats.org/drawingml/2006/main">
            <a:r>
              <a:t>      "위험·예상 시점",</a:t>
            </a:r>
          </a:p>
          <a:p xmlns:a="http://schemas.openxmlformats.org/drawingml/2006/main">
            <a:r>
              <a:t>      "현장 대응 판단"</a:t>
            </a:r>
          </a:p>
          <a:p xmlns:a="http://schemas.openxmlformats.org/drawingml/2006/main">
            <a:r>
              <a:t>    ],</a:t>
            </a:r>
          </a:p>
          <a:p xmlns:a="http://schemas.openxmlformats.org/drawingml/2006/main">
            <a:r>
              <a:t>    "control": "지역별 오탐·미탐과 선행시간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Google 홍수 예측 · Nature 연구 / 2024 https://research.google/pubs/ai-increases-global-access-to-reliable-flood-forecasts-2/</a:t>
            </a:r>
          </a:p>
          <a:p xmlns:a="http://schemas.openxmlformats.org/drawingml/2006/main">
            <a:r>
              <a:t>홈페이지 https://heen1987-ops.github.io/TS-business-Plan-001/index.html?view=casebook&amp;case=AX12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"AX13",</a:t>
            </a:r>
          </a:p>
          <a:p xmlns:a="http://schemas.openxmlformats.org/drawingml/2006/main">
            <a:r>
              <a:t>    "title": "뉴욕 MyCity 챗봇 감사",</a:t>
            </a:r>
          </a:p>
          <a:p xmlns:a="http://schemas.openxmlformats.org/drawingml/2006/main">
            <a:r>
              <a:t>    "region": "해외",</a:t>
            </a:r>
          </a:p>
          <a:p xmlns:a="http://schemas.openxmlformats.org/drawingml/2006/main">
            <a:r>
              <a:t>    "country": "미국",</a:t>
            </a:r>
          </a:p>
          <a:p xmlns:a="http://schemas.openxmlformats.org/drawingml/2006/main">
            <a:r>
              <a:t>    "result": "실패",</a:t>
            </a:r>
          </a:p>
          <a:p xmlns:a="http://schemas.openxmlformats.org/drawingml/2006/main">
            <a:r>
              <a:t>    "kind": "공공 서비스 AI 품질·사업관리",</a:t>
            </a:r>
          </a:p>
          <a:p xmlns:a="http://schemas.openxmlformats.org/drawingml/2006/main">
            <a:r>
              <a:t>    "period": "2025 감사 / 2026 갱신",</a:t>
            </a:r>
          </a:p>
          <a:p xmlns:a="http://schemas.openxmlformats.org/drawingml/2006/main">
            <a:r>
              <a:t>    "sources": [</a:t>
            </a:r>
          </a:p>
          <a:p xmlns:a="http://schemas.openxmlformats.org/drawingml/2006/main">
            <a:r>
              <a:t>      "S-AX13"</a:t>
            </a:r>
          </a:p>
          <a:p xmlns:a="http://schemas.openxmlformats.org/drawingml/2006/main">
            <a:r>
              <a:t>    ],</a:t>
            </a:r>
          </a:p>
          <a:p xmlns:a="http://schemas.openxmlformats.org/drawingml/2006/main">
            <a:r>
              <a:t>    "keywords": [</a:t>
            </a:r>
          </a:p>
          <a:p xmlns:a="http://schemas.openxmlformats.org/drawingml/2006/main">
            <a:r>
              <a:t>      "공공 서비스 AI 품질",</a:t>
            </a:r>
          </a:p>
          <a:p xmlns:a="http://schemas.openxmlformats.org/drawingml/2006/main">
            <a:r>
              <a:t>      "사업관리"</a:t>
            </a:r>
          </a:p>
          <a:p xmlns:a="http://schemas.openxmlformats.org/drawingml/2006/main">
            <a:r>
              <a:t>    ],</a:t>
            </a:r>
          </a:p>
          <a:p xmlns:a="http://schemas.openxmlformats.org/drawingml/2006/main">
            <a:r>
              <a:t>    "fact": "부정확·비일관 답변과 사업관리·통합서비스 미비에 대한 감사 지적",</a:t>
            </a:r>
          </a:p>
          <a:p xmlns:a="http://schemas.openxmlformats.org/drawingml/2006/main">
            <a:r>
              <a:t>    "limit": "운영기관의 정확도 주장과 감사 판단의 차이 존재 · 개별 질의·평가 방식 대조 필요",</a:t>
            </a:r>
          </a:p>
          <a:p xmlns:a="http://schemas.openxmlformats.org/drawingml/2006/main">
            <a:r>
              <a:t>    "flow": [</a:t>
            </a:r>
          </a:p>
          <a:p xmlns:a="http://schemas.openxmlformats.org/drawingml/2006/main">
            <a:r>
              <a:t>      "공공 안내 자료",</a:t>
            </a:r>
          </a:p>
          <a:p xmlns:a="http://schemas.openxmlformats.org/drawingml/2006/main">
            <a:r>
              <a:t>      "AI 챗봇",</a:t>
            </a:r>
          </a:p>
          <a:p xmlns:a="http://schemas.openxmlformats.org/drawingml/2006/main">
            <a:r>
              <a:t>      "사업자 안내",</a:t>
            </a:r>
          </a:p>
          <a:p xmlns:a="http://schemas.openxmlformats.org/drawingml/2006/main">
            <a:r>
              <a:t>      "감사·개선 요청"</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"출시 여부와 실제 민원 과업 완료의 분리 평가",</a:t>
            </a:r>
          </a:p>
          <a:p xmlns:a="http://schemas.openxmlformats.org/drawingml/2006/main">
            <a:r>
              <a:t>    "local": "TS 대민 안내의 근거·소관·신청 완료까지 검수",</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"반례 정답셋·오안내 신고·책임부서 인계",</a:t>
            </a:r>
          </a:p>
          <a:p xmlns:a="http://schemas.openxmlformats.org/drawingml/2006/main">
            <a:r>
              <a:t>    "test": "규정과 상충하는 안내 및 미완료 신청 재현",</a:t>
            </a:r>
          </a:p>
          <a:p xmlns:a="http://schemas.openxmlformats.org/drawingml/2006/main">
            <a:r>
              <a:t>    "metric": "오안내율 / 신청 완료율 / 재접촉률",</a:t>
            </a:r>
          </a:p>
          <a:p xmlns:a="http://schemas.openxmlformats.org/drawingml/2006/main">
            <a:r>
              <a:t>    "strategies": [</a:t>
            </a:r>
          </a:p>
          <a:p xmlns:a="http://schemas.openxmlformats.org/drawingml/2006/main">
            <a:r>
              <a:t>      "ST-04",</a:t>
            </a:r>
          </a:p>
          <a:p xmlns:a="http://schemas.openxmlformats.org/drawingml/2006/main">
            <a:r>
              <a:t>      "ST-08",</a:t>
            </a:r>
          </a:p>
          <a:p xmlns:a="http://schemas.openxmlformats.org/drawingml/2006/main">
            <a:r>
              <a:t>      "ST-09",</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"AX13",</a:t>
            </a:r>
          </a:p>
          <a:p xmlns:a="http://schemas.openxmlformats.org/drawingml/2006/main">
            <a:r>
              <a:t>    "canonicalId": "AX13",</a:t>
            </a:r>
          </a:p>
          <a:p xmlns:a="http://schemas.openxmlformats.org/drawingml/2006/main">
            <a:r>
              <a:t>    "purpose": "대민 챗봇의 답변 품질·사업관리 실패 분석",</a:t>
            </a:r>
          </a:p>
          <a:p xmlns:a="http://schemas.openxmlformats.org/drawingml/2006/main">
            <a:r>
              <a:t>    "users": "사업자·시민·서비스 운영부서",</a:t>
            </a:r>
          </a:p>
          <a:p xmlns:a="http://schemas.openxmlformats.org/drawingml/2006/main">
            <a:r>
              <a:t>    "scope": [</a:t>
            </a:r>
          </a:p>
          <a:p xmlns:a="http://schemas.openxmlformats.org/drawingml/2006/main">
            <a:r>
              <a:t>      "질의응답",</a:t>
            </a:r>
          </a:p>
          <a:p xmlns:a="http://schemas.openxmlformats.org/drawingml/2006/main">
            <a:r>
              <a:t>      "포털 통합",</a:t>
            </a:r>
          </a:p>
          <a:p xmlns:a="http://schemas.openxmlformats.org/drawingml/2006/main">
            <a:r>
              <a:t>      "계약·감사"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"MyCity 안내",</a:t>
            </a:r>
          </a:p>
          <a:p xmlns:a="http://schemas.openxmlformats.org/drawingml/2006/main">
            <a:r>
              <a:t>        "detail": "요청 업무와 공식 소관·이용조건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포털 통합 / 계약·감사",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 챗봇·포털",</a:t>
            </a:r>
          </a:p>
          <a:p xmlns:a="http://schemas.openxmlformats.org/drawingml/2006/main">
            <a:r>
              <a:t>        "detail": "공식 정보 검색과 근거별 답변 대조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"사업자·서비스 담당",</a:t>
            </a:r>
          </a:p>
          <a:p xmlns:a="http://schemas.openxmlformats.org/drawingml/2006/main">
            <a:r>
              <a:t>        "detail": "검증된 안내와 실제 신청 경로의 분리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"공공 안내·응답 기록",</a:t>
            </a:r>
          </a:p>
          <a:p xmlns:a="http://schemas.openxmlformats.org/drawingml/2006/main">
            <a:r>
              <a:t>        "detail": "정책 원문·서비스 목록·시험 질문의 버전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"회귀시험·오답 보완·계약 산출물의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"공공 안내 자료",</a:t>
            </a:r>
          </a:p>
          <a:p xmlns:a="http://schemas.openxmlformats.org/drawingml/2006/main">
            <a:r>
              <a:t>        "input": "요청 업무와 공식 소관·이용조건 식별",</a:t>
            </a:r>
          </a:p>
          <a:p xmlns:a="http://schemas.openxmlformats.org/drawingml/2006/main">
            <a:r>
              <a:t>        "process": "정책 원문·서비스 목록·시험 질문의 버전 관리",</a:t>
            </a:r>
          </a:p>
          <a:p xmlns:a="http://schemas.openxmlformats.org/drawingml/2006/main">
            <a:r>
              <a:t>        "output": "이용자 질문"</a:t>
            </a:r>
          </a:p>
          <a:p xmlns:a="http://schemas.openxmlformats.org/drawingml/2006/main">
            <a:r>
              <a:t>      },</a:t>
            </a:r>
          </a:p>
          <a:p xmlns:a="http://schemas.openxmlformats.org/drawingml/2006/main">
            <a:r>
              <a:t>      {</a:t>
            </a:r>
          </a:p>
          <a:p xmlns:a="http://schemas.openxmlformats.org/drawingml/2006/main">
            <a:r>
              <a:t>        "title": "AI 챗봇",</a:t>
            </a:r>
          </a:p>
          <a:p xmlns:a="http://schemas.openxmlformats.org/drawingml/2006/main">
            <a:r>
              <a:t>        "input": "이용자 질문",</a:t>
            </a:r>
          </a:p>
          <a:p xmlns:a="http://schemas.openxmlformats.org/drawingml/2006/main">
            <a:r>
              <a:t>        "process": "공식 정보 검색과 근거별 답변 대조 설계",</a:t>
            </a:r>
          </a:p>
          <a:p xmlns:a="http://schemas.openxmlformats.org/drawingml/2006/main">
            <a:r>
              <a:t>        "output": "안내 자료"</a:t>
            </a:r>
          </a:p>
          <a:p xmlns:a="http://schemas.openxmlformats.org/drawingml/2006/main">
            <a:r>
              <a:t>      },</a:t>
            </a:r>
          </a:p>
          <a:p xmlns:a="http://schemas.openxmlformats.org/drawingml/2006/main">
            <a:r>
              <a:t>      {</a:t>
            </a:r>
          </a:p>
          <a:p xmlns:a="http://schemas.openxmlformats.org/drawingml/2006/main">
            <a:r>
              <a:t>        "title": "사업자 안내",</a:t>
            </a:r>
          </a:p>
          <a:p xmlns:a="http://schemas.openxmlformats.org/drawingml/2006/main">
            <a:r>
              <a:t>        "input": "안내 자료",</a:t>
            </a:r>
          </a:p>
          <a:p xmlns:a="http://schemas.openxmlformats.org/drawingml/2006/main">
            <a:r>
              <a:t>        "process": "OTI 반론을 함께 보존한 근거별 평가",</a:t>
            </a:r>
          </a:p>
          <a:p xmlns:a="http://schemas.openxmlformats.org/drawingml/2006/main">
            <a:r>
              <a:t>        "output": "챗봇 답변·연결"</a:t>
            </a:r>
          </a:p>
          <a:p xmlns:a="http://schemas.openxmlformats.org/drawingml/2006/main">
            <a:r>
              <a:t>      },</a:t>
            </a:r>
          </a:p>
          <a:p xmlns:a="http://schemas.openxmlformats.org/drawingml/2006/main">
            <a:r>
              <a:t>      {</a:t>
            </a:r>
          </a:p>
          <a:p xmlns:a="http://schemas.openxmlformats.org/drawingml/2006/main">
            <a:r>
              <a:t>        "title": "감사·개선 요청",</a:t>
            </a:r>
          </a:p>
          <a:p xmlns:a="http://schemas.openxmlformats.org/drawingml/2006/main">
            <a:r>
              <a:t>        "input": "챗봇 답변·연결",</a:t>
            </a:r>
          </a:p>
          <a:p xmlns:a="http://schemas.openxmlformats.org/drawingml/2006/main">
            <a:r>
              <a:t>        "process": "검증된 안내와 실제 신청 경로의 분리 제공",</a:t>
            </a:r>
          </a:p>
          <a:p xmlns:a="http://schemas.openxmlformats.org/drawingml/2006/main">
            <a:r>
              <a:t>        "output": "피드백·감사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"사업자가 허가 조건을 질문해 공식 안내로 이동",</a:t>
            </a:r>
          </a:p>
          <a:p xmlns:a="http://schemas.openxmlformats.org/drawingml/2006/main">
            <a:r>
              <a:t>      "exception": "동일 질문 표현 변경·상충 규정·폐지된 서비스",</a:t>
            </a:r>
          </a:p>
          <a:p xmlns:a="http://schemas.openxmlformats.org/drawingml/2006/main">
            <a:r>
              <a:t>      "evidence": "질문별 정답·변형 질의 일관성·실제 서비스 도달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"사업자·시민·서비스 운영부서",</a:t>
            </a:r>
          </a:p>
          <a:p xmlns:a="http://schemas.openxmlformats.org/drawingml/2006/main">
            <a:r>
              <a:t>          "processing": "요청 업무와 공식 소관·이용조건 식별",</a:t>
            </a:r>
          </a:p>
          <a:p xmlns:a="http://schemas.openxmlformats.org/drawingml/2006/main">
            <a:r>
              <a:t>          "output": "이용자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"공공 안내·응답 기록",</a:t>
            </a:r>
          </a:p>
          <a:p xmlns:a="http://schemas.openxmlformats.org/drawingml/2006/main">
            <a:r>
              <a:t>          "processing": "정책 원문·서비스 목록·시험 질문의 버전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"이용자 질문",</a:t>
            </a:r>
          </a:p>
          <a:p xmlns:a="http://schemas.openxmlformats.org/drawingml/2006/main">
            <a:r>
              <a:t>          "processing": "공식 정보 검색과 근거별 답변 대조 설계",</a:t>
            </a:r>
          </a:p>
          <a:p xmlns:a="http://schemas.openxmlformats.org/drawingml/2006/main">
            <a:r>
              <a:t>          "output": "챗봇 답변·연결"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"챗봇 답변·연결",</a:t>
            </a:r>
          </a:p>
          <a:p xmlns:a="http://schemas.openxmlformats.org/drawingml/2006/main">
            <a:r>
              <a:t>          "processing": "검증된 안내와 실제 신청 경로의 분리 제공",</a:t>
            </a:r>
          </a:p>
          <a:p xmlns:a="http://schemas.openxmlformats.org/drawingml/2006/main">
            <a:r>
              <a:t>          "output": "피드백·감사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"회귀시험·오답 보완·계약 산출물의 대사",</a:t>
            </a:r>
          </a:p>
          <a:p xmlns:a="http://schemas.openxmlformats.org/drawingml/2006/main">
            <a:r>
              <a:t>          "output":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"회귀시험·오답 보완·계약 산출물의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"S-AX13",</a:t>
            </a:r>
          </a:p>
          <a:p xmlns:a="http://schemas.openxmlformats.org/drawingml/2006/main">
            <a:r>
              <a:t>        "title": "뉴욕 MyCity 챗봇 감사 · 뉴욕시 감사기관 / 2025-12-30",</a:t>
            </a:r>
          </a:p>
          <a:p xmlns:a="http://schemas.openxmlformats.org/drawingml/2006/main">
            <a:r>
              <a:t>        "url": "https://comptroller.nyc.gov/reports/audit-report-on-the-new-york-city-office-of-technology-and-innovations-mycity-system/",</a:t>
            </a:r>
          </a:p>
          <a:p xmlns:a="http://schemas.openxmlformats.org/drawingml/2006/main">
            <a:r>
              <a:t>        "published": "2025 감사 / 2026 갱신",</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"출시 여부와 실제 민원 과업 완료의 분리 평가",</a:t>
            </a:r>
          </a:p>
          <a:p xmlns:a="http://schemas.openxmlformats.org/drawingml/2006/main">
            <a:r>
              <a:t>    "local": "TS 대민 안내의 근거·소관·신청 완료까지 검수",</a:t>
            </a:r>
          </a:p>
          <a:p xmlns:a="http://schemas.openxmlformats.org/drawingml/2006/main">
            <a:r>
              <a:t>    "sourceDetail": null,</a:t>
            </a:r>
          </a:p>
          <a:p xmlns:a="http://schemas.openxmlformats.org/drawingml/2006/main">
            <a:r>
              <a:t>    "narrative": [</a:t>
            </a:r>
          </a:p>
          <a:p xmlns:a="http://schemas.openxmlformats.org/drawingml/2006/main">
            <a:r>
              <a:t>      "뉴욕 MyCity의 챗봇 답변 품질과 통합서비스 사업관리 문제를 다룬 감사 사례. 공식 안내의 정확성과 서비스 통합·계약 감독을 함께 봐야 하는 대민 AI 사업의 사례.",</a:t>
            </a:r>
          </a:p>
          <a:p xmlns:a="http://schemas.openxmlformats.org/drawingml/2006/main">
            <a:r>
              <a:t>      "질문별 근거 문서, 답변 결과, 공식 신청 경로, 오류 수정 이력을 연결하는 재구성. 독립 시험셋과 계약 산출물 목록을 대응시키고 감사 지적·기관 반론을 근거별로 구분해 비교하는 방식.",</a:t>
            </a:r>
          </a:p>
          <a:p xmlns:a="http://schemas.openxmlformats.org/drawingml/2006/main">
            <a:r>
              <a:t>      "TS에서는 챗봇 공개와 민원 업무 완결을 같은 성과로 보지 않는 설계에 활용. 부정확·상충 안내의 회귀시험, 완료조건 정의, 변경 요구와 인수 증빙의 연결을 CCK 사업관리 기능에 반영할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"MyCity 질의",</a:t>
            </a:r>
          </a:p>
          <a:p xmlns:a="http://schemas.openxmlformats.org/drawingml/2006/main">
            <a:r>
              <a:t>          "layer": "이용 접점",</a:t>
            </a:r>
          </a:p>
          <a:p xmlns:a="http://schemas.openxmlformats.org/drawingml/2006/main">
            <a:r>
              <a:t>          "detail": "사업자·시민·서비스 운영부서",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"소관·이용조건",</a:t>
            </a:r>
          </a:p>
          <a:p xmlns:a="http://schemas.openxmlformats.org/drawingml/2006/main">
            <a:r>
              <a:t>          "layer": "업무 문맥",</a:t>
            </a:r>
          </a:p>
          <a:p xmlns:a="http://schemas.openxmlformats.org/drawingml/2006/main">
            <a:r>
              <a:t>          "detail": "요청 업무와 공식 소관·이용조건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안내 검색",</a:t>
            </a:r>
          </a:p>
          <a:p xmlns:a="http://schemas.openxmlformats.org/drawingml/2006/main">
            <a:r>
              <a:t>          "layer": "자료 조회",</a:t>
            </a:r>
          </a:p>
          <a:p xmlns:a="http://schemas.openxmlformats.org/drawingml/2006/main">
            <a:r>
              <a:t>          "detail": "이용자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"근거형 답변 구성",</a:t>
            </a:r>
          </a:p>
          <a:p xmlns:a="http://schemas.openxmlformats.org/drawingml/2006/main">
            <a:r>
              <a:t>          "layer": "핵심 처리",</a:t>
            </a:r>
          </a:p>
          <a:p xmlns:a="http://schemas.openxmlformats.org/drawingml/2006/main">
            <a:r>
              <a:t>          "detail": "공식 정보 검색과 근거별 답변 대조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"위법·상충 안내 검사",</a:t>
            </a:r>
          </a:p>
          <a:p xmlns:a="http://schemas.openxmlformats.org/drawingml/2006/main">
            <a:r>
              <a:t>          "layer": "결과 검증",</a:t>
            </a:r>
          </a:p>
          <a:p xmlns:a="http://schemas.openxmlformats.org/drawingml/2006/main">
            <a:r>
              <a:t>          "detail": "OTI 반론을 함께 보존한 근거별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"서비스 담당 검토",</a:t>
            </a:r>
          </a:p>
          <a:p xmlns:a="http://schemas.openxmlformats.org/drawingml/2006/main">
            <a:r>
              <a:t>          "layer": "사람 확인",</a:t>
            </a:r>
          </a:p>
          <a:p xmlns:a="http://schemas.openxmlformats.org/drawingml/2006/main">
            <a:r>
              <a:t>          "detail": "사업자가 허가 조건을 질문해 공식 안내로 이동",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"신청 경로 안내",</a:t>
            </a:r>
          </a:p>
          <a:p xmlns:a="http://schemas.openxmlformats.org/drawingml/2006/main">
            <a:r>
              <a:t>          "layer": "업무 연결",</a:t>
            </a:r>
          </a:p>
          <a:p xmlns:a="http://schemas.openxmlformats.org/drawingml/2006/main">
            <a:r>
              <a:t>          "detail": "검증된 안내와 실제 신청 경로의 분리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"오답·계약 대사",</a:t>
            </a:r>
          </a:p>
          <a:p xmlns:a="http://schemas.openxmlformats.org/drawingml/2006/main">
            <a:r>
              <a:t>          "layer": "운영 관측",</a:t>
            </a:r>
          </a:p>
          <a:p xmlns:a="http://schemas.openxmlformats.org/drawingml/2006/main">
            <a:r>
              <a:t>          "detail": "회귀시험·오답 보완·계약 산출물의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"정책·서비스 목록",</a:t>
            </a:r>
          </a:p>
          <a:p xmlns:a="http://schemas.openxmlformats.org/drawingml/2006/main">
            <a:r>
              <a:t>          "layer": "데이터 원천",</a:t>
            </a:r>
          </a:p>
          <a:p xmlns:a="http://schemas.openxmlformats.org/drawingml/2006/main">
            <a:r>
              <a:t>          "detail": "공공 안내·응답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"판본·적용조건 정리",</a:t>
            </a:r>
          </a:p>
          <a:p xmlns:a="http://schemas.openxmlformats.org/drawingml/2006/main">
            <a:r>
              <a:t>          "layer": "준비·갱신",</a:t>
            </a:r>
          </a:p>
          <a:p xmlns:a="http://schemas.openxmlformats.org/drawingml/2006/main">
            <a:r>
              <a:t>          "detail": "정책 원문·서비스 목록·시험 질문의 버전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"안내·회귀시험셋",</a:t>
            </a:r>
          </a:p>
          <a:p xmlns:a="http://schemas.openxmlformats.org/drawingml/2006/main">
            <a:r>
              <a:t>          "layer": "상태·지식 저장",</a:t>
            </a:r>
          </a:p>
          <a:p xmlns:a="http://schemas.openxmlformats.org/drawingml/2006/main">
            <a:r>
              <a:t>          "detail": "질문별 정답·변형 질의 일관성·실제 서비스 도달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 책임·품질기준",</a:t>
            </a:r>
          </a:p>
          <a:p xmlns:a="http://schemas.openxmlformats.org/drawingml/2006/main">
            <a:r>
              <a:t>          "layer": "권한·정책",</a:t>
            </a:r>
          </a:p>
          <a:p xmlns:a="http://schemas.openxmlformats.org/drawingml/2006/main">
            <a:r>
              <a:t>          "detail": "동일 질문 표현 변경·상충 규정·폐지된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"공공 안내 자료 → AI 챗봇 → 사업자 안내 → 감사·개선 요청"</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"공공 안내·응답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업무와 공식 소관·이용조건 식별",</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"질문별 정답·변형 질의 일관성·실제 서비스 도달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"안내 자료",</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"챗봇 답변·연결",</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"대민 챗봇의 답변 품질·사업관리 실패 분석 / 질의응답·포털 통합·계약·감사",</a:t>
            </a:r>
          </a:p>
          <a:p xmlns:a="http://schemas.openxmlformats.org/drawingml/2006/main">
            <a:r>
              <a:t>        "extension": "TS 대민 안내의 근거·소관·신청 완료까지 검수"</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"동일 질문 표현 변경·상충 규정·폐지된 서비스",</a:t>
            </a:r>
          </a:p>
          <a:p xmlns:a="http://schemas.openxmlformats.org/drawingml/2006/main">
            <a:r>
              <a:t>        "hold": "OTI 반론을 함께 보존한 근거별 평가",</a:t>
            </a:r>
          </a:p>
          <a:p xmlns:a="http://schemas.openxmlformats.org/drawingml/2006/main">
            <a:r>
              <a:t>        "recovery": "회귀시험·오답 보완·계약 산출물의 대사",</a:t>
            </a:r>
          </a:p>
          <a:p xmlns:a="http://schemas.openxmlformats.org/drawingml/2006/main">
            <a:r>
              <a:t>        "evidence": "질문별 정답·변형 질의 일관성·실제 서비스 도달 기록"</a:t>
            </a:r>
          </a:p>
          <a:p xmlns:a="http://schemas.openxmlformats.org/drawingml/2006/main">
            <a:r>
              <a:t>      },</a:t>
            </a:r>
          </a:p>
          <a:p xmlns:a="http://schemas.openxmlformats.org/drawingml/2006/main">
            <a:r>
              <a:t>      "data": {</a:t>
            </a:r>
          </a:p>
          <a:p xmlns:a="http://schemas.openxmlformats.org/drawingml/2006/main">
            <a:r>
              <a:t>        "source": "공공 안내·응답 기록",</a:t>
            </a:r>
          </a:p>
          <a:p xmlns:a="http://schemas.openxmlformats.org/drawingml/2006/main">
            <a:r>
              <a:t>        "prepare": "정책 원문·서비스 목록·시험 질문의 버전 관리",</a:t>
            </a:r>
          </a:p>
          <a:p xmlns:a="http://schemas.openxmlformats.org/drawingml/2006/main">
            <a:r>
              <a:t>        "output": "이용자 질문",</a:t>
            </a:r>
          </a:p>
          <a:p xmlns:a="http://schemas.openxmlformats.org/drawingml/2006/main">
            <a:r>
              <a:t>        "refresh": "회귀시험·오답 보완·계약 산출물의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"AX13",</a:t>
            </a:r>
          </a:p>
          <a:p xmlns:a="http://schemas.openxmlformats.org/drawingml/2006/main">
            <a:r>
              <a:t>    "success": [</a:t>
            </a:r>
          </a:p>
          <a:p xmlns:a="http://schemas.openxmlformats.org/drawingml/2006/main">
            <a:r>
              <a:t>      "업무 완결 조건과 책임 범위 정의",</a:t>
            </a:r>
          </a:p>
          <a:p xmlns:a="http://schemas.openxmlformats.org/drawingml/2006/main">
            <a:r>
              <a:t>      "독립 평가셋·계약 산출물 추적"</a:t>
            </a:r>
          </a:p>
          <a:p xmlns:a="http://schemas.openxmlformats.org/drawingml/2006/main">
            <a:r>
              <a:t>    ],</a:t>
            </a:r>
          </a:p>
          <a:p xmlns:a="http://schemas.openxmlformats.org/drawingml/2006/main">
            <a:r>
              <a:t>    "risks": [</a:t>
            </a:r>
          </a:p>
          <a:p xmlns:a="http://schemas.openxmlformats.org/drawingml/2006/main">
            <a:r>
              <a:t>      "감사에서 지적된 부정확·비일관 답변",</a:t>
            </a:r>
          </a:p>
          <a:p xmlns:a="http://schemas.openxmlformats.org/drawingml/2006/main">
            <a:r>
              <a:t>      "통합서비스 계획·계약 감독의 미비"</a:t>
            </a:r>
          </a:p>
          <a:p xmlns:a="http://schemas.openxmlformats.org/drawingml/2006/main">
            <a:r>
              <a:t>    ],</a:t>
            </a:r>
          </a:p>
          <a:p xmlns:a="http://schemas.openxmlformats.org/drawingml/2006/main">
            <a:r>
              <a:t>    "architecture": [</a:t>
            </a:r>
          </a:p>
          <a:p xmlns:a="http://schemas.openxmlformats.org/drawingml/2006/main">
            <a:r>
              <a:t>      "MyCity 안내",</a:t>
            </a:r>
          </a:p>
          <a:p xmlns:a="http://schemas.openxmlformats.org/drawingml/2006/main">
            <a:r>
              <a:t>      "AI 챗봇·포털",</a:t>
            </a:r>
          </a:p>
          <a:p xmlns:a="http://schemas.openxmlformats.org/drawingml/2006/main">
            <a:r>
              <a:t>      "공공 안내·응답 기록",</a:t>
            </a:r>
          </a:p>
          <a:p xmlns:a="http://schemas.openxmlformats.org/drawingml/2006/main">
            <a:r>
              <a:t>      "사업자·서비스 담당"</a:t>
            </a:r>
          </a:p>
          <a:p xmlns:a="http://schemas.openxmlformats.org/drawingml/2006/main">
            <a:r>
              <a:t>    ],</a:t>
            </a:r>
          </a:p>
          <a:p xmlns:a="http://schemas.openxmlformats.org/drawingml/2006/main">
            <a:r>
              <a:t>    "transfers": [</a:t>
            </a:r>
          </a:p>
          <a:p xmlns:a="http://schemas.openxmlformats.org/drawingml/2006/main">
            <a:r>
              <a:t>      "이용자 질문",</a:t>
            </a:r>
          </a:p>
          <a:p xmlns:a="http://schemas.openxmlformats.org/drawingml/2006/main">
            <a:r>
              <a:t>      "안내 자료",</a:t>
            </a:r>
          </a:p>
          <a:p xmlns:a="http://schemas.openxmlformats.org/drawingml/2006/main">
            <a:r>
              <a:t>      "챗봇 답변·연결",</a:t>
            </a:r>
          </a:p>
          <a:p xmlns:a="http://schemas.openxmlformats.org/drawingml/2006/main">
            <a:r>
              <a:t>      "피드백·감사 기록"</a:t>
            </a:r>
          </a:p>
          <a:p xmlns:a="http://schemas.openxmlformats.org/drawingml/2006/main">
            <a:r>
              <a:t>    ],</a:t>
            </a:r>
          </a:p>
          <a:p xmlns:a="http://schemas.openxmlformats.org/drawingml/2006/main">
            <a:r>
              <a:t>    "control": "OTI 반론을 함께 보존한 근거별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뉴욕 MyCity 챗봇 감사 · 뉴욕시 감사기관 / 2025-12-30 https://comptroller.nyc.gov/reports/audit-report-on-the-new-york-city-office-of-technology-and-innovations-mycity-system/</a:t>
            </a:r>
          </a:p>
          <a:p xmlns:a="http://schemas.openxmlformats.org/drawingml/2006/main">
            <a:r>
              <a:t>홈페이지 https://heen1987-ops.github.io/TS-business-Plan-001/index.html?view=casebook&amp;case=AX13</a:t>
            </a:r>
          </a:p>
          <a:p xmlns:a="http://schemas.openxmlformats.org/drawingml/2006/main">
            <a:r>
              <a:t>한계: 운영기관의 정확도 주장과 감사 판단의 차이 존재 · 개별 질의·평가 방식 대조 필요</a:t>
            </a:r>
          </a:p>
          <a:p xmlns:a="http://schemas.openxmlformats.org/drawingml/2006/main">
            <a:r>
              <a:t>재발 방지 조건: 업무 완결 조건과 책임 범위 정의 / 독립 평가셋·계약 산출물 추적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"AX13",</a:t>
            </a:r>
          </a:p>
          <a:p xmlns:a="http://schemas.openxmlformats.org/drawingml/2006/main">
            <a:r>
              <a:t>    "title": "뉴욕 MyCity 챗봇 감사",</a:t>
            </a:r>
          </a:p>
          <a:p xmlns:a="http://schemas.openxmlformats.org/drawingml/2006/main">
            <a:r>
              <a:t>    "region": "해외",</a:t>
            </a:r>
          </a:p>
          <a:p xmlns:a="http://schemas.openxmlformats.org/drawingml/2006/main">
            <a:r>
              <a:t>    "country": "미국",</a:t>
            </a:r>
          </a:p>
          <a:p xmlns:a="http://schemas.openxmlformats.org/drawingml/2006/main">
            <a:r>
              <a:t>    "result": "실패",</a:t>
            </a:r>
          </a:p>
          <a:p xmlns:a="http://schemas.openxmlformats.org/drawingml/2006/main">
            <a:r>
              <a:t>    "kind": "공공 서비스 AI 품질·사업관리",</a:t>
            </a:r>
          </a:p>
          <a:p xmlns:a="http://schemas.openxmlformats.org/drawingml/2006/main">
            <a:r>
              <a:t>    "period": "2025 감사 / 2026 갱신",</a:t>
            </a:r>
          </a:p>
          <a:p xmlns:a="http://schemas.openxmlformats.org/drawingml/2006/main">
            <a:r>
              <a:t>    "sources": [</a:t>
            </a:r>
          </a:p>
          <a:p xmlns:a="http://schemas.openxmlformats.org/drawingml/2006/main">
            <a:r>
              <a:t>      "S-AX13"</a:t>
            </a:r>
          </a:p>
          <a:p xmlns:a="http://schemas.openxmlformats.org/drawingml/2006/main">
            <a:r>
              <a:t>    ],</a:t>
            </a:r>
          </a:p>
          <a:p xmlns:a="http://schemas.openxmlformats.org/drawingml/2006/main">
            <a:r>
              <a:t>    "keywords": [</a:t>
            </a:r>
          </a:p>
          <a:p xmlns:a="http://schemas.openxmlformats.org/drawingml/2006/main">
            <a:r>
              <a:t>      "공공 서비스 AI 품질",</a:t>
            </a:r>
          </a:p>
          <a:p xmlns:a="http://schemas.openxmlformats.org/drawingml/2006/main">
            <a:r>
              <a:t>      "사업관리"</a:t>
            </a:r>
          </a:p>
          <a:p xmlns:a="http://schemas.openxmlformats.org/drawingml/2006/main">
            <a:r>
              <a:t>    ],</a:t>
            </a:r>
          </a:p>
          <a:p xmlns:a="http://schemas.openxmlformats.org/drawingml/2006/main">
            <a:r>
              <a:t>    "fact": "부정확·비일관 답변과 사업관리·통합서비스 미비에 대한 감사 지적",</a:t>
            </a:r>
          </a:p>
          <a:p xmlns:a="http://schemas.openxmlformats.org/drawingml/2006/main">
            <a:r>
              <a:t>    "limit": "운영기관의 정확도 주장과 감사 판단의 차이 존재 · 개별 질의·평가 방식 대조 필요",</a:t>
            </a:r>
          </a:p>
          <a:p xmlns:a="http://schemas.openxmlformats.org/drawingml/2006/main">
            <a:r>
              <a:t>    "flow": [</a:t>
            </a:r>
          </a:p>
          <a:p xmlns:a="http://schemas.openxmlformats.org/drawingml/2006/main">
            <a:r>
              <a:t>      "공공 안내 자료",</a:t>
            </a:r>
          </a:p>
          <a:p xmlns:a="http://schemas.openxmlformats.org/drawingml/2006/main">
            <a:r>
              <a:t>      "AI 챗봇",</a:t>
            </a:r>
          </a:p>
          <a:p xmlns:a="http://schemas.openxmlformats.org/drawingml/2006/main">
            <a:r>
              <a:t>      "사업자 안내",</a:t>
            </a:r>
          </a:p>
          <a:p xmlns:a="http://schemas.openxmlformats.org/drawingml/2006/main">
            <a:r>
              <a:t>      "감사·개선 요청"</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"출시 여부와 실제 민원 과업 완료의 분리 평가",</a:t>
            </a:r>
          </a:p>
          <a:p xmlns:a="http://schemas.openxmlformats.org/drawingml/2006/main">
            <a:r>
              <a:t>    "local": "TS 대민 안내의 근거·소관·신청 완료까지 검수",</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"반례 정답셋·오안내 신고·책임부서 인계",</a:t>
            </a:r>
          </a:p>
          <a:p xmlns:a="http://schemas.openxmlformats.org/drawingml/2006/main">
            <a:r>
              <a:t>    "test": "규정과 상충하는 안내 및 미완료 신청 재현",</a:t>
            </a:r>
          </a:p>
          <a:p xmlns:a="http://schemas.openxmlformats.org/drawingml/2006/main">
            <a:r>
              <a:t>    "metric": "오안내율 / 신청 완료율 / 재접촉률",</a:t>
            </a:r>
          </a:p>
          <a:p xmlns:a="http://schemas.openxmlformats.org/drawingml/2006/main">
            <a:r>
              <a:t>    "strategies": [</a:t>
            </a:r>
          </a:p>
          <a:p xmlns:a="http://schemas.openxmlformats.org/drawingml/2006/main">
            <a:r>
              <a:t>      "ST-04",</a:t>
            </a:r>
          </a:p>
          <a:p xmlns:a="http://schemas.openxmlformats.org/drawingml/2006/main">
            <a:r>
              <a:t>      "ST-08",</a:t>
            </a:r>
          </a:p>
          <a:p xmlns:a="http://schemas.openxmlformats.org/drawingml/2006/main">
            <a:r>
              <a:t>      "ST-09",</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"AX13",</a:t>
            </a:r>
          </a:p>
          <a:p xmlns:a="http://schemas.openxmlformats.org/drawingml/2006/main">
            <a:r>
              <a:t>    "canonicalId": "AX13",</a:t>
            </a:r>
          </a:p>
          <a:p xmlns:a="http://schemas.openxmlformats.org/drawingml/2006/main">
            <a:r>
              <a:t>    "purpose": "대민 챗봇의 답변 품질·사업관리 실패 분석",</a:t>
            </a:r>
          </a:p>
          <a:p xmlns:a="http://schemas.openxmlformats.org/drawingml/2006/main">
            <a:r>
              <a:t>    "users": "사업자·시민·서비스 운영부서",</a:t>
            </a:r>
          </a:p>
          <a:p xmlns:a="http://schemas.openxmlformats.org/drawingml/2006/main">
            <a:r>
              <a:t>    "scope": [</a:t>
            </a:r>
          </a:p>
          <a:p xmlns:a="http://schemas.openxmlformats.org/drawingml/2006/main">
            <a:r>
              <a:t>      "질의응답",</a:t>
            </a:r>
          </a:p>
          <a:p xmlns:a="http://schemas.openxmlformats.org/drawingml/2006/main">
            <a:r>
              <a:t>      "포털 통합",</a:t>
            </a:r>
          </a:p>
          <a:p xmlns:a="http://schemas.openxmlformats.org/drawingml/2006/main">
            <a:r>
              <a:t>      "계약·감사"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"MyCity 안내",</a:t>
            </a:r>
          </a:p>
          <a:p xmlns:a="http://schemas.openxmlformats.org/drawingml/2006/main">
            <a:r>
              <a:t>        "detail": "요청 업무와 공식 소관·이용조건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포털 통합 / 계약·감사",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 챗봇·포털",</a:t>
            </a:r>
          </a:p>
          <a:p xmlns:a="http://schemas.openxmlformats.org/drawingml/2006/main">
            <a:r>
              <a:t>        "detail": "공식 정보 검색과 근거별 답변 대조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"사업자·서비스 담당",</a:t>
            </a:r>
          </a:p>
          <a:p xmlns:a="http://schemas.openxmlformats.org/drawingml/2006/main">
            <a:r>
              <a:t>        "detail": "검증된 안내와 실제 신청 경로의 분리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"공공 안내·응답 기록",</a:t>
            </a:r>
          </a:p>
          <a:p xmlns:a="http://schemas.openxmlformats.org/drawingml/2006/main">
            <a:r>
              <a:t>        "detail": "정책 원문·서비스 목록·시험 질문의 버전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"회귀시험·오답 보완·계약 산출물의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"공공 안내 자료",</a:t>
            </a:r>
          </a:p>
          <a:p xmlns:a="http://schemas.openxmlformats.org/drawingml/2006/main">
            <a:r>
              <a:t>        "input": "요청 업무와 공식 소관·이용조건 식별",</a:t>
            </a:r>
          </a:p>
          <a:p xmlns:a="http://schemas.openxmlformats.org/drawingml/2006/main">
            <a:r>
              <a:t>        "process": "정책 원문·서비스 목록·시험 질문의 버전 관리",</a:t>
            </a:r>
          </a:p>
          <a:p xmlns:a="http://schemas.openxmlformats.org/drawingml/2006/main">
            <a:r>
              <a:t>        "output": "이용자 질문"</a:t>
            </a:r>
          </a:p>
          <a:p xmlns:a="http://schemas.openxmlformats.org/drawingml/2006/main">
            <a:r>
              <a:t>      },</a:t>
            </a:r>
          </a:p>
          <a:p xmlns:a="http://schemas.openxmlformats.org/drawingml/2006/main">
            <a:r>
              <a:t>      {</a:t>
            </a:r>
          </a:p>
          <a:p xmlns:a="http://schemas.openxmlformats.org/drawingml/2006/main">
            <a:r>
              <a:t>        "title": "AI 챗봇",</a:t>
            </a:r>
          </a:p>
          <a:p xmlns:a="http://schemas.openxmlformats.org/drawingml/2006/main">
            <a:r>
              <a:t>        "input": "이용자 질문",</a:t>
            </a:r>
          </a:p>
          <a:p xmlns:a="http://schemas.openxmlformats.org/drawingml/2006/main">
            <a:r>
              <a:t>        "process": "공식 정보 검색과 근거별 답변 대조 설계",</a:t>
            </a:r>
          </a:p>
          <a:p xmlns:a="http://schemas.openxmlformats.org/drawingml/2006/main">
            <a:r>
              <a:t>        "output": "안내 자료"</a:t>
            </a:r>
          </a:p>
          <a:p xmlns:a="http://schemas.openxmlformats.org/drawingml/2006/main">
            <a:r>
              <a:t>      },</a:t>
            </a:r>
          </a:p>
          <a:p xmlns:a="http://schemas.openxmlformats.org/drawingml/2006/main">
            <a:r>
              <a:t>      {</a:t>
            </a:r>
          </a:p>
          <a:p xmlns:a="http://schemas.openxmlformats.org/drawingml/2006/main">
            <a:r>
              <a:t>        "title": "사업자 안내",</a:t>
            </a:r>
          </a:p>
          <a:p xmlns:a="http://schemas.openxmlformats.org/drawingml/2006/main">
            <a:r>
              <a:t>        "input": "안내 자료",</a:t>
            </a:r>
          </a:p>
          <a:p xmlns:a="http://schemas.openxmlformats.org/drawingml/2006/main">
            <a:r>
              <a:t>        "process": "OTI 반론을 함께 보존한 근거별 평가",</a:t>
            </a:r>
          </a:p>
          <a:p xmlns:a="http://schemas.openxmlformats.org/drawingml/2006/main">
            <a:r>
              <a:t>        "output": "챗봇 답변·연결"</a:t>
            </a:r>
          </a:p>
          <a:p xmlns:a="http://schemas.openxmlformats.org/drawingml/2006/main">
            <a:r>
              <a:t>      },</a:t>
            </a:r>
          </a:p>
          <a:p xmlns:a="http://schemas.openxmlformats.org/drawingml/2006/main">
            <a:r>
              <a:t>      {</a:t>
            </a:r>
          </a:p>
          <a:p xmlns:a="http://schemas.openxmlformats.org/drawingml/2006/main">
            <a:r>
              <a:t>        "title": "감사·개선 요청",</a:t>
            </a:r>
          </a:p>
          <a:p xmlns:a="http://schemas.openxmlformats.org/drawingml/2006/main">
            <a:r>
              <a:t>        "input": "챗봇 답변·연결",</a:t>
            </a:r>
          </a:p>
          <a:p xmlns:a="http://schemas.openxmlformats.org/drawingml/2006/main">
            <a:r>
              <a:t>        "process": "검증된 안내와 실제 신청 경로의 분리 제공",</a:t>
            </a:r>
          </a:p>
          <a:p xmlns:a="http://schemas.openxmlformats.org/drawingml/2006/main">
            <a:r>
              <a:t>        "output": "피드백·감사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"사업자가 허가 조건을 질문해 공식 안내로 이동",</a:t>
            </a:r>
          </a:p>
          <a:p xmlns:a="http://schemas.openxmlformats.org/drawingml/2006/main">
            <a:r>
              <a:t>      "exception": "동일 질문 표현 변경·상충 규정·폐지된 서비스",</a:t>
            </a:r>
          </a:p>
          <a:p xmlns:a="http://schemas.openxmlformats.org/drawingml/2006/main">
            <a:r>
              <a:t>      "evidence": "질문별 정답·변형 질의 일관성·실제 서비스 도달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"사업자·시민·서비스 운영부서",</a:t>
            </a:r>
          </a:p>
          <a:p xmlns:a="http://schemas.openxmlformats.org/drawingml/2006/main">
            <a:r>
              <a:t>          "processing": "요청 업무와 공식 소관·이용조건 식별",</a:t>
            </a:r>
          </a:p>
          <a:p xmlns:a="http://schemas.openxmlformats.org/drawingml/2006/main">
            <a:r>
              <a:t>          "output": "이용자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"공공 안내·응답 기록",</a:t>
            </a:r>
          </a:p>
          <a:p xmlns:a="http://schemas.openxmlformats.org/drawingml/2006/main">
            <a:r>
              <a:t>          "processing": "정책 원문·서비스 목록·시험 질문의 버전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"이용자 질문",</a:t>
            </a:r>
          </a:p>
          <a:p xmlns:a="http://schemas.openxmlformats.org/drawingml/2006/main">
            <a:r>
              <a:t>          "processing": "공식 정보 검색과 근거별 답변 대조 설계",</a:t>
            </a:r>
          </a:p>
          <a:p xmlns:a="http://schemas.openxmlformats.org/drawingml/2006/main">
            <a:r>
              <a:t>          "output": "챗봇 답변·연결"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"챗봇 답변·연결",</a:t>
            </a:r>
          </a:p>
          <a:p xmlns:a="http://schemas.openxmlformats.org/drawingml/2006/main">
            <a:r>
              <a:t>          "processing": "검증된 안내와 실제 신청 경로의 분리 제공",</a:t>
            </a:r>
          </a:p>
          <a:p xmlns:a="http://schemas.openxmlformats.org/drawingml/2006/main">
            <a:r>
              <a:t>          "output": "피드백·감사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"회귀시험·오답 보완·계약 산출물의 대사",</a:t>
            </a:r>
          </a:p>
          <a:p xmlns:a="http://schemas.openxmlformats.org/drawingml/2006/main">
            <a:r>
              <a:t>          "output":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"회귀시험·오답 보완·계약 산출물의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"S-AX13",</a:t>
            </a:r>
          </a:p>
          <a:p xmlns:a="http://schemas.openxmlformats.org/drawingml/2006/main">
            <a:r>
              <a:t>        "title": "뉴욕 MyCity 챗봇 감사 · 뉴욕시 감사기관 / 2025-12-30",</a:t>
            </a:r>
          </a:p>
          <a:p xmlns:a="http://schemas.openxmlformats.org/drawingml/2006/main">
            <a:r>
              <a:t>        "url": "https://comptroller.nyc.gov/reports/audit-report-on-the-new-york-city-office-of-technology-and-innovations-mycity-system/",</a:t>
            </a:r>
          </a:p>
          <a:p xmlns:a="http://schemas.openxmlformats.org/drawingml/2006/main">
            <a:r>
              <a:t>        "published": "2025 감사 / 2026 갱신",</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"출시 여부와 실제 민원 과업 완료의 분리 평가",</a:t>
            </a:r>
          </a:p>
          <a:p xmlns:a="http://schemas.openxmlformats.org/drawingml/2006/main">
            <a:r>
              <a:t>    "local": "TS 대민 안내의 근거·소관·신청 완료까지 검수",</a:t>
            </a:r>
          </a:p>
          <a:p xmlns:a="http://schemas.openxmlformats.org/drawingml/2006/main">
            <a:r>
              <a:t>    "sourceDetail": null,</a:t>
            </a:r>
          </a:p>
          <a:p xmlns:a="http://schemas.openxmlformats.org/drawingml/2006/main">
            <a:r>
              <a:t>    "narrative": [</a:t>
            </a:r>
          </a:p>
          <a:p xmlns:a="http://schemas.openxmlformats.org/drawingml/2006/main">
            <a:r>
              <a:t>      "뉴욕 MyCity의 챗봇 답변 품질과 통합서비스 사업관리 문제를 다룬 감사 사례. 공식 안내의 정확성과 서비스 통합·계약 감독을 함께 봐야 하는 대민 AI 사업의 사례.",</a:t>
            </a:r>
          </a:p>
          <a:p xmlns:a="http://schemas.openxmlformats.org/drawingml/2006/main">
            <a:r>
              <a:t>      "질문별 근거 문서, 답변 결과, 공식 신청 경로, 오류 수정 이력을 연결하는 재구성. 독립 시험셋과 계약 산출물 목록을 대응시키고 감사 지적·기관 반론을 근거별로 구분해 비교하는 방식.",</a:t>
            </a:r>
          </a:p>
          <a:p xmlns:a="http://schemas.openxmlformats.org/drawingml/2006/main">
            <a:r>
              <a:t>      "TS에서는 챗봇 공개와 민원 업무 완결을 같은 성과로 보지 않는 설계에 활용. 부정확·상충 안내의 회귀시험, 완료조건 정의, 변경 요구와 인수 증빙의 연결을 CCK 사업관리 기능에 반영할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"MyCity 질의",</a:t>
            </a:r>
          </a:p>
          <a:p xmlns:a="http://schemas.openxmlformats.org/drawingml/2006/main">
            <a:r>
              <a:t>          "layer": "이용 접점",</a:t>
            </a:r>
          </a:p>
          <a:p xmlns:a="http://schemas.openxmlformats.org/drawingml/2006/main">
            <a:r>
              <a:t>          "detail": "사업자·시민·서비스 운영부서",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"소관·이용조건",</a:t>
            </a:r>
          </a:p>
          <a:p xmlns:a="http://schemas.openxmlformats.org/drawingml/2006/main">
            <a:r>
              <a:t>          "layer": "업무 문맥",</a:t>
            </a:r>
          </a:p>
          <a:p xmlns:a="http://schemas.openxmlformats.org/drawingml/2006/main">
            <a:r>
              <a:t>          "detail": "요청 업무와 공식 소관·이용조건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안내 검색",</a:t>
            </a:r>
          </a:p>
          <a:p xmlns:a="http://schemas.openxmlformats.org/drawingml/2006/main">
            <a:r>
              <a:t>          "layer": "자료 조회",</a:t>
            </a:r>
          </a:p>
          <a:p xmlns:a="http://schemas.openxmlformats.org/drawingml/2006/main">
            <a:r>
              <a:t>          "detail": "이용자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"근거형 답변 구성",</a:t>
            </a:r>
          </a:p>
          <a:p xmlns:a="http://schemas.openxmlformats.org/drawingml/2006/main">
            <a:r>
              <a:t>          "layer": "핵심 처리",</a:t>
            </a:r>
          </a:p>
          <a:p xmlns:a="http://schemas.openxmlformats.org/drawingml/2006/main">
            <a:r>
              <a:t>          "detail": "공식 정보 검색과 근거별 답변 대조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"위법·상충 안내 검사",</a:t>
            </a:r>
          </a:p>
          <a:p xmlns:a="http://schemas.openxmlformats.org/drawingml/2006/main">
            <a:r>
              <a:t>          "layer": "결과 검증",</a:t>
            </a:r>
          </a:p>
          <a:p xmlns:a="http://schemas.openxmlformats.org/drawingml/2006/main">
            <a:r>
              <a:t>          "detail": "OTI 반론을 함께 보존한 근거별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"서비스 담당 검토",</a:t>
            </a:r>
          </a:p>
          <a:p xmlns:a="http://schemas.openxmlformats.org/drawingml/2006/main">
            <a:r>
              <a:t>          "layer": "사람 확인",</a:t>
            </a:r>
          </a:p>
          <a:p xmlns:a="http://schemas.openxmlformats.org/drawingml/2006/main">
            <a:r>
              <a:t>          "detail": "사업자가 허가 조건을 질문해 공식 안내로 이동",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"신청 경로 안내",</a:t>
            </a:r>
          </a:p>
          <a:p xmlns:a="http://schemas.openxmlformats.org/drawingml/2006/main">
            <a:r>
              <a:t>          "layer": "업무 연결",</a:t>
            </a:r>
          </a:p>
          <a:p xmlns:a="http://schemas.openxmlformats.org/drawingml/2006/main">
            <a:r>
              <a:t>          "detail": "검증된 안내와 실제 신청 경로의 분리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"오답·계약 대사",</a:t>
            </a:r>
          </a:p>
          <a:p xmlns:a="http://schemas.openxmlformats.org/drawingml/2006/main">
            <a:r>
              <a:t>          "layer": "운영 관측",</a:t>
            </a:r>
          </a:p>
          <a:p xmlns:a="http://schemas.openxmlformats.org/drawingml/2006/main">
            <a:r>
              <a:t>          "detail": "회귀시험·오답 보완·계약 산출물의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"정책·서비스 목록",</a:t>
            </a:r>
          </a:p>
          <a:p xmlns:a="http://schemas.openxmlformats.org/drawingml/2006/main">
            <a:r>
              <a:t>          "layer": "데이터 원천",</a:t>
            </a:r>
          </a:p>
          <a:p xmlns:a="http://schemas.openxmlformats.org/drawingml/2006/main">
            <a:r>
              <a:t>          "detail": "공공 안내·응답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"판본·적용조건 정리",</a:t>
            </a:r>
          </a:p>
          <a:p xmlns:a="http://schemas.openxmlformats.org/drawingml/2006/main">
            <a:r>
              <a:t>          "layer": "준비·갱신",</a:t>
            </a:r>
          </a:p>
          <a:p xmlns:a="http://schemas.openxmlformats.org/drawingml/2006/main">
            <a:r>
              <a:t>          "detail": "정책 원문·서비스 목록·시험 질문의 버전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"안내·회귀시험셋",</a:t>
            </a:r>
          </a:p>
          <a:p xmlns:a="http://schemas.openxmlformats.org/drawingml/2006/main">
            <a:r>
              <a:t>          "layer": "상태·지식 저장",</a:t>
            </a:r>
          </a:p>
          <a:p xmlns:a="http://schemas.openxmlformats.org/drawingml/2006/main">
            <a:r>
              <a:t>          "detail": "질문별 정답·변형 질의 일관성·실제 서비스 도달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 책임·품질기준",</a:t>
            </a:r>
          </a:p>
          <a:p xmlns:a="http://schemas.openxmlformats.org/drawingml/2006/main">
            <a:r>
              <a:t>          "layer": "권한·정책",</a:t>
            </a:r>
          </a:p>
          <a:p xmlns:a="http://schemas.openxmlformats.org/drawingml/2006/main">
            <a:r>
              <a:t>          "detail": "동일 질문 표현 변경·상충 규정·폐지된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"공공 안내 자료 → AI 챗봇 → 사업자 안내 → 감사·개선 요청"</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"공공 안내·응답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업무와 공식 소관·이용조건 식별",</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"질문별 정답·변형 질의 일관성·실제 서비스 도달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"안내 자료",</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"챗봇 답변·연결",</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"대민 챗봇의 답변 품질·사업관리 실패 분석 / 질의응답·포털 통합·계약·감사",</a:t>
            </a:r>
          </a:p>
          <a:p xmlns:a="http://schemas.openxmlformats.org/drawingml/2006/main">
            <a:r>
              <a:t>        "extension": "TS 대민 안내의 근거·소관·신청 완료까지 검수"</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"동일 질문 표현 변경·상충 규정·폐지된 서비스",</a:t>
            </a:r>
          </a:p>
          <a:p xmlns:a="http://schemas.openxmlformats.org/drawingml/2006/main">
            <a:r>
              <a:t>        "hold": "OTI 반론을 함께 보존한 근거별 평가",</a:t>
            </a:r>
          </a:p>
          <a:p xmlns:a="http://schemas.openxmlformats.org/drawingml/2006/main">
            <a:r>
              <a:t>        "recovery": "회귀시험·오답 보완·계약 산출물의 대사",</a:t>
            </a:r>
          </a:p>
          <a:p xmlns:a="http://schemas.openxmlformats.org/drawingml/2006/main">
            <a:r>
              <a:t>        "evidence": "질문별 정답·변형 질의 일관성·실제 서비스 도달 기록"</a:t>
            </a:r>
          </a:p>
          <a:p xmlns:a="http://schemas.openxmlformats.org/drawingml/2006/main">
            <a:r>
              <a:t>      },</a:t>
            </a:r>
          </a:p>
          <a:p xmlns:a="http://schemas.openxmlformats.org/drawingml/2006/main">
            <a:r>
              <a:t>      "data": {</a:t>
            </a:r>
          </a:p>
          <a:p xmlns:a="http://schemas.openxmlformats.org/drawingml/2006/main">
            <a:r>
              <a:t>        "source": "공공 안내·응답 기록",</a:t>
            </a:r>
          </a:p>
          <a:p xmlns:a="http://schemas.openxmlformats.org/drawingml/2006/main">
            <a:r>
              <a:t>        "prepare": "정책 원문·서비스 목록·시험 질문의 버전 관리",</a:t>
            </a:r>
          </a:p>
          <a:p xmlns:a="http://schemas.openxmlformats.org/drawingml/2006/main">
            <a:r>
              <a:t>        "output": "이용자 질문",</a:t>
            </a:r>
          </a:p>
          <a:p xmlns:a="http://schemas.openxmlformats.org/drawingml/2006/main">
            <a:r>
              <a:t>        "refresh": "회귀시험·오답 보완·계약 산출물의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"AX13",</a:t>
            </a:r>
          </a:p>
          <a:p xmlns:a="http://schemas.openxmlformats.org/drawingml/2006/main">
            <a:r>
              <a:t>    "success": [</a:t>
            </a:r>
          </a:p>
          <a:p xmlns:a="http://schemas.openxmlformats.org/drawingml/2006/main">
            <a:r>
              <a:t>      "업무 완결 조건과 책임 범위 정의",</a:t>
            </a:r>
          </a:p>
          <a:p xmlns:a="http://schemas.openxmlformats.org/drawingml/2006/main">
            <a:r>
              <a:t>      "독립 평가셋·계약 산출물 추적"</a:t>
            </a:r>
          </a:p>
          <a:p xmlns:a="http://schemas.openxmlformats.org/drawingml/2006/main">
            <a:r>
              <a:t>    ],</a:t>
            </a:r>
          </a:p>
          <a:p xmlns:a="http://schemas.openxmlformats.org/drawingml/2006/main">
            <a:r>
              <a:t>    "risks": [</a:t>
            </a:r>
          </a:p>
          <a:p xmlns:a="http://schemas.openxmlformats.org/drawingml/2006/main">
            <a:r>
              <a:t>      "감사에서 지적된 부정확·비일관 답변",</a:t>
            </a:r>
          </a:p>
          <a:p xmlns:a="http://schemas.openxmlformats.org/drawingml/2006/main">
            <a:r>
              <a:t>      "통합서비스 계획·계약 감독의 미비"</a:t>
            </a:r>
          </a:p>
          <a:p xmlns:a="http://schemas.openxmlformats.org/drawingml/2006/main">
            <a:r>
              <a:t>    ],</a:t>
            </a:r>
          </a:p>
          <a:p xmlns:a="http://schemas.openxmlformats.org/drawingml/2006/main">
            <a:r>
              <a:t>    "architecture": [</a:t>
            </a:r>
          </a:p>
          <a:p xmlns:a="http://schemas.openxmlformats.org/drawingml/2006/main">
            <a:r>
              <a:t>      "MyCity 안내",</a:t>
            </a:r>
          </a:p>
          <a:p xmlns:a="http://schemas.openxmlformats.org/drawingml/2006/main">
            <a:r>
              <a:t>      "AI 챗봇·포털",</a:t>
            </a:r>
          </a:p>
          <a:p xmlns:a="http://schemas.openxmlformats.org/drawingml/2006/main">
            <a:r>
              <a:t>      "공공 안내·응답 기록",</a:t>
            </a:r>
          </a:p>
          <a:p xmlns:a="http://schemas.openxmlformats.org/drawingml/2006/main">
            <a:r>
              <a:t>      "사업자·서비스 담당"</a:t>
            </a:r>
          </a:p>
          <a:p xmlns:a="http://schemas.openxmlformats.org/drawingml/2006/main">
            <a:r>
              <a:t>    ],</a:t>
            </a:r>
          </a:p>
          <a:p xmlns:a="http://schemas.openxmlformats.org/drawingml/2006/main">
            <a:r>
              <a:t>    "transfers": [</a:t>
            </a:r>
          </a:p>
          <a:p xmlns:a="http://schemas.openxmlformats.org/drawingml/2006/main">
            <a:r>
              <a:t>      "이용자 질문",</a:t>
            </a:r>
          </a:p>
          <a:p xmlns:a="http://schemas.openxmlformats.org/drawingml/2006/main">
            <a:r>
              <a:t>      "안내 자료",</a:t>
            </a:r>
          </a:p>
          <a:p xmlns:a="http://schemas.openxmlformats.org/drawingml/2006/main">
            <a:r>
              <a:t>      "챗봇 답변·연결",</a:t>
            </a:r>
          </a:p>
          <a:p xmlns:a="http://schemas.openxmlformats.org/drawingml/2006/main">
            <a:r>
              <a:t>      "피드백·감사 기록"</a:t>
            </a:r>
          </a:p>
          <a:p xmlns:a="http://schemas.openxmlformats.org/drawingml/2006/main">
            <a:r>
              <a:t>    ],</a:t>
            </a:r>
          </a:p>
          <a:p xmlns:a="http://schemas.openxmlformats.org/drawingml/2006/main">
            <a:r>
              <a:t>    "control": "OTI 반론을 함께 보존한 근거별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뉴욕 MyCity 챗봇 감사 · 뉴욕시 감사기관 / 2025-12-30 https://comptroller.nyc.gov/reports/audit-report-on-the-new-york-city-office-of-technology-and-innovations-mycity-system/</a:t>
            </a:r>
          </a:p>
          <a:p xmlns:a="http://schemas.openxmlformats.org/drawingml/2006/main">
            <a:r>
              <a:t>홈페이지 https://heen1987-ops.github.io/TS-business-Plan-001/index.html?view=casebook&amp;case=AX13</a:t>
            </a:r>
          </a:p>
          <a:p xmlns:a="http://schemas.openxmlformats.org/drawingml/2006/main">
            <a:r>
              <a:t>성과 대조</a:t>
            </a:r>
          </a:p>
          <a:p xmlns:a="http://schemas.openxmlformats.org/drawingml/2006/main">
            <a:r>
              <a:t>{</a:t>
            </a:r>
          </a:p>
          <a:p xmlns:a="http://schemas.openxmlformats.org/drawingml/2006/main">
            <a:r>
              <a:t>  "caseId": "AX13",</a:t>
            </a:r>
          </a:p>
          <a:p xmlns:a="http://schemas.openxmlformats.org/drawingml/2006/main">
            <a:r>
              <a:t>  "asIs": "뉴욕시 사업자가 허가·규정·지원 정보를 여러 기관 메뉴에서 찾아야 하는 구조",</a:t>
            </a:r>
          </a:p>
          <a:p xmlns:a="http://schemas.openxmlformats.org/drawingml/2006/main">
            <a:r>
              <a:t>  "toBe": "MyCity 챗봇과 통합 서비스로 정확한 사업 안내 및 한곳에서 과업 수행",</a:t>
            </a:r>
          </a:p>
          <a:p xmlns:a="http://schemas.openxmlformats.org/drawingml/2006/main">
            <a:r>
              <a:t>  "expectedEffect": "정보 탐색·신청 부담 감소와 사업자 서비스 접근성 개선",</a:t>
            </a:r>
          </a:p>
          <a:p xmlns:a="http://schemas.openxmlformats.org/drawingml/2006/main">
            <a:r>
              <a:t>  "observed": "뉴욕시 감사기관이 부정확·비일관 답변과 단일 신청·디지털 지갑 미구현을 지적; 운영기관 내부 평가에서 답해야 할 질문 48개 중 23개 미응답도 확인",</a:t>
            </a:r>
          </a:p>
          <a:p xmlns:a="http://schemas.openxmlformats.org/drawingml/2006/main">
            <a:r>
              <a:t>  "verdict": "실패 확인",</a:t>
            </a:r>
          </a:p>
          <a:p xmlns:a="http://schemas.openxmlformats.org/drawingml/2006/main">
            <a:r>
              <a:t>  "verdictReason": "반복 질문의 응답 불일치와 약속한 통합 과업 미완성이 감사상 확인; 운영기관의 높은 정확도 주장에는 분모·제외 응답에 관한 감사 이견 존재",</a:t>
            </a:r>
          </a:p>
          <a:p xmlns:a="http://schemas.openxmlformats.org/drawingml/2006/main">
            <a:r>
              <a:t>  "limits": "감사 대상·시점에 한정. 23/48은 내부 평가 일부 표본이며 전체 질의 실패율 아님",</a:t>
            </a:r>
          </a:p>
          <a:p xmlns:a="http://schemas.openxmlformats.org/drawingml/2006/main">
            <a:r>
              <a:t>  "metric": "48개 관련 질문 중 23개 미응답: 감사가 인용한 운영기관 주간평가",</a:t>
            </a:r>
          </a:p>
          <a:p xmlns:a="http://schemas.openxmlformats.org/drawingml/2006/main">
            <a:r>
              <a:t>  "evidenceStage": "시 감사기관 사후 감사",</a:t>
            </a:r>
          </a:p>
          <a:p xmlns:a="http://schemas.openxmlformats.org/drawingml/2006/main">
            <a:r>
              <a:t>  "sourceUrl": "https://comptroller.nyc.gov/reports/audit-report-on-the-new-york-city-office-of-technology-and-innovations-mycity-system/"</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"AX13",</a:t>
            </a:r>
          </a:p>
          <a:p xmlns:a="http://schemas.openxmlformats.org/drawingml/2006/main">
            <a:r>
              <a:t>    "title": "뉴욕 MyCity 챗봇 감사",</a:t>
            </a:r>
          </a:p>
          <a:p xmlns:a="http://schemas.openxmlformats.org/drawingml/2006/main">
            <a:r>
              <a:t>    "region": "해외",</a:t>
            </a:r>
          </a:p>
          <a:p xmlns:a="http://schemas.openxmlformats.org/drawingml/2006/main">
            <a:r>
              <a:t>    "country": "미국",</a:t>
            </a:r>
          </a:p>
          <a:p xmlns:a="http://schemas.openxmlformats.org/drawingml/2006/main">
            <a:r>
              <a:t>    "result": "실패",</a:t>
            </a:r>
          </a:p>
          <a:p xmlns:a="http://schemas.openxmlformats.org/drawingml/2006/main">
            <a:r>
              <a:t>    "kind": "공공 서비스 AI 품질·사업관리",</a:t>
            </a:r>
          </a:p>
          <a:p xmlns:a="http://schemas.openxmlformats.org/drawingml/2006/main">
            <a:r>
              <a:t>    "period": "2025 감사 / 2026 갱신",</a:t>
            </a:r>
          </a:p>
          <a:p xmlns:a="http://schemas.openxmlformats.org/drawingml/2006/main">
            <a:r>
              <a:t>    "sources": [</a:t>
            </a:r>
          </a:p>
          <a:p xmlns:a="http://schemas.openxmlformats.org/drawingml/2006/main">
            <a:r>
              <a:t>      "S-AX13"</a:t>
            </a:r>
          </a:p>
          <a:p xmlns:a="http://schemas.openxmlformats.org/drawingml/2006/main">
            <a:r>
              <a:t>    ],</a:t>
            </a:r>
          </a:p>
          <a:p xmlns:a="http://schemas.openxmlformats.org/drawingml/2006/main">
            <a:r>
              <a:t>    "keywords": [</a:t>
            </a:r>
          </a:p>
          <a:p xmlns:a="http://schemas.openxmlformats.org/drawingml/2006/main">
            <a:r>
              <a:t>      "공공 서비스 AI 품질",</a:t>
            </a:r>
          </a:p>
          <a:p xmlns:a="http://schemas.openxmlformats.org/drawingml/2006/main">
            <a:r>
              <a:t>      "사업관리"</a:t>
            </a:r>
          </a:p>
          <a:p xmlns:a="http://schemas.openxmlformats.org/drawingml/2006/main">
            <a:r>
              <a:t>    ],</a:t>
            </a:r>
          </a:p>
          <a:p xmlns:a="http://schemas.openxmlformats.org/drawingml/2006/main">
            <a:r>
              <a:t>    "fact": "부정확·비일관 답변과 사업관리·통합서비스 미비에 대한 감사 지적",</a:t>
            </a:r>
          </a:p>
          <a:p xmlns:a="http://schemas.openxmlformats.org/drawingml/2006/main">
            <a:r>
              <a:t>    "limit": "운영기관의 정확도 주장과 감사 판단의 차이 존재 · 개별 질의·평가 방식 대조 필요",</a:t>
            </a:r>
          </a:p>
          <a:p xmlns:a="http://schemas.openxmlformats.org/drawingml/2006/main">
            <a:r>
              <a:t>    "flow": [</a:t>
            </a:r>
          </a:p>
          <a:p xmlns:a="http://schemas.openxmlformats.org/drawingml/2006/main">
            <a:r>
              <a:t>      "공공 안내 자료",</a:t>
            </a:r>
          </a:p>
          <a:p xmlns:a="http://schemas.openxmlformats.org/drawingml/2006/main">
            <a:r>
              <a:t>      "AI 챗봇",</a:t>
            </a:r>
          </a:p>
          <a:p xmlns:a="http://schemas.openxmlformats.org/drawingml/2006/main">
            <a:r>
              <a:t>      "사업자 안내",</a:t>
            </a:r>
          </a:p>
          <a:p xmlns:a="http://schemas.openxmlformats.org/drawingml/2006/main">
            <a:r>
              <a:t>      "감사·개선 요청"</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"출시 여부와 실제 민원 과업 완료의 분리 평가",</a:t>
            </a:r>
          </a:p>
          <a:p xmlns:a="http://schemas.openxmlformats.org/drawingml/2006/main">
            <a:r>
              <a:t>    "local": "TS 대민 안내의 근거·소관·신청 완료까지 검수",</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"반례 정답셋·오안내 신고·책임부서 인계",</a:t>
            </a:r>
          </a:p>
          <a:p xmlns:a="http://schemas.openxmlformats.org/drawingml/2006/main">
            <a:r>
              <a:t>    "test": "규정과 상충하는 안내 및 미완료 신청 재현",</a:t>
            </a:r>
          </a:p>
          <a:p xmlns:a="http://schemas.openxmlformats.org/drawingml/2006/main">
            <a:r>
              <a:t>    "metric": "오안내율 / 신청 완료율 / 재접촉률",</a:t>
            </a:r>
          </a:p>
          <a:p xmlns:a="http://schemas.openxmlformats.org/drawingml/2006/main">
            <a:r>
              <a:t>    "strategies": [</a:t>
            </a:r>
          </a:p>
          <a:p xmlns:a="http://schemas.openxmlformats.org/drawingml/2006/main">
            <a:r>
              <a:t>      "ST-04",</a:t>
            </a:r>
          </a:p>
          <a:p xmlns:a="http://schemas.openxmlformats.org/drawingml/2006/main">
            <a:r>
              <a:t>      "ST-08",</a:t>
            </a:r>
          </a:p>
          <a:p xmlns:a="http://schemas.openxmlformats.org/drawingml/2006/main">
            <a:r>
              <a:t>      "ST-09",</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"AX13",</a:t>
            </a:r>
          </a:p>
          <a:p xmlns:a="http://schemas.openxmlformats.org/drawingml/2006/main">
            <a:r>
              <a:t>    "canonicalId": "AX13",</a:t>
            </a:r>
          </a:p>
          <a:p xmlns:a="http://schemas.openxmlformats.org/drawingml/2006/main">
            <a:r>
              <a:t>    "purpose": "대민 챗봇의 답변 품질·사업관리 실패 분석",</a:t>
            </a:r>
          </a:p>
          <a:p xmlns:a="http://schemas.openxmlformats.org/drawingml/2006/main">
            <a:r>
              <a:t>    "users": "사업자·시민·서비스 운영부서",</a:t>
            </a:r>
          </a:p>
          <a:p xmlns:a="http://schemas.openxmlformats.org/drawingml/2006/main">
            <a:r>
              <a:t>    "scope": [</a:t>
            </a:r>
          </a:p>
          <a:p xmlns:a="http://schemas.openxmlformats.org/drawingml/2006/main">
            <a:r>
              <a:t>      "질의응답",</a:t>
            </a:r>
          </a:p>
          <a:p xmlns:a="http://schemas.openxmlformats.org/drawingml/2006/main">
            <a:r>
              <a:t>      "포털 통합",</a:t>
            </a:r>
          </a:p>
          <a:p xmlns:a="http://schemas.openxmlformats.org/drawingml/2006/main">
            <a:r>
              <a:t>      "계약·감사"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"MyCity 안내",</a:t>
            </a:r>
          </a:p>
          <a:p xmlns:a="http://schemas.openxmlformats.org/drawingml/2006/main">
            <a:r>
              <a:t>        "detail": "요청 업무와 공식 소관·이용조건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포털 통합 / 계약·감사",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 챗봇·포털",</a:t>
            </a:r>
          </a:p>
          <a:p xmlns:a="http://schemas.openxmlformats.org/drawingml/2006/main">
            <a:r>
              <a:t>        "detail": "공식 정보 검색과 근거별 답변 대조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"사업자·서비스 담당",</a:t>
            </a:r>
          </a:p>
          <a:p xmlns:a="http://schemas.openxmlformats.org/drawingml/2006/main">
            <a:r>
              <a:t>        "detail": "검증된 안내와 실제 신청 경로의 분리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"공공 안내·응답 기록",</a:t>
            </a:r>
          </a:p>
          <a:p xmlns:a="http://schemas.openxmlformats.org/drawingml/2006/main">
            <a:r>
              <a:t>        "detail": "정책 원문·서비스 목록·시험 질문의 버전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"회귀시험·오답 보완·계약 산출물의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"공공 안내 자료",</a:t>
            </a:r>
          </a:p>
          <a:p xmlns:a="http://schemas.openxmlformats.org/drawingml/2006/main">
            <a:r>
              <a:t>        "input": "요청 업무와 공식 소관·이용조건 식별",</a:t>
            </a:r>
          </a:p>
          <a:p xmlns:a="http://schemas.openxmlformats.org/drawingml/2006/main">
            <a:r>
              <a:t>        "process": "정책 원문·서비스 목록·시험 질문의 버전 관리",</a:t>
            </a:r>
          </a:p>
          <a:p xmlns:a="http://schemas.openxmlformats.org/drawingml/2006/main">
            <a:r>
              <a:t>        "output": "이용자 질문"</a:t>
            </a:r>
          </a:p>
          <a:p xmlns:a="http://schemas.openxmlformats.org/drawingml/2006/main">
            <a:r>
              <a:t>      },</a:t>
            </a:r>
          </a:p>
          <a:p xmlns:a="http://schemas.openxmlformats.org/drawingml/2006/main">
            <a:r>
              <a:t>      {</a:t>
            </a:r>
          </a:p>
          <a:p xmlns:a="http://schemas.openxmlformats.org/drawingml/2006/main">
            <a:r>
              <a:t>        "title": "AI 챗봇",</a:t>
            </a:r>
          </a:p>
          <a:p xmlns:a="http://schemas.openxmlformats.org/drawingml/2006/main">
            <a:r>
              <a:t>        "input": "이용자 질문",</a:t>
            </a:r>
          </a:p>
          <a:p xmlns:a="http://schemas.openxmlformats.org/drawingml/2006/main">
            <a:r>
              <a:t>        "process": "공식 정보 검색과 근거별 답변 대조 설계",</a:t>
            </a:r>
          </a:p>
          <a:p xmlns:a="http://schemas.openxmlformats.org/drawingml/2006/main">
            <a:r>
              <a:t>        "output": "안내 자료"</a:t>
            </a:r>
          </a:p>
          <a:p xmlns:a="http://schemas.openxmlformats.org/drawingml/2006/main">
            <a:r>
              <a:t>      },</a:t>
            </a:r>
          </a:p>
          <a:p xmlns:a="http://schemas.openxmlformats.org/drawingml/2006/main">
            <a:r>
              <a:t>      {</a:t>
            </a:r>
          </a:p>
          <a:p xmlns:a="http://schemas.openxmlformats.org/drawingml/2006/main">
            <a:r>
              <a:t>        "title": "사업자 안내",</a:t>
            </a:r>
          </a:p>
          <a:p xmlns:a="http://schemas.openxmlformats.org/drawingml/2006/main">
            <a:r>
              <a:t>        "input": "안내 자료",</a:t>
            </a:r>
          </a:p>
          <a:p xmlns:a="http://schemas.openxmlformats.org/drawingml/2006/main">
            <a:r>
              <a:t>        "process": "OTI 반론을 함께 보존한 근거별 평가",</a:t>
            </a:r>
          </a:p>
          <a:p xmlns:a="http://schemas.openxmlformats.org/drawingml/2006/main">
            <a:r>
              <a:t>        "output": "챗봇 답변·연결"</a:t>
            </a:r>
          </a:p>
          <a:p xmlns:a="http://schemas.openxmlformats.org/drawingml/2006/main">
            <a:r>
              <a:t>      },</a:t>
            </a:r>
          </a:p>
          <a:p xmlns:a="http://schemas.openxmlformats.org/drawingml/2006/main">
            <a:r>
              <a:t>      {</a:t>
            </a:r>
          </a:p>
          <a:p xmlns:a="http://schemas.openxmlformats.org/drawingml/2006/main">
            <a:r>
              <a:t>        "title": "감사·개선 요청",</a:t>
            </a:r>
          </a:p>
          <a:p xmlns:a="http://schemas.openxmlformats.org/drawingml/2006/main">
            <a:r>
              <a:t>        "input": "챗봇 답변·연결",</a:t>
            </a:r>
          </a:p>
          <a:p xmlns:a="http://schemas.openxmlformats.org/drawingml/2006/main">
            <a:r>
              <a:t>        "process": "검증된 안내와 실제 신청 경로의 분리 제공",</a:t>
            </a:r>
          </a:p>
          <a:p xmlns:a="http://schemas.openxmlformats.org/drawingml/2006/main">
            <a:r>
              <a:t>        "output": "피드백·감사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"사업자가 허가 조건을 질문해 공식 안내로 이동",</a:t>
            </a:r>
          </a:p>
          <a:p xmlns:a="http://schemas.openxmlformats.org/drawingml/2006/main">
            <a:r>
              <a:t>      "exception": "동일 질문 표현 변경·상충 규정·폐지된 서비스",</a:t>
            </a:r>
          </a:p>
          <a:p xmlns:a="http://schemas.openxmlformats.org/drawingml/2006/main">
            <a:r>
              <a:t>      "evidence": "질문별 정답·변형 질의 일관성·실제 서비스 도달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"사업자·시민·서비스 운영부서",</a:t>
            </a:r>
          </a:p>
          <a:p xmlns:a="http://schemas.openxmlformats.org/drawingml/2006/main">
            <a:r>
              <a:t>          "processing": "요청 업무와 공식 소관·이용조건 식별",</a:t>
            </a:r>
          </a:p>
          <a:p xmlns:a="http://schemas.openxmlformats.org/drawingml/2006/main">
            <a:r>
              <a:t>          "output": "이용자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"공공 안내·응답 기록",</a:t>
            </a:r>
          </a:p>
          <a:p xmlns:a="http://schemas.openxmlformats.org/drawingml/2006/main">
            <a:r>
              <a:t>          "processing": "정책 원문·서비스 목록·시험 질문의 버전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"이용자 질문",</a:t>
            </a:r>
          </a:p>
          <a:p xmlns:a="http://schemas.openxmlformats.org/drawingml/2006/main">
            <a:r>
              <a:t>          "processing": "공식 정보 검색과 근거별 답변 대조 설계",</a:t>
            </a:r>
          </a:p>
          <a:p xmlns:a="http://schemas.openxmlformats.org/drawingml/2006/main">
            <a:r>
              <a:t>          "output": "챗봇 답변·연결"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"챗봇 답변·연결",</a:t>
            </a:r>
          </a:p>
          <a:p xmlns:a="http://schemas.openxmlformats.org/drawingml/2006/main">
            <a:r>
              <a:t>          "processing": "검증된 안내와 실제 신청 경로의 분리 제공",</a:t>
            </a:r>
          </a:p>
          <a:p xmlns:a="http://schemas.openxmlformats.org/drawingml/2006/main">
            <a:r>
              <a:t>          "output": "피드백·감사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"회귀시험·오답 보완·계약 산출물의 대사",</a:t>
            </a:r>
          </a:p>
          <a:p xmlns:a="http://schemas.openxmlformats.org/drawingml/2006/main">
            <a:r>
              <a:t>          "output":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"회귀시험·오답 보완·계약 산출물의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"S-AX13",</a:t>
            </a:r>
          </a:p>
          <a:p xmlns:a="http://schemas.openxmlformats.org/drawingml/2006/main">
            <a:r>
              <a:t>        "title": "뉴욕 MyCity 챗봇 감사 · 뉴욕시 감사기관 / 2025-12-30",</a:t>
            </a:r>
          </a:p>
          <a:p xmlns:a="http://schemas.openxmlformats.org/drawingml/2006/main">
            <a:r>
              <a:t>        "url": "https://comptroller.nyc.gov/reports/audit-report-on-the-new-york-city-office-of-technology-and-innovations-mycity-system/",</a:t>
            </a:r>
          </a:p>
          <a:p xmlns:a="http://schemas.openxmlformats.org/drawingml/2006/main">
            <a:r>
              <a:t>        "published": "2025 감사 / 2026 갱신",</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"출시 여부와 실제 민원 과업 완료의 분리 평가",</a:t>
            </a:r>
          </a:p>
          <a:p xmlns:a="http://schemas.openxmlformats.org/drawingml/2006/main">
            <a:r>
              <a:t>    "local": "TS 대민 안내의 근거·소관·신청 완료까지 검수",</a:t>
            </a:r>
          </a:p>
          <a:p xmlns:a="http://schemas.openxmlformats.org/drawingml/2006/main">
            <a:r>
              <a:t>    "sourceDetail": null,</a:t>
            </a:r>
          </a:p>
          <a:p xmlns:a="http://schemas.openxmlformats.org/drawingml/2006/main">
            <a:r>
              <a:t>    "narrative": [</a:t>
            </a:r>
          </a:p>
          <a:p xmlns:a="http://schemas.openxmlformats.org/drawingml/2006/main">
            <a:r>
              <a:t>      "뉴욕 MyCity의 챗봇 답변 품질과 통합서비스 사업관리 문제를 다룬 감사 사례. 공식 안내의 정확성과 서비스 통합·계약 감독을 함께 봐야 하는 대민 AI 사업의 사례.",</a:t>
            </a:r>
          </a:p>
          <a:p xmlns:a="http://schemas.openxmlformats.org/drawingml/2006/main">
            <a:r>
              <a:t>      "질문별 근거 문서, 답변 결과, 공식 신청 경로, 오류 수정 이력을 연결하는 재구성. 독립 시험셋과 계약 산출물 목록을 대응시키고 감사 지적·기관 반론을 근거별로 구분해 비교하는 방식.",</a:t>
            </a:r>
          </a:p>
          <a:p xmlns:a="http://schemas.openxmlformats.org/drawingml/2006/main">
            <a:r>
              <a:t>      "TS에서는 챗봇 공개와 민원 업무 완결을 같은 성과로 보지 않는 설계에 활용. 부정확·상충 안내의 회귀시험, 완료조건 정의, 변경 요구와 인수 증빙의 연결을 CCK 사업관리 기능에 반영할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"MyCity 질의",</a:t>
            </a:r>
          </a:p>
          <a:p xmlns:a="http://schemas.openxmlformats.org/drawingml/2006/main">
            <a:r>
              <a:t>          "layer": "이용 접점",</a:t>
            </a:r>
          </a:p>
          <a:p xmlns:a="http://schemas.openxmlformats.org/drawingml/2006/main">
            <a:r>
              <a:t>          "detail": "사업자·시민·서비스 운영부서",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"소관·이용조건",</a:t>
            </a:r>
          </a:p>
          <a:p xmlns:a="http://schemas.openxmlformats.org/drawingml/2006/main">
            <a:r>
              <a:t>          "layer": "업무 문맥",</a:t>
            </a:r>
          </a:p>
          <a:p xmlns:a="http://schemas.openxmlformats.org/drawingml/2006/main">
            <a:r>
              <a:t>          "detail": "요청 업무와 공식 소관·이용조건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안내 검색",</a:t>
            </a:r>
          </a:p>
          <a:p xmlns:a="http://schemas.openxmlformats.org/drawingml/2006/main">
            <a:r>
              <a:t>          "layer": "자료 조회",</a:t>
            </a:r>
          </a:p>
          <a:p xmlns:a="http://schemas.openxmlformats.org/drawingml/2006/main">
            <a:r>
              <a:t>          "detail": "이용자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"근거형 답변 구성",</a:t>
            </a:r>
          </a:p>
          <a:p xmlns:a="http://schemas.openxmlformats.org/drawingml/2006/main">
            <a:r>
              <a:t>          "layer": "핵심 처리",</a:t>
            </a:r>
          </a:p>
          <a:p xmlns:a="http://schemas.openxmlformats.org/drawingml/2006/main">
            <a:r>
              <a:t>          "detail": "공식 정보 검색과 근거별 답변 대조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"위법·상충 안내 검사",</a:t>
            </a:r>
          </a:p>
          <a:p xmlns:a="http://schemas.openxmlformats.org/drawingml/2006/main">
            <a:r>
              <a:t>          "layer": "결과 검증",</a:t>
            </a:r>
          </a:p>
          <a:p xmlns:a="http://schemas.openxmlformats.org/drawingml/2006/main">
            <a:r>
              <a:t>          "detail": "OTI 반론을 함께 보존한 근거별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"서비스 담당 검토",</a:t>
            </a:r>
          </a:p>
          <a:p xmlns:a="http://schemas.openxmlformats.org/drawingml/2006/main">
            <a:r>
              <a:t>          "layer": "사람 확인",</a:t>
            </a:r>
          </a:p>
          <a:p xmlns:a="http://schemas.openxmlformats.org/drawingml/2006/main">
            <a:r>
              <a:t>          "detail": "사업자가 허가 조건을 질문해 공식 안내로 이동",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"신청 경로 안내",</a:t>
            </a:r>
          </a:p>
          <a:p xmlns:a="http://schemas.openxmlformats.org/drawingml/2006/main">
            <a:r>
              <a:t>          "layer": "업무 연결",</a:t>
            </a:r>
          </a:p>
          <a:p xmlns:a="http://schemas.openxmlformats.org/drawingml/2006/main">
            <a:r>
              <a:t>          "detail": "검증된 안내와 실제 신청 경로의 분리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"오답·계약 대사",</a:t>
            </a:r>
          </a:p>
          <a:p xmlns:a="http://schemas.openxmlformats.org/drawingml/2006/main">
            <a:r>
              <a:t>          "layer": "운영 관측",</a:t>
            </a:r>
          </a:p>
          <a:p xmlns:a="http://schemas.openxmlformats.org/drawingml/2006/main">
            <a:r>
              <a:t>          "detail": "회귀시험·오답 보완·계약 산출물의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"정책·서비스 목록",</a:t>
            </a:r>
          </a:p>
          <a:p xmlns:a="http://schemas.openxmlformats.org/drawingml/2006/main">
            <a:r>
              <a:t>          "layer": "데이터 원천",</a:t>
            </a:r>
          </a:p>
          <a:p xmlns:a="http://schemas.openxmlformats.org/drawingml/2006/main">
            <a:r>
              <a:t>          "detail": "공공 안내·응답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"판본·적용조건 정리",</a:t>
            </a:r>
          </a:p>
          <a:p xmlns:a="http://schemas.openxmlformats.org/drawingml/2006/main">
            <a:r>
              <a:t>          "layer": "준비·갱신",</a:t>
            </a:r>
          </a:p>
          <a:p xmlns:a="http://schemas.openxmlformats.org/drawingml/2006/main">
            <a:r>
              <a:t>          "detail": "정책 원문·서비스 목록·시험 질문의 버전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"안내·회귀시험셋",</a:t>
            </a:r>
          </a:p>
          <a:p xmlns:a="http://schemas.openxmlformats.org/drawingml/2006/main">
            <a:r>
              <a:t>          "layer": "상태·지식 저장",</a:t>
            </a:r>
          </a:p>
          <a:p xmlns:a="http://schemas.openxmlformats.org/drawingml/2006/main">
            <a:r>
              <a:t>          "detail": "질문별 정답·변형 질의 일관성·실제 서비스 도달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 책임·품질기준",</a:t>
            </a:r>
          </a:p>
          <a:p xmlns:a="http://schemas.openxmlformats.org/drawingml/2006/main">
            <a:r>
              <a:t>          "layer": "권한·정책",</a:t>
            </a:r>
          </a:p>
          <a:p xmlns:a="http://schemas.openxmlformats.org/drawingml/2006/main">
            <a:r>
              <a:t>          "detail": "동일 질문 표현 변경·상충 규정·폐지된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"공공 안내 자료 → AI 챗봇 → 사업자 안내 → 감사·개선 요청"</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"공공 안내·응답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업무와 공식 소관·이용조건 식별",</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"질문별 정답·변형 질의 일관성·실제 서비스 도달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"안내 자료",</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"챗봇 답변·연결",</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"대민 챗봇의 답변 품질·사업관리 실패 분석 / 질의응답·포털 통합·계약·감사",</a:t>
            </a:r>
          </a:p>
          <a:p xmlns:a="http://schemas.openxmlformats.org/drawingml/2006/main">
            <a:r>
              <a:t>        "extension": "TS 대민 안내의 근거·소관·신청 완료까지 검수"</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"동일 질문 표현 변경·상충 규정·폐지된 서비스",</a:t>
            </a:r>
          </a:p>
          <a:p xmlns:a="http://schemas.openxmlformats.org/drawingml/2006/main">
            <a:r>
              <a:t>        "hold": "OTI 반론을 함께 보존한 근거별 평가",</a:t>
            </a:r>
          </a:p>
          <a:p xmlns:a="http://schemas.openxmlformats.org/drawingml/2006/main">
            <a:r>
              <a:t>        "recovery": "회귀시험·오답 보완·계약 산출물의 대사",</a:t>
            </a:r>
          </a:p>
          <a:p xmlns:a="http://schemas.openxmlformats.org/drawingml/2006/main">
            <a:r>
              <a:t>        "evidence": "질문별 정답·변형 질의 일관성·실제 서비스 도달 기록"</a:t>
            </a:r>
          </a:p>
          <a:p xmlns:a="http://schemas.openxmlformats.org/drawingml/2006/main">
            <a:r>
              <a:t>      },</a:t>
            </a:r>
          </a:p>
          <a:p xmlns:a="http://schemas.openxmlformats.org/drawingml/2006/main">
            <a:r>
              <a:t>      "data": {</a:t>
            </a:r>
          </a:p>
          <a:p xmlns:a="http://schemas.openxmlformats.org/drawingml/2006/main">
            <a:r>
              <a:t>        "source": "공공 안내·응답 기록",</a:t>
            </a:r>
          </a:p>
          <a:p xmlns:a="http://schemas.openxmlformats.org/drawingml/2006/main">
            <a:r>
              <a:t>        "prepare": "정책 원문·서비스 목록·시험 질문의 버전 관리",</a:t>
            </a:r>
          </a:p>
          <a:p xmlns:a="http://schemas.openxmlformats.org/drawingml/2006/main">
            <a:r>
              <a:t>        "output": "이용자 질문",</a:t>
            </a:r>
          </a:p>
          <a:p xmlns:a="http://schemas.openxmlformats.org/drawingml/2006/main">
            <a:r>
              <a:t>        "refresh": "회귀시험·오답 보완·계약 산출물의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"AX13",</a:t>
            </a:r>
          </a:p>
          <a:p xmlns:a="http://schemas.openxmlformats.org/drawingml/2006/main">
            <a:r>
              <a:t>    "success": [</a:t>
            </a:r>
          </a:p>
          <a:p xmlns:a="http://schemas.openxmlformats.org/drawingml/2006/main">
            <a:r>
              <a:t>      "업무 완결 조건과 책임 범위 정의",</a:t>
            </a:r>
          </a:p>
          <a:p xmlns:a="http://schemas.openxmlformats.org/drawingml/2006/main">
            <a:r>
              <a:t>      "독립 평가셋·계약 산출물 추적"</a:t>
            </a:r>
          </a:p>
          <a:p xmlns:a="http://schemas.openxmlformats.org/drawingml/2006/main">
            <a:r>
              <a:t>    ],</a:t>
            </a:r>
          </a:p>
          <a:p xmlns:a="http://schemas.openxmlformats.org/drawingml/2006/main">
            <a:r>
              <a:t>    "risks": [</a:t>
            </a:r>
          </a:p>
          <a:p xmlns:a="http://schemas.openxmlformats.org/drawingml/2006/main">
            <a:r>
              <a:t>      "감사에서 지적된 부정확·비일관 답변",</a:t>
            </a:r>
          </a:p>
          <a:p xmlns:a="http://schemas.openxmlformats.org/drawingml/2006/main">
            <a:r>
              <a:t>      "통합서비스 계획·계약 감독의 미비"</a:t>
            </a:r>
          </a:p>
          <a:p xmlns:a="http://schemas.openxmlformats.org/drawingml/2006/main">
            <a:r>
              <a:t>    ],</a:t>
            </a:r>
          </a:p>
          <a:p xmlns:a="http://schemas.openxmlformats.org/drawingml/2006/main">
            <a:r>
              <a:t>    "architecture": [</a:t>
            </a:r>
          </a:p>
          <a:p xmlns:a="http://schemas.openxmlformats.org/drawingml/2006/main">
            <a:r>
              <a:t>      "MyCity 안내",</a:t>
            </a:r>
          </a:p>
          <a:p xmlns:a="http://schemas.openxmlformats.org/drawingml/2006/main">
            <a:r>
              <a:t>      "AI 챗봇·포털",</a:t>
            </a:r>
          </a:p>
          <a:p xmlns:a="http://schemas.openxmlformats.org/drawingml/2006/main">
            <a:r>
              <a:t>      "공공 안내·응답 기록",</a:t>
            </a:r>
          </a:p>
          <a:p xmlns:a="http://schemas.openxmlformats.org/drawingml/2006/main">
            <a:r>
              <a:t>      "사업자·서비스 담당"</a:t>
            </a:r>
          </a:p>
          <a:p xmlns:a="http://schemas.openxmlformats.org/drawingml/2006/main">
            <a:r>
              <a:t>    ],</a:t>
            </a:r>
          </a:p>
          <a:p xmlns:a="http://schemas.openxmlformats.org/drawingml/2006/main">
            <a:r>
              <a:t>    "transfers": [</a:t>
            </a:r>
          </a:p>
          <a:p xmlns:a="http://schemas.openxmlformats.org/drawingml/2006/main">
            <a:r>
              <a:t>      "이용자 질문",</a:t>
            </a:r>
          </a:p>
          <a:p xmlns:a="http://schemas.openxmlformats.org/drawingml/2006/main">
            <a:r>
              <a:t>      "안내 자료",</a:t>
            </a:r>
          </a:p>
          <a:p xmlns:a="http://schemas.openxmlformats.org/drawingml/2006/main">
            <a:r>
              <a:t>      "챗봇 답변·연결",</a:t>
            </a:r>
          </a:p>
          <a:p xmlns:a="http://schemas.openxmlformats.org/drawingml/2006/main">
            <a:r>
              <a:t>      "피드백·감사 기록"</a:t>
            </a:r>
          </a:p>
          <a:p xmlns:a="http://schemas.openxmlformats.org/drawingml/2006/main">
            <a:r>
              <a:t>    ],</a:t>
            </a:r>
          </a:p>
          <a:p xmlns:a="http://schemas.openxmlformats.org/drawingml/2006/main">
            <a:r>
              <a:t>    "control": "OTI 반론을 함께 보존한 근거별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뉴욕 MyCity 챗봇 감사 · 뉴욕시 감사기관 / 2025-12-30 https://comptroller.nyc.gov/reports/audit-report-on-the-new-york-city-office-of-technology-and-innovations-mycity-system/</a:t>
            </a:r>
          </a:p>
          <a:p xmlns:a="http://schemas.openxmlformats.org/drawingml/2006/main">
            <a:r>
              <a:t>홈페이지 https://heen1987-ops.github.io/TS-business-Plan-001/index.html?view=casebook&amp;case=AX13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"AX13",</a:t>
            </a:r>
          </a:p>
          <a:p xmlns:a="http://schemas.openxmlformats.org/drawingml/2006/main">
            <a:r>
              <a:t>    "title": "뉴욕 MyCity 챗봇 감사",</a:t>
            </a:r>
          </a:p>
          <a:p xmlns:a="http://schemas.openxmlformats.org/drawingml/2006/main">
            <a:r>
              <a:t>    "region": "해외",</a:t>
            </a:r>
          </a:p>
          <a:p xmlns:a="http://schemas.openxmlformats.org/drawingml/2006/main">
            <a:r>
              <a:t>    "country": "미국",</a:t>
            </a:r>
          </a:p>
          <a:p xmlns:a="http://schemas.openxmlformats.org/drawingml/2006/main">
            <a:r>
              <a:t>    "result": "실패",</a:t>
            </a:r>
          </a:p>
          <a:p xmlns:a="http://schemas.openxmlformats.org/drawingml/2006/main">
            <a:r>
              <a:t>    "kind": "공공 서비스 AI 품질·사업관리",</a:t>
            </a:r>
          </a:p>
          <a:p xmlns:a="http://schemas.openxmlformats.org/drawingml/2006/main">
            <a:r>
              <a:t>    "period": "2025 감사 / 2026 갱신",</a:t>
            </a:r>
          </a:p>
          <a:p xmlns:a="http://schemas.openxmlformats.org/drawingml/2006/main">
            <a:r>
              <a:t>    "sources": [</a:t>
            </a:r>
          </a:p>
          <a:p xmlns:a="http://schemas.openxmlformats.org/drawingml/2006/main">
            <a:r>
              <a:t>      "S-AX13"</a:t>
            </a:r>
          </a:p>
          <a:p xmlns:a="http://schemas.openxmlformats.org/drawingml/2006/main">
            <a:r>
              <a:t>    ],</a:t>
            </a:r>
          </a:p>
          <a:p xmlns:a="http://schemas.openxmlformats.org/drawingml/2006/main">
            <a:r>
              <a:t>    "keywords": [</a:t>
            </a:r>
          </a:p>
          <a:p xmlns:a="http://schemas.openxmlformats.org/drawingml/2006/main">
            <a:r>
              <a:t>      "공공 서비스 AI 품질",</a:t>
            </a:r>
          </a:p>
          <a:p xmlns:a="http://schemas.openxmlformats.org/drawingml/2006/main">
            <a:r>
              <a:t>      "사업관리"</a:t>
            </a:r>
          </a:p>
          <a:p xmlns:a="http://schemas.openxmlformats.org/drawingml/2006/main">
            <a:r>
              <a:t>    ],</a:t>
            </a:r>
          </a:p>
          <a:p xmlns:a="http://schemas.openxmlformats.org/drawingml/2006/main">
            <a:r>
              <a:t>    "fact": "부정확·비일관 답변과 사업관리·통합서비스 미비에 대한 감사 지적",</a:t>
            </a:r>
          </a:p>
          <a:p xmlns:a="http://schemas.openxmlformats.org/drawingml/2006/main">
            <a:r>
              <a:t>    "limit": "운영기관의 정확도 주장과 감사 판단의 차이 존재 · 개별 질의·평가 방식 대조 필요",</a:t>
            </a:r>
          </a:p>
          <a:p xmlns:a="http://schemas.openxmlformats.org/drawingml/2006/main">
            <a:r>
              <a:t>    "flow": [</a:t>
            </a:r>
          </a:p>
          <a:p xmlns:a="http://schemas.openxmlformats.org/drawingml/2006/main">
            <a:r>
              <a:t>      "공공 안내 자료",</a:t>
            </a:r>
          </a:p>
          <a:p xmlns:a="http://schemas.openxmlformats.org/drawingml/2006/main">
            <a:r>
              <a:t>      "AI 챗봇",</a:t>
            </a:r>
          </a:p>
          <a:p xmlns:a="http://schemas.openxmlformats.org/drawingml/2006/main">
            <a:r>
              <a:t>      "사업자 안내",</a:t>
            </a:r>
          </a:p>
          <a:p xmlns:a="http://schemas.openxmlformats.org/drawingml/2006/main">
            <a:r>
              <a:t>      "감사·개선 요청"</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"출시 여부와 실제 민원 과업 완료의 분리 평가",</a:t>
            </a:r>
          </a:p>
          <a:p xmlns:a="http://schemas.openxmlformats.org/drawingml/2006/main">
            <a:r>
              <a:t>    "local": "TS 대민 안내의 근거·소관·신청 완료까지 검수",</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"반례 정답셋·오안내 신고·책임부서 인계",</a:t>
            </a:r>
          </a:p>
          <a:p xmlns:a="http://schemas.openxmlformats.org/drawingml/2006/main">
            <a:r>
              <a:t>    "test": "규정과 상충하는 안내 및 미완료 신청 재현",</a:t>
            </a:r>
          </a:p>
          <a:p xmlns:a="http://schemas.openxmlformats.org/drawingml/2006/main">
            <a:r>
              <a:t>    "metric": "오안내율 / 신청 완료율 / 재접촉률",</a:t>
            </a:r>
          </a:p>
          <a:p xmlns:a="http://schemas.openxmlformats.org/drawingml/2006/main">
            <a:r>
              <a:t>    "strategies": [</a:t>
            </a:r>
          </a:p>
          <a:p xmlns:a="http://schemas.openxmlformats.org/drawingml/2006/main">
            <a:r>
              <a:t>      "ST-04",</a:t>
            </a:r>
          </a:p>
          <a:p xmlns:a="http://schemas.openxmlformats.org/drawingml/2006/main">
            <a:r>
              <a:t>      "ST-08",</a:t>
            </a:r>
          </a:p>
          <a:p xmlns:a="http://schemas.openxmlformats.org/drawingml/2006/main">
            <a:r>
              <a:t>      "ST-09",</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"AX13",</a:t>
            </a:r>
          </a:p>
          <a:p xmlns:a="http://schemas.openxmlformats.org/drawingml/2006/main">
            <a:r>
              <a:t>    "canonicalId": "AX13",</a:t>
            </a:r>
          </a:p>
          <a:p xmlns:a="http://schemas.openxmlformats.org/drawingml/2006/main">
            <a:r>
              <a:t>    "purpose": "대민 챗봇의 답변 품질·사업관리 실패 분석",</a:t>
            </a:r>
          </a:p>
          <a:p xmlns:a="http://schemas.openxmlformats.org/drawingml/2006/main">
            <a:r>
              <a:t>    "users": "사업자·시민·서비스 운영부서",</a:t>
            </a:r>
          </a:p>
          <a:p xmlns:a="http://schemas.openxmlformats.org/drawingml/2006/main">
            <a:r>
              <a:t>    "scope": [</a:t>
            </a:r>
          </a:p>
          <a:p xmlns:a="http://schemas.openxmlformats.org/drawingml/2006/main">
            <a:r>
              <a:t>      "질의응답",</a:t>
            </a:r>
          </a:p>
          <a:p xmlns:a="http://schemas.openxmlformats.org/drawingml/2006/main">
            <a:r>
              <a:t>      "포털 통합",</a:t>
            </a:r>
          </a:p>
          <a:p xmlns:a="http://schemas.openxmlformats.org/drawingml/2006/main">
            <a:r>
              <a:t>      "계약·감사"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"MyCity 안내",</a:t>
            </a:r>
          </a:p>
          <a:p xmlns:a="http://schemas.openxmlformats.org/drawingml/2006/main">
            <a:r>
              <a:t>        "detail": "요청 업무와 공식 소관·이용조건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포털 통합 / 계약·감사",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 챗봇·포털",</a:t>
            </a:r>
          </a:p>
          <a:p xmlns:a="http://schemas.openxmlformats.org/drawingml/2006/main">
            <a:r>
              <a:t>        "detail": "공식 정보 검색과 근거별 답변 대조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"사업자·서비스 담당",</a:t>
            </a:r>
          </a:p>
          <a:p xmlns:a="http://schemas.openxmlformats.org/drawingml/2006/main">
            <a:r>
              <a:t>        "detail": "검증된 안내와 실제 신청 경로의 분리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"공공 안내·응답 기록",</a:t>
            </a:r>
          </a:p>
          <a:p xmlns:a="http://schemas.openxmlformats.org/drawingml/2006/main">
            <a:r>
              <a:t>        "detail": "정책 원문·서비스 목록·시험 질문의 버전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"회귀시험·오답 보완·계약 산출물의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"공공 안내 자료",</a:t>
            </a:r>
          </a:p>
          <a:p xmlns:a="http://schemas.openxmlformats.org/drawingml/2006/main">
            <a:r>
              <a:t>        "input": "요청 업무와 공식 소관·이용조건 식별",</a:t>
            </a:r>
          </a:p>
          <a:p xmlns:a="http://schemas.openxmlformats.org/drawingml/2006/main">
            <a:r>
              <a:t>        "process": "정책 원문·서비스 목록·시험 질문의 버전 관리",</a:t>
            </a:r>
          </a:p>
          <a:p xmlns:a="http://schemas.openxmlformats.org/drawingml/2006/main">
            <a:r>
              <a:t>        "output": "이용자 질문"</a:t>
            </a:r>
          </a:p>
          <a:p xmlns:a="http://schemas.openxmlformats.org/drawingml/2006/main">
            <a:r>
              <a:t>      },</a:t>
            </a:r>
          </a:p>
          <a:p xmlns:a="http://schemas.openxmlformats.org/drawingml/2006/main">
            <a:r>
              <a:t>      {</a:t>
            </a:r>
          </a:p>
          <a:p xmlns:a="http://schemas.openxmlformats.org/drawingml/2006/main">
            <a:r>
              <a:t>        "title": "AI 챗봇",</a:t>
            </a:r>
          </a:p>
          <a:p xmlns:a="http://schemas.openxmlformats.org/drawingml/2006/main">
            <a:r>
              <a:t>        "input": "이용자 질문",</a:t>
            </a:r>
          </a:p>
          <a:p xmlns:a="http://schemas.openxmlformats.org/drawingml/2006/main">
            <a:r>
              <a:t>        "process": "공식 정보 검색과 근거별 답변 대조 설계",</a:t>
            </a:r>
          </a:p>
          <a:p xmlns:a="http://schemas.openxmlformats.org/drawingml/2006/main">
            <a:r>
              <a:t>        "output": "안내 자료"</a:t>
            </a:r>
          </a:p>
          <a:p xmlns:a="http://schemas.openxmlformats.org/drawingml/2006/main">
            <a:r>
              <a:t>      },</a:t>
            </a:r>
          </a:p>
          <a:p xmlns:a="http://schemas.openxmlformats.org/drawingml/2006/main">
            <a:r>
              <a:t>      {</a:t>
            </a:r>
          </a:p>
          <a:p xmlns:a="http://schemas.openxmlformats.org/drawingml/2006/main">
            <a:r>
              <a:t>        "title": "사업자 안내",</a:t>
            </a:r>
          </a:p>
          <a:p xmlns:a="http://schemas.openxmlformats.org/drawingml/2006/main">
            <a:r>
              <a:t>        "input": "안내 자료",</a:t>
            </a:r>
          </a:p>
          <a:p xmlns:a="http://schemas.openxmlformats.org/drawingml/2006/main">
            <a:r>
              <a:t>        "process": "OTI 반론을 함께 보존한 근거별 평가",</a:t>
            </a:r>
          </a:p>
          <a:p xmlns:a="http://schemas.openxmlformats.org/drawingml/2006/main">
            <a:r>
              <a:t>        "output": "챗봇 답변·연결"</a:t>
            </a:r>
          </a:p>
          <a:p xmlns:a="http://schemas.openxmlformats.org/drawingml/2006/main">
            <a:r>
              <a:t>      },</a:t>
            </a:r>
          </a:p>
          <a:p xmlns:a="http://schemas.openxmlformats.org/drawingml/2006/main">
            <a:r>
              <a:t>      {</a:t>
            </a:r>
          </a:p>
          <a:p xmlns:a="http://schemas.openxmlformats.org/drawingml/2006/main">
            <a:r>
              <a:t>        "title": "감사·개선 요청",</a:t>
            </a:r>
          </a:p>
          <a:p xmlns:a="http://schemas.openxmlformats.org/drawingml/2006/main">
            <a:r>
              <a:t>        "input": "챗봇 답변·연결",</a:t>
            </a:r>
          </a:p>
          <a:p xmlns:a="http://schemas.openxmlformats.org/drawingml/2006/main">
            <a:r>
              <a:t>        "process": "검증된 안내와 실제 신청 경로의 분리 제공",</a:t>
            </a:r>
          </a:p>
          <a:p xmlns:a="http://schemas.openxmlformats.org/drawingml/2006/main">
            <a:r>
              <a:t>        "output": "피드백·감사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"사업자가 허가 조건을 질문해 공식 안내로 이동",</a:t>
            </a:r>
          </a:p>
          <a:p xmlns:a="http://schemas.openxmlformats.org/drawingml/2006/main">
            <a:r>
              <a:t>      "exception": "동일 질문 표현 변경·상충 규정·폐지된 서비스",</a:t>
            </a:r>
          </a:p>
          <a:p xmlns:a="http://schemas.openxmlformats.org/drawingml/2006/main">
            <a:r>
              <a:t>      "evidence": "질문별 정답·변형 질의 일관성·실제 서비스 도달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"사업자·시민·서비스 운영부서",</a:t>
            </a:r>
          </a:p>
          <a:p xmlns:a="http://schemas.openxmlformats.org/drawingml/2006/main">
            <a:r>
              <a:t>          "processing": "요청 업무와 공식 소관·이용조건 식별",</a:t>
            </a:r>
          </a:p>
          <a:p xmlns:a="http://schemas.openxmlformats.org/drawingml/2006/main">
            <a:r>
              <a:t>          "output": "이용자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"공공 안내·응답 기록",</a:t>
            </a:r>
          </a:p>
          <a:p xmlns:a="http://schemas.openxmlformats.org/drawingml/2006/main">
            <a:r>
              <a:t>          "processing": "정책 원문·서비스 목록·시험 질문의 버전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"이용자 질문",</a:t>
            </a:r>
          </a:p>
          <a:p xmlns:a="http://schemas.openxmlformats.org/drawingml/2006/main">
            <a:r>
              <a:t>          "processing": "공식 정보 검색과 근거별 답변 대조 설계",</a:t>
            </a:r>
          </a:p>
          <a:p xmlns:a="http://schemas.openxmlformats.org/drawingml/2006/main">
            <a:r>
              <a:t>          "output": "챗봇 답변·연결"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"챗봇 답변·연결",</a:t>
            </a:r>
          </a:p>
          <a:p xmlns:a="http://schemas.openxmlformats.org/drawingml/2006/main">
            <a:r>
              <a:t>          "processing": "검증된 안내와 실제 신청 경로의 분리 제공",</a:t>
            </a:r>
          </a:p>
          <a:p xmlns:a="http://schemas.openxmlformats.org/drawingml/2006/main">
            <a:r>
              <a:t>          "output": "피드백·감사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"회귀시험·오답 보완·계약 산출물의 대사",</a:t>
            </a:r>
          </a:p>
          <a:p xmlns:a="http://schemas.openxmlformats.org/drawingml/2006/main">
            <a:r>
              <a:t>          "output":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"회귀시험·오답 보완·계약 산출물의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"S-AX13",</a:t>
            </a:r>
          </a:p>
          <a:p xmlns:a="http://schemas.openxmlformats.org/drawingml/2006/main">
            <a:r>
              <a:t>        "title": "뉴욕 MyCity 챗봇 감사 · 뉴욕시 감사기관 / 2025-12-30",</a:t>
            </a:r>
          </a:p>
          <a:p xmlns:a="http://schemas.openxmlformats.org/drawingml/2006/main">
            <a:r>
              <a:t>        "url": "https://comptroller.nyc.gov/reports/audit-report-on-the-new-york-city-office-of-technology-and-innovations-mycity-system/",</a:t>
            </a:r>
          </a:p>
          <a:p xmlns:a="http://schemas.openxmlformats.org/drawingml/2006/main">
            <a:r>
              <a:t>        "published": "2025 감사 / 2026 갱신",</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"출시 여부와 실제 민원 과업 완료의 분리 평가",</a:t>
            </a:r>
          </a:p>
          <a:p xmlns:a="http://schemas.openxmlformats.org/drawingml/2006/main">
            <a:r>
              <a:t>    "local": "TS 대민 안내의 근거·소관·신청 완료까지 검수",</a:t>
            </a:r>
          </a:p>
          <a:p xmlns:a="http://schemas.openxmlformats.org/drawingml/2006/main">
            <a:r>
              <a:t>    "sourceDetail": null,</a:t>
            </a:r>
          </a:p>
          <a:p xmlns:a="http://schemas.openxmlformats.org/drawingml/2006/main">
            <a:r>
              <a:t>    "narrative": [</a:t>
            </a:r>
          </a:p>
          <a:p xmlns:a="http://schemas.openxmlformats.org/drawingml/2006/main">
            <a:r>
              <a:t>      "뉴욕 MyCity의 챗봇 답변 품질과 통합서비스 사업관리 문제를 다룬 감사 사례. 공식 안내의 정확성과 서비스 통합·계약 감독을 함께 봐야 하는 대민 AI 사업의 사례.",</a:t>
            </a:r>
          </a:p>
          <a:p xmlns:a="http://schemas.openxmlformats.org/drawingml/2006/main">
            <a:r>
              <a:t>      "질문별 근거 문서, 답변 결과, 공식 신청 경로, 오류 수정 이력을 연결하는 재구성. 독립 시험셋과 계약 산출물 목록을 대응시키고 감사 지적·기관 반론을 근거별로 구분해 비교하는 방식.",</a:t>
            </a:r>
          </a:p>
          <a:p xmlns:a="http://schemas.openxmlformats.org/drawingml/2006/main">
            <a:r>
              <a:t>      "TS에서는 챗봇 공개와 민원 업무 완결을 같은 성과로 보지 않는 설계에 활용. 부정확·상충 안내의 회귀시험, 완료조건 정의, 변경 요구와 인수 증빙의 연결을 CCK 사업관리 기능에 반영할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"MyCity 질의",</a:t>
            </a:r>
          </a:p>
          <a:p xmlns:a="http://schemas.openxmlformats.org/drawingml/2006/main">
            <a:r>
              <a:t>          "layer": "이용 접점",</a:t>
            </a:r>
          </a:p>
          <a:p xmlns:a="http://schemas.openxmlformats.org/drawingml/2006/main">
            <a:r>
              <a:t>          "detail": "사업자·시민·서비스 운영부서",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"소관·이용조건",</a:t>
            </a:r>
          </a:p>
          <a:p xmlns:a="http://schemas.openxmlformats.org/drawingml/2006/main">
            <a:r>
              <a:t>          "layer": "업무 문맥",</a:t>
            </a:r>
          </a:p>
          <a:p xmlns:a="http://schemas.openxmlformats.org/drawingml/2006/main">
            <a:r>
              <a:t>          "detail": "요청 업무와 공식 소관·이용조건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안내 검색",</a:t>
            </a:r>
          </a:p>
          <a:p xmlns:a="http://schemas.openxmlformats.org/drawingml/2006/main">
            <a:r>
              <a:t>          "layer": "자료 조회",</a:t>
            </a:r>
          </a:p>
          <a:p xmlns:a="http://schemas.openxmlformats.org/drawingml/2006/main">
            <a:r>
              <a:t>          "detail": "이용자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"근거형 답변 구성",</a:t>
            </a:r>
          </a:p>
          <a:p xmlns:a="http://schemas.openxmlformats.org/drawingml/2006/main">
            <a:r>
              <a:t>          "layer": "핵심 처리",</a:t>
            </a:r>
          </a:p>
          <a:p xmlns:a="http://schemas.openxmlformats.org/drawingml/2006/main">
            <a:r>
              <a:t>          "detail": "공식 정보 검색과 근거별 답변 대조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"위법·상충 안내 검사",</a:t>
            </a:r>
          </a:p>
          <a:p xmlns:a="http://schemas.openxmlformats.org/drawingml/2006/main">
            <a:r>
              <a:t>          "layer": "결과 검증",</a:t>
            </a:r>
          </a:p>
          <a:p xmlns:a="http://schemas.openxmlformats.org/drawingml/2006/main">
            <a:r>
              <a:t>          "detail": "OTI 반론을 함께 보존한 근거별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"서비스 담당 검토",</a:t>
            </a:r>
          </a:p>
          <a:p xmlns:a="http://schemas.openxmlformats.org/drawingml/2006/main">
            <a:r>
              <a:t>          "layer": "사람 확인",</a:t>
            </a:r>
          </a:p>
          <a:p xmlns:a="http://schemas.openxmlformats.org/drawingml/2006/main">
            <a:r>
              <a:t>          "detail": "사업자가 허가 조건을 질문해 공식 안내로 이동",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"신청 경로 안내",</a:t>
            </a:r>
          </a:p>
          <a:p xmlns:a="http://schemas.openxmlformats.org/drawingml/2006/main">
            <a:r>
              <a:t>          "layer": "업무 연결",</a:t>
            </a:r>
          </a:p>
          <a:p xmlns:a="http://schemas.openxmlformats.org/drawingml/2006/main">
            <a:r>
              <a:t>          "detail": "검증된 안내와 실제 신청 경로의 분리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"오답·계약 대사",</a:t>
            </a:r>
          </a:p>
          <a:p xmlns:a="http://schemas.openxmlformats.org/drawingml/2006/main">
            <a:r>
              <a:t>          "layer": "운영 관측",</a:t>
            </a:r>
          </a:p>
          <a:p xmlns:a="http://schemas.openxmlformats.org/drawingml/2006/main">
            <a:r>
              <a:t>          "detail": "회귀시험·오답 보완·계약 산출물의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"정책·서비스 목록",</a:t>
            </a:r>
          </a:p>
          <a:p xmlns:a="http://schemas.openxmlformats.org/drawingml/2006/main">
            <a:r>
              <a:t>          "layer": "데이터 원천",</a:t>
            </a:r>
          </a:p>
          <a:p xmlns:a="http://schemas.openxmlformats.org/drawingml/2006/main">
            <a:r>
              <a:t>          "detail": "공공 안내·응답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"판본·적용조건 정리",</a:t>
            </a:r>
          </a:p>
          <a:p xmlns:a="http://schemas.openxmlformats.org/drawingml/2006/main">
            <a:r>
              <a:t>          "layer": "준비·갱신",</a:t>
            </a:r>
          </a:p>
          <a:p xmlns:a="http://schemas.openxmlformats.org/drawingml/2006/main">
            <a:r>
              <a:t>          "detail": "정책 원문·서비스 목록·시험 질문의 버전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"안내·회귀시험셋",</a:t>
            </a:r>
          </a:p>
          <a:p xmlns:a="http://schemas.openxmlformats.org/drawingml/2006/main">
            <a:r>
              <a:t>          "layer": "상태·지식 저장",</a:t>
            </a:r>
          </a:p>
          <a:p xmlns:a="http://schemas.openxmlformats.org/drawingml/2006/main">
            <a:r>
              <a:t>          "detail": "질문별 정답·변형 질의 일관성·실제 서비스 도달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 책임·품질기준",</a:t>
            </a:r>
          </a:p>
          <a:p xmlns:a="http://schemas.openxmlformats.org/drawingml/2006/main">
            <a:r>
              <a:t>          "layer": "권한·정책",</a:t>
            </a:r>
          </a:p>
          <a:p xmlns:a="http://schemas.openxmlformats.org/drawingml/2006/main">
            <a:r>
              <a:t>          "detail": "동일 질문 표현 변경·상충 규정·폐지된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"공공 안내 자료 → AI 챗봇 → 사업자 안내 → 감사·개선 요청"</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"공공 안내·응답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업무와 공식 소관·이용조건 식별",</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"질문별 정답·변형 질의 일관성·실제 서비스 도달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"안내 자료",</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"챗봇 답변·연결",</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"대민 챗봇의 답변 품질·사업관리 실패 분석 / 질의응답·포털 통합·계약·감사",</a:t>
            </a:r>
          </a:p>
          <a:p xmlns:a="http://schemas.openxmlformats.org/drawingml/2006/main">
            <a:r>
              <a:t>        "extension": "TS 대민 안내의 근거·소관·신청 완료까지 검수"</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"동일 질문 표현 변경·상충 규정·폐지된 서비스",</a:t>
            </a:r>
          </a:p>
          <a:p xmlns:a="http://schemas.openxmlformats.org/drawingml/2006/main">
            <a:r>
              <a:t>        "hold": "OTI 반론을 함께 보존한 근거별 평가",</a:t>
            </a:r>
          </a:p>
          <a:p xmlns:a="http://schemas.openxmlformats.org/drawingml/2006/main">
            <a:r>
              <a:t>        "recovery": "회귀시험·오답 보완·계약 산출물의 대사",</a:t>
            </a:r>
          </a:p>
          <a:p xmlns:a="http://schemas.openxmlformats.org/drawingml/2006/main">
            <a:r>
              <a:t>        "evidence": "질문별 정답·변형 질의 일관성·실제 서비스 도달 기록"</a:t>
            </a:r>
          </a:p>
          <a:p xmlns:a="http://schemas.openxmlformats.org/drawingml/2006/main">
            <a:r>
              <a:t>      },</a:t>
            </a:r>
          </a:p>
          <a:p xmlns:a="http://schemas.openxmlformats.org/drawingml/2006/main">
            <a:r>
              <a:t>      "data": {</a:t>
            </a:r>
          </a:p>
          <a:p xmlns:a="http://schemas.openxmlformats.org/drawingml/2006/main">
            <a:r>
              <a:t>        "source": "공공 안내·응답 기록",</a:t>
            </a:r>
          </a:p>
          <a:p xmlns:a="http://schemas.openxmlformats.org/drawingml/2006/main">
            <a:r>
              <a:t>        "prepare": "정책 원문·서비스 목록·시험 질문의 버전 관리",</a:t>
            </a:r>
          </a:p>
          <a:p xmlns:a="http://schemas.openxmlformats.org/drawingml/2006/main">
            <a:r>
              <a:t>        "output": "이용자 질문",</a:t>
            </a:r>
          </a:p>
          <a:p xmlns:a="http://schemas.openxmlformats.org/drawingml/2006/main">
            <a:r>
              <a:t>        "refresh": "회귀시험·오답 보완·계약 산출물의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"AX13",</a:t>
            </a:r>
          </a:p>
          <a:p xmlns:a="http://schemas.openxmlformats.org/drawingml/2006/main">
            <a:r>
              <a:t>    "success": [</a:t>
            </a:r>
          </a:p>
          <a:p xmlns:a="http://schemas.openxmlformats.org/drawingml/2006/main">
            <a:r>
              <a:t>      "업무 완결 조건과 책임 범위 정의",</a:t>
            </a:r>
          </a:p>
          <a:p xmlns:a="http://schemas.openxmlformats.org/drawingml/2006/main">
            <a:r>
              <a:t>      "독립 평가셋·계약 산출물 추적"</a:t>
            </a:r>
          </a:p>
          <a:p xmlns:a="http://schemas.openxmlformats.org/drawingml/2006/main">
            <a:r>
              <a:t>    ],</a:t>
            </a:r>
          </a:p>
          <a:p xmlns:a="http://schemas.openxmlformats.org/drawingml/2006/main">
            <a:r>
              <a:t>    "risks": [</a:t>
            </a:r>
          </a:p>
          <a:p xmlns:a="http://schemas.openxmlformats.org/drawingml/2006/main">
            <a:r>
              <a:t>      "감사에서 지적된 부정확·비일관 답변",</a:t>
            </a:r>
          </a:p>
          <a:p xmlns:a="http://schemas.openxmlformats.org/drawingml/2006/main">
            <a:r>
              <a:t>      "통합서비스 계획·계약 감독의 미비"</a:t>
            </a:r>
          </a:p>
          <a:p xmlns:a="http://schemas.openxmlformats.org/drawingml/2006/main">
            <a:r>
              <a:t>    ],</a:t>
            </a:r>
          </a:p>
          <a:p xmlns:a="http://schemas.openxmlformats.org/drawingml/2006/main">
            <a:r>
              <a:t>    "architecture": [</a:t>
            </a:r>
          </a:p>
          <a:p xmlns:a="http://schemas.openxmlformats.org/drawingml/2006/main">
            <a:r>
              <a:t>      "MyCity 안내",</a:t>
            </a:r>
          </a:p>
          <a:p xmlns:a="http://schemas.openxmlformats.org/drawingml/2006/main">
            <a:r>
              <a:t>      "AI 챗봇·포털",</a:t>
            </a:r>
          </a:p>
          <a:p xmlns:a="http://schemas.openxmlformats.org/drawingml/2006/main">
            <a:r>
              <a:t>      "공공 안내·응답 기록",</a:t>
            </a:r>
          </a:p>
          <a:p xmlns:a="http://schemas.openxmlformats.org/drawingml/2006/main">
            <a:r>
              <a:t>      "사업자·서비스 담당"</a:t>
            </a:r>
          </a:p>
          <a:p xmlns:a="http://schemas.openxmlformats.org/drawingml/2006/main">
            <a:r>
              <a:t>    ],</a:t>
            </a:r>
          </a:p>
          <a:p xmlns:a="http://schemas.openxmlformats.org/drawingml/2006/main">
            <a:r>
              <a:t>    "transfers": [</a:t>
            </a:r>
          </a:p>
          <a:p xmlns:a="http://schemas.openxmlformats.org/drawingml/2006/main">
            <a:r>
              <a:t>      "이용자 질문",</a:t>
            </a:r>
          </a:p>
          <a:p xmlns:a="http://schemas.openxmlformats.org/drawingml/2006/main">
            <a:r>
              <a:t>      "안내 자료",</a:t>
            </a:r>
          </a:p>
          <a:p xmlns:a="http://schemas.openxmlformats.org/drawingml/2006/main">
            <a:r>
              <a:t>      "챗봇 답변·연결",</a:t>
            </a:r>
          </a:p>
          <a:p xmlns:a="http://schemas.openxmlformats.org/drawingml/2006/main">
            <a:r>
              <a:t>      "피드백·감사 기록"</a:t>
            </a:r>
          </a:p>
          <a:p xmlns:a="http://schemas.openxmlformats.org/drawingml/2006/main">
            <a:r>
              <a:t>    ],</a:t>
            </a:r>
          </a:p>
          <a:p xmlns:a="http://schemas.openxmlformats.org/drawingml/2006/main">
            <a:r>
              <a:t>    "control": "OTI 반론을 함께 보존한 근거별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뉴욕 MyCity 챗봇 감사 · 뉴욕시 감사기관 / 2025-12-30 https://comptroller.nyc.gov/reports/audit-report-on-the-new-york-city-office-of-technology-and-innovations-mycity-system/</a:t>
            </a:r>
          </a:p>
          <a:p xmlns:a="http://schemas.openxmlformats.org/drawingml/2006/main">
            <a:r>
              <a:t>홈페이지 https://heen1987-ops.github.io/TS-business-Plan-001/index.html?view=casebook&amp;case=AX13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"AX13",</a:t>
            </a:r>
          </a:p>
          <a:p xmlns:a="http://schemas.openxmlformats.org/drawingml/2006/main">
            <a:r>
              <a:t>    "title": "뉴욕 MyCity 챗봇 감사",</a:t>
            </a:r>
          </a:p>
          <a:p xmlns:a="http://schemas.openxmlformats.org/drawingml/2006/main">
            <a:r>
              <a:t>    "region": "해외",</a:t>
            </a:r>
          </a:p>
          <a:p xmlns:a="http://schemas.openxmlformats.org/drawingml/2006/main">
            <a:r>
              <a:t>    "country": "미국",</a:t>
            </a:r>
          </a:p>
          <a:p xmlns:a="http://schemas.openxmlformats.org/drawingml/2006/main">
            <a:r>
              <a:t>    "result": "실패",</a:t>
            </a:r>
          </a:p>
          <a:p xmlns:a="http://schemas.openxmlformats.org/drawingml/2006/main">
            <a:r>
              <a:t>    "kind": "공공 서비스 AI 품질·사업관리",</a:t>
            </a:r>
          </a:p>
          <a:p xmlns:a="http://schemas.openxmlformats.org/drawingml/2006/main">
            <a:r>
              <a:t>    "period": "2025 감사 / 2026 갱신",</a:t>
            </a:r>
          </a:p>
          <a:p xmlns:a="http://schemas.openxmlformats.org/drawingml/2006/main">
            <a:r>
              <a:t>    "sources": [</a:t>
            </a:r>
          </a:p>
          <a:p xmlns:a="http://schemas.openxmlformats.org/drawingml/2006/main">
            <a:r>
              <a:t>      "S-AX13"</a:t>
            </a:r>
          </a:p>
          <a:p xmlns:a="http://schemas.openxmlformats.org/drawingml/2006/main">
            <a:r>
              <a:t>    ],</a:t>
            </a:r>
          </a:p>
          <a:p xmlns:a="http://schemas.openxmlformats.org/drawingml/2006/main">
            <a:r>
              <a:t>    "keywords": [</a:t>
            </a:r>
          </a:p>
          <a:p xmlns:a="http://schemas.openxmlformats.org/drawingml/2006/main">
            <a:r>
              <a:t>      "공공 서비스 AI 품질",</a:t>
            </a:r>
          </a:p>
          <a:p xmlns:a="http://schemas.openxmlformats.org/drawingml/2006/main">
            <a:r>
              <a:t>      "사업관리"</a:t>
            </a:r>
          </a:p>
          <a:p xmlns:a="http://schemas.openxmlformats.org/drawingml/2006/main">
            <a:r>
              <a:t>    ],</a:t>
            </a:r>
          </a:p>
          <a:p xmlns:a="http://schemas.openxmlformats.org/drawingml/2006/main">
            <a:r>
              <a:t>    "fact": "부정확·비일관 답변과 사업관리·통합서비스 미비에 대한 감사 지적",</a:t>
            </a:r>
          </a:p>
          <a:p xmlns:a="http://schemas.openxmlformats.org/drawingml/2006/main">
            <a:r>
              <a:t>    "limit": "운영기관의 정확도 주장과 감사 판단의 차이 존재 · 개별 질의·평가 방식 대조 필요",</a:t>
            </a:r>
          </a:p>
          <a:p xmlns:a="http://schemas.openxmlformats.org/drawingml/2006/main">
            <a:r>
              <a:t>    "flow": [</a:t>
            </a:r>
          </a:p>
          <a:p xmlns:a="http://schemas.openxmlformats.org/drawingml/2006/main">
            <a:r>
              <a:t>      "공공 안내 자료",</a:t>
            </a:r>
          </a:p>
          <a:p xmlns:a="http://schemas.openxmlformats.org/drawingml/2006/main">
            <a:r>
              <a:t>      "AI 챗봇",</a:t>
            </a:r>
          </a:p>
          <a:p xmlns:a="http://schemas.openxmlformats.org/drawingml/2006/main">
            <a:r>
              <a:t>      "사업자 안내",</a:t>
            </a:r>
          </a:p>
          <a:p xmlns:a="http://schemas.openxmlformats.org/drawingml/2006/main">
            <a:r>
              <a:t>      "감사·개선 요청"</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"출시 여부와 실제 민원 과업 완료의 분리 평가",</a:t>
            </a:r>
          </a:p>
          <a:p xmlns:a="http://schemas.openxmlformats.org/drawingml/2006/main">
            <a:r>
              <a:t>    "local": "TS 대민 안내의 근거·소관·신청 완료까지 검수",</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"반례 정답셋·오안내 신고·책임부서 인계",</a:t>
            </a:r>
          </a:p>
          <a:p xmlns:a="http://schemas.openxmlformats.org/drawingml/2006/main">
            <a:r>
              <a:t>    "test": "규정과 상충하는 안내 및 미완료 신청 재현",</a:t>
            </a:r>
          </a:p>
          <a:p xmlns:a="http://schemas.openxmlformats.org/drawingml/2006/main">
            <a:r>
              <a:t>    "metric": "오안내율 / 신청 완료율 / 재접촉률",</a:t>
            </a:r>
          </a:p>
          <a:p xmlns:a="http://schemas.openxmlformats.org/drawingml/2006/main">
            <a:r>
              <a:t>    "strategies": [</a:t>
            </a:r>
          </a:p>
          <a:p xmlns:a="http://schemas.openxmlformats.org/drawingml/2006/main">
            <a:r>
              <a:t>      "ST-04",</a:t>
            </a:r>
          </a:p>
          <a:p xmlns:a="http://schemas.openxmlformats.org/drawingml/2006/main">
            <a:r>
              <a:t>      "ST-08",</a:t>
            </a:r>
          </a:p>
          <a:p xmlns:a="http://schemas.openxmlformats.org/drawingml/2006/main">
            <a:r>
              <a:t>      "ST-09",</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"AX13",</a:t>
            </a:r>
          </a:p>
          <a:p xmlns:a="http://schemas.openxmlformats.org/drawingml/2006/main">
            <a:r>
              <a:t>    "canonicalId": "AX13",</a:t>
            </a:r>
          </a:p>
          <a:p xmlns:a="http://schemas.openxmlformats.org/drawingml/2006/main">
            <a:r>
              <a:t>    "purpose": "대민 챗봇의 답변 품질·사업관리 실패 분석",</a:t>
            </a:r>
          </a:p>
          <a:p xmlns:a="http://schemas.openxmlformats.org/drawingml/2006/main">
            <a:r>
              <a:t>    "users": "사업자·시민·서비스 운영부서",</a:t>
            </a:r>
          </a:p>
          <a:p xmlns:a="http://schemas.openxmlformats.org/drawingml/2006/main">
            <a:r>
              <a:t>    "scope": [</a:t>
            </a:r>
          </a:p>
          <a:p xmlns:a="http://schemas.openxmlformats.org/drawingml/2006/main">
            <a:r>
              <a:t>      "질의응답",</a:t>
            </a:r>
          </a:p>
          <a:p xmlns:a="http://schemas.openxmlformats.org/drawingml/2006/main">
            <a:r>
              <a:t>      "포털 통합",</a:t>
            </a:r>
          </a:p>
          <a:p xmlns:a="http://schemas.openxmlformats.org/drawingml/2006/main">
            <a:r>
              <a:t>      "계약·감사"</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"MyCity 안내",</a:t>
            </a:r>
          </a:p>
          <a:p xmlns:a="http://schemas.openxmlformats.org/drawingml/2006/main">
            <a:r>
              <a:t>        "detail": "요청 업무와 공식 소관·이용조건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"질의응답 / 포털 통합 / 계약·감사",</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"AI 챗봇·포털",</a:t>
            </a:r>
          </a:p>
          <a:p xmlns:a="http://schemas.openxmlformats.org/drawingml/2006/main">
            <a:r>
              <a:t>        "detail": "공식 정보 검색과 근거별 답변 대조 설계",</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"사업자·서비스 담당",</a:t>
            </a:r>
          </a:p>
          <a:p xmlns:a="http://schemas.openxmlformats.org/drawingml/2006/main">
            <a:r>
              <a:t>        "detail": "검증된 안내와 실제 신청 경로의 분리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"공공 안내·응답 기록",</a:t>
            </a:r>
          </a:p>
          <a:p xmlns:a="http://schemas.openxmlformats.org/drawingml/2006/main">
            <a:r>
              <a:t>        "detail": "정책 원문·서비스 목록·시험 질문의 버전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"회귀시험·오답 보완·계약 산출물의 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"공공 안내 자료",</a:t>
            </a:r>
          </a:p>
          <a:p xmlns:a="http://schemas.openxmlformats.org/drawingml/2006/main">
            <a:r>
              <a:t>        "input": "요청 업무와 공식 소관·이용조건 식별",</a:t>
            </a:r>
          </a:p>
          <a:p xmlns:a="http://schemas.openxmlformats.org/drawingml/2006/main">
            <a:r>
              <a:t>        "process": "정책 원문·서비스 목록·시험 질문의 버전 관리",</a:t>
            </a:r>
          </a:p>
          <a:p xmlns:a="http://schemas.openxmlformats.org/drawingml/2006/main">
            <a:r>
              <a:t>        "output": "이용자 질문"</a:t>
            </a:r>
          </a:p>
          <a:p xmlns:a="http://schemas.openxmlformats.org/drawingml/2006/main">
            <a:r>
              <a:t>      },</a:t>
            </a:r>
          </a:p>
          <a:p xmlns:a="http://schemas.openxmlformats.org/drawingml/2006/main">
            <a:r>
              <a:t>      {</a:t>
            </a:r>
          </a:p>
          <a:p xmlns:a="http://schemas.openxmlformats.org/drawingml/2006/main">
            <a:r>
              <a:t>        "title": "AI 챗봇",</a:t>
            </a:r>
          </a:p>
          <a:p xmlns:a="http://schemas.openxmlformats.org/drawingml/2006/main">
            <a:r>
              <a:t>        "input": "이용자 질문",</a:t>
            </a:r>
          </a:p>
          <a:p xmlns:a="http://schemas.openxmlformats.org/drawingml/2006/main">
            <a:r>
              <a:t>        "process": "공식 정보 검색과 근거별 답변 대조 설계",</a:t>
            </a:r>
          </a:p>
          <a:p xmlns:a="http://schemas.openxmlformats.org/drawingml/2006/main">
            <a:r>
              <a:t>        "output": "안내 자료"</a:t>
            </a:r>
          </a:p>
          <a:p xmlns:a="http://schemas.openxmlformats.org/drawingml/2006/main">
            <a:r>
              <a:t>      },</a:t>
            </a:r>
          </a:p>
          <a:p xmlns:a="http://schemas.openxmlformats.org/drawingml/2006/main">
            <a:r>
              <a:t>      {</a:t>
            </a:r>
          </a:p>
          <a:p xmlns:a="http://schemas.openxmlformats.org/drawingml/2006/main">
            <a:r>
              <a:t>        "title": "사업자 안내",</a:t>
            </a:r>
          </a:p>
          <a:p xmlns:a="http://schemas.openxmlformats.org/drawingml/2006/main">
            <a:r>
              <a:t>        "input": "안내 자료",</a:t>
            </a:r>
          </a:p>
          <a:p xmlns:a="http://schemas.openxmlformats.org/drawingml/2006/main">
            <a:r>
              <a:t>        "process": "OTI 반론을 함께 보존한 근거별 평가",</a:t>
            </a:r>
          </a:p>
          <a:p xmlns:a="http://schemas.openxmlformats.org/drawingml/2006/main">
            <a:r>
              <a:t>        "output": "챗봇 답변·연결"</a:t>
            </a:r>
          </a:p>
          <a:p xmlns:a="http://schemas.openxmlformats.org/drawingml/2006/main">
            <a:r>
              <a:t>      },</a:t>
            </a:r>
          </a:p>
          <a:p xmlns:a="http://schemas.openxmlformats.org/drawingml/2006/main">
            <a:r>
              <a:t>      {</a:t>
            </a:r>
          </a:p>
          <a:p xmlns:a="http://schemas.openxmlformats.org/drawingml/2006/main">
            <a:r>
              <a:t>        "title": "감사·개선 요청",</a:t>
            </a:r>
          </a:p>
          <a:p xmlns:a="http://schemas.openxmlformats.org/drawingml/2006/main">
            <a:r>
              <a:t>        "input": "챗봇 답변·연결",</a:t>
            </a:r>
          </a:p>
          <a:p xmlns:a="http://schemas.openxmlformats.org/drawingml/2006/main">
            <a:r>
              <a:t>        "process": "검증된 안내와 실제 신청 경로의 분리 제공",</a:t>
            </a:r>
          </a:p>
          <a:p xmlns:a="http://schemas.openxmlformats.org/drawingml/2006/main">
            <a:r>
              <a:t>        "output": "피드백·감사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"사업자가 허가 조건을 질문해 공식 안내로 이동",</a:t>
            </a:r>
          </a:p>
          <a:p xmlns:a="http://schemas.openxmlformats.org/drawingml/2006/main">
            <a:r>
              <a:t>      "exception": "동일 질문 표현 변경·상충 규정·폐지된 서비스",</a:t>
            </a:r>
          </a:p>
          <a:p xmlns:a="http://schemas.openxmlformats.org/drawingml/2006/main">
            <a:r>
              <a:t>      "evidence": "질문별 정답·변형 질의 일관성·실제 서비스 도달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"사업자·시민·서비스 운영부서",</a:t>
            </a:r>
          </a:p>
          <a:p xmlns:a="http://schemas.openxmlformats.org/drawingml/2006/main">
            <a:r>
              <a:t>          "processing": "요청 업무와 공식 소관·이용조건 식별",</a:t>
            </a:r>
          </a:p>
          <a:p xmlns:a="http://schemas.openxmlformats.org/drawingml/2006/main">
            <a:r>
              <a:t>          "output": "이용자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"공공 안내·응답 기록",</a:t>
            </a:r>
          </a:p>
          <a:p xmlns:a="http://schemas.openxmlformats.org/drawingml/2006/main">
            <a:r>
              <a:t>          "processing": "정책 원문·서비스 목록·시험 질문의 버전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"이용자 질문",</a:t>
            </a:r>
          </a:p>
          <a:p xmlns:a="http://schemas.openxmlformats.org/drawingml/2006/main">
            <a:r>
              <a:t>          "processing": "공식 정보 검색과 근거별 답변 대조 설계",</a:t>
            </a:r>
          </a:p>
          <a:p xmlns:a="http://schemas.openxmlformats.org/drawingml/2006/main">
            <a:r>
              <a:t>          "output": "챗봇 답변·연결"</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"챗봇 답변·연결",</a:t>
            </a:r>
          </a:p>
          <a:p xmlns:a="http://schemas.openxmlformats.org/drawingml/2006/main">
            <a:r>
              <a:t>          "processing": "검증된 안내와 실제 신청 경로의 분리 제공",</a:t>
            </a:r>
          </a:p>
          <a:p xmlns:a="http://schemas.openxmlformats.org/drawingml/2006/main">
            <a:r>
              <a:t>          "output": "피드백·감사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"회귀시험·오답 보완·계약 산출물의 대사",</a:t>
            </a:r>
          </a:p>
          <a:p xmlns:a="http://schemas.openxmlformats.org/drawingml/2006/main">
            <a:r>
              <a:t>          "output":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"회귀시험·오답 보완·계약 산출물의 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"S-AX13",</a:t>
            </a:r>
          </a:p>
          <a:p xmlns:a="http://schemas.openxmlformats.org/drawingml/2006/main">
            <a:r>
              <a:t>        "title": "뉴욕 MyCity 챗봇 감사 · 뉴욕시 감사기관 / 2025-12-30",</a:t>
            </a:r>
          </a:p>
          <a:p xmlns:a="http://schemas.openxmlformats.org/drawingml/2006/main">
            <a:r>
              <a:t>        "url": "https://comptroller.nyc.gov/reports/audit-report-on-the-new-york-city-office-of-technology-and-innovations-mycity-system/",</a:t>
            </a:r>
          </a:p>
          <a:p xmlns:a="http://schemas.openxmlformats.org/drawingml/2006/main">
            <a:r>
              <a:t>        "published": "2025 감사 / 2026 갱신",</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"출시 여부와 실제 민원 과업 완료의 분리 평가",</a:t>
            </a:r>
          </a:p>
          <a:p xmlns:a="http://schemas.openxmlformats.org/drawingml/2006/main">
            <a:r>
              <a:t>    "local": "TS 대민 안내의 근거·소관·신청 완료까지 검수",</a:t>
            </a:r>
          </a:p>
          <a:p xmlns:a="http://schemas.openxmlformats.org/drawingml/2006/main">
            <a:r>
              <a:t>    "sourceDetail": null,</a:t>
            </a:r>
          </a:p>
          <a:p xmlns:a="http://schemas.openxmlformats.org/drawingml/2006/main">
            <a:r>
              <a:t>    "narrative": [</a:t>
            </a:r>
          </a:p>
          <a:p xmlns:a="http://schemas.openxmlformats.org/drawingml/2006/main">
            <a:r>
              <a:t>      "뉴욕 MyCity의 챗봇 답변 품질과 통합서비스 사업관리 문제를 다룬 감사 사례. 공식 안내의 정확성과 서비스 통합·계약 감독을 함께 봐야 하는 대민 AI 사업의 사례.",</a:t>
            </a:r>
          </a:p>
          <a:p xmlns:a="http://schemas.openxmlformats.org/drawingml/2006/main">
            <a:r>
              <a:t>      "질문별 근거 문서, 답변 결과, 공식 신청 경로, 오류 수정 이력을 연결하는 재구성. 독립 시험셋과 계약 산출물 목록을 대응시키고 감사 지적·기관 반론을 근거별로 구분해 비교하는 방식.",</a:t>
            </a:r>
          </a:p>
          <a:p xmlns:a="http://schemas.openxmlformats.org/drawingml/2006/main">
            <a:r>
              <a:t>      "TS에서는 챗봇 공개와 민원 업무 완결을 같은 성과로 보지 않는 설계에 활용. 부정확·상충 안내의 회귀시험, 완료조건 정의, 변경 요구와 인수 증빙의 연결을 CCK 사업관리 기능에 반영할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"MyCity 질의",</a:t>
            </a:r>
          </a:p>
          <a:p xmlns:a="http://schemas.openxmlformats.org/drawingml/2006/main">
            <a:r>
              <a:t>          "layer": "이용 접점",</a:t>
            </a:r>
          </a:p>
          <a:p xmlns:a="http://schemas.openxmlformats.org/drawingml/2006/main">
            <a:r>
              <a:t>          "detail": "사업자·시민·서비스 운영부서",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"소관·이용조건",</a:t>
            </a:r>
          </a:p>
          <a:p xmlns:a="http://schemas.openxmlformats.org/drawingml/2006/main">
            <a:r>
              <a:t>          "layer": "업무 문맥",</a:t>
            </a:r>
          </a:p>
          <a:p xmlns:a="http://schemas.openxmlformats.org/drawingml/2006/main">
            <a:r>
              <a:t>          "detail": "요청 업무와 공식 소관·이용조건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"공식 안내 검색",</a:t>
            </a:r>
          </a:p>
          <a:p xmlns:a="http://schemas.openxmlformats.org/drawingml/2006/main">
            <a:r>
              <a:t>          "layer": "자료 조회",</a:t>
            </a:r>
          </a:p>
          <a:p xmlns:a="http://schemas.openxmlformats.org/drawingml/2006/main">
            <a:r>
              <a:t>          "detail": "이용자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"근거형 답변 구성",</a:t>
            </a:r>
          </a:p>
          <a:p xmlns:a="http://schemas.openxmlformats.org/drawingml/2006/main">
            <a:r>
              <a:t>          "layer": "핵심 처리",</a:t>
            </a:r>
          </a:p>
          <a:p xmlns:a="http://schemas.openxmlformats.org/drawingml/2006/main">
            <a:r>
              <a:t>          "detail": "공식 정보 검색과 근거별 답변 대조 설계",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"위법·상충 안내 검사",</a:t>
            </a:r>
          </a:p>
          <a:p xmlns:a="http://schemas.openxmlformats.org/drawingml/2006/main">
            <a:r>
              <a:t>          "layer": "결과 검증",</a:t>
            </a:r>
          </a:p>
          <a:p xmlns:a="http://schemas.openxmlformats.org/drawingml/2006/main">
            <a:r>
              <a:t>          "detail": "OTI 반론을 함께 보존한 근거별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"서비스 담당 검토",</a:t>
            </a:r>
          </a:p>
          <a:p xmlns:a="http://schemas.openxmlformats.org/drawingml/2006/main">
            <a:r>
              <a:t>          "layer": "사람 확인",</a:t>
            </a:r>
          </a:p>
          <a:p xmlns:a="http://schemas.openxmlformats.org/drawingml/2006/main">
            <a:r>
              <a:t>          "detail": "사업자가 허가 조건을 질문해 공식 안내로 이동",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"신청 경로 안내",</a:t>
            </a:r>
          </a:p>
          <a:p xmlns:a="http://schemas.openxmlformats.org/drawingml/2006/main">
            <a:r>
              <a:t>          "layer": "업무 연결",</a:t>
            </a:r>
          </a:p>
          <a:p xmlns:a="http://schemas.openxmlformats.org/drawingml/2006/main">
            <a:r>
              <a:t>          "detail": "검증된 안내와 실제 신청 경로의 분리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"오답·계약 대사",</a:t>
            </a:r>
          </a:p>
          <a:p xmlns:a="http://schemas.openxmlformats.org/drawingml/2006/main">
            <a:r>
              <a:t>          "layer": "운영 관측",</a:t>
            </a:r>
          </a:p>
          <a:p xmlns:a="http://schemas.openxmlformats.org/drawingml/2006/main">
            <a:r>
              <a:t>          "detail": "회귀시험·오답 보완·계약 산출물의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"정책·서비스 목록",</a:t>
            </a:r>
          </a:p>
          <a:p xmlns:a="http://schemas.openxmlformats.org/drawingml/2006/main">
            <a:r>
              <a:t>          "layer": "데이터 원천",</a:t>
            </a:r>
          </a:p>
          <a:p xmlns:a="http://schemas.openxmlformats.org/drawingml/2006/main">
            <a:r>
              <a:t>          "detail": "공공 안내·응답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"판본·적용조건 정리",</a:t>
            </a:r>
          </a:p>
          <a:p xmlns:a="http://schemas.openxmlformats.org/drawingml/2006/main">
            <a:r>
              <a:t>          "layer": "준비·갱신",</a:t>
            </a:r>
          </a:p>
          <a:p xmlns:a="http://schemas.openxmlformats.org/drawingml/2006/main">
            <a:r>
              <a:t>          "detail": "정책 원문·서비스 목록·시험 질문의 버전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"안내·회귀시험셋",</a:t>
            </a:r>
          </a:p>
          <a:p xmlns:a="http://schemas.openxmlformats.org/drawingml/2006/main">
            <a:r>
              <a:t>          "layer": "상태·지식 저장",</a:t>
            </a:r>
          </a:p>
          <a:p xmlns:a="http://schemas.openxmlformats.org/drawingml/2006/main">
            <a:r>
              <a:t>          "detail": "질문별 정답·변형 질의 일관성·실제 서비스 도달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"업무 책임·품질기준",</a:t>
            </a:r>
          </a:p>
          <a:p xmlns:a="http://schemas.openxmlformats.org/drawingml/2006/main">
            <a:r>
              <a:t>          "layer": "권한·정책",</a:t>
            </a:r>
          </a:p>
          <a:p xmlns:a="http://schemas.openxmlformats.org/drawingml/2006/main">
            <a:r>
              <a:t>          "detail": "동일 질문 표현 변경·상충 규정·폐지된 서비스",</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"공공 안내 자료 → AI 챗봇 → 사업자 안내 → 감사·개선 요청"</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"공공 안내·응답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"요청 업무와 공식 소관·이용조건 식별",</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"질문별 정답·변형 질의 일관성·실제 서비스 도달 기록",</a:t>
            </a:r>
          </a:p>
          <a:p xmlns:a="http://schemas.openxmlformats.org/drawingml/2006/main">
            <a:r>
              <a:t>          "check": "정책 원문·서비스 목록·시험 질문의 버전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"안내 자료",</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"챗봇 답변·연결",</a:t>
            </a:r>
          </a:p>
          <a:p xmlns:a="http://schemas.openxmlformats.org/drawingml/2006/main">
            <a:r>
              <a:t>          "check": "질문별 정답·변형 질의 일관성·실제 서비스 도달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"대민 챗봇의 답변 품질·사업관리 실패 분석 / 질의응답·포털 통합·계약·감사",</a:t>
            </a:r>
          </a:p>
          <a:p xmlns:a="http://schemas.openxmlformats.org/drawingml/2006/main">
            <a:r>
              <a:t>        "extension": "TS 대민 안내의 근거·소관·신청 완료까지 검수"</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"동일 질문 표현 변경·상충 규정·폐지된 서비스",</a:t>
            </a:r>
          </a:p>
          <a:p xmlns:a="http://schemas.openxmlformats.org/drawingml/2006/main">
            <a:r>
              <a:t>        "hold": "OTI 반론을 함께 보존한 근거별 평가",</a:t>
            </a:r>
          </a:p>
          <a:p xmlns:a="http://schemas.openxmlformats.org/drawingml/2006/main">
            <a:r>
              <a:t>        "recovery": "회귀시험·오답 보완·계약 산출물의 대사",</a:t>
            </a:r>
          </a:p>
          <a:p xmlns:a="http://schemas.openxmlformats.org/drawingml/2006/main">
            <a:r>
              <a:t>        "evidence": "질문별 정답·변형 질의 일관성·실제 서비스 도달 기록"</a:t>
            </a:r>
          </a:p>
          <a:p xmlns:a="http://schemas.openxmlformats.org/drawingml/2006/main">
            <a:r>
              <a:t>      },</a:t>
            </a:r>
          </a:p>
          <a:p xmlns:a="http://schemas.openxmlformats.org/drawingml/2006/main">
            <a:r>
              <a:t>      "data": {</a:t>
            </a:r>
          </a:p>
          <a:p xmlns:a="http://schemas.openxmlformats.org/drawingml/2006/main">
            <a:r>
              <a:t>        "source": "공공 안내·응답 기록",</a:t>
            </a:r>
          </a:p>
          <a:p xmlns:a="http://schemas.openxmlformats.org/drawingml/2006/main">
            <a:r>
              <a:t>        "prepare": "정책 원문·서비스 목록·시험 질문의 버전 관리",</a:t>
            </a:r>
          </a:p>
          <a:p xmlns:a="http://schemas.openxmlformats.org/drawingml/2006/main">
            <a:r>
              <a:t>        "output": "이용자 질문",</a:t>
            </a:r>
          </a:p>
          <a:p xmlns:a="http://schemas.openxmlformats.org/drawingml/2006/main">
            <a:r>
              <a:t>        "refresh": "회귀시험·오답 보완·계약 산출물의 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"AX13",</a:t>
            </a:r>
          </a:p>
          <a:p xmlns:a="http://schemas.openxmlformats.org/drawingml/2006/main">
            <a:r>
              <a:t>    "success": [</a:t>
            </a:r>
          </a:p>
          <a:p xmlns:a="http://schemas.openxmlformats.org/drawingml/2006/main">
            <a:r>
              <a:t>      "업무 완결 조건과 책임 범위 정의",</a:t>
            </a:r>
          </a:p>
          <a:p xmlns:a="http://schemas.openxmlformats.org/drawingml/2006/main">
            <a:r>
              <a:t>      "독립 평가셋·계약 산출물 추적"</a:t>
            </a:r>
          </a:p>
          <a:p xmlns:a="http://schemas.openxmlformats.org/drawingml/2006/main">
            <a:r>
              <a:t>    ],</a:t>
            </a:r>
          </a:p>
          <a:p xmlns:a="http://schemas.openxmlformats.org/drawingml/2006/main">
            <a:r>
              <a:t>    "risks": [</a:t>
            </a:r>
          </a:p>
          <a:p xmlns:a="http://schemas.openxmlformats.org/drawingml/2006/main">
            <a:r>
              <a:t>      "감사에서 지적된 부정확·비일관 답변",</a:t>
            </a:r>
          </a:p>
          <a:p xmlns:a="http://schemas.openxmlformats.org/drawingml/2006/main">
            <a:r>
              <a:t>      "통합서비스 계획·계약 감독의 미비"</a:t>
            </a:r>
          </a:p>
          <a:p xmlns:a="http://schemas.openxmlformats.org/drawingml/2006/main">
            <a:r>
              <a:t>    ],</a:t>
            </a:r>
          </a:p>
          <a:p xmlns:a="http://schemas.openxmlformats.org/drawingml/2006/main">
            <a:r>
              <a:t>    "architecture": [</a:t>
            </a:r>
          </a:p>
          <a:p xmlns:a="http://schemas.openxmlformats.org/drawingml/2006/main">
            <a:r>
              <a:t>      "MyCity 안내",</a:t>
            </a:r>
          </a:p>
          <a:p xmlns:a="http://schemas.openxmlformats.org/drawingml/2006/main">
            <a:r>
              <a:t>      "AI 챗봇·포털",</a:t>
            </a:r>
          </a:p>
          <a:p xmlns:a="http://schemas.openxmlformats.org/drawingml/2006/main">
            <a:r>
              <a:t>      "공공 안내·응답 기록",</a:t>
            </a:r>
          </a:p>
          <a:p xmlns:a="http://schemas.openxmlformats.org/drawingml/2006/main">
            <a:r>
              <a:t>      "사업자·서비스 담당"</a:t>
            </a:r>
          </a:p>
          <a:p xmlns:a="http://schemas.openxmlformats.org/drawingml/2006/main">
            <a:r>
              <a:t>    ],</a:t>
            </a:r>
          </a:p>
          <a:p xmlns:a="http://schemas.openxmlformats.org/drawingml/2006/main">
            <a:r>
              <a:t>    "transfers": [</a:t>
            </a:r>
          </a:p>
          <a:p xmlns:a="http://schemas.openxmlformats.org/drawingml/2006/main">
            <a:r>
              <a:t>      "이용자 질문",</a:t>
            </a:r>
          </a:p>
          <a:p xmlns:a="http://schemas.openxmlformats.org/drawingml/2006/main">
            <a:r>
              <a:t>      "안내 자료",</a:t>
            </a:r>
          </a:p>
          <a:p xmlns:a="http://schemas.openxmlformats.org/drawingml/2006/main">
            <a:r>
              <a:t>      "챗봇 답변·연결",</a:t>
            </a:r>
          </a:p>
          <a:p xmlns:a="http://schemas.openxmlformats.org/drawingml/2006/main">
            <a:r>
              <a:t>      "피드백·감사 기록"</a:t>
            </a:r>
          </a:p>
          <a:p xmlns:a="http://schemas.openxmlformats.org/drawingml/2006/main">
            <a:r>
              <a:t>    ],</a:t>
            </a:r>
          </a:p>
          <a:p xmlns:a="http://schemas.openxmlformats.org/drawingml/2006/main">
            <a:r>
              <a:t>    "control": "OTI 반론을 함께 보존한 근거별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뉴욕 MyCity 챗봇 감사 · 뉴욕시 감사기관 / 2025-12-30 https://comptroller.nyc.gov/reports/audit-report-on-the-new-york-city-office-of-technology-and-innovations-mycity-system/</a:t>
            </a:r>
          </a:p>
          <a:p xmlns:a="http://schemas.openxmlformats.org/drawingml/2006/main">
            <a:r>
              <a:t>홈페이지 https://heen1987-ops.github.io/TS-business-Plan-001/index.html?view=casebook&amp;case=AX13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"AX14",</a:t>
            </a:r>
          </a:p>
          <a:p xmlns:a="http://schemas.openxmlformats.org/drawingml/2006/main">
            <a:r>
              <a:t>    "title": "DHL Protex AI 안전 실증",</a:t>
            </a:r>
          </a:p>
          <a:p xmlns:a="http://schemas.openxmlformats.org/drawingml/2006/main">
            <a:r>
              <a:t>    "region": "해외",</a:t>
            </a:r>
          </a:p>
          <a:p xmlns:a="http://schemas.openxmlformats.org/drawingml/2006/main">
            <a:r>
              <a:t>    "country": "다국가",</a:t>
            </a:r>
          </a:p>
          <a:p xmlns:a="http://schemas.openxmlformats.org/drawingml/2006/main">
            <a:r>
              <a:t>    "result": "시범",</a:t>
            </a:r>
          </a:p>
          <a:p xmlns:a="http://schemas.openxmlformats.org/drawingml/2006/main">
            <a:r>
              <a:t>    "kind": "영상 기반 작업장 안전",</a:t>
            </a:r>
          </a:p>
          <a:p xmlns:a="http://schemas.openxmlformats.org/drawingml/2006/main">
            <a:r>
              <a:t>    "period": "PoC 소개",</a:t>
            </a:r>
          </a:p>
          <a:p xmlns:a="http://schemas.openxmlformats.org/drawingml/2006/main">
            <a:r>
              <a:t>    "sources": [</a:t>
            </a:r>
          </a:p>
          <a:p xmlns:a="http://schemas.openxmlformats.org/drawingml/2006/main">
            <a:r>
              <a:t>      "S-AX14"</a:t>
            </a:r>
          </a:p>
          <a:p xmlns:a="http://schemas.openxmlformats.org/drawingml/2006/main">
            <a:r>
              <a:t>    ],</a:t>
            </a:r>
          </a:p>
          <a:p xmlns:a="http://schemas.openxmlformats.org/drawingml/2006/main">
            <a:r>
              <a:t>    "keywords": [</a:t>
            </a:r>
          </a:p>
          <a:p xmlns:a="http://schemas.openxmlformats.org/drawingml/2006/main">
            <a:r>
              <a:t>      "영상 기반 작업장 안전"</a:t>
            </a:r>
          </a:p>
          <a:p xmlns:a="http://schemas.openxmlformats.org/drawingml/2006/main">
            <a:r>
              <a:t>    ],</a:t>
            </a:r>
          </a:p>
          <a:p xmlns:a="http://schemas.openxmlformats.org/drawingml/2006/main">
            <a:r>
              <a:t>    "fact": "영상의 위험 행동·상황 식별을 안전 담당자의 사전 조치에 활용하는 실증",</a:t>
            </a:r>
          </a:p>
          <a:p xmlns:a="http://schemas.openxmlformats.org/drawingml/2006/main">
            <a:r>
              <a:t>    "limit": "PoC 범위 · 전 사업장 확산·재해 감소 실측과 구분",</a:t>
            </a:r>
          </a:p>
          <a:p xmlns:a="http://schemas.openxmlformats.org/drawingml/2006/main">
            <a:r>
              <a:t>    "flow": [</a:t>
            </a:r>
          </a:p>
          <a:p xmlns:a="http://schemas.openxmlformats.org/drawingml/2006/main">
            <a:r>
              <a:t>      "현장 영상",</a:t>
            </a:r>
          </a:p>
          <a:p xmlns:a="http://schemas.openxmlformats.org/drawingml/2006/main">
            <a:r>
              <a:t>      "위험 이벤트 탐지",</a:t>
            </a:r>
          </a:p>
          <a:p xmlns:a="http://schemas.openxmlformats.org/drawingml/2006/main">
            <a:r>
              <a:t>      "안전 담당 검토",</a:t>
            </a:r>
          </a:p>
          <a:p xmlns:a="http://schemas.openxmlformats.org/drawingml/2006/main">
            <a:r>
              <a:t>      "예방 조치"</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"탐지 결과에서 조치 완료까지의 책임 연결",</a:t>
            </a:r>
          </a:p>
          <a:p xmlns:a="http://schemas.openxmlformats.org/drawingml/2006/main">
            <a:r>
              <a:t>    "local": "검사·시험·시설 현장 위험 증거와 안전 직무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"현장 사건 사전·검토 큐·조치 이력",</a:t>
            </a:r>
          </a:p>
          <a:p xmlns:a="http://schemas.openxmlformats.org/drawingml/2006/main">
            <a:r>
              <a:t>    "test": "오탐·미탐·사람 가림·조치 누락 시나리오",</a:t>
            </a:r>
          </a:p>
          <a:p xmlns:a="http://schemas.openxmlformats.org/drawingml/2006/main">
            <a:r>
              <a:t>    "metric": "위험 확인시간 / 조치 이행률",</a:t>
            </a:r>
          </a:p>
          <a:p xmlns:a="http://schemas.openxmlformats.org/drawingml/2006/main">
            <a:r>
              <a:t>    "strategies": [</a:t>
            </a:r>
          </a:p>
          <a:p xmlns:a="http://schemas.openxmlformats.org/drawingml/2006/main">
            <a:r>
              <a:t>      "ST-03",</a:t>
            </a:r>
          </a:p>
          <a:p xmlns:a="http://schemas.openxmlformats.org/drawingml/2006/main">
            <a:r>
              <a:t>      "ST-11"</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"AX14",</a:t>
            </a:r>
          </a:p>
          <a:p xmlns:a="http://schemas.openxmlformats.org/drawingml/2006/main">
            <a:r>
              <a:t>    "canonicalId": "AX14",</a:t>
            </a:r>
          </a:p>
          <a:p xmlns:a="http://schemas.openxmlformats.org/drawingml/2006/main">
            <a:r>
              <a:t>    "purpose": "작업장 위험 상황의 조기 발견 지원",</a:t>
            </a:r>
          </a:p>
          <a:p xmlns:a="http://schemas.openxmlformats.org/drawingml/2006/main">
            <a:r>
              <a:t>    "users": "물류 현장·안전 담당자",</a:t>
            </a:r>
          </a:p>
          <a:p xmlns:a="http://schemas.openxmlformats.org/drawingml/2006/main">
            <a:r>
              <a:t>    "scope": [</a:t>
            </a:r>
          </a:p>
          <a:p xmlns:a="http://schemas.openxmlformats.org/drawingml/2006/main">
            <a:r>
              <a:t>      "영상 이벤트",</a:t>
            </a:r>
          </a:p>
          <a:p xmlns:a="http://schemas.openxmlformats.org/drawingml/2006/main">
            <a:r>
              <a:t>      "위험 분류",</a:t>
            </a:r>
          </a:p>
          <a:p xmlns:a="http://schemas.openxmlformats.org/drawingml/2006/main">
            <a:r>
              <a:t>      "개선 조치"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"물류 현장 영상",</a:t>
            </a:r>
          </a:p>
          <a:p xmlns:a="http://schemas.openxmlformats.org/drawingml/2006/main">
            <a:r>
              <a:t>        "detail": "구역·작업시간·관측 목적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"영상 이벤트 / 위험 분류 / 개선 조치",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"위험 행동 탐지",</a:t>
            </a:r>
          </a:p>
          <a:p xmlns:a="http://schemas.openxmlformats.org/drawingml/2006/main">
            <a:r>
              <a:t>        "detail": "위험 행동·근접 상황의 영상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"안전 담당자",</a:t>
            </a:r>
          </a:p>
          <a:p xmlns:a="http://schemas.openxmlformats.org/drawingml/2006/main">
            <a:r>
              <a:t>        "detail": "안전 담당자 확인 후 현장 개선 조치",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"이벤트·조치 기록",</a:t>
            </a:r>
          </a:p>
          <a:p xmlns:a="http://schemas.openxmlformats.org/drawingml/2006/main">
            <a:r>
              <a:t>        "detail": "영상 접근범위·구역 지도·사건 이력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"오탐·누락·조치 완료와 재발 여부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"현장 영상",</a:t>
            </a:r>
          </a:p>
          <a:p xmlns:a="http://schemas.openxmlformats.org/drawingml/2006/main">
            <a:r>
              <a:t>        "input": "구역·작업시간·관측 목적 지정",</a:t>
            </a:r>
          </a:p>
          <a:p xmlns:a="http://schemas.openxmlformats.org/drawingml/2006/main">
            <a:r>
              <a:t>        "process": "영상 접근범위·구역 지도·사건 이력 정리",</a:t>
            </a:r>
          </a:p>
          <a:p xmlns:a="http://schemas.openxmlformats.org/drawingml/2006/main">
            <a:r>
              <a:t>        "output": "영상"</a:t>
            </a:r>
          </a:p>
          <a:p xmlns:a="http://schemas.openxmlformats.org/drawingml/2006/main">
            <a:r>
              <a:t>      },</a:t>
            </a:r>
          </a:p>
          <a:p xmlns:a="http://schemas.openxmlformats.org/drawingml/2006/main">
            <a:r>
              <a:t>      {</a:t>
            </a:r>
          </a:p>
          <a:p xmlns:a="http://schemas.openxmlformats.org/drawingml/2006/main">
            <a:r>
              <a:t>        "title": "위험 이벤트 탐지",</a:t>
            </a:r>
          </a:p>
          <a:p xmlns:a="http://schemas.openxmlformats.org/drawingml/2006/main">
            <a:r>
              <a:t>        "input": "영상",</a:t>
            </a:r>
          </a:p>
          <a:p xmlns:a="http://schemas.openxmlformats.org/drawingml/2006/main">
            <a:r>
              <a:t>        "process": "위험 행동·근접 상황의 영상 분석",</a:t>
            </a:r>
          </a:p>
          <a:p xmlns:a="http://schemas.openxmlformats.org/drawingml/2006/main">
            <a:r>
              <a:t>        "output": "위험 후보"</a:t>
            </a:r>
          </a:p>
          <a:p xmlns:a="http://schemas.openxmlformats.org/drawingml/2006/main">
            <a:r>
              <a:t>      },</a:t>
            </a:r>
          </a:p>
          <a:p xmlns:a="http://schemas.openxmlformats.org/drawingml/2006/main">
            <a:r>
              <a:t>      {</a:t>
            </a:r>
          </a:p>
          <a:p xmlns:a="http://schemas.openxmlformats.org/drawingml/2006/main">
            <a:r>
              <a:t>        "title": "안전 담당 검토",</a:t>
            </a:r>
          </a:p>
          <a:p xmlns:a="http://schemas.openxmlformats.org/drawingml/2006/main">
            <a:r>
              <a:t>        "input": "위험 후보",</a:t>
            </a:r>
          </a:p>
          <a:p xmlns:a="http://schemas.openxmlformats.org/drawingml/2006/main">
            <a:r>
              <a:t>        "process": "오경보·중요 미탐과 조치 이행 측정",</a:t>
            </a:r>
          </a:p>
          <a:p xmlns:a="http://schemas.openxmlformats.org/drawingml/2006/main">
            <a:r>
              <a:t>        "output": "검토 이벤트"</a:t>
            </a:r>
          </a:p>
          <a:p xmlns:a="http://schemas.openxmlformats.org/drawingml/2006/main">
            <a:r>
              <a:t>      },</a:t>
            </a:r>
          </a:p>
          <a:p xmlns:a="http://schemas.openxmlformats.org/drawingml/2006/main">
            <a:r>
              <a:t>      {</a:t>
            </a:r>
          </a:p>
          <a:p xmlns:a="http://schemas.openxmlformats.org/drawingml/2006/main">
            <a:r>
              <a:t>        "title": "예방 조치",</a:t>
            </a:r>
          </a:p>
          <a:p xmlns:a="http://schemas.openxmlformats.org/drawingml/2006/main">
            <a:r>
              <a:t>        "input": "검토 이벤트",</a:t>
            </a:r>
          </a:p>
          <a:p xmlns:a="http://schemas.openxmlformats.org/drawingml/2006/main">
            <a:r>
              <a:t>        "process": "안전 담당자 확인 후 현장 개선 조치",</a:t>
            </a:r>
          </a:p>
          <a:p xmlns:a="http://schemas.openxmlformats.org/drawingml/2006/main">
            <a:r>
              <a:t>        "output": "예방 조치"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"영상에서 위험 상황을 발견하고 담당자가 조치 등록",</a:t>
            </a:r>
          </a:p>
          <a:p xmlns:a="http://schemas.openxmlformats.org/drawingml/2006/main">
            <a:r>
              <a:t>      "exception": "가림·조명 변화·작업 동선 변경·비위험 행동",</a:t>
            </a:r>
          </a:p>
          <a:p xmlns:a="http://schemas.openxmlformats.org/drawingml/2006/main">
            <a:r>
              <a:t>      "evidence": "사건 표본별 오탐·미탐과 확인·조치 완료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"물류 현장·안전 담당자",</a:t>
            </a:r>
          </a:p>
          <a:p xmlns:a="http://schemas.openxmlformats.org/drawingml/2006/main">
            <a:r>
              <a:t>          "processing": "구역·작업시간·관측 목적 지정",</a:t>
            </a:r>
          </a:p>
          <a:p xmlns:a="http://schemas.openxmlformats.org/drawingml/2006/main">
            <a:r>
              <a:t>          "output": "영상"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"이벤트·조치 기록",</a:t>
            </a:r>
          </a:p>
          <a:p xmlns:a="http://schemas.openxmlformats.org/drawingml/2006/main">
            <a:r>
              <a:t>          "processing": "영상 접근범위·구역 지도·사건 이력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"영상",</a:t>
            </a:r>
          </a:p>
          <a:p xmlns:a="http://schemas.openxmlformats.org/drawingml/2006/main">
            <a:r>
              <a:t>          "processing": "위험 행동·근접 상황의 영상 분석",</a:t>
            </a:r>
          </a:p>
          <a:p xmlns:a="http://schemas.openxmlformats.org/drawingml/2006/main">
            <a:r>
              <a:t>          "output": "검토 이벤트"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이벤트",</a:t>
            </a:r>
          </a:p>
          <a:p xmlns:a="http://schemas.openxmlformats.org/drawingml/2006/main">
            <a:r>
              <a:t>          "processing": "안전 담당자 확인 후 현장 개선 조치",</a:t>
            </a:r>
          </a:p>
          <a:p xmlns:a="http://schemas.openxmlformats.org/drawingml/2006/main">
            <a:r>
              <a:t>          "output": "예방 조치"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"오탐·누락·조치 완료와 재발 여부 추적",</a:t>
            </a:r>
          </a:p>
          <a:p xmlns:a="http://schemas.openxmlformats.org/drawingml/2006/main">
            <a:r>
              <a:t>          "output": "사건 표본별 오탐·미탐과 확인·조치 완료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"오탐·누락·조치 완료와 재발 여부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"S-AX14",</a:t>
            </a:r>
          </a:p>
          <a:p xmlns:a="http://schemas.openxmlformats.org/drawingml/2006/main">
            <a:r>
              <a:t>        "title": "DHL Protex AI 안전 실증 · 사업자 기술 실증 소개 / 게시일 미표시",</a:t>
            </a:r>
          </a:p>
          <a:p xmlns:a="http://schemas.openxmlformats.org/drawingml/2006/main">
            <a:r>
              <a:t>        "url": "https://www.dhlfreight.com/nl-en/microsites/csi/computer-vision/logistics-use-cases/people-health-and-safety.html",</a:t>
            </a:r>
          </a:p>
          <a:p xmlns:a="http://schemas.openxmlformats.org/drawingml/2006/main">
            <a:r>
              <a:t>        "published": "PoC 소개",</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"탐지 결과에서 조치 완료까지의 책임 연결",</a:t>
            </a:r>
          </a:p>
          <a:p xmlns:a="http://schemas.openxmlformats.org/drawingml/2006/main">
            <a:r>
              <a:t>    "local": "검사·시험·시설 현장 위험 증거와 안전 직무 연결",</a:t>
            </a:r>
          </a:p>
          <a:p xmlns:a="http://schemas.openxmlformats.org/drawingml/2006/main">
            <a:r>
              <a:t>    "sourceDetail": null,</a:t>
            </a:r>
          </a:p>
          <a:p xmlns:a="http://schemas.openxmlformats.org/drawingml/2006/main">
            <a:r>
              <a:t>    "narrative": [</a:t>
            </a:r>
          </a:p>
          <a:p xmlns:a="http://schemas.openxmlformats.org/drawingml/2006/main">
            <a:r>
              <a:t>      "물류 작업장의 영상에서 위험 행동·근접 상황을 선별해 안전 담당자의 예방 조치를 돕는 사례. 탐지 이후의 검토·조치 연결이 현장 적용의 핵심.",</a:t>
            </a:r>
          </a:p>
          <a:p xmlns:a="http://schemas.openxmlformats.org/drawingml/2006/main">
            <a:r>
              <a:t>      "구역·작업시간·영상 접근범위를 지정하고 위험 후보를 사건 단위로 저장하는 구조의 재구성. 담당자가 현장 상황을 확인해 개선 조치를 기록하고 재발 여부를 검토하는 흐름.",</a:t>
            </a:r>
          </a:p>
          <a:p xmlns:a="http://schemas.openxmlformats.org/drawingml/2006/main">
            <a:r>
              <a:t>      "TS 시설·사업장 적용에서 카메라 설치만으로 안전 효과를 주장하기 어려운 유형. 구역·작업별 오경보와 중요 미탐, 경보 확인·조치 시간, 조치 후 재발을 분리해 평가할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"현장 영상 접점",</a:t>
            </a:r>
          </a:p>
          <a:p xmlns:a="http://schemas.openxmlformats.org/drawingml/2006/main">
            <a:r>
              <a:t>          "layer": "이용 접점",</a:t>
            </a:r>
          </a:p>
          <a:p xmlns:a="http://schemas.openxmlformats.org/drawingml/2006/main">
            <a:r>
              <a:t>          "detail": "물류 현장·안전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"구역·작업 맥락",</a:t>
            </a:r>
          </a:p>
          <a:p xmlns:a="http://schemas.openxmlformats.org/drawingml/2006/main">
            <a:r>
              <a:t>          "layer": "업무 문맥",</a:t>
            </a:r>
          </a:p>
          <a:p xmlns:a="http://schemas.openxmlformats.org/drawingml/2006/main">
            <a:r>
              <a:t>          "detail": "구역·작업시간·관측 목적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"영상·이력 조회",</a:t>
            </a:r>
          </a:p>
          <a:p xmlns:a="http://schemas.openxmlformats.org/drawingml/2006/main">
            <a:r>
              <a:t>          "layer": "자료 조회",</a:t>
            </a:r>
          </a:p>
          <a:p xmlns:a="http://schemas.openxmlformats.org/drawingml/2006/main">
            <a:r>
              <a:t>          "detail": "영상",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"위험 행동 탐지",</a:t>
            </a:r>
          </a:p>
          <a:p xmlns:a="http://schemas.openxmlformats.org/drawingml/2006/main">
            <a:r>
              <a:t>          "layer": "핵심 처리",</a:t>
            </a:r>
          </a:p>
          <a:p xmlns:a="http://schemas.openxmlformats.org/drawingml/2006/main">
            <a:r>
              <a:t>          "detail": "위험 행동·근접 상황의 영상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"오경보·미탐 검사",</a:t>
            </a:r>
          </a:p>
          <a:p xmlns:a="http://schemas.openxmlformats.org/drawingml/2006/main">
            <a:r>
              <a:t>          "layer": "결과 검증",</a:t>
            </a:r>
          </a:p>
          <a:p xmlns:a="http://schemas.openxmlformats.org/drawingml/2006/main">
            <a:r>
              <a:t>          "detail": "오경보·중요 미탐과 조치 이행 측정",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확인",</a:t>
            </a:r>
          </a:p>
          <a:p xmlns:a="http://schemas.openxmlformats.org/drawingml/2006/main">
            <a:r>
              <a:t>          "layer": "사람 확인",</a:t>
            </a:r>
          </a:p>
          <a:p xmlns:a="http://schemas.openxmlformats.org/drawingml/2006/main">
            <a:r>
              <a:t>          "detail": "영상에서 위험 상황을 발견하고 담당자가 조치 등록",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"개선 조치 인계",</a:t>
            </a:r>
          </a:p>
          <a:p xmlns:a="http://schemas.openxmlformats.org/drawingml/2006/main">
            <a:r>
              <a:t>          "layer": "업무 연결",</a:t>
            </a:r>
          </a:p>
          <a:p xmlns:a="http://schemas.openxmlformats.org/drawingml/2006/main">
            <a:r>
              <a:t>          "detail": "안전 담당자 확인 후 현장 개선 조치",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"재발·조치 추적",</a:t>
            </a:r>
          </a:p>
          <a:p xmlns:a="http://schemas.openxmlformats.org/drawingml/2006/main">
            <a:r>
              <a:t>          "layer": "운영 관측",</a:t>
            </a:r>
          </a:p>
          <a:p xmlns:a="http://schemas.openxmlformats.org/drawingml/2006/main">
            <a:r>
              <a:t>          "detail": "오탐·누락·조치 완료와 재발 여부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"영상·구역 지도",</a:t>
            </a:r>
          </a:p>
          <a:p xmlns:a="http://schemas.openxmlformats.org/drawingml/2006/main">
            <a:r>
              <a:t>          "layer": "데이터 원천",</a:t>
            </a:r>
          </a:p>
          <a:p xmlns:a="http://schemas.openxmlformats.org/drawingml/2006/main">
            <a:r>
              <a:t>          "detail": "이벤트·조치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"사건·위치 정합화",</a:t>
            </a:r>
          </a:p>
          <a:p xmlns:a="http://schemas.openxmlformats.org/drawingml/2006/main">
            <a:r>
              <a:t>          "layer": "준비·갱신",</a:t>
            </a:r>
          </a:p>
          <a:p xmlns:a="http://schemas.openxmlformats.org/drawingml/2006/main">
            <a:r>
              <a:t>          "detail": "영상 접근범위·구역 지도·사건 이력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"위험·조치 이력",</a:t>
            </a:r>
          </a:p>
          <a:p xmlns:a="http://schemas.openxmlformats.org/drawingml/2006/main">
            <a:r>
              <a:t>          "layer": "상태·지식 저장",</a:t>
            </a:r>
          </a:p>
          <a:p xmlns:a="http://schemas.openxmlformats.org/drawingml/2006/main">
            <a:r>
              <a:t>          "detail": "사건 표본별 오탐·미탐과 확인·조치 완료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"영상 열람정책",</a:t>
            </a:r>
          </a:p>
          <a:p xmlns:a="http://schemas.openxmlformats.org/drawingml/2006/main">
            <a:r>
              <a:t>          "layer": "권한·정책",</a:t>
            </a:r>
          </a:p>
          <a:p xmlns:a="http://schemas.openxmlformats.org/drawingml/2006/main">
            <a:r>
              <a:t>          "detail": "가림·조명 변화·작업 동선 변경·비위험 행동",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"현장 영상 → 위험 이벤트 탐지 → 안전 담당 검토 → 예방 조치"</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"이벤트·조치 기록",</a:t>
            </a:r>
          </a:p>
          <a:p xmlns:a="http://schemas.openxmlformats.org/drawingml/2006/main">
            <a:r>
              <a:t>          "check": "영상 접근범위·구역 지도·사건 이력 정리"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"영상 접근범위·구역 지도·사건 이력 정리"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"검토 이벤트",</a:t>
            </a:r>
          </a:p>
          <a:p xmlns:a="http://schemas.openxmlformats.org/drawingml/2006/main">
            <a:r>
              <a:t>          "check": "사건 표본별 오탐·미탐과 확인·조치 완료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"영상 열람정책",</a:t>
            </a:r>
          </a:p>
          <a:p xmlns:a="http://schemas.openxmlformats.org/drawingml/2006/main">
            <a:r>
              <a:t>          "check": "오경보·중요 미탐과 조치 이행 측정"</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"예방 조치",</a:t>
            </a:r>
          </a:p>
          <a:p xmlns:a="http://schemas.openxmlformats.org/drawingml/2006/main">
            <a:r>
              <a:t>          "check": "사건 표본별 오탐·미탐과 확인·조치 완료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"오탐·누락·조치 완료와 재발 여부 추적",</a:t>
            </a:r>
          </a:p>
          <a:p xmlns:a="http://schemas.openxmlformats.org/drawingml/2006/main">
            <a:r>
              <a:t>          "check": "오탐·누락·조치 완료와 재발 여부 추적"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"작업장 위험 상황의 조기 발견 지원 / 영상 이벤트·위험 분류·개선 조치",</a:t>
            </a:r>
          </a:p>
          <a:p xmlns:a="http://schemas.openxmlformats.org/drawingml/2006/main">
            <a:r>
              <a:t>        "extension": "검사·시험·시설 현장 위험 증거와 안전 직무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"가림·조명 변화·작업 동선 변경·비위험 행동",</a:t>
            </a:r>
          </a:p>
          <a:p xmlns:a="http://schemas.openxmlformats.org/drawingml/2006/main">
            <a:r>
              <a:t>        "hold": "오경보·중요 미탐과 조치 이행 측정",</a:t>
            </a:r>
          </a:p>
          <a:p xmlns:a="http://schemas.openxmlformats.org/drawingml/2006/main">
            <a:r>
              <a:t>        "recovery": "오탐·누락·조치 완료와 재발 여부 추적",</a:t>
            </a:r>
          </a:p>
          <a:p xmlns:a="http://schemas.openxmlformats.org/drawingml/2006/main">
            <a:r>
              <a:t>        "evidence": "사건 표본별 오탐·미탐과 확인·조치 완료 이력"</a:t>
            </a:r>
          </a:p>
          <a:p xmlns:a="http://schemas.openxmlformats.org/drawingml/2006/main">
            <a:r>
              <a:t>      },</a:t>
            </a:r>
          </a:p>
          <a:p xmlns:a="http://schemas.openxmlformats.org/drawingml/2006/main">
            <a:r>
              <a:t>      "data": {</a:t>
            </a:r>
          </a:p>
          <a:p xmlns:a="http://schemas.openxmlformats.org/drawingml/2006/main">
            <a:r>
              <a:t>        "source": "이벤트·조치 기록",</a:t>
            </a:r>
          </a:p>
          <a:p xmlns:a="http://schemas.openxmlformats.org/drawingml/2006/main">
            <a:r>
              <a:t>        "prepare": "영상 접근범위·구역 지도·사건 이력 정리",</a:t>
            </a:r>
          </a:p>
          <a:p xmlns:a="http://schemas.openxmlformats.org/drawingml/2006/main">
            <a:r>
              <a:t>        "output": "영상",</a:t>
            </a:r>
          </a:p>
          <a:p xmlns:a="http://schemas.openxmlformats.org/drawingml/2006/main">
            <a:r>
              <a:t>        "refresh": "오탐·누락·조치 완료와 재발 여부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"AX14",</a:t>
            </a:r>
          </a:p>
          <a:p xmlns:a="http://schemas.openxmlformats.org/drawingml/2006/main">
            <a:r>
              <a:t>    "success": [</a:t>
            </a:r>
          </a:p>
          <a:p xmlns:a="http://schemas.openxmlformats.org/drawingml/2006/main">
            <a:r>
              <a:t>      "현장 영상에서 위험 이벤트 선별",</a:t>
            </a:r>
          </a:p>
          <a:p xmlns:a="http://schemas.openxmlformats.org/drawingml/2006/main">
            <a:r>
              <a:t>      "안전 담당자의 예방 조치 연결"</a:t>
            </a:r>
          </a:p>
          <a:p xmlns:a="http://schemas.openxmlformats.org/drawingml/2006/main">
            <a:r>
              <a:t>    ],</a:t>
            </a:r>
          </a:p>
          <a:p xmlns:a="http://schemas.openxmlformats.org/drawingml/2006/main">
            <a:r>
              <a:t>    "risks": [</a:t>
            </a:r>
          </a:p>
          <a:p xmlns:a="http://schemas.openxmlformats.org/drawingml/2006/main">
            <a:r>
              <a:t>      "카메라 위치·작업 유형별 편차",</a:t>
            </a:r>
          </a:p>
          <a:p xmlns:a="http://schemas.openxmlformats.org/drawingml/2006/main">
            <a:r>
              <a:t>      "실증 탐지와 실제 재해 감소의 차이"</a:t>
            </a:r>
          </a:p>
          <a:p xmlns:a="http://schemas.openxmlformats.org/drawingml/2006/main">
            <a:r>
              <a:t>    ],</a:t>
            </a:r>
          </a:p>
          <a:p xmlns:a="http://schemas.openxmlformats.org/drawingml/2006/main">
            <a:r>
              <a:t>    "architecture": [</a:t>
            </a:r>
          </a:p>
          <a:p xmlns:a="http://schemas.openxmlformats.org/drawingml/2006/main">
            <a:r>
              <a:t>      "물류 현장 영상",</a:t>
            </a:r>
          </a:p>
          <a:p xmlns:a="http://schemas.openxmlformats.org/drawingml/2006/main">
            <a:r>
              <a:t>      "위험 행동 탐지",</a:t>
            </a:r>
          </a:p>
          <a:p xmlns:a="http://schemas.openxmlformats.org/drawingml/2006/main">
            <a:r>
              <a:t>      "이벤트·조치 기록",</a:t>
            </a:r>
          </a:p>
          <a:p xmlns:a="http://schemas.openxmlformats.org/drawingml/2006/main">
            <a:r>
              <a:t>      "안전 담당자"</a:t>
            </a:r>
          </a:p>
          <a:p xmlns:a="http://schemas.openxmlformats.org/drawingml/2006/main">
            <a:r>
              <a:t>    ],</a:t>
            </a:r>
          </a:p>
          <a:p xmlns:a="http://schemas.openxmlformats.org/drawingml/2006/main">
            <a:r>
              <a:t>    "transfers": [</a:t>
            </a:r>
          </a:p>
          <a:p xmlns:a="http://schemas.openxmlformats.org/drawingml/2006/main">
            <a:r>
              <a:t>      "영상",</a:t>
            </a:r>
          </a:p>
          <a:p xmlns:a="http://schemas.openxmlformats.org/drawingml/2006/main">
            <a:r>
              <a:t>      "위험 후보",</a:t>
            </a:r>
          </a:p>
          <a:p xmlns:a="http://schemas.openxmlformats.org/drawingml/2006/main">
            <a:r>
              <a:t>      "검토 이벤트",</a:t>
            </a:r>
          </a:p>
          <a:p xmlns:a="http://schemas.openxmlformats.org/drawingml/2006/main">
            <a:r>
              <a:t>      "예방 조치"</a:t>
            </a:r>
          </a:p>
          <a:p xmlns:a="http://schemas.openxmlformats.org/drawingml/2006/main">
            <a:r>
              <a:t>    ],</a:t>
            </a:r>
          </a:p>
          <a:p xmlns:a="http://schemas.openxmlformats.org/drawingml/2006/main">
            <a:r>
              <a:t>    "control": "오경보·중요 미탐과 조치 이행 측정",</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DHL Protex AI 안전 실증 · 사업자 기술 실증 소개 / 게시일 미표시 https://www.dhlfreight.com/nl-en/microsites/csi/computer-vision/logistics-use-cases/people-health-and-safety.html</a:t>
            </a:r>
          </a:p>
          <a:p xmlns:a="http://schemas.openxmlformats.org/drawingml/2006/main">
            <a:r>
              <a:t>홈페이지 https://heen1987-ops.github.io/TS-business-Plan-001/index.html?view=casebook&amp;case=AX14</a:t>
            </a:r>
          </a:p>
          <a:p xmlns:a="http://schemas.openxmlformats.org/drawingml/2006/main">
            <a:r>
              <a:t>한계: PoC 범위 · 전 사업장 확산·재해 감소 실측과 구분</a:t>
            </a:r>
          </a:p>
          <a:p xmlns:a="http://schemas.openxmlformats.org/drawingml/2006/main">
            <a:r>
              <a:t>실패 위험: 카메라 위치·작업 유형별 편차 / 실증 탐지와 실제 재해 감소의 차이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"AX14",</a:t>
            </a:r>
          </a:p>
          <a:p xmlns:a="http://schemas.openxmlformats.org/drawingml/2006/main">
            <a:r>
              <a:t>    "title": "DHL Protex AI 안전 실증",</a:t>
            </a:r>
          </a:p>
          <a:p xmlns:a="http://schemas.openxmlformats.org/drawingml/2006/main">
            <a:r>
              <a:t>    "region": "해외",</a:t>
            </a:r>
          </a:p>
          <a:p xmlns:a="http://schemas.openxmlformats.org/drawingml/2006/main">
            <a:r>
              <a:t>    "country": "다국가",</a:t>
            </a:r>
          </a:p>
          <a:p xmlns:a="http://schemas.openxmlformats.org/drawingml/2006/main">
            <a:r>
              <a:t>    "result": "시범",</a:t>
            </a:r>
          </a:p>
          <a:p xmlns:a="http://schemas.openxmlformats.org/drawingml/2006/main">
            <a:r>
              <a:t>    "kind": "영상 기반 작업장 안전",</a:t>
            </a:r>
          </a:p>
          <a:p xmlns:a="http://schemas.openxmlformats.org/drawingml/2006/main">
            <a:r>
              <a:t>    "period": "PoC 소개",</a:t>
            </a:r>
          </a:p>
          <a:p xmlns:a="http://schemas.openxmlformats.org/drawingml/2006/main">
            <a:r>
              <a:t>    "sources": [</a:t>
            </a:r>
          </a:p>
          <a:p xmlns:a="http://schemas.openxmlformats.org/drawingml/2006/main">
            <a:r>
              <a:t>      "S-AX14"</a:t>
            </a:r>
          </a:p>
          <a:p xmlns:a="http://schemas.openxmlformats.org/drawingml/2006/main">
            <a:r>
              <a:t>    ],</a:t>
            </a:r>
          </a:p>
          <a:p xmlns:a="http://schemas.openxmlformats.org/drawingml/2006/main">
            <a:r>
              <a:t>    "keywords": [</a:t>
            </a:r>
          </a:p>
          <a:p xmlns:a="http://schemas.openxmlformats.org/drawingml/2006/main">
            <a:r>
              <a:t>      "영상 기반 작업장 안전"</a:t>
            </a:r>
          </a:p>
          <a:p xmlns:a="http://schemas.openxmlformats.org/drawingml/2006/main">
            <a:r>
              <a:t>    ],</a:t>
            </a:r>
          </a:p>
          <a:p xmlns:a="http://schemas.openxmlformats.org/drawingml/2006/main">
            <a:r>
              <a:t>    "fact": "영상의 위험 행동·상황 식별을 안전 담당자의 사전 조치에 활용하는 실증",</a:t>
            </a:r>
          </a:p>
          <a:p xmlns:a="http://schemas.openxmlformats.org/drawingml/2006/main">
            <a:r>
              <a:t>    "limit": "PoC 범위 · 전 사업장 확산·재해 감소 실측과 구분",</a:t>
            </a:r>
          </a:p>
          <a:p xmlns:a="http://schemas.openxmlformats.org/drawingml/2006/main">
            <a:r>
              <a:t>    "flow": [</a:t>
            </a:r>
          </a:p>
          <a:p xmlns:a="http://schemas.openxmlformats.org/drawingml/2006/main">
            <a:r>
              <a:t>      "현장 영상",</a:t>
            </a:r>
          </a:p>
          <a:p xmlns:a="http://schemas.openxmlformats.org/drawingml/2006/main">
            <a:r>
              <a:t>      "위험 이벤트 탐지",</a:t>
            </a:r>
          </a:p>
          <a:p xmlns:a="http://schemas.openxmlformats.org/drawingml/2006/main">
            <a:r>
              <a:t>      "안전 담당 검토",</a:t>
            </a:r>
          </a:p>
          <a:p xmlns:a="http://schemas.openxmlformats.org/drawingml/2006/main">
            <a:r>
              <a:t>      "예방 조치"</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"탐지 결과에서 조치 완료까지의 책임 연결",</a:t>
            </a:r>
          </a:p>
          <a:p xmlns:a="http://schemas.openxmlformats.org/drawingml/2006/main">
            <a:r>
              <a:t>    "local": "검사·시험·시설 현장 위험 증거와 안전 직무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"현장 사건 사전·검토 큐·조치 이력",</a:t>
            </a:r>
          </a:p>
          <a:p xmlns:a="http://schemas.openxmlformats.org/drawingml/2006/main">
            <a:r>
              <a:t>    "test": "오탐·미탐·사람 가림·조치 누락 시나리오",</a:t>
            </a:r>
          </a:p>
          <a:p xmlns:a="http://schemas.openxmlformats.org/drawingml/2006/main">
            <a:r>
              <a:t>    "metric": "위험 확인시간 / 조치 이행률",</a:t>
            </a:r>
          </a:p>
          <a:p xmlns:a="http://schemas.openxmlformats.org/drawingml/2006/main">
            <a:r>
              <a:t>    "strategies": [</a:t>
            </a:r>
          </a:p>
          <a:p xmlns:a="http://schemas.openxmlformats.org/drawingml/2006/main">
            <a:r>
              <a:t>      "ST-03",</a:t>
            </a:r>
          </a:p>
          <a:p xmlns:a="http://schemas.openxmlformats.org/drawingml/2006/main">
            <a:r>
              <a:t>      "ST-11"</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"AX14",</a:t>
            </a:r>
          </a:p>
          <a:p xmlns:a="http://schemas.openxmlformats.org/drawingml/2006/main">
            <a:r>
              <a:t>    "canonicalId": "AX14",</a:t>
            </a:r>
          </a:p>
          <a:p xmlns:a="http://schemas.openxmlformats.org/drawingml/2006/main">
            <a:r>
              <a:t>    "purpose": "작업장 위험 상황의 조기 발견 지원",</a:t>
            </a:r>
          </a:p>
          <a:p xmlns:a="http://schemas.openxmlformats.org/drawingml/2006/main">
            <a:r>
              <a:t>    "users": "물류 현장·안전 담당자",</a:t>
            </a:r>
          </a:p>
          <a:p xmlns:a="http://schemas.openxmlformats.org/drawingml/2006/main">
            <a:r>
              <a:t>    "scope": [</a:t>
            </a:r>
          </a:p>
          <a:p xmlns:a="http://schemas.openxmlformats.org/drawingml/2006/main">
            <a:r>
              <a:t>      "영상 이벤트",</a:t>
            </a:r>
          </a:p>
          <a:p xmlns:a="http://schemas.openxmlformats.org/drawingml/2006/main">
            <a:r>
              <a:t>      "위험 분류",</a:t>
            </a:r>
          </a:p>
          <a:p xmlns:a="http://schemas.openxmlformats.org/drawingml/2006/main">
            <a:r>
              <a:t>      "개선 조치"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"물류 현장 영상",</a:t>
            </a:r>
          </a:p>
          <a:p xmlns:a="http://schemas.openxmlformats.org/drawingml/2006/main">
            <a:r>
              <a:t>        "detail": "구역·작업시간·관측 목적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"영상 이벤트 / 위험 분류 / 개선 조치",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"위험 행동 탐지",</a:t>
            </a:r>
          </a:p>
          <a:p xmlns:a="http://schemas.openxmlformats.org/drawingml/2006/main">
            <a:r>
              <a:t>        "detail": "위험 행동·근접 상황의 영상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"안전 담당자",</a:t>
            </a:r>
          </a:p>
          <a:p xmlns:a="http://schemas.openxmlformats.org/drawingml/2006/main">
            <a:r>
              <a:t>        "detail": "안전 담당자 확인 후 현장 개선 조치",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"이벤트·조치 기록",</a:t>
            </a:r>
          </a:p>
          <a:p xmlns:a="http://schemas.openxmlformats.org/drawingml/2006/main">
            <a:r>
              <a:t>        "detail": "영상 접근범위·구역 지도·사건 이력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"오탐·누락·조치 완료와 재발 여부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"현장 영상",</a:t>
            </a:r>
          </a:p>
          <a:p xmlns:a="http://schemas.openxmlformats.org/drawingml/2006/main">
            <a:r>
              <a:t>        "input": "구역·작업시간·관측 목적 지정",</a:t>
            </a:r>
          </a:p>
          <a:p xmlns:a="http://schemas.openxmlformats.org/drawingml/2006/main">
            <a:r>
              <a:t>        "process": "영상 접근범위·구역 지도·사건 이력 정리",</a:t>
            </a:r>
          </a:p>
          <a:p xmlns:a="http://schemas.openxmlformats.org/drawingml/2006/main">
            <a:r>
              <a:t>        "output": "영상"</a:t>
            </a:r>
          </a:p>
          <a:p xmlns:a="http://schemas.openxmlformats.org/drawingml/2006/main">
            <a:r>
              <a:t>      },</a:t>
            </a:r>
          </a:p>
          <a:p xmlns:a="http://schemas.openxmlformats.org/drawingml/2006/main">
            <a:r>
              <a:t>      {</a:t>
            </a:r>
          </a:p>
          <a:p xmlns:a="http://schemas.openxmlformats.org/drawingml/2006/main">
            <a:r>
              <a:t>        "title": "위험 이벤트 탐지",</a:t>
            </a:r>
          </a:p>
          <a:p xmlns:a="http://schemas.openxmlformats.org/drawingml/2006/main">
            <a:r>
              <a:t>        "input": "영상",</a:t>
            </a:r>
          </a:p>
          <a:p xmlns:a="http://schemas.openxmlformats.org/drawingml/2006/main">
            <a:r>
              <a:t>        "process": "위험 행동·근접 상황의 영상 분석",</a:t>
            </a:r>
          </a:p>
          <a:p xmlns:a="http://schemas.openxmlformats.org/drawingml/2006/main">
            <a:r>
              <a:t>        "output": "위험 후보"</a:t>
            </a:r>
          </a:p>
          <a:p xmlns:a="http://schemas.openxmlformats.org/drawingml/2006/main">
            <a:r>
              <a:t>      },</a:t>
            </a:r>
          </a:p>
          <a:p xmlns:a="http://schemas.openxmlformats.org/drawingml/2006/main">
            <a:r>
              <a:t>      {</a:t>
            </a:r>
          </a:p>
          <a:p xmlns:a="http://schemas.openxmlformats.org/drawingml/2006/main">
            <a:r>
              <a:t>        "title": "안전 담당 검토",</a:t>
            </a:r>
          </a:p>
          <a:p xmlns:a="http://schemas.openxmlformats.org/drawingml/2006/main">
            <a:r>
              <a:t>        "input": "위험 후보",</a:t>
            </a:r>
          </a:p>
          <a:p xmlns:a="http://schemas.openxmlformats.org/drawingml/2006/main">
            <a:r>
              <a:t>        "process": "오경보·중요 미탐과 조치 이행 측정",</a:t>
            </a:r>
          </a:p>
          <a:p xmlns:a="http://schemas.openxmlformats.org/drawingml/2006/main">
            <a:r>
              <a:t>        "output": "검토 이벤트"</a:t>
            </a:r>
          </a:p>
          <a:p xmlns:a="http://schemas.openxmlformats.org/drawingml/2006/main">
            <a:r>
              <a:t>      },</a:t>
            </a:r>
          </a:p>
          <a:p xmlns:a="http://schemas.openxmlformats.org/drawingml/2006/main">
            <a:r>
              <a:t>      {</a:t>
            </a:r>
          </a:p>
          <a:p xmlns:a="http://schemas.openxmlformats.org/drawingml/2006/main">
            <a:r>
              <a:t>        "title": "예방 조치",</a:t>
            </a:r>
          </a:p>
          <a:p xmlns:a="http://schemas.openxmlformats.org/drawingml/2006/main">
            <a:r>
              <a:t>        "input": "검토 이벤트",</a:t>
            </a:r>
          </a:p>
          <a:p xmlns:a="http://schemas.openxmlformats.org/drawingml/2006/main">
            <a:r>
              <a:t>        "process": "안전 담당자 확인 후 현장 개선 조치",</a:t>
            </a:r>
          </a:p>
          <a:p xmlns:a="http://schemas.openxmlformats.org/drawingml/2006/main">
            <a:r>
              <a:t>        "output": "예방 조치"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"영상에서 위험 상황을 발견하고 담당자가 조치 등록",</a:t>
            </a:r>
          </a:p>
          <a:p xmlns:a="http://schemas.openxmlformats.org/drawingml/2006/main">
            <a:r>
              <a:t>      "exception": "가림·조명 변화·작업 동선 변경·비위험 행동",</a:t>
            </a:r>
          </a:p>
          <a:p xmlns:a="http://schemas.openxmlformats.org/drawingml/2006/main">
            <a:r>
              <a:t>      "evidence": "사건 표본별 오탐·미탐과 확인·조치 완료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"물류 현장·안전 담당자",</a:t>
            </a:r>
          </a:p>
          <a:p xmlns:a="http://schemas.openxmlformats.org/drawingml/2006/main">
            <a:r>
              <a:t>          "processing": "구역·작업시간·관측 목적 지정",</a:t>
            </a:r>
          </a:p>
          <a:p xmlns:a="http://schemas.openxmlformats.org/drawingml/2006/main">
            <a:r>
              <a:t>          "output": "영상"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"이벤트·조치 기록",</a:t>
            </a:r>
          </a:p>
          <a:p xmlns:a="http://schemas.openxmlformats.org/drawingml/2006/main">
            <a:r>
              <a:t>          "processing": "영상 접근범위·구역 지도·사건 이력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"영상",</a:t>
            </a:r>
          </a:p>
          <a:p xmlns:a="http://schemas.openxmlformats.org/drawingml/2006/main">
            <a:r>
              <a:t>          "processing": "위험 행동·근접 상황의 영상 분석",</a:t>
            </a:r>
          </a:p>
          <a:p xmlns:a="http://schemas.openxmlformats.org/drawingml/2006/main">
            <a:r>
              <a:t>          "output": "검토 이벤트"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이벤트",</a:t>
            </a:r>
          </a:p>
          <a:p xmlns:a="http://schemas.openxmlformats.org/drawingml/2006/main">
            <a:r>
              <a:t>          "processing": "안전 담당자 확인 후 현장 개선 조치",</a:t>
            </a:r>
          </a:p>
          <a:p xmlns:a="http://schemas.openxmlformats.org/drawingml/2006/main">
            <a:r>
              <a:t>          "output": "예방 조치"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"오탐·누락·조치 완료와 재발 여부 추적",</a:t>
            </a:r>
          </a:p>
          <a:p xmlns:a="http://schemas.openxmlformats.org/drawingml/2006/main">
            <a:r>
              <a:t>          "output": "사건 표본별 오탐·미탐과 확인·조치 완료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"오탐·누락·조치 완료와 재발 여부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"S-AX14",</a:t>
            </a:r>
          </a:p>
          <a:p xmlns:a="http://schemas.openxmlformats.org/drawingml/2006/main">
            <a:r>
              <a:t>        "title": "DHL Protex AI 안전 실증 · 사업자 기술 실증 소개 / 게시일 미표시",</a:t>
            </a:r>
          </a:p>
          <a:p xmlns:a="http://schemas.openxmlformats.org/drawingml/2006/main">
            <a:r>
              <a:t>        "url": "https://www.dhlfreight.com/nl-en/microsites/csi/computer-vision/logistics-use-cases/people-health-and-safety.html",</a:t>
            </a:r>
          </a:p>
          <a:p xmlns:a="http://schemas.openxmlformats.org/drawingml/2006/main">
            <a:r>
              <a:t>        "published": "PoC 소개",</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"탐지 결과에서 조치 완료까지의 책임 연결",</a:t>
            </a:r>
          </a:p>
          <a:p xmlns:a="http://schemas.openxmlformats.org/drawingml/2006/main">
            <a:r>
              <a:t>    "local": "검사·시험·시설 현장 위험 증거와 안전 직무 연결",</a:t>
            </a:r>
          </a:p>
          <a:p xmlns:a="http://schemas.openxmlformats.org/drawingml/2006/main">
            <a:r>
              <a:t>    "sourceDetail": null,</a:t>
            </a:r>
          </a:p>
          <a:p xmlns:a="http://schemas.openxmlformats.org/drawingml/2006/main">
            <a:r>
              <a:t>    "narrative": [</a:t>
            </a:r>
          </a:p>
          <a:p xmlns:a="http://schemas.openxmlformats.org/drawingml/2006/main">
            <a:r>
              <a:t>      "물류 작업장의 영상에서 위험 행동·근접 상황을 선별해 안전 담당자의 예방 조치를 돕는 사례. 탐지 이후의 검토·조치 연결이 현장 적용의 핵심.",</a:t>
            </a:r>
          </a:p>
          <a:p xmlns:a="http://schemas.openxmlformats.org/drawingml/2006/main">
            <a:r>
              <a:t>      "구역·작업시간·영상 접근범위를 지정하고 위험 후보를 사건 단위로 저장하는 구조의 재구성. 담당자가 현장 상황을 확인해 개선 조치를 기록하고 재발 여부를 검토하는 흐름.",</a:t>
            </a:r>
          </a:p>
          <a:p xmlns:a="http://schemas.openxmlformats.org/drawingml/2006/main">
            <a:r>
              <a:t>      "TS 시설·사업장 적용에서 카메라 설치만으로 안전 효과를 주장하기 어려운 유형. 구역·작업별 오경보와 중요 미탐, 경보 확인·조치 시간, 조치 후 재발을 분리해 평가할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"현장 영상 접점",</a:t>
            </a:r>
          </a:p>
          <a:p xmlns:a="http://schemas.openxmlformats.org/drawingml/2006/main">
            <a:r>
              <a:t>          "layer": "이용 접점",</a:t>
            </a:r>
          </a:p>
          <a:p xmlns:a="http://schemas.openxmlformats.org/drawingml/2006/main">
            <a:r>
              <a:t>          "detail": "물류 현장·안전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"구역·작업 맥락",</a:t>
            </a:r>
          </a:p>
          <a:p xmlns:a="http://schemas.openxmlformats.org/drawingml/2006/main">
            <a:r>
              <a:t>          "layer": "업무 문맥",</a:t>
            </a:r>
          </a:p>
          <a:p xmlns:a="http://schemas.openxmlformats.org/drawingml/2006/main">
            <a:r>
              <a:t>          "detail": "구역·작업시간·관측 목적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"영상·이력 조회",</a:t>
            </a:r>
          </a:p>
          <a:p xmlns:a="http://schemas.openxmlformats.org/drawingml/2006/main">
            <a:r>
              <a:t>          "layer": "자료 조회",</a:t>
            </a:r>
          </a:p>
          <a:p xmlns:a="http://schemas.openxmlformats.org/drawingml/2006/main">
            <a:r>
              <a:t>          "detail": "영상",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"위험 행동 탐지",</a:t>
            </a:r>
          </a:p>
          <a:p xmlns:a="http://schemas.openxmlformats.org/drawingml/2006/main">
            <a:r>
              <a:t>          "layer": "핵심 처리",</a:t>
            </a:r>
          </a:p>
          <a:p xmlns:a="http://schemas.openxmlformats.org/drawingml/2006/main">
            <a:r>
              <a:t>          "detail": "위험 행동·근접 상황의 영상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"오경보·미탐 검사",</a:t>
            </a:r>
          </a:p>
          <a:p xmlns:a="http://schemas.openxmlformats.org/drawingml/2006/main">
            <a:r>
              <a:t>          "layer": "결과 검증",</a:t>
            </a:r>
          </a:p>
          <a:p xmlns:a="http://schemas.openxmlformats.org/drawingml/2006/main">
            <a:r>
              <a:t>          "detail": "오경보·중요 미탐과 조치 이행 측정",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확인",</a:t>
            </a:r>
          </a:p>
          <a:p xmlns:a="http://schemas.openxmlformats.org/drawingml/2006/main">
            <a:r>
              <a:t>          "layer": "사람 확인",</a:t>
            </a:r>
          </a:p>
          <a:p xmlns:a="http://schemas.openxmlformats.org/drawingml/2006/main">
            <a:r>
              <a:t>          "detail": "영상에서 위험 상황을 발견하고 담당자가 조치 등록",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"개선 조치 인계",</a:t>
            </a:r>
          </a:p>
          <a:p xmlns:a="http://schemas.openxmlformats.org/drawingml/2006/main">
            <a:r>
              <a:t>          "layer": "업무 연결",</a:t>
            </a:r>
          </a:p>
          <a:p xmlns:a="http://schemas.openxmlformats.org/drawingml/2006/main">
            <a:r>
              <a:t>          "detail": "안전 담당자 확인 후 현장 개선 조치",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"재발·조치 추적",</a:t>
            </a:r>
          </a:p>
          <a:p xmlns:a="http://schemas.openxmlformats.org/drawingml/2006/main">
            <a:r>
              <a:t>          "layer": "운영 관측",</a:t>
            </a:r>
          </a:p>
          <a:p xmlns:a="http://schemas.openxmlformats.org/drawingml/2006/main">
            <a:r>
              <a:t>          "detail": "오탐·누락·조치 완료와 재발 여부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"영상·구역 지도",</a:t>
            </a:r>
          </a:p>
          <a:p xmlns:a="http://schemas.openxmlformats.org/drawingml/2006/main">
            <a:r>
              <a:t>          "layer": "데이터 원천",</a:t>
            </a:r>
          </a:p>
          <a:p xmlns:a="http://schemas.openxmlformats.org/drawingml/2006/main">
            <a:r>
              <a:t>          "detail": "이벤트·조치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"사건·위치 정합화",</a:t>
            </a:r>
          </a:p>
          <a:p xmlns:a="http://schemas.openxmlformats.org/drawingml/2006/main">
            <a:r>
              <a:t>          "layer": "준비·갱신",</a:t>
            </a:r>
          </a:p>
          <a:p xmlns:a="http://schemas.openxmlformats.org/drawingml/2006/main">
            <a:r>
              <a:t>          "detail": "영상 접근범위·구역 지도·사건 이력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"위험·조치 이력",</a:t>
            </a:r>
          </a:p>
          <a:p xmlns:a="http://schemas.openxmlformats.org/drawingml/2006/main">
            <a:r>
              <a:t>          "layer": "상태·지식 저장",</a:t>
            </a:r>
          </a:p>
          <a:p xmlns:a="http://schemas.openxmlformats.org/drawingml/2006/main">
            <a:r>
              <a:t>          "detail": "사건 표본별 오탐·미탐과 확인·조치 완료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"영상 열람정책",</a:t>
            </a:r>
          </a:p>
          <a:p xmlns:a="http://schemas.openxmlformats.org/drawingml/2006/main">
            <a:r>
              <a:t>          "layer": "권한·정책",</a:t>
            </a:r>
          </a:p>
          <a:p xmlns:a="http://schemas.openxmlformats.org/drawingml/2006/main">
            <a:r>
              <a:t>          "detail": "가림·조명 변화·작업 동선 변경·비위험 행동",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"현장 영상 → 위험 이벤트 탐지 → 안전 담당 검토 → 예방 조치"</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"이벤트·조치 기록",</a:t>
            </a:r>
          </a:p>
          <a:p xmlns:a="http://schemas.openxmlformats.org/drawingml/2006/main">
            <a:r>
              <a:t>          "check": "영상 접근범위·구역 지도·사건 이력 정리"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"영상 접근범위·구역 지도·사건 이력 정리"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"검토 이벤트",</a:t>
            </a:r>
          </a:p>
          <a:p xmlns:a="http://schemas.openxmlformats.org/drawingml/2006/main">
            <a:r>
              <a:t>          "check": "사건 표본별 오탐·미탐과 확인·조치 완료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"영상 열람정책",</a:t>
            </a:r>
          </a:p>
          <a:p xmlns:a="http://schemas.openxmlformats.org/drawingml/2006/main">
            <a:r>
              <a:t>          "check": "오경보·중요 미탐과 조치 이행 측정"</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"예방 조치",</a:t>
            </a:r>
          </a:p>
          <a:p xmlns:a="http://schemas.openxmlformats.org/drawingml/2006/main">
            <a:r>
              <a:t>          "check": "사건 표본별 오탐·미탐과 확인·조치 완료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"오탐·누락·조치 완료와 재발 여부 추적",</a:t>
            </a:r>
          </a:p>
          <a:p xmlns:a="http://schemas.openxmlformats.org/drawingml/2006/main">
            <a:r>
              <a:t>          "check": "오탐·누락·조치 완료와 재발 여부 추적"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"작업장 위험 상황의 조기 발견 지원 / 영상 이벤트·위험 분류·개선 조치",</a:t>
            </a:r>
          </a:p>
          <a:p xmlns:a="http://schemas.openxmlformats.org/drawingml/2006/main">
            <a:r>
              <a:t>        "extension": "검사·시험·시설 현장 위험 증거와 안전 직무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"가림·조명 변화·작업 동선 변경·비위험 행동",</a:t>
            </a:r>
          </a:p>
          <a:p xmlns:a="http://schemas.openxmlformats.org/drawingml/2006/main">
            <a:r>
              <a:t>        "hold": "오경보·중요 미탐과 조치 이행 측정",</a:t>
            </a:r>
          </a:p>
          <a:p xmlns:a="http://schemas.openxmlformats.org/drawingml/2006/main">
            <a:r>
              <a:t>        "recovery": "오탐·누락·조치 완료와 재발 여부 추적",</a:t>
            </a:r>
          </a:p>
          <a:p xmlns:a="http://schemas.openxmlformats.org/drawingml/2006/main">
            <a:r>
              <a:t>        "evidence": "사건 표본별 오탐·미탐과 확인·조치 완료 이력"</a:t>
            </a:r>
          </a:p>
          <a:p xmlns:a="http://schemas.openxmlformats.org/drawingml/2006/main">
            <a:r>
              <a:t>      },</a:t>
            </a:r>
          </a:p>
          <a:p xmlns:a="http://schemas.openxmlformats.org/drawingml/2006/main">
            <a:r>
              <a:t>      "data": {</a:t>
            </a:r>
          </a:p>
          <a:p xmlns:a="http://schemas.openxmlformats.org/drawingml/2006/main">
            <a:r>
              <a:t>        "source": "이벤트·조치 기록",</a:t>
            </a:r>
          </a:p>
          <a:p xmlns:a="http://schemas.openxmlformats.org/drawingml/2006/main">
            <a:r>
              <a:t>        "prepare": "영상 접근범위·구역 지도·사건 이력 정리",</a:t>
            </a:r>
          </a:p>
          <a:p xmlns:a="http://schemas.openxmlformats.org/drawingml/2006/main">
            <a:r>
              <a:t>        "output": "영상",</a:t>
            </a:r>
          </a:p>
          <a:p xmlns:a="http://schemas.openxmlformats.org/drawingml/2006/main">
            <a:r>
              <a:t>        "refresh": "오탐·누락·조치 완료와 재발 여부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"AX14",</a:t>
            </a:r>
          </a:p>
          <a:p xmlns:a="http://schemas.openxmlformats.org/drawingml/2006/main">
            <a:r>
              <a:t>    "success": [</a:t>
            </a:r>
          </a:p>
          <a:p xmlns:a="http://schemas.openxmlformats.org/drawingml/2006/main">
            <a:r>
              <a:t>      "현장 영상에서 위험 이벤트 선별",</a:t>
            </a:r>
          </a:p>
          <a:p xmlns:a="http://schemas.openxmlformats.org/drawingml/2006/main">
            <a:r>
              <a:t>      "안전 담당자의 예방 조치 연결"</a:t>
            </a:r>
          </a:p>
          <a:p xmlns:a="http://schemas.openxmlformats.org/drawingml/2006/main">
            <a:r>
              <a:t>    ],</a:t>
            </a:r>
          </a:p>
          <a:p xmlns:a="http://schemas.openxmlformats.org/drawingml/2006/main">
            <a:r>
              <a:t>    "risks": [</a:t>
            </a:r>
          </a:p>
          <a:p xmlns:a="http://schemas.openxmlformats.org/drawingml/2006/main">
            <a:r>
              <a:t>      "카메라 위치·작업 유형별 편차",</a:t>
            </a:r>
          </a:p>
          <a:p xmlns:a="http://schemas.openxmlformats.org/drawingml/2006/main">
            <a:r>
              <a:t>      "실증 탐지와 실제 재해 감소의 차이"</a:t>
            </a:r>
          </a:p>
          <a:p xmlns:a="http://schemas.openxmlformats.org/drawingml/2006/main">
            <a:r>
              <a:t>    ],</a:t>
            </a:r>
          </a:p>
          <a:p xmlns:a="http://schemas.openxmlformats.org/drawingml/2006/main">
            <a:r>
              <a:t>    "architecture": [</a:t>
            </a:r>
          </a:p>
          <a:p xmlns:a="http://schemas.openxmlformats.org/drawingml/2006/main">
            <a:r>
              <a:t>      "물류 현장 영상",</a:t>
            </a:r>
          </a:p>
          <a:p xmlns:a="http://schemas.openxmlformats.org/drawingml/2006/main">
            <a:r>
              <a:t>      "위험 행동 탐지",</a:t>
            </a:r>
          </a:p>
          <a:p xmlns:a="http://schemas.openxmlformats.org/drawingml/2006/main">
            <a:r>
              <a:t>      "이벤트·조치 기록",</a:t>
            </a:r>
          </a:p>
          <a:p xmlns:a="http://schemas.openxmlformats.org/drawingml/2006/main">
            <a:r>
              <a:t>      "안전 담당자"</a:t>
            </a:r>
          </a:p>
          <a:p xmlns:a="http://schemas.openxmlformats.org/drawingml/2006/main">
            <a:r>
              <a:t>    ],</a:t>
            </a:r>
          </a:p>
          <a:p xmlns:a="http://schemas.openxmlformats.org/drawingml/2006/main">
            <a:r>
              <a:t>    "transfers": [</a:t>
            </a:r>
          </a:p>
          <a:p xmlns:a="http://schemas.openxmlformats.org/drawingml/2006/main">
            <a:r>
              <a:t>      "영상",</a:t>
            </a:r>
          </a:p>
          <a:p xmlns:a="http://schemas.openxmlformats.org/drawingml/2006/main">
            <a:r>
              <a:t>      "위험 후보",</a:t>
            </a:r>
          </a:p>
          <a:p xmlns:a="http://schemas.openxmlformats.org/drawingml/2006/main">
            <a:r>
              <a:t>      "검토 이벤트",</a:t>
            </a:r>
          </a:p>
          <a:p xmlns:a="http://schemas.openxmlformats.org/drawingml/2006/main">
            <a:r>
              <a:t>      "예방 조치"</a:t>
            </a:r>
          </a:p>
          <a:p xmlns:a="http://schemas.openxmlformats.org/drawingml/2006/main">
            <a:r>
              <a:t>    ],</a:t>
            </a:r>
          </a:p>
          <a:p xmlns:a="http://schemas.openxmlformats.org/drawingml/2006/main">
            <a:r>
              <a:t>    "control": "오경보·중요 미탐과 조치 이행 측정",</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DHL Protex AI 안전 실증 · 사업자 기술 실증 소개 / 게시일 미표시 https://www.dhlfreight.com/nl-en/microsites/csi/computer-vision/logistics-use-cases/people-health-and-safety.html</a:t>
            </a:r>
          </a:p>
          <a:p xmlns:a="http://schemas.openxmlformats.org/drawingml/2006/main">
            <a:r>
              <a:t>홈페이지 https://heen1987-ops.github.io/TS-business-Plan-001/index.html?view=casebook&amp;case=AX14</a:t>
            </a:r>
          </a:p>
          <a:p xmlns:a="http://schemas.openxmlformats.org/drawingml/2006/main">
            <a:r>
              <a:t>성과 대조</a:t>
            </a:r>
          </a:p>
          <a:p xmlns:a="http://schemas.openxmlformats.org/drawingml/2006/main">
            <a:r>
              <a:t>{</a:t>
            </a:r>
          </a:p>
          <a:p xmlns:a="http://schemas.openxmlformats.org/drawingml/2006/main">
            <a:r>
              <a:t>  "caseId": "AX14",</a:t>
            </a:r>
          </a:p>
          <a:p xmlns:a="http://schemas.openxmlformats.org/drawingml/2006/main">
            <a:r>
              <a:t>  "asIs": "물류 현장 위험 행동을 안전 담당자가 순찰·사후 기록에 의존해 포착",</a:t>
            </a:r>
          </a:p>
          <a:p xmlns:a="http://schemas.openxmlformats.org/drawingml/2006/main">
            <a:r>
              <a:t>  "toBe": "현장 영상에서 위험 사건 후보를 자동 추출하고 안전 담당자가 선제 조치",</a:t>
            </a:r>
          </a:p>
          <a:p xmlns:a="http://schemas.openxmlformats.org/drawingml/2006/main">
            <a:r>
              <a:t>  "expectedEffect": "위험 발견 시간 단축과 사고 예방",</a:t>
            </a:r>
          </a:p>
          <a:p xmlns:a="http://schemas.openxmlformats.org/drawingml/2006/main">
            <a:r>
              <a:t>  "observed": "DHL·Protex AI의 현장 영상 안전 적용·실증 사례 소개",</a:t>
            </a:r>
          </a:p>
          <a:p xmlns:a="http://schemas.openxmlformats.org/drawingml/2006/main">
            <a:r>
              <a:t>  "verdict": "성과 미검증",</a:t>
            </a:r>
          </a:p>
          <a:p xmlns:a="http://schemas.openxmlformats.org/drawingml/2006/main">
            <a:r>
              <a:t>  "verdictReason": "기술 적용 사례는 공개됐으나 재해 감소·경고 정확도·사업장 확대의 검증 수치 부재",</a:t>
            </a:r>
          </a:p>
          <a:p xmlns:a="http://schemas.openxmlformats.org/drawingml/2006/main">
            <a:r>
              <a:t>  "limits": "사업자 PoC 설명 기준. 예방 효과의 확정 실적으로 해석 불가",</a:t>
            </a:r>
          </a:p>
          <a:p xmlns:a="http://schemas.openxmlformats.org/drawingml/2006/main">
            <a:r>
              <a:t>  "evidenceStage": "사업자 PoC 소개",</a:t>
            </a:r>
          </a:p>
          <a:p xmlns:a="http://schemas.openxmlformats.org/drawingml/2006/main">
            <a:r>
              <a:t>  "sourceUrl": "https://www.dhlfreight.com/nl-en/microsites/csi/computer-vision/logistics-use-cases/people-health-and-safety.html"</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"AX14",</a:t>
            </a:r>
          </a:p>
          <a:p xmlns:a="http://schemas.openxmlformats.org/drawingml/2006/main">
            <a:r>
              <a:t>    "title": "DHL Protex AI 안전 실증",</a:t>
            </a:r>
          </a:p>
          <a:p xmlns:a="http://schemas.openxmlformats.org/drawingml/2006/main">
            <a:r>
              <a:t>    "region": "해외",</a:t>
            </a:r>
          </a:p>
          <a:p xmlns:a="http://schemas.openxmlformats.org/drawingml/2006/main">
            <a:r>
              <a:t>    "country": "다국가",</a:t>
            </a:r>
          </a:p>
          <a:p xmlns:a="http://schemas.openxmlformats.org/drawingml/2006/main">
            <a:r>
              <a:t>    "result": "시범",</a:t>
            </a:r>
          </a:p>
          <a:p xmlns:a="http://schemas.openxmlformats.org/drawingml/2006/main">
            <a:r>
              <a:t>    "kind": "영상 기반 작업장 안전",</a:t>
            </a:r>
          </a:p>
          <a:p xmlns:a="http://schemas.openxmlformats.org/drawingml/2006/main">
            <a:r>
              <a:t>    "period": "PoC 소개",</a:t>
            </a:r>
          </a:p>
          <a:p xmlns:a="http://schemas.openxmlformats.org/drawingml/2006/main">
            <a:r>
              <a:t>    "sources": [</a:t>
            </a:r>
          </a:p>
          <a:p xmlns:a="http://schemas.openxmlformats.org/drawingml/2006/main">
            <a:r>
              <a:t>      "S-AX14"</a:t>
            </a:r>
          </a:p>
          <a:p xmlns:a="http://schemas.openxmlformats.org/drawingml/2006/main">
            <a:r>
              <a:t>    ],</a:t>
            </a:r>
          </a:p>
          <a:p xmlns:a="http://schemas.openxmlformats.org/drawingml/2006/main">
            <a:r>
              <a:t>    "keywords": [</a:t>
            </a:r>
          </a:p>
          <a:p xmlns:a="http://schemas.openxmlformats.org/drawingml/2006/main">
            <a:r>
              <a:t>      "영상 기반 작업장 안전"</a:t>
            </a:r>
          </a:p>
          <a:p xmlns:a="http://schemas.openxmlformats.org/drawingml/2006/main">
            <a:r>
              <a:t>    ],</a:t>
            </a:r>
          </a:p>
          <a:p xmlns:a="http://schemas.openxmlformats.org/drawingml/2006/main">
            <a:r>
              <a:t>    "fact": "영상의 위험 행동·상황 식별을 안전 담당자의 사전 조치에 활용하는 실증",</a:t>
            </a:r>
          </a:p>
          <a:p xmlns:a="http://schemas.openxmlformats.org/drawingml/2006/main">
            <a:r>
              <a:t>    "limit": "PoC 범위 · 전 사업장 확산·재해 감소 실측과 구분",</a:t>
            </a:r>
          </a:p>
          <a:p xmlns:a="http://schemas.openxmlformats.org/drawingml/2006/main">
            <a:r>
              <a:t>    "flow": [</a:t>
            </a:r>
          </a:p>
          <a:p xmlns:a="http://schemas.openxmlformats.org/drawingml/2006/main">
            <a:r>
              <a:t>      "현장 영상",</a:t>
            </a:r>
          </a:p>
          <a:p xmlns:a="http://schemas.openxmlformats.org/drawingml/2006/main">
            <a:r>
              <a:t>      "위험 이벤트 탐지",</a:t>
            </a:r>
          </a:p>
          <a:p xmlns:a="http://schemas.openxmlformats.org/drawingml/2006/main">
            <a:r>
              <a:t>      "안전 담당 검토",</a:t>
            </a:r>
          </a:p>
          <a:p xmlns:a="http://schemas.openxmlformats.org/drawingml/2006/main">
            <a:r>
              <a:t>      "예방 조치"</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"탐지 결과에서 조치 완료까지의 책임 연결",</a:t>
            </a:r>
          </a:p>
          <a:p xmlns:a="http://schemas.openxmlformats.org/drawingml/2006/main">
            <a:r>
              <a:t>    "local": "검사·시험·시설 현장 위험 증거와 안전 직무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"현장 사건 사전·검토 큐·조치 이력",</a:t>
            </a:r>
          </a:p>
          <a:p xmlns:a="http://schemas.openxmlformats.org/drawingml/2006/main">
            <a:r>
              <a:t>    "test": "오탐·미탐·사람 가림·조치 누락 시나리오",</a:t>
            </a:r>
          </a:p>
          <a:p xmlns:a="http://schemas.openxmlformats.org/drawingml/2006/main">
            <a:r>
              <a:t>    "metric": "위험 확인시간 / 조치 이행률",</a:t>
            </a:r>
          </a:p>
          <a:p xmlns:a="http://schemas.openxmlformats.org/drawingml/2006/main">
            <a:r>
              <a:t>    "strategies": [</a:t>
            </a:r>
          </a:p>
          <a:p xmlns:a="http://schemas.openxmlformats.org/drawingml/2006/main">
            <a:r>
              <a:t>      "ST-03",</a:t>
            </a:r>
          </a:p>
          <a:p xmlns:a="http://schemas.openxmlformats.org/drawingml/2006/main">
            <a:r>
              <a:t>      "ST-11"</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"AX14",</a:t>
            </a:r>
          </a:p>
          <a:p xmlns:a="http://schemas.openxmlformats.org/drawingml/2006/main">
            <a:r>
              <a:t>    "canonicalId": "AX14",</a:t>
            </a:r>
          </a:p>
          <a:p xmlns:a="http://schemas.openxmlformats.org/drawingml/2006/main">
            <a:r>
              <a:t>    "purpose": "작업장 위험 상황의 조기 발견 지원",</a:t>
            </a:r>
          </a:p>
          <a:p xmlns:a="http://schemas.openxmlformats.org/drawingml/2006/main">
            <a:r>
              <a:t>    "users": "물류 현장·안전 담당자",</a:t>
            </a:r>
          </a:p>
          <a:p xmlns:a="http://schemas.openxmlformats.org/drawingml/2006/main">
            <a:r>
              <a:t>    "scope": [</a:t>
            </a:r>
          </a:p>
          <a:p xmlns:a="http://schemas.openxmlformats.org/drawingml/2006/main">
            <a:r>
              <a:t>      "영상 이벤트",</a:t>
            </a:r>
          </a:p>
          <a:p xmlns:a="http://schemas.openxmlformats.org/drawingml/2006/main">
            <a:r>
              <a:t>      "위험 분류",</a:t>
            </a:r>
          </a:p>
          <a:p xmlns:a="http://schemas.openxmlformats.org/drawingml/2006/main">
            <a:r>
              <a:t>      "개선 조치"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"물류 현장 영상",</a:t>
            </a:r>
          </a:p>
          <a:p xmlns:a="http://schemas.openxmlformats.org/drawingml/2006/main">
            <a:r>
              <a:t>        "detail": "구역·작업시간·관측 목적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"영상 이벤트 / 위험 분류 / 개선 조치",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"위험 행동 탐지",</a:t>
            </a:r>
          </a:p>
          <a:p xmlns:a="http://schemas.openxmlformats.org/drawingml/2006/main">
            <a:r>
              <a:t>        "detail": "위험 행동·근접 상황의 영상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"안전 담당자",</a:t>
            </a:r>
          </a:p>
          <a:p xmlns:a="http://schemas.openxmlformats.org/drawingml/2006/main">
            <a:r>
              <a:t>        "detail": "안전 담당자 확인 후 현장 개선 조치",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"이벤트·조치 기록",</a:t>
            </a:r>
          </a:p>
          <a:p xmlns:a="http://schemas.openxmlformats.org/drawingml/2006/main">
            <a:r>
              <a:t>        "detail": "영상 접근범위·구역 지도·사건 이력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"오탐·누락·조치 완료와 재발 여부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"현장 영상",</a:t>
            </a:r>
          </a:p>
          <a:p xmlns:a="http://schemas.openxmlformats.org/drawingml/2006/main">
            <a:r>
              <a:t>        "input": "구역·작업시간·관측 목적 지정",</a:t>
            </a:r>
          </a:p>
          <a:p xmlns:a="http://schemas.openxmlformats.org/drawingml/2006/main">
            <a:r>
              <a:t>        "process": "영상 접근범위·구역 지도·사건 이력 정리",</a:t>
            </a:r>
          </a:p>
          <a:p xmlns:a="http://schemas.openxmlformats.org/drawingml/2006/main">
            <a:r>
              <a:t>        "output": "영상"</a:t>
            </a:r>
          </a:p>
          <a:p xmlns:a="http://schemas.openxmlformats.org/drawingml/2006/main">
            <a:r>
              <a:t>      },</a:t>
            </a:r>
          </a:p>
          <a:p xmlns:a="http://schemas.openxmlformats.org/drawingml/2006/main">
            <a:r>
              <a:t>      {</a:t>
            </a:r>
          </a:p>
          <a:p xmlns:a="http://schemas.openxmlformats.org/drawingml/2006/main">
            <a:r>
              <a:t>        "title": "위험 이벤트 탐지",</a:t>
            </a:r>
          </a:p>
          <a:p xmlns:a="http://schemas.openxmlformats.org/drawingml/2006/main">
            <a:r>
              <a:t>        "input": "영상",</a:t>
            </a:r>
          </a:p>
          <a:p xmlns:a="http://schemas.openxmlformats.org/drawingml/2006/main">
            <a:r>
              <a:t>        "process": "위험 행동·근접 상황의 영상 분석",</a:t>
            </a:r>
          </a:p>
          <a:p xmlns:a="http://schemas.openxmlformats.org/drawingml/2006/main">
            <a:r>
              <a:t>        "output": "위험 후보"</a:t>
            </a:r>
          </a:p>
          <a:p xmlns:a="http://schemas.openxmlformats.org/drawingml/2006/main">
            <a:r>
              <a:t>      },</a:t>
            </a:r>
          </a:p>
          <a:p xmlns:a="http://schemas.openxmlformats.org/drawingml/2006/main">
            <a:r>
              <a:t>      {</a:t>
            </a:r>
          </a:p>
          <a:p xmlns:a="http://schemas.openxmlformats.org/drawingml/2006/main">
            <a:r>
              <a:t>        "title": "안전 담당 검토",</a:t>
            </a:r>
          </a:p>
          <a:p xmlns:a="http://schemas.openxmlformats.org/drawingml/2006/main">
            <a:r>
              <a:t>        "input": "위험 후보",</a:t>
            </a:r>
          </a:p>
          <a:p xmlns:a="http://schemas.openxmlformats.org/drawingml/2006/main">
            <a:r>
              <a:t>        "process": "오경보·중요 미탐과 조치 이행 측정",</a:t>
            </a:r>
          </a:p>
          <a:p xmlns:a="http://schemas.openxmlformats.org/drawingml/2006/main">
            <a:r>
              <a:t>        "output": "검토 이벤트"</a:t>
            </a:r>
          </a:p>
          <a:p xmlns:a="http://schemas.openxmlformats.org/drawingml/2006/main">
            <a:r>
              <a:t>      },</a:t>
            </a:r>
          </a:p>
          <a:p xmlns:a="http://schemas.openxmlformats.org/drawingml/2006/main">
            <a:r>
              <a:t>      {</a:t>
            </a:r>
          </a:p>
          <a:p xmlns:a="http://schemas.openxmlformats.org/drawingml/2006/main">
            <a:r>
              <a:t>        "title": "예방 조치",</a:t>
            </a:r>
          </a:p>
          <a:p xmlns:a="http://schemas.openxmlformats.org/drawingml/2006/main">
            <a:r>
              <a:t>        "input": "검토 이벤트",</a:t>
            </a:r>
          </a:p>
          <a:p xmlns:a="http://schemas.openxmlformats.org/drawingml/2006/main">
            <a:r>
              <a:t>        "process": "안전 담당자 확인 후 현장 개선 조치",</a:t>
            </a:r>
          </a:p>
          <a:p xmlns:a="http://schemas.openxmlformats.org/drawingml/2006/main">
            <a:r>
              <a:t>        "output": "예방 조치"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"영상에서 위험 상황을 발견하고 담당자가 조치 등록",</a:t>
            </a:r>
          </a:p>
          <a:p xmlns:a="http://schemas.openxmlformats.org/drawingml/2006/main">
            <a:r>
              <a:t>      "exception": "가림·조명 변화·작업 동선 변경·비위험 행동",</a:t>
            </a:r>
          </a:p>
          <a:p xmlns:a="http://schemas.openxmlformats.org/drawingml/2006/main">
            <a:r>
              <a:t>      "evidence": "사건 표본별 오탐·미탐과 확인·조치 완료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"물류 현장·안전 담당자",</a:t>
            </a:r>
          </a:p>
          <a:p xmlns:a="http://schemas.openxmlformats.org/drawingml/2006/main">
            <a:r>
              <a:t>          "processing": "구역·작업시간·관측 목적 지정",</a:t>
            </a:r>
          </a:p>
          <a:p xmlns:a="http://schemas.openxmlformats.org/drawingml/2006/main">
            <a:r>
              <a:t>          "output": "영상"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"이벤트·조치 기록",</a:t>
            </a:r>
          </a:p>
          <a:p xmlns:a="http://schemas.openxmlformats.org/drawingml/2006/main">
            <a:r>
              <a:t>          "processing": "영상 접근범위·구역 지도·사건 이력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"영상",</a:t>
            </a:r>
          </a:p>
          <a:p xmlns:a="http://schemas.openxmlformats.org/drawingml/2006/main">
            <a:r>
              <a:t>          "processing": "위험 행동·근접 상황의 영상 분석",</a:t>
            </a:r>
          </a:p>
          <a:p xmlns:a="http://schemas.openxmlformats.org/drawingml/2006/main">
            <a:r>
              <a:t>          "output": "검토 이벤트"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이벤트",</a:t>
            </a:r>
          </a:p>
          <a:p xmlns:a="http://schemas.openxmlformats.org/drawingml/2006/main">
            <a:r>
              <a:t>          "processing": "안전 담당자 확인 후 현장 개선 조치",</a:t>
            </a:r>
          </a:p>
          <a:p xmlns:a="http://schemas.openxmlformats.org/drawingml/2006/main">
            <a:r>
              <a:t>          "output": "예방 조치"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"오탐·누락·조치 완료와 재발 여부 추적",</a:t>
            </a:r>
          </a:p>
          <a:p xmlns:a="http://schemas.openxmlformats.org/drawingml/2006/main">
            <a:r>
              <a:t>          "output": "사건 표본별 오탐·미탐과 확인·조치 완료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"오탐·누락·조치 완료와 재발 여부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"S-AX14",</a:t>
            </a:r>
          </a:p>
          <a:p xmlns:a="http://schemas.openxmlformats.org/drawingml/2006/main">
            <a:r>
              <a:t>        "title": "DHL Protex AI 안전 실증 · 사업자 기술 실증 소개 / 게시일 미표시",</a:t>
            </a:r>
          </a:p>
          <a:p xmlns:a="http://schemas.openxmlformats.org/drawingml/2006/main">
            <a:r>
              <a:t>        "url": "https://www.dhlfreight.com/nl-en/microsites/csi/computer-vision/logistics-use-cases/people-health-and-safety.html",</a:t>
            </a:r>
          </a:p>
          <a:p xmlns:a="http://schemas.openxmlformats.org/drawingml/2006/main">
            <a:r>
              <a:t>        "published": "PoC 소개",</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"탐지 결과에서 조치 완료까지의 책임 연결",</a:t>
            </a:r>
          </a:p>
          <a:p xmlns:a="http://schemas.openxmlformats.org/drawingml/2006/main">
            <a:r>
              <a:t>    "local": "검사·시험·시설 현장 위험 증거와 안전 직무 연결",</a:t>
            </a:r>
          </a:p>
          <a:p xmlns:a="http://schemas.openxmlformats.org/drawingml/2006/main">
            <a:r>
              <a:t>    "sourceDetail": null,</a:t>
            </a:r>
          </a:p>
          <a:p xmlns:a="http://schemas.openxmlformats.org/drawingml/2006/main">
            <a:r>
              <a:t>    "narrative": [</a:t>
            </a:r>
          </a:p>
          <a:p xmlns:a="http://schemas.openxmlformats.org/drawingml/2006/main">
            <a:r>
              <a:t>      "물류 작업장의 영상에서 위험 행동·근접 상황을 선별해 안전 담당자의 예방 조치를 돕는 사례. 탐지 이후의 검토·조치 연결이 현장 적용의 핵심.",</a:t>
            </a:r>
          </a:p>
          <a:p xmlns:a="http://schemas.openxmlformats.org/drawingml/2006/main">
            <a:r>
              <a:t>      "구역·작업시간·영상 접근범위를 지정하고 위험 후보를 사건 단위로 저장하는 구조의 재구성. 담당자가 현장 상황을 확인해 개선 조치를 기록하고 재발 여부를 검토하는 흐름.",</a:t>
            </a:r>
          </a:p>
          <a:p xmlns:a="http://schemas.openxmlformats.org/drawingml/2006/main">
            <a:r>
              <a:t>      "TS 시설·사업장 적용에서 카메라 설치만으로 안전 효과를 주장하기 어려운 유형. 구역·작업별 오경보와 중요 미탐, 경보 확인·조치 시간, 조치 후 재발을 분리해 평가할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"현장 영상 접점",</a:t>
            </a:r>
          </a:p>
          <a:p xmlns:a="http://schemas.openxmlformats.org/drawingml/2006/main">
            <a:r>
              <a:t>          "layer": "이용 접점",</a:t>
            </a:r>
          </a:p>
          <a:p xmlns:a="http://schemas.openxmlformats.org/drawingml/2006/main">
            <a:r>
              <a:t>          "detail": "물류 현장·안전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"구역·작업 맥락",</a:t>
            </a:r>
          </a:p>
          <a:p xmlns:a="http://schemas.openxmlformats.org/drawingml/2006/main">
            <a:r>
              <a:t>          "layer": "업무 문맥",</a:t>
            </a:r>
          </a:p>
          <a:p xmlns:a="http://schemas.openxmlformats.org/drawingml/2006/main">
            <a:r>
              <a:t>          "detail": "구역·작업시간·관측 목적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"영상·이력 조회",</a:t>
            </a:r>
          </a:p>
          <a:p xmlns:a="http://schemas.openxmlformats.org/drawingml/2006/main">
            <a:r>
              <a:t>          "layer": "자료 조회",</a:t>
            </a:r>
          </a:p>
          <a:p xmlns:a="http://schemas.openxmlformats.org/drawingml/2006/main">
            <a:r>
              <a:t>          "detail": "영상",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"위험 행동 탐지",</a:t>
            </a:r>
          </a:p>
          <a:p xmlns:a="http://schemas.openxmlformats.org/drawingml/2006/main">
            <a:r>
              <a:t>          "layer": "핵심 처리",</a:t>
            </a:r>
          </a:p>
          <a:p xmlns:a="http://schemas.openxmlformats.org/drawingml/2006/main">
            <a:r>
              <a:t>          "detail": "위험 행동·근접 상황의 영상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"오경보·미탐 검사",</a:t>
            </a:r>
          </a:p>
          <a:p xmlns:a="http://schemas.openxmlformats.org/drawingml/2006/main">
            <a:r>
              <a:t>          "layer": "결과 검증",</a:t>
            </a:r>
          </a:p>
          <a:p xmlns:a="http://schemas.openxmlformats.org/drawingml/2006/main">
            <a:r>
              <a:t>          "detail": "오경보·중요 미탐과 조치 이행 측정",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확인",</a:t>
            </a:r>
          </a:p>
          <a:p xmlns:a="http://schemas.openxmlformats.org/drawingml/2006/main">
            <a:r>
              <a:t>          "layer": "사람 확인",</a:t>
            </a:r>
          </a:p>
          <a:p xmlns:a="http://schemas.openxmlformats.org/drawingml/2006/main">
            <a:r>
              <a:t>          "detail": "영상에서 위험 상황을 발견하고 담당자가 조치 등록",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"개선 조치 인계",</a:t>
            </a:r>
          </a:p>
          <a:p xmlns:a="http://schemas.openxmlformats.org/drawingml/2006/main">
            <a:r>
              <a:t>          "layer": "업무 연결",</a:t>
            </a:r>
          </a:p>
          <a:p xmlns:a="http://schemas.openxmlformats.org/drawingml/2006/main">
            <a:r>
              <a:t>          "detail": "안전 담당자 확인 후 현장 개선 조치",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"재발·조치 추적",</a:t>
            </a:r>
          </a:p>
          <a:p xmlns:a="http://schemas.openxmlformats.org/drawingml/2006/main">
            <a:r>
              <a:t>          "layer": "운영 관측",</a:t>
            </a:r>
          </a:p>
          <a:p xmlns:a="http://schemas.openxmlformats.org/drawingml/2006/main">
            <a:r>
              <a:t>          "detail": "오탐·누락·조치 완료와 재발 여부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"영상·구역 지도",</a:t>
            </a:r>
          </a:p>
          <a:p xmlns:a="http://schemas.openxmlformats.org/drawingml/2006/main">
            <a:r>
              <a:t>          "layer": "데이터 원천",</a:t>
            </a:r>
          </a:p>
          <a:p xmlns:a="http://schemas.openxmlformats.org/drawingml/2006/main">
            <a:r>
              <a:t>          "detail": "이벤트·조치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"사건·위치 정합화",</a:t>
            </a:r>
          </a:p>
          <a:p xmlns:a="http://schemas.openxmlformats.org/drawingml/2006/main">
            <a:r>
              <a:t>          "layer": "준비·갱신",</a:t>
            </a:r>
          </a:p>
          <a:p xmlns:a="http://schemas.openxmlformats.org/drawingml/2006/main">
            <a:r>
              <a:t>          "detail": "영상 접근범위·구역 지도·사건 이력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"위험·조치 이력",</a:t>
            </a:r>
          </a:p>
          <a:p xmlns:a="http://schemas.openxmlformats.org/drawingml/2006/main">
            <a:r>
              <a:t>          "layer": "상태·지식 저장",</a:t>
            </a:r>
          </a:p>
          <a:p xmlns:a="http://schemas.openxmlformats.org/drawingml/2006/main">
            <a:r>
              <a:t>          "detail": "사건 표본별 오탐·미탐과 확인·조치 완료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"영상 열람정책",</a:t>
            </a:r>
          </a:p>
          <a:p xmlns:a="http://schemas.openxmlformats.org/drawingml/2006/main">
            <a:r>
              <a:t>          "layer": "권한·정책",</a:t>
            </a:r>
          </a:p>
          <a:p xmlns:a="http://schemas.openxmlformats.org/drawingml/2006/main">
            <a:r>
              <a:t>          "detail": "가림·조명 변화·작업 동선 변경·비위험 행동",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"현장 영상 → 위험 이벤트 탐지 → 안전 담당 검토 → 예방 조치"</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"이벤트·조치 기록",</a:t>
            </a:r>
          </a:p>
          <a:p xmlns:a="http://schemas.openxmlformats.org/drawingml/2006/main">
            <a:r>
              <a:t>          "check": "영상 접근범위·구역 지도·사건 이력 정리"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"영상 접근범위·구역 지도·사건 이력 정리"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"검토 이벤트",</a:t>
            </a:r>
          </a:p>
          <a:p xmlns:a="http://schemas.openxmlformats.org/drawingml/2006/main">
            <a:r>
              <a:t>          "check": "사건 표본별 오탐·미탐과 확인·조치 완료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"영상 열람정책",</a:t>
            </a:r>
          </a:p>
          <a:p xmlns:a="http://schemas.openxmlformats.org/drawingml/2006/main">
            <a:r>
              <a:t>          "check": "오경보·중요 미탐과 조치 이행 측정"</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"예방 조치",</a:t>
            </a:r>
          </a:p>
          <a:p xmlns:a="http://schemas.openxmlformats.org/drawingml/2006/main">
            <a:r>
              <a:t>          "check": "사건 표본별 오탐·미탐과 확인·조치 완료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"오탐·누락·조치 완료와 재발 여부 추적",</a:t>
            </a:r>
          </a:p>
          <a:p xmlns:a="http://schemas.openxmlformats.org/drawingml/2006/main">
            <a:r>
              <a:t>          "check": "오탐·누락·조치 완료와 재발 여부 추적"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"작업장 위험 상황의 조기 발견 지원 / 영상 이벤트·위험 분류·개선 조치",</a:t>
            </a:r>
          </a:p>
          <a:p xmlns:a="http://schemas.openxmlformats.org/drawingml/2006/main">
            <a:r>
              <a:t>        "extension": "검사·시험·시설 현장 위험 증거와 안전 직무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"가림·조명 변화·작업 동선 변경·비위험 행동",</a:t>
            </a:r>
          </a:p>
          <a:p xmlns:a="http://schemas.openxmlformats.org/drawingml/2006/main">
            <a:r>
              <a:t>        "hold": "오경보·중요 미탐과 조치 이행 측정",</a:t>
            </a:r>
          </a:p>
          <a:p xmlns:a="http://schemas.openxmlformats.org/drawingml/2006/main">
            <a:r>
              <a:t>        "recovery": "오탐·누락·조치 완료와 재발 여부 추적",</a:t>
            </a:r>
          </a:p>
          <a:p xmlns:a="http://schemas.openxmlformats.org/drawingml/2006/main">
            <a:r>
              <a:t>        "evidence": "사건 표본별 오탐·미탐과 확인·조치 완료 이력"</a:t>
            </a:r>
          </a:p>
          <a:p xmlns:a="http://schemas.openxmlformats.org/drawingml/2006/main">
            <a:r>
              <a:t>      },</a:t>
            </a:r>
          </a:p>
          <a:p xmlns:a="http://schemas.openxmlformats.org/drawingml/2006/main">
            <a:r>
              <a:t>      "data": {</a:t>
            </a:r>
          </a:p>
          <a:p xmlns:a="http://schemas.openxmlformats.org/drawingml/2006/main">
            <a:r>
              <a:t>        "source": "이벤트·조치 기록",</a:t>
            </a:r>
          </a:p>
          <a:p xmlns:a="http://schemas.openxmlformats.org/drawingml/2006/main">
            <a:r>
              <a:t>        "prepare": "영상 접근범위·구역 지도·사건 이력 정리",</a:t>
            </a:r>
          </a:p>
          <a:p xmlns:a="http://schemas.openxmlformats.org/drawingml/2006/main">
            <a:r>
              <a:t>        "output": "영상",</a:t>
            </a:r>
          </a:p>
          <a:p xmlns:a="http://schemas.openxmlformats.org/drawingml/2006/main">
            <a:r>
              <a:t>        "refresh": "오탐·누락·조치 완료와 재발 여부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"AX14",</a:t>
            </a:r>
          </a:p>
          <a:p xmlns:a="http://schemas.openxmlformats.org/drawingml/2006/main">
            <a:r>
              <a:t>    "success": [</a:t>
            </a:r>
          </a:p>
          <a:p xmlns:a="http://schemas.openxmlformats.org/drawingml/2006/main">
            <a:r>
              <a:t>      "현장 영상에서 위험 이벤트 선별",</a:t>
            </a:r>
          </a:p>
          <a:p xmlns:a="http://schemas.openxmlformats.org/drawingml/2006/main">
            <a:r>
              <a:t>      "안전 담당자의 예방 조치 연결"</a:t>
            </a:r>
          </a:p>
          <a:p xmlns:a="http://schemas.openxmlformats.org/drawingml/2006/main">
            <a:r>
              <a:t>    ],</a:t>
            </a:r>
          </a:p>
          <a:p xmlns:a="http://schemas.openxmlformats.org/drawingml/2006/main">
            <a:r>
              <a:t>    "risks": [</a:t>
            </a:r>
          </a:p>
          <a:p xmlns:a="http://schemas.openxmlformats.org/drawingml/2006/main">
            <a:r>
              <a:t>      "카메라 위치·작업 유형별 편차",</a:t>
            </a:r>
          </a:p>
          <a:p xmlns:a="http://schemas.openxmlformats.org/drawingml/2006/main">
            <a:r>
              <a:t>      "실증 탐지와 실제 재해 감소의 차이"</a:t>
            </a:r>
          </a:p>
          <a:p xmlns:a="http://schemas.openxmlformats.org/drawingml/2006/main">
            <a:r>
              <a:t>    ],</a:t>
            </a:r>
          </a:p>
          <a:p xmlns:a="http://schemas.openxmlformats.org/drawingml/2006/main">
            <a:r>
              <a:t>    "architecture": [</a:t>
            </a:r>
          </a:p>
          <a:p xmlns:a="http://schemas.openxmlformats.org/drawingml/2006/main">
            <a:r>
              <a:t>      "물류 현장 영상",</a:t>
            </a:r>
          </a:p>
          <a:p xmlns:a="http://schemas.openxmlformats.org/drawingml/2006/main">
            <a:r>
              <a:t>      "위험 행동 탐지",</a:t>
            </a:r>
          </a:p>
          <a:p xmlns:a="http://schemas.openxmlformats.org/drawingml/2006/main">
            <a:r>
              <a:t>      "이벤트·조치 기록",</a:t>
            </a:r>
          </a:p>
          <a:p xmlns:a="http://schemas.openxmlformats.org/drawingml/2006/main">
            <a:r>
              <a:t>      "안전 담당자"</a:t>
            </a:r>
          </a:p>
          <a:p xmlns:a="http://schemas.openxmlformats.org/drawingml/2006/main">
            <a:r>
              <a:t>    ],</a:t>
            </a:r>
          </a:p>
          <a:p xmlns:a="http://schemas.openxmlformats.org/drawingml/2006/main">
            <a:r>
              <a:t>    "transfers": [</a:t>
            </a:r>
          </a:p>
          <a:p xmlns:a="http://schemas.openxmlformats.org/drawingml/2006/main">
            <a:r>
              <a:t>      "영상",</a:t>
            </a:r>
          </a:p>
          <a:p xmlns:a="http://schemas.openxmlformats.org/drawingml/2006/main">
            <a:r>
              <a:t>      "위험 후보",</a:t>
            </a:r>
          </a:p>
          <a:p xmlns:a="http://schemas.openxmlformats.org/drawingml/2006/main">
            <a:r>
              <a:t>      "검토 이벤트",</a:t>
            </a:r>
          </a:p>
          <a:p xmlns:a="http://schemas.openxmlformats.org/drawingml/2006/main">
            <a:r>
              <a:t>      "예방 조치"</a:t>
            </a:r>
          </a:p>
          <a:p xmlns:a="http://schemas.openxmlformats.org/drawingml/2006/main">
            <a:r>
              <a:t>    ],</a:t>
            </a:r>
          </a:p>
          <a:p xmlns:a="http://schemas.openxmlformats.org/drawingml/2006/main">
            <a:r>
              <a:t>    "control": "오경보·중요 미탐과 조치 이행 측정",</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DHL Protex AI 안전 실증 · 사업자 기술 실증 소개 / 게시일 미표시 https://www.dhlfreight.com/nl-en/microsites/csi/computer-vision/logistics-use-cases/people-health-and-safety.html</a:t>
            </a:r>
          </a:p>
          <a:p xmlns:a="http://schemas.openxmlformats.org/drawingml/2006/main">
            <a:r>
              <a:t>홈페이지 https://heen1987-ops.github.io/TS-business-Plan-001/index.html?view=casebook&amp;case=AX14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"AX14",</a:t>
            </a:r>
          </a:p>
          <a:p xmlns:a="http://schemas.openxmlformats.org/drawingml/2006/main">
            <a:r>
              <a:t>    "title": "DHL Protex AI 안전 실증",</a:t>
            </a:r>
          </a:p>
          <a:p xmlns:a="http://schemas.openxmlformats.org/drawingml/2006/main">
            <a:r>
              <a:t>    "region": "해외",</a:t>
            </a:r>
          </a:p>
          <a:p xmlns:a="http://schemas.openxmlformats.org/drawingml/2006/main">
            <a:r>
              <a:t>    "country": "다국가",</a:t>
            </a:r>
          </a:p>
          <a:p xmlns:a="http://schemas.openxmlformats.org/drawingml/2006/main">
            <a:r>
              <a:t>    "result": "시범",</a:t>
            </a:r>
          </a:p>
          <a:p xmlns:a="http://schemas.openxmlformats.org/drawingml/2006/main">
            <a:r>
              <a:t>    "kind": "영상 기반 작업장 안전",</a:t>
            </a:r>
          </a:p>
          <a:p xmlns:a="http://schemas.openxmlformats.org/drawingml/2006/main">
            <a:r>
              <a:t>    "period": "PoC 소개",</a:t>
            </a:r>
          </a:p>
          <a:p xmlns:a="http://schemas.openxmlformats.org/drawingml/2006/main">
            <a:r>
              <a:t>    "sources": [</a:t>
            </a:r>
          </a:p>
          <a:p xmlns:a="http://schemas.openxmlformats.org/drawingml/2006/main">
            <a:r>
              <a:t>      "S-AX14"</a:t>
            </a:r>
          </a:p>
          <a:p xmlns:a="http://schemas.openxmlformats.org/drawingml/2006/main">
            <a:r>
              <a:t>    ],</a:t>
            </a:r>
          </a:p>
          <a:p xmlns:a="http://schemas.openxmlformats.org/drawingml/2006/main">
            <a:r>
              <a:t>    "keywords": [</a:t>
            </a:r>
          </a:p>
          <a:p xmlns:a="http://schemas.openxmlformats.org/drawingml/2006/main">
            <a:r>
              <a:t>      "영상 기반 작업장 안전"</a:t>
            </a:r>
          </a:p>
          <a:p xmlns:a="http://schemas.openxmlformats.org/drawingml/2006/main">
            <a:r>
              <a:t>    ],</a:t>
            </a:r>
          </a:p>
          <a:p xmlns:a="http://schemas.openxmlformats.org/drawingml/2006/main">
            <a:r>
              <a:t>    "fact": "영상의 위험 행동·상황 식별을 안전 담당자의 사전 조치에 활용하는 실증",</a:t>
            </a:r>
          </a:p>
          <a:p xmlns:a="http://schemas.openxmlformats.org/drawingml/2006/main">
            <a:r>
              <a:t>    "limit": "PoC 범위 · 전 사업장 확산·재해 감소 실측과 구분",</a:t>
            </a:r>
          </a:p>
          <a:p xmlns:a="http://schemas.openxmlformats.org/drawingml/2006/main">
            <a:r>
              <a:t>    "flow": [</a:t>
            </a:r>
          </a:p>
          <a:p xmlns:a="http://schemas.openxmlformats.org/drawingml/2006/main">
            <a:r>
              <a:t>      "현장 영상",</a:t>
            </a:r>
          </a:p>
          <a:p xmlns:a="http://schemas.openxmlformats.org/drawingml/2006/main">
            <a:r>
              <a:t>      "위험 이벤트 탐지",</a:t>
            </a:r>
          </a:p>
          <a:p xmlns:a="http://schemas.openxmlformats.org/drawingml/2006/main">
            <a:r>
              <a:t>      "안전 담당 검토",</a:t>
            </a:r>
          </a:p>
          <a:p xmlns:a="http://schemas.openxmlformats.org/drawingml/2006/main">
            <a:r>
              <a:t>      "예방 조치"</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"탐지 결과에서 조치 완료까지의 책임 연결",</a:t>
            </a:r>
          </a:p>
          <a:p xmlns:a="http://schemas.openxmlformats.org/drawingml/2006/main">
            <a:r>
              <a:t>    "local": "검사·시험·시설 현장 위험 증거와 안전 직무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"현장 사건 사전·검토 큐·조치 이력",</a:t>
            </a:r>
          </a:p>
          <a:p xmlns:a="http://schemas.openxmlformats.org/drawingml/2006/main">
            <a:r>
              <a:t>    "test": "오탐·미탐·사람 가림·조치 누락 시나리오",</a:t>
            </a:r>
          </a:p>
          <a:p xmlns:a="http://schemas.openxmlformats.org/drawingml/2006/main">
            <a:r>
              <a:t>    "metric": "위험 확인시간 / 조치 이행률",</a:t>
            </a:r>
          </a:p>
          <a:p xmlns:a="http://schemas.openxmlformats.org/drawingml/2006/main">
            <a:r>
              <a:t>    "strategies": [</a:t>
            </a:r>
          </a:p>
          <a:p xmlns:a="http://schemas.openxmlformats.org/drawingml/2006/main">
            <a:r>
              <a:t>      "ST-03",</a:t>
            </a:r>
          </a:p>
          <a:p xmlns:a="http://schemas.openxmlformats.org/drawingml/2006/main">
            <a:r>
              <a:t>      "ST-11"</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"AX14",</a:t>
            </a:r>
          </a:p>
          <a:p xmlns:a="http://schemas.openxmlformats.org/drawingml/2006/main">
            <a:r>
              <a:t>    "canonicalId": "AX14",</a:t>
            </a:r>
          </a:p>
          <a:p xmlns:a="http://schemas.openxmlformats.org/drawingml/2006/main">
            <a:r>
              <a:t>    "purpose": "작업장 위험 상황의 조기 발견 지원",</a:t>
            </a:r>
          </a:p>
          <a:p xmlns:a="http://schemas.openxmlformats.org/drawingml/2006/main">
            <a:r>
              <a:t>    "users": "물류 현장·안전 담당자",</a:t>
            </a:r>
          </a:p>
          <a:p xmlns:a="http://schemas.openxmlformats.org/drawingml/2006/main">
            <a:r>
              <a:t>    "scope": [</a:t>
            </a:r>
          </a:p>
          <a:p xmlns:a="http://schemas.openxmlformats.org/drawingml/2006/main">
            <a:r>
              <a:t>      "영상 이벤트",</a:t>
            </a:r>
          </a:p>
          <a:p xmlns:a="http://schemas.openxmlformats.org/drawingml/2006/main">
            <a:r>
              <a:t>      "위험 분류",</a:t>
            </a:r>
          </a:p>
          <a:p xmlns:a="http://schemas.openxmlformats.org/drawingml/2006/main">
            <a:r>
              <a:t>      "개선 조치"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"물류 현장 영상",</a:t>
            </a:r>
          </a:p>
          <a:p xmlns:a="http://schemas.openxmlformats.org/drawingml/2006/main">
            <a:r>
              <a:t>        "detail": "구역·작업시간·관측 목적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"영상 이벤트 / 위험 분류 / 개선 조치",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"위험 행동 탐지",</a:t>
            </a:r>
          </a:p>
          <a:p xmlns:a="http://schemas.openxmlformats.org/drawingml/2006/main">
            <a:r>
              <a:t>        "detail": "위험 행동·근접 상황의 영상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"안전 담당자",</a:t>
            </a:r>
          </a:p>
          <a:p xmlns:a="http://schemas.openxmlformats.org/drawingml/2006/main">
            <a:r>
              <a:t>        "detail": "안전 담당자 확인 후 현장 개선 조치",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"이벤트·조치 기록",</a:t>
            </a:r>
          </a:p>
          <a:p xmlns:a="http://schemas.openxmlformats.org/drawingml/2006/main">
            <a:r>
              <a:t>        "detail": "영상 접근범위·구역 지도·사건 이력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"오탐·누락·조치 완료와 재발 여부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"현장 영상",</a:t>
            </a:r>
          </a:p>
          <a:p xmlns:a="http://schemas.openxmlformats.org/drawingml/2006/main">
            <a:r>
              <a:t>        "input": "구역·작업시간·관측 목적 지정",</a:t>
            </a:r>
          </a:p>
          <a:p xmlns:a="http://schemas.openxmlformats.org/drawingml/2006/main">
            <a:r>
              <a:t>        "process": "영상 접근범위·구역 지도·사건 이력 정리",</a:t>
            </a:r>
          </a:p>
          <a:p xmlns:a="http://schemas.openxmlformats.org/drawingml/2006/main">
            <a:r>
              <a:t>        "output": "영상"</a:t>
            </a:r>
          </a:p>
          <a:p xmlns:a="http://schemas.openxmlformats.org/drawingml/2006/main">
            <a:r>
              <a:t>      },</a:t>
            </a:r>
          </a:p>
          <a:p xmlns:a="http://schemas.openxmlformats.org/drawingml/2006/main">
            <a:r>
              <a:t>      {</a:t>
            </a:r>
          </a:p>
          <a:p xmlns:a="http://schemas.openxmlformats.org/drawingml/2006/main">
            <a:r>
              <a:t>        "title": "위험 이벤트 탐지",</a:t>
            </a:r>
          </a:p>
          <a:p xmlns:a="http://schemas.openxmlformats.org/drawingml/2006/main">
            <a:r>
              <a:t>        "input": "영상",</a:t>
            </a:r>
          </a:p>
          <a:p xmlns:a="http://schemas.openxmlformats.org/drawingml/2006/main">
            <a:r>
              <a:t>        "process": "위험 행동·근접 상황의 영상 분석",</a:t>
            </a:r>
          </a:p>
          <a:p xmlns:a="http://schemas.openxmlformats.org/drawingml/2006/main">
            <a:r>
              <a:t>        "output": "위험 후보"</a:t>
            </a:r>
          </a:p>
          <a:p xmlns:a="http://schemas.openxmlformats.org/drawingml/2006/main">
            <a:r>
              <a:t>      },</a:t>
            </a:r>
          </a:p>
          <a:p xmlns:a="http://schemas.openxmlformats.org/drawingml/2006/main">
            <a:r>
              <a:t>      {</a:t>
            </a:r>
          </a:p>
          <a:p xmlns:a="http://schemas.openxmlformats.org/drawingml/2006/main">
            <a:r>
              <a:t>        "title": "안전 담당 검토",</a:t>
            </a:r>
          </a:p>
          <a:p xmlns:a="http://schemas.openxmlformats.org/drawingml/2006/main">
            <a:r>
              <a:t>        "input": "위험 후보",</a:t>
            </a:r>
          </a:p>
          <a:p xmlns:a="http://schemas.openxmlformats.org/drawingml/2006/main">
            <a:r>
              <a:t>        "process": "오경보·중요 미탐과 조치 이행 측정",</a:t>
            </a:r>
          </a:p>
          <a:p xmlns:a="http://schemas.openxmlformats.org/drawingml/2006/main">
            <a:r>
              <a:t>        "output": "검토 이벤트"</a:t>
            </a:r>
          </a:p>
          <a:p xmlns:a="http://schemas.openxmlformats.org/drawingml/2006/main">
            <a:r>
              <a:t>      },</a:t>
            </a:r>
          </a:p>
          <a:p xmlns:a="http://schemas.openxmlformats.org/drawingml/2006/main">
            <a:r>
              <a:t>      {</a:t>
            </a:r>
          </a:p>
          <a:p xmlns:a="http://schemas.openxmlformats.org/drawingml/2006/main">
            <a:r>
              <a:t>        "title": "예방 조치",</a:t>
            </a:r>
          </a:p>
          <a:p xmlns:a="http://schemas.openxmlformats.org/drawingml/2006/main">
            <a:r>
              <a:t>        "input": "검토 이벤트",</a:t>
            </a:r>
          </a:p>
          <a:p xmlns:a="http://schemas.openxmlformats.org/drawingml/2006/main">
            <a:r>
              <a:t>        "process": "안전 담당자 확인 후 현장 개선 조치",</a:t>
            </a:r>
          </a:p>
          <a:p xmlns:a="http://schemas.openxmlformats.org/drawingml/2006/main">
            <a:r>
              <a:t>        "output": "예방 조치"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"영상에서 위험 상황을 발견하고 담당자가 조치 등록",</a:t>
            </a:r>
          </a:p>
          <a:p xmlns:a="http://schemas.openxmlformats.org/drawingml/2006/main">
            <a:r>
              <a:t>      "exception": "가림·조명 변화·작업 동선 변경·비위험 행동",</a:t>
            </a:r>
          </a:p>
          <a:p xmlns:a="http://schemas.openxmlformats.org/drawingml/2006/main">
            <a:r>
              <a:t>      "evidence": "사건 표본별 오탐·미탐과 확인·조치 완료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"물류 현장·안전 담당자",</a:t>
            </a:r>
          </a:p>
          <a:p xmlns:a="http://schemas.openxmlformats.org/drawingml/2006/main">
            <a:r>
              <a:t>          "processing": "구역·작업시간·관측 목적 지정",</a:t>
            </a:r>
          </a:p>
          <a:p xmlns:a="http://schemas.openxmlformats.org/drawingml/2006/main">
            <a:r>
              <a:t>          "output": "영상"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"이벤트·조치 기록",</a:t>
            </a:r>
          </a:p>
          <a:p xmlns:a="http://schemas.openxmlformats.org/drawingml/2006/main">
            <a:r>
              <a:t>          "processing": "영상 접근범위·구역 지도·사건 이력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"영상",</a:t>
            </a:r>
          </a:p>
          <a:p xmlns:a="http://schemas.openxmlformats.org/drawingml/2006/main">
            <a:r>
              <a:t>          "processing": "위험 행동·근접 상황의 영상 분석",</a:t>
            </a:r>
          </a:p>
          <a:p xmlns:a="http://schemas.openxmlformats.org/drawingml/2006/main">
            <a:r>
              <a:t>          "output": "검토 이벤트"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이벤트",</a:t>
            </a:r>
          </a:p>
          <a:p xmlns:a="http://schemas.openxmlformats.org/drawingml/2006/main">
            <a:r>
              <a:t>          "processing": "안전 담당자 확인 후 현장 개선 조치",</a:t>
            </a:r>
          </a:p>
          <a:p xmlns:a="http://schemas.openxmlformats.org/drawingml/2006/main">
            <a:r>
              <a:t>          "output": "예방 조치"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"오탐·누락·조치 완료와 재발 여부 추적",</a:t>
            </a:r>
          </a:p>
          <a:p xmlns:a="http://schemas.openxmlformats.org/drawingml/2006/main">
            <a:r>
              <a:t>          "output": "사건 표본별 오탐·미탐과 확인·조치 완료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"오탐·누락·조치 완료와 재발 여부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"S-AX14",</a:t>
            </a:r>
          </a:p>
          <a:p xmlns:a="http://schemas.openxmlformats.org/drawingml/2006/main">
            <a:r>
              <a:t>        "title": "DHL Protex AI 안전 실증 · 사업자 기술 실증 소개 / 게시일 미표시",</a:t>
            </a:r>
          </a:p>
          <a:p xmlns:a="http://schemas.openxmlformats.org/drawingml/2006/main">
            <a:r>
              <a:t>        "url": "https://www.dhlfreight.com/nl-en/microsites/csi/computer-vision/logistics-use-cases/people-health-and-safety.html",</a:t>
            </a:r>
          </a:p>
          <a:p xmlns:a="http://schemas.openxmlformats.org/drawingml/2006/main">
            <a:r>
              <a:t>        "published": "PoC 소개",</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"탐지 결과에서 조치 완료까지의 책임 연결",</a:t>
            </a:r>
          </a:p>
          <a:p xmlns:a="http://schemas.openxmlformats.org/drawingml/2006/main">
            <a:r>
              <a:t>    "local": "검사·시험·시설 현장 위험 증거와 안전 직무 연결",</a:t>
            </a:r>
          </a:p>
          <a:p xmlns:a="http://schemas.openxmlformats.org/drawingml/2006/main">
            <a:r>
              <a:t>    "sourceDetail": null,</a:t>
            </a:r>
          </a:p>
          <a:p xmlns:a="http://schemas.openxmlformats.org/drawingml/2006/main">
            <a:r>
              <a:t>    "narrative": [</a:t>
            </a:r>
          </a:p>
          <a:p xmlns:a="http://schemas.openxmlformats.org/drawingml/2006/main">
            <a:r>
              <a:t>      "물류 작업장의 영상에서 위험 행동·근접 상황을 선별해 안전 담당자의 예방 조치를 돕는 사례. 탐지 이후의 검토·조치 연결이 현장 적용의 핵심.",</a:t>
            </a:r>
          </a:p>
          <a:p xmlns:a="http://schemas.openxmlformats.org/drawingml/2006/main">
            <a:r>
              <a:t>      "구역·작업시간·영상 접근범위를 지정하고 위험 후보를 사건 단위로 저장하는 구조의 재구성. 담당자가 현장 상황을 확인해 개선 조치를 기록하고 재발 여부를 검토하는 흐름.",</a:t>
            </a:r>
          </a:p>
          <a:p xmlns:a="http://schemas.openxmlformats.org/drawingml/2006/main">
            <a:r>
              <a:t>      "TS 시설·사업장 적용에서 카메라 설치만으로 안전 효과를 주장하기 어려운 유형. 구역·작업별 오경보와 중요 미탐, 경보 확인·조치 시간, 조치 후 재발을 분리해 평가할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"현장 영상 접점",</a:t>
            </a:r>
          </a:p>
          <a:p xmlns:a="http://schemas.openxmlformats.org/drawingml/2006/main">
            <a:r>
              <a:t>          "layer": "이용 접점",</a:t>
            </a:r>
          </a:p>
          <a:p xmlns:a="http://schemas.openxmlformats.org/drawingml/2006/main">
            <a:r>
              <a:t>          "detail": "물류 현장·안전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"구역·작업 맥락",</a:t>
            </a:r>
          </a:p>
          <a:p xmlns:a="http://schemas.openxmlformats.org/drawingml/2006/main">
            <a:r>
              <a:t>          "layer": "업무 문맥",</a:t>
            </a:r>
          </a:p>
          <a:p xmlns:a="http://schemas.openxmlformats.org/drawingml/2006/main">
            <a:r>
              <a:t>          "detail": "구역·작업시간·관측 목적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"영상·이력 조회",</a:t>
            </a:r>
          </a:p>
          <a:p xmlns:a="http://schemas.openxmlformats.org/drawingml/2006/main">
            <a:r>
              <a:t>          "layer": "자료 조회",</a:t>
            </a:r>
          </a:p>
          <a:p xmlns:a="http://schemas.openxmlformats.org/drawingml/2006/main">
            <a:r>
              <a:t>          "detail": "영상",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"위험 행동 탐지",</a:t>
            </a:r>
          </a:p>
          <a:p xmlns:a="http://schemas.openxmlformats.org/drawingml/2006/main">
            <a:r>
              <a:t>          "layer": "핵심 처리",</a:t>
            </a:r>
          </a:p>
          <a:p xmlns:a="http://schemas.openxmlformats.org/drawingml/2006/main">
            <a:r>
              <a:t>          "detail": "위험 행동·근접 상황의 영상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"오경보·미탐 검사",</a:t>
            </a:r>
          </a:p>
          <a:p xmlns:a="http://schemas.openxmlformats.org/drawingml/2006/main">
            <a:r>
              <a:t>          "layer": "결과 검증",</a:t>
            </a:r>
          </a:p>
          <a:p xmlns:a="http://schemas.openxmlformats.org/drawingml/2006/main">
            <a:r>
              <a:t>          "detail": "오경보·중요 미탐과 조치 이행 측정",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확인",</a:t>
            </a:r>
          </a:p>
          <a:p xmlns:a="http://schemas.openxmlformats.org/drawingml/2006/main">
            <a:r>
              <a:t>          "layer": "사람 확인",</a:t>
            </a:r>
          </a:p>
          <a:p xmlns:a="http://schemas.openxmlformats.org/drawingml/2006/main">
            <a:r>
              <a:t>          "detail": "영상에서 위험 상황을 발견하고 담당자가 조치 등록",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"개선 조치 인계",</a:t>
            </a:r>
          </a:p>
          <a:p xmlns:a="http://schemas.openxmlformats.org/drawingml/2006/main">
            <a:r>
              <a:t>          "layer": "업무 연결",</a:t>
            </a:r>
          </a:p>
          <a:p xmlns:a="http://schemas.openxmlformats.org/drawingml/2006/main">
            <a:r>
              <a:t>          "detail": "안전 담당자 확인 후 현장 개선 조치",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"재발·조치 추적",</a:t>
            </a:r>
          </a:p>
          <a:p xmlns:a="http://schemas.openxmlformats.org/drawingml/2006/main">
            <a:r>
              <a:t>          "layer": "운영 관측",</a:t>
            </a:r>
          </a:p>
          <a:p xmlns:a="http://schemas.openxmlformats.org/drawingml/2006/main">
            <a:r>
              <a:t>          "detail": "오탐·누락·조치 완료와 재발 여부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"영상·구역 지도",</a:t>
            </a:r>
          </a:p>
          <a:p xmlns:a="http://schemas.openxmlformats.org/drawingml/2006/main">
            <a:r>
              <a:t>          "layer": "데이터 원천",</a:t>
            </a:r>
          </a:p>
          <a:p xmlns:a="http://schemas.openxmlformats.org/drawingml/2006/main">
            <a:r>
              <a:t>          "detail": "이벤트·조치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"사건·위치 정합화",</a:t>
            </a:r>
          </a:p>
          <a:p xmlns:a="http://schemas.openxmlformats.org/drawingml/2006/main">
            <a:r>
              <a:t>          "layer": "준비·갱신",</a:t>
            </a:r>
          </a:p>
          <a:p xmlns:a="http://schemas.openxmlformats.org/drawingml/2006/main">
            <a:r>
              <a:t>          "detail": "영상 접근범위·구역 지도·사건 이력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"위험·조치 이력",</a:t>
            </a:r>
          </a:p>
          <a:p xmlns:a="http://schemas.openxmlformats.org/drawingml/2006/main">
            <a:r>
              <a:t>          "layer": "상태·지식 저장",</a:t>
            </a:r>
          </a:p>
          <a:p xmlns:a="http://schemas.openxmlformats.org/drawingml/2006/main">
            <a:r>
              <a:t>          "detail": "사건 표본별 오탐·미탐과 확인·조치 완료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"영상 열람정책",</a:t>
            </a:r>
          </a:p>
          <a:p xmlns:a="http://schemas.openxmlformats.org/drawingml/2006/main">
            <a:r>
              <a:t>          "layer": "권한·정책",</a:t>
            </a:r>
          </a:p>
          <a:p xmlns:a="http://schemas.openxmlformats.org/drawingml/2006/main">
            <a:r>
              <a:t>          "detail": "가림·조명 변화·작업 동선 변경·비위험 행동",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"현장 영상 → 위험 이벤트 탐지 → 안전 담당 검토 → 예방 조치"</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"이벤트·조치 기록",</a:t>
            </a:r>
          </a:p>
          <a:p xmlns:a="http://schemas.openxmlformats.org/drawingml/2006/main">
            <a:r>
              <a:t>          "check": "영상 접근범위·구역 지도·사건 이력 정리"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"영상 접근범위·구역 지도·사건 이력 정리"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"검토 이벤트",</a:t>
            </a:r>
          </a:p>
          <a:p xmlns:a="http://schemas.openxmlformats.org/drawingml/2006/main">
            <a:r>
              <a:t>          "check": "사건 표본별 오탐·미탐과 확인·조치 완료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"영상 열람정책",</a:t>
            </a:r>
          </a:p>
          <a:p xmlns:a="http://schemas.openxmlformats.org/drawingml/2006/main">
            <a:r>
              <a:t>          "check": "오경보·중요 미탐과 조치 이행 측정"</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"예방 조치",</a:t>
            </a:r>
          </a:p>
          <a:p xmlns:a="http://schemas.openxmlformats.org/drawingml/2006/main">
            <a:r>
              <a:t>          "check": "사건 표본별 오탐·미탐과 확인·조치 완료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"오탐·누락·조치 완료와 재발 여부 추적",</a:t>
            </a:r>
          </a:p>
          <a:p xmlns:a="http://schemas.openxmlformats.org/drawingml/2006/main">
            <a:r>
              <a:t>          "check": "오탐·누락·조치 완료와 재발 여부 추적"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"작업장 위험 상황의 조기 발견 지원 / 영상 이벤트·위험 분류·개선 조치",</a:t>
            </a:r>
          </a:p>
          <a:p xmlns:a="http://schemas.openxmlformats.org/drawingml/2006/main">
            <a:r>
              <a:t>        "extension": "검사·시험·시설 현장 위험 증거와 안전 직무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"가림·조명 변화·작업 동선 변경·비위험 행동",</a:t>
            </a:r>
          </a:p>
          <a:p xmlns:a="http://schemas.openxmlformats.org/drawingml/2006/main">
            <a:r>
              <a:t>        "hold": "오경보·중요 미탐과 조치 이행 측정",</a:t>
            </a:r>
          </a:p>
          <a:p xmlns:a="http://schemas.openxmlformats.org/drawingml/2006/main">
            <a:r>
              <a:t>        "recovery": "오탐·누락·조치 완료와 재발 여부 추적",</a:t>
            </a:r>
          </a:p>
          <a:p xmlns:a="http://schemas.openxmlformats.org/drawingml/2006/main">
            <a:r>
              <a:t>        "evidence": "사건 표본별 오탐·미탐과 확인·조치 완료 이력"</a:t>
            </a:r>
          </a:p>
          <a:p xmlns:a="http://schemas.openxmlformats.org/drawingml/2006/main">
            <a:r>
              <a:t>      },</a:t>
            </a:r>
          </a:p>
          <a:p xmlns:a="http://schemas.openxmlformats.org/drawingml/2006/main">
            <a:r>
              <a:t>      "data": {</a:t>
            </a:r>
          </a:p>
          <a:p xmlns:a="http://schemas.openxmlformats.org/drawingml/2006/main">
            <a:r>
              <a:t>        "source": "이벤트·조치 기록",</a:t>
            </a:r>
          </a:p>
          <a:p xmlns:a="http://schemas.openxmlformats.org/drawingml/2006/main">
            <a:r>
              <a:t>        "prepare": "영상 접근범위·구역 지도·사건 이력 정리",</a:t>
            </a:r>
          </a:p>
          <a:p xmlns:a="http://schemas.openxmlformats.org/drawingml/2006/main">
            <a:r>
              <a:t>        "output": "영상",</a:t>
            </a:r>
          </a:p>
          <a:p xmlns:a="http://schemas.openxmlformats.org/drawingml/2006/main">
            <a:r>
              <a:t>        "refresh": "오탐·누락·조치 완료와 재발 여부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"AX14",</a:t>
            </a:r>
          </a:p>
          <a:p xmlns:a="http://schemas.openxmlformats.org/drawingml/2006/main">
            <a:r>
              <a:t>    "success": [</a:t>
            </a:r>
          </a:p>
          <a:p xmlns:a="http://schemas.openxmlformats.org/drawingml/2006/main">
            <a:r>
              <a:t>      "현장 영상에서 위험 이벤트 선별",</a:t>
            </a:r>
          </a:p>
          <a:p xmlns:a="http://schemas.openxmlformats.org/drawingml/2006/main">
            <a:r>
              <a:t>      "안전 담당자의 예방 조치 연결"</a:t>
            </a:r>
          </a:p>
          <a:p xmlns:a="http://schemas.openxmlformats.org/drawingml/2006/main">
            <a:r>
              <a:t>    ],</a:t>
            </a:r>
          </a:p>
          <a:p xmlns:a="http://schemas.openxmlformats.org/drawingml/2006/main">
            <a:r>
              <a:t>    "risks": [</a:t>
            </a:r>
          </a:p>
          <a:p xmlns:a="http://schemas.openxmlformats.org/drawingml/2006/main">
            <a:r>
              <a:t>      "카메라 위치·작업 유형별 편차",</a:t>
            </a:r>
          </a:p>
          <a:p xmlns:a="http://schemas.openxmlformats.org/drawingml/2006/main">
            <a:r>
              <a:t>      "실증 탐지와 실제 재해 감소의 차이"</a:t>
            </a:r>
          </a:p>
          <a:p xmlns:a="http://schemas.openxmlformats.org/drawingml/2006/main">
            <a:r>
              <a:t>    ],</a:t>
            </a:r>
          </a:p>
          <a:p xmlns:a="http://schemas.openxmlformats.org/drawingml/2006/main">
            <a:r>
              <a:t>    "architecture": [</a:t>
            </a:r>
          </a:p>
          <a:p xmlns:a="http://schemas.openxmlformats.org/drawingml/2006/main">
            <a:r>
              <a:t>      "물류 현장 영상",</a:t>
            </a:r>
          </a:p>
          <a:p xmlns:a="http://schemas.openxmlformats.org/drawingml/2006/main">
            <a:r>
              <a:t>      "위험 행동 탐지",</a:t>
            </a:r>
          </a:p>
          <a:p xmlns:a="http://schemas.openxmlformats.org/drawingml/2006/main">
            <a:r>
              <a:t>      "이벤트·조치 기록",</a:t>
            </a:r>
          </a:p>
          <a:p xmlns:a="http://schemas.openxmlformats.org/drawingml/2006/main">
            <a:r>
              <a:t>      "안전 담당자"</a:t>
            </a:r>
          </a:p>
          <a:p xmlns:a="http://schemas.openxmlformats.org/drawingml/2006/main">
            <a:r>
              <a:t>    ],</a:t>
            </a:r>
          </a:p>
          <a:p xmlns:a="http://schemas.openxmlformats.org/drawingml/2006/main">
            <a:r>
              <a:t>    "transfers": [</a:t>
            </a:r>
          </a:p>
          <a:p xmlns:a="http://schemas.openxmlformats.org/drawingml/2006/main">
            <a:r>
              <a:t>      "영상",</a:t>
            </a:r>
          </a:p>
          <a:p xmlns:a="http://schemas.openxmlformats.org/drawingml/2006/main">
            <a:r>
              <a:t>      "위험 후보",</a:t>
            </a:r>
          </a:p>
          <a:p xmlns:a="http://schemas.openxmlformats.org/drawingml/2006/main">
            <a:r>
              <a:t>      "검토 이벤트",</a:t>
            </a:r>
          </a:p>
          <a:p xmlns:a="http://schemas.openxmlformats.org/drawingml/2006/main">
            <a:r>
              <a:t>      "예방 조치"</a:t>
            </a:r>
          </a:p>
          <a:p xmlns:a="http://schemas.openxmlformats.org/drawingml/2006/main">
            <a:r>
              <a:t>    ],</a:t>
            </a:r>
          </a:p>
          <a:p xmlns:a="http://schemas.openxmlformats.org/drawingml/2006/main">
            <a:r>
              <a:t>    "control": "오경보·중요 미탐과 조치 이행 측정",</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DHL Protex AI 안전 실증 · 사업자 기술 실증 소개 / 게시일 미표시 https://www.dhlfreight.com/nl-en/microsites/csi/computer-vision/logistics-use-cases/people-health-and-safety.html</a:t>
            </a:r>
          </a:p>
          <a:p xmlns:a="http://schemas.openxmlformats.org/drawingml/2006/main">
            <a:r>
              <a:t>홈페이지 https://heen1987-ops.github.io/TS-business-Plan-001/index.html?view=casebook&amp;case=AX14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"AX14",</a:t>
            </a:r>
          </a:p>
          <a:p xmlns:a="http://schemas.openxmlformats.org/drawingml/2006/main">
            <a:r>
              <a:t>    "title": "DHL Protex AI 안전 실증",</a:t>
            </a:r>
          </a:p>
          <a:p xmlns:a="http://schemas.openxmlformats.org/drawingml/2006/main">
            <a:r>
              <a:t>    "region": "해외",</a:t>
            </a:r>
          </a:p>
          <a:p xmlns:a="http://schemas.openxmlformats.org/drawingml/2006/main">
            <a:r>
              <a:t>    "country": "다국가",</a:t>
            </a:r>
          </a:p>
          <a:p xmlns:a="http://schemas.openxmlformats.org/drawingml/2006/main">
            <a:r>
              <a:t>    "result": "시범",</a:t>
            </a:r>
          </a:p>
          <a:p xmlns:a="http://schemas.openxmlformats.org/drawingml/2006/main">
            <a:r>
              <a:t>    "kind": "영상 기반 작업장 안전",</a:t>
            </a:r>
          </a:p>
          <a:p xmlns:a="http://schemas.openxmlformats.org/drawingml/2006/main">
            <a:r>
              <a:t>    "period": "PoC 소개",</a:t>
            </a:r>
          </a:p>
          <a:p xmlns:a="http://schemas.openxmlformats.org/drawingml/2006/main">
            <a:r>
              <a:t>    "sources": [</a:t>
            </a:r>
          </a:p>
          <a:p xmlns:a="http://schemas.openxmlformats.org/drawingml/2006/main">
            <a:r>
              <a:t>      "S-AX14"</a:t>
            </a:r>
          </a:p>
          <a:p xmlns:a="http://schemas.openxmlformats.org/drawingml/2006/main">
            <a:r>
              <a:t>    ],</a:t>
            </a:r>
          </a:p>
          <a:p xmlns:a="http://schemas.openxmlformats.org/drawingml/2006/main">
            <a:r>
              <a:t>    "keywords": [</a:t>
            </a:r>
          </a:p>
          <a:p xmlns:a="http://schemas.openxmlformats.org/drawingml/2006/main">
            <a:r>
              <a:t>      "영상 기반 작업장 안전"</a:t>
            </a:r>
          </a:p>
          <a:p xmlns:a="http://schemas.openxmlformats.org/drawingml/2006/main">
            <a:r>
              <a:t>    ],</a:t>
            </a:r>
          </a:p>
          <a:p xmlns:a="http://schemas.openxmlformats.org/drawingml/2006/main">
            <a:r>
              <a:t>    "fact": "영상의 위험 행동·상황 식별을 안전 담당자의 사전 조치에 활용하는 실증",</a:t>
            </a:r>
          </a:p>
          <a:p xmlns:a="http://schemas.openxmlformats.org/drawingml/2006/main">
            <a:r>
              <a:t>    "limit": "PoC 범위 · 전 사업장 확산·재해 감소 실측과 구분",</a:t>
            </a:r>
          </a:p>
          <a:p xmlns:a="http://schemas.openxmlformats.org/drawingml/2006/main">
            <a:r>
              <a:t>    "flow": [</a:t>
            </a:r>
          </a:p>
          <a:p xmlns:a="http://schemas.openxmlformats.org/drawingml/2006/main">
            <a:r>
              <a:t>      "현장 영상",</a:t>
            </a:r>
          </a:p>
          <a:p xmlns:a="http://schemas.openxmlformats.org/drawingml/2006/main">
            <a:r>
              <a:t>      "위험 이벤트 탐지",</a:t>
            </a:r>
          </a:p>
          <a:p xmlns:a="http://schemas.openxmlformats.org/drawingml/2006/main">
            <a:r>
              <a:t>      "안전 담당 검토",</a:t>
            </a:r>
          </a:p>
          <a:p xmlns:a="http://schemas.openxmlformats.org/drawingml/2006/main">
            <a:r>
              <a:t>      "예방 조치"</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"탐지 결과에서 조치 완료까지의 책임 연결",</a:t>
            </a:r>
          </a:p>
          <a:p xmlns:a="http://schemas.openxmlformats.org/drawingml/2006/main">
            <a:r>
              <a:t>    "local": "검사·시험·시설 현장 위험 증거와 안전 직무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"현장 사건 사전·검토 큐·조치 이력",</a:t>
            </a:r>
          </a:p>
          <a:p xmlns:a="http://schemas.openxmlformats.org/drawingml/2006/main">
            <a:r>
              <a:t>    "test": "오탐·미탐·사람 가림·조치 누락 시나리오",</a:t>
            </a:r>
          </a:p>
          <a:p xmlns:a="http://schemas.openxmlformats.org/drawingml/2006/main">
            <a:r>
              <a:t>    "metric": "위험 확인시간 / 조치 이행률",</a:t>
            </a:r>
          </a:p>
          <a:p xmlns:a="http://schemas.openxmlformats.org/drawingml/2006/main">
            <a:r>
              <a:t>    "strategies": [</a:t>
            </a:r>
          </a:p>
          <a:p xmlns:a="http://schemas.openxmlformats.org/drawingml/2006/main">
            <a:r>
              <a:t>      "ST-03",</a:t>
            </a:r>
          </a:p>
          <a:p xmlns:a="http://schemas.openxmlformats.org/drawingml/2006/main">
            <a:r>
              <a:t>      "ST-11"</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"AX14",</a:t>
            </a:r>
          </a:p>
          <a:p xmlns:a="http://schemas.openxmlformats.org/drawingml/2006/main">
            <a:r>
              <a:t>    "canonicalId": "AX14",</a:t>
            </a:r>
          </a:p>
          <a:p xmlns:a="http://schemas.openxmlformats.org/drawingml/2006/main">
            <a:r>
              <a:t>    "purpose": "작업장 위험 상황의 조기 발견 지원",</a:t>
            </a:r>
          </a:p>
          <a:p xmlns:a="http://schemas.openxmlformats.org/drawingml/2006/main">
            <a:r>
              <a:t>    "users": "물류 현장·안전 담당자",</a:t>
            </a:r>
          </a:p>
          <a:p xmlns:a="http://schemas.openxmlformats.org/drawingml/2006/main">
            <a:r>
              <a:t>    "scope": [</a:t>
            </a:r>
          </a:p>
          <a:p xmlns:a="http://schemas.openxmlformats.org/drawingml/2006/main">
            <a:r>
              <a:t>      "영상 이벤트",</a:t>
            </a:r>
          </a:p>
          <a:p xmlns:a="http://schemas.openxmlformats.org/drawingml/2006/main">
            <a:r>
              <a:t>      "위험 분류",</a:t>
            </a:r>
          </a:p>
          <a:p xmlns:a="http://schemas.openxmlformats.org/drawingml/2006/main">
            <a:r>
              <a:t>      "개선 조치"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"물류 현장 영상",</a:t>
            </a:r>
          </a:p>
          <a:p xmlns:a="http://schemas.openxmlformats.org/drawingml/2006/main">
            <a:r>
              <a:t>        "detail": "구역·작업시간·관측 목적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"영상 이벤트 / 위험 분류 / 개선 조치",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"위험 행동 탐지",</a:t>
            </a:r>
          </a:p>
          <a:p xmlns:a="http://schemas.openxmlformats.org/drawingml/2006/main">
            <a:r>
              <a:t>        "detail": "위험 행동·근접 상황의 영상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"안전 담당자",</a:t>
            </a:r>
          </a:p>
          <a:p xmlns:a="http://schemas.openxmlformats.org/drawingml/2006/main">
            <a:r>
              <a:t>        "detail": "안전 담당자 확인 후 현장 개선 조치",</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"이벤트·조치 기록",</a:t>
            </a:r>
          </a:p>
          <a:p xmlns:a="http://schemas.openxmlformats.org/drawingml/2006/main">
            <a:r>
              <a:t>        "detail": "영상 접근범위·구역 지도·사건 이력 정리",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"오탐·누락·조치 완료와 재발 여부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"현장 영상",</a:t>
            </a:r>
          </a:p>
          <a:p xmlns:a="http://schemas.openxmlformats.org/drawingml/2006/main">
            <a:r>
              <a:t>        "input": "구역·작업시간·관측 목적 지정",</a:t>
            </a:r>
          </a:p>
          <a:p xmlns:a="http://schemas.openxmlformats.org/drawingml/2006/main">
            <a:r>
              <a:t>        "process": "영상 접근범위·구역 지도·사건 이력 정리",</a:t>
            </a:r>
          </a:p>
          <a:p xmlns:a="http://schemas.openxmlformats.org/drawingml/2006/main">
            <a:r>
              <a:t>        "output": "영상"</a:t>
            </a:r>
          </a:p>
          <a:p xmlns:a="http://schemas.openxmlformats.org/drawingml/2006/main">
            <a:r>
              <a:t>      },</a:t>
            </a:r>
          </a:p>
          <a:p xmlns:a="http://schemas.openxmlformats.org/drawingml/2006/main">
            <a:r>
              <a:t>      {</a:t>
            </a:r>
          </a:p>
          <a:p xmlns:a="http://schemas.openxmlformats.org/drawingml/2006/main">
            <a:r>
              <a:t>        "title": "위험 이벤트 탐지",</a:t>
            </a:r>
          </a:p>
          <a:p xmlns:a="http://schemas.openxmlformats.org/drawingml/2006/main">
            <a:r>
              <a:t>        "input": "영상",</a:t>
            </a:r>
          </a:p>
          <a:p xmlns:a="http://schemas.openxmlformats.org/drawingml/2006/main">
            <a:r>
              <a:t>        "process": "위험 행동·근접 상황의 영상 분석",</a:t>
            </a:r>
          </a:p>
          <a:p xmlns:a="http://schemas.openxmlformats.org/drawingml/2006/main">
            <a:r>
              <a:t>        "output": "위험 후보"</a:t>
            </a:r>
          </a:p>
          <a:p xmlns:a="http://schemas.openxmlformats.org/drawingml/2006/main">
            <a:r>
              <a:t>      },</a:t>
            </a:r>
          </a:p>
          <a:p xmlns:a="http://schemas.openxmlformats.org/drawingml/2006/main">
            <a:r>
              <a:t>      {</a:t>
            </a:r>
          </a:p>
          <a:p xmlns:a="http://schemas.openxmlformats.org/drawingml/2006/main">
            <a:r>
              <a:t>        "title": "안전 담당 검토",</a:t>
            </a:r>
          </a:p>
          <a:p xmlns:a="http://schemas.openxmlformats.org/drawingml/2006/main">
            <a:r>
              <a:t>        "input": "위험 후보",</a:t>
            </a:r>
          </a:p>
          <a:p xmlns:a="http://schemas.openxmlformats.org/drawingml/2006/main">
            <a:r>
              <a:t>        "process": "오경보·중요 미탐과 조치 이행 측정",</a:t>
            </a:r>
          </a:p>
          <a:p xmlns:a="http://schemas.openxmlformats.org/drawingml/2006/main">
            <a:r>
              <a:t>        "output": "검토 이벤트"</a:t>
            </a:r>
          </a:p>
          <a:p xmlns:a="http://schemas.openxmlformats.org/drawingml/2006/main">
            <a:r>
              <a:t>      },</a:t>
            </a:r>
          </a:p>
          <a:p xmlns:a="http://schemas.openxmlformats.org/drawingml/2006/main">
            <a:r>
              <a:t>      {</a:t>
            </a:r>
          </a:p>
          <a:p xmlns:a="http://schemas.openxmlformats.org/drawingml/2006/main">
            <a:r>
              <a:t>        "title": "예방 조치",</a:t>
            </a:r>
          </a:p>
          <a:p xmlns:a="http://schemas.openxmlformats.org/drawingml/2006/main">
            <a:r>
              <a:t>        "input": "검토 이벤트",</a:t>
            </a:r>
          </a:p>
          <a:p xmlns:a="http://schemas.openxmlformats.org/drawingml/2006/main">
            <a:r>
              <a:t>        "process": "안전 담당자 확인 후 현장 개선 조치",</a:t>
            </a:r>
          </a:p>
          <a:p xmlns:a="http://schemas.openxmlformats.org/drawingml/2006/main">
            <a:r>
              <a:t>        "output": "예방 조치"</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"영상에서 위험 상황을 발견하고 담당자가 조치 등록",</a:t>
            </a:r>
          </a:p>
          <a:p xmlns:a="http://schemas.openxmlformats.org/drawingml/2006/main">
            <a:r>
              <a:t>      "exception": "가림·조명 변화·작업 동선 변경·비위험 행동",</a:t>
            </a:r>
          </a:p>
          <a:p xmlns:a="http://schemas.openxmlformats.org/drawingml/2006/main">
            <a:r>
              <a:t>      "evidence": "사건 표본별 오탐·미탐과 확인·조치 완료 이력",</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"물류 현장·안전 담당자",</a:t>
            </a:r>
          </a:p>
          <a:p xmlns:a="http://schemas.openxmlformats.org/drawingml/2006/main">
            <a:r>
              <a:t>          "processing": "구역·작업시간·관측 목적 지정",</a:t>
            </a:r>
          </a:p>
          <a:p xmlns:a="http://schemas.openxmlformats.org/drawingml/2006/main">
            <a:r>
              <a:t>          "output": "영상"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"이벤트·조치 기록",</a:t>
            </a:r>
          </a:p>
          <a:p xmlns:a="http://schemas.openxmlformats.org/drawingml/2006/main">
            <a:r>
              <a:t>          "processing": "영상 접근범위·구역 지도·사건 이력 정리",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"영상",</a:t>
            </a:r>
          </a:p>
          <a:p xmlns:a="http://schemas.openxmlformats.org/drawingml/2006/main">
            <a:r>
              <a:t>          "processing": "위험 행동·근접 상황의 영상 분석",</a:t>
            </a:r>
          </a:p>
          <a:p xmlns:a="http://schemas.openxmlformats.org/drawingml/2006/main">
            <a:r>
              <a:t>          "output": "검토 이벤트"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"검토 이벤트",</a:t>
            </a:r>
          </a:p>
          <a:p xmlns:a="http://schemas.openxmlformats.org/drawingml/2006/main">
            <a:r>
              <a:t>          "processing": "안전 담당자 확인 후 현장 개선 조치",</a:t>
            </a:r>
          </a:p>
          <a:p xmlns:a="http://schemas.openxmlformats.org/drawingml/2006/main">
            <a:r>
              <a:t>          "output": "예방 조치"</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"오탐·누락·조치 완료와 재발 여부 추적",</a:t>
            </a:r>
          </a:p>
          <a:p xmlns:a="http://schemas.openxmlformats.org/drawingml/2006/main">
            <a:r>
              <a:t>          "output": "사건 표본별 오탐·미탐과 확인·조치 완료 이력"</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"오탐·누락·조치 완료와 재발 여부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"S-AX14",</a:t>
            </a:r>
          </a:p>
          <a:p xmlns:a="http://schemas.openxmlformats.org/drawingml/2006/main">
            <a:r>
              <a:t>        "title": "DHL Protex AI 안전 실증 · 사업자 기술 실증 소개 / 게시일 미표시",</a:t>
            </a:r>
          </a:p>
          <a:p xmlns:a="http://schemas.openxmlformats.org/drawingml/2006/main">
            <a:r>
              <a:t>        "url": "https://www.dhlfreight.com/nl-en/microsites/csi/computer-vision/logistics-use-cases/people-health-and-safety.html",</a:t>
            </a:r>
          </a:p>
          <a:p xmlns:a="http://schemas.openxmlformats.org/drawingml/2006/main">
            <a:r>
              <a:t>        "published": "PoC 소개",</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"탐지 결과에서 조치 완료까지의 책임 연결",</a:t>
            </a:r>
          </a:p>
          <a:p xmlns:a="http://schemas.openxmlformats.org/drawingml/2006/main">
            <a:r>
              <a:t>    "local": "검사·시험·시설 현장 위험 증거와 안전 직무 연결",</a:t>
            </a:r>
          </a:p>
          <a:p xmlns:a="http://schemas.openxmlformats.org/drawingml/2006/main">
            <a:r>
              <a:t>    "sourceDetail": null,</a:t>
            </a:r>
          </a:p>
          <a:p xmlns:a="http://schemas.openxmlformats.org/drawingml/2006/main">
            <a:r>
              <a:t>    "narrative": [</a:t>
            </a:r>
          </a:p>
          <a:p xmlns:a="http://schemas.openxmlformats.org/drawingml/2006/main">
            <a:r>
              <a:t>      "물류 작업장의 영상에서 위험 행동·근접 상황을 선별해 안전 담당자의 예방 조치를 돕는 사례. 탐지 이후의 검토·조치 연결이 현장 적용의 핵심.",</a:t>
            </a:r>
          </a:p>
          <a:p xmlns:a="http://schemas.openxmlformats.org/drawingml/2006/main">
            <a:r>
              <a:t>      "구역·작업시간·영상 접근범위를 지정하고 위험 후보를 사건 단위로 저장하는 구조의 재구성. 담당자가 현장 상황을 확인해 개선 조치를 기록하고 재발 여부를 검토하는 흐름.",</a:t>
            </a:r>
          </a:p>
          <a:p xmlns:a="http://schemas.openxmlformats.org/drawingml/2006/main">
            <a:r>
              <a:t>      "TS 시설·사업장 적용에서 카메라 설치만으로 안전 효과를 주장하기 어려운 유형. 구역·작업별 오경보와 중요 미탐, 경보 확인·조치 시간, 조치 후 재발을 분리해 평가할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"현장 영상 접점",</a:t>
            </a:r>
          </a:p>
          <a:p xmlns:a="http://schemas.openxmlformats.org/drawingml/2006/main">
            <a:r>
              <a:t>          "layer": "이용 접점",</a:t>
            </a:r>
          </a:p>
          <a:p xmlns:a="http://schemas.openxmlformats.org/drawingml/2006/main">
            <a:r>
              <a:t>          "detail": "물류 현장·안전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"구역·작업 맥락",</a:t>
            </a:r>
          </a:p>
          <a:p xmlns:a="http://schemas.openxmlformats.org/drawingml/2006/main">
            <a:r>
              <a:t>          "layer": "업무 문맥",</a:t>
            </a:r>
          </a:p>
          <a:p xmlns:a="http://schemas.openxmlformats.org/drawingml/2006/main">
            <a:r>
              <a:t>          "detail": "구역·작업시간·관측 목적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"영상·이력 조회",</a:t>
            </a:r>
          </a:p>
          <a:p xmlns:a="http://schemas.openxmlformats.org/drawingml/2006/main">
            <a:r>
              <a:t>          "layer": "자료 조회",</a:t>
            </a:r>
          </a:p>
          <a:p xmlns:a="http://schemas.openxmlformats.org/drawingml/2006/main">
            <a:r>
              <a:t>          "detail": "영상",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"위험 행동 탐지",</a:t>
            </a:r>
          </a:p>
          <a:p xmlns:a="http://schemas.openxmlformats.org/drawingml/2006/main">
            <a:r>
              <a:t>          "layer": "핵심 처리",</a:t>
            </a:r>
          </a:p>
          <a:p xmlns:a="http://schemas.openxmlformats.org/drawingml/2006/main">
            <a:r>
              <a:t>          "detail": "위험 행동·근접 상황의 영상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"오경보·미탐 검사",</a:t>
            </a:r>
          </a:p>
          <a:p xmlns:a="http://schemas.openxmlformats.org/drawingml/2006/main">
            <a:r>
              <a:t>          "layer": "결과 검증",</a:t>
            </a:r>
          </a:p>
          <a:p xmlns:a="http://schemas.openxmlformats.org/drawingml/2006/main">
            <a:r>
              <a:t>          "detail": "오경보·중요 미탐과 조치 이행 측정",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확인",</a:t>
            </a:r>
          </a:p>
          <a:p xmlns:a="http://schemas.openxmlformats.org/drawingml/2006/main">
            <a:r>
              <a:t>          "layer": "사람 확인",</a:t>
            </a:r>
          </a:p>
          <a:p xmlns:a="http://schemas.openxmlformats.org/drawingml/2006/main">
            <a:r>
              <a:t>          "detail": "영상에서 위험 상황을 발견하고 담당자가 조치 등록",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"개선 조치 인계",</a:t>
            </a:r>
          </a:p>
          <a:p xmlns:a="http://schemas.openxmlformats.org/drawingml/2006/main">
            <a:r>
              <a:t>          "layer": "업무 연결",</a:t>
            </a:r>
          </a:p>
          <a:p xmlns:a="http://schemas.openxmlformats.org/drawingml/2006/main">
            <a:r>
              <a:t>          "detail": "안전 담당자 확인 후 현장 개선 조치",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"재발·조치 추적",</a:t>
            </a:r>
          </a:p>
          <a:p xmlns:a="http://schemas.openxmlformats.org/drawingml/2006/main">
            <a:r>
              <a:t>          "layer": "운영 관측",</a:t>
            </a:r>
          </a:p>
          <a:p xmlns:a="http://schemas.openxmlformats.org/drawingml/2006/main">
            <a:r>
              <a:t>          "detail": "오탐·누락·조치 완료와 재발 여부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"영상·구역 지도",</a:t>
            </a:r>
          </a:p>
          <a:p xmlns:a="http://schemas.openxmlformats.org/drawingml/2006/main">
            <a:r>
              <a:t>          "layer": "데이터 원천",</a:t>
            </a:r>
          </a:p>
          <a:p xmlns:a="http://schemas.openxmlformats.org/drawingml/2006/main">
            <a:r>
              <a:t>          "detail": "이벤트·조치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"사건·위치 정합화",</a:t>
            </a:r>
          </a:p>
          <a:p xmlns:a="http://schemas.openxmlformats.org/drawingml/2006/main">
            <a:r>
              <a:t>          "layer": "준비·갱신",</a:t>
            </a:r>
          </a:p>
          <a:p xmlns:a="http://schemas.openxmlformats.org/drawingml/2006/main">
            <a:r>
              <a:t>          "detail": "영상 접근범위·구역 지도·사건 이력 정리",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"위험·조치 이력",</a:t>
            </a:r>
          </a:p>
          <a:p xmlns:a="http://schemas.openxmlformats.org/drawingml/2006/main">
            <a:r>
              <a:t>          "layer": "상태·지식 저장",</a:t>
            </a:r>
          </a:p>
          <a:p xmlns:a="http://schemas.openxmlformats.org/drawingml/2006/main">
            <a:r>
              <a:t>          "detail": "사건 표본별 오탐·미탐과 확인·조치 완료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"영상 열람정책",</a:t>
            </a:r>
          </a:p>
          <a:p xmlns:a="http://schemas.openxmlformats.org/drawingml/2006/main">
            <a:r>
              <a:t>          "layer": "권한·정책",</a:t>
            </a:r>
          </a:p>
          <a:p xmlns:a="http://schemas.openxmlformats.org/drawingml/2006/main">
            <a:r>
              <a:t>          "detail": "가림·조명 변화·작업 동선 변경·비위험 행동",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"현장 영상 → 위험 이벤트 탐지 → 안전 담당 검토 → 예방 조치"</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"이벤트·조치 기록",</a:t>
            </a:r>
          </a:p>
          <a:p xmlns:a="http://schemas.openxmlformats.org/drawingml/2006/main">
            <a:r>
              <a:t>          "check": "영상 접근범위·구역 지도·사건 이력 정리"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"영상 접근범위·구역 지도·사건 이력 정리"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"검토 이벤트",</a:t>
            </a:r>
          </a:p>
          <a:p xmlns:a="http://schemas.openxmlformats.org/drawingml/2006/main">
            <a:r>
              <a:t>          "check": "사건 표본별 오탐·미탐과 확인·조치 완료 이력"</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"영상 열람정책",</a:t>
            </a:r>
          </a:p>
          <a:p xmlns:a="http://schemas.openxmlformats.org/drawingml/2006/main">
            <a:r>
              <a:t>          "check": "오경보·중요 미탐과 조치 이행 측정"</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"예방 조치",</a:t>
            </a:r>
          </a:p>
          <a:p xmlns:a="http://schemas.openxmlformats.org/drawingml/2006/main">
            <a:r>
              <a:t>          "check": "사건 표본별 오탐·미탐과 확인·조치 완료 이력"</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"오탐·누락·조치 완료와 재발 여부 추적",</a:t>
            </a:r>
          </a:p>
          <a:p xmlns:a="http://schemas.openxmlformats.org/drawingml/2006/main">
            <a:r>
              <a:t>          "check": "오탐·누락·조치 완료와 재발 여부 추적"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"작업장 위험 상황의 조기 발견 지원 / 영상 이벤트·위험 분류·개선 조치",</a:t>
            </a:r>
          </a:p>
          <a:p xmlns:a="http://schemas.openxmlformats.org/drawingml/2006/main">
            <a:r>
              <a:t>        "extension": "검사·시험·시설 현장 위험 증거와 안전 직무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"가림·조명 변화·작업 동선 변경·비위험 행동",</a:t>
            </a:r>
          </a:p>
          <a:p xmlns:a="http://schemas.openxmlformats.org/drawingml/2006/main">
            <a:r>
              <a:t>        "hold": "오경보·중요 미탐과 조치 이행 측정",</a:t>
            </a:r>
          </a:p>
          <a:p xmlns:a="http://schemas.openxmlformats.org/drawingml/2006/main">
            <a:r>
              <a:t>        "recovery": "오탐·누락·조치 완료와 재발 여부 추적",</a:t>
            </a:r>
          </a:p>
          <a:p xmlns:a="http://schemas.openxmlformats.org/drawingml/2006/main">
            <a:r>
              <a:t>        "evidence": "사건 표본별 오탐·미탐과 확인·조치 완료 이력"</a:t>
            </a:r>
          </a:p>
          <a:p xmlns:a="http://schemas.openxmlformats.org/drawingml/2006/main">
            <a:r>
              <a:t>      },</a:t>
            </a:r>
          </a:p>
          <a:p xmlns:a="http://schemas.openxmlformats.org/drawingml/2006/main">
            <a:r>
              <a:t>      "data": {</a:t>
            </a:r>
          </a:p>
          <a:p xmlns:a="http://schemas.openxmlformats.org/drawingml/2006/main">
            <a:r>
              <a:t>        "source": "이벤트·조치 기록",</a:t>
            </a:r>
          </a:p>
          <a:p xmlns:a="http://schemas.openxmlformats.org/drawingml/2006/main">
            <a:r>
              <a:t>        "prepare": "영상 접근범위·구역 지도·사건 이력 정리",</a:t>
            </a:r>
          </a:p>
          <a:p xmlns:a="http://schemas.openxmlformats.org/drawingml/2006/main">
            <a:r>
              <a:t>        "output": "영상",</a:t>
            </a:r>
          </a:p>
          <a:p xmlns:a="http://schemas.openxmlformats.org/drawingml/2006/main">
            <a:r>
              <a:t>        "refresh": "오탐·누락·조치 완료와 재발 여부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"AX14",</a:t>
            </a:r>
          </a:p>
          <a:p xmlns:a="http://schemas.openxmlformats.org/drawingml/2006/main">
            <a:r>
              <a:t>    "success": [</a:t>
            </a:r>
          </a:p>
          <a:p xmlns:a="http://schemas.openxmlformats.org/drawingml/2006/main">
            <a:r>
              <a:t>      "현장 영상에서 위험 이벤트 선별",</a:t>
            </a:r>
          </a:p>
          <a:p xmlns:a="http://schemas.openxmlformats.org/drawingml/2006/main">
            <a:r>
              <a:t>      "안전 담당자의 예방 조치 연결"</a:t>
            </a:r>
          </a:p>
          <a:p xmlns:a="http://schemas.openxmlformats.org/drawingml/2006/main">
            <a:r>
              <a:t>    ],</a:t>
            </a:r>
          </a:p>
          <a:p xmlns:a="http://schemas.openxmlformats.org/drawingml/2006/main">
            <a:r>
              <a:t>    "risks": [</a:t>
            </a:r>
          </a:p>
          <a:p xmlns:a="http://schemas.openxmlformats.org/drawingml/2006/main">
            <a:r>
              <a:t>      "카메라 위치·작업 유형별 편차",</a:t>
            </a:r>
          </a:p>
          <a:p xmlns:a="http://schemas.openxmlformats.org/drawingml/2006/main">
            <a:r>
              <a:t>      "실증 탐지와 실제 재해 감소의 차이"</a:t>
            </a:r>
          </a:p>
          <a:p xmlns:a="http://schemas.openxmlformats.org/drawingml/2006/main">
            <a:r>
              <a:t>    ],</a:t>
            </a:r>
          </a:p>
          <a:p xmlns:a="http://schemas.openxmlformats.org/drawingml/2006/main">
            <a:r>
              <a:t>    "architecture": [</a:t>
            </a:r>
          </a:p>
          <a:p xmlns:a="http://schemas.openxmlformats.org/drawingml/2006/main">
            <a:r>
              <a:t>      "물류 현장 영상",</a:t>
            </a:r>
          </a:p>
          <a:p xmlns:a="http://schemas.openxmlformats.org/drawingml/2006/main">
            <a:r>
              <a:t>      "위험 행동 탐지",</a:t>
            </a:r>
          </a:p>
          <a:p xmlns:a="http://schemas.openxmlformats.org/drawingml/2006/main">
            <a:r>
              <a:t>      "이벤트·조치 기록",</a:t>
            </a:r>
          </a:p>
          <a:p xmlns:a="http://schemas.openxmlformats.org/drawingml/2006/main">
            <a:r>
              <a:t>      "안전 담당자"</a:t>
            </a:r>
          </a:p>
          <a:p xmlns:a="http://schemas.openxmlformats.org/drawingml/2006/main">
            <a:r>
              <a:t>    ],</a:t>
            </a:r>
          </a:p>
          <a:p xmlns:a="http://schemas.openxmlformats.org/drawingml/2006/main">
            <a:r>
              <a:t>    "transfers": [</a:t>
            </a:r>
          </a:p>
          <a:p xmlns:a="http://schemas.openxmlformats.org/drawingml/2006/main">
            <a:r>
              <a:t>      "영상",</a:t>
            </a:r>
          </a:p>
          <a:p xmlns:a="http://schemas.openxmlformats.org/drawingml/2006/main">
            <a:r>
              <a:t>      "위험 후보",</a:t>
            </a:r>
          </a:p>
          <a:p xmlns:a="http://schemas.openxmlformats.org/drawingml/2006/main">
            <a:r>
              <a:t>      "검토 이벤트",</a:t>
            </a:r>
          </a:p>
          <a:p xmlns:a="http://schemas.openxmlformats.org/drawingml/2006/main">
            <a:r>
              <a:t>      "예방 조치"</a:t>
            </a:r>
          </a:p>
          <a:p xmlns:a="http://schemas.openxmlformats.org/drawingml/2006/main">
            <a:r>
              <a:t>    ],</a:t>
            </a:r>
          </a:p>
          <a:p xmlns:a="http://schemas.openxmlformats.org/drawingml/2006/main">
            <a:r>
              <a:t>    "control": "오경보·중요 미탐과 조치 이행 측정",</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DHL Protex AI 안전 실증 · 사업자 기술 실증 소개 / 게시일 미표시 https://www.dhlfreight.com/nl-en/microsites/csi/computer-vision/logistics-use-cases/people-health-and-safety.html</a:t>
            </a:r>
          </a:p>
          <a:p xmlns:a="http://schemas.openxmlformats.org/drawingml/2006/main">
            <a:r>
              <a:t>홈페이지 https://heen1987-ops.github.io/TS-business-Plan-001/index.html?view=casebook&amp;case=AX14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"AX15",</a:t>
            </a:r>
          </a:p>
          <a:p xmlns:a="http://schemas.openxmlformats.org/drawingml/2006/main">
            <a:r>
              <a:t>    "title": "국세청 AI 전화상담",</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"음성 기반 민원 안내",</a:t>
            </a:r>
          </a:p>
          <a:p xmlns:a="http://schemas.openxmlformats.org/drawingml/2006/main">
            <a:r>
              <a:t>    "period": "2024 시범 / 2024-12-30 전국 확대 시행",</a:t>
            </a:r>
          </a:p>
          <a:p xmlns:a="http://schemas.openxmlformats.org/drawingml/2006/main">
            <a:r>
              <a:t>    "sources": [</a:t>
            </a:r>
          </a:p>
          <a:p xmlns:a="http://schemas.openxmlformats.org/drawingml/2006/main">
            <a:r>
              <a:t>      "S-AX15"</a:t>
            </a:r>
          </a:p>
          <a:p xmlns:a="http://schemas.openxmlformats.org/drawingml/2006/main">
            <a:r>
              <a:t>    ],</a:t>
            </a:r>
          </a:p>
          <a:p xmlns:a="http://schemas.openxmlformats.org/drawingml/2006/main">
            <a:r>
              <a:t>    "keywords": [</a:t>
            </a:r>
          </a:p>
          <a:p xmlns:a="http://schemas.openxmlformats.org/drawingml/2006/main">
            <a:r>
              <a:t>      "음성 기반 민원 안내"</a:t>
            </a:r>
          </a:p>
          <a:p xmlns:a="http://schemas.openxmlformats.org/drawingml/2006/main">
            <a:r>
              <a:t>    ],</a:t>
            </a:r>
          </a:p>
          <a:p xmlns:a="http://schemas.openxmlformats.org/drawingml/2006/main">
            <a:r>
              <a:t>    "fact": "2024년 11월 14개 세무서 시범 후 12월 30일 전국 133개 세무서 대표전화에 확대 시행; 상담 중 직원 연결 가능",</a:t>
            </a:r>
          </a:p>
          <a:p xmlns:a="http://schemas.openxmlformats.org/drawingml/2006/main">
            <a:r>
              <a:t>    "limit": "대표전화 지정 분야의 서비스 확대 확인 · 대기시간·정확도 개선 효과는 미측정 · 개인별 과세 판단 자동화로 해석 금지",</a:t>
            </a:r>
          </a:p>
          <a:p xmlns:a="http://schemas.openxmlformats.org/drawingml/2006/main">
            <a:r>
              <a:t>    "flow": [</a:t>
            </a:r>
          </a:p>
          <a:p xmlns:a="http://schemas.openxmlformats.org/drawingml/2006/main">
            <a:r>
              <a:t>      "전화 발화",</a:t>
            </a:r>
          </a:p>
          <a:p xmlns:a="http://schemas.openxmlformats.org/drawingml/2006/main">
            <a:r>
              <a:t>      "질의 의도 분류",</a:t>
            </a:r>
          </a:p>
          <a:p xmlns:a="http://schemas.openxmlformats.org/drawingml/2006/main">
            <a:r>
              <a:t>      "세무 안내",</a:t>
            </a:r>
          </a:p>
          <a:p xmlns:a="http://schemas.openxmlformats.org/drawingml/2006/main">
            <a:r>
              <a:t>      "추가 상담 연결"</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"음성 접점과 상담 전환의 연속성",</a:t>
            </a:r>
          </a:p>
          <a:p xmlns:a="http://schemas.openxmlformats.org/drawingml/2006/main">
            <a:r>
              <a:t>    "local": "TS 기존 민원 메뉴에 음성·텍스트 진입점 추가",</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"발화 정리·확인·소관 서비스·상담 인계",</a:t>
            </a:r>
          </a:p>
          <a:p xmlns:a="http://schemas.openxmlformats.org/drawingml/2006/main">
            <a:r>
              <a:t>    "test": "고령·소음·중도 정정·상담 전환 과업 시험",</a:t>
            </a:r>
          </a:p>
          <a:p xmlns:a="http://schemas.openxmlformats.org/drawingml/2006/main">
            <a:r>
              <a:t>    "metric": "안내 도달률 / 포기율 / 재문의율",</a:t>
            </a:r>
          </a:p>
          <a:p xmlns:a="http://schemas.openxmlformats.org/drawingml/2006/main">
            <a:r>
              <a:t>    "strategies": [</a:t>
            </a:r>
          </a:p>
          <a:p xmlns:a="http://schemas.openxmlformats.org/drawingml/2006/main">
            <a:r>
              <a:t>      "ST-08",</a:t>
            </a:r>
          </a:p>
          <a:p xmlns:a="http://schemas.openxmlformats.org/drawingml/2006/main">
            <a:r>
              <a:t>      "ST-12"</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"AX15",</a:t>
            </a:r>
          </a:p>
          <a:p xmlns:a="http://schemas.openxmlformats.org/drawingml/2006/main">
            <a:r>
              <a:t>    "canonicalId": "AX15",</a:t>
            </a:r>
          </a:p>
          <a:p xmlns:a="http://schemas.openxmlformats.org/drawingml/2006/main">
            <a:r>
              <a:t>    "purpose": "반복 세무 문의의 음성 상담 지원",</a:t>
            </a:r>
          </a:p>
          <a:p xmlns:a="http://schemas.openxmlformats.org/drawingml/2006/main">
            <a:r>
              <a:t>    "users": "납세자·상담원",</a:t>
            </a:r>
          </a:p>
          <a:p xmlns:a="http://schemas.openxmlformats.org/drawingml/2006/main">
            <a:r>
              <a:t>    "scope": [</a:t>
            </a:r>
          </a:p>
          <a:p xmlns:a="http://schemas.openxmlformats.org/drawingml/2006/main">
            <a:r>
              <a:t>      "전화 응대",</a:t>
            </a:r>
          </a:p>
          <a:p xmlns:a="http://schemas.openxmlformats.org/drawingml/2006/main">
            <a:r>
              <a:t>      "세무 안내",</a:t>
            </a:r>
          </a:p>
          <a:p xmlns:a="http://schemas.openxmlformats.org/drawingml/2006/main">
            <a:r>
              <a:t>      "상담 전환"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"전화 상담",</a:t>
            </a:r>
          </a:p>
          <a:p xmlns:a="http://schemas.openxmlformats.org/drawingml/2006/main">
            <a:r>
              <a:t>        "detail": "발화에서 세목·기간·문의 목적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"전화 응대 / 세무 안내 / 상담 전환",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"음성·의도 처리",</a:t>
            </a:r>
          </a:p>
          <a:p xmlns:a="http://schemas.openxmlformats.org/drawingml/2006/main">
            <a:r>
              <a:t>        "detail": "질의에 맞춘 상담 지식 탐색·음성 안내",</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"이용자·상담원",</a:t>
            </a:r>
          </a:p>
          <a:p xmlns:a="http://schemas.openxmlformats.org/drawingml/2006/main">
            <a:r>
              <a:t>        "detail": "해결 곤란 질문의 상담원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"세무 안내 지식",</a:t>
            </a:r>
          </a:p>
          <a:p xmlns:a="http://schemas.openxmlformats.org/drawingml/2006/main">
            <a:r>
              <a:t>        "detail": "승인 상담자료·세목·적용연도별 지식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"상담 이관·반복 문의·안내 오류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"전화 발화",</a:t>
            </a:r>
          </a:p>
          <a:p xmlns:a="http://schemas.openxmlformats.org/drawingml/2006/main">
            <a:r>
              <a:t>        "input": "발화에서 세목·기간·문의 목적 확인",</a:t>
            </a:r>
          </a:p>
          <a:p xmlns:a="http://schemas.openxmlformats.org/drawingml/2006/main">
            <a:r>
              <a:t>        "process": "승인 상담자료·세목·적용연도별 지식 관리",</a:t>
            </a:r>
          </a:p>
          <a:p xmlns:a="http://schemas.openxmlformats.org/drawingml/2006/main">
            <a:r>
              <a:t>        "output": "전화 발화"</a:t>
            </a:r>
          </a:p>
          <a:p xmlns:a="http://schemas.openxmlformats.org/drawingml/2006/main">
            <a:r>
              <a:t>      },</a:t>
            </a:r>
          </a:p>
          <a:p xmlns:a="http://schemas.openxmlformats.org/drawingml/2006/main">
            <a:r>
              <a:t>      {</a:t>
            </a:r>
          </a:p>
          <a:p xmlns:a="http://schemas.openxmlformats.org/drawingml/2006/main">
            <a:r>
              <a:t>        "title": "질의 의도 분류",</a:t>
            </a:r>
          </a:p>
          <a:p xmlns:a="http://schemas.openxmlformats.org/drawingml/2006/main">
            <a:r>
              <a:t>        "input": "전화 발화",</a:t>
            </a:r>
          </a:p>
          <a:p xmlns:a="http://schemas.openxmlformats.org/drawingml/2006/main">
            <a:r>
              <a:t>        "process": "질의에 맞춘 상담 지식 탐색·음성 안내",</a:t>
            </a:r>
          </a:p>
          <a:p xmlns:a="http://schemas.openxmlformats.org/drawingml/2006/main">
            <a:r>
              <a:t>        "output": "질의 의도"</a:t>
            </a:r>
          </a:p>
          <a:p xmlns:a="http://schemas.openxmlformats.org/drawingml/2006/main">
            <a:r>
              <a:t>      },</a:t>
            </a:r>
          </a:p>
          <a:p xmlns:a="http://schemas.openxmlformats.org/drawingml/2006/main">
            <a:r>
              <a:t>      {</a:t>
            </a:r>
          </a:p>
          <a:p xmlns:a="http://schemas.openxmlformats.org/drawingml/2006/main">
            <a:r>
              <a:t>        "title": "세무 안내",</a:t>
            </a:r>
          </a:p>
          <a:p xmlns:a="http://schemas.openxmlformats.org/drawingml/2006/main">
            <a:r>
              <a:t>        "input": "질의 의도",</a:t>
            </a:r>
          </a:p>
          <a:p xmlns:a="http://schemas.openxmlformats.org/drawingml/2006/main">
            <a:r>
              <a:t>        "process": "핵심 발화 확인·전문 상담 전환",</a:t>
            </a:r>
          </a:p>
          <a:p xmlns:a="http://schemas.openxmlformats.org/drawingml/2006/main">
            <a:r>
              <a:t>        "output": "세무 안내"</a:t>
            </a:r>
          </a:p>
          <a:p xmlns:a="http://schemas.openxmlformats.org/drawingml/2006/main">
            <a:r>
              <a:t>      },</a:t>
            </a:r>
          </a:p>
          <a:p xmlns:a="http://schemas.openxmlformats.org/drawingml/2006/main">
            <a:r>
              <a:t>      {</a:t>
            </a:r>
          </a:p>
          <a:p xmlns:a="http://schemas.openxmlformats.org/drawingml/2006/main">
            <a:r>
              <a:t>        "title": "추가 상담 연결",</a:t>
            </a:r>
          </a:p>
          <a:p xmlns:a="http://schemas.openxmlformats.org/drawingml/2006/main">
            <a:r>
              <a:t>        "input": "세무 안내",</a:t>
            </a:r>
          </a:p>
          <a:p xmlns:a="http://schemas.openxmlformats.org/drawingml/2006/main">
            <a:r>
              <a:t>        "process": "해결 곤란 질문의 상담원 연결",</a:t>
            </a:r>
          </a:p>
          <a:p xmlns:a="http://schemas.openxmlformats.org/drawingml/2006/main">
            <a:r>
              <a:t>        "output": "후속 상담"</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"납세자의 세목·귀속연도를 확인한 뒤 안내·상담 전환",</a:t>
            </a:r>
          </a:p>
          <a:p xmlns:a="http://schemas.openxmlformats.org/drawingml/2006/main">
            <a:r>
              <a:t>      "exception": "발화 인식 실패·다른 귀속연도·개인별 과세 판단 요청",</a:t>
            </a:r>
          </a:p>
          <a:p xmlns:a="http://schemas.openxmlformats.org/drawingml/2006/main">
            <a:r>
              <a:t>      "evidence": "필수 항목 인식표와 상담원 인계·해결 여부",</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"납세자·상담원",</a:t>
            </a:r>
          </a:p>
          <a:p xmlns:a="http://schemas.openxmlformats.org/drawingml/2006/main">
            <a:r>
              <a:t>          "processing": "발화에서 세목·기간·문의 목적 확인",</a:t>
            </a:r>
          </a:p>
          <a:p xmlns:a="http://schemas.openxmlformats.org/drawingml/2006/main">
            <a:r>
              <a:t>          "output": "전화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"세무 안내 지식",</a:t>
            </a:r>
          </a:p>
          <a:p xmlns:a="http://schemas.openxmlformats.org/drawingml/2006/main">
            <a:r>
              <a:t>          "processing": "승인 상담자료·세목·적용연도별 지식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"전화 발화",</a:t>
            </a:r>
          </a:p>
          <a:p xmlns:a="http://schemas.openxmlformats.org/drawingml/2006/main">
            <a:r>
              <a:t>          "processing": "질의에 맞춘 상담 지식 탐색·음성 안내",</a:t>
            </a:r>
          </a:p>
          <a:p xmlns:a="http://schemas.openxmlformats.org/drawingml/2006/main">
            <a:r>
              <a:t>          "output": "세무 안내"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"세무 안내",</a:t>
            </a:r>
          </a:p>
          <a:p xmlns:a="http://schemas.openxmlformats.org/drawingml/2006/main">
            <a:r>
              <a:t>          "processing": "해결 곤란 질문의 상담원 연결",</a:t>
            </a:r>
          </a:p>
          <a:p xmlns:a="http://schemas.openxmlformats.org/drawingml/2006/main">
            <a:r>
              <a:t>          "output": "후속 상담"</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"상담 이관·반복 문의·안내 오류 점검",</a:t>
            </a:r>
          </a:p>
          <a:p xmlns:a="http://schemas.openxmlformats.org/drawingml/2006/main">
            <a:r>
              <a:t>          "output": "필수 항목 인식표와 상담원 인계·해결 여부"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"상담 이관·반복 문의·안내 오류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"S-AX15",</a:t>
            </a:r>
          </a:p>
          <a:p xmlns:a="http://schemas.openxmlformats.org/drawingml/2006/main">
            <a:r>
              <a:t>        "title": "국세청 AI 전화상담 · 국세청 전국 확대 공지 / 2024-12-30",</a:t>
            </a:r>
          </a:p>
          <a:p xmlns:a="http://schemas.openxmlformats.org/drawingml/2006/main">
            <a:r>
              <a:t>        "url": "https://www.nts.go.kr/nts/na/ntt/selectNttInfo.do?bbsId=1011&amp;mi=2207&amp;nttSn=1339206",</a:t>
            </a:r>
          </a:p>
          <a:p xmlns:a="http://schemas.openxmlformats.org/drawingml/2006/main">
            <a:r>
              <a:t>        "published": "2024 시범 / 2024-12-30 전국 확대 시행",</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"음성 접점과 상담 전환의 연속성",</a:t>
            </a:r>
          </a:p>
          <a:p xmlns:a="http://schemas.openxmlformats.org/drawingml/2006/main">
            <a:r>
              <a:t>    "local": "TS 기존 민원 메뉴에 음성·텍스트 진입점 추가",</a:t>
            </a:r>
          </a:p>
          <a:p xmlns:a="http://schemas.openxmlformats.org/drawingml/2006/main">
            <a:r>
              <a:t>    "sourceDetail": null,</a:t>
            </a:r>
          </a:p>
          <a:p xmlns:a="http://schemas.openxmlformats.org/drawingml/2006/main">
            <a:r>
              <a:t>    "narrative": [</a:t>
            </a:r>
          </a:p>
          <a:p xmlns:a="http://schemas.openxmlformats.org/drawingml/2006/main">
            <a:r>
              <a:t>      "반복 세무 문의를 전화 채널에서 안내하고 복잡한 질문을 상담원에게 연결하는 음성 상담 사례. 상담내용의 범위와 적용 연도를 정확히 식별하는 작업이 중요.",</a:t>
            </a:r>
          </a:p>
          <a:p xmlns:a="http://schemas.openxmlformats.org/drawingml/2006/main">
            <a:r>
              <a:t>      "발화의 세목·기간·질문 목적을 정리하고 승인 지식을 찾아 음성으로 안내하는 구조의 재구성. 응답이 불분명하거나 예외 판단이 필요한 경우 대화 맥락을 상담원에게 전달.",</a:t>
            </a:r>
          </a:p>
          <a:p xmlns:a="http://schemas.openxmlformats.org/drawingml/2006/main">
            <a:r>
              <a:t>      "TS 음성 민원 접점에서 인식률만으로 검수하지 않고 필수 항목 확인과 인계 성공을 포함할 근거. 시범 운영과 전국 확대 계획, 실제 해결률을 각각 구분한 비교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"전화 상담 접점",</a:t>
            </a:r>
          </a:p>
          <a:p xmlns:a="http://schemas.openxmlformats.org/drawingml/2006/main">
            <a:r>
              <a:t>          "layer": "이용 접점",</a:t>
            </a:r>
          </a:p>
          <a:p xmlns:a="http://schemas.openxmlformats.org/drawingml/2006/main">
            <a:r>
              <a:t>          "detail": "납세자·상담원",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"세목·기간 확인",</a:t>
            </a:r>
          </a:p>
          <a:p xmlns:a="http://schemas.openxmlformats.org/drawingml/2006/main">
            <a:r>
              <a:t>          "layer": "업무 문맥",</a:t>
            </a:r>
          </a:p>
          <a:p xmlns:a="http://schemas.openxmlformats.org/drawingml/2006/main">
            <a:r>
              <a:t>          "detail": "발화에서 세목·기간·문의 목적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지식 검색",</a:t>
            </a:r>
          </a:p>
          <a:p xmlns:a="http://schemas.openxmlformats.org/drawingml/2006/main">
            <a:r>
              <a:t>          "layer": "자료 조회",</a:t>
            </a:r>
          </a:p>
          <a:p xmlns:a="http://schemas.openxmlformats.org/drawingml/2006/main">
            <a:r>
              <a:t>          "detail": "전화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"발화·의도 처리",</a:t>
            </a:r>
          </a:p>
          <a:p xmlns:a="http://schemas.openxmlformats.org/drawingml/2006/main">
            <a:r>
              <a:t>          "layer": "핵심 처리",</a:t>
            </a:r>
          </a:p>
          <a:p xmlns:a="http://schemas.openxmlformats.org/drawingml/2006/main">
            <a:r>
              <a:t>          "detail": "질의에 맞춘 상담 지식 탐색·음성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"핵심 조건 확인",</a:t>
            </a:r>
          </a:p>
          <a:p xmlns:a="http://schemas.openxmlformats.org/drawingml/2006/main">
            <a:r>
              <a:t>          "layer": "결과 검증",</a:t>
            </a:r>
          </a:p>
          <a:p xmlns:a="http://schemas.openxmlformats.org/drawingml/2006/main">
            <a:r>
              <a:t>          "detail": "핵심 발화 확인·전문 상담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"이용자·상담원",</a:t>
            </a:r>
          </a:p>
          <a:p xmlns:a="http://schemas.openxmlformats.org/drawingml/2006/main">
            <a:r>
              <a:t>          "layer": "사람 확인",</a:t>
            </a:r>
          </a:p>
          <a:p xmlns:a="http://schemas.openxmlformats.org/drawingml/2006/main">
            <a:r>
              <a:t>          "detail": "납세자의 세목·귀속연도를 확인한 뒤 안내·상담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"음성 안내·인계",</a:t>
            </a:r>
          </a:p>
          <a:p xmlns:a="http://schemas.openxmlformats.org/drawingml/2006/main">
            <a:r>
              <a:t>          "layer": "업무 연결",</a:t>
            </a:r>
          </a:p>
          <a:p xmlns:a="http://schemas.openxmlformats.org/drawingml/2006/main">
            <a:r>
              <a:t>          "detail": "해결 곤란 질문의 상담원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"반복 문의 분석",</a:t>
            </a:r>
          </a:p>
          <a:p xmlns:a="http://schemas.openxmlformats.org/drawingml/2006/main">
            <a:r>
              <a:t>          "layer": "운영 관측",</a:t>
            </a:r>
          </a:p>
          <a:p xmlns:a="http://schemas.openxmlformats.org/drawingml/2006/main">
            <a:r>
              <a:t>          "detail": "상담 이관·반복 문의·안내 오류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"세무 상담자료",</a:t>
            </a:r>
          </a:p>
          <a:p xmlns:a="http://schemas.openxmlformats.org/drawingml/2006/main">
            <a:r>
              <a:t>          "layer": "데이터 원천",</a:t>
            </a:r>
          </a:p>
          <a:p xmlns:a="http://schemas.openxmlformats.org/drawingml/2006/main">
            <a:r>
              <a:t>          "detail": "세무 안내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"적용연도 정리",</a:t>
            </a:r>
          </a:p>
          <a:p xmlns:a="http://schemas.openxmlformats.org/drawingml/2006/main">
            <a:r>
              <a:t>          "layer": "준비·갱신",</a:t>
            </a:r>
          </a:p>
          <a:p xmlns:a="http://schemas.openxmlformats.org/drawingml/2006/main">
            <a:r>
              <a:t>          "detail": "승인 상담자료·세목·적용연도별 지식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"지식·상담 이력",</a:t>
            </a:r>
          </a:p>
          <a:p xmlns:a="http://schemas.openxmlformats.org/drawingml/2006/main">
            <a:r>
              <a:t>          "layer": "상태·지식 저장",</a:t>
            </a:r>
          </a:p>
          <a:p xmlns:a="http://schemas.openxmlformats.org/drawingml/2006/main">
            <a:r>
              <a:t>          "detail": "필수 항목 인식표와 상담원 인계·해결 여부",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"전문 상담 기준",</a:t>
            </a:r>
          </a:p>
          <a:p xmlns:a="http://schemas.openxmlformats.org/drawingml/2006/main">
            <a:r>
              <a:t>          "layer": "권한·정책",</a:t>
            </a:r>
          </a:p>
          <a:p xmlns:a="http://schemas.openxmlformats.org/drawingml/2006/main">
            <a:r>
              <a:t>          "detail": "발화 인식 실패·다른 귀속연도·개인별 과세 판단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"전화 발화 → 질의 의도 분류 → 세무 안내 → 추가 상담 연결"</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"발화에서 세목·기간·문의 목적 확인",</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"전화 발화",</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"세무 안내 지식",</a:t>
            </a:r>
          </a:p>
          <a:p xmlns:a="http://schemas.openxmlformats.org/drawingml/2006/main">
            <a:r>
              <a:t>          "check": "승인 상담자료·세목·적용연도별 지식 관리"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"세무 안내",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"후속 상담",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"후속 상담",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"반복 세무 문의의 음성 상담 지원 / 전화 응대·세무 안내·상담 전환",</a:t>
            </a:r>
          </a:p>
          <a:p xmlns:a="http://schemas.openxmlformats.org/drawingml/2006/main">
            <a:r>
              <a:t>        "extension": "TS 기존 민원 메뉴에 음성·텍스트 진입점 추가"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"발화 인식 실패·다른 귀속연도·개인별 과세 판단 요청",</a:t>
            </a:r>
          </a:p>
          <a:p xmlns:a="http://schemas.openxmlformats.org/drawingml/2006/main">
            <a:r>
              <a:t>        "hold": "핵심 발화 확인·전문 상담 전환",</a:t>
            </a:r>
          </a:p>
          <a:p xmlns:a="http://schemas.openxmlformats.org/drawingml/2006/main">
            <a:r>
              <a:t>        "recovery": "상담 이관·반복 문의·안내 오류 점검",</a:t>
            </a:r>
          </a:p>
          <a:p xmlns:a="http://schemas.openxmlformats.org/drawingml/2006/main">
            <a:r>
              <a:t>        "evidence": "필수 항목 인식표와 상담원 인계·해결 여부"</a:t>
            </a:r>
          </a:p>
          <a:p xmlns:a="http://schemas.openxmlformats.org/drawingml/2006/main">
            <a:r>
              <a:t>      },</a:t>
            </a:r>
          </a:p>
          <a:p xmlns:a="http://schemas.openxmlformats.org/drawingml/2006/main">
            <a:r>
              <a:t>      "data": {</a:t>
            </a:r>
          </a:p>
          <a:p xmlns:a="http://schemas.openxmlformats.org/drawingml/2006/main">
            <a:r>
              <a:t>        "source": "세무 안내 지식",</a:t>
            </a:r>
          </a:p>
          <a:p xmlns:a="http://schemas.openxmlformats.org/drawingml/2006/main">
            <a:r>
              <a:t>        "prepare": "승인 상담자료·세목·적용연도별 지식 관리",</a:t>
            </a:r>
          </a:p>
          <a:p xmlns:a="http://schemas.openxmlformats.org/drawingml/2006/main">
            <a:r>
              <a:t>        "output": "전화 발화",</a:t>
            </a:r>
          </a:p>
          <a:p xmlns:a="http://schemas.openxmlformats.org/drawingml/2006/main">
            <a:r>
              <a:t>        "refresh": "상담 이관·반복 문의·안내 오류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"AX15",</a:t>
            </a:r>
          </a:p>
          <a:p xmlns:a="http://schemas.openxmlformats.org/drawingml/2006/main">
            <a:r>
              <a:t>    "success": [</a:t>
            </a:r>
          </a:p>
          <a:p xmlns:a="http://schemas.openxmlformats.org/drawingml/2006/main">
            <a:r>
              <a:t>      "전화 채널과 세무 안내 결합",</a:t>
            </a:r>
          </a:p>
          <a:p xmlns:a="http://schemas.openxmlformats.org/drawingml/2006/main">
            <a:r>
              <a:t>      "시범 적용 후 확대 검토"</a:t>
            </a:r>
          </a:p>
          <a:p xmlns:a="http://schemas.openxmlformats.org/drawingml/2006/main">
            <a:r>
              <a:t>    ],</a:t>
            </a:r>
          </a:p>
          <a:p xmlns:a="http://schemas.openxmlformats.org/drawingml/2006/main">
            <a:r>
              <a:t>    "risks": [</a:t>
            </a:r>
          </a:p>
          <a:p xmlns:a="http://schemas.openxmlformats.org/drawingml/2006/main">
            <a:r>
              <a:t>      "예외 세무상담의 잘못된 안내",</a:t>
            </a:r>
          </a:p>
          <a:p xmlns:a="http://schemas.openxmlformats.org/drawingml/2006/main">
            <a:r>
              <a:t>      "시범 성과와 전국 운영의 혼동"</a:t>
            </a:r>
          </a:p>
          <a:p xmlns:a="http://schemas.openxmlformats.org/drawingml/2006/main">
            <a:r>
              <a:t>    ],</a:t>
            </a:r>
          </a:p>
          <a:p xmlns:a="http://schemas.openxmlformats.org/drawingml/2006/main">
            <a:r>
              <a:t>    "architecture": [</a:t>
            </a:r>
          </a:p>
          <a:p xmlns:a="http://schemas.openxmlformats.org/drawingml/2006/main">
            <a:r>
              <a:t>      "전화 상담",</a:t>
            </a:r>
          </a:p>
          <a:p xmlns:a="http://schemas.openxmlformats.org/drawingml/2006/main">
            <a:r>
              <a:t>      "음성·의도 처리",</a:t>
            </a:r>
          </a:p>
          <a:p xmlns:a="http://schemas.openxmlformats.org/drawingml/2006/main">
            <a:r>
              <a:t>      "세무 안내 지식",</a:t>
            </a:r>
          </a:p>
          <a:p xmlns:a="http://schemas.openxmlformats.org/drawingml/2006/main">
            <a:r>
              <a:t>      "이용자·상담원"</a:t>
            </a:r>
          </a:p>
          <a:p xmlns:a="http://schemas.openxmlformats.org/drawingml/2006/main">
            <a:r>
              <a:t>    ],</a:t>
            </a:r>
          </a:p>
          <a:p xmlns:a="http://schemas.openxmlformats.org/drawingml/2006/main">
            <a:r>
              <a:t>    "transfers": [</a:t>
            </a:r>
          </a:p>
          <a:p xmlns:a="http://schemas.openxmlformats.org/drawingml/2006/main">
            <a:r>
              <a:t>      "전화 발화",</a:t>
            </a:r>
          </a:p>
          <a:p xmlns:a="http://schemas.openxmlformats.org/drawingml/2006/main">
            <a:r>
              <a:t>      "질의 의도",</a:t>
            </a:r>
          </a:p>
          <a:p xmlns:a="http://schemas.openxmlformats.org/drawingml/2006/main">
            <a:r>
              <a:t>      "세무 안내",</a:t>
            </a:r>
          </a:p>
          <a:p xmlns:a="http://schemas.openxmlformats.org/drawingml/2006/main">
            <a:r>
              <a:t>      "후속 상담"</a:t>
            </a:r>
          </a:p>
          <a:p xmlns:a="http://schemas.openxmlformats.org/drawingml/2006/main">
            <a:r>
              <a:t>    ],</a:t>
            </a:r>
          </a:p>
          <a:p xmlns:a="http://schemas.openxmlformats.org/drawingml/2006/main">
            <a:r>
              <a:t>    "control": "핵심 발화 확인·전문 상담 전환",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국세청 AI 전화상담 · 국세청 전국 확대 공지 / 2024-12-30 https://www.nts.go.kr/nts/na/ntt/selectNttInfo.do?bbsId=1011&amp;mi=2207&amp;nttSn=1339206</a:t>
            </a:r>
          </a:p>
          <a:p xmlns:a="http://schemas.openxmlformats.org/drawingml/2006/main">
            <a:r>
              <a:t>홈페이지 https://heen1987-ops.github.io/TS-business-Plan-001/index.html?view=casebook&amp;case=AX15</a:t>
            </a:r>
          </a:p>
          <a:p xmlns:a="http://schemas.openxmlformats.org/drawingml/2006/main">
            <a:r>
              <a:t>한계: 대표전화 지정 분야의 서비스 확대 확인 · 대기시간·정확도 개선 효과는 미측정 · 개인별 과세 판단 자동화로 해석 금지</a:t>
            </a:r>
          </a:p>
          <a:p xmlns:a="http://schemas.openxmlformats.org/drawingml/2006/main">
            <a:r>
              <a:t>실패 위험: 예외 세무상담의 잘못된 안내 / 시범 성과와 전국 운영의 혼동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"AX15",</a:t>
            </a:r>
          </a:p>
          <a:p xmlns:a="http://schemas.openxmlformats.org/drawingml/2006/main">
            <a:r>
              <a:t>    "title": "국세청 AI 전화상담",</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"음성 기반 민원 안내",</a:t>
            </a:r>
          </a:p>
          <a:p xmlns:a="http://schemas.openxmlformats.org/drawingml/2006/main">
            <a:r>
              <a:t>    "period": "2024 시범 / 2024-12-30 전국 확대 시행",</a:t>
            </a:r>
          </a:p>
          <a:p xmlns:a="http://schemas.openxmlformats.org/drawingml/2006/main">
            <a:r>
              <a:t>    "sources": [</a:t>
            </a:r>
          </a:p>
          <a:p xmlns:a="http://schemas.openxmlformats.org/drawingml/2006/main">
            <a:r>
              <a:t>      "S-AX15"</a:t>
            </a:r>
          </a:p>
          <a:p xmlns:a="http://schemas.openxmlformats.org/drawingml/2006/main">
            <a:r>
              <a:t>    ],</a:t>
            </a:r>
          </a:p>
          <a:p xmlns:a="http://schemas.openxmlformats.org/drawingml/2006/main">
            <a:r>
              <a:t>    "keywords": [</a:t>
            </a:r>
          </a:p>
          <a:p xmlns:a="http://schemas.openxmlformats.org/drawingml/2006/main">
            <a:r>
              <a:t>      "음성 기반 민원 안내"</a:t>
            </a:r>
          </a:p>
          <a:p xmlns:a="http://schemas.openxmlformats.org/drawingml/2006/main">
            <a:r>
              <a:t>    ],</a:t>
            </a:r>
          </a:p>
          <a:p xmlns:a="http://schemas.openxmlformats.org/drawingml/2006/main">
            <a:r>
              <a:t>    "fact": "2024년 11월 14개 세무서 시범 후 12월 30일 전국 133개 세무서 대표전화에 확대 시행; 상담 중 직원 연결 가능",</a:t>
            </a:r>
          </a:p>
          <a:p xmlns:a="http://schemas.openxmlformats.org/drawingml/2006/main">
            <a:r>
              <a:t>    "limit": "대표전화 지정 분야의 서비스 확대 확인 · 대기시간·정확도 개선 효과는 미측정 · 개인별 과세 판단 자동화로 해석 금지",</a:t>
            </a:r>
          </a:p>
          <a:p xmlns:a="http://schemas.openxmlformats.org/drawingml/2006/main">
            <a:r>
              <a:t>    "flow": [</a:t>
            </a:r>
          </a:p>
          <a:p xmlns:a="http://schemas.openxmlformats.org/drawingml/2006/main">
            <a:r>
              <a:t>      "전화 발화",</a:t>
            </a:r>
          </a:p>
          <a:p xmlns:a="http://schemas.openxmlformats.org/drawingml/2006/main">
            <a:r>
              <a:t>      "질의 의도 분류",</a:t>
            </a:r>
          </a:p>
          <a:p xmlns:a="http://schemas.openxmlformats.org/drawingml/2006/main">
            <a:r>
              <a:t>      "세무 안내",</a:t>
            </a:r>
          </a:p>
          <a:p xmlns:a="http://schemas.openxmlformats.org/drawingml/2006/main">
            <a:r>
              <a:t>      "추가 상담 연결"</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"음성 접점과 상담 전환의 연속성",</a:t>
            </a:r>
          </a:p>
          <a:p xmlns:a="http://schemas.openxmlformats.org/drawingml/2006/main">
            <a:r>
              <a:t>    "local": "TS 기존 민원 메뉴에 음성·텍스트 진입점 추가",</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"발화 정리·확인·소관 서비스·상담 인계",</a:t>
            </a:r>
          </a:p>
          <a:p xmlns:a="http://schemas.openxmlformats.org/drawingml/2006/main">
            <a:r>
              <a:t>    "test": "고령·소음·중도 정정·상담 전환 과업 시험",</a:t>
            </a:r>
          </a:p>
          <a:p xmlns:a="http://schemas.openxmlformats.org/drawingml/2006/main">
            <a:r>
              <a:t>    "metric": "안내 도달률 / 포기율 / 재문의율",</a:t>
            </a:r>
          </a:p>
          <a:p xmlns:a="http://schemas.openxmlformats.org/drawingml/2006/main">
            <a:r>
              <a:t>    "strategies": [</a:t>
            </a:r>
          </a:p>
          <a:p xmlns:a="http://schemas.openxmlformats.org/drawingml/2006/main">
            <a:r>
              <a:t>      "ST-08",</a:t>
            </a:r>
          </a:p>
          <a:p xmlns:a="http://schemas.openxmlformats.org/drawingml/2006/main">
            <a:r>
              <a:t>      "ST-12"</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"AX15",</a:t>
            </a:r>
          </a:p>
          <a:p xmlns:a="http://schemas.openxmlformats.org/drawingml/2006/main">
            <a:r>
              <a:t>    "canonicalId": "AX15",</a:t>
            </a:r>
          </a:p>
          <a:p xmlns:a="http://schemas.openxmlformats.org/drawingml/2006/main">
            <a:r>
              <a:t>    "purpose": "반복 세무 문의의 음성 상담 지원",</a:t>
            </a:r>
          </a:p>
          <a:p xmlns:a="http://schemas.openxmlformats.org/drawingml/2006/main">
            <a:r>
              <a:t>    "users": "납세자·상담원",</a:t>
            </a:r>
          </a:p>
          <a:p xmlns:a="http://schemas.openxmlformats.org/drawingml/2006/main">
            <a:r>
              <a:t>    "scope": [</a:t>
            </a:r>
          </a:p>
          <a:p xmlns:a="http://schemas.openxmlformats.org/drawingml/2006/main">
            <a:r>
              <a:t>      "전화 응대",</a:t>
            </a:r>
          </a:p>
          <a:p xmlns:a="http://schemas.openxmlformats.org/drawingml/2006/main">
            <a:r>
              <a:t>      "세무 안내",</a:t>
            </a:r>
          </a:p>
          <a:p xmlns:a="http://schemas.openxmlformats.org/drawingml/2006/main">
            <a:r>
              <a:t>      "상담 전환"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"전화 상담",</a:t>
            </a:r>
          </a:p>
          <a:p xmlns:a="http://schemas.openxmlformats.org/drawingml/2006/main">
            <a:r>
              <a:t>        "detail": "발화에서 세목·기간·문의 목적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"전화 응대 / 세무 안내 / 상담 전환",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"음성·의도 처리",</a:t>
            </a:r>
          </a:p>
          <a:p xmlns:a="http://schemas.openxmlformats.org/drawingml/2006/main">
            <a:r>
              <a:t>        "detail": "질의에 맞춘 상담 지식 탐색·음성 안내",</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"이용자·상담원",</a:t>
            </a:r>
          </a:p>
          <a:p xmlns:a="http://schemas.openxmlformats.org/drawingml/2006/main">
            <a:r>
              <a:t>        "detail": "해결 곤란 질문의 상담원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"세무 안내 지식",</a:t>
            </a:r>
          </a:p>
          <a:p xmlns:a="http://schemas.openxmlformats.org/drawingml/2006/main">
            <a:r>
              <a:t>        "detail": "승인 상담자료·세목·적용연도별 지식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"상담 이관·반복 문의·안내 오류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"전화 발화",</a:t>
            </a:r>
          </a:p>
          <a:p xmlns:a="http://schemas.openxmlformats.org/drawingml/2006/main">
            <a:r>
              <a:t>        "input": "발화에서 세목·기간·문의 목적 확인",</a:t>
            </a:r>
          </a:p>
          <a:p xmlns:a="http://schemas.openxmlformats.org/drawingml/2006/main">
            <a:r>
              <a:t>        "process": "승인 상담자료·세목·적용연도별 지식 관리",</a:t>
            </a:r>
          </a:p>
          <a:p xmlns:a="http://schemas.openxmlformats.org/drawingml/2006/main">
            <a:r>
              <a:t>        "output": "전화 발화"</a:t>
            </a:r>
          </a:p>
          <a:p xmlns:a="http://schemas.openxmlformats.org/drawingml/2006/main">
            <a:r>
              <a:t>      },</a:t>
            </a:r>
          </a:p>
          <a:p xmlns:a="http://schemas.openxmlformats.org/drawingml/2006/main">
            <a:r>
              <a:t>      {</a:t>
            </a:r>
          </a:p>
          <a:p xmlns:a="http://schemas.openxmlformats.org/drawingml/2006/main">
            <a:r>
              <a:t>        "title": "질의 의도 분류",</a:t>
            </a:r>
          </a:p>
          <a:p xmlns:a="http://schemas.openxmlformats.org/drawingml/2006/main">
            <a:r>
              <a:t>        "input": "전화 발화",</a:t>
            </a:r>
          </a:p>
          <a:p xmlns:a="http://schemas.openxmlformats.org/drawingml/2006/main">
            <a:r>
              <a:t>        "process": "질의에 맞춘 상담 지식 탐색·음성 안내",</a:t>
            </a:r>
          </a:p>
          <a:p xmlns:a="http://schemas.openxmlformats.org/drawingml/2006/main">
            <a:r>
              <a:t>        "output": "질의 의도"</a:t>
            </a:r>
          </a:p>
          <a:p xmlns:a="http://schemas.openxmlformats.org/drawingml/2006/main">
            <a:r>
              <a:t>      },</a:t>
            </a:r>
          </a:p>
          <a:p xmlns:a="http://schemas.openxmlformats.org/drawingml/2006/main">
            <a:r>
              <a:t>      {</a:t>
            </a:r>
          </a:p>
          <a:p xmlns:a="http://schemas.openxmlformats.org/drawingml/2006/main">
            <a:r>
              <a:t>        "title": "세무 안내",</a:t>
            </a:r>
          </a:p>
          <a:p xmlns:a="http://schemas.openxmlformats.org/drawingml/2006/main">
            <a:r>
              <a:t>        "input": "질의 의도",</a:t>
            </a:r>
          </a:p>
          <a:p xmlns:a="http://schemas.openxmlformats.org/drawingml/2006/main">
            <a:r>
              <a:t>        "process": "핵심 발화 확인·전문 상담 전환",</a:t>
            </a:r>
          </a:p>
          <a:p xmlns:a="http://schemas.openxmlformats.org/drawingml/2006/main">
            <a:r>
              <a:t>        "output": "세무 안내"</a:t>
            </a:r>
          </a:p>
          <a:p xmlns:a="http://schemas.openxmlformats.org/drawingml/2006/main">
            <a:r>
              <a:t>      },</a:t>
            </a:r>
          </a:p>
          <a:p xmlns:a="http://schemas.openxmlformats.org/drawingml/2006/main">
            <a:r>
              <a:t>      {</a:t>
            </a:r>
          </a:p>
          <a:p xmlns:a="http://schemas.openxmlformats.org/drawingml/2006/main">
            <a:r>
              <a:t>        "title": "추가 상담 연결",</a:t>
            </a:r>
          </a:p>
          <a:p xmlns:a="http://schemas.openxmlformats.org/drawingml/2006/main">
            <a:r>
              <a:t>        "input": "세무 안내",</a:t>
            </a:r>
          </a:p>
          <a:p xmlns:a="http://schemas.openxmlformats.org/drawingml/2006/main">
            <a:r>
              <a:t>        "process": "해결 곤란 질문의 상담원 연결",</a:t>
            </a:r>
          </a:p>
          <a:p xmlns:a="http://schemas.openxmlformats.org/drawingml/2006/main">
            <a:r>
              <a:t>        "output": "후속 상담"</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"납세자의 세목·귀속연도를 확인한 뒤 안내·상담 전환",</a:t>
            </a:r>
          </a:p>
          <a:p xmlns:a="http://schemas.openxmlformats.org/drawingml/2006/main">
            <a:r>
              <a:t>      "exception": "발화 인식 실패·다른 귀속연도·개인별 과세 판단 요청",</a:t>
            </a:r>
          </a:p>
          <a:p xmlns:a="http://schemas.openxmlformats.org/drawingml/2006/main">
            <a:r>
              <a:t>      "evidence": "필수 항목 인식표와 상담원 인계·해결 여부",</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"납세자·상담원",</a:t>
            </a:r>
          </a:p>
          <a:p xmlns:a="http://schemas.openxmlformats.org/drawingml/2006/main">
            <a:r>
              <a:t>          "processing": "발화에서 세목·기간·문의 목적 확인",</a:t>
            </a:r>
          </a:p>
          <a:p xmlns:a="http://schemas.openxmlformats.org/drawingml/2006/main">
            <a:r>
              <a:t>          "output": "전화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"세무 안내 지식",</a:t>
            </a:r>
          </a:p>
          <a:p xmlns:a="http://schemas.openxmlformats.org/drawingml/2006/main">
            <a:r>
              <a:t>          "processing": "승인 상담자료·세목·적용연도별 지식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"전화 발화",</a:t>
            </a:r>
          </a:p>
          <a:p xmlns:a="http://schemas.openxmlformats.org/drawingml/2006/main">
            <a:r>
              <a:t>          "processing": "질의에 맞춘 상담 지식 탐색·음성 안내",</a:t>
            </a:r>
          </a:p>
          <a:p xmlns:a="http://schemas.openxmlformats.org/drawingml/2006/main">
            <a:r>
              <a:t>          "output": "세무 안내"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"세무 안내",</a:t>
            </a:r>
          </a:p>
          <a:p xmlns:a="http://schemas.openxmlformats.org/drawingml/2006/main">
            <a:r>
              <a:t>          "processing": "해결 곤란 질문의 상담원 연결",</a:t>
            </a:r>
          </a:p>
          <a:p xmlns:a="http://schemas.openxmlformats.org/drawingml/2006/main">
            <a:r>
              <a:t>          "output": "후속 상담"</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"상담 이관·반복 문의·안내 오류 점검",</a:t>
            </a:r>
          </a:p>
          <a:p xmlns:a="http://schemas.openxmlformats.org/drawingml/2006/main">
            <a:r>
              <a:t>          "output": "필수 항목 인식표와 상담원 인계·해결 여부"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"상담 이관·반복 문의·안내 오류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"S-AX15",</a:t>
            </a:r>
          </a:p>
          <a:p xmlns:a="http://schemas.openxmlformats.org/drawingml/2006/main">
            <a:r>
              <a:t>        "title": "국세청 AI 전화상담 · 국세청 전국 확대 공지 / 2024-12-30",</a:t>
            </a:r>
          </a:p>
          <a:p xmlns:a="http://schemas.openxmlformats.org/drawingml/2006/main">
            <a:r>
              <a:t>        "url": "https://www.nts.go.kr/nts/na/ntt/selectNttInfo.do?bbsId=1011&amp;mi=2207&amp;nttSn=1339206",</a:t>
            </a:r>
          </a:p>
          <a:p xmlns:a="http://schemas.openxmlformats.org/drawingml/2006/main">
            <a:r>
              <a:t>        "published": "2024 시범 / 2024-12-30 전국 확대 시행",</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"음성 접점과 상담 전환의 연속성",</a:t>
            </a:r>
          </a:p>
          <a:p xmlns:a="http://schemas.openxmlformats.org/drawingml/2006/main">
            <a:r>
              <a:t>    "local": "TS 기존 민원 메뉴에 음성·텍스트 진입점 추가",</a:t>
            </a:r>
          </a:p>
          <a:p xmlns:a="http://schemas.openxmlformats.org/drawingml/2006/main">
            <a:r>
              <a:t>    "sourceDetail": null,</a:t>
            </a:r>
          </a:p>
          <a:p xmlns:a="http://schemas.openxmlformats.org/drawingml/2006/main">
            <a:r>
              <a:t>    "narrative": [</a:t>
            </a:r>
          </a:p>
          <a:p xmlns:a="http://schemas.openxmlformats.org/drawingml/2006/main">
            <a:r>
              <a:t>      "반복 세무 문의를 전화 채널에서 안내하고 복잡한 질문을 상담원에게 연결하는 음성 상담 사례. 상담내용의 범위와 적용 연도를 정확히 식별하는 작업이 중요.",</a:t>
            </a:r>
          </a:p>
          <a:p xmlns:a="http://schemas.openxmlformats.org/drawingml/2006/main">
            <a:r>
              <a:t>      "발화의 세목·기간·질문 목적을 정리하고 승인 지식을 찾아 음성으로 안내하는 구조의 재구성. 응답이 불분명하거나 예외 판단이 필요한 경우 대화 맥락을 상담원에게 전달.",</a:t>
            </a:r>
          </a:p>
          <a:p xmlns:a="http://schemas.openxmlformats.org/drawingml/2006/main">
            <a:r>
              <a:t>      "TS 음성 민원 접점에서 인식률만으로 검수하지 않고 필수 항목 확인과 인계 성공을 포함할 근거. 시범 운영과 전국 확대 계획, 실제 해결률을 각각 구분한 비교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"전화 상담 접점",</a:t>
            </a:r>
          </a:p>
          <a:p xmlns:a="http://schemas.openxmlformats.org/drawingml/2006/main">
            <a:r>
              <a:t>          "layer": "이용 접점",</a:t>
            </a:r>
          </a:p>
          <a:p xmlns:a="http://schemas.openxmlformats.org/drawingml/2006/main">
            <a:r>
              <a:t>          "detail": "납세자·상담원",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"세목·기간 확인",</a:t>
            </a:r>
          </a:p>
          <a:p xmlns:a="http://schemas.openxmlformats.org/drawingml/2006/main">
            <a:r>
              <a:t>          "layer": "업무 문맥",</a:t>
            </a:r>
          </a:p>
          <a:p xmlns:a="http://schemas.openxmlformats.org/drawingml/2006/main">
            <a:r>
              <a:t>          "detail": "발화에서 세목·기간·문의 목적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지식 검색",</a:t>
            </a:r>
          </a:p>
          <a:p xmlns:a="http://schemas.openxmlformats.org/drawingml/2006/main">
            <a:r>
              <a:t>          "layer": "자료 조회",</a:t>
            </a:r>
          </a:p>
          <a:p xmlns:a="http://schemas.openxmlformats.org/drawingml/2006/main">
            <a:r>
              <a:t>          "detail": "전화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"발화·의도 처리",</a:t>
            </a:r>
          </a:p>
          <a:p xmlns:a="http://schemas.openxmlformats.org/drawingml/2006/main">
            <a:r>
              <a:t>          "layer": "핵심 처리",</a:t>
            </a:r>
          </a:p>
          <a:p xmlns:a="http://schemas.openxmlformats.org/drawingml/2006/main">
            <a:r>
              <a:t>          "detail": "질의에 맞춘 상담 지식 탐색·음성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"핵심 조건 확인",</a:t>
            </a:r>
          </a:p>
          <a:p xmlns:a="http://schemas.openxmlformats.org/drawingml/2006/main">
            <a:r>
              <a:t>          "layer": "결과 검증",</a:t>
            </a:r>
          </a:p>
          <a:p xmlns:a="http://schemas.openxmlformats.org/drawingml/2006/main">
            <a:r>
              <a:t>          "detail": "핵심 발화 확인·전문 상담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"이용자·상담원",</a:t>
            </a:r>
          </a:p>
          <a:p xmlns:a="http://schemas.openxmlformats.org/drawingml/2006/main">
            <a:r>
              <a:t>          "layer": "사람 확인",</a:t>
            </a:r>
          </a:p>
          <a:p xmlns:a="http://schemas.openxmlformats.org/drawingml/2006/main">
            <a:r>
              <a:t>          "detail": "납세자의 세목·귀속연도를 확인한 뒤 안내·상담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"음성 안내·인계",</a:t>
            </a:r>
          </a:p>
          <a:p xmlns:a="http://schemas.openxmlformats.org/drawingml/2006/main">
            <a:r>
              <a:t>          "layer": "업무 연결",</a:t>
            </a:r>
          </a:p>
          <a:p xmlns:a="http://schemas.openxmlformats.org/drawingml/2006/main">
            <a:r>
              <a:t>          "detail": "해결 곤란 질문의 상담원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"반복 문의 분석",</a:t>
            </a:r>
          </a:p>
          <a:p xmlns:a="http://schemas.openxmlformats.org/drawingml/2006/main">
            <a:r>
              <a:t>          "layer": "운영 관측",</a:t>
            </a:r>
          </a:p>
          <a:p xmlns:a="http://schemas.openxmlformats.org/drawingml/2006/main">
            <a:r>
              <a:t>          "detail": "상담 이관·반복 문의·안내 오류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"세무 상담자료",</a:t>
            </a:r>
          </a:p>
          <a:p xmlns:a="http://schemas.openxmlformats.org/drawingml/2006/main">
            <a:r>
              <a:t>          "layer": "데이터 원천",</a:t>
            </a:r>
          </a:p>
          <a:p xmlns:a="http://schemas.openxmlformats.org/drawingml/2006/main">
            <a:r>
              <a:t>          "detail": "세무 안내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"적용연도 정리",</a:t>
            </a:r>
          </a:p>
          <a:p xmlns:a="http://schemas.openxmlformats.org/drawingml/2006/main">
            <a:r>
              <a:t>          "layer": "준비·갱신",</a:t>
            </a:r>
          </a:p>
          <a:p xmlns:a="http://schemas.openxmlformats.org/drawingml/2006/main">
            <a:r>
              <a:t>          "detail": "승인 상담자료·세목·적용연도별 지식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"지식·상담 이력",</a:t>
            </a:r>
          </a:p>
          <a:p xmlns:a="http://schemas.openxmlformats.org/drawingml/2006/main">
            <a:r>
              <a:t>          "layer": "상태·지식 저장",</a:t>
            </a:r>
          </a:p>
          <a:p xmlns:a="http://schemas.openxmlformats.org/drawingml/2006/main">
            <a:r>
              <a:t>          "detail": "필수 항목 인식표와 상담원 인계·해결 여부",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"전문 상담 기준",</a:t>
            </a:r>
          </a:p>
          <a:p xmlns:a="http://schemas.openxmlformats.org/drawingml/2006/main">
            <a:r>
              <a:t>          "layer": "권한·정책",</a:t>
            </a:r>
          </a:p>
          <a:p xmlns:a="http://schemas.openxmlformats.org/drawingml/2006/main">
            <a:r>
              <a:t>          "detail": "발화 인식 실패·다른 귀속연도·개인별 과세 판단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"전화 발화 → 질의 의도 분류 → 세무 안내 → 추가 상담 연결"</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"발화에서 세목·기간·문의 목적 확인",</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"전화 발화",</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"세무 안내 지식",</a:t>
            </a:r>
          </a:p>
          <a:p xmlns:a="http://schemas.openxmlformats.org/drawingml/2006/main">
            <a:r>
              <a:t>          "check": "승인 상담자료·세목·적용연도별 지식 관리"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"세무 안내",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"후속 상담",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"후속 상담",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"반복 세무 문의의 음성 상담 지원 / 전화 응대·세무 안내·상담 전환",</a:t>
            </a:r>
          </a:p>
          <a:p xmlns:a="http://schemas.openxmlformats.org/drawingml/2006/main">
            <a:r>
              <a:t>        "extension": "TS 기존 민원 메뉴에 음성·텍스트 진입점 추가"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"발화 인식 실패·다른 귀속연도·개인별 과세 판단 요청",</a:t>
            </a:r>
          </a:p>
          <a:p xmlns:a="http://schemas.openxmlformats.org/drawingml/2006/main">
            <a:r>
              <a:t>        "hold": "핵심 발화 확인·전문 상담 전환",</a:t>
            </a:r>
          </a:p>
          <a:p xmlns:a="http://schemas.openxmlformats.org/drawingml/2006/main">
            <a:r>
              <a:t>        "recovery": "상담 이관·반복 문의·안내 오류 점검",</a:t>
            </a:r>
          </a:p>
          <a:p xmlns:a="http://schemas.openxmlformats.org/drawingml/2006/main">
            <a:r>
              <a:t>        "evidence": "필수 항목 인식표와 상담원 인계·해결 여부"</a:t>
            </a:r>
          </a:p>
          <a:p xmlns:a="http://schemas.openxmlformats.org/drawingml/2006/main">
            <a:r>
              <a:t>      },</a:t>
            </a:r>
          </a:p>
          <a:p xmlns:a="http://schemas.openxmlformats.org/drawingml/2006/main">
            <a:r>
              <a:t>      "data": {</a:t>
            </a:r>
          </a:p>
          <a:p xmlns:a="http://schemas.openxmlformats.org/drawingml/2006/main">
            <a:r>
              <a:t>        "source": "세무 안내 지식",</a:t>
            </a:r>
          </a:p>
          <a:p xmlns:a="http://schemas.openxmlformats.org/drawingml/2006/main">
            <a:r>
              <a:t>        "prepare": "승인 상담자료·세목·적용연도별 지식 관리",</a:t>
            </a:r>
          </a:p>
          <a:p xmlns:a="http://schemas.openxmlformats.org/drawingml/2006/main">
            <a:r>
              <a:t>        "output": "전화 발화",</a:t>
            </a:r>
          </a:p>
          <a:p xmlns:a="http://schemas.openxmlformats.org/drawingml/2006/main">
            <a:r>
              <a:t>        "refresh": "상담 이관·반복 문의·안내 오류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"AX15",</a:t>
            </a:r>
          </a:p>
          <a:p xmlns:a="http://schemas.openxmlformats.org/drawingml/2006/main">
            <a:r>
              <a:t>    "success": [</a:t>
            </a:r>
          </a:p>
          <a:p xmlns:a="http://schemas.openxmlformats.org/drawingml/2006/main">
            <a:r>
              <a:t>      "전화 채널과 세무 안내 결합",</a:t>
            </a:r>
          </a:p>
          <a:p xmlns:a="http://schemas.openxmlformats.org/drawingml/2006/main">
            <a:r>
              <a:t>      "시범 적용 후 확대 검토"</a:t>
            </a:r>
          </a:p>
          <a:p xmlns:a="http://schemas.openxmlformats.org/drawingml/2006/main">
            <a:r>
              <a:t>    ],</a:t>
            </a:r>
          </a:p>
          <a:p xmlns:a="http://schemas.openxmlformats.org/drawingml/2006/main">
            <a:r>
              <a:t>    "risks": [</a:t>
            </a:r>
          </a:p>
          <a:p xmlns:a="http://schemas.openxmlformats.org/drawingml/2006/main">
            <a:r>
              <a:t>      "예외 세무상담의 잘못된 안내",</a:t>
            </a:r>
          </a:p>
          <a:p xmlns:a="http://schemas.openxmlformats.org/drawingml/2006/main">
            <a:r>
              <a:t>      "시범 성과와 전국 운영의 혼동"</a:t>
            </a:r>
          </a:p>
          <a:p xmlns:a="http://schemas.openxmlformats.org/drawingml/2006/main">
            <a:r>
              <a:t>    ],</a:t>
            </a:r>
          </a:p>
          <a:p xmlns:a="http://schemas.openxmlformats.org/drawingml/2006/main">
            <a:r>
              <a:t>    "architecture": [</a:t>
            </a:r>
          </a:p>
          <a:p xmlns:a="http://schemas.openxmlformats.org/drawingml/2006/main">
            <a:r>
              <a:t>      "전화 상담",</a:t>
            </a:r>
          </a:p>
          <a:p xmlns:a="http://schemas.openxmlformats.org/drawingml/2006/main">
            <a:r>
              <a:t>      "음성·의도 처리",</a:t>
            </a:r>
          </a:p>
          <a:p xmlns:a="http://schemas.openxmlformats.org/drawingml/2006/main">
            <a:r>
              <a:t>      "세무 안내 지식",</a:t>
            </a:r>
          </a:p>
          <a:p xmlns:a="http://schemas.openxmlformats.org/drawingml/2006/main">
            <a:r>
              <a:t>      "이용자·상담원"</a:t>
            </a:r>
          </a:p>
          <a:p xmlns:a="http://schemas.openxmlformats.org/drawingml/2006/main">
            <a:r>
              <a:t>    ],</a:t>
            </a:r>
          </a:p>
          <a:p xmlns:a="http://schemas.openxmlformats.org/drawingml/2006/main">
            <a:r>
              <a:t>    "transfers": [</a:t>
            </a:r>
          </a:p>
          <a:p xmlns:a="http://schemas.openxmlformats.org/drawingml/2006/main">
            <a:r>
              <a:t>      "전화 발화",</a:t>
            </a:r>
          </a:p>
          <a:p xmlns:a="http://schemas.openxmlformats.org/drawingml/2006/main">
            <a:r>
              <a:t>      "질의 의도",</a:t>
            </a:r>
          </a:p>
          <a:p xmlns:a="http://schemas.openxmlformats.org/drawingml/2006/main">
            <a:r>
              <a:t>      "세무 안내",</a:t>
            </a:r>
          </a:p>
          <a:p xmlns:a="http://schemas.openxmlformats.org/drawingml/2006/main">
            <a:r>
              <a:t>      "후속 상담"</a:t>
            </a:r>
          </a:p>
          <a:p xmlns:a="http://schemas.openxmlformats.org/drawingml/2006/main">
            <a:r>
              <a:t>    ],</a:t>
            </a:r>
          </a:p>
          <a:p xmlns:a="http://schemas.openxmlformats.org/drawingml/2006/main">
            <a:r>
              <a:t>    "control": "핵심 발화 확인·전문 상담 전환",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국세청 AI 전화상담 · 국세청 전국 확대 공지 / 2024-12-30 https://www.nts.go.kr/nts/na/ntt/selectNttInfo.do?bbsId=1011&amp;mi=2207&amp;nttSn=1339206</a:t>
            </a:r>
          </a:p>
          <a:p xmlns:a="http://schemas.openxmlformats.org/drawingml/2006/main">
            <a:r>
              <a:t>홈페이지 https://heen1987-ops.github.io/TS-business-Plan-001/index.html?view=casebook&amp;case=AX15</a:t>
            </a:r>
          </a:p>
          <a:p xmlns:a="http://schemas.openxmlformats.org/drawingml/2006/main">
            <a:r>
              <a:t>성과 대조</a:t>
            </a:r>
          </a:p>
          <a:p xmlns:a="http://schemas.openxmlformats.org/drawingml/2006/main">
            <a:r>
              <a:t>{</a:t>
            </a:r>
          </a:p>
          <a:p xmlns:a="http://schemas.openxmlformats.org/drawingml/2006/main">
            <a:r>
              <a:t>  "caseId": "AX15",</a:t>
            </a:r>
          </a:p>
          <a:p xmlns:a="http://schemas.openxmlformats.org/drawingml/2006/main">
            <a:r>
              <a:t>  "asIs": "납세자가 전화로 반복 세무 질문을 하고 상담원이 정형 안내에 응대",</a:t>
            </a:r>
          </a:p>
          <a:p xmlns:a="http://schemas.openxmlformats.org/drawingml/2006/main">
            <a:r>
              <a:t>  "toBe": "음성 AI가 일반 세무 문의를 안내하고 예외·개인 판단은 상담원에게 인계",</a:t>
            </a:r>
          </a:p>
          <a:p xmlns:a="http://schemas.openxmlformats.org/drawingml/2006/main">
            <a:r>
              <a:t>  "expectedEffect": "전화 대기·반복 응대 부담 감소와 접근성 확대",</a:t>
            </a:r>
          </a:p>
          <a:p xmlns:a="http://schemas.openxmlformats.org/drawingml/2006/main">
            <a:r>
              <a:t>  "observed": "국세청 공지에서 2024년 11월 14개 세무서 시범 후 12월 30일 전국 133개 세무서 대표전화로 확대 시행; 상담 중 직원 연결 가능",</a:t>
            </a:r>
          </a:p>
          <a:p xmlns:a="http://schemas.openxmlformats.org/drawingml/2006/main">
            <a:r>
              <a:t>  "verdict": "부분 성과",</a:t>
            </a:r>
          </a:p>
          <a:p xmlns:a="http://schemas.openxmlformats.org/drawingml/2006/main">
            <a:r>
              <a:t>  "verdictReason": "전국 대표전화 적용은 공식 공지로 확인되나 상담 완료시간·정확도·대기시간의 비교 성과는 미제시",</a:t>
            </a:r>
          </a:p>
          <a:p xmlns:a="http://schemas.openxmlformats.org/drawingml/2006/main">
            <a:r>
              <a:t>  "limits": "대표전화의 지정 AI 상담 분야 기준. 담당자 직통전화·개인별 세액 판단 자동화 사례 아님",</a:t>
            </a:r>
          </a:p>
          <a:p xmlns:a="http://schemas.openxmlformats.org/drawingml/2006/main">
            <a:r>
              <a:t>  "metric": "전국 133개 세무서 대표전화 확대 시행: 국세청 2024-12-30 공지",</a:t>
            </a:r>
          </a:p>
          <a:p xmlns:a="http://schemas.openxmlformats.org/drawingml/2006/main">
            <a:r>
              <a:t>  "evidenceStage": "공공기관 전국 확대 시행",</a:t>
            </a:r>
          </a:p>
          <a:p xmlns:a="http://schemas.openxmlformats.org/drawingml/2006/main">
            <a:r>
              <a:t>  "sourceUrl": "https://www.nts.go.kr/nts/na/ntt/selectNttInfo.do?bbsId=1011&amp;mi=2207&amp;nttSn=1339206"</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"AX15",</a:t>
            </a:r>
          </a:p>
          <a:p xmlns:a="http://schemas.openxmlformats.org/drawingml/2006/main">
            <a:r>
              <a:t>    "title": "국세청 AI 전화상담",</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"음성 기반 민원 안내",</a:t>
            </a:r>
          </a:p>
          <a:p xmlns:a="http://schemas.openxmlformats.org/drawingml/2006/main">
            <a:r>
              <a:t>    "period": "2024 시범 / 2024-12-30 전국 확대 시행",</a:t>
            </a:r>
          </a:p>
          <a:p xmlns:a="http://schemas.openxmlformats.org/drawingml/2006/main">
            <a:r>
              <a:t>    "sources": [</a:t>
            </a:r>
          </a:p>
          <a:p xmlns:a="http://schemas.openxmlformats.org/drawingml/2006/main">
            <a:r>
              <a:t>      "S-AX15"</a:t>
            </a:r>
          </a:p>
          <a:p xmlns:a="http://schemas.openxmlformats.org/drawingml/2006/main">
            <a:r>
              <a:t>    ],</a:t>
            </a:r>
          </a:p>
          <a:p xmlns:a="http://schemas.openxmlformats.org/drawingml/2006/main">
            <a:r>
              <a:t>    "keywords": [</a:t>
            </a:r>
          </a:p>
          <a:p xmlns:a="http://schemas.openxmlformats.org/drawingml/2006/main">
            <a:r>
              <a:t>      "음성 기반 민원 안내"</a:t>
            </a:r>
          </a:p>
          <a:p xmlns:a="http://schemas.openxmlformats.org/drawingml/2006/main">
            <a:r>
              <a:t>    ],</a:t>
            </a:r>
          </a:p>
          <a:p xmlns:a="http://schemas.openxmlformats.org/drawingml/2006/main">
            <a:r>
              <a:t>    "fact": "2024년 11월 14개 세무서 시범 후 12월 30일 전국 133개 세무서 대표전화에 확대 시행; 상담 중 직원 연결 가능",</a:t>
            </a:r>
          </a:p>
          <a:p xmlns:a="http://schemas.openxmlformats.org/drawingml/2006/main">
            <a:r>
              <a:t>    "limit": "대표전화 지정 분야의 서비스 확대 확인 · 대기시간·정확도 개선 효과는 미측정 · 개인별 과세 판단 자동화로 해석 금지",</a:t>
            </a:r>
          </a:p>
          <a:p xmlns:a="http://schemas.openxmlformats.org/drawingml/2006/main">
            <a:r>
              <a:t>    "flow": [</a:t>
            </a:r>
          </a:p>
          <a:p xmlns:a="http://schemas.openxmlformats.org/drawingml/2006/main">
            <a:r>
              <a:t>      "전화 발화",</a:t>
            </a:r>
          </a:p>
          <a:p xmlns:a="http://schemas.openxmlformats.org/drawingml/2006/main">
            <a:r>
              <a:t>      "질의 의도 분류",</a:t>
            </a:r>
          </a:p>
          <a:p xmlns:a="http://schemas.openxmlformats.org/drawingml/2006/main">
            <a:r>
              <a:t>      "세무 안내",</a:t>
            </a:r>
          </a:p>
          <a:p xmlns:a="http://schemas.openxmlformats.org/drawingml/2006/main">
            <a:r>
              <a:t>      "추가 상담 연결"</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"음성 접점과 상담 전환의 연속성",</a:t>
            </a:r>
          </a:p>
          <a:p xmlns:a="http://schemas.openxmlformats.org/drawingml/2006/main">
            <a:r>
              <a:t>    "local": "TS 기존 민원 메뉴에 음성·텍스트 진입점 추가",</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"발화 정리·확인·소관 서비스·상담 인계",</a:t>
            </a:r>
          </a:p>
          <a:p xmlns:a="http://schemas.openxmlformats.org/drawingml/2006/main">
            <a:r>
              <a:t>    "test": "고령·소음·중도 정정·상담 전환 과업 시험",</a:t>
            </a:r>
          </a:p>
          <a:p xmlns:a="http://schemas.openxmlformats.org/drawingml/2006/main">
            <a:r>
              <a:t>    "metric": "안내 도달률 / 포기율 / 재문의율",</a:t>
            </a:r>
          </a:p>
          <a:p xmlns:a="http://schemas.openxmlformats.org/drawingml/2006/main">
            <a:r>
              <a:t>    "strategies": [</a:t>
            </a:r>
          </a:p>
          <a:p xmlns:a="http://schemas.openxmlformats.org/drawingml/2006/main">
            <a:r>
              <a:t>      "ST-08",</a:t>
            </a:r>
          </a:p>
          <a:p xmlns:a="http://schemas.openxmlformats.org/drawingml/2006/main">
            <a:r>
              <a:t>      "ST-12"</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"AX15",</a:t>
            </a:r>
          </a:p>
          <a:p xmlns:a="http://schemas.openxmlformats.org/drawingml/2006/main">
            <a:r>
              <a:t>    "canonicalId": "AX15",</a:t>
            </a:r>
          </a:p>
          <a:p xmlns:a="http://schemas.openxmlformats.org/drawingml/2006/main">
            <a:r>
              <a:t>    "purpose": "반복 세무 문의의 음성 상담 지원",</a:t>
            </a:r>
          </a:p>
          <a:p xmlns:a="http://schemas.openxmlformats.org/drawingml/2006/main">
            <a:r>
              <a:t>    "users": "납세자·상담원",</a:t>
            </a:r>
          </a:p>
          <a:p xmlns:a="http://schemas.openxmlformats.org/drawingml/2006/main">
            <a:r>
              <a:t>    "scope": [</a:t>
            </a:r>
          </a:p>
          <a:p xmlns:a="http://schemas.openxmlformats.org/drawingml/2006/main">
            <a:r>
              <a:t>      "전화 응대",</a:t>
            </a:r>
          </a:p>
          <a:p xmlns:a="http://schemas.openxmlformats.org/drawingml/2006/main">
            <a:r>
              <a:t>      "세무 안내",</a:t>
            </a:r>
          </a:p>
          <a:p xmlns:a="http://schemas.openxmlformats.org/drawingml/2006/main">
            <a:r>
              <a:t>      "상담 전환"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"전화 상담",</a:t>
            </a:r>
          </a:p>
          <a:p xmlns:a="http://schemas.openxmlformats.org/drawingml/2006/main">
            <a:r>
              <a:t>        "detail": "발화에서 세목·기간·문의 목적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"전화 응대 / 세무 안내 / 상담 전환",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"음성·의도 처리",</a:t>
            </a:r>
          </a:p>
          <a:p xmlns:a="http://schemas.openxmlformats.org/drawingml/2006/main">
            <a:r>
              <a:t>        "detail": "질의에 맞춘 상담 지식 탐색·음성 안내",</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"이용자·상담원",</a:t>
            </a:r>
          </a:p>
          <a:p xmlns:a="http://schemas.openxmlformats.org/drawingml/2006/main">
            <a:r>
              <a:t>        "detail": "해결 곤란 질문의 상담원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"세무 안내 지식",</a:t>
            </a:r>
          </a:p>
          <a:p xmlns:a="http://schemas.openxmlformats.org/drawingml/2006/main">
            <a:r>
              <a:t>        "detail": "승인 상담자료·세목·적용연도별 지식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"상담 이관·반복 문의·안내 오류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"전화 발화",</a:t>
            </a:r>
          </a:p>
          <a:p xmlns:a="http://schemas.openxmlformats.org/drawingml/2006/main">
            <a:r>
              <a:t>        "input": "발화에서 세목·기간·문의 목적 확인",</a:t>
            </a:r>
          </a:p>
          <a:p xmlns:a="http://schemas.openxmlformats.org/drawingml/2006/main">
            <a:r>
              <a:t>        "process": "승인 상담자료·세목·적용연도별 지식 관리",</a:t>
            </a:r>
          </a:p>
          <a:p xmlns:a="http://schemas.openxmlformats.org/drawingml/2006/main">
            <a:r>
              <a:t>        "output": "전화 발화"</a:t>
            </a:r>
          </a:p>
          <a:p xmlns:a="http://schemas.openxmlformats.org/drawingml/2006/main">
            <a:r>
              <a:t>      },</a:t>
            </a:r>
          </a:p>
          <a:p xmlns:a="http://schemas.openxmlformats.org/drawingml/2006/main">
            <a:r>
              <a:t>      {</a:t>
            </a:r>
          </a:p>
          <a:p xmlns:a="http://schemas.openxmlformats.org/drawingml/2006/main">
            <a:r>
              <a:t>        "title": "질의 의도 분류",</a:t>
            </a:r>
          </a:p>
          <a:p xmlns:a="http://schemas.openxmlformats.org/drawingml/2006/main">
            <a:r>
              <a:t>        "input": "전화 발화",</a:t>
            </a:r>
          </a:p>
          <a:p xmlns:a="http://schemas.openxmlformats.org/drawingml/2006/main">
            <a:r>
              <a:t>        "process": "질의에 맞춘 상담 지식 탐색·음성 안내",</a:t>
            </a:r>
          </a:p>
          <a:p xmlns:a="http://schemas.openxmlformats.org/drawingml/2006/main">
            <a:r>
              <a:t>        "output": "질의 의도"</a:t>
            </a:r>
          </a:p>
          <a:p xmlns:a="http://schemas.openxmlformats.org/drawingml/2006/main">
            <a:r>
              <a:t>      },</a:t>
            </a:r>
          </a:p>
          <a:p xmlns:a="http://schemas.openxmlformats.org/drawingml/2006/main">
            <a:r>
              <a:t>      {</a:t>
            </a:r>
          </a:p>
          <a:p xmlns:a="http://schemas.openxmlformats.org/drawingml/2006/main">
            <a:r>
              <a:t>        "title": "세무 안내",</a:t>
            </a:r>
          </a:p>
          <a:p xmlns:a="http://schemas.openxmlformats.org/drawingml/2006/main">
            <a:r>
              <a:t>        "input": "질의 의도",</a:t>
            </a:r>
          </a:p>
          <a:p xmlns:a="http://schemas.openxmlformats.org/drawingml/2006/main">
            <a:r>
              <a:t>        "process": "핵심 발화 확인·전문 상담 전환",</a:t>
            </a:r>
          </a:p>
          <a:p xmlns:a="http://schemas.openxmlformats.org/drawingml/2006/main">
            <a:r>
              <a:t>        "output": "세무 안내"</a:t>
            </a:r>
          </a:p>
          <a:p xmlns:a="http://schemas.openxmlformats.org/drawingml/2006/main">
            <a:r>
              <a:t>      },</a:t>
            </a:r>
          </a:p>
          <a:p xmlns:a="http://schemas.openxmlformats.org/drawingml/2006/main">
            <a:r>
              <a:t>      {</a:t>
            </a:r>
          </a:p>
          <a:p xmlns:a="http://schemas.openxmlformats.org/drawingml/2006/main">
            <a:r>
              <a:t>        "title": "추가 상담 연결",</a:t>
            </a:r>
          </a:p>
          <a:p xmlns:a="http://schemas.openxmlformats.org/drawingml/2006/main">
            <a:r>
              <a:t>        "input": "세무 안내",</a:t>
            </a:r>
          </a:p>
          <a:p xmlns:a="http://schemas.openxmlformats.org/drawingml/2006/main">
            <a:r>
              <a:t>        "process": "해결 곤란 질문의 상담원 연결",</a:t>
            </a:r>
          </a:p>
          <a:p xmlns:a="http://schemas.openxmlformats.org/drawingml/2006/main">
            <a:r>
              <a:t>        "output": "후속 상담"</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"납세자의 세목·귀속연도를 확인한 뒤 안내·상담 전환",</a:t>
            </a:r>
          </a:p>
          <a:p xmlns:a="http://schemas.openxmlformats.org/drawingml/2006/main">
            <a:r>
              <a:t>      "exception": "발화 인식 실패·다른 귀속연도·개인별 과세 판단 요청",</a:t>
            </a:r>
          </a:p>
          <a:p xmlns:a="http://schemas.openxmlformats.org/drawingml/2006/main">
            <a:r>
              <a:t>      "evidence": "필수 항목 인식표와 상담원 인계·해결 여부",</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"납세자·상담원",</a:t>
            </a:r>
          </a:p>
          <a:p xmlns:a="http://schemas.openxmlformats.org/drawingml/2006/main">
            <a:r>
              <a:t>          "processing": "발화에서 세목·기간·문의 목적 확인",</a:t>
            </a:r>
          </a:p>
          <a:p xmlns:a="http://schemas.openxmlformats.org/drawingml/2006/main">
            <a:r>
              <a:t>          "output": "전화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"세무 안내 지식",</a:t>
            </a:r>
          </a:p>
          <a:p xmlns:a="http://schemas.openxmlformats.org/drawingml/2006/main">
            <a:r>
              <a:t>          "processing": "승인 상담자료·세목·적용연도별 지식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"전화 발화",</a:t>
            </a:r>
          </a:p>
          <a:p xmlns:a="http://schemas.openxmlformats.org/drawingml/2006/main">
            <a:r>
              <a:t>          "processing": "질의에 맞춘 상담 지식 탐색·음성 안내",</a:t>
            </a:r>
          </a:p>
          <a:p xmlns:a="http://schemas.openxmlformats.org/drawingml/2006/main">
            <a:r>
              <a:t>          "output": "세무 안내"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"세무 안내",</a:t>
            </a:r>
          </a:p>
          <a:p xmlns:a="http://schemas.openxmlformats.org/drawingml/2006/main">
            <a:r>
              <a:t>          "processing": "해결 곤란 질문의 상담원 연결",</a:t>
            </a:r>
          </a:p>
          <a:p xmlns:a="http://schemas.openxmlformats.org/drawingml/2006/main">
            <a:r>
              <a:t>          "output": "후속 상담"</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"상담 이관·반복 문의·안내 오류 점검",</a:t>
            </a:r>
          </a:p>
          <a:p xmlns:a="http://schemas.openxmlformats.org/drawingml/2006/main">
            <a:r>
              <a:t>          "output": "필수 항목 인식표와 상담원 인계·해결 여부"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"상담 이관·반복 문의·안내 오류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"S-AX15",</a:t>
            </a:r>
          </a:p>
          <a:p xmlns:a="http://schemas.openxmlformats.org/drawingml/2006/main">
            <a:r>
              <a:t>        "title": "국세청 AI 전화상담 · 국세청 전국 확대 공지 / 2024-12-30",</a:t>
            </a:r>
          </a:p>
          <a:p xmlns:a="http://schemas.openxmlformats.org/drawingml/2006/main">
            <a:r>
              <a:t>        "url": "https://www.nts.go.kr/nts/na/ntt/selectNttInfo.do?bbsId=1011&amp;mi=2207&amp;nttSn=1339206",</a:t>
            </a:r>
          </a:p>
          <a:p xmlns:a="http://schemas.openxmlformats.org/drawingml/2006/main">
            <a:r>
              <a:t>        "published": "2024 시범 / 2024-12-30 전국 확대 시행",</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"음성 접점과 상담 전환의 연속성",</a:t>
            </a:r>
          </a:p>
          <a:p xmlns:a="http://schemas.openxmlformats.org/drawingml/2006/main">
            <a:r>
              <a:t>    "local": "TS 기존 민원 메뉴에 음성·텍스트 진입점 추가",</a:t>
            </a:r>
          </a:p>
          <a:p xmlns:a="http://schemas.openxmlformats.org/drawingml/2006/main">
            <a:r>
              <a:t>    "sourceDetail": null,</a:t>
            </a:r>
          </a:p>
          <a:p xmlns:a="http://schemas.openxmlformats.org/drawingml/2006/main">
            <a:r>
              <a:t>    "narrative": [</a:t>
            </a:r>
          </a:p>
          <a:p xmlns:a="http://schemas.openxmlformats.org/drawingml/2006/main">
            <a:r>
              <a:t>      "반복 세무 문의를 전화 채널에서 안내하고 복잡한 질문을 상담원에게 연결하는 음성 상담 사례. 상담내용의 범위와 적용 연도를 정확히 식별하는 작업이 중요.",</a:t>
            </a:r>
          </a:p>
          <a:p xmlns:a="http://schemas.openxmlformats.org/drawingml/2006/main">
            <a:r>
              <a:t>      "발화의 세목·기간·질문 목적을 정리하고 승인 지식을 찾아 음성으로 안내하는 구조의 재구성. 응답이 불분명하거나 예외 판단이 필요한 경우 대화 맥락을 상담원에게 전달.",</a:t>
            </a:r>
          </a:p>
          <a:p xmlns:a="http://schemas.openxmlformats.org/drawingml/2006/main">
            <a:r>
              <a:t>      "TS 음성 민원 접점에서 인식률만으로 검수하지 않고 필수 항목 확인과 인계 성공을 포함할 근거. 시범 운영과 전국 확대 계획, 실제 해결률을 각각 구분한 비교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"전화 상담 접점",</a:t>
            </a:r>
          </a:p>
          <a:p xmlns:a="http://schemas.openxmlformats.org/drawingml/2006/main">
            <a:r>
              <a:t>          "layer": "이용 접점",</a:t>
            </a:r>
          </a:p>
          <a:p xmlns:a="http://schemas.openxmlformats.org/drawingml/2006/main">
            <a:r>
              <a:t>          "detail": "납세자·상담원",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"세목·기간 확인",</a:t>
            </a:r>
          </a:p>
          <a:p xmlns:a="http://schemas.openxmlformats.org/drawingml/2006/main">
            <a:r>
              <a:t>          "layer": "업무 문맥",</a:t>
            </a:r>
          </a:p>
          <a:p xmlns:a="http://schemas.openxmlformats.org/drawingml/2006/main">
            <a:r>
              <a:t>          "detail": "발화에서 세목·기간·문의 목적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지식 검색",</a:t>
            </a:r>
          </a:p>
          <a:p xmlns:a="http://schemas.openxmlformats.org/drawingml/2006/main">
            <a:r>
              <a:t>          "layer": "자료 조회",</a:t>
            </a:r>
          </a:p>
          <a:p xmlns:a="http://schemas.openxmlformats.org/drawingml/2006/main">
            <a:r>
              <a:t>          "detail": "전화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"발화·의도 처리",</a:t>
            </a:r>
          </a:p>
          <a:p xmlns:a="http://schemas.openxmlformats.org/drawingml/2006/main">
            <a:r>
              <a:t>          "layer": "핵심 처리",</a:t>
            </a:r>
          </a:p>
          <a:p xmlns:a="http://schemas.openxmlformats.org/drawingml/2006/main">
            <a:r>
              <a:t>          "detail": "질의에 맞춘 상담 지식 탐색·음성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"핵심 조건 확인",</a:t>
            </a:r>
          </a:p>
          <a:p xmlns:a="http://schemas.openxmlformats.org/drawingml/2006/main">
            <a:r>
              <a:t>          "layer": "결과 검증",</a:t>
            </a:r>
          </a:p>
          <a:p xmlns:a="http://schemas.openxmlformats.org/drawingml/2006/main">
            <a:r>
              <a:t>          "detail": "핵심 발화 확인·전문 상담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"이용자·상담원",</a:t>
            </a:r>
          </a:p>
          <a:p xmlns:a="http://schemas.openxmlformats.org/drawingml/2006/main">
            <a:r>
              <a:t>          "layer": "사람 확인",</a:t>
            </a:r>
          </a:p>
          <a:p xmlns:a="http://schemas.openxmlformats.org/drawingml/2006/main">
            <a:r>
              <a:t>          "detail": "납세자의 세목·귀속연도를 확인한 뒤 안내·상담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"음성 안내·인계",</a:t>
            </a:r>
          </a:p>
          <a:p xmlns:a="http://schemas.openxmlformats.org/drawingml/2006/main">
            <a:r>
              <a:t>          "layer": "업무 연결",</a:t>
            </a:r>
          </a:p>
          <a:p xmlns:a="http://schemas.openxmlformats.org/drawingml/2006/main">
            <a:r>
              <a:t>          "detail": "해결 곤란 질문의 상담원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"반복 문의 분석",</a:t>
            </a:r>
          </a:p>
          <a:p xmlns:a="http://schemas.openxmlformats.org/drawingml/2006/main">
            <a:r>
              <a:t>          "layer": "운영 관측",</a:t>
            </a:r>
          </a:p>
          <a:p xmlns:a="http://schemas.openxmlformats.org/drawingml/2006/main">
            <a:r>
              <a:t>          "detail": "상담 이관·반복 문의·안내 오류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"세무 상담자료",</a:t>
            </a:r>
          </a:p>
          <a:p xmlns:a="http://schemas.openxmlformats.org/drawingml/2006/main">
            <a:r>
              <a:t>          "layer": "데이터 원천",</a:t>
            </a:r>
          </a:p>
          <a:p xmlns:a="http://schemas.openxmlformats.org/drawingml/2006/main">
            <a:r>
              <a:t>          "detail": "세무 안내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"적용연도 정리",</a:t>
            </a:r>
          </a:p>
          <a:p xmlns:a="http://schemas.openxmlformats.org/drawingml/2006/main">
            <a:r>
              <a:t>          "layer": "준비·갱신",</a:t>
            </a:r>
          </a:p>
          <a:p xmlns:a="http://schemas.openxmlformats.org/drawingml/2006/main">
            <a:r>
              <a:t>          "detail": "승인 상담자료·세목·적용연도별 지식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"지식·상담 이력",</a:t>
            </a:r>
          </a:p>
          <a:p xmlns:a="http://schemas.openxmlformats.org/drawingml/2006/main">
            <a:r>
              <a:t>          "layer": "상태·지식 저장",</a:t>
            </a:r>
          </a:p>
          <a:p xmlns:a="http://schemas.openxmlformats.org/drawingml/2006/main">
            <a:r>
              <a:t>          "detail": "필수 항목 인식표와 상담원 인계·해결 여부",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"전문 상담 기준",</a:t>
            </a:r>
          </a:p>
          <a:p xmlns:a="http://schemas.openxmlformats.org/drawingml/2006/main">
            <a:r>
              <a:t>          "layer": "권한·정책",</a:t>
            </a:r>
          </a:p>
          <a:p xmlns:a="http://schemas.openxmlformats.org/drawingml/2006/main">
            <a:r>
              <a:t>          "detail": "발화 인식 실패·다른 귀속연도·개인별 과세 판단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"전화 발화 → 질의 의도 분류 → 세무 안내 → 추가 상담 연결"</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"발화에서 세목·기간·문의 목적 확인",</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"전화 발화",</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"세무 안내 지식",</a:t>
            </a:r>
          </a:p>
          <a:p xmlns:a="http://schemas.openxmlformats.org/drawingml/2006/main">
            <a:r>
              <a:t>          "check": "승인 상담자료·세목·적용연도별 지식 관리"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"세무 안내",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"후속 상담",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"후속 상담",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"반복 세무 문의의 음성 상담 지원 / 전화 응대·세무 안내·상담 전환",</a:t>
            </a:r>
          </a:p>
          <a:p xmlns:a="http://schemas.openxmlformats.org/drawingml/2006/main">
            <a:r>
              <a:t>        "extension": "TS 기존 민원 메뉴에 음성·텍스트 진입점 추가"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"발화 인식 실패·다른 귀속연도·개인별 과세 판단 요청",</a:t>
            </a:r>
          </a:p>
          <a:p xmlns:a="http://schemas.openxmlformats.org/drawingml/2006/main">
            <a:r>
              <a:t>        "hold": "핵심 발화 확인·전문 상담 전환",</a:t>
            </a:r>
          </a:p>
          <a:p xmlns:a="http://schemas.openxmlformats.org/drawingml/2006/main">
            <a:r>
              <a:t>        "recovery": "상담 이관·반복 문의·안내 오류 점검",</a:t>
            </a:r>
          </a:p>
          <a:p xmlns:a="http://schemas.openxmlformats.org/drawingml/2006/main">
            <a:r>
              <a:t>        "evidence": "필수 항목 인식표와 상담원 인계·해결 여부"</a:t>
            </a:r>
          </a:p>
          <a:p xmlns:a="http://schemas.openxmlformats.org/drawingml/2006/main">
            <a:r>
              <a:t>      },</a:t>
            </a:r>
          </a:p>
          <a:p xmlns:a="http://schemas.openxmlformats.org/drawingml/2006/main">
            <a:r>
              <a:t>      "data": {</a:t>
            </a:r>
          </a:p>
          <a:p xmlns:a="http://schemas.openxmlformats.org/drawingml/2006/main">
            <a:r>
              <a:t>        "source": "세무 안내 지식",</a:t>
            </a:r>
          </a:p>
          <a:p xmlns:a="http://schemas.openxmlformats.org/drawingml/2006/main">
            <a:r>
              <a:t>        "prepare": "승인 상담자료·세목·적용연도별 지식 관리",</a:t>
            </a:r>
          </a:p>
          <a:p xmlns:a="http://schemas.openxmlformats.org/drawingml/2006/main">
            <a:r>
              <a:t>        "output": "전화 발화",</a:t>
            </a:r>
          </a:p>
          <a:p xmlns:a="http://schemas.openxmlformats.org/drawingml/2006/main">
            <a:r>
              <a:t>        "refresh": "상담 이관·반복 문의·안내 오류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"AX15",</a:t>
            </a:r>
          </a:p>
          <a:p xmlns:a="http://schemas.openxmlformats.org/drawingml/2006/main">
            <a:r>
              <a:t>    "success": [</a:t>
            </a:r>
          </a:p>
          <a:p xmlns:a="http://schemas.openxmlformats.org/drawingml/2006/main">
            <a:r>
              <a:t>      "전화 채널과 세무 안내 결합",</a:t>
            </a:r>
          </a:p>
          <a:p xmlns:a="http://schemas.openxmlformats.org/drawingml/2006/main">
            <a:r>
              <a:t>      "시범 적용 후 확대 검토"</a:t>
            </a:r>
          </a:p>
          <a:p xmlns:a="http://schemas.openxmlformats.org/drawingml/2006/main">
            <a:r>
              <a:t>    ],</a:t>
            </a:r>
          </a:p>
          <a:p xmlns:a="http://schemas.openxmlformats.org/drawingml/2006/main">
            <a:r>
              <a:t>    "risks": [</a:t>
            </a:r>
          </a:p>
          <a:p xmlns:a="http://schemas.openxmlformats.org/drawingml/2006/main">
            <a:r>
              <a:t>      "예외 세무상담의 잘못된 안내",</a:t>
            </a:r>
          </a:p>
          <a:p xmlns:a="http://schemas.openxmlformats.org/drawingml/2006/main">
            <a:r>
              <a:t>      "시범 성과와 전국 운영의 혼동"</a:t>
            </a:r>
          </a:p>
          <a:p xmlns:a="http://schemas.openxmlformats.org/drawingml/2006/main">
            <a:r>
              <a:t>    ],</a:t>
            </a:r>
          </a:p>
          <a:p xmlns:a="http://schemas.openxmlformats.org/drawingml/2006/main">
            <a:r>
              <a:t>    "architecture": [</a:t>
            </a:r>
          </a:p>
          <a:p xmlns:a="http://schemas.openxmlformats.org/drawingml/2006/main">
            <a:r>
              <a:t>      "전화 상담",</a:t>
            </a:r>
          </a:p>
          <a:p xmlns:a="http://schemas.openxmlformats.org/drawingml/2006/main">
            <a:r>
              <a:t>      "음성·의도 처리",</a:t>
            </a:r>
          </a:p>
          <a:p xmlns:a="http://schemas.openxmlformats.org/drawingml/2006/main">
            <a:r>
              <a:t>      "세무 안내 지식",</a:t>
            </a:r>
          </a:p>
          <a:p xmlns:a="http://schemas.openxmlformats.org/drawingml/2006/main">
            <a:r>
              <a:t>      "이용자·상담원"</a:t>
            </a:r>
          </a:p>
          <a:p xmlns:a="http://schemas.openxmlformats.org/drawingml/2006/main">
            <a:r>
              <a:t>    ],</a:t>
            </a:r>
          </a:p>
          <a:p xmlns:a="http://schemas.openxmlformats.org/drawingml/2006/main">
            <a:r>
              <a:t>    "transfers": [</a:t>
            </a:r>
          </a:p>
          <a:p xmlns:a="http://schemas.openxmlformats.org/drawingml/2006/main">
            <a:r>
              <a:t>      "전화 발화",</a:t>
            </a:r>
          </a:p>
          <a:p xmlns:a="http://schemas.openxmlformats.org/drawingml/2006/main">
            <a:r>
              <a:t>      "질의 의도",</a:t>
            </a:r>
          </a:p>
          <a:p xmlns:a="http://schemas.openxmlformats.org/drawingml/2006/main">
            <a:r>
              <a:t>      "세무 안내",</a:t>
            </a:r>
          </a:p>
          <a:p xmlns:a="http://schemas.openxmlformats.org/drawingml/2006/main">
            <a:r>
              <a:t>      "후속 상담"</a:t>
            </a:r>
          </a:p>
          <a:p xmlns:a="http://schemas.openxmlformats.org/drawingml/2006/main">
            <a:r>
              <a:t>    ],</a:t>
            </a:r>
          </a:p>
          <a:p xmlns:a="http://schemas.openxmlformats.org/drawingml/2006/main">
            <a:r>
              <a:t>    "control": "핵심 발화 확인·전문 상담 전환",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국세청 AI 전화상담 · 국세청 전국 확대 공지 / 2024-12-30 https://www.nts.go.kr/nts/na/ntt/selectNttInfo.do?bbsId=1011&amp;mi=2207&amp;nttSn=1339206</a:t>
            </a:r>
          </a:p>
          <a:p xmlns:a="http://schemas.openxmlformats.org/drawingml/2006/main">
            <a:r>
              <a:t>홈페이지 https://heen1987-ops.github.io/TS-business-Plan-001/index.html?view=casebook&amp;case=AX15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"AX15",</a:t>
            </a:r>
          </a:p>
          <a:p xmlns:a="http://schemas.openxmlformats.org/drawingml/2006/main">
            <a:r>
              <a:t>    "title": "국세청 AI 전화상담",</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"음성 기반 민원 안내",</a:t>
            </a:r>
          </a:p>
          <a:p xmlns:a="http://schemas.openxmlformats.org/drawingml/2006/main">
            <a:r>
              <a:t>    "period": "2024 시범 / 2024-12-30 전국 확대 시행",</a:t>
            </a:r>
          </a:p>
          <a:p xmlns:a="http://schemas.openxmlformats.org/drawingml/2006/main">
            <a:r>
              <a:t>    "sources": [</a:t>
            </a:r>
          </a:p>
          <a:p xmlns:a="http://schemas.openxmlformats.org/drawingml/2006/main">
            <a:r>
              <a:t>      "S-AX15"</a:t>
            </a:r>
          </a:p>
          <a:p xmlns:a="http://schemas.openxmlformats.org/drawingml/2006/main">
            <a:r>
              <a:t>    ],</a:t>
            </a:r>
          </a:p>
          <a:p xmlns:a="http://schemas.openxmlformats.org/drawingml/2006/main">
            <a:r>
              <a:t>    "keywords": [</a:t>
            </a:r>
          </a:p>
          <a:p xmlns:a="http://schemas.openxmlformats.org/drawingml/2006/main">
            <a:r>
              <a:t>      "음성 기반 민원 안내"</a:t>
            </a:r>
          </a:p>
          <a:p xmlns:a="http://schemas.openxmlformats.org/drawingml/2006/main">
            <a:r>
              <a:t>    ],</a:t>
            </a:r>
          </a:p>
          <a:p xmlns:a="http://schemas.openxmlformats.org/drawingml/2006/main">
            <a:r>
              <a:t>    "fact": "2024년 11월 14개 세무서 시범 후 12월 30일 전국 133개 세무서 대표전화에 확대 시행; 상담 중 직원 연결 가능",</a:t>
            </a:r>
          </a:p>
          <a:p xmlns:a="http://schemas.openxmlformats.org/drawingml/2006/main">
            <a:r>
              <a:t>    "limit": "대표전화 지정 분야의 서비스 확대 확인 · 대기시간·정확도 개선 효과는 미측정 · 개인별 과세 판단 자동화로 해석 금지",</a:t>
            </a:r>
          </a:p>
          <a:p xmlns:a="http://schemas.openxmlformats.org/drawingml/2006/main">
            <a:r>
              <a:t>    "flow": [</a:t>
            </a:r>
          </a:p>
          <a:p xmlns:a="http://schemas.openxmlformats.org/drawingml/2006/main">
            <a:r>
              <a:t>      "전화 발화",</a:t>
            </a:r>
          </a:p>
          <a:p xmlns:a="http://schemas.openxmlformats.org/drawingml/2006/main">
            <a:r>
              <a:t>      "질의 의도 분류",</a:t>
            </a:r>
          </a:p>
          <a:p xmlns:a="http://schemas.openxmlformats.org/drawingml/2006/main">
            <a:r>
              <a:t>      "세무 안내",</a:t>
            </a:r>
          </a:p>
          <a:p xmlns:a="http://schemas.openxmlformats.org/drawingml/2006/main">
            <a:r>
              <a:t>      "추가 상담 연결"</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"음성 접점과 상담 전환의 연속성",</a:t>
            </a:r>
          </a:p>
          <a:p xmlns:a="http://schemas.openxmlformats.org/drawingml/2006/main">
            <a:r>
              <a:t>    "local": "TS 기존 민원 메뉴에 음성·텍스트 진입점 추가",</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"발화 정리·확인·소관 서비스·상담 인계",</a:t>
            </a:r>
          </a:p>
          <a:p xmlns:a="http://schemas.openxmlformats.org/drawingml/2006/main">
            <a:r>
              <a:t>    "test": "고령·소음·중도 정정·상담 전환 과업 시험",</a:t>
            </a:r>
          </a:p>
          <a:p xmlns:a="http://schemas.openxmlformats.org/drawingml/2006/main">
            <a:r>
              <a:t>    "metric": "안내 도달률 / 포기율 / 재문의율",</a:t>
            </a:r>
          </a:p>
          <a:p xmlns:a="http://schemas.openxmlformats.org/drawingml/2006/main">
            <a:r>
              <a:t>    "strategies": [</a:t>
            </a:r>
          </a:p>
          <a:p xmlns:a="http://schemas.openxmlformats.org/drawingml/2006/main">
            <a:r>
              <a:t>      "ST-08",</a:t>
            </a:r>
          </a:p>
          <a:p xmlns:a="http://schemas.openxmlformats.org/drawingml/2006/main">
            <a:r>
              <a:t>      "ST-12"</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"AX15",</a:t>
            </a:r>
          </a:p>
          <a:p xmlns:a="http://schemas.openxmlformats.org/drawingml/2006/main">
            <a:r>
              <a:t>    "canonicalId": "AX15",</a:t>
            </a:r>
          </a:p>
          <a:p xmlns:a="http://schemas.openxmlformats.org/drawingml/2006/main">
            <a:r>
              <a:t>    "purpose": "반복 세무 문의의 음성 상담 지원",</a:t>
            </a:r>
          </a:p>
          <a:p xmlns:a="http://schemas.openxmlformats.org/drawingml/2006/main">
            <a:r>
              <a:t>    "users": "납세자·상담원",</a:t>
            </a:r>
          </a:p>
          <a:p xmlns:a="http://schemas.openxmlformats.org/drawingml/2006/main">
            <a:r>
              <a:t>    "scope": [</a:t>
            </a:r>
          </a:p>
          <a:p xmlns:a="http://schemas.openxmlformats.org/drawingml/2006/main">
            <a:r>
              <a:t>      "전화 응대",</a:t>
            </a:r>
          </a:p>
          <a:p xmlns:a="http://schemas.openxmlformats.org/drawingml/2006/main">
            <a:r>
              <a:t>      "세무 안내",</a:t>
            </a:r>
          </a:p>
          <a:p xmlns:a="http://schemas.openxmlformats.org/drawingml/2006/main">
            <a:r>
              <a:t>      "상담 전환"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"전화 상담",</a:t>
            </a:r>
          </a:p>
          <a:p xmlns:a="http://schemas.openxmlformats.org/drawingml/2006/main">
            <a:r>
              <a:t>        "detail": "발화에서 세목·기간·문의 목적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"전화 응대 / 세무 안내 / 상담 전환",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"음성·의도 처리",</a:t>
            </a:r>
          </a:p>
          <a:p xmlns:a="http://schemas.openxmlformats.org/drawingml/2006/main">
            <a:r>
              <a:t>        "detail": "질의에 맞춘 상담 지식 탐색·음성 안내",</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"이용자·상담원",</a:t>
            </a:r>
          </a:p>
          <a:p xmlns:a="http://schemas.openxmlformats.org/drawingml/2006/main">
            <a:r>
              <a:t>        "detail": "해결 곤란 질문의 상담원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"세무 안내 지식",</a:t>
            </a:r>
          </a:p>
          <a:p xmlns:a="http://schemas.openxmlformats.org/drawingml/2006/main">
            <a:r>
              <a:t>        "detail": "승인 상담자료·세목·적용연도별 지식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"상담 이관·반복 문의·안내 오류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"전화 발화",</a:t>
            </a:r>
          </a:p>
          <a:p xmlns:a="http://schemas.openxmlformats.org/drawingml/2006/main">
            <a:r>
              <a:t>        "input": "발화에서 세목·기간·문의 목적 확인",</a:t>
            </a:r>
          </a:p>
          <a:p xmlns:a="http://schemas.openxmlformats.org/drawingml/2006/main">
            <a:r>
              <a:t>        "process": "승인 상담자료·세목·적용연도별 지식 관리",</a:t>
            </a:r>
          </a:p>
          <a:p xmlns:a="http://schemas.openxmlformats.org/drawingml/2006/main">
            <a:r>
              <a:t>        "output": "전화 발화"</a:t>
            </a:r>
          </a:p>
          <a:p xmlns:a="http://schemas.openxmlformats.org/drawingml/2006/main">
            <a:r>
              <a:t>      },</a:t>
            </a:r>
          </a:p>
          <a:p xmlns:a="http://schemas.openxmlformats.org/drawingml/2006/main">
            <a:r>
              <a:t>      {</a:t>
            </a:r>
          </a:p>
          <a:p xmlns:a="http://schemas.openxmlformats.org/drawingml/2006/main">
            <a:r>
              <a:t>        "title": "질의 의도 분류",</a:t>
            </a:r>
          </a:p>
          <a:p xmlns:a="http://schemas.openxmlformats.org/drawingml/2006/main">
            <a:r>
              <a:t>        "input": "전화 발화",</a:t>
            </a:r>
          </a:p>
          <a:p xmlns:a="http://schemas.openxmlformats.org/drawingml/2006/main">
            <a:r>
              <a:t>        "process": "질의에 맞춘 상담 지식 탐색·음성 안내",</a:t>
            </a:r>
          </a:p>
          <a:p xmlns:a="http://schemas.openxmlformats.org/drawingml/2006/main">
            <a:r>
              <a:t>        "output": "질의 의도"</a:t>
            </a:r>
          </a:p>
          <a:p xmlns:a="http://schemas.openxmlformats.org/drawingml/2006/main">
            <a:r>
              <a:t>      },</a:t>
            </a:r>
          </a:p>
          <a:p xmlns:a="http://schemas.openxmlformats.org/drawingml/2006/main">
            <a:r>
              <a:t>      {</a:t>
            </a:r>
          </a:p>
          <a:p xmlns:a="http://schemas.openxmlformats.org/drawingml/2006/main">
            <a:r>
              <a:t>        "title": "세무 안내",</a:t>
            </a:r>
          </a:p>
          <a:p xmlns:a="http://schemas.openxmlformats.org/drawingml/2006/main">
            <a:r>
              <a:t>        "input": "질의 의도",</a:t>
            </a:r>
          </a:p>
          <a:p xmlns:a="http://schemas.openxmlformats.org/drawingml/2006/main">
            <a:r>
              <a:t>        "process": "핵심 발화 확인·전문 상담 전환",</a:t>
            </a:r>
          </a:p>
          <a:p xmlns:a="http://schemas.openxmlformats.org/drawingml/2006/main">
            <a:r>
              <a:t>        "output": "세무 안내"</a:t>
            </a:r>
          </a:p>
          <a:p xmlns:a="http://schemas.openxmlformats.org/drawingml/2006/main">
            <a:r>
              <a:t>      },</a:t>
            </a:r>
          </a:p>
          <a:p xmlns:a="http://schemas.openxmlformats.org/drawingml/2006/main">
            <a:r>
              <a:t>      {</a:t>
            </a:r>
          </a:p>
          <a:p xmlns:a="http://schemas.openxmlformats.org/drawingml/2006/main">
            <a:r>
              <a:t>        "title": "추가 상담 연결",</a:t>
            </a:r>
          </a:p>
          <a:p xmlns:a="http://schemas.openxmlformats.org/drawingml/2006/main">
            <a:r>
              <a:t>        "input": "세무 안내",</a:t>
            </a:r>
          </a:p>
          <a:p xmlns:a="http://schemas.openxmlformats.org/drawingml/2006/main">
            <a:r>
              <a:t>        "process": "해결 곤란 질문의 상담원 연결",</a:t>
            </a:r>
          </a:p>
          <a:p xmlns:a="http://schemas.openxmlformats.org/drawingml/2006/main">
            <a:r>
              <a:t>        "output": "후속 상담"</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"납세자의 세목·귀속연도를 확인한 뒤 안내·상담 전환",</a:t>
            </a:r>
          </a:p>
          <a:p xmlns:a="http://schemas.openxmlformats.org/drawingml/2006/main">
            <a:r>
              <a:t>      "exception": "발화 인식 실패·다른 귀속연도·개인별 과세 판단 요청",</a:t>
            </a:r>
          </a:p>
          <a:p xmlns:a="http://schemas.openxmlformats.org/drawingml/2006/main">
            <a:r>
              <a:t>      "evidence": "필수 항목 인식표와 상담원 인계·해결 여부",</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"납세자·상담원",</a:t>
            </a:r>
          </a:p>
          <a:p xmlns:a="http://schemas.openxmlformats.org/drawingml/2006/main">
            <a:r>
              <a:t>          "processing": "발화에서 세목·기간·문의 목적 확인",</a:t>
            </a:r>
          </a:p>
          <a:p xmlns:a="http://schemas.openxmlformats.org/drawingml/2006/main">
            <a:r>
              <a:t>          "output": "전화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"세무 안내 지식",</a:t>
            </a:r>
          </a:p>
          <a:p xmlns:a="http://schemas.openxmlformats.org/drawingml/2006/main">
            <a:r>
              <a:t>          "processing": "승인 상담자료·세목·적용연도별 지식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"전화 발화",</a:t>
            </a:r>
          </a:p>
          <a:p xmlns:a="http://schemas.openxmlformats.org/drawingml/2006/main">
            <a:r>
              <a:t>          "processing": "질의에 맞춘 상담 지식 탐색·음성 안내",</a:t>
            </a:r>
          </a:p>
          <a:p xmlns:a="http://schemas.openxmlformats.org/drawingml/2006/main">
            <a:r>
              <a:t>          "output": "세무 안내"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"세무 안내",</a:t>
            </a:r>
          </a:p>
          <a:p xmlns:a="http://schemas.openxmlformats.org/drawingml/2006/main">
            <a:r>
              <a:t>          "processing": "해결 곤란 질문의 상담원 연결",</a:t>
            </a:r>
          </a:p>
          <a:p xmlns:a="http://schemas.openxmlformats.org/drawingml/2006/main">
            <a:r>
              <a:t>          "output": "후속 상담"</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"상담 이관·반복 문의·안내 오류 점검",</a:t>
            </a:r>
          </a:p>
          <a:p xmlns:a="http://schemas.openxmlformats.org/drawingml/2006/main">
            <a:r>
              <a:t>          "output": "필수 항목 인식표와 상담원 인계·해결 여부"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"상담 이관·반복 문의·안내 오류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"S-AX15",</a:t>
            </a:r>
          </a:p>
          <a:p xmlns:a="http://schemas.openxmlformats.org/drawingml/2006/main">
            <a:r>
              <a:t>        "title": "국세청 AI 전화상담 · 국세청 전국 확대 공지 / 2024-12-30",</a:t>
            </a:r>
          </a:p>
          <a:p xmlns:a="http://schemas.openxmlformats.org/drawingml/2006/main">
            <a:r>
              <a:t>        "url": "https://www.nts.go.kr/nts/na/ntt/selectNttInfo.do?bbsId=1011&amp;mi=2207&amp;nttSn=1339206",</a:t>
            </a:r>
          </a:p>
          <a:p xmlns:a="http://schemas.openxmlformats.org/drawingml/2006/main">
            <a:r>
              <a:t>        "published": "2024 시범 / 2024-12-30 전국 확대 시행",</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"음성 접점과 상담 전환의 연속성",</a:t>
            </a:r>
          </a:p>
          <a:p xmlns:a="http://schemas.openxmlformats.org/drawingml/2006/main">
            <a:r>
              <a:t>    "local": "TS 기존 민원 메뉴에 음성·텍스트 진입점 추가",</a:t>
            </a:r>
          </a:p>
          <a:p xmlns:a="http://schemas.openxmlformats.org/drawingml/2006/main">
            <a:r>
              <a:t>    "sourceDetail": null,</a:t>
            </a:r>
          </a:p>
          <a:p xmlns:a="http://schemas.openxmlformats.org/drawingml/2006/main">
            <a:r>
              <a:t>    "narrative": [</a:t>
            </a:r>
          </a:p>
          <a:p xmlns:a="http://schemas.openxmlformats.org/drawingml/2006/main">
            <a:r>
              <a:t>      "반복 세무 문의를 전화 채널에서 안내하고 복잡한 질문을 상담원에게 연결하는 음성 상담 사례. 상담내용의 범위와 적용 연도를 정확히 식별하는 작업이 중요.",</a:t>
            </a:r>
          </a:p>
          <a:p xmlns:a="http://schemas.openxmlformats.org/drawingml/2006/main">
            <a:r>
              <a:t>      "발화의 세목·기간·질문 목적을 정리하고 승인 지식을 찾아 음성으로 안내하는 구조의 재구성. 응답이 불분명하거나 예외 판단이 필요한 경우 대화 맥락을 상담원에게 전달.",</a:t>
            </a:r>
          </a:p>
          <a:p xmlns:a="http://schemas.openxmlformats.org/drawingml/2006/main">
            <a:r>
              <a:t>      "TS 음성 민원 접점에서 인식률만으로 검수하지 않고 필수 항목 확인과 인계 성공을 포함할 근거. 시범 운영과 전국 확대 계획, 실제 해결률을 각각 구분한 비교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"전화 상담 접점",</a:t>
            </a:r>
          </a:p>
          <a:p xmlns:a="http://schemas.openxmlformats.org/drawingml/2006/main">
            <a:r>
              <a:t>          "layer": "이용 접점",</a:t>
            </a:r>
          </a:p>
          <a:p xmlns:a="http://schemas.openxmlformats.org/drawingml/2006/main">
            <a:r>
              <a:t>          "detail": "납세자·상담원",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"세목·기간 확인",</a:t>
            </a:r>
          </a:p>
          <a:p xmlns:a="http://schemas.openxmlformats.org/drawingml/2006/main">
            <a:r>
              <a:t>          "layer": "업무 문맥",</a:t>
            </a:r>
          </a:p>
          <a:p xmlns:a="http://schemas.openxmlformats.org/drawingml/2006/main">
            <a:r>
              <a:t>          "detail": "발화에서 세목·기간·문의 목적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지식 검색",</a:t>
            </a:r>
          </a:p>
          <a:p xmlns:a="http://schemas.openxmlformats.org/drawingml/2006/main">
            <a:r>
              <a:t>          "layer": "자료 조회",</a:t>
            </a:r>
          </a:p>
          <a:p xmlns:a="http://schemas.openxmlformats.org/drawingml/2006/main">
            <a:r>
              <a:t>          "detail": "전화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"발화·의도 처리",</a:t>
            </a:r>
          </a:p>
          <a:p xmlns:a="http://schemas.openxmlformats.org/drawingml/2006/main">
            <a:r>
              <a:t>          "layer": "핵심 처리",</a:t>
            </a:r>
          </a:p>
          <a:p xmlns:a="http://schemas.openxmlformats.org/drawingml/2006/main">
            <a:r>
              <a:t>          "detail": "질의에 맞춘 상담 지식 탐색·음성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"핵심 조건 확인",</a:t>
            </a:r>
          </a:p>
          <a:p xmlns:a="http://schemas.openxmlformats.org/drawingml/2006/main">
            <a:r>
              <a:t>          "layer": "결과 검증",</a:t>
            </a:r>
          </a:p>
          <a:p xmlns:a="http://schemas.openxmlformats.org/drawingml/2006/main">
            <a:r>
              <a:t>          "detail": "핵심 발화 확인·전문 상담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"이용자·상담원",</a:t>
            </a:r>
          </a:p>
          <a:p xmlns:a="http://schemas.openxmlformats.org/drawingml/2006/main">
            <a:r>
              <a:t>          "layer": "사람 확인",</a:t>
            </a:r>
          </a:p>
          <a:p xmlns:a="http://schemas.openxmlformats.org/drawingml/2006/main">
            <a:r>
              <a:t>          "detail": "납세자의 세목·귀속연도를 확인한 뒤 안내·상담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"음성 안내·인계",</a:t>
            </a:r>
          </a:p>
          <a:p xmlns:a="http://schemas.openxmlformats.org/drawingml/2006/main">
            <a:r>
              <a:t>          "layer": "업무 연결",</a:t>
            </a:r>
          </a:p>
          <a:p xmlns:a="http://schemas.openxmlformats.org/drawingml/2006/main">
            <a:r>
              <a:t>          "detail": "해결 곤란 질문의 상담원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"반복 문의 분석",</a:t>
            </a:r>
          </a:p>
          <a:p xmlns:a="http://schemas.openxmlformats.org/drawingml/2006/main">
            <a:r>
              <a:t>          "layer": "운영 관측",</a:t>
            </a:r>
          </a:p>
          <a:p xmlns:a="http://schemas.openxmlformats.org/drawingml/2006/main">
            <a:r>
              <a:t>          "detail": "상담 이관·반복 문의·안내 오류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"세무 상담자료",</a:t>
            </a:r>
          </a:p>
          <a:p xmlns:a="http://schemas.openxmlformats.org/drawingml/2006/main">
            <a:r>
              <a:t>          "layer": "데이터 원천",</a:t>
            </a:r>
          </a:p>
          <a:p xmlns:a="http://schemas.openxmlformats.org/drawingml/2006/main">
            <a:r>
              <a:t>          "detail": "세무 안내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"적용연도 정리",</a:t>
            </a:r>
          </a:p>
          <a:p xmlns:a="http://schemas.openxmlformats.org/drawingml/2006/main">
            <a:r>
              <a:t>          "layer": "준비·갱신",</a:t>
            </a:r>
          </a:p>
          <a:p xmlns:a="http://schemas.openxmlformats.org/drawingml/2006/main">
            <a:r>
              <a:t>          "detail": "승인 상담자료·세목·적용연도별 지식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"지식·상담 이력",</a:t>
            </a:r>
          </a:p>
          <a:p xmlns:a="http://schemas.openxmlformats.org/drawingml/2006/main">
            <a:r>
              <a:t>          "layer": "상태·지식 저장",</a:t>
            </a:r>
          </a:p>
          <a:p xmlns:a="http://schemas.openxmlformats.org/drawingml/2006/main">
            <a:r>
              <a:t>          "detail": "필수 항목 인식표와 상담원 인계·해결 여부",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"전문 상담 기준",</a:t>
            </a:r>
          </a:p>
          <a:p xmlns:a="http://schemas.openxmlformats.org/drawingml/2006/main">
            <a:r>
              <a:t>          "layer": "권한·정책",</a:t>
            </a:r>
          </a:p>
          <a:p xmlns:a="http://schemas.openxmlformats.org/drawingml/2006/main">
            <a:r>
              <a:t>          "detail": "발화 인식 실패·다른 귀속연도·개인별 과세 판단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"전화 발화 → 질의 의도 분류 → 세무 안내 → 추가 상담 연결"</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"발화에서 세목·기간·문의 목적 확인",</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"전화 발화",</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"세무 안내 지식",</a:t>
            </a:r>
          </a:p>
          <a:p xmlns:a="http://schemas.openxmlformats.org/drawingml/2006/main">
            <a:r>
              <a:t>          "check": "승인 상담자료·세목·적용연도별 지식 관리"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"세무 안내",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"후속 상담",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"후속 상담",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"반복 세무 문의의 음성 상담 지원 / 전화 응대·세무 안내·상담 전환",</a:t>
            </a:r>
          </a:p>
          <a:p xmlns:a="http://schemas.openxmlformats.org/drawingml/2006/main">
            <a:r>
              <a:t>        "extension": "TS 기존 민원 메뉴에 음성·텍스트 진입점 추가"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"발화 인식 실패·다른 귀속연도·개인별 과세 판단 요청",</a:t>
            </a:r>
          </a:p>
          <a:p xmlns:a="http://schemas.openxmlformats.org/drawingml/2006/main">
            <a:r>
              <a:t>        "hold": "핵심 발화 확인·전문 상담 전환",</a:t>
            </a:r>
          </a:p>
          <a:p xmlns:a="http://schemas.openxmlformats.org/drawingml/2006/main">
            <a:r>
              <a:t>        "recovery": "상담 이관·반복 문의·안내 오류 점검",</a:t>
            </a:r>
          </a:p>
          <a:p xmlns:a="http://schemas.openxmlformats.org/drawingml/2006/main">
            <a:r>
              <a:t>        "evidence": "필수 항목 인식표와 상담원 인계·해결 여부"</a:t>
            </a:r>
          </a:p>
          <a:p xmlns:a="http://schemas.openxmlformats.org/drawingml/2006/main">
            <a:r>
              <a:t>      },</a:t>
            </a:r>
          </a:p>
          <a:p xmlns:a="http://schemas.openxmlformats.org/drawingml/2006/main">
            <a:r>
              <a:t>      "data": {</a:t>
            </a:r>
          </a:p>
          <a:p xmlns:a="http://schemas.openxmlformats.org/drawingml/2006/main">
            <a:r>
              <a:t>        "source": "세무 안내 지식",</a:t>
            </a:r>
          </a:p>
          <a:p xmlns:a="http://schemas.openxmlformats.org/drawingml/2006/main">
            <a:r>
              <a:t>        "prepare": "승인 상담자료·세목·적용연도별 지식 관리",</a:t>
            </a:r>
          </a:p>
          <a:p xmlns:a="http://schemas.openxmlformats.org/drawingml/2006/main">
            <a:r>
              <a:t>        "output": "전화 발화",</a:t>
            </a:r>
          </a:p>
          <a:p xmlns:a="http://schemas.openxmlformats.org/drawingml/2006/main">
            <a:r>
              <a:t>        "refresh": "상담 이관·반복 문의·안내 오류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"AX15",</a:t>
            </a:r>
          </a:p>
          <a:p xmlns:a="http://schemas.openxmlformats.org/drawingml/2006/main">
            <a:r>
              <a:t>    "success": [</a:t>
            </a:r>
          </a:p>
          <a:p xmlns:a="http://schemas.openxmlformats.org/drawingml/2006/main">
            <a:r>
              <a:t>      "전화 채널과 세무 안내 결합",</a:t>
            </a:r>
          </a:p>
          <a:p xmlns:a="http://schemas.openxmlformats.org/drawingml/2006/main">
            <a:r>
              <a:t>      "시범 적용 후 확대 검토"</a:t>
            </a:r>
          </a:p>
          <a:p xmlns:a="http://schemas.openxmlformats.org/drawingml/2006/main">
            <a:r>
              <a:t>    ],</a:t>
            </a:r>
          </a:p>
          <a:p xmlns:a="http://schemas.openxmlformats.org/drawingml/2006/main">
            <a:r>
              <a:t>    "risks": [</a:t>
            </a:r>
          </a:p>
          <a:p xmlns:a="http://schemas.openxmlformats.org/drawingml/2006/main">
            <a:r>
              <a:t>      "예외 세무상담의 잘못된 안내",</a:t>
            </a:r>
          </a:p>
          <a:p xmlns:a="http://schemas.openxmlformats.org/drawingml/2006/main">
            <a:r>
              <a:t>      "시범 성과와 전국 운영의 혼동"</a:t>
            </a:r>
          </a:p>
          <a:p xmlns:a="http://schemas.openxmlformats.org/drawingml/2006/main">
            <a:r>
              <a:t>    ],</a:t>
            </a:r>
          </a:p>
          <a:p xmlns:a="http://schemas.openxmlformats.org/drawingml/2006/main">
            <a:r>
              <a:t>    "architecture": [</a:t>
            </a:r>
          </a:p>
          <a:p xmlns:a="http://schemas.openxmlformats.org/drawingml/2006/main">
            <a:r>
              <a:t>      "전화 상담",</a:t>
            </a:r>
          </a:p>
          <a:p xmlns:a="http://schemas.openxmlformats.org/drawingml/2006/main">
            <a:r>
              <a:t>      "음성·의도 처리",</a:t>
            </a:r>
          </a:p>
          <a:p xmlns:a="http://schemas.openxmlformats.org/drawingml/2006/main">
            <a:r>
              <a:t>      "세무 안내 지식",</a:t>
            </a:r>
          </a:p>
          <a:p xmlns:a="http://schemas.openxmlformats.org/drawingml/2006/main">
            <a:r>
              <a:t>      "이용자·상담원"</a:t>
            </a:r>
          </a:p>
          <a:p xmlns:a="http://schemas.openxmlformats.org/drawingml/2006/main">
            <a:r>
              <a:t>    ],</a:t>
            </a:r>
          </a:p>
          <a:p xmlns:a="http://schemas.openxmlformats.org/drawingml/2006/main">
            <a:r>
              <a:t>    "transfers": [</a:t>
            </a:r>
          </a:p>
          <a:p xmlns:a="http://schemas.openxmlformats.org/drawingml/2006/main">
            <a:r>
              <a:t>      "전화 발화",</a:t>
            </a:r>
          </a:p>
          <a:p xmlns:a="http://schemas.openxmlformats.org/drawingml/2006/main">
            <a:r>
              <a:t>      "질의 의도",</a:t>
            </a:r>
          </a:p>
          <a:p xmlns:a="http://schemas.openxmlformats.org/drawingml/2006/main">
            <a:r>
              <a:t>      "세무 안내",</a:t>
            </a:r>
          </a:p>
          <a:p xmlns:a="http://schemas.openxmlformats.org/drawingml/2006/main">
            <a:r>
              <a:t>      "후속 상담"</a:t>
            </a:r>
          </a:p>
          <a:p xmlns:a="http://schemas.openxmlformats.org/drawingml/2006/main">
            <a:r>
              <a:t>    ],</a:t>
            </a:r>
          </a:p>
          <a:p xmlns:a="http://schemas.openxmlformats.org/drawingml/2006/main">
            <a:r>
              <a:t>    "control": "핵심 발화 확인·전문 상담 전환",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국세청 AI 전화상담 · 국세청 전국 확대 공지 / 2024-12-30 https://www.nts.go.kr/nts/na/ntt/selectNttInfo.do?bbsId=1011&amp;mi=2207&amp;nttSn=1339206</a:t>
            </a:r>
          </a:p>
          <a:p xmlns:a="http://schemas.openxmlformats.org/drawingml/2006/main">
            <a:r>
              <a:t>홈페이지 https://heen1987-ops.github.io/TS-business-Plan-001/index.html?view=casebook&amp;case=AX15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"AX15",</a:t>
            </a:r>
          </a:p>
          <a:p xmlns:a="http://schemas.openxmlformats.org/drawingml/2006/main">
            <a:r>
              <a:t>    "title": "국세청 AI 전화상담",</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"음성 기반 민원 안내",</a:t>
            </a:r>
          </a:p>
          <a:p xmlns:a="http://schemas.openxmlformats.org/drawingml/2006/main">
            <a:r>
              <a:t>    "period": "2024 시범 / 2024-12-30 전국 확대 시행",</a:t>
            </a:r>
          </a:p>
          <a:p xmlns:a="http://schemas.openxmlformats.org/drawingml/2006/main">
            <a:r>
              <a:t>    "sources": [</a:t>
            </a:r>
          </a:p>
          <a:p xmlns:a="http://schemas.openxmlformats.org/drawingml/2006/main">
            <a:r>
              <a:t>      "S-AX15"</a:t>
            </a:r>
          </a:p>
          <a:p xmlns:a="http://schemas.openxmlformats.org/drawingml/2006/main">
            <a:r>
              <a:t>    ],</a:t>
            </a:r>
          </a:p>
          <a:p xmlns:a="http://schemas.openxmlformats.org/drawingml/2006/main">
            <a:r>
              <a:t>    "keywords": [</a:t>
            </a:r>
          </a:p>
          <a:p xmlns:a="http://schemas.openxmlformats.org/drawingml/2006/main">
            <a:r>
              <a:t>      "음성 기반 민원 안내"</a:t>
            </a:r>
          </a:p>
          <a:p xmlns:a="http://schemas.openxmlformats.org/drawingml/2006/main">
            <a:r>
              <a:t>    ],</a:t>
            </a:r>
          </a:p>
          <a:p xmlns:a="http://schemas.openxmlformats.org/drawingml/2006/main">
            <a:r>
              <a:t>    "fact": "2024년 11월 14개 세무서 시범 후 12월 30일 전국 133개 세무서 대표전화에 확대 시행; 상담 중 직원 연결 가능",</a:t>
            </a:r>
          </a:p>
          <a:p xmlns:a="http://schemas.openxmlformats.org/drawingml/2006/main">
            <a:r>
              <a:t>    "limit": "대표전화 지정 분야의 서비스 확대 확인 · 대기시간·정확도 개선 효과는 미측정 · 개인별 과세 판단 자동화로 해석 금지",</a:t>
            </a:r>
          </a:p>
          <a:p xmlns:a="http://schemas.openxmlformats.org/drawingml/2006/main">
            <a:r>
              <a:t>    "flow": [</a:t>
            </a:r>
          </a:p>
          <a:p xmlns:a="http://schemas.openxmlformats.org/drawingml/2006/main">
            <a:r>
              <a:t>      "전화 발화",</a:t>
            </a:r>
          </a:p>
          <a:p xmlns:a="http://schemas.openxmlformats.org/drawingml/2006/main">
            <a:r>
              <a:t>      "질의 의도 분류",</a:t>
            </a:r>
          </a:p>
          <a:p xmlns:a="http://schemas.openxmlformats.org/drawingml/2006/main">
            <a:r>
              <a:t>      "세무 안내",</a:t>
            </a:r>
          </a:p>
          <a:p xmlns:a="http://schemas.openxmlformats.org/drawingml/2006/main">
            <a:r>
              <a:t>      "추가 상담 연결"</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"음성 접점과 상담 전환의 연속성",</a:t>
            </a:r>
          </a:p>
          <a:p xmlns:a="http://schemas.openxmlformats.org/drawingml/2006/main">
            <a:r>
              <a:t>    "local": "TS 기존 민원 메뉴에 음성·텍스트 진입점 추가",</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"발화 정리·확인·소관 서비스·상담 인계",</a:t>
            </a:r>
          </a:p>
          <a:p xmlns:a="http://schemas.openxmlformats.org/drawingml/2006/main">
            <a:r>
              <a:t>    "test": "고령·소음·중도 정정·상담 전환 과업 시험",</a:t>
            </a:r>
          </a:p>
          <a:p xmlns:a="http://schemas.openxmlformats.org/drawingml/2006/main">
            <a:r>
              <a:t>    "metric": "안내 도달률 / 포기율 / 재문의율",</a:t>
            </a:r>
          </a:p>
          <a:p xmlns:a="http://schemas.openxmlformats.org/drawingml/2006/main">
            <a:r>
              <a:t>    "strategies": [</a:t>
            </a:r>
          </a:p>
          <a:p xmlns:a="http://schemas.openxmlformats.org/drawingml/2006/main">
            <a:r>
              <a:t>      "ST-08",</a:t>
            </a:r>
          </a:p>
          <a:p xmlns:a="http://schemas.openxmlformats.org/drawingml/2006/main">
            <a:r>
              <a:t>      "ST-12"</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"AX15",</a:t>
            </a:r>
          </a:p>
          <a:p xmlns:a="http://schemas.openxmlformats.org/drawingml/2006/main">
            <a:r>
              <a:t>    "canonicalId": "AX15",</a:t>
            </a:r>
          </a:p>
          <a:p xmlns:a="http://schemas.openxmlformats.org/drawingml/2006/main">
            <a:r>
              <a:t>    "purpose": "반복 세무 문의의 음성 상담 지원",</a:t>
            </a:r>
          </a:p>
          <a:p xmlns:a="http://schemas.openxmlformats.org/drawingml/2006/main">
            <a:r>
              <a:t>    "users": "납세자·상담원",</a:t>
            </a:r>
          </a:p>
          <a:p xmlns:a="http://schemas.openxmlformats.org/drawingml/2006/main">
            <a:r>
              <a:t>    "scope": [</a:t>
            </a:r>
          </a:p>
          <a:p xmlns:a="http://schemas.openxmlformats.org/drawingml/2006/main">
            <a:r>
              <a:t>      "전화 응대",</a:t>
            </a:r>
          </a:p>
          <a:p xmlns:a="http://schemas.openxmlformats.org/drawingml/2006/main">
            <a:r>
              <a:t>      "세무 안내",</a:t>
            </a:r>
          </a:p>
          <a:p xmlns:a="http://schemas.openxmlformats.org/drawingml/2006/main">
            <a:r>
              <a:t>      "상담 전환"</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"전화 상담",</a:t>
            </a:r>
          </a:p>
          <a:p xmlns:a="http://schemas.openxmlformats.org/drawingml/2006/main">
            <a:r>
              <a:t>        "detail": "발화에서 세목·기간·문의 목적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"전화 응대 / 세무 안내 / 상담 전환",</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"음성·의도 처리",</a:t>
            </a:r>
          </a:p>
          <a:p xmlns:a="http://schemas.openxmlformats.org/drawingml/2006/main">
            <a:r>
              <a:t>        "detail": "질의에 맞춘 상담 지식 탐색·음성 안내",</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"이용자·상담원",</a:t>
            </a:r>
          </a:p>
          <a:p xmlns:a="http://schemas.openxmlformats.org/drawingml/2006/main">
            <a:r>
              <a:t>        "detail": "해결 곤란 질문의 상담원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"세무 안내 지식",</a:t>
            </a:r>
          </a:p>
          <a:p xmlns:a="http://schemas.openxmlformats.org/drawingml/2006/main">
            <a:r>
              <a:t>        "detail": "승인 상담자료·세목·적용연도별 지식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"상담 이관·반복 문의·안내 오류 점검",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"전화 발화",</a:t>
            </a:r>
          </a:p>
          <a:p xmlns:a="http://schemas.openxmlformats.org/drawingml/2006/main">
            <a:r>
              <a:t>        "input": "발화에서 세목·기간·문의 목적 확인",</a:t>
            </a:r>
          </a:p>
          <a:p xmlns:a="http://schemas.openxmlformats.org/drawingml/2006/main">
            <a:r>
              <a:t>        "process": "승인 상담자료·세목·적용연도별 지식 관리",</a:t>
            </a:r>
          </a:p>
          <a:p xmlns:a="http://schemas.openxmlformats.org/drawingml/2006/main">
            <a:r>
              <a:t>        "output": "전화 발화"</a:t>
            </a:r>
          </a:p>
          <a:p xmlns:a="http://schemas.openxmlformats.org/drawingml/2006/main">
            <a:r>
              <a:t>      },</a:t>
            </a:r>
          </a:p>
          <a:p xmlns:a="http://schemas.openxmlformats.org/drawingml/2006/main">
            <a:r>
              <a:t>      {</a:t>
            </a:r>
          </a:p>
          <a:p xmlns:a="http://schemas.openxmlformats.org/drawingml/2006/main">
            <a:r>
              <a:t>        "title": "질의 의도 분류",</a:t>
            </a:r>
          </a:p>
          <a:p xmlns:a="http://schemas.openxmlformats.org/drawingml/2006/main">
            <a:r>
              <a:t>        "input": "전화 발화",</a:t>
            </a:r>
          </a:p>
          <a:p xmlns:a="http://schemas.openxmlformats.org/drawingml/2006/main">
            <a:r>
              <a:t>        "process": "질의에 맞춘 상담 지식 탐색·음성 안내",</a:t>
            </a:r>
          </a:p>
          <a:p xmlns:a="http://schemas.openxmlformats.org/drawingml/2006/main">
            <a:r>
              <a:t>        "output": "질의 의도"</a:t>
            </a:r>
          </a:p>
          <a:p xmlns:a="http://schemas.openxmlformats.org/drawingml/2006/main">
            <a:r>
              <a:t>      },</a:t>
            </a:r>
          </a:p>
          <a:p xmlns:a="http://schemas.openxmlformats.org/drawingml/2006/main">
            <a:r>
              <a:t>      {</a:t>
            </a:r>
          </a:p>
          <a:p xmlns:a="http://schemas.openxmlformats.org/drawingml/2006/main">
            <a:r>
              <a:t>        "title": "세무 안내",</a:t>
            </a:r>
          </a:p>
          <a:p xmlns:a="http://schemas.openxmlformats.org/drawingml/2006/main">
            <a:r>
              <a:t>        "input": "질의 의도",</a:t>
            </a:r>
          </a:p>
          <a:p xmlns:a="http://schemas.openxmlformats.org/drawingml/2006/main">
            <a:r>
              <a:t>        "process": "핵심 발화 확인·전문 상담 전환",</a:t>
            </a:r>
          </a:p>
          <a:p xmlns:a="http://schemas.openxmlformats.org/drawingml/2006/main">
            <a:r>
              <a:t>        "output": "세무 안내"</a:t>
            </a:r>
          </a:p>
          <a:p xmlns:a="http://schemas.openxmlformats.org/drawingml/2006/main">
            <a:r>
              <a:t>      },</a:t>
            </a:r>
          </a:p>
          <a:p xmlns:a="http://schemas.openxmlformats.org/drawingml/2006/main">
            <a:r>
              <a:t>      {</a:t>
            </a:r>
          </a:p>
          <a:p xmlns:a="http://schemas.openxmlformats.org/drawingml/2006/main">
            <a:r>
              <a:t>        "title": "추가 상담 연결",</a:t>
            </a:r>
          </a:p>
          <a:p xmlns:a="http://schemas.openxmlformats.org/drawingml/2006/main">
            <a:r>
              <a:t>        "input": "세무 안내",</a:t>
            </a:r>
          </a:p>
          <a:p xmlns:a="http://schemas.openxmlformats.org/drawingml/2006/main">
            <a:r>
              <a:t>        "process": "해결 곤란 질문의 상담원 연결",</a:t>
            </a:r>
          </a:p>
          <a:p xmlns:a="http://schemas.openxmlformats.org/drawingml/2006/main">
            <a:r>
              <a:t>        "output": "후속 상담"</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"납세자의 세목·귀속연도를 확인한 뒤 안내·상담 전환",</a:t>
            </a:r>
          </a:p>
          <a:p xmlns:a="http://schemas.openxmlformats.org/drawingml/2006/main">
            <a:r>
              <a:t>      "exception": "발화 인식 실패·다른 귀속연도·개인별 과세 판단 요청",</a:t>
            </a:r>
          </a:p>
          <a:p xmlns:a="http://schemas.openxmlformats.org/drawingml/2006/main">
            <a:r>
              <a:t>      "evidence": "필수 항목 인식표와 상담원 인계·해결 여부",</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"납세자·상담원",</a:t>
            </a:r>
          </a:p>
          <a:p xmlns:a="http://schemas.openxmlformats.org/drawingml/2006/main">
            <a:r>
              <a:t>          "processing": "발화에서 세목·기간·문의 목적 확인",</a:t>
            </a:r>
          </a:p>
          <a:p xmlns:a="http://schemas.openxmlformats.org/drawingml/2006/main">
            <a:r>
              <a:t>          "output": "전화 발화"</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"세무 안내 지식",</a:t>
            </a:r>
          </a:p>
          <a:p xmlns:a="http://schemas.openxmlformats.org/drawingml/2006/main">
            <a:r>
              <a:t>          "processing": "승인 상담자료·세목·적용연도별 지식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"전화 발화",</a:t>
            </a:r>
          </a:p>
          <a:p xmlns:a="http://schemas.openxmlformats.org/drawingml/2006/main">
            <a:r>
              <a:t>          "processing": "질의에 맞춘 상담 지식 탐색·음성 안내",</a:t>
            </a:r>
          </a:p>
          <a:p xmlns:a="http://schemas.openxmlformats.org/drawingml/2006/main">
            <a:r>
              <a:t>          "output": "세무 안내"</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"세무 안내",</a:t>
            </a:r>
          </a:p>
          <a:p xmlns:a="http://schemas.openxmlformats.org/drawingml/2006/main">
            <a:r>
              <a:t>          "processing": "해결 곤란 질문의 상담원 연결",</a:t>
            </a:r>
          </a:p>
          <a:p xmlns:a="http://schemas.openxmlformats.org/drawingml/2006/main">
            <a:r>
              <a:t>          "output": "후속 상담"</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"상담 이관·반복 문의·안내 오류 점검",</a:t>
            </a:r>
          </a:p>
          <a:p xmlns:a="http://schemas.openxmlformats.org/drawingml/2006/main">
            <a:r>
              <a:t>          "output": "필수 항목 인식표와 상담원 인계·해결 여부"</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"상담 이관·반복 문의·안내 오류 점검",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"S-AX15",</a:t>
            </a:r>
          </a:p>
          <a:p xmlns:a="http://schemas.openxmlformats.org/drawingml/2006/main">
            <a:r>
              <a:t>        "title": "국세청 AI 전화상담 · 국세청 전국 확대 공지 / 2024-12-30",</a:t>
            </a:r>
          </a:p>
          <a:p xmlns:a="http://schemas.openxmlformats.org/drawingml/2006/main">
            <a:r>
              <a:t>        "url": "https://www.nts.go.kr/nts/na/ntt/selectNttInfo.do?bbsId=1011&amp;mi=2207&amp;nttSn=1339206",</a:t>
            </a:r>
          </a:p>
          <a:p xmlns:a="http://schemas.openxmlformats.org/drawingml/2006/main">
            <a:r>
              <a:t>        "published": "2024 시범 / 2024-12-30 전국 확대 시행",</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"음성 접점과 상담 전환의 연속성",</a:t>
            </a:r>
          </a:p>
          <a:p xmlns:a="http://schemas.openxmlformats.org/drawingml/2006/main">
            <a:r>
              <a:t>    "local": "TS 기존 민원 메뉴에 음성·텍스트 진입점 추가",</a:t>
            </a:r>
          </a:p>
          <a:p xmlns:a="http://schemas.openxmlformats.org/drawingml/2006/main">
            <a:r>
              <a:t>    "sourceDetail": null,</a:t>
            </a:r>
          </a:p>
          <a:p xmlns:a="http://schemas.openxmlformats.org/drawingml/2006/main">
            <a:r>
              <a:t>    "narrative": [</a:t>
            </a:r>
          </a:p>
          <a:p xmlns:a="http://schemas.openxmlformats.org/drawingml/2006/main">
            <a:r>
              <a:t>      "반복 세무 문의를 전화 채널에서 안내하고 복잡한 질문을 상담원에게 연결하는 음성 상담 사례. 상담내용의 범위와 적용 연도를 정확히 식별하는 작업이 중요.",</a:t>
            </a:r>
          </a:p>
          <a:p xmlns:a="http://schemas.openxmlformats.org/drawingml/2006/main">
            <a:r>
              <a:t>      "발화의 세목·기간·질문 목적을 정리하고 승인 지식을 찾아 음성으로 안내하는 구조의 재구성. 응답이 불분명하거나 예외 판단이 필요한 경우 대화 맥락을 상담원에게 전달.",</a:t>
            </a:r>
          </a:p>
          <a:p xmlns:a="http://schemas.openxmlformats.org/drawingml/2006/main">
            <a:r>
              <a:t>      "TS 음성 민원 접점에서 인식률만으로 검수하지 않고 필수 항목 확인과 인계 성공을 포함할 근거. 시범 운영과 전국 확대 계획, 실제 해결률을 각각 구분한 비교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"전화 상담 접점",</a:t>
            </a:r>
          </a:p>
          <a:p xmlns:a="http://schemas.openxmlformats.org/drawingml/2006/main">
            <a:r>
              <a:t>          "layer": "이용 접점",</a:t>
            </a:r>
          </a:p>
          <a:p xmlns:a="http://schemas.openxmlformats.org/drawingml/2006/main">
            <a:r>
              <a:t>          "detail": "납세자·상담원",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"세목·기간 확인",</a:t>
            </a:r>
          </a:p>
          <a:p xmlns:a="http://schemas.openxmlformats.org/drawingml/2006/main">
            <a:r>
              <a:t>          "layer": "업무 문맥",</a:t>
            </a:r>
          </a:p>
          <a:p xmlns:a="http://schemas.openxmlformats.org/drawingml/2006/main">
            <a:r>
              <a:t>          "detail": "발화에서 세목·기간·문의 목적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"승인 지식 검색",</a:t>
            </a:r>
          </a:p>
          <a:p xmlns:a="http://schemas.openxmlformats.org/drawingml/2006/main">
            <a:r>
              <a:t>          "layer": "자료 조회",</a:t>
            </a:r>
          </a:p>
          <a:p xmlns:a="http://schemas.openxmlformats.org/drawingml/2006/main">
            <a:r>
              <a:t>          "detail": "전화 발화",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"발화·의도 처리",</a:t>
            </a:r>
          </a:p>
          <a:p xmlns:a="http://schemas.openxmlformats.org/drawingml/2006/main">
            <a:r>
              <a:t>          "layer": "핵심 처리",</a:t>
            </a:r>
          </a:p>
          <a:p xmlns:a="http://schemas.openxmlformats.org/drawingml/2006/main">
            <a:r>
              <a:t>          "detail": "질의에 맞춘 상담 지식 탐색·음성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"핵심 조건 확인",</a:t>
            </a:r>
          </a:p>
          <a:p xmlns:a="http://schemas.openxmlformats.org/drawingml/2006/main">
            <a:r>
              <a:t>          "layer": "결과 검증",</a:t>
            </a:r>
          </a:p>
          <a:p xmlns:a="http://schemas.openxmlformats.org/drawingml/2006/main">
            <a:r>
              <a:t>          "detail": "핵심 발화 확인·전문 상담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"이용자·상담원",</a:t>
            </a:r>
          </a:p>
          <a:p xmlns:a="http://schemas.openxmlformats.org/drawingml/2006/main">
            <a:r>
              <a:t>          "layer": "사람 확인",</a:t>
            </a:r>
          </a:p>
          <a:p xmlns:a="http://schemas.openxmlformats.org/drawingml/2006/main">
            <a:r>
              <a:t>          "detail": "납세자의 세목·귀속연도를 확인한 뒤 안내·상담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"음성 안내·인계",</a:t>
            </a:r>
          </a:p>
          <a:p xmlns:a="http://schemas.openxmlformats.org/drawingml/2006/main">
            <a:r>
              <a:t>          "layer": "업무 연결",</a:t>
            </a:r>
          </a:p>
          <a:p xmlns:a="http://schemas.openxmlformats.org/drawingml/2006/main">
            <a:r>
              <a:t>          "detail": "해결 곤란 질문의 상담원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"반복 문의 분석",</a:t>
            </a:r>
          </a:p>
          <a:p xmlns:a="http://schemas.openxmlformats.org/drawingml/2006/main">
            <a:r>
              <a:t>          "layer": "운영 관측",</a:t>
            </a:r>
          </a:p>
          <a:p xmlns:a="http://schemas.openxmlformats.org/drawingml/2006/main">
            <a:r>
              <a:t>          "detail": "상담 이관·반복 문의·안내 오류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"세무 상담자료",</a:t>
            </a:r>
          </a:p>
          <a:p xmlns:a="http://schemas.openxmlformats.org/drawingml/2006/main">
            <a:r>
              <a:t>          "layer": "데이터 원천",</a:t>
            </a:r>
          </a:p>
          <a:p xmlns:a="http://schemas.openxmlformats.org/drawingml/2006/main">
            <a:r>
              <a:t>          "detail": "세무 안내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"적용연도 정리",</a:t>
            </a:r>
          </a:p>
          <a:p xmlns:a="http://schemas.openxmlformats.org/drawingml/2006/main">
            <a:r>
              <a:t>          "layer": "준비·갱신",</a:t>
            </a:r>
          </a:p>
          <a:p xmlns:a="http://schemas.openxmlformats.org/drawingml/2006/main">
            <a:r>
              <a:t>          "detail": "승인 상담자료·세목·적용연도별 지식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"지식·상담 이력",</a:t>
            </a:r>
          </a:p>
          <a:p xmlns:a="http://schemas.openxmlformats.org/drawingml/2006/main">
            <a:r>
              <a:t>          "layer": "상태·지식 저장",</a:t>
            </a:r>
          </a:p>
          <a:p xmlns:a="http://schemas.openxmlformats.org/drawingml/2006/main">
            <a:r>
              <a:t>          "detail": "필수 항목 인식표와 상담원 인계·해결 여부",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"전문 상담 기준",</a:t>
            </a:r>
          </a:p>
          <a:p xmlns:a="http://schemas.openxmlformats.org/drawingml/2006/main">
            <a:r>
              <a:t>          "layer": "권한·정책",</a:t>
            </a:r>
          </a:p>
          <a:p xmlns:a="http://schemas.openxmlformats.org/drawingml/2006/main">
            <a:r>
              <a:t>          "detail": "발화 인식 실패·다른 귀속연도·개인별 과세 판단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"transaction",</a:t>
            </a:r>
          </a:p>
          <a:p xmlns:a="http://schemas.openxmlformats.org/drawingml/2006/main">
            <a:r>
              <a:t>        "label": "입력 구조화·확인·업무시스템 처리",</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"요청"</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"C04",</a:t>
            </a:r>
          </a:p>
          <a:p xmlns:a="http://schemas.openxmlformats.org/drawingml/2006/main">
            <a:r>
              <a:t>            "kind": "service",</a:t>
            </a:r>
          </a:p>
          <a:p xmlns:a="http://schemas.openxmlformats.org/drawingml/2006/main">
            <a:r>
              <a:t>            "mode": "업무 필드"</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"C03",</a:t>
            </a:r>
          </a:p>
          <a:p xmlns:a="http://schemas.openxmlformats.org/drawingml/2006/main">
            <a:r>
              <a:t>            "kind": "data",</a:t>
            </a:r>
          </a:p>
          <a:p xmlns:a="http://schemas.openxmlformats.org/drawingml/2006/main">
            <a:r>
              <a:t>            "mode": "원천 상태"</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"조회 결과"</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"구조화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"확인 대상"</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"승인·실행"</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"C11",</a:t>
            </a:r>
          </a:p>
          <a:p xmlns:a="http://schemas.openxmlformats.org/drawingml/2006/main">
            <a:r>
              <a:t>            "kind": "record",</a:t>
            </a:r>
          </a:p>
          <a:p xmlns:a="http://schemas.openxmlformats.org/drawingml/2006/main">
            <a:r>
              <a:t>            "mode": "처리 상태"</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"C08",</a:t>
            </a:r>
          </a:p>
          <a:p xmlns:a="http://schemas.openxmlformats.org/drawingml/2006/main">
            <a:r>
              <a:t>            "kind": "record",</a:t>
            </a:r>
          </a:p>
          <a:p xmlns:a="http://schemas.openxmlformats.org/drawingml/2006/main">
            <a:r>
              <a:t>            "mode": "접수·취소 대사"</a:t>
            </a:r>
          </a:p>
          <a:p xmlns:a="http://schemas.openxmlformats.org/drawingml/2006/main">
            <a:r>
              <a:t>          }</a:t>
            </a:r>
          </a:p>
          <a:p xmlns:a="http://schemas.openxmlformats.org/drawingml/2006/main">
            <a:r>
              <a:t>        ],</a:t>
            </a:r>
          </a:p>
          <a:p xmlns:a="http://schemas.openxmlformats.org/drawingml/2006/main">
            <a:r>
              <a:t>        "summary": "전화 발화 → 질의 의도 분류 → 세무 안내 → 추가 상담 연결"</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"C01",</a:t>
            </a:r>
          </a:p>
          <a:p xmlns:a="http://schemas.openxmlformats.org/drawingml/2006/main">
            <a:r>
              <a:t>          "to": "C02",</a:t>
            </a:r>
          </a:p>
          <a:p xmlns:a="http://schemas.openxmlformats.org/drawingml/2006/main">
            <a:r>
              <a:t>          "mode": "요청",</a:t>
            </a:r>
          </a:p>
          <a:p xmlns:a="http://schemas.openxmlformats.org/drawingml/2006/main">
            <a:r>
              <a:t>          "payload": "발화에서 세목·기간·문의 목적 확인",</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"C02",</a:t>
            </a:r>
          </a:p>
          <a:p xmlns:a="http://schemas.openxmlformats.org/drawingml/2006/main">
            <a:r>
              <a:t>          "to": "C04",</a:t>
            </a:r>
          </a:p>
          <a:p xmlns:a="http://schemas.openxmlformats.org/drawingml/2006/main">
            <a:r>
              <a:t>          "mode": "업무 필드",</a:t>
            </a:r>
          </a:p>
          <a:p xmlns:a="http://schemas.openxmlformats.org/drawingml/2006/main">
            <a:r>
              <a:t>          "payload": "전화 발화",</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"C09",</a:t>
            </a:r>
          </a:p>
          <a:p xmlns:a="http://schemas.openxmlformats.org/drawingml/2006/main">
            <a:r>
              <a:t>          "to": "C03",</a:t>
            </a:r>
          </a:p>
          <a:p xmlns:a="http://schemas.openxmlformats.org/drawingml/2006/main">
            <a:r>
              <a:t>          "mode": "원천 상태",</a:t>
            </a:r>
          </a:p>
          <a:p xmlns:a="http://schemas.openxmlformats.org/drawingml/2006/main">
            <a:r>
              <a:t>          "payload": "세무 안내 지식",</a:t>
            </a:r>
          </a:p>
          <a:p xmlns:a="http://schemas.openxmlformats.org/drawingml/2006/main">
            <a:r>
              <a:t>          "check": "승인 상담자료·세목·적용연도별 지식 관리"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"구조화 초안",</a:t>
            </a:r>
          </a:p>
          <a:p xmlns:a="http://schemas.openxmlformats.org/drawingml/2006/main">
            <a:r>
              <a:t>          "payload": "세무 안내",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"승인·실행",</a:t>
            </a:r>
          </a:p>
          <a:p xmlns:a="http://schemas.openxmlformats.org/drawingml/2006/main">
            <a:r>
              <a:t>          "payload": "후속 상담",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"C11",</a:t>
            </a:r>
          </a:p>
          <a:p xmlns:a="http://schemas.openxmlformats.org/drawingml/2006/main">
            <a:r>
              <a:t>          "mode": "처리 상태",</a:t>
            </a:r>
          </a:p>
          <a:p xmlns:a="http://schemas.openxmlformats.org/drawingml/2006/main">
            <a:r>
              <a:t>          "payload": "후속 상담",</a:t>
            </a:r>
          </a:p>
          <a:p xmlns:a="http://schemas.openxmlformats.org/drawingml/2006/main">
            <a:r>
              <a:t>          "check": "필수 항목 인식표와 상담원 인계·해결 여부"</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"반복 세무 문의의 음성 상담 지원 / 전화 응대·세무 안내·상담 전환",</a:t>
            </a:r>
          </a:p>
          <a:p xmlns:a="http://schemas.openxmlformats.org/drawingml/2006/main">
            <a:r>
              <a:t>        "extension": "TS 기존 민원 메뉴에 음성·텍스트 진입점 추가"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"발화 인식 실패·다른 귀속연도·개인별 과세 판단 요청",</a:t>
            </a:r>
          </a:p>
          <a:p xmlns:a="http://schemas.openxmlformats.org/drawingml/2006/main">
            <a:r>
              <a:t>        "hold": "핵심 발화 확인·전문 상담 전환",</a:t>
            </a:r>
          </a:p>
          <a:p xmlns:a="http://schemas.openxmlformats.org/drawingml/2006/main">
            <a:r>
              <a:t>        "recovery": "상담 이관·반복 문의·안내 오류 점검",</a:t>
            </a:r>
          </a:p>
          <a:p xmlns:a="http://schemas.openxmlformats.org/drawingml/2006/main">
            <a:r>
              <a:t>        "evidence": "필수 항목 인식표와 상담원 인계·해결 여부"</a:t>
            </a:r>
          </a:p>
          <a:p xmlns:a="http://schemas.openxmlformats.org/drawingml/2006/main">
            <a:r>
              <a:t>      },</a:t>
            </a:r>
          </a:p>
          <a:p xmlns:a="http://schemas.openxmlformats.org/drawingml/2006/main">
            <a:r>
              <a:t>      "data": {</a:t>
            </a:r>
          </a:p>
          <a:p xmlns:a="http://schemas.openxmlformats.org/drawingml/2006/main">
            <a:r>
              <a:t>        "source": "세무 안내 지식",</a:t>
            </a:r>
          </a:p>
          <a:p xmlns:a="http://schemas.openxmlformats.org/drawingml/2006/main">
            <a:r>
              <a:t>        "prepare": "승인 상담자료·세목·적용연도별 지식 관리",</a:t>
            </a:r>
          </a:p>
          <a:p xmlns:a="http://schemas.openxmlformats.org/drawingml/2006/main">
            <a:r>
              <a:t>        "output": "전화 발화",</a:t>
            </a:r>
          </a:p>
          <a:p xmlns:a="http://schemas.openxmlformats.org/drawingml/2006/main">
            <a:r>
              <a:t>        "refresh": "상담 이관·반복 문의·안내 오류 점검"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"AX15",</a:t>
            </a:r>
          </a:p>
          <a:p xmlns:a="http://schemas.openxmlformats.org/drawingml/2006/main">
            <a:r>
              <a:t>    "success": [</a:t>
            </a:r>
          </a:p>
          <a:p xmlns:a="http://schemas.openxmlformats.org/drawingml/2006/main">
            <a:r>
              <a:t>      "전화 채널과 세무 안내 결합",</a:t>
            </a:r>
          </a:p>
          <a:p xmlns:a="http://schemas.openxmlformats.org/drawingml/2006/main">
            <a:r>
              <a:t>      "시범 적용 후 확대 검토"</a:t>
            </a:r>
          </a:p>
          <a:p xmlns:a="http://schemas.openxmlformats.org/drawingml/2006/main">
            <a:r>
              <a:t>    ],</a:t>
            </a:r>
          </a:p>
          <a:p xmlns:a="http://schemas.openxmlformats.org/drawingml/2006/main">
            <a:r>
              <a:t>    "risks": [</a:t>
            </a:r>
          </a:p>
          <a:p xmlns:a="http://schemas.openxmlformats.org/drawingml/2006/main">
            <a:r>
              <a:t>      "예외 세무상담의 잘못된 안내",</a:t>
            </a:r>
          </a:p>
          <a:p xmlns:a="http://schemas.openxmlformats.org/drawingml/2006/main">
            <a:r>
              <a:t>      "시범 성과와 전국 운영의 혼동"</a:t>
            </a:r>
          </a:p>
          <a:p xmlns:a="http://schemas.openxmlformats.org/drawingml/2006/main">
            <a:r>
              <a:t>    ],</a:t>
            </a:r>
          </a:p>
          <a:p xmlns:a="http://schemas.openxmlformats.org/drawingml/2006/main">
            <a:r>
              <a:t>    "architecture": [</a:t>
            </a:r>
          </a:p>
          <a:p xmlns:a="http://schemas.openxmlformats.org/drawingml/2006/main">
            <a:r>
              <a:t>      "전화 상담",</a:t>
            </a:r>
          </a:p>
          <a:p xmlns:a="http://schemas.openxmlformats.org/drawingml/2006/main">
            <a:r>
              <a:t>      "음성·의도 처리",</a:t>
            </a:r>
          </a:p>
          <a:p xmlns:a="http://schemas.openxmlformats.org/drawingml/2006/main">
            <a:r>
              <a:t>      "세무 안내 지식",</a:t>
            </a:r>
          </a:p>
          <a:p xmlns:a="http://schemas.openxmlformats.org/drawingml/2006/main">
            <a:r>
              <a:t>      "이용자·상담원"</a:t>
            </a:r>
          </a:p>
          <a:p xmlns:a="http://schemas.openxmlformats.org/drawingml/2006/main">
            <a:r>
              <a:t>    ],</a:t>
            </a:r>
          </a:p>
          <a:p xmlns:a="http://schemas.openxmlformats.org/drawingml/2006/main">
            <a:r>
              <a:t>    "transfers": [</a:t>
            </a:r>
          </a:p>
          <a:p xmlns:a="http://schemas.openxmlformats.org/drawingml/2006/main">
            <a:r>
              <a:t>      "전화 발화",</a:t>
            </a:r>
          </a:p>
          <a:p xmlns:a="http://schemas.openxmlformats.org/drawingml/2006/main">
            <a:r>
              <a:t>      "질의 의도",</a:t>
            </a:r>
          </a:p>
          <a:p xmlns:a="http://schemas.openxmlformats.org/drawingml/2006/main">
            <a:r>
              <a:t>      "세무 안내",</a:t>
            </a:r>
          </a:p>
          <a:p xmlns:a="http://schemas.openxmlformats.org/drawingml/2006/main">
            <a:r>
              <a:t>      "후속 상담"</a:t>
            </a:r>
          </a:p>
          <a:p xmlns:a="http://schemas.openxmlformats.org/drawingml/2006/main">
            <a:r>
              <a:t>    ],</a:t>
            </a:r>
          </a:p>
          <a:p xmlns:a="http://schemas.openxmlformats.org/drawingml/2006/main">
            <a:r>
              <a:t>    "control": "핵심 발화 확인·전문 상담 전환",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국세청 AI 전화상담 · 국세청 전국 확대 공지 / 2024-12-30 https://www.nts.go.kr/nts/na/ntt/selectNttInfo.do?bbsId=1011&amp;mi=2207&amp;nttSn=1339206</a:t>
            </a:r>
          </a:p>
          <a:p xmlns:a="http://schemas.openxmlformats.org/drawingml/2006/main">
            <a:r>
              <a:t>홈페이지 https://heen1987-ops.github.io/TS-business-Plan-001/index.html?view=casebook&amp;case=AX15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"AX16",</a:t>
            </a:r>
          </a:p>
          <a:p xmlns:a="http://schemas.openxmlformats.org/drawingml/2006/main">
            <a:r>
              <a:t>    "title": "싱가포르 버스 충돌경고 확대",</a:t>
            </a:r>
          </a:p>
          <a:p xmlns:a="http://schemas.openxmlformats.org/drawingml/2006/main">
            <a:r>
              <a:t>    "region": "해외",</a:t>
            </a:r>
          </a:p>
          <a:p xmlns:a="http://schemas.openxmlformats.org/drawingml/2006/main">
            <a:r>
              <a:t>    "country": "싱가포르",</a:t>
            </a:r>
          </a:p>
          <a:p xmlns:a="http://schemas.openxmlformats.org/drawingml/2006/main">
            <a:r>
              <a:t>    "result": "계획",</a:t>
            </a:r>
          </a:p>
          <a:p xmlns:a="http://schemas.openxmlformats.org/drawingml/2006/main">
            <a:r>
              <a:t>    "kind": "버스 안전 AI 도입",</a:t>
            </a:r>
          </a:p>
          <a:p xmlns:a="http://schemas.openxmlformats.org/drawingml/2006/main">
            <a:r>
              <a:t>    "period": "2025 도입·확대 계획",</a:t>
            </a:r>
          </a:p>
          <a:p xmlns:a="http://schemas.openxmlformats.org/drawingml/2006/main">
            <a:r>
              <a:t>    "sources": [</a:t>
            </a:r>
          </a:p>
          <a:p xmlns:a="http://schemas.openxmlformats.org/drawingml/2006/main">
            <a:r>
              <a:t>      "S-AX16"</a:t>
            </a:r>
          </a:p>
          <a:p xmlns:a="http://schemas.openxmlformats.org/drawingml/2006/main">
            <a:r>
              <a:t>    ],</a:t>
            </a:r>
          </a:p>
          <a:p xmlns:a="http://schemas.openxmlformats.org/drawingml/2006/main">
            <a:r>
              <a:t>    "keywords": [</a:t>
            </a:r>
          </a:p>
          <a:p xmlns:a="http://schemas.openxmlformats.org/drawingml/2006/main">
            <a:r>
              <a:t>      "버스 안전 AI 도입"</a:t>
            </a:r>
          </a:p>
          <a:p xmlns:a="http://schemas.openxmlformats.org/drawingml/2006/main">
            <a:r>
              <a:t>    ],</a:t>
            </a:r>
          </a:p>
          <a:p xmlns:a="http://schemas.openxmlformats.org/drawingml/2006/main">
            <a:r>
              <a:t>    "fact": "충돌경고 등 AI 안전 기능의 버스 도입·확대 방향 공개",</a:t>
            </a:r>
          </a:p>
          <a:p xmlns:a="http://schemas.openxmlformats.org/drawingml/2006/main">
            <a:r>
              <a:t>    "limit": "계획·조달 단계와 전 차량 운영 성과 구분",</a:t>
            </a:r>
          </a:p>
          <a:p xmlns:a="http://schemas.openxmlformats.org/drawingml/2006/main">
            <a:r>
              <a:t>    "flow": [</a:t>
            </a:r>
          </a:p>
          <a:p xmlns:a="http://schemas.openxmlformats.org/drawingml/2006/main">
            <a:r>
              <a:t>      "차량 센서·영상",</a:t>
            </a:r>
          </a:p>
          <a:p xmlns:a="http://schemas.openxmlformats.org/drawingml/2006/main">
            <a:r>
              <a:t>      "위험 판단",</a:t>
            </a:r>
          </a:p>
          <a:p xmlns:a="http://schemas.openxmlformats.org/drawingml/2006/main">
            <a:r>
              <a:t>      "운전자 경고",</a:t>
            </a:r>
          </a:p>
          <a:p xmlns:a="http://schemas.openxmlformats.org/drawingml/2006/main">
            <a:r>
              <a:t>      "운행 안전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"안전 기능의 도입 조건과 운전자 대응 검증",</a:t>
            </a:r>
          </a:p>
          <a:p xmlns:a="http://schemas.openxmlformats.org/drawingml/2006/main">
            <a:r>
              <a:t>    "local": "TS 운수회사 안전 점검의 장치·운행 증거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"장치 상태·경고 이력·점검 항목 매핑",</a:t>
            </a:r>
          </a:p>
          <a:p xmlns:a="http://schemas.openxmlformats.org/drawingml/2006/main">
            <a:r>
              <a:t>    "test": "결측·장치 고장·과경보 및 점검 증빙 대조",</a:t>
            </a:r>
          </a:p>
          <a:p xmlns:a="http://schemas.openxmlformats.org/drawingml/2006/main">
            <a:r>
              <a:t>    "metric": "경고 신뢰도 / 증빙 누락률",</a:t>
            </a:r>
          </a:p>
          <a:p xmlns:a="http://schemas.openxmlformats.org/drawingml/2006/main">
            <a:r>
              <a:t>    "strategies": [</a:t>
            </a:r>
          </a:p>
          <a:p xmlns:a="http://schemas.openxmlformats.org/drawingml/2006/main">
            <a:r>
              <a:t>      "ST-01",</a:t>
            </a:r>
          </a:p>
          <a:p xmlns:a="http://schemas.openxmlformats.org/drawingml/2006/main">
            <a:r>
              <a:t>      "ST-02",</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"AX16",</a:t>
            </a:r>
          </a:p>
          <a:p xmlns:a="http://schemas.openxmlformats.org/drawingml/2006/main">
            <a:r>
              <a:t>    "canonicalId": "AX16",</a:t>
            </a:r>
          </a:p>
          <a:p xmlns:a="http://schemas.openxmlformats.org/drawingml/2006/main">
            <a:r>
              <a:t>    "purpose": "버스 운행 중 위험 인지와 충돌 경고",</a:t>
            </a:r>
          </a:p>
          <a:p xmlns:a="http://schemas.openxmlformats.org/drawingml/2006/main">
            <a:r>
              <a:t>    "users": "운전자·운수사 안전 담당",</a:t>
            </a:r>
          </a:p>
          <a:p xmlns:a="http://schemas.openxmlformats.org/drawingml/2006/main">
            <a:r>
              <a:t>    "scope": [</a:t>
            </a:r>
          </a:p>
          <a:p xmlns:a="http://schemas.openxmlformats.org/drawingml/2006/main">
            <a:r>
              <a:t>      "주변 감지",</a:t>
            </a:r>
          </a:p>
          <a:p xmlns:a="http://schemas.openxmlformats.org/drawingml/2006/main">
            <a:r>
              <a:t>      "위험 경고",</a:t>
            </a:r>
          </a:p>
          <a:p xmlns:a="http://schemas.openxmlformats.org/drawingml/2006/main">
            <a:r>
              <a:t>      "운행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"버스 센서·영상",</a:t>
            </a:r>
          </a:p>
          <a:p xmlns:a="http://schemas.openxmlformats.org/drawingml/2006/main">
            <a:r>
              <a:t>        "detail": "차량·시간·주변 상황 인지",</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"주변 감지 / 위험 경고 / 운행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"충돌 위험 탐지",</a:t>
            </a:r>
          </a:p>
          <a:p xmlns:a="http://schemas.openxmlformats.org/drawingml/2006/main">
            <a:r>
              <a:t>        "detail": "장애물·차량 간 위험 상황 판단",</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"운전자·안전 관리자",</a:t>
            </a:r>
          </a:p>
          <a:p xmlns:a="http://schemas.openxmlformats.org/drawingml/2006/main">
            <a:r>
              <a:t>        "detail": "운전자에게 경고 전달 및 운행 후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"위험 이벤트 기록",</a:t>
            </a:r>
          </a:p>
          <a:p xmlns:a="http://schemas.openxmlformats.org/drawingml/2006/main">
            <a:r>
              <a:t>        "detail": "차량 센서·영상·경고 이벤트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"오경보·미탐과 운전자 반응의 표본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"차량 센서·영상",</a:t>
            </a:r>
          </a:p>
          <a:p xmlns:a="http://schemas.openxmlformats.org/drawingml/2006/main">
            <a:r>
              <a:t>        "input": "차량·시간·주변 상황 인지",</a:t>
            </a:r>
          </a:p>
          <a:p xmlns:a="http://schemas.openxmlformats.org/drawingml/2006/main">
            <a:r>
              <a:t>        "process": "차량 센서·영상·경고 이벤트 정합화",</a:t>
            </a:r>
          </a:p>
          <a:p xmlns:a="http://schemas.openxmlformats.org/drawingml/2006/main">
            <a:r>
              <a:t>        "output": "센서 관측"</a:t>
            </a:r>
          </a:p>
          <a:p xmlns:a="http://schemas.openxmlformats.org/drawingml/2006/main">
            <a:r>
              <a:t>      },</a:t>
            </a:r>
          </a:p>
          <a:p xmlns:a="http://schemas.openxmlformats.org/drawingml/2006/main">
            <a:r>
              <a:t>      {</a:t>
            </a:r>
          </a:p>
          <a:p xmlns:a="http://schemas.openxmlformats.org/drawingml/2006/main">
            <a:r>
              <a:t>        "title": "위험 판단",</a:t>
            </a:r>
          </a:p>
          <a:p xmlns:a="http://schemas.openxmlformats.org/drawingml/2006/main">
            <a:r>
              <a:t>        "input": "센서 관측",</a:t>
            </a:r>
          </a:p>
          <a:p xmlns:a="http://schemas.openxmlformats.org/drawingml/2006/main">
            <a:r>
              <a:t>        "process": "장애물·차량 간 위험 상황 판단",</a:t>
            </a:r>
          </a:p>
          <a:p xmlns:a="http://schemas.openxmlformats.org/drawingml/2006/main">
            <a:r>
              <a:t>        "output": "위험 후보"</a:t>
            </a:r>
          </a:p>
          <a:p xmlns:a="http://schemas.openxmlformats.org/drawingml/2006/main">
            <a:r>
              <a:t>      },</a:t>
            </a:r>
          </a:p>
          <a:p xmlns:a="http://schemas.openxmlformats.org/drawingml/2006/main">
            <a:r>
              <a:t>      {</a:t>
            </a:r>
          </a:p>
          <a:p xmlns:a="http://schemas.openxmlformats.org/drawingml/2006/main">
            <a:r>
              <a:t>        "title": "운전자 경고",</a:t>
            </a:r>
          </a:p>
          <a:p xmlns:a="http://schemas.openxmlformats.org/drawingml/2006/main">
            <a:r>
              <a:t>        "input": "위험 후보",</a:t>
            </a:r>
          </a:p>
          <a:p xmlns:a="http://schemas.openxmlformats.org/drawingml/2006/main">
            <a:r>
              <a:t>        "process": "경보 지연·오탐·운전자 수용성 평가",</a:t>
            </a:r>
          </a:p>
          <a:p xmlns:a="http://schemas.openxmlformats.org/drawingml/2006/main">
            <a:r>
              <a:t>        "output": "경고"</a:t>
            </a:r>
          </a:p>
          <a:p xmlns:a="http://schemas.openxmlformats.org/drawingml/2006/main">
            <a:r>
              <a:t>      },</a:t>
            </a:r>
          </a:p>
          <a:p xmlns:a="http://schemas.openxmlformats.org/drawingml/2006/main">
            <a:r>
              <a:t>      {</a:t>
            </a:r>
          </a:p>
          <a:p xmlns:a="http://schemas.openxmlformats.org/drawingml/2006/main">
            <a:r>
              <a:t>        "title": "운행 안전 검토",</a:t>
            </a:r>
          </a:p>
          <a:p xmlns:a="http://schemas.openxmlformats.org/drawingml/2006/main">
            <a:r>
              <a:t>        "input": "경고",</a:t>
            </a:r>
          </a:p>
          <a:p xmlns:a="http://schemas.openxmlformats.org/drawingml/2006/main">
            <a:r>
              <a:t>        "process": "운전자에게 경고 전달 및 운행 후 검토",</a:t>
            </a:r>
          </a:p>
          <a:p xmlns:a="http://schemas.openxmlformats.org/drawingml/2006/main">
            <a:r>
              <a:t>        "output": "운행 후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"운행 중 접근 위험을 감지하고 운전자에게 경고",</a:t>
            </a:r>
          </a:p>
          <a:p xmlns:a="http://schemas.openxmlformats.org/drawingml/2006/main">
            <a:r>
              <a:t>      "exception": "우천·야간·가림·정차 상태의 비위험 객체",</a:t>
            </a:r>
          </a:p>
          <a:p xmlns:a="http://schemas.openxmlformats.org/drawingml/2006/main">
            <a:r>
              <a:t>      "evidence": "환경별 경고 적정성과 운전자 반응의 표본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"운전자·운수사 안전 담당",</a:t>
            </a:r>
          </a:p>
          <a:p xmlns:a="http://schemas.openxmlformats.org/drawingml/2006/main">
            <a:r>
              <a:t>          "processing": "차량·시간·주변 상황 인지",</a:t>
            </a:r>
          </a:p>
          <a:p xmlns:a="http://schemas.openxmlformats.org/drawingml/2006/main">
            <a:r>
              <a:t>          "output": "센서 관측"</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"위험 이벤트 기록",</a:t>
            </a:r>
          </a:p>
          <a:p xmlns:a="http://schemas.openxmlformats.org/drawingml/2006/main">
            <a:r>
              <a:t>          "processing": "차량 센서·영상·경고 이벤트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"센서 관측",</a:t>
            </a:r>
          </a:p>
          <a:p xmlns:a="http://schemas.openxmlformats.org/drawingml/2006/main">
            <a:r>
              <a:t>          "processing": "장애물·차량 간 위험 상황 판단",</a:t>
            </a:r>
          </a:p>
          <a:p xmlns:a="http://schemas.openxmlformats.org/drawingml/2006/main">
            <a:r>
              <a:t>          "output": "경고"</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"경고",</a:t>
            </a:r>
          </a:p>
          <a:p xmlns:a="http://schemas.openxmlformats.org/drawingml/2006/main">
            <a:r>
              <a:t>          "processing": "운전자에게 경고 전달 및 운행 후 검토",</a:t>
            </a:r>
          </a:p>
          <a:p xmlns:a="http://schemas.openxmlformats.org/drawingml/2006/main">
            <a:r>
              <a:t>          "output": "운행 후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"오경보·미탐과 운전자 반응의 표본 확인",</a:t>
            </a:r>
          </a:p>
          <a:p xmlns:a="http://schemas.openxmlformats.org/drawingml/2006/main">
            <a:r>
              <a:t>          "output": "환경별 경고 적정성과 운전자 반응의 표본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"오경보·미탐과 운전자 반응의 표본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"S-AX16",</a:t>
            </a:r>
          </a:p>
          <a:p xmlns:a="http://schemas.openxmlformats.org/drawingml/2006/main">
            <a:r>
              <a:t>        "title": "싱가포르 버스 충돌경고 확대 · LTA / 2025-08-23",</a:t>
            </a:r>
          </a:p>
          <a:p xmlns:a="http://schemas.openxmlformats.org/drawingml/2006/main">
            <a:r>
              <a:t>        "url": "https://www.lta.gov.sg/content/ltagov/en/newsroom/2025/8/news-releases/making_bus_journeys_safer.html",</a:t>
            </a:r>
          </a:p>
          <a:p xmlns:a="http://schemas.openxmlformats.org/drawingml/2006/main">
            <a:r>
              <a:t>        "published": "2025 도입·확대 계획",</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"안전 기능의 도입 조건과 운전자 대응 검증",</a:t>
            </a:r>
          </a:p>
          <a:p xmlns:a="http://schemas.openxmlformats.org/drawingml/2006/main">
            <a:r>
              <a:t>    "local": "TS 운수회사 안전 점검의 장치·운행 증거 연결",</a:t>
            </a:r>
          </a:p>
          <a:p xmlns:a="http://schemas.openxmlformats.org/drawingml/2006/main">
            <a:r>
              <a:t>    "sourceDetail": null,</a:t>
            </a:r>
          </a:p>
          <a:p xmlns:a="http://schemas.openxmlformats.org/drawingml/2006/main">
            <a:r>
              <a:t>    "narrative": [</a:t>
            </a:r>
          </a:p>
          <a:p xmlns:a="http://schemas.openxmlformats.org/drawingml/2006/main">
            <a:r>
              <a:t>      "버스 주변 위험을 감지해 운전자에게 즉시 경고하는 안전 지원 사례. 운전자의 판단과 대응을 전제로 한 경고 시스템이며 운행 후 위험 이벤트 검토와도 연결.",</a:t>
            </a:r>
          </a:p>
          <a:p xmlns:a="http://schemas.openxmlformats.org/drawingml/2006/main">
            <a:r>
              <a:t>      "차량·시간·주변 상황을 센서·영상과 맞추고 위험 후보에서 경고로 이어지는 지연을 관리하는 구조. 경고 발생, 운전자 반응, 실제 위험 여부를 서로 다른 기록으로 보존하는 CCK 분석.",</a:t>
            </a:r>
          </a:p>
          <a:p xmlns:a="http://schemas.openxmlformats.org/drawingml/2006/main">
            <a:r>
              <a:t>      "TS 적용에서는 경보 과다로 인한 무시와 중요한 위험의 미탐을 동시에 확인할 필요. 차량·도로·시간대별 경보 지연·정확도·수용성을 비교하고 보급 규모를 사고 감소 실적으로 환산하지 않는 평가."</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"차량 센서 접점",</a:t>
            </a:r>
          </a:p>
          <a:p xmlns:a="http://schemas.openxmlformats.org/drawingml/2006/main">
            <a:r>
              <a:t>          "layer": "이용 접점",</a:t>
            </a:r>
          </a:p>
          <a:p xmlns:a="http://schemas.openxmlformats.org/drawingml/2006/main">
            <a:r>
              <a:t>          "detail": "운전자·운수사 안전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"차량·주변 맥락",</a:t>
            </a:r>
          </a:p>
          <a:p xmlns:a="http://schemas.openxmlformats.org/drawingml/2006/main">
            <a:r>
              <a:t>          "layer": "업무 문맥",</a:t>
            </a:r>
          </a:p>
          <a:p xmlns:a="http://schemas.openxmlformats.org/drawingml/2006/main">
            <a:r>
              <a:t>          "detail": "차량·시간·주변 상황 인지",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"영상·센서 조회",</a:t>
            </a:r>
          </a:p>
          <a:p xmlns:a="http://schemas.openxmlformats.org/drawingml/2006/main">
            <a:r>
              <a:t>          "layer": "자료 조회",</a:t>
            </a:r>
          </a:p>
          <a:p xmlns:a="http://schemas.openxmlformats.org/drawingml/2006/main">
            <a:r>
              <a:t>          "detail": "센서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"충돌 위험 탐지",</a:t>
            </a:r>
          </a:p>
          <a:p xmlns:a="http://schemas.openxmlformats.org/drawingml/2006/main">
            <a:r>
              <a:t>          "layer": "핵심 처리",</a:t>
            </a:r>
          </a:p>
          <a:p xmlns:a="http://schemas.openxmlformats.org/drawingml/2006/main">
            <a:r>
              <a:t>          "detail": "장애물·차량 간 위험 상황 판단",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"경보 지연 검사",</a:t>
            </a:r>
          </a:p>
          <a:p xmlns:a="http://schemas.openxmlformats.org/drawingml/2006/main">
            <a:r>
              <a:t>          "layer": "결과 검증",</a:t>
            </a:r>
          </a:p>
          <a:p xmlns:a="http://schemas.openxmlformats.org/drawingml/2006/main">
            <a:r>
              <a:t>          "detail": "경보 지연·오탐·운전자 수용성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"운전자 상황 판단",</a:t>
            </a:r>
          </a:p>
          <a:p xmlns:a="http://schemas.openxmlformats.org/drawingml/2006/main">
            <a:r>
              <a:t>          "layer": "사람 확인",</a:t>
            </a:r>
          </a:p>
          <a:p xmlns:a="http://schemas.openxmlformats.org/drawingml/2006/main">
            <a:r>
              <a:t>          "detail": "운행 중 접근 위험을 감지하고 운전자에게 경고",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"위험 경고 전달",</a:t>
            </a:r>
          </a:p>
          <a:p xmlns:a="http://schemas.openxmlformats.org/drawingml/2006/main">
            <a:r>
              <a:t>          "layer": "업무 연결",</a:t>
            </a:r>
          </a:p>
          <a:p xmlns:a="http://schemas.openxmlformats.org/drawingml/2006/main">
            <a:r>
              <a:t>          "detail": "운전자에게 경고 전달 및 운행 후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"운행 후 검토",</a:t>
            </a:r>
          </a:p>
          <a:p xmlns:a="http://schemas.openxmlformats.org/drawingml/2006/main">
            <a:r>
              <a:t>          "layer": "운영 관측",</a:t>
            </a:r>
          </a:p>
          <a:p xmlns:a="http://schemas.openxmlformats.org/drawingml/2006/main">
            <a:r>
              <a:t>          "detail": "오경보·미탐과 운전자 반응의 표본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"영상·센서 자료",</a:t>
            </a:r>
          </a:p>
          <a:p xmlns:a="http://schemas.openxmlformats.org/drawingml/2006/main">
            <a:r>
              <a:t>          "layer": "데이터 원천",</a:t>
            </a:r>
          </a:p>
          <a:p xmlns:a="http://schemas.openxmlformats.org/drawingml/2006/main">
            <a:r>
              <a:t>          "detail": "위험 이벤트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 동기화",</a:t>
            </a:r>
          </a:p>
          <a:p xmlns:a="http://schemas.openxmlformats.org/drawingml/2006/main">
            <a:r>
              <a:t>          "layer": "준비·갱신",</a:t>
            </a:r>
          </a:p>
          <a:p xmlns:a="http://schemas.openxmlformats.org/drawingml/2006/main">
            <a:r>
              <a:t>          "detail": "차량 센서·영상·경고 이벤트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"경고·반응 이력",</a:t>
            </a:r>
          </a:p>
          <a:p xmlns:a="http://schemas.openxmlformats.org/drawingml/2006/main">
            <a:r>
              <a:t>          "layer": "상태·지식 저장",</a:t>
            </a:r>
          </a:p>
          <a:p xmlns:a="http://schemas.openxmlformats.org/drawingml/2006/main">
            <a:r>
              <a:t>          "detail": "환경별 경고 적정성과 운전자 반응의 표본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"차량 안전 경계",</a:t>
            </a:r>
          </a:p>
          <a:p xmlns:a="http://schemas.openxmlformats.org/drawingml/2006/main">
            <a:r>
              <a:t>          "layer": "권한·정책",</a:t>
            </a:r>
          </a:p>
          <a:p xmlns:a="http://schemas.openxmlformats.org/drawingml/2006/main">
            <a:r>
              <a:t>          "detail": "우천·야간·가림·정차 상태의 비위험 객체",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"차량 센서·영상 → 위험 판단 → 운전자 경고 → 운행 안전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"위험 이벤트 기록",</a:t>
            </a:r>
          </a:p>
          <a:p xmlns:a="http://schemas.openxmlformats.org/drawingml/2006/main">
            <a:r>
              <a:t>          "check": "차량 센서·영상·경고 이벤트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"차량 센서·영상·경고 이벤트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"경고",</a:t>
            </a:r>
          </a:p>
          <a:p xmlns:a="http://schemas.openxmlformats.org/drawingml/2006/main">
            <a:r>
              <a:t>          "check": "환경별 경고 적정성과 운전자 반응의 표본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"차량 안전 경계",</a:t>
            </a:r>
          </a:p>
          <a:p xmlns:a="http://schemas.openxmlformats.org/drawingml/2006/main">
            <a:r>
              <a:t>          "check": "경보 지연·오탐·운전자 수용성 평가"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"운행 후 검토",</a:t>
            </a:r>
          </a:p>
          <a:p xmlns:a="http://schemas.openxmlformats.org/drawingml/2006/main">
            <a:r>
              <a:t>          "check": "환경별 경고 적정성과 운전자 반응의 표본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"오경보·미탐과 운전자 반응의 표본 확인",</a:t>
            </a:r>
          </a:p>
          <a:p xmlns:a="http://schemas.openxmlformats.org/drawingml/2006/main">
            <a:r>
              <a:t>          "check": "오경보·미탐과 운전자 반응의 표본 확인"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"버스 운행 중 위험 인지와 충돌 경고 / 주변 감지·위험 경고·운행 검토",</a:t>
            </a:r>
          </a:p>
          <a:p xmlns:a="http://schemas.openxmlformats.org/drawingml/2006/main">
            <a:r>
              <a:t>        "extension": "TS 운수회사 안전 점검의 장치·운행 증거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"우천·야간·가림·정차 상태의 비위험 객체",</a:t>
            </a:r>
          </a:p>
          <a:p xmlns:a="http://schemas.openxmlformats.org/drawingml/2006/main">
            <a:r>
              <a:t>        "hold": "경보 지연·오탐·운전자 수용성 평가",</a:t>
            </a:r>
          </a:p>
          <a:p xmlns:a="http://schemas.openxmlformats.org/drawingml/2006/main">
            <a:r>
              <a:t>        "recovery": "오경보·미탐과 운전자 반응의 표본 확인",</a:t>
            </a:r>
          </a:p>
          <a:p xmlns:a="http://schemas.openxmlformats.org/drawingml/2006/main">
            <a:r>
              <a:t>        "evidence": "환경별 경고 적정성과 운전자 반응의 표본 기록"</a:t>
            </a:r>
          </a:p>
          <a:p xmlns:a="http://schemas.openxmlformats.org/drawingml/2006/main">
            <a:r>
              <a:t>      },</a:t>
            </a:r>
          </a:p>
          <a:p xmlns:a="http://schemas.openxmlformats.org/drawingml/2006/main">
            <a:r>
              <a:t>      "data": {</a:t>
            </a:r>
          </a:p>
          <a:p xmlns:a="http://schemas.openxmlformats.org/drawingml/2006/main">
            <a:r>
              <a:t>        "source": "위험 이벤트 기록",</a:t>
            </a:r>
          </a:p>
          <a:p xmlns:a="http://schemas.openxmlformats.org/drawingml/2006/main">
            <a:r>
              <a:t>        "prepare": "차량 센서·영상·경고 이벤트 정합화",</a:t>
            </a:r>
          </a:p>
          <a:p xmlns:a="http://schemas.openxmlformats.org/drawingml/2006/main">
            <a:r>
              <a:t>        "output": "센서 관측",</a:t>
            </a:r>
          </a:p>
          <a:p xmlns:a="http://schemas.openxmlformats.org/drawingml/2006/main">
            <a:r>
              <a:t>        "refresh": "오경보·미탐과 운전자 반응의 표본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"AX16",</a:t>
            </a:r>
          </a:p>
          <a:p xmlns:a="http://schemas.openxmlformats.org/drawingml/2006/main">
            <a:r>
              <a:t>    "success": [</a:t>
            </a:r>
          </a:p>
          <a:p xmlns:a="http://schemas.openxmlformats.org/drawingml/2006/main">
            <a:r>
              <a:t>      "차량의 위험 인지와 즉시 경고",</a:t>
            </a:r>
          </a:p>
          <a:p xmlns:a="http://schemas.openxmlformats.org/drawingml/2006/main">
            <a:r>
              <a:t>      "운전자 대응을 전제로 한 안전 지원"</a:t>
            </a:r>
          </a:p>
          <a:p xmlns:a="http://schemas.openxmlformats.org/drawingml/2006/main">
            <a:r>
              <a:t>    ],</a:t>
            </a:r>
          </a:p>
          <a:p xmlns:a="http://schemas.openxmlformats.org/drawingml/2006/main">
            <a:r>
              <a:t>    "risks": [</a:t>
            </a:r>
          </a:p>
          <a:p xmlns:a="http://schemas.openxmlformats.org/drawingml/2006/main">
            <a:r>
              <a:t>      "경보 과다에 따른 무시 위험",</a:t>
            </a:r>
          </a:p>
          <a:p xmlns:a="http://schemas.openxmlformats.org/drawingml/2006/main">
            <a:r>
              <a:t>      "확대 계획을 사고 감소 실적으로 해석"</a:t>
            </a:r>
          </a:p>
          <a:p xmlns:a="http://schemas.openxmlformats.org/drawingml/2006/main">
            <a:r>
              <a:t>    ],</a:t>
            </a:r>
          </a:p>
          <a:p xmlns:a="http://schemas.openxmlformats.org/drawingml/2006/main">
            <a:r>
              <a:t>    "architecture": [</a:t>
            </a:r>
          </a:p>
          <a:p xmlns:a="http://schemas.openxmlformats.org/drawingml/2006/main">
            <a:r>
              <a:t>      "버스 센서·영상",</a:t>
            </a:r>
          </a:p>
          <a:p xmlns:a="http://schemas.openxmlformats.org/drawingml/2006/main">
            <a:r>
              <a:t>      "충돌 위험 탐지",</a:t>
            </a:r>
          </a:p>
          <a:p xmlns:a="http://schemas.openxmlformats.org/drawingml/2006/main">
            <a:r>
              <a:t>      "위험 이벤트 기록",</a:t>
            </a:r>
          </a:p>
          <a:p xmlns:a="http://schemas.openxmlformats.org/drawingml/2006/main">
            <a:r>
              <a:t>      "운전자·안전 관리자"</a:t>
            </a:r>
          </a:p>
          <a:p xmlns:a="http://schemas.openxmlformats.org/drawingml/2006/main">
            <a:r>
              <a:t>    ],</a:t>
            </a:r>
          </a:p>
          <a:p xmlns:a="http://schemas.openxmlformats.org/drawingml/2006/main">
            <a:r>
              <a:t>    "transfers": [</a:t>
            </a:r>
          </a:p>
          <a:p xmlns:a="http://schemas.openxmlformats.org/drawingml/2006/main">
            <a:r>
              <a:t>      "센서 관측",</a:t>
            </a:r>
          </a:p>
          <a:p xmlns:a="http://schemas.openxmlformats.org/drawingml/2006/main">
            <a:r>
              <a:t>      "위험 후보",</a:t>
            </a:r>
          </a:p>
          <a:p xmlns:a="http://schemas.openxmlformats.org/drawingml/2006/main">
            <a:r>
              <a:t>      "경고",</a:t>
            </a:r>
          </a:p>
          <a:p xmlns:a="http://schemas.openxmlformats.org/drawingml/2006/main">
            <a:r>
              <a:t>      "운행 후 검토"</a:t>
            </a:r>
          </a:p>
          <a:p xmlns:a="http://schemas.openxmlformats.org/drawingml/2006/main">
            <a:r>
              <a:t>    ],</a:t>
            </a:r>
          </a:p>
          <a:p xmlns:a="http://schemas.openxmlformats.org/drawingml/2006/main">
            <a:r>
              <a:t>    "control": "경보 지연·오탐·운전자 수용성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싱가포르 버스 충돌경고 확대 · LTA / 2025-08-23 https://www.lta.gov.sg/content/ltagov/en/newsroom/2025/8/news-releases/making_bus_journeys_safer.html</a:t>
            </a:r>
          </a:p>
          <a:p xmlns:a="http://schemas.openxmlformats.org/drawingml/2006/main">
            <a:r>
              <a:t>홈페이지 https://heen1987-ops.github.io/TS-business-Plan-001/index.html?view=casebook&amp;case=AX16</a:t>
            </a:r>
          </a:p>
          <a:p xmlns:a="http://schemas.openxmlformats.org/drawingml/2006/main">
            <a:r>
              <a:t>한계: 계획·조달 단계와 전 차량 운영 성과 구분</a:t>
            </a:r>
          </a:p>
          <a:p xmlns:a="http://schemas.openxmlformats.org/drawingml/2006/main">
            <a:r>
              <a:t>실패 위험: 경보 과다에 따른 무시 위험 / 확대 계획을 사고 감소 실적으로 해석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"AX16",</a:t>
            </a:r>
          </a:p>
          <a:p xmlns:a="http://schemas.openxmlformats.org/drawingml/2006/main">
            <a:r>
              <a:t>    "title": "싱가포르 버스 충돌경고 확대",</a:t>
            </a:r>
          </a:p>
          <a:p xmlns:a="http://schemas.openxmlformats.org/drawingml/2006/main">
            <a:r>
              <a:t>    "region": "해외",</a:t>
            </a:r>
          </a:p>
          <a:p xmlns:a="http://schemas.openxmlformats.org/drawingml/2006/main">
            <a:r>
              <a:t>    "country": "싱가포르",</a:t>
            </a:r>
          </a:p>
          <a:p xmlns:a="http://schemas.openxmlformats.org/drawingml/2006/main">
            <a:r>
              <a:t>    "result": "계획",</a:t>
            </a:r>
          </a:p>
          <a:p xmlns:a="http://schemas.openxmlformats.org/drawingml/2006/main">
            <a:r>
              <a:t>    "kind": "버스 안전 AI 도입",</a:t>
            </a:r>
          </a:p>
          <a:p xmlns:a="http://schemas.openxmlformats.org/drawingml/2006/main">
            <a:r>
              <a:t>    "period": "2025 도입·확대 계획",</a:t>
            </a:r>
          </a:p>
          <a:p xmlns:a="http://schemas.openxmlformats.org/drawingml/2006/main">
            <a:r>
              <a:t>    "sources": [</a:t>
            </a:r>
          </a:p>
          <a:p xmlns:a="http://schemas.openxmlformats.org/drawingml/2006/main">
            <a:r>
              <a:t>      "S-AX16"</a:t>
            </a:r>
          </a:p>
          <a:p xmlns:a="http://schemas.openxmlformats.org/drawingml/2006/main">
            <a:r>
              <a:t>    ],</a:t>
            </a:r>
          </a:p>
          <a:p xmlns:a="http://schemas.openxmlformats.org/drawingml/2006/main">
            <a:r>
              <a:t>    "keywords": [</a:t>
            </a:r>
          </a:p>
          <a:p xmlns:a="http://schemas.openxmlformats.org/drawingml/2006/main">
            <a:r>
              <a:t>      "버스 안전 AI 도입"</a:t>
            </a:r>
          </a:p>
          <a:p xmlns:a="http://schemas.openxmlformats.org/drawingml/2006/main">
            <a:r>
              <a:t>    ],</a:t>
            </a:r>
          </a:p>
          <a:p xmlns:a="http://schemas.openxmlformats.org/drawingml/2006/main">
            <a:r>
              <a:t>    "fact": "충돌경고 등 AI 안전 기능의 버스 도입·확대 방향 공개",</a:t>
            </a:r>
          </a:p>
          <a:p xmlns:a="http://schemas.openxmlformats.org/drawingml/2006/main">
            <a:r>
              <a:t>    "limit": "계획·조달 단계와 전 차량 운영 성과 구분",</a:t>
            </a:r>
          </a:p>
          <a:p xmlns:a="http://schemas.openxmlformats.org/drawingml/2006/main">
            <a:r>
              <a:t>    "flow": [</a:t>
            </a:r>
          </a:p>
          <a:p xmlns:a="http://schemas.openxmlformats.org/drawingml/2006/main">
            <a:r>
              <a:t>      "차량 센서·영상",</a:t>
            </a:r>
          </a:p>
          <a:p xmlns:a="http://schemas.openxmlformats.org/drawingml/2006/main">
            <a:r>
              <a:t>      "위험 판단",</a:t>
            </a:r>
          </a:p>
          <a:p xmlns:a="http://schemas.openxmlformats.org/drawingml/2006/main">
            <a:r>
              <a:t>      "운전자 경고",</a:t>
            </a:r>
          </a:p>
          <a:p xmlns:a="http://schemas.openxmlformats.org/drawingml/2006/main">
            <a:r>
              <a:t>      "운행 안전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"안전 기능의 도입 조건과 운전자 대응 검증",</a:t>
            </a:r>
          </a:p>
          <a:p xmlns:a="http://schemas.openxmlformats.org/drawingml/2006/main">
            <a:r>
              <a:t>    "local": "TS 운수회사 안전 점검의 장치·운행 증거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"장치 상태·경고 이력·점검 항목 매핑",</a:t>
            </a:r>
          </a:p>
          <a:p xmlns:a="http://schemas.openxmlformats.org/drawingml/2006/main">
            <a:r>
              <a:t>    "test": "결측·장치 고장·과경보 및 점검 증빙 대조",</a:t>
            </a:r>
          </a:p>
          <a:p xmlns:a="http://schemas.openxmlformats.org/drawingml/2006/main">
            <a:r>
              <a:t>    "metric": "경고 신뢰도 / 증빙 누락률",</a:t>
            </a:r>
          </a:p>
          <a:p xmlns:a="http://schemas.openxmlformats.org/drawingml/2006/main">
            <a:r>
              <a:t>    "strategies": [</a:t>
            </a:r>
          </a:p>
          <a:p xmlns:a="http://schemas.openxmlformats.org/drawingml/2006/main">
            <a:r>
              <a:t>      "ST-01",</a:t>
            </a:r>
          </a:p>
          <a:p xmlns:a="http://schemas.openxmlformats.org/drawingml/2006/main">
            <a:r>
              <a:t>      "ST-02",</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"AX16",</a:t>
            </a:r>
          </a:p>
          <a:p xmlns:a="http://schemas.openxmlformats.org/drawingml/2006/main">
            <a:r>
              <a:t>    "canonicalId": "AX16",</a:t>
            </a:r>
          </a:p>
          <a:p xmlns:a="http://schemas.openxmlformats.org/drawingml/2006/main">
            <a:r>
              <a:t>    "purpose": "버스 운행 중 위험 인지와 충돌 경고",</a:t>
            </a:r>
          </a:p>
          <a:p xmlns:a="http://schemas.openxmlformats.org/drawingml/2006/main">
            <a:r>
              <a:t>    "users": "운전자·운수사 안전 담당",</a:t>
            </a:r>
          </a:p>
          <a:p xmlns:a="http://schemas.openxmlformats.org/drawingml/2006/main">
            <a:r>
              <a:t>    "scope": [</a:t>
            </a:r>
          </a:p>
          <a:p xmlns:a="http://schemas.openxmlformats.org/drawingml/2006/main">
            <a:r>
              <a:t>      "주변 감지",</a:t>
            </a:r>
          </a:p>
          <a:p xmlns:a="http://schemas.openxmlformats.org/drawingml/2006/main">
            <a:r>
              <a:t>      "위험 경고",</a:t>
            </a:r>
          </a:p>
          <a:p xmlns:a="http://schemas.openxmlformats.org/drawingml/2006/main">
            <a:r>
              <a:t>      "운행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"버스 센서·영상",</a:t>
            </a:r>
          </a:p>
          <a:p xmlns:a="http://schemas.openxmlformats.org/drawingml/2006/main">
            <a:r>
              <a:t>        "detail": "차량·시간·주변 상황 인지",</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"주변 감지 / 위험 경고 / 운행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"충돌 위험 탐지",</a:t>
            </a:r>
          </a:p>
          <a:p xmlns:a="http://schemas.openxmlformats.org/drawingml/2006/main">
            <a:r>
              <a:t>        "detail": "장애물·차량 간 위험 상황 판단",</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"운전자·안전 관리자",</a:t>
            </a:r>
          </a:p>
          <a:p xmlns:a="http://schemas.openxmlformats.org/drawingml/2006/main">
            <a:r>
              <a:t>        "detail": "운전자에게 경고 전달 및 운행 후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"위험 이벤트 기록",</a:t>
            </a:r>
          </a:p>
          <a:p xmlns:a="http://schemas.openxmlformats.org/drawingml/2006/main">
            <a:r>
              <a:t>        "detail": "차량 센서·영상·경고 이벤트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"오경보·미탐과 운전자 반응의 표본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"차량 센서·영상",</a:t>
            </a:r>
          </a:p>
          <a:p xmlns:a="http://schemas.openxmlformats.org/drawingml/2006/main">
            <a:r>
              <a:t>        "input": "차량·시간·주변 상황 인지",</a:t>
            </a:r>
          </a:p>
          <a:p xmlns:a="http://schemas.openxmlformats.org/drawingml/2006/main">
            <a:r>
              <a:t>        "process": "차량 센서·영상·경고 이벤트 정합화",</a:t>
            </a:r>
          </a:p>
          <a:p xmlns:a="http://schemas.openxmlformats.org/drawingml/2006/main">
            <a:r>
              <a:t>        "output": "센서 관측"</a:t>
            </a:r>
          </a:p>
          <a:p xmlns:a="http://schemas.openxmlformats.org/drawingml/2006/main">
            <a:r>
              <a:t>      },</a:t>
            </a:r>
          </a:p>
          <a:p xmlns:a="http://schemas.openxmlformats.org/drawingml/2006/main">
            <a:r>
              <a:t>      {</a:t>
            </a:r>
          </a:p>
          <a:p xmlns:a="http://schemas.openxmlformats.org/drawingml/2006/main">
            <a:r>
              <a:t>        "title": "위험 판단",</a:t>
            </a:r>
          </a:p>
          <a:p xmlns:a="http://schemas.openxmlformats.org/drawingml/2006/main">
            <a:r>
              <a:t>        "input": "센서 관측",</a:t>
            </a:r>
          </a:p>
          <a:p xmlns:a="http://schemas.openxmlformats.org/drawingml/2006/main">
            <a:r>
              <a:t>        "process": "장애물·차량 간 위험 상황 판단",</a:t>
            </a:r>
          </a:p>
          <a:p xmlns:a="http://schemas.openxmlformats.org/drawingml/2006/main">
            <a:r>
              <a:t>        "output": "위험 후보"</a:t>
            </a:r>
          </a:p>
          <a:p xmlns:a="http://schemas.openxmlformats.org/drawingml/2006/main">
            <a:r>
              <a:t>      },</a:t>
            </a:r>
          </a:p>
          <a:p xmlns:a="http://schemas.openxmlformats.org/drawingml/2006/main">
            <a:r>
              <a:t>      {</a:t>
            </a:r>
          </a:p>
          <a:p xmlns:a="http://schemas.openxmlformats.org/drawingml/2006/main">
            <a:r>
              <a:t>        "title": "운전자 경고",</a:t>
            </a:r>
          </a:p>
          <a:p xmlns:a="http://schemas.openxmlformats.org/drawingml/2006/main">
            <a:r>
              <a:t>        "input": "위험 후보",</a:t>
            </a:r>
          </a:p>
          <a:p xmlns:a="http://schemas.openxmlformats.org/drawingml/2006/main">
            <a:r>
              <a:t>        "process": "경보 지연·오탐·운전자 수용성 평가",</a:t>
            </a:r>
          </a:p>
          <a:p xmlns:a="http://schemas.openxmlformats.org/drawingml/2006/main">
            <a:r>
              <a:t>        "output": "경고"</a:t>
            </a:r>
          </a:p>
          <a:p xmlns:a="http://schemas.openxmlformats.org/drawingml/2006/main">
            <a:r>
              <a:t>      },</a:t>
            </a:r>
          </a:p>
          <a:p xmlns:a="http://schemas.openxmlformats.org/drawingml/2006/main">
            <a:r>
              <a:t>      {</a:t>
            </a:r>
          </a:p>
          <a:p xmlns:a="http://schemas.openxmlformats.org/drawingml/2006/main">
            <a:r>
              <a:t>        "title": "운행 안전 검토",</a:t>
            </a:r>
          </a:p>
          <a:p xmlns:a="http://schemas.openxmlformats.org/drawingml/2006/main">
            <a:r>
              <a:t>        "input": "경고",</a:t>
            </a:r>
          </a:p>
          <a:p xmlns:a="http://schemas.openxmlformats.org/drawingml/2006/main">
            <a:r>
              <a:t>        "process": "운전자에게 경고 전달 및 운행 후 검토",</a:t>
            </a:r>
          </a:p>
          <a:p xmlns:a="http://schemas.openxmlformats.org/drawingml/2006/main">
            <a:r>
              <a:t>        "output": "운행 후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"운행 중 접근 위험을 감지하고 운전자에게 경고",</a:t>
            </a:r>
          </a:p>
          <a:p xmlns:a="http://schemas.openxmlformats.org/drawingml/2006/main">
            <a:r>
              <a:t>      "exception": "우천·야간·가림·정차 상태의 비위험 객체",</a:t>
            </a:r>
          </a:p>
          <a:p xmlns:a="http://schemas.openxmlformats.org/drawingml/2006/main">
            <a:r>
              <a:t>      "evidence": "환경별 경고 적정성과 운전자 반응의 표본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"운전자·운수사 안전 담당",</a:t>
            </a:r>
          </a:p>
          <a:p xmlns:a="http://schemas.openxmlformats.org/drawingml/2006/main">
            <a:r>
              <a:t>          "processing": "차량·시간·주변 상황 인지",</a:t>
            </a:r>
          </a:p>
          <a:p xmlns:a="http://schemas.openxmlformats.org/drawingml/2006/main">
            <a:r>
              <a:t>          "output": "센서 관측"</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"위험 이벤트 기록",</a:t>
            </a:r>
          </a:p>
          <a:p xmlns:a="http://schemas.openxmlformats.org/drawingml/2006/main">
            <a:r>
              <a:t>          "processing": "차량 센서·영상·경고 이벤트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"센서 관측",</a:t>
            </a:r>
          </a:p>
          <a:p xmlns:a="http://schemas.openxmlformats.org/drawingml/2006/main">
            <a:r>
              <a:t>          "processing": "장애물·차량 간 위험 상황 판단",</a:t>
            </a:r>
          </a:p>
          <a:p xmlns:a="http://schemas.openxmlformats.org/drawingml/2006/main">
            <a:r>
              <a:t>          "output": "경고"</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"경고",</a:t>
            </a:r>
          </a:p>
          <a:p xmlns:a="http://schemas.openxmlformats.org/drawingml/2006/main">
            <a:r>
              <a:t>          "processing": "운전자에게 경고 전달 및 운행 후 검토",</a:t>
            </a:r>
          </a:p>
          <a:p xmlns:a="http://schemas.openxmlformats.org/drawingml/2006/main">
            <a:r>
              <a:t>          "output": "운행 후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"오경보·미탐과 운전자 반응의 표본 확인",</a:t>
            </a:r>
          </a:p>
          <a:p xmlns:a="http://schemas.openxmlformats.org/drawingml/2006/main">
            <a:r>
              <a:t>          "output": "환경별 경고 적정성과 운전자 반응의 표본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"오경보·미탐과 운전자 반응의 표본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"S-AX16",</a:t>
            </a:r>
          </a:p>
          <a:p xmlns:a="http://schemas.openxmlformats.org/drawingml/2006/main">
            <a:r>
              <a:t>        "title": "싱가포르 버스 충돌경고 확대 · LTA / 2025-08-23",</a:t>
            </a:r>
          </a:p>
          <a:p xmlns:a="http://schemas.openxmlformats.org/drawingml/2006/main">
            <a:r>
              <a:t>        "url": "https://www.lta.gov.sg/content/ltagov/en/newsroom/2025/8/news-releases/making_bus_journeys_safer.html",</a:t>
            </a:r>
          </a:p>
          <a:p xmlns:a="http://schemas.openxmlformats.org/drawingml/2006/main">
            <a:r>
              <a:t>        "published": "2025 도입·확대 계획",</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"안전 기능의 도입 조건과 운전자 대응 검증",</a:t>
            </a:r>
          </a:p>
          <a:p xmlns:a="http://schemas.openxmlformats.org/drawingml/2006/main">
            <a:r>
              <a:t>    "local": "TS 운수회사 안전 점검의 장치·운행 증거 연결",</a:t>
            </a:r>
          </a:p>
          <a:p xmlns:a="http://schemas.openxmlformats.org/drawingml/2006/main">
            <a:r>
              <a:t>    "sourceDetail": null,</a:t>
            </a:r>
          </a:p>
          <a:p xmlns:a="http://schemas.openxmlformats.org/drawingml/2006/main">
            <a:r>
              <a:t>    "narrative": [</a:t>
            </a:r>
          </a:p>
          <a:p xmlns:a="http://schemas.openxmlformats.org/drawingml/2006/main">
            <a:r>
              <a:t>      "버스 주변 위험을 감지해 운전자에게 즉시 경고하는 안전 지원 사례. 운전자의 판단과 대응을 전제로 한 경고 시스템이며 운행 후 위험 이벤트 검토와도 연결.",</a:t>
            </a:r>
          </a:p>
          <a:p xmlns:a="http://schemas.openxmlformats.org/drawingml/2006/main">
            <a:r>
              <a:t>      "차량·시간·주변 상황을 센서·영상과 맞추고 위험 후보에서 경고로 이어지는 지연을 관리하는 구조. 경고 발생, 운전자 반응, 실제 위험 여부를 서로 다른 기록으로 보존하는 CCK 분석.",</a:t>
            </a:r>
          </a:p>
          <a:p xmlns:a="http://schemas.openxmlformats.org/drawingml/2006/main">
            <a:r>
              <a:t>      "TS 적용에서는 경보 과다로 인한 무시와 중요한 위험의 미탐을 동시에 확인할 필요. 차량·도로·시간대별 경보 지연·정확도·수용성을 비교하고 보급 규모를 사고 감소 실적으로 환산하지 않는 평가."</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"차량 센서 접점",</a:t>
            </a:r>
          </a:p>
          <a:p xmlns:a="http://schemas.openxmlformats.org/drawingml/2006/main">
            <a:r>
              <a:t>          "layer": "이용 접점",</a:t>
            </a:r>
          </a:p>
          <a:p xmlns:a="http://schemas.openxmlformats.org/drawingml/2006/main">
            <a:r>
              <a:t>          "detail": "운전자·운수사 안전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"차량·주변 맥락",</a:t>
            </a:r>
          </a:p>
          <a:p xmlns:a="http://schemas.openxmlformats.org/drawingml/2006/main">
            <a:r>
              <a:t>          "layer": "업무 문맥",</a:t>
            </a:r>
          </a:p>
          <a:p xmlns:a="http://schemas.openxmlformats.org/drawingml/2006/main">
            <a:r>
              <a:t>          "detail": "차량·시간·주변 상황 인지",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"영상·센서 조회",</a:t>
            </a:r>
          </a:p>
          <a:p xmlns:a="http://schemas.openxmlformats.org/drawingml/2006/main">
            <a:r>
              <a:t>          "layer": "자료 조회",</a:t>
            </a:r>
          </a:p>
          <a:p xmlns:a="http://schemas.openxmlformats.org/drawingml/2006/main">
            <a:r>
              <a:t>          "detail": "센서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"충돌 위험 탐지",</a:t>
            </a:r>
          </a:p>
          <a:p xmlns:a="http://schemas.openxmlformats.org/drawingml/2006/main">
            <a:r>
              <a:t>          "layer": "핵심 처리",</a:t>
            </a:r>
          </a:p>
          <a:p xmlns:a="http://schemas.openxmlformats.org/drawingml/2006/main">
            <a:r>
              <a:t>          "detail": "장애물·차량 간 위험 상황 판단",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"경보 지연 검사",</a:t>
            </a:r>
          </a:p>
          <a:p xmlns:a="http://schemas.openxmlformats.org/drawingml/2006/main">
            <a:r>
              <a:t>          "layer": "결과 검증",</a:t>
            </a:r>
          </a:p>
          <a:p xmlns:a="http://schemas.openxmlformats.org/drawingml/2006/main">
            <a:r>
              <a:t>          "detail": "경보 지연·오탐·운전자 수용성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"운전자 상황 판단",</a:t>
            </a:r>
          </a:p>
          <a:p xmlns:a="http://schemas.openxmlformats.org/drawingml/2006/main">
            <a:r>
              <a:t>          "layer": "사람 확인",</a:t>
            </a:r>
          </a:p>
          <a:p xmlns:a="http://schemas.openxmlformats.org/drawingml/2006/main">
            <a:r>
              <a:t>          "detail": "운행 중 접근 위험을 감지하고 운전자에게 경고",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"위험 경고 전달",</a:t>
            </a:r>
          </a:p>
          <a:p xmlns:a="http://schemas.openxmlformats.org/drawingml/2006/main">
            <a:r>
              <a:t>          "layer": "업무 연결",</a:t>
            </a:r>
          </a:p>
          <a:p xmlns:a="http://schemas.openxmlformats.org/drawingml/2006/main">
            <a:r>
              <a:t>          "detail": "운전자에게 경고 전달 및 운행 후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"운행 후 검토",</a:t>
            </a:r>
          </a:p>
          <a:p xmlns:a="http://schemas.openxmlformats.org/drawingml/2006/main">
            <a:r>
              <a:t>          "layer": "운영 관측",</a:t>
            </a:r>
          </a:p>
          <a:p xmlns:a="http://schemas.openxmlformats.org/drawingml/2006/main">
            <a:r>
              <a:t>          "detail": "오경보·미탐과 운전자 반응의 표본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"영상·센서 자료",</a:t>
            </a:r>
          </a:p>
          <a:p xmlns:a="http://schemas.openxmlformats.org/drawingml/2006/main">
            <a:r>
              <a:t>          "layer": "데이터 원천",</a:t>
            </a:r>
          </a:p>
          <a:p xmlns:a="http://schemas.openxmlformats.org/drawingml/2006/main">
            <a:r>
              <a:t>          "detail": "위험 이벤트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 동기화",</a:t>
            </a:r>
          </a:p>
          <a:p xmlns:a="http://schemas.openxmlformats.org/drawingml/2006/main">
            <a:r>
              <a:t>          "layer": "준비·갱신",</a:t>
            </a:r>
          </a:p>
          <a:p xmlns:a="http://schemas.openxmlformats.org/drawingml/2006/main">
            <a:r>
              <a:t>          "detail": "차량 센서·영상·경고 이벤트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"경고·반응 이력",</a:t>
            </a:r>
          </a:p>
          <a:p xmlns:a="http://schemas.openxmlformats.org/drawingml/2006/main">
            <a:r>
              <a:t>          "layer": "상태·지식 저장",</a:t>
            </a:r>
          </a:p>
          <a:p xmlns:a="http://schemas.openxmlformats.org/drawingml/2006/main">
            <a:r>
              <a:t>          "detail": "환경별 경고 적정성과 운전자 반응의 표본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"차량 안전 경계",</a:t>
            </a:r>
          </a:p>
          <a:p xmlns:a="http://schemas.openxmlformats.org/drawingml/2006/main">
            <a:r>
              <a:t>          "layer": "권한·정책",</a:t>
            </a:r>
          </a:p>
          <a:p xmlns:a="http://schemas.openxmlformats.org/drawingml/2006/main">
            <a:r>
              <a:t>          "detail": "우천·야간·가림·정차 상태의 비위험 객체",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"차량 센서·영상 → 위험 판단 → 운전자 경고 → 운행 안전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"위험 이벤트 기록",</a:t>
            </a:r>
          </a:p>
          <a:p xmlns:a="http://schemas.openxmlformats.org/drawingml/2006/main">
            <a:r>
              <a:t>          "check": "차량 센서·영상·경고 이벤트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"차량 센서·영상·경고 이벤트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"경고",</a:t>
            </a:r>
          </a:p>
          <a:p xmlns:a="http://schemas.openxmlformats.org/drawingml/2006/main">
            <a:r>
              <a:t>          "check": "환경별 경고 적정성과 운전자 반응의 표본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"차량 안전 경계",</a:t>
            </a:r>
          </a:p>
          <a:p xmlns:a="http://schemas.openxmlformats.org/drawingml/2006/main">
            <a:r>
              <a:t>          "check": "경보 지연·오탐·운전자 수용성 평가"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"운행 후 검토",</a:t>
            </a:r>
          </a:p>
          <a:p xmlns:a="http://schemas.openxmlformats.org/drawingml/2006/main">
            <a:r>
              <a:t>          "check": "환경별 경고 적정성과 운전자 반응의 표본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"오경보·미탐과 운전자 반응의 표본 확인",</a:t>
            </a:r>
          </a:p>
          <a:p xmlns:a="http://schemas.openxmlformats.org/drawingml/2006/main">
            <a:r>
              <a:t>          "check": "오경보·미탐과 운전자 반응의 표본 확인"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"버스 운행 중 위험 인지와 충돌 경고 / 주변 감지·위험 경고·운행 검토",</a:t>
            </a:r>
          </a:p>
          <a:p xmlns:a="http://schemas.openxmlformats.org/drawingml/2006/main">
            <a:r>
              <a:t>        "extension": "TS 운수회사 안전 점검의 장치·운행 증거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"우천·야간·가림·정차 상태의 비위험 객체",</a:t>
            </a:r>
          </a:p>
          <a:p xmlns:a="http://schemas.openxmlformats.org/drawingml/2006/main">
            <a:r>
              <a:t>        "hold": "경보 지연·오탐·운전자 수용성 평가",</a:t>
            </a:r>
          </a:p>
          <a:p xmlns:a="http://schemas.openxmlformats.org/drawingml/2006/main">
            <a:r>
              <a:t>        "recovery": "오경보·미탐과 운전자 반응의 표본 확인",</a:t>
            </a:r>
          </a:p>
          <a:p xmlns:a="http://schemas.openxmlformats.org/drawingml/2006/main">
            <a:r>
              <a:t>        "evidence": "환경별 경고 적정성과 운전자 반응의 표본 기록"</a:t>
            </a:r>
          </a:p>
          <a:p xmlns:a="http://schemas.openxmlformats.org/drawingml/2006/main">
            <a:r>
              <a:t>      },</a:t>
            </a:r>
          </a:p>
          <a:p xmlns:a="http://schemas.openxmlformats.org/drawingml/2006/main">
            <a:r>
              <a:t>      "data": {</a:t>
            </a:r>
          </a:p>
          <a:p xmlns:a="http://schemas.openxmlformats.org/drawingml/2006/main">
            <a:r>
              <a:t>        "source": "위험 이벤트 기록",</a:t>
            </a:r>
          </a:p>
          <a:p xmlns:a="http://schemas.openxmlformats.org/drawingml/2006/main">
            <a:r>
              <a:t>        "prepare": "차량 센서·영상·경고 이벤트 정합화",</a:t>
            </a:r>
          </a:p>
          <a:p xmlns:a="http://schemas.openxmlformats.org/drawingml/2006/main">
            <a:r>
              <a:t>        "output": "센서 관측",</a:t>
            </a:r>
          </a:p>
          <a:p xmlns:a="http://schemas.openxmlformats.org/drawingml/2006/main">
            <a:r>
              <a:t>        "refresh": "오경보·미탐과 운전자 반응의 표본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"AX16",</a:t>
            </a:r>
          </a:p>
          <a:p xmlns:a="http://schemas.openxmlformats.org/drawingml/2006/main">
            <a:r>
              <a:t>    "success": [</a:t>
            </a:r>
          </a:p>
          <a:p xmlns:a="http://schemas.openxmlformats.org/drawingml/2006/main">
            <a:r>
              <a:t>      "차량의 위험 인지와 즉시 경고",</a:t>
            </a:r>
          </a:p>
          <a:p xmlns:a="http://schemas.openxmlformats.org/drawingml/2006/main">
            <a:r>
              <a:t>      "운전자 대응을 전제로 한 안전 지원"</a:t>
            </a:r>
          </a:p>
          <a:p xmlns:a="http://schemas.openxmlformats.org/drawingml/2006/main">
            <a:r>
              <a:t>    ],</a:t>
            </a:r>
          </a:p>
          <a:p xmlns:a="http://schemas.openxmlformats.org/drawingml/2006/main">
            <a:r>
              <a:t>    "risks": [</a:t>
            </a:r>
          </a:p>
          <a:p xmlns:a="http://schemas.openxmlformats.org/drawingml/2006/main">
            <a:r>
              <a:t>      "경보 과다에 따른 무시 위험",</a:t>
            </a:r>
          </a:p>
          <a:p xmlns:a="http://schemas.openxmlformats.org/drawingml/2006/main">
            <a:r>
              <a:t>      "확대 계획을 사고 감소 실적으로 해석"</a:t>
            </a:r>
          </a:p>
          <a:p xmlns:a="http://schemas.openxmlformats.org/drawingml/2006/main">
            <a:r>
              <a:t>    ],</a:t>
            </a:r>
          </a:p>
          <a:p xmlns:a="http://schemas.openxmlformats.org/drawingml/2006/main">
            <a:r>
              <a:t>    "architecture": [</a:t>
            </a:r>
          </a:p>
          <a:p xmlns:a="http://schemas.openxmlformats.org/drawingml/2006/main">
            <a:r>
              <a:t>      "버스 센서·영상",</a:t>
            </a:r>
          </a:p>
          <a:p xmlns:a="http://schemas.openxmlformats.org/drawingml/2006/main">
            <a:r>
              <a:t>      "충돌 위험 탐지",</a:t>
            </a:r>
          </a:p>
          <a:p xmlns:a="http://schemas.openxmlformats.org/drawingml/2006/main">
            <a:r>
              <a:t>      "위험 이벤트 기록",</a:t>
            </a:r>
          </a:p>
          <a:p xmlns:a="http://schemas.openxmlformats.org/drawingml/2006/main">
            <a:r>
              <a:t>      "운전자·안전 관리자"</a:t>
            </a:r>
          </a:p>
          <a:p xmlns:a="http://schemas.openxmlformats.org/drawingml/2006/main">
            <a:r>
              <a:t>    ],</a:t>
            </a:r>
          </a:p>
          <a:p xmlns:a="http://schemas.openxmlformats.org/drawingml/2006/main">
            <a:r>
              <a:t>    "transfers": [</a:t>
            </a:r>
          </a:p>
          <a:p xmlns:a="http://schemas.openxmlformats.org/drawingml/2006/main">
            <a:r>
              <a:t>      "센서 관측",</a:t>
            </a:r>
          </a:p>
          <a:p xmlns:a="http://schemas.openxmlformats.org/drawingml/2006/main">
            <a:r>
              <a:t>      "위험 후보",</a:t>
            </a:r>
          </a:p>
          <a:p xmlns:a="http://schemas.openxmlformats.org/drawingml/2006/main">
            <a:r>
              <a:t>      "경고",</a:t>
            </a:r>
          </a:p>
          <a:p xmlns:a="http://schemas.openxmlformats.org/drawingml/2006/main">
            <a:r>
              <a:t>      "운행 후 검토"</a:t>
            </a:r>
          </a:p>
          <a:p xmlns:a="http://schemas.openxmlformats.org/drawingml/2006/main">
            <a:r>
              <a:t>    ],</a:t>
            </a:r>
          </a:p>
          <a:p xmlns:a="http://schemas.openxmlformats.org/drawingml/2006/main">
            <a:r>
              <a:t>    "control": "경보 지연·오탐·운전자 수용성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싱가포르 버스 충돌경고 확대 · LTA / 2025-08-23 https://www.lta.gov.sg/content/ltagov/en/newsroom/2025/8/news-releases/making_bus_journeys_safer.html</a:t>
            </a:r>
          </a:p>
          <a:p xmlns:a="http://schemas.openxmlformats.org/drawingml/2006/main">
            <a:r>
              <a:t>홈페이지 https://heen1987-ops.github.io/TS-business-Plan-001/index.html?view=casebook&amp;case=AX16</a:t>
            </a:r>
          </a:p>
          <a:p xmlns:a="http://schemas.openxmlformats.org/drawingml/2006/main">
            <a:r>
              <a:t>성과 대조</a:t>
            </a:r>
          </a:p>
          <a:p xmlns:a="http://schemas.openxmlformats.org/drawingml/2006/main">
            <a:r>
              <a:t>{</a:t>
            </a:r>
          </a:p>
          <a:p xmlns:a="http://schemas.openxmlformats.org/drawingml/2006/main">
            <a:r>
              <a:t>  "caseId": "AX16",</a:t>
            </a:r>
          </a:p>
          <a:p xmlns:a="http://schemas.openxmlformats.org/drawingml/2006/main">
            <a:r>
              <a:t>  "asIs": "버스 사고 위험을 운전자 인지·기존 안전장치에 의존해 대응",</a:t>
            </a:r>
          </a:p>
          <a:p xmlns:a="http://schemas.openxmlformats.org/drawingml/2006/main">
            <a:r>
              <a:t>  "toBe": "차량 센서·영상 기반 충돌경고 기능을 단계적으로 버스에 도입·확대",</a:t>
            </a:r>
          </a:p>
          <a:p xmlns:a="http://schemas.openxmlformats.org/drawingml/2006/main">
            <a:r>
              <a:t>  "expectedEffect": "위험의 조기 경고와 충돌 감소",</a:t>
            </a:r>
          </a:p>
          <a:p xmlns:a="http://schemas.openxmlformats.org/drawingml/2006/main">
            <a:r>
              <a:t>  "observed": "싱가포르 육상교통청의 도입·확대 방향 발표",</a:t>
            </a:r>
          </a:p>
          <a:p xmlns:a="http://schemas.openxmlformats.org/drawingml/2006/main">
            <a:r>
              <a:t>  "verdict": "성과 미검증",</a:t>
            </a:r>
          </a:p>
          <a:p xmlns:a="http://schemas.openxmlformats.org/drawingml/2006/main">
            <a:r>
              <a:t>  "verdictReason": "계획·도입 발표만으로 실제 차량 적용률과 충돌 감소를 확인할 수 없음",</a:t>
            </a:r>
          </a:p>
          <a:p xmlns:a="http://schemas.openxmlformats.org/drawingml/2006/main">
            <a:r>
              <a:t>  "limits": "발표 시점의 계획 기준. 운행·사고 결과의 실측치 미확인",</a:t>
            </a:r>
          </a:p>
          <a:p xmlns:a="http://schemas.openxmlformats.org/drawingml/2006/main">
            <a:r>
              <a:t>  "evidenceStage": "정부 조달·확대 계획",</a:t>
            </a:r>
          </a:p>
          <a:p xmlns:a="http://schemas.openxmlformats.org/drawingml/2006/main">
            <a:r>
              <a:t>  "sourceUrl": "https://www.lta.gov.sg/content/ltagov/en/newsroom/2025/8/news-releases/making_bus_journeys_safer.html"</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"AX16",</a:t>
            </a:r>
          </a:p>
          <a:p xmlns:a="http://schemas.openxmlformats.org/drawingml/2006/main">
            <a:r>
              <a:t>    "title": "싱가포르 버스 충돌경고 확대",</a:t>
            </a:r>
          </a:p>
          <a:p xmlns:a="http://schemas.openxmlformats.org/drawingml/2006/main">
            <a:r>
              <a:t>    "region": "해외",</a:t>
            </a:r>
          </a:p>
          <a:p xmlns:a="http://schemas.openxmlformats.org/drawingml/2006/main">
            <a:r>
              <a:t>    "country": "싱가포르",</a:t>
            </a:r>
          </a:p>
          <a:p xmlns:a="http://schemas.openxmlformats.org/drawingml/2006/main">
            <a:r>
              <a:t>    "result": "계획",</a:t>
            </a:r>
          </a:p>
          <a:p xmlns:a="http://schemas.openxmlformats.org/drawingml/2006/main">
            <a:r>
              <a:t>    "kind": "버스 안전 AI 도입",</a:t>
            </a:r>
          </a:p>
          <a:p xmlns:a="http://schemas.openxmlformats.org/drawingml/2006/main">
            <a:r>
              <a:t>    "period": "2025 도입·확대 계획",</a:t>
            </a:r>
          </a:p>
          <a:p xmlns:a="http://schemas.openxmlformats.org/drawingml/2006/main">
            <a:r>
              <a:t>    "sources": [</a:t>
            </a:r>
          </a:p>
          <a:p xmlns:a="http://schemas.openxmlformats.org/drawingml/2006/main">
            <a:r>
              <a:t>      "S-AX16"</a:t>
            </a:r>
          </a:p>
          <a:p xmlns:a="http://schemas.openxmlformats.org/drawingml/2006/main">
            <a:r>
              <a:t>    ],</a:t>
            </a:r>
          </a:p>
          <a:p xmlns:a="http://schemas.openxmlformats.org/drawingml/2006/main">
            <a:r>
              <a:t>    "keywords": [</a:t>
            </a:r>
          </a:p>
          <a:p xmlns:a="http://schemas.openxmlformats.org/drawingml/2006/main">
            <a:r>
              <a:t>      "버스 안전 AI 도입"</a:t>
            </a:r>
          </a:p>
          <a:p xmlns:a="http://schemas.openxmlformats.org/drawingml/2006/main">
            <a:r>
              <a:t>    ],</a:t>
            </a:r>
          </a:p>
          <a:p xmlns:a="http://schemas.openxmlformats.org/drawingml/2006/main">
            <a:r>
              <a:t>    "fact": "충돌경고 등 AI 안전 기능의 버스 도입·확대 방향 공개",</a:t>
            </a:r>
          </a:p>
          <a:p xmlns:a="http://schemas.openxmlformats.org/drawingml/2006/main">
            <a:r>
              <a:t>    "limit": "계획·조달 단계와 전 차량 운영 성과 구분",</a:t>
            </a:r>
          </a:p>
          <a:p xmlns:a="http://schemas.openxmlformats.org/drawingml/2006/main">
            <a:r>
              <a:t>    "flow": [</a:t>
            </a:r>
          </a:p>
          <a:p xmlns:a="http://schemas.openxmlformats.org/drawingml/2006/main">
            <a:r>
              <a:t>      "차량 센서·영상",</a:t>
            </a:r>
          </a:p>
          <a:p xmlns:a="http://schemas.openxmlformats.org/drawingml/2006/main">
            <a:r>
              <a:t>      "위험 판단",</a:t>
            </a:r>
          </a:p>
          <a:p xmlns:a="http://schemas.openxmlformats.org/drawingml/2006/main">
            <a:r>
              <a:t>      "운전자 경고",</a:t>
            </a:r>
          </a:p>
          <a:p xmlns:a="http://schemas.openxmlformats.org/drawingml/2006/main">
            <a:r>
              <a:t>      "운행 안전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"안전 기능의 도입 조건과 운전자 대응 검증",</a:t>
            </a:r>
          </a:p>
          <a:p xmlns:a="http://schemas.openxmlformats.org/drawingml/2006/main">
            <a:r>
              <a:t>    "local": "TS 운수회사 안전 점검의 장치·운행 증거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"장치 상태·경고 이력·점검 항목 매핑",</a:t>
            </a:r>
          </a:p>
          <a:p xmlns:a="http://schemas.openxmlformats.org/drawingml/2006/main">
            <a:r>
              <a:t>    "test": "결측·장치 고장·과경보 및 점검 증빙 대조",</a:t>
            </a:r>
          </a:p>
          <a:p xmlns:a="http://schemas.openxmlformats.org/drawingml/2006/main">
            <a:r>
              <a:t>    "metric": "경고 신뢰도 / 증빙 누락률",</a:t>
            </a:r>
          </a:p>
          <a:p xmlns:a="http://schemas.openxmlformats.org/drawingml/2006/main">
            <a:r>
              <a:t>    "strategies": [</a:t>
            </a:r>
          </a:p>
          <a:p xmlns:a="http://schemas.openxmlformats.org/drawingml/2006/main">
            <a:r>
              <a:t>      "ST-01",</a:t>
            </a:r>
          </a:p>
          <a:p xmlns:a="http://schemas.openxmlformats.org/drawingml/2006/main">
            <a:r>
              <a:t>      "ST-02",</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"AX16",</a:t>
            </a:r>
          </a:p>
          <a:p xmlns:a="http://schemas.openxmlformats.org/drawingml/2006/main">
            <a:r>
              <a:t>    "canonicalId": "AX16",</a:t>
            </a:r>
          </a:p>
          <a:p xmlns:a="http://schemas.openxmlformats.org/drawingml/2006/main">
            <a:r>
              <a:t>    "purpose": "버스 운행 중 위험 인지와 충돌 경고",</a:t>
            </a:r>
          </a:p>
          <a:p xmlns:a="http://schemas.openxmlformats.org/drawingml/2006/main">
            <a:r>
              <a:t>    "users": "운전자·운수사 안전 담당",</a:t>
            </a:r>
          </a:p>
          <a:p xmlns:a="http://schemas.openxmlformats.org/drawingml/2006/main">
            <a:r>
              <a:t>    "scope": [</a:t>
            </a:r>
          </a:p>
          <a:p xmlns:a="http://schemas.openxmlformats.org/drawingml/2006/main">
            <a:r>
              <a:t>      "주변 감지",</a:t>
            </a:r>
          </a:p>
          <a:p xmlns:a="http://schemas.openxmlformats.org/drawingml/2006/main">
            <a:r>
              <a:t>      "위험 경고",</a:t>
            </a:r>
          </a:p>
          <a:p xmlns:a="http://schemas.openxmlformats.org/drawingml/2006/main">
            <a:r>
              <a:t>      "운행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"버스 센서·영상",</a:t>
            </a:r>
          </a:p>
          <a:p xmlns:a="http://schemas.openxmlformats.org/drawingml/2006/main">
            <a:r>
              <a:t>        "detail": "차량·시간·주변 상황 인지",</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"주변 감지 / 위험 경고 / 운행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"충돌 위험 탐지",</a:t>
            </a:r>
          </a:p>
          <a:p xmlns:a="http://schemas.openxmlformats.org/drawingml/2006/main">
            <a:r>
              <a:t>        "detail": "장애물·차량 간 위험 상황 판단",</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"운전자·안전 관리자",</a:t>
            </a:r>
          </a:p>
          <a:p xmlns:a="http://schemas.openxmlformats.org/drawingml/2006/main">
            <a:r>
              <a:t>        "detail": "운전자에게 경고 전달 및 운행 후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"위험 이벤트 기록",</a:t>
            </a:r>
          </a:p>
          <a:p xmlns:a="http://schemas.openxmlformats.org/drawingml/2006/main">
            <a:r>
              <a:t>        "detail": "차량 센서·영상·경고 이벤트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"오경보·미탐과 운전자 반응의 표본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"차량 센서·영상",</a:t>
            </a:r>
          </a:p>
          <a:p xmlns:a="http://schemas.openxmlformats.org/drawingml/2006/main">
            <a:r>
              <a:t>        "input": "차량·시간·주변 상황 인지",</a:t>
            </a:r>
          </a:p>
          <a:p xmlns:a="http://schemas.openxmlformats.org/drawingml/2006/main">
            <a:r>
              <a:t>        "process": "차량 센서·영상·경고 이벤트 정합화",</a:t>
            </a:r>
          </a:p>
          <a:p xmlns:a="http://schemas.openxmlformats.org/drawingml/2006/main">
            <a:r>
              <a:t>        "output": "센서 관측"</a:t>
            </a:r>
          </a:p>
          <a:p xmlns:a="http://schemas.openxmlformats.org/drawingml/2006/main">
            <a:r>
              <a:t>      },</a:t>
            </a:r>
          </a:p>
          <a:p xmlns:a="http://schemas.openxmlformats.org/drawingml/2006/main">
            <a:r>
              <a:t>      {</a:t>
            </a:r>
          </a:p>
          <a:p xmlns:a="http://schemas.openxmlformats.org/drawingml/2006/main">
            <a:r>
              <a:t>        "title": "위험 판단",</a:t>
            </a:r>
          </a:p>
          <a:p xmlns:a="http://schemas.openxmlformats.org/drawingml/2006/main">
            <a:r>
              <a:t>        "input": "센서 관측",</a:t>
            </a:r>
          </a:p>
          <a:p xmlns:a="http://schemas.openxmlformats.org/drawingml/2006/main">
            <a:r>
              <a:t>        "process": "장애물·차량 간 위험 상황 판단",</a:t>
            </a:r>
          </a:p>
          <a:p xmlns:a="http://schemas.openxmlformats.org/drawingml/2006/main">
            <a:r>
              <a:t>        "output": "위험 후보"</a:t>
            </a:r>
          </a:p>
          <a:p xmlns:a="http://schemas.openxmlformats.org/drawingml/2006/main">
            <a:r>
              <a:t>      },</a:t>
            </a:r>
          </a:p>
          <a:p xmlns:a="http://schemas.openxmlformats.org/drawingml/2006/main">
            <a:r>
              <a:t>      {</a:t>
            </a:r>
          </a:p>
          <a:p xmlns:a="http://schemas.openxmlformats.org/drawingml/2006/main">
            <a:r>
              <a:t>        "title": "운전자 경고",</a:t>
            </a:r>
          </a:p>
          <a:p xmlns:a="http://schemas.openxmlformats.org/drawingml/2006/main">
            <a:r>
              <a:t>        "input": "위험 후보",</a:t>
            </a:r>
          </a:p>
          <a:p xmlns:a="http://schemas.openxmlformats.org/drawingml/2006/main">
            <a:r>
              <a:t>        "process": "경보 지연·오탐·운전자 수용성 평가",</a:t>
            </a:r>
          </a:p>
          <a:p xmlns:a="http://schemas.openxmlformats.org/drawingml/2006/main">
            <a:r>
              <a:t>        "output": "경고"</a:t>
            </a:r>
          </a:p>
          <a:p xmlns:a="http://schemas.openxmlformats.org/drawingml/2006/main">
            <a:r>
              <a:t>      },</a:t>
            </a:r>
          </a:p>
          <a:p xmlns:a="http://schemas.openxmlformats.org/drawingml/2006/main">
            <a:r>
              <a:t>      {</a:t>
            </a:r>
          </a:p>
          <a:p xmlns:a="http://schemas.openxmlformats.org/drawingml/2006/main">
            <a:r>
              <a:t>        "title": "운행 안전 검토",</a:t>
            </a:r>
          </a:p>
          <a:p xmlns:a="http://schemas.openxmlformats.org/drawingml/2006/main">
            <a:r>
              <a:t>        "input": "경고",</a:t>
            </a:r>
          </a:p>
          <a:p xmlns:a="http://schemas.openxmlformats.org/drawingml/2006/main">
            <a:r>
              <a:t>        "process": "운전자에게 경고 전달 및 운행 후 검토",</a:t>
            </a:r>
          </a:p>
          <a:p xmlns:a="http://schemas.openxmlformats.org/drawingml/2006/main">
            <a:r>
              <a:t>        "output": "운행 후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"운행 중 접근 위험을 감지하고 운전자에게 경고",</a:t>
            </a:r>
          </a:p>
          <a:p xmlns:a="http://schemas.openxmlformats.org/drawingml/2006/main">
            <a:r>
              <a:t>      "exception": "우천·야간·가림·정차 상태의 비위험 객체",</a:t>
            </a:r>
          </a:p>
          <a:p xmlns:a="http://schemas.openxmlformats.org/drawingml/2006/main">
            <a:r>
              <a:t>      "evidence": "환경별 경고 적정성과 운전자 반응의 표본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"운전자·운수사 안전 담당",</a:t>
            </a:r>
          </a:p>
          <a:p xmlns:a="http://schemas.openxmlformats.org/drawingml/2006/main">
            <a:r>
              <a:t>          "processing": "차량·시간·주변 상황 인지",</a:t>
            </a:r>
          </a:p>
          <a:p xmlns:a="http://schemas.openxmlformats.org/drawingml/2006/main">
            <a:r>
              <a:t>          "output": "센서 관측"</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"위험 이벤트 기록",</a:t>
            </a:r>
          </a:p>
          <a:p xmlns:a="http://schemas.openxmlformats.org/drawingml/2006/main">
            <a:r>
              <a:t>          "processing": "차량 센서·영상·경고 이벤트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"센서 관측",</a:t>
            </a:r>
          </a:p>
          <a:p xmlns:a="http://schemas.openxmlformats.org/drawingml/2006/main">
            <a:r>
              <a:t>          "processing": "장애물·차량 간 위험 상황 판단",</a:t>
            </a:r>
          </a:p>
          <a:p xmlns:a="http://schemas.openxmlformats.org/drawingml/2006/main">
            <a:r>
              <a:t>          "output": "경고"</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"경고",</a:t>
            </a:r>
          </a:p>
          <a:p xmlns:a="http://schemas.openxmlformats.org/drawingml/2006/main">
            <a:r>
              <a:t>          "processing": "운전자에게 경고 전달 및 운행 후 검토",</a:t>
            </a:r>
          </a:p>
          <a:p xmlns:a="http://schemas.openxmlformats.org/drawingml/2006/main">
            <a:r>
              <a:t>          "output": "운행 후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"오경보·미탐과 운전자 반응의 표본 확인",</a:t>
            </a:r>
          </a:p>
          <a:p xmlns:a="http://schemas.openxmlformats.org/drawingml/2006/main">
            <a:r>
              <a:t>          "output": "환경별 경고 적정성과 운전자 반응의 표본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"오경보·미탐과 운전자 반응의 표본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"S-AX16",</a:t>
            </a:r>
          </a:p>
          <a:p xmlns:a="http://schemas.openxmlformats.org/drawingml/2006/main">
            <a:r>
              <a:t>        "title": "싱가포르 버스 충돌경고 확대 · LTA / 2025-08-23",</a:t>
            </a:r>
          </a:p>
          <a:p xmlns:a="http://schemas.openxmlformats.org/drawingml/2006/main">
            <a:r>
              <a:t>        "url": "https://www.lta.gov.sg/content/ltagov/en/newsroom/2025/8/news-releases/making_bus_journeys_safer.html",</a:t>
            </a:r>
          </a:p>
          <a:p xmlns:a="http://schemas.openxmlformats.org/drawingml/2006/main">
            <a:r>
              <a:t>        "published": "2025 도입·확대 계획",</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"안전 기능의 도입 조건과 운전자 대응 검증",</a:t>
            </a:r>
          </a:p>
          <a:p xmlns:a="http://schemas.openxmlformats.org/drawingml/2006/main">
            <a:r>
              <a:t>    "local": "TS 운수회사 안전 점검의 장치·운행 증거 연결",</a:t>
            </a:r>
          </a:p>
          <a:p xmlns:a="http://schemas.openxmlformats.org/drawingml/2006/main">
            <a:r>
              <a:t>    "sourceDetail": null,</a:t>
            </a:r>
          </a:p>
          <a:p xmlns:a="http://schemas.openxmlformats.org/drawingml/2006/main">
            <a:r>
              <a:t>    "narrative": [</a:t>
            </a:r>
          </a:p>
          <a:p xmlns:a="http://schemas.openxmlformats.org/drawingml/2006/main">
            <a:r>
              <a:t>      "버스 주변 위험을 감지해 운전자에게 즉시 경고하는 안전 지원 사례. 운전자의 판단과 대응을 전제로 한 경고 시스템이며 운행 후 위험 이벤트 검토와도 연결.",</a:t>
            </a:r>
          </a:p>
          <a:p xmlns:a="http://schemas.openxmlformats.org/drawingml/2006/main">
            <a:r>
              <a:t>      "차량·시간·주변 상황을 센서·영상과 맞추고 위험 후보에서 경고로 이어지는 지연을 관리하는 구조. 경고 발생, 운전자 반응, 실제 위험 여부를 서로 다른 기록으로 보존하는 CCK 분석.",</a:t>
            </a:r>
          </a:p>
          <a:p xmlns:a="http://schemas.openxmlformats.org/drawingml/2006/main">
            <a:r>
              <a:t>      "TS 적용에서는 경보 과다로 인한 무시와 중요한 위험의 미탐을 동시에 확인할 필요. 차량·도로·시간대별 경보 지연·정확도·수용성을 비교하고 보급 규모를 사고 감소 실적으로 환산하지 않는 평가."</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"차량 센서 접점",</a:t>
            </a:r>
          </a:p>
          <a:p xmlns:a="http://schemas.openxmlformats.org/drawingml/2006/main">
            <a:r>
              <a:t>          "layer": "이용 접점",</a:t>
            </a:r>
          </a:p>
          <a:p xmlns:a="http://schemas.openxmlformats.org/drawingml/2006/main">
            <a:r>
              <a:t>          "detail": "운전자·운수사 안전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"차량·주변 맥락",</a:t>
            </a:r>
          </a:p>
          <a:p xmlns:a="http://schemas.openxmlformats.org/drawingml/2006/main">
            <a:r>
              <a:t>          "layer": "업무 문맥",</a:t>
            </a:r>
          </a:p>
          <a:p xmlns:a="http://schemas.openxmlformats.org/drawingml/2006/main">
            <a:r>
              <a:t>          "detail": "차량·시간·주변 상황 인지",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"영상·센서 조회",</a:t>
            </a:r>
          </a:p>
          <a:p xmlns:a="http://schemas.openxmlformats.org/drawingml/2006/main">
            <a:r>
              <a:t>          "layer": "자료 조회",</a:t>
            </a:r>
          </a:p>
          <a:p xmlns:a="http://schemas.openxmlformats.org/drawingml/2006/main">
            <a:r>
              <a:t>          "detail": "센서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"충돌 위험 탐지",</a:t>
            </a:r>
          </a:p>
          <a:p xmlns:a="http://schemas.openxmlformats.org/drawingml/2006/main">
            <a:r>
              <a:t>          "layer": "핵심 처리",</a:t>
            </a:r>
          </a:p>
          <a:p xmlns:a="http://schemas.openxmlformats.org/drawingml/2006/main">
            <a:r>
              <a:t>          "detail": "장애물·차량 간 위험 상황 판단",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"경보 지연 검사",</a:t>
            </a:r>
          </a:p>
          <a:p xmlns:a="http://schemas.openxmlformats.org/drawingml/2006/main">
            <a:r>
              <a:t>          "layer": "결과 검증",</a:t>
            </a:r>
          </a:p>
          <a:p xmlns:a="http://schemas.openxmlformats.org/drawingml/2006/main">
            <a:r>
              <a:t>          "detail": "경보 지연·오탐·운전자 수용성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"운전자 상황 판단",</a:t>
            </a:r>
          </a:p>
          <a:p xmlns:a="http://schemas.openxmlformats.org/drawingml/2006/main">
            <a:r>
              <a:t>          "layer": "사람 확인",</a:t>
            </a:r>
          </a:p>
          <a:p xmlns:a="http://schemas.openxmlformats.org/drawingml/2006/main">
            <a:r>
              <a:t>          "detail": "운행 중 접근 위험을 감지하고 운전자에게 경고",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"위험 경고 전달",</a:t>
            </a:r>
          </a:p>
          <a:p xmlns:a="http://schemas.openxmlformats.org/drawingml/2006/main">
            <a:r>
              <a:t>          "layer": "업무 연결",</a:t>
            </a:r>
          </a:p>
          <a:p xmlns:a="http://schemas.openxmlformats.org/drawingml/2006/main">
            <a:r>
              <a:t>          "detail": "운전자에게 경고 전달 및 운행 후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"운행 후 검토",</a:t>
            </a:r>
          </a:p>
          <a:p xmlns:a="http://schemas.openxmlformats.org/drawingml/2006/main">
            <a:r>
              <a:t>          "layer": "운영 관측",</a:t>
            </a:r>
          </a:p>
          <a:p xmlns:a="http://schemas.openxmlformats.org/drawingml/2006/main">
            <a:r>
              <a:t>          "detail": "오경보·미탐과 운전자 반응의 표본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"영상·센서 자료",</a:t>
            </a:r>
          </a:p>
          <a:p xmlns:a="http://schemas.openxmlformats.org/drawingml/2006/main">
            <a:r>
              <a:t>          "layer": "데이터 원천",</a:t>
            </a:r>
          </a:p>
          <a:p xmlns:a="http://schemas.openxmlformats.org/drawingml/2006/main">
            <a:r>
              <a:t>          "detail": "위험 이벤트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 동기화",</a:t>
            </a:r>
          </a:p>
          <a:p xmlns:a="http://schemas.openxmlformats.org/drawingml/2006/main">
            <a:r>
              <a:t>          "layer": "준비·갱신",</a:t>
            </a:r>
          </a:p>
          <a:p xmlns:a="http://schemas.openxmlformats.org/drawingml/2006/main">
            <a:r>
              <a:t>          "detail": "차량 센서·영상·경고 이벤트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"경고·반응 이력",</a:t>
            </a:r>
          </a:p>
          <a:p xmlns:a="http://schemas.openxmlformats.org/drawingml/2006/main">
            <a:r>
              <a:t>          "layer": "상태·지식 저장",</a:t>
            </a:r>
          </a:p>
          <a:p xmlns:a="http://schemas.openxmlformats.org/drawingml/2006/main">
            <a:r>
              <a:t>          "detail": "환경별 경고 적정성과 운전자 반응의 표본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"차량 안전 경계",</a:t>
            </a:r>
          </a:p>
          <a:p xmlns:a="http://schemas.openxmlformats.org/drawingml/2006/main">
            <a:r>
              <a:t>          "layer": "권한·정책",</a:t>
            </a:r>
          </a:p>
          <a:p xmlns:a="http://schemas.openxmlformats.org/drawingml/2006/main">
            <a:r>
              <a:t>          "detail": "우천·야간·가림·정차 상태의 비위험 객체",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"차량 센서·영상 → 위험 판단 → 운전자 경고 → 운행 안전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"위험 이벤트 기록",</a:t>
            </a:r>
          </a:p>
          <a:p xmlns:a="http://schemas.openxmlformats.org/drawingml/2006/main">
            <a:r>
              <a:t>          "check": "차량 센서·영상·경고 이벤트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"차량 센서·영상·경고 이벤트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"경고",</a:t>
            </a:r>
          </a:p>
          <a:p xmlns:a="http://schemas.openxmlformats.org/drawingml/2006/main">
            <a:r>
              <a:t>          "check": "환경별 경고 적정성과 운전자 반응의 표본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"차량 안전 경계",</a:t>
            </a:r>
          </a:p>
          <a:p xmlns:a="http://schemas.openxmlformats.org/drawingml/2006/main">
            <a:r>
              <a:t>          "check": "경보 지연·오탐·운전자 수용성 평가"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"운행 후 검토",</a:t>
            </a:r>
          </a:p>
          <a:p xmlns:a="http://schemas.openxmlformats.org/drawingml/2006/main">
            <a:r>
              <a:t>          "check": "환경별 경고 적정성과 운전자 반응의 표본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"오경보·미탐과 운전자 반응의 표본 확인",</a:t>
            </a:r>
          </a:p>
          <a:p xmlns:a="http://schemas.openxmlformats.org/drawingml/2006/main">
            <a:r>
              <a:t>          "check": "오경보·미탐과 운전자 반응의 표본 확인"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"버스 운행 중 위험 인지와 충돌 경고 / 주변 감지·위험 경고·운행 검토",</a:t>
            </a:r>
          </a:p>
          <a:p xmlns:a="http://schemas.openxmlformats.org/drawingml/2006/main">
            <a:r>
              <a:t>        "extension": "TS 운수회사 안전 점검의 장치·운행 증거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"우천·야간·가림·정차 상태의 비위험 객체",</a:t>
            </a:r>
          </a:p>
          <a:p xmlns:a="http://schemas.openxmlformats.org/drawingml/2006/main">
            <a:r>
              <a:t>        "hold": "경보 지연·오탐·운전자 수용성 평가",</a:t>
            </a:r>
          </a:p>
          <a:p xmlns:a="http://schemas.openxmlformats.org/drawingml/2006/main">
            <a:r>
              <a:t>        "recovery": "오경보·미탐과 운전자 반응의 표본 확인",</a:t>
            </a:r>
          </a:p>
          <a:p xmlns:a="http://schemas.openxmlformats.org/drawingml/2006/main">
            <a:r>
              <a:t>        "evidence": "환경별 경고 적정성과 운전자 반응의 표본 기록"</a:t>
            </a:r>
          </a:p>
          <a:p xmlns:a="http://schemas.openxmlformats.org/drawingml/2006/main">
            <a:r>
              <a:t>      },</a:t>
            </a:r>
          </a:p>
          <a:p xmlns:a="http://schemas.openxmlformats.org/drawingml/2006/main">
            <a:r>
              <a:t>      "data": {</a:t>
            </a:r>
          </a:p>
          <a:p xmlns:a="http://schemas.openxmlformats.org/drawingml/2006/main">
            <a:r>
              <a:t>        "source": "위험 이벤트 기록",</a:t>
            </a:r>
          </a:p>
          <a:p xmlns:a="http://schemas.openxmlformats.org/drawingml/2006/main">
            <a:r>
              <a:t>        "prepare": "차량 센서·영상·경고 이벤트 정합화",</a:t>
            </a:r>
          </a:p>
          <a:p xmlns:a="http://schemas.openxmlformats.org/drawingml/2006/main">
            <a:r>
              <a:t>        "output": "센서 관측",</a:t>
            </a:r>
          </a:p>
          <a:p xmlns:a="http://schemas.openxmlformats.org/drawingml/2006/main">
            <a:r>
              <a:t>        "refresh": "오경보·미탐과 운전자 반응의 표본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"AX16",</a:t>
            </a:r>
          </a:p>
          <a:p xmlns:a="http://schemas.openxmlformats.org/drawingml/2006/main">
            <a:r>
              <a:t>    "success": [</a:t>
            </a:r>
          </a:p>
          <a:p xmlns:a="http://schemas.openxmlformats.org/drawingml/2006/main">
            <a:r>
              <a:t>      "차량의 위험 인지와 즉시 경고",</a:t>
            </a:r>
          </a:p>
          <a:p xmlns:a="http://schemas.openxmlformats.org/drawingml/2006/main">
            <a:r>
              <a:t>      "운전자 대응을 전제로 한 안전 지원"</a:t>
            </a:r>
          </a:p>
          <a:p xmlns:a="http://schemas.openxmlformats.org/drawingml/2006/main">
            <a:r>
              <a:t>    ],</a:t>
            </a:r>
          </a:p>
          <a:p xmlns:a="http://schemas.openxmlformats.org/drawingml/2006/main">
            <a:r>
              <a:t>    "risks": [</a:t>
            </a:r>
          </a:p>
          <a:p xmlns:a="http://schemas.openxmlformats.org/drawingml/2006/main">
            <a:r>
              <a:t>      "경보 과다에 따른 무시 위험",</a:t>
            </a:r>
          </a:p>
          <a:p xmlns:a="http://schemas.openxmlformats.org/drawingml/2006/main">
            <a:r>
              <a:t>      "확대 계획을 사고 감소 실적으로 해석"</a:t>
            </a:r>
          </a:p>
          <a:p xmlns:a="http://schemas.openxmlformats.org/drawingml/2006/main">
            <a:r>
              <a:t>    ],</a:t>
            </a:r>
          </a:p>
          <a:p xmlns:a="http://schemas.openxmlformats.org/drawingml/2006/main">
            <a:r>
              <a:t>    "architecture": [</a:t>
            </a:r>
          </a:p>
          <a:p xmlns:a="http://schemas.openxmlformats.org/drawingml/2006/main">
            <a:r>
              <a:t>      "버스 센서·영상",</a:t>
            </a:r>
          </a:p>
          <a:p xmlns:a="http://schemas.openxmlformats.org/drawingml/2006/main">
            <a:r>
              <a:t>      "충돌 위험 탐지",</a:t>
            </a:r>
          </a:p>
          <a:p xmlns:a="http://schemas.openxmlformats.org/drawingml/2006/main">
            <a:r>
              <a:t>      "위험 이벤트 기록",</a:t>
            </a:r>
          </a:p>
          <a:p xmlns:a="http://schemas.openxmlformats.org/drawingml/2006/main">
            <a:r>
              <a:t>      "운전자·안전 관리자"</a:t>
            </a:r>
          </a:p>
          <a:p xmlns:a="http://schemas.openxmlformats.org/drawingml/2006/main">
            <a:r>
              <a:t>    ],</a:t>
            </a:r>
          </a:p>
          <a:p xmlns:a="http://schemas.openxmlformats.org/drawingml/2006/main">
            <a:r>
              <a:t>    "transfers": [</a:t>
            </a:r>
          </a:p>
          <a:p xmlns:a="http://schemas.openxmlformats.org/drawingml/2006/main">
            <a:r>
              <a:t>      "센서 관측",</a:t>
            </a:r>
          </a:p>
          <a:p xmlns:a="http://schemas.openxmlformats.org/drawingml/2006/main">
            <a:r>
              <a:t>      "위험 후보",</a:t>
            </a:r>
          </a:p>
          <a:p xmlns:a="http://schemas.openxmlformats.org/drawingml/2006/main">
            <a:r>
              <a:t>      "경고",</a:t>
            </a:r>
          </a:p>
          <a:p xmlns:a="http://schemas.openxmlformats.org/drawingml/2006/main">
            <a:r>
              <a:t>      "운행 후 검토"</a:t>
            </a:r>
          </a:p>
          <a:p xmlns:a="http://schemas.openxmlformats.org/drawingml/2006/main">
            <a:r>
              <a:t>    ],</a:t>
            </a:r>
          </a:p>
          <a:p xmlns:a="http://schemas.openxmlformats.org/drawingml/2006/main">
            <a:r>
              <a:t>    "control": "경보 지연·오탐·운전자 수용성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싱가포르 버스 충돌경고 확대 · LTA / 2025-08-23 https://www.lta.gov.sg/content/ltagov/en/newsroom/2025/8/news-releases/making_bus_journeys_safer.html</a:t>
            </a:r>
          </a:p>
          <a:p xmlns:a="http://schemas.openxmlformats.org/drawingml/2006/main">
            <a:r>
              <a:t>홈페이지 https://heen1987-ops.github.io/TS-business-Plan-001/index.html?view=casebook&amp;case=AX16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"AX16",</a:t>
            </a:r>
          </a:p>
          <a:p xmlns:a="http://schemas.openxmlformats.org/drawingml/2006/main">
            <a:r>
              <a:t>    "title": "싱가포르 버스 충돌경고 확대",</a:t>
            </a:r>
          </a:p>
          <a:p xmlns:a="http://schemas.openxmlformats.org/drawingml/2006/main">
            <a:r>
              <a:t>    "region": "해외",</a:t>
            </a:r>
          </a:p>
          <a:p xmlns:a="http://schemas.openxmlformats.org/drawingml/2006/main">
            <a:r>
              <a:t>    "country": "싱가포르",</a:t>
            </a:r>
          </a:p>
          <a:p xmlns:a="http://schemas.openxmlformats.org/drawingml/2006/main">
            <a:r>
              <a:t>    "result": "계획",</a:t>
            </a:r>
          </a:p>
          <a:p xmlns:a="http://schemas.openxmlformats.org/drawingml/2006/main">
            <a:r>
              <a:t>    "kind": "버스 안전 AI 도입",</a:t>
            </a:r>
          </a:p>
          <a:p xmlns:a="http://schemas.openxmlformats.org/drawingml/2006/main">
            <a:r>
              <a:t>    "period": "2025 도입·확대 계획",</a:t>
            </a:r>
          </a:p>
          <a:p xmlns:a="http://schemas.openxmlformats.org/drawingml/2006/main">
            <a:r>
              <a:t>    "sources": [</a:t>
            </a:r>
          </a:p>
          <a:p xmlns:a="http://schemas.openxmlformats.org/drawingml/2006/main">
            <a:r>
              <a:t>      "S-AX16"</a:t>
            </a:r>
          </a:p>
          <a:p xmlns:a="http://schemas.openxmlformats.org/drawingml/2006/main">
            <a:r>
              <a:t>    ],</a:t>
            </a:r>
          </a:p>
          <a:p xmlns:a="http://schemas.openxmlformats.org/drawingml/2006/main">
            <a:r>
              <a:t>    "keywords": [</a:t>
            </a:r>
          </a:p>
          <a:p xmlns:a="http://schemas.openxmlformats.org/drawingml/2006/main">
            <a:r>
              <a:t>      "버스 안전 AI 도입"</a:t>
            </a:r>
          </a:p>
          <a:p xmlns:a="http://schemas.openxmlformats.org/drawingml/2006/main">
            <a:r>
              <a:t>    ],</a:t>
            </a:r>
          </a:p>
          <a:p xmlns:a="http://schemas.openxmlformats.org/drawingml/2006/main">
            <a:r>
              <a:t>    "fact": "충돌경고 등 AI 안전 기능의 버스 도입·확대 방향 공개",</a:t>
            </a:r>
          </a:p>
          <a:p xmlns:a="http://schemas.openxmlformats.org/drawingml/2006/main">
            <a:r>
              <a:t>    "limit": "계획·조달 단계와 전 차량 운영 성과 구분",</a:t>
            </a:r>
          </a:p>
          <a:p xmlns:a="http://schemas.openxmlformats.org/drawingml/2006/main">
            <a:r>
              <a:t>    "flow": [</a:t>
            </a:r>
          </a:p>
          <a:p xmlns:a="http://schemas.openxmlformats.org/drawingml/2006/main">
            <a:r>
              <a:t>      "차량 센서·영상",</a:t>
            </a:r>
          </a:p>
          <a:p xmlns:a="http://schemas.openxmlformats.org/drawingml/2006/main">
            <a:r>
              <a:t>      "위험 판단",</a:t>
            </a:r>
          </a:p>
          <a:p xmlns:a="http://schemas.openxmlformats.org/drawingml/2006/main">
            <a:r>
              <a:t>      "운전자 경고",</a:t>
            </a:r>
          </a:p>
          <a:p xmlns:a="http://schemas.openxmlformats.org/drawingml/2006/main">
            <a:r>
              <a:t>      "운행 안전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"안전 기능의 도입 조건과 운전자 대응 검증",</a:t>
            </a:r>
          </a:p>
          <a:p xmlns:a="http://schemas.openxmlformats.org/drawingml/2006/main">
            <a:r>
              <a:t>    "local": "TS 운수회사 안전 점검의 장치·운행 증거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"장치 상태·경고 이력·점검 항목 매핑",</a:t>
            </a:r>
          </a:p>
          <a:p xmlns:a="http://schemas.openxmlformats.org/drawingml/2006/main">
            <a:r>
              <a:t>    "test": "결측·장치 고장·과경보 및 점검 증빙 대조",</a:t>
            </a:r>
          </a:p>
          <a:p xmlns:a="http://schemas.openxmlformats.org/drawingml/2006/main">
            <a:r>
              <a:t>    "metric": "경고 신뢰도 / 증빙 누락률",</a:t>
            </a:r>
          </a:p>
          <a:p xmlns:a="http://schemas.openxmlformats.org/drawingml/2006/main">
            <a:r>
              <a:t>    "strategies": [</a:t>
            </a:r>
          </a:p>
          <a:p xmlns:a="http://schemas.openxmlformats.org/drawingml/2006/main">
            <a:r>
              <a:t>      "ST-01",</a:t>
            </a:r>
          </a:p>
          <a:p xmlns:a="http://schemas.openxmlformats.org/drawingml/2006/main">
            <a:r>
              <a:t>      "ST-02",</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"AX16",</a:t>
            </a:r>
          </a:p>
          <a:p xmlns:a="http://schemas.openxmlformats.org/drawingml/2006/main">
            <a:r>
              <a:t>    "canonicalId": "AX16",</a:t>
            </a:r>
          </a:p>
          <a:p xmlns:a="http://schemas.openxmlformats.org/drawingml/2006/main">
            <a:r>
              <a:t>    "purpose": "버스 운행 중 위험 인지와 충돌 경고",</a:t>
            </a:r>
          </a:p>
          <a:p xmlns:a="http://schemas.openxmlformats.org/drawingml/2006/main">
            <a:r>
              <a:t>    "users": "운전자·운수사 안전 담당",</a:t>
            </a:r>
          </a:p>
          <a:p xmlns:a="http://schemas.openxmlformats.org/drawingml/2006/main">
            <a:r>
              <a:t>    "scope": [</a:t>
            </a:r>
          </a:p>
          <a:p xmlns:a="http://schemas.openxmlformats.org/drawingml/2006/main">
            <a:r>
              <a:t>      "주변 감지",</a:t>
            </a:r>
          </a:p>
          <a:p xmlns:a="http://schemas.openxmlformats.org/drawingml/2006/main">
            <a:r>
              <a:t>      "위험 경고",</a:t>
            </a:r>
          </a:p>
          <a:p xmlns:a="http://schemas.openxmlformats.org/drawingml/2006/main">
            <a:r>
              <a:t>      "운행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"버스 센서·영상",</a:t>
            </a:r>
          </a:p>
          <a:p xmlns:a="http://schemas.openxmlformats.org/drawingml/2006/main">
            <a:r>
              <a:t>        "detail": "차량·시간·주변 상황 인지",</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"주변 감지 / 위험 경고 / 운행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"충돌 위험 탐지",</a:t>
            </a:r>
          </a:p>
          <a:p xmlns:a="http://schemas.openxmlformats.org/drawingml/2006/main">
            <a:r>
              <a:t>        "detail": "장애물·차량 간 위험 상황 판단",</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"운전자·안전 관리자",</a:t>
            </a:r>
          </a:p>
          <a:p xmlns:a="http://schemas.openxmlformats.org/drawingml/2006/main">
            <a:r>
              <a:t>        "detail": "운전자에게 경고 전달 및 운행 후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"위험 이벤트 기록",</a:t>
            </a:r>
          </a:p>
          <a:p xmlns:a="http://schemas.openxmlformats.org/drawingml/2006/main">
            <a:r>
              <a:t>        "detail": "차량 센서·영상·경고 이벤트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"오경보·미탐과 운전자 반응의 표본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"차량 센서·영상",</a:t>
            </a:r>
          </a:p>
          <a:p xmlns:a="http://schemas.openxmlformats.org/drawingml/2006/main">
            <a:r>
              <a:t>        "input": "차량·시간·주변 상황 인지",</a:t>
            </a:r>
          </a:p>
          <a:p xmlns:a="http://schemas.openxmlformats.org/drawingml/2006/main">
            <a:r>
              <a:t>        "process": "차량 센서·영상·경고 이벤트 정합화",</a:t>
            </a:r>
          </a:p>
          <a:p xmlns:a="http://schemas.openxmlformats.org/drawingml/2006/main">
            <a:r>
              <a:t>        "output": "센서 관측"</a:t>
            </a:r>
          </a:p>
          <a:p xmlns:a="http://schemas.openxmlformats.org/drawingml/2006/main">
            <a:r>
              <a:t>      },</a:t>
            </a:r>
          </a:p>
          <a:p xmlns:a="http://schemas.openxmlformats.org/drawingml/2006/main">
            <a:r>
              <a:t>      {</a:t>
            </a:r>
          </a:p>
          <a:p xmlns:a="http://schemas.openxmlformats.org/drawingml/2006/main">
            <a:r>
              <a:t>        "title": "위험 판단",</a:t>
            </a:r>
          </a:p>
          <a:p xmlns:a="http://schemas.openxmlformats.org/drawingml/2006/main">
            <a:r>
              <a:t>        "input": "센서 관측",</a:t>
            </a:r>
          </a:p>
          <a:p xmlns:a="http://schemas.openxmlformats.org/drawingml/2006/main">
            <a:r>
              <a:t>        "process": "장애물·차량 간 위험 상황 판단",</a:t>
            </a:r>
          </a:p>
          <a:p xmlns:a="http://schemas.openxmlformats.org/drawingml/2006/main">
            <a:r>
              <a:t>        "output": "위험 후보"</a:t>
            </a:r>
          </a:p>
          <a:p xmlns:a="http://schemas.openxmlformats.org/drawingml/2006/main">
            <a:r>
              <a:t>      },</a:t>
            </a:r>
          </a:p>
          <a:p xmlns:a="http://schemas.openxmlformats.org/drawingml/2006/main">
            <a:r>
              <a:t>      {</a:t>
            </a:r>
          </a:p>
          <a:p xmlns:a="http://schemas.openxmlformats.org/drawingml/2006/main">
            <a:r>
              <a:t>        "title": "운전자 경고",</a:t>
            </a:r>
          </a:p>
          <a:p xmlns:a="http://schemas.openxmlformats.org/drawingml/2006/main">
            <a:r>
              <a:t>        "input": "위험 후보",</a:t>
            </a:r>
          </a:p>
          <a:p xmlns:a="http://schemas.openxmlformats.org/drawingml/2006/main">
            <a:r>
              <a:t>        "process": "경보 지연·오탐·운전자 수용성 평가",</a:t>
            </a:r>
          </a:p>
          <a:p xmlns:a="http://schemas.openxmlformats.org/drawingml/2006/main">
            <a:r>
              <a:t>        "output": "경고"</a:t>
            </a:r>
          </a:p>
          <a:p xmlns:a="http://schemas.openxmlformats.org/drawingml/2006/main">
            <a:r>
              <a:t>      },</a:t>
            </a:r>
          </a:p>
          <a:p xmlns:a="http://schemas.openxmlformats.org/drawingml/2006/main">
            <a:r>
              <a:t>      {</a:t>
            </a:r>
          </a:p>
          <a:p xmlns:a="http://schemas.openxmlformats.org/drawingml/2006/main">
            <a:r>
              <a:t>        "title": "운행 안전 검토",</a:t>
            </a:r>
          </a:p>
          <a:p xmlns:a="http://schemas.openxmlformats.org/drawingml/2006/main">
            <a:r>
              <a:t>        "input": "경고",</a:t>
            </a:r>
          </a:p>
          <a:p xmlns:a="http://schemas.openxmlformats.org/drawingml/2006/main">
            <a:r>
              <a:t>        "process": "운전자에게 경고 전달 및 운행 후 검토",</a:t>
            </a:r>
          </a:p>
          <a:p xmlns:a="http://schemas.openxmlformats.org/drawingml/2006/main">
            <a:r>
              <a:t>        "output": "운행 후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"운행 중 접근 위험을 감지하고 운전자에게 경고",</a:t>
            </a:r>
          </a:p>
          <a:p xmlns:a="http://schemas.openxmlformats.org/drawingml/2006/main">
            <a:r>
              <a:t>      "exception": "우천·야간·가림·정차 상태의 비위험 객체",</a:t>
            </a:r>
          </a:p>
          <a:p xmlns:a="http://schemas.openxmlformats.org/drawingml/2006/main">
            <a:r>
              <a:t>      "evidence": "환경별 경고 적정성과 운전자 반응의 표본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"운전자·운수사 안전 담당",</a:t>
            </a:r>
          </a:p>
          <a:p xmlns:a="http://schemas.openxmlformats.org/drawingml/2006/main">
            <a:r>
              <a:t>          "processing": "차량·시간·주변 상황 인지",</a:t>
            </a:r>
          </a:p>
          <a:p xmlns:a="http://schemas.openxmlformats.org/drawingml/2006/main">
            <a:r>
              <a:t>          "output": "센서 관측"</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"위험 이벤트 기록",</a:t>
            </a:r>
          </a:p>
          <a:p xmlns:a="http://schemas.openxmlformats.org/drawingml/2006/main">
            <a:r>
              <a:t>          "processing": "차량 센서·영상·경고 이벤트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"센서 관측",</a:t>
            </a:r>
          </a:p>
          <a:p xmlns:a="http://schemas.openxmlformats.org/drawingml/2006/main">
            <a:r>
              <a:t>          "processing": "장애물·차량 간 위험 상황 판단",</a:t>
            </a:r>
          </a:p>
          <a:p xmlns:a="http://schemas.openxmlformats.org/drawingml/2006/main">
            <a:r>
              <a:t>          "output": "경고"</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"경고",</a:t>
            </a:r>
          </a:p>
          <a:p xmlns:a="http://schemas.openxmlformats.org/drawingml/2006/main">
            <a:r>
              <a:t>          "processing": "운전자에게 경고 전달 및 운행 후 검토",</a:t>
            </a:r>
          </a:p>
          <a:p xmlns:a="http://schemas.openxmlformats.org/drawingml/2006/main">
            <a:r>
              <a:t>          "output": "운행 후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"오경보·미탐과 운전자 반응의 표본 확인",</a:t>
            </a:r>
          </a:p>
          <a:p xmlns:a="http://schemas.openxmlformats.org/drawingml/2006/main">
            <a:r>
              <a:t>          "output": "환경별 경고 적정성과 운전자 반응의 표본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"오경보·미탐과 운전자 반응의 표본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"S-AX16",</a:t>
            </a:r>
          </a:p>
          <a:p xmlns:a="http://schemas.openxmlformats.org/drawingml/2006/main">
            <a:r>
              <a:t>        "title": "싱가포르 버스 충돌경고 확대 · LTA / 2025-08-23",</a:t>
            </a:r>
          </a:p>
          <a:p xmlns:a="http://schemas.openxmlformats.org/drawingml/2006/main">
            <a:r>
              <a:t>        "url": "https://www.lta.gov.sg/content/ltagov/en/newsroom/2025/8/news-releases/making_bus_journeys_safer.html",</a:t>
            </a:r>
          </a:p>
          <a:p xmlns:a="http://schemas.openxmlformats.org/drawingml/2006/main">
            <a:r>
              <a:t>        "published": "2025 도입·확대 계획",</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"안전 기능의 도입 조건과 운전자 대응 검증",</a:t>
            </a:r>
          </a:p>
          <a:p xmlns:a="http://schemas.openxmlformats.org/drawingml/2006/main">
            <a:r>
              <a:t>    "local": "TS 운수회사 안전 점검의 장치·운행 증거 연결",</a:t>
            </a:r>
          </a:p>
          <a:p xmlns:a="http://schemas.openxmlformats.org/drawingml/2006/main">
            <a:r>
              <a:t>    "sourceDetail": null,</a:t>
            </a:r>
          </a:p>
          <a:p xmlns:a="http://schemas.openxmlformats.org/drawingml/2006/main">
            <a:r>
              <a:t>    "narrative": [</a:t>
            </a:r>
          </a:p>
          <a:p xmlns:a="http://schemas.openxmlformats.org/drawingml/2006/main">
            <a:r>
              <a:t>      "버스 주변 위험을 감지해 운전자에게 즉시 경고하는 안전 지원 사례. 운전자의 판단과 대응을 전제로 한 경고 시스템이며 운행 후 위험 이벤트 검토와도 연결.",</a:t>
            </a:r>
          </a:p>
          <a:p xmlns:a="http://schemas.openxmlformats.org/drawingml/2006/main">
            <a:r>
              <a:t>      "차량·시간·주변 상황을 센서·영상과 맞추고 위험 후보에서 경고로 이어지는 지연을 관리하는 구조. 경고 발생, 운전자 반응, 실제 위험 여부를 서로 다른 기록으로 보존하는 CCK 분석.",</a:t>
            </a:r>
          </a:p>
          <a:p xmlns:a="http://schemas.openxmlformats.org/drawingml/2006/main">
            <a:r>
              <a:t>      "TS 적용에서는 경보 과다로 인한 무시와 중요한 위험의 미탐을 동시에 확인할 필요. 차량·도로·시간대별 경보 지연·정확도·수용성을 비교하고 보급 규모를 사고 감소 실적으로 환산하지 않는 평가."</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"차량 센서 접점",</a:t>
            </a:r>
          </a:p>
          <a:p xmlns:a="http://schemas.openxmlformats.org/drawingml/2006/main">
            <a:r>
              <a:t>          "layer": "이용 접점",</a:t>
            </a:r>
          </a:p>
          <a:p xmlns:a="http://schemas.openxmlformats.org/drawingml/2006/main">
            <a:r>
              <a:t>          "detail": "운전자·운수사 안전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"차량·주변 맥락",</a:t>
            </a:r>
          </a:p>
          <a:p xmlns:a="http://schemas.openxmlformats.org/drawingml/2006/main">
            <a:r>
              <a:t>          "layer": "업무 문맥",</a:t>
            </a:r>
          </a:p>
          <a:p xmlns:a="http://schemas.openxmlformats.org/drawingml/2006/main">
            <a:r>
              <a:t>          "detail": "차량·시간·주변 상황 인지",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"영상·센서 조회",</a:t>
            </a:r>
          </a:p>
          <a:p xmlns:a="http://schemas.openxmlformats.org/drawingml/2006/main">
            <a:r>
              <a:t>          "layer": "자료 조회",</a:t>
            </a:r>
          </a:p>
          <a:p xmlns:a="http://schemas.openxmlformats.org/drawingml/2006/main">
            <a:r>
              <a:t>          "detail": "센서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"충돌 위험 탐지",</a:t>
            </a:r>
          </a:p>
          <a:p xmlns:a="http://schemas.openxmlformats.org/drawingml/2006/main">
            <a:r>
              <a:t>          "layer": "핵심 처리",</a:t>
            </a:r>
          </a:p>
          <a:p xmlns:a="http://schemas.openxmlformats.org/drawingml/2006/main">
            <a:r>
              <a:t>          "detail": "장애물·차량 간 위험 상황 판단",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"경보 지연 검사",</a:t>
            </a:r>
          </a:p>
          <a:p xmlns:a="http://schemas.openxmlformats.org/drawingml/2006/main">
            <a:r>
              <a:t>          "layer": "결과 검증",</a:t>
            </a:r>
          </a:p>
          <a:p xmlns:a="http://schemas.openxmlformats.org/drawingml/2006/main">
            <a:r>
              <a:t>          "detail": "경보 지연·오탐·운전자 수용성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"운전자 상황 판단",</a:t>
            </a:r>
          </a:p>
          <a:p xmlns:a="http://schemas.openxmlformats.org/drawingml/2006/main">
            <a:r>
              <a:t>          "layer": "사람 확인",</a:t>
            </a:r>
          </a:p>
          <a:p xmlns:a="http://schemas.openxmlformats.org/drawingml/2006/main">
            <a:r>
              <a:t>          "detail": "운행 중 접근 위험을 감지하고 운전자에게 경고",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"위험 경고 전달",</a:t>
            </a:r>
          </a:p>
          <a:p xmlns:a="http://schemas.openxmlformats.org/drawingml/2006/main">
            <a:r>
              <a:t>          "layer": "업무 연결",</a:t>
            </a:r>
          </a:p>
          <a:p xmlns:a="http://schemas.openxmlformats.org/drawingml/2006/main">
            <a:r>
              <a:t>          "detail": "운전자에게 경고 전달 및 운행 후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"운행 후 검토",</a:t>
            </a:r>
          </a:p>
          <a:p xmlns:a="http://schemas.openxmlformats.org/drawingml/2006/main">
            <a:r>
              <a:t>          "layer": "운영 관측",</a:t>
            </a:r>
          </a:p>
          <a:p xmlns:a="http://schemas.openxmlformats.org/drawingml/2006/main">
            <a:r>
              <a:t>          "detail": "오경보·미탐과 운전자 반응의 표본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"영상·센서 자료",</a:t>
            </a:r>
          </a:p>
          <a:p xmlns:a="http://schemas.openxmlformats.org/drawingml/2006/main">
            <a:r>
              <a:t>          "layer": "데이터 원천",</a:t>
            </a:r>
          </a:p>
          <a:p xmlns:a="http://schemas.openxmlformats.org/drawingml/2006/main">
            <a:r>
              <a:t>          "detail": "위험 이벤트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 동기화",</a:t>
            </a:r>
          </a:p>
          <a:p xmlns:a="http://schemas.openxmlformats.org/drawingml/2006/main">
            <a:r>
              <a:t>          "layer": "준비·갱신",</a:t>
            </a:r>
          </a:p>
          <a:p xmlns:a="http://schemas.openxmlformats.org/drawingml/2006/main">
            <a:r>
              <a:t>          "detail": "차량 센서·영상·경고 이벤트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"경고·반응 이력",</a:t>
            </a:r>
          </a:p>
          <a:p xmlns:a="http://schemas.openxmlformats.org/drawingml/2006/main">
            <a:r>
              <a:t>          "layer": "상태·지식 저장",</a:t>
            </a:r>
          </a:p>
          <a:p xmlns:a="http://schemas.openxmlformats.org/drawingml/2006/main">
            <a:r>
              <a:t>          "detail": "환경별 경고 적정성과 운전자 반응의 표본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"차량 안전 경계",</a:t>
            </a:r>
          </a:p>
          <a:p xmlns:a="http://schemas.openxmlformats.org/drawingml/2006/main">
            <a:r>
              <a:t>          "layer": "권한·정책",</a:t>
            </a:r>
          </a:p>
          <a:p xmlns:a="http://schemas.openxmlformats.org/drawingml/2006/main">
            <a:r>
              <a:t>          "detail": "우천·야간·가림·정차 상태의 비위험 객체",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"차량 센서·영상 → 위험 판단 → 운전자 경고 → 운행 안전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"위험 이벤트 기록",</a:t>
            </a:r>
          </a:p>
          <a:p xmlns:a="http://schemas.openxmlformats.org/drawingml/2006/main">
            <a:r>
              <a:t>          "check": "차량 센서·영상·경고 이벤트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"차량 센서·영상·경고 이벤트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"경고",</a:t>
            </a:r>
          </a:p>
          <a:p xmlns:a="http://schemas.openxmlformats.org/drawingml/2006/main">
            <a:r>
              <a:t>          "check": "환경별 경고 적정성과 운전자 반응의 표본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"차량 안전 경계",</a:t>
            </a:r>
          </a:p>
          <a:p xmlns:a="http://schemas.openxmlformats.org/drawingml/2006/main">
            <a:r>
              <a:t>          "check": "경보 지연·오탐·운전자 수용성 평가"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"운행 후 검토",</a:t>
            </a:r>
          </a:p>
          <a:p xmlns:a="http://schemas.openxmlformats.org/drawingml/2006/main">
            <a:r>
              <a:t>          "check": "환경별 경고 적정성과 운전자 반응의 표본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"오경보·미탐과 운전자 반응의 표본 확인",</a:t>
            </a:r>
          </a:p>
          <a:p xmlns:a="http://schemas.openxmlformats.org/drawingml/2006/main">
            <a:r>
              <a:t>          "check": "오경보·미탐과 운전자 반응의 표본 확인"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"버스 운행 중 위험 인지와 충돌 경고 / 주변 감지·위험 경고·운행 검토",</a:t>
            </a:r>
          </a:p>
          <a:p xmlns:a="http://schemas.openxmlformats.org/drawingml/2006/main">
            <a:r>
              <a:t>        "extension": "TS 운수회사 안전 점검의 장치·운행 증거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"우천·야간·가림·정차 상태의 비위험 객체",</a:t>
            </a:r>
          </a:p>
          <a:p xmlns:a="http://schemas.openxmlformats.org/drawingml/2006/main">
            <a:r>
              <a:t>        "hold": "경보 지연·오탐·운전자 수용성 평가",</a:t>
            </a:r>
          </a:p>
          <a:p xmlns:a="http://schemas.openxmlformats.org/drawingml/2006/main">
            <a:r>
              <a:t>        "recovery": "오경보·미탐과 운전자 반응의 표본 확인",</a:t>
            </a:r>
          </a:p>
          <a:p xmlns:a="http://schemas.openxmlformats.org/drawingml/2006/main">
            <a:r>
              <a:t>        "evidence": "환경별 경고 적정성과 운전자 반응의 표본 기록"</a:t>
            </a:r>
          </a:p>
          <a:p xmlns:a="http://schemas.openxmlformats.org/drawingml/2006/main">
            <a:r>
              <a:t>      },</a:t>
            </a:r>
          </a:p>
          <a:p xmlns:a="http://schemas.openxmlformats.org/drawingml/2006/main">
            <a:r>
              <a:t>      "data": {</a:t>
            </a:r>
          </a:p>
          <a:p xmlns:a="http://schemas.openxmlformats.org/drawingml/2006/main">
            <a:r>
              <a:t>        "source": "위험 이벤트 기록",</a:t>
            </a:r>
          </a:p>
          <a:p xmlns:a="http://schemas.openxmlformats.org/drawingml/2006/main">
            <a:r>
              <a:t>        "prepare": "차량 센서·영상·경고 이벤트 정합화",</a:t>
            </a:r>
          </a:p>
          <a:p xmlns:a="http://schemas.openxmlformats.org/drawingml/2006/main">
            <a:r>
              <a:t>        "output": "센서 관측",</a:t>
            </a:r>
          </a:p>
          <a:p xmlns:a="http://schemas.openxmlformats.org/drawingml/2006/main">
            <a:r>
              <a:t>        "refresh": "오경보·미탐과 운전자 반응의 표본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"AX16",</a:t>
            </a:r>
          </a:p>
          <a:p xmlns:a="http://schemas.openxmlformats.org/drawingml/2006/main">
            <a:r>
              <a:t>    "success": [</a:t>
            </a:r>
          </a:p>
          <a:p xmlns:a="http://schemas.openxmlformats.org/drawingml/2006/main">
            <a:r>
              <a:t>      "차량의 위험 인지와 즉시 경고",</a:t>
            </a:r>
          </a:p>
          <a:p xmlns:a="http://schemas.openxmlformats.org/drawingml/2006/main">
            <a:r>
              <a:t>      "운전자 대응을 전제로 한 안전 지원"</a:t>
            </a:r>
          </a:p>
          <a:p xmlns:a="http://schemas.openxmlformats.org/drawingml/2006/main">
            <a:r>
              <a:t>    ],</a:t>
            </a:r>
          </a:p>
          <a:p xmlns:a="http://schemas.openxmlformats.org/drawingml/2006/main">
            <a:r>
              <a:t>    "risks": [</a:t>
            </a:r>
          </a:p>
          <a:p xmlns:a="http://schemas.openxmlformats.org/drawingml/2006/main">
            <a:r>
              <a:t>      "경보 과다에 따른 무시 위험",</a:t>
            </a:r>
          </a:p>
          <a:p xmlns:a="http://schemas.openxmlformats.org/drawingml/2006/main">
            <a:r>
              <a:t>      "확대 계획을 사고 감소 실적으로 해석"</a:t>
            </a:r>
          </a:p>
          <a:p xmlns:a="http://schemas.openxmlformats.org/drawingml/2006/main">
            <a:r>
              <a:t>    ],</a:t>
            </a:r>
          </a:p>
          <a:p xmlns:a="http://schemas.openxmlformats.org/drawingml/2006/main">
            <a:r>
              <a:t>    "architecture": [</a:t>
            </a:r>
          </a:p>
          <a:p xmlns:a="http://schemas.openxmlformats.org/drawingml/2006/main">
            <a:r>
              <a:t>      "버스 센서·영상",</a:t>
            </a:r>
          </a:p>
          <a:p xmlns:a="http://schemas.openxmlformats.org/drawingml/2006/main">
            <a:r>
              <a:t>      "충돌 위험 탐지",</a:t>
            </a:r>
          </a:p>
          <a:p xmlns:a="http://schemas.openxmlformats.org/drawingml/2006/main">
            <a:r>
              <a:t>      "위험 이벤트 기록",</a:t>
            </a:r>
          </a:p>
          <a:p xmlns:a="http://schemas.openxmlformats.org/drawingml/2006/main">
            <a:r>
              <a:t>      "운전자·안전 관리자"</a:t>
            </a:r>
          </a:p>
          <a:p xmlns:a="http://schemas.openxmlformats.org/drawingml/2006/main">
            <a:r>
              <a:t>    ],</a:t>
            </a:r>
          </a:p>
          <a:p xmlns:a="http://schemas.openxmlformats.org/drawingml/2006/main">
            <a:r>
              <a:t>    "transfers": [</a:t>
            </a:r>
          </a:p>
          <a:p xmlns:a="http://schemas.openxmlformats.org/drawingml/2006/main">
            <a:r>
              <a:t>      "센서 관측",</a:t>
            </a:r>
          </a:p>
          <a:p xmlns:a="http://schemas.openxmlformats.org/drawingml/2006/main">
            <a:r>
              <a:t>      "위험 후보",</a:t>
            </a:r>
          </a:p>
          <a:p xmlns:a="http://schemas.openxmlformats.org/drawingml/2006/main">
            <a:r>
              <a:t>      "경고",</a:t>
            </a:r>
          </a:p>
          <a:p xmlns:a="http://schemas.openxmlformats.org/drawingml/2006/main">
            <a:r>
              <a:t>      "운행 후 검토"</a:t>
            </a:r>
          </a:p>
          <a:p xmlns:a="http://schemas.openxmlformats.org/drawingml/2006/main">
            <a:r>
              <a:t>    ],</a:t>
            </a:r>
          </a:p>
          <a:p xmlns:a="http://schemas.openxmlformats.org/drawingml/2006/main">
            <a:r>
              <a:t>    "control": "경보 지연·오탐·운전자 수용성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싱가포르 버스 충돌경고 확대 · LTA / 2025-08-23 https://www.lta.gov.sg/content/ltagov/en/newsroom/2025/8/news-releases/making_bus_journeys_safer.html</a:t>
            </a:r>
          </a:p>
          <a:p xmlns:a="http://schemas.openxmlformats.org/drawingml/2006/main">
            <a:r>
              <a:t>홈페이지 https://heen1987-ops.github.io/TS-business-Plan-001/index.html?view=casebook&amp;case=AX16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"AX16",</a:t>
            </a:r>
          </a:p>
          <a:p xmlns:a="http://schemas.openxmlformats.org/drawingml/2006/main">
            <a:r>
              <a:t>    "title": "싱가포르 버스 충돌경고 확대",</a:t>
            </a:r>
          </a:p>
          <a:p xmlns:a="http://schemas.openxmlformats.org/drawingml/2006/main">
            <a:r>
              <a:t>    "region": "해외",</a:t>
            </a:r>
          </a:p>
          <a:p xmlns:a="http://schemas.openxmlformats.org/drawingml/2006/main">
            <a:r>
              <a:t>    "country": "싱가포르",</a:t>
            </a:r>
          </a:p>
          <a:p xmlns:a="http://schemas.openxmlformats.org/drawingml/2006/main">
            <a:r>
              <a:t>    "result": "계획",</a:t>
            </a:r>
          </a:p>
          <a:p xmlns:a="http://schemas.openxmlformats.org/drawingml/2006/main">
            <a:r>
              <a:t>    "kind": "버스 안전 AI 도입",</a:t>
            </a:r>
          </a:p>
          <a:p xmlns:a="http://schemas.openxmlformats.org/drawingml/2006/main">
            <a:r>
              <a:t>    "period": "2025 도입·확대 계획",</a:t>
            </a:r>
          </a:p>
          <a:p xmlns:a="http://schemas.openxmlformats.org/drawingml/2006/main">
            <a:r>
              <a:t>    "sources": [</a:t>
            </a:r>
          </a:p>
          <a:p xmlns:a="http://schemas.openxmlformats.org/drawingml/2006/main">
            <a:r>
              <a:t>      "S-AX16"</a:t>
            </a:r>
          </a:p>
          <a:p xmlns:a="http://schemas.openxmlformats.org/drawingml/2006/main">
            <a:r>
              <a:t>    ],</a:t>
            </a:r>
          </a:p>
          <a:p xmlns:a="http://schemas.openxmlformats.org/drawingml/2006/main">
            <a:r>
              <a:t>    "keywords": [</a:t>
            </a:r>
          </a:p>
          <a:p xmlns:a="http://schemas.openxmlformats.org/drawingml/2006/main">
            <a:r>
              <a:t>      "버스 안전 AI 도입"</a:t>
            </a:r>
          </a:p>
          <a:p xmlns:a="http://schemas.openxmlformats.org/drawingml/2006/main">
            <a:r>
              <a:t>    ],</a:t>
            </a:r>
          </a:p>
          <a:p xmlns:a="http://schemas.openxmlformats.org/drawingml/2006/main">
            <a:r>
              <a:t>    "fact": "충돌경고 등 AI 안전 기능의 버스 도입·확대 방향 공개",</a:t>
            </a:r>
          </a:p>
          <a:p xmlns:a="http://schemas.openxmlformats.org/drawingml/2006/main">
            <a:r>
              <a:t>    "limit": "계획·조달 단계와 전 차량 운영 성과 구분",</a:t>
            </a:r>
          </a:p>
          <a:p xmlns:a="http://schemas.openxmlformats.org/drawingml/2006/main">
            <a:r>
              <a:t>    "flow": [</a:t>
            </a:r>
          </a:p>
          <a:p xmlns:a="http://schemas.openxmlformats.org/drawingml/2006/main">
            <a:r>
              <a:t>      "차량 센서·영상",</a:t>
            </a:r>
          </a:p>
          <a:p xmlns:a="http://schemas.openxmlformats.org/drawingml/2006/main">
            <a:r>
              <a:t>      "위험 판단",</a:t>
            </a:r>
          </a:p>
          <a:p xmlns:a="http://schemas.openxmlformats.org/drawingml/2006/main">
            <a:r>
              <a:t>      "운전자 경고",</a:t>
            </a:r>
          </a:p>
          <a:p xmlns:a="http://schemas.openxmlformats.org/drawingml/2006/main">
            <a:r>
              <a:t>      "운행 안전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"안전 기능의 도입 조건과 운전자 대응 검증",</a:t>
            </a:r>
          </a:p>
          <a:p xmlns:a="http://schemas.openxmlformats.org/drawingml/2006/main">
            <a:r>
              <a:t>    "local": "TS 운수회사 안전 점검의 장치·운행 증거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"장치 상태·경고 이력·점검 항목 매핑",</a:t>
            </a:r>
          </a:p>
          <a:p xmlns:a="http://schemas.openxmlformats.org/drawingml/2006/main">
            <a:r>
              <a:t>    "test": "결측·장치 고장·과경보 및 점검 증빙 대조",</a:t>
            </a:r>
          </a:p>
          <a:p xmlns:a="http://schemas.openxmlformats.org/drawingml/2006/main">
            <a:r>
              <a:t>    "metric": "경고 신뢰도 / 증빙 누락률",</a:t>
            </a:r>
          </a:p>
          <a:p xmlns:a="http://schemas.openxmlformats.org/drawingml/2006/main">
            <a:r>
              <a:t>    "strategies": [</a:t>
            </a:r>
          </a:p>
          <a:p xmlns:a="http://schemas.openxmlformats.org/drawingml/2006/main">
            <a:r>
              <a:t>      "ST-01",</a:t>
            </a:r>
          </a:p>
          <a:p xmlns:a="http://schemas.openxmlformats.org/drawingml/2006/main">
            <a:r>
              <a:t>      "ST-02",</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"AX16",</a:t>
            </a:r>
          </a:p>
          <a:p xmlns:a="http://schemas.openxmlformats.org/drawingml/2006/main">
            <a:r>
              <a:t>    "canonicalId": "AX16",</a:t>
            </a:r>
          </a:p>
          <a:p xmlns:a="http://schemas.openxmlformats.org/drawingml/2006/main">
            <a:r>
              <a:t>    "purpose": "버스 운행 중 위험 인지와 충돌 경고",</a:t>
            </a:r>
          </a:p>
          <a:p xmlns:a="http://schemas.openxmlformats.org/drawingml/2006/main">
            <a:r>
              <a:t>    "users": "운전자·운수사 안전 담당",</a:t>
            </a:r>
          </a:p>
          <a:p xmlns:a="http://schemas.openxmlformats.org/drawingml/2006/main">
            <a:r>
              <a:t>    "scope": [</a:t>
            </a:r>
          </a:p>
          <a:p xmlns:a="http://schemas.openxmlformats.org/drawingml/2006/main">
            <a:r>
              <a:t>      "주변 감지",</a:t>
            </a:r>
          </a:p>
          <a:p xmlns:a="http://schemas.openxmlformats.org/drawingml/2006/main">
            <a:r>
              <a:t>      "위험 경고",</a:t>
            </a:r>
          </a:p>
          <a:p xmlns:a="http://schemas.openxmlformats.org/drawingml/2006/main">
            <a:r>
              <a:t>      "운행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"버스 센서·영상",</a:t>
            </a:r>
          </a:p>
          <a:p xmlns:a="http://schemas.openxmlformats.org/drawingml/2006/main">
            <a:r>
              <a:t>        "detail": "차량·시간·주변 상황 인지",</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"주변 감지 / 위험 경고 / 운행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"충돌 위험 탐지",</a:t>
            </a:r>
          </a:p>
          <a:p xmlns:a="http://schemas.openxmlformats.org/drawingml/2006/main">
            <a:r>
              <a:t>        "detail": "장애물·차량 간 위험 상황 판단",</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"운전자·안전 관리자",</a:t>
            </a:r>
          </a:p>
          <a:p xmlns:a="http://schemas.openxmlformats.org/drawingml/2006/main">
            <a:r>
              <a:t>        "detail": "운전자에게 경고 전달 및 운행 후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"위험 이벤트 기록",</a:t>
            </a:r>
          </a:p>
          <a:p xmlns:a="http://schemas.openxmlformats.org/drawingml/2006/main">
            <a:r>
              <a:t>        "detail": "차량 센서·영상·경고 이벤트 정합화",</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"오경보·미탐과 운전자 반응의 표본 확인",</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"차량 센서·영상",</a:t>
            </a:r>
          </a:p>
          <a:p xmlns:a="http://schemas.openxmlformats.org/drawingml/2006/main">
            <a:r>
              <a:t>        "input": "차량·시간·주변 상황 인지",</a:t>
            </a:r>
          </a:p>
          <a:p xmlns:a="http://schemas.openxmlformats.org/drawingml/2006/main">
            <a:r>
              <a:t>        "process": "차량 센서·영상·경고 이벤트 정합화",</a:t>
            </a:r>
          </a:p>
          <a:p xmlns:a="http://schemas.openxmlformats.org/drawingml/2006/main">
            <a:r>
              <a:t>        "output": "센서 관측"</a:t>
            </a:r>
          </a:p>
          <a:p xmlns:a="http://schemas.openxmlformats.org/drawingml/2006/main">
            <a:r>
              <a:t>      },</a:t>
            </a:r>
          </a:p>
          <a:p xmlns:a="http://schemas.openxmlformats.org/drawingml/2006/main">
            <a:r>
              <a:t>      {</a:t>
            </a:r>
          </a:p>
          <a:p xmlns:a="http://schemas.openxmlformats.org/drawingml/2006/main">
            <a:r>
              <a:t>        "title": "위험 판단",</a:t>
            </a:r>
          </a:p>
          <a:p xmlns:a="http://schemas.openxmlformats.org/drawingml/2006/main">
            <a:r>
              <a:t>        "input": "센서 관측",</a:t>
            </a:r>
          </a:p>
          <a:p xmlns:a="http://schemas.openxmlformats.org/drawingml/2006/main">
            <a:r>
              <a:t>        "process": "장애물·차량 간 위험 상황 판단",</a:t>
            </a:r>
          </a:p>
          <a:p xmlns:a="http://schemas.openxmlformats.org/drawingml/2006/main">
            <a:r>
              <a:t>        "output": "위험 후보"</a:t>
            </a:r>
          </a:p>
          <a:p xmlns:a="http://schemas.openxmlformats.org/drawingml/2006/main">
            <a:r>
              <a:t>      },</a:t>
            </a:r>
          </a:p>
          <a:p xmlns:a="http://schemas.openxmlformats.org/drawingml/2006/main">
            <a:r>
              <a:t>      {</a:t>
            </a:r>
          </a:p>
          <a:p xmlns:a="http://schemas.openxmlformats.org/drawingml/2006/main">
            <a:r>
              <a:t>        "title": "운전자 경고",</a:t>
            </a:r>
          </a:p>
          <a:p xmlns:a="http://schemas.openxmlformats.org/drawingml/2006/main">
            <a:r>
              <a:t>        "input": "위험 후보",</a:t>
            </a:r>
          </a:p>
          <a:p xmlns:a="http://schemas.openxmlformats.org/drawingml/2006/main">
            <a:r>
              <a:t>        "process": "경보 지연·오탐·운전자 수용성 평가",</a:t>
            </a:r>
          </a:p>
          <a:p xmlns:a="http://schemas.openxmlformats.org/drawingml/2006/main">
            <a:r>
              <a:t>        "output": "경고"</a:t>
            </a:r>
          </a:p>
          <a:p xmlns:a="http://schemas.openxmlformats.org/drawingml/2006/main">
            <a:r>
              <a:t>      },</a:t>
            </a:r>
          </a:p>
          <a:p xmlns:a="http://schemas.openxmlformats.org/drawingml/2006/main">
            <a:r>
              <a:t>      {</a:t>
            </a:r>
          </a:p>
          <a:p xmlns:a="http://schemas.openxmlformats.org/drawingml/2006/main">
            <a:r>
              <a:t>        "title": "운행 안전 검토",</a:t>
            </a:r>
          </a:p>
          <a:p xmlns:a="http://schemas.openxmlformats.org/drawingml/2006/main">
            <a:r>
              <a:t>        "input": "경고",</a:t>
            </a:r>
          </a:p>
          <a:p xmlns:a="http://schemas.openxmlformats.org/drawingml/2006/main">
            <a:r>
              <a:t>        "process": "운전자에게 경고 전달 및 운행 후 검토",</a:t>
            </a:r>
          </a:p>
          <a:p xmlns:a="http://schemas.openxmlformats.org/drawingml/2006/main">
            <a:r>
              <a:t>        "output": "운행 후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"운행 중 접근 위험을 감지하고 운전자에게 경고",</a:t>
            </a:r>
          </a:p>
          <a:p xmlns:a="http://schemas.openxmlformats.org/drawingml/2006/main">
            <a:r>
              <a:t>      "exception": "우천·야간·가림·정차 상태의 비위험 객체",</a:t>
            </a:r>
          </a:p>
          <a:p xmlns:a="http://schemas.openxmlformats.org/drawingml/2006/main">
            <a:r>
              <a:t>      "evidence": "환경별 경고 적정성과 운전자 반응의 표본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"운전자·운수사 안전 담당",</a:t>
            </a:r>
          </a:p>
          <a:p xmlns:a="http://schemas.openxmlformats.org/drawingml/2006/main">
            <a:r>
              <a:t>          "processing": "차량·시간·주변 상황 인지",</a:t>
            </a:r>
          </a:p>
          <a:p xmlns:a="http://schemas.openxmlformats.org/drawingml/2006/main">
            <a:r>
              <a:t>          "output": "센서 관측"</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"위험 이벤트 기록",</a:t>
            </a:r>
          </a:p>
          <a:p xmlns:a="http://schemas.openxmlformats.org/drawingml/2006/main">
            <a:r>
              <a:t>          "processing": "차량 센서·영상·경고 이벤트 정합화",</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"센서 관측",</a:t>
            </a:r>
          </a:p>
          <a:p xmlns:a="http://schemas.openxmlformats.org/drawingml/2006/main">
            <a:r>
              <a:t>          "processing": "장애물·차량 간 위험 상황 판단",</a:t>
            </a:r>
          </a:p>
          <a:p xmlns:a="http://schemas.openxmlformats.org/drawingml/2006/main">
            <a:r>
              <a:t>          "output": "경고"</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"경고",</a:t>
            </a:r>
          </a:p>
          <a:p xmlns:a="http://schemas.openxmlformats.org/drawingml/2006/main">
            <a:r>
              <a:t>          "processing": "운전자에게 경고 전달 및 운행 후 검토",</a:t>
            </a:r>
          </a:p>
          <a:p xmlns:a="http://schemas.openxmlformats.org/drawingml/2006/main">
            <a:r>
              <a:t>          "output": "운행 후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"오경보·미탐과 운전자 반응의 표본 확인",</a:t>
            </a:r>
          </a:p>
          <a:p xmlns:a="http://schemas.openxmlformats.org/drawingml/2006/main">
            <a:r>
              <a:t>          "output": "환경별 경고 적정성과 운전자 반응의 표본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"오경보·미탐과 운전자 반응의 표본 확인",</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"S-AX16",</a:t>
            </a:r>
          </a:p>
          <a:p xmlns:a="http://schemas.openxmlformats.org/drawingml/2006/main">
            <a:r>
              <a:t>        "title": "싱가포르 버스 충돌경고 확대 · LTA / 2025-08-23",</a:t>
            </a:r>
          </a:p>
          <a:p xmlns:a="http://schemas.openxmlformats.org/drawingml/2006/main">
            <a:r>
              <a:t>        "url": "https://www.lta.gov.sg/content/ltagov/en/newsroom/2025/8/news-releases/making_bus_journeys_safer.html",</a:t>
            </a:r>
          </a:p>
          <a:p xmlns:a="http://schemas.openxmlformats.org/drawingml/2006/main">
            <a:r>
              <a:t>        "published": "2025 도입·확대 계획",</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"안전 기능의 도입 조건과 운전자 대응 검증",</a:t>
            </a:r>
          </a:p>
          <a:p xmlns:a="http://schemas.openxmlformats.org/drawingml/2006/main">
            <a:r>
              <a:t>    "local": "TS 운수회사 안전 점검의 장치·운행 증거 연결",</a:t>
            </a:r>
          </a:p>
          <a:p xmlns:a="http://schemas.openxmlformats.org/drawingml/2006/main">
            <a:r>
              <a:t>    "sourceDetail": null,</a:t>
            </a:r>
          </a:p>
          <a:p xmlns:a="http://schemas.openxmlformats.org/drawingml/2006/main">
            <a:r>
              <a:t>    "narrative": [</a:t>
            </a:r>
          </a:p>
          <a:p xmlns:a="http://schemas.openxmlformats.org/drawingml/2006/main">
            <a:r>
              <a:t>      "버스 주변 위험을 감지해 운전자에게 즉시 경고하는 안전 지원 사례. 운전자의 판단과 대응을 전제로 한 경고 시스템이며 운행 후 위험 이벤트 검토와도 연결.",</a:t>
            </a:r>
          </a:p>
          <a:p xmlns:a="http://schemas.openxmlformats.org/drawingml/2006/main">
            <a:r>
              <a:t>      "차량·시간·주변 상황을 센서·영상과 맞추고 위험 후보에서 경고로 이어지는 지연을 관리하는 구조. 경고 발생, 운전자 반응, 실제 위험 여부를 서로 다른 기록으로 보존하는 CCK 분석.",</a:t>
            </a:r>
          </a:p>
          <a:p xmlns:a="http://schemas.openxmlformats.org/drawingml/2006/main">
            <a:r>
              <a:t>      "TS 적용에서는 경보 과다로 인한 무시와 중요한 위험의 미탐을 동시에 확인할 필요. 차량·도로·시간대별 경보 지연·정확도·수용성을 비교하고 보급 규모를 사고 감소 실적으로 환산하지 않는 평가."</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"차량 센서 접점",</a:t>
            </a:r>
          </a:p>
          <a:p xmlns:a="http://schemas.openxmlformats.org/drawingml/2006/main">
            <a:r>
              <a:t>          "layer": "이용 접점",</a:t>
            </a:r>
          </a:p>
          <a:p xmlns:a="http://schemas.openxmlformats.org/drawingml/2006/main">
            <a:r>
              <a:t>          "detail": "운전자·운수사 안전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"차량·주변 맥락",</a:t>
            </a:r>
          </a:p>
          <a:p xmlns:a="http://schemas.openxmlformats.org/drawingml/2006/main">
            <a:r>
              <a:t>          "layer": "업무 문맥",</a:t>
            </a:r>
          </a:p>
          <a:p xmlns:a="http://schemas.openxmlformats.org/drawingml/2006/main">
            <a:r>
              <a:t>          "detail": "차량·시간·주변 상황 인지",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"영상·센서 조회",</a:t>
            </a:r>
          </a:p>
          <a:p xmlns:a="http://schemas.openxmlformats.org/drawingml/2006/main">
            <a:r>
              <a:t>          "layer": "자료 조회",</a:t>
            </a:r>
          </a:p>
          <a:p xmlns:a="http://schemas.openxmlformats.org/drawingml/2006/main">
            <a:r>
              <a:t>          "detail": "센서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"충돌 위험 탐지",</a:t>
            </a:r>
          </a:p>
          <a:p xmlns:a="http://schemas.openxmlformats.org/drawingml/2006/main">
            <a:r>
              <a:t>          "layer": "핵심 처리",</a:t>
            </a:r>
          </a:p>
          <a:p xmlns:a="http://schemas.openxmlformats.org/drawingml/2006/main">
            <a:r>
              <a:t>          "detail": "장애물·차량 간 위험 상황 판단",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"경보 지연 검사",</a:t>
            </a:r>
          </a:p>
          <a:p xmlns:a="http://schemas.openxmlformats.org/drawingml/2006/main">
            <a:r>
              <a:t>          "layer": "결과 검증",</a:t>
            </a:r>
          </a:p>
          <a:p xmlns:a="http://schemas.openxmlformats.org/drawingml/2006/main">
            <a:r>
              <a:t>          "detail": "경보 지연·오탐·운전자 수용성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"운전자 상황 판단",</a:t>
            </a:r>
          </a:p>
          <a:p xmlns:a="http://schemas.openxmlformats.org/drawingml/2006/main">
            <a:r>
              <a:t>          "layer": "사람 확인",</a:t>
            </a:r>
          </a:p>
          <a:p xmlns:a="http://schemas.openxmlformats.org/drawingml/2006/main">
            <a:r>
              <a:t>          "detail": "운행 중 접근 위험을 감지하고 운전자에게 경고",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"위험 경고 전달",</a:t>
            </a:r>
          </a:p>
          <a:p xmlns:a="http://schemas.openxmlformats.org/drawingml/2006/main">
            <a:r>
              <a:t>          "layer": "업무 연결",</a:t>
            </a:r>
          </a:p>
          <a:p xmlns:a="http://schemas.openxmlformats.org/drawingml/2006/main">
            <a:r>
              <a:t>          "detail": "운전자에게 경고 전달 및 운행 후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"운행 후 검토",</a:t>
            </a:r>
          </a:p>
          <a:p xmlns:a="http://schemas.openxmlformats.org/drawingml/2006/main">
            <a:r>
              <a:t>          "layer": "운영 관측",</a:t>
            </a:r>
          </a:p>
          <a:p xmlns:a="http://schemas.openxmlformats.org/drawingml/2006/main">
            <a:r>
              <a:t>          "detail": "오경보·미탐과 운전자 반응의 표본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"영상·센서 자료",</a:t>
            </a:r>
          </a:p>
          <a:p xmlns:a="http://schemas.openxmlformats.org/drawingml/2006/main">
            <a:r>
              <a:t>          "layer": "데이터 원천",</a:t>
            </a:r>
          </a:p>
          <a:p xmlns:a="http://schemas.openxmlformats.org/drawingml/2006/main">
            <a:r>
              <a:t>          "detail": "위험 이벤트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 동기화",</a:t>
            </a:r>
          </a:p>
          <a:p xmlns:a="http://schemas.openxmlformats.org/drawingml/2006/main">
            <a:r>
              <a:t>          "layer": "준비·갱신",</a:t>
            </a:r>
          </a:p>
          <a:p xmlns:a="http://schemas.openxmlformats.org/drawingml/2006/main">
            <a:r>
              <a:t>          "detail": "차량 센서·영상·경고 이벤트 정합화",</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"경고·반응 이력",</a:t>
            </a:r>
          </a:p>
          <a:p xmlns:a="http://schemas.openxmlformats.org/drawingml/2006/main">
            <a:r>
              <a:t>          "layer": "상태·지식 저장",</a:t>
            </a:r>
          </a:p>
          <a:p xmlns:a="http://schemas.openxmlformats.org/drawingml/2006/main">
            <a:r>
              <a:t>          "detail": "환경별 경고 적정성과 운전자 반응의 표본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"차량 안전 경계",</a:t>
            </a:r>
          </a:p>
          <a:p xmlns:a="http://schemas.openxmlformats.org/drawingml/2006/main">
            <a:r>
              <a:t>          "layer": "권한·정책",</a:t>
            </a:r>
          </a:p>
          <a:p xmlns:a="http://schemas.openxmlformats.org/drawingml/2006/main">
            <a:r>
              <a:t>          "detail": "우천·야간·가림·정차 상태의 비위험 객체",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"차량 센서·영상 → 위험 판단 → 운전자 경고 → 운행 안전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"위험 이벤트 기록",</a:t>
            </a:r>
          </a:p>
          <a:p xmlns:a="http://schemas.openxmlformats.org/drawingml/2006/main">
            <a:r>
              <a:t>          "check": "차량 센서·영상·경고 이벤트 정합화"</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"차량 센서·영상·경고 이벤트 정합화"</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"경고",</a:t>
            </a:r>
          </a:p>
          <a:p xmlns:a="http://schemas.openxmlformats.org/drawingml/2006/main">
            <a:r>
              <a:t>          "check": "환경별 경고 적정성과 운전자 반응의 표본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"차량 안전 경계",</a:t>
            </a:r>
          </a:p>
          <a:p xmlns:a="http://schemas.openxmlformats.org/drawingml/2006/main">
            <a:r>
              <a:t>          "check": "경보 지연·오탐·운전자 수용성 평가"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"운행 후 검토",</a:t>
            </a:r>
          </a:p>
          <a:p xmlns:a="http://schemas.openxmlformats.org/drawingml/2006/main">
            <a:r>
              <a:t>          "check": "환경별 경고 적정성과 운전자 반응의 표본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"오경보·미탐과 운전자 반응의 표본 확인",</a:t>
            </a:r>
          </a:p>
          <a:p xmlns:a="http://schemas.openxmlformats.org/drawingml/2006/main">
            <a:r>
              <a:t>          "check": "오경보·미탐과 운전자 반응의 표본 확인"</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"버스 운행 중 위험 인지와 충돌 경고 / 주변 감지·위험 경고·운행 검토",</a:t>
            </a:r>
          </a:p>
          <a:p xmlns:a="http://schemas.openxmlformats.org/drawingml/2006/main">
            <a:r>
              <a:t>        "extension": "TS 운수회사 안전 점검의 장치·운행 증거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"우천·야간·가림·정차 상태의 비위험 객체",</a:t>
            </a:r>
          </a:p>
          <a:p xmlns:a="http://schemas.openxmlformats.org/drawingml/2006/main">
            <a:r>
              <a:t>        "hold": "경보 지연·오탐·운전자 수용성 평가",</a:t>
            </a:r>
          </a:p>
          <a:p xmlns:a="http://schemas.openxmlformats.org/drawingml/2006/main">
            <a:r>
              <a:t>        "recovery": "오경보·미탐과 운전자 반응의 표본 확인",</a:t>
            </a:r>
          </a:p>
          <a:p xmlns:a="http://schemas.openxmlformats.org/drawingml/2006/main">
            <a:r>
              <a:t>        "evidence": "환경별 경고 적정성과 운전자 반응의 표본 기록"</a:t>
            </a:r>
          </a:p>
          <a:p xmlns:a="http://schemas.openxmlformats.org/drawingml/2006/main">
            <a:r>
              <a:t>      },</a:t>
            </a:r>
          </a:p>
          <a:p xmlns:a="http://schemas.openxmlformats.org/drawingml/2006/main">
            <a:r>
              <a:t>      "data": {</a:t>
            </a:r>
          </a:p>
          <a:p xmlns:a="http://schemas.openxmlformats.org/drawingml/2006/main">
            <a:r>
              <a:t>        "source": "위험 이벤트 기록",</a:t>
            </a:r>
          </a:p>
          <a:p xmlns:a="http://schemas.openxmlformats.org/drawingml/2006/main">
            <a:r>
              <a:t>        "prepare": "차량 센서·영상·경고 이벤트 정합화",</a:t>
            </a:r>
          </a:p>
          <a:p xmlns:a="http://schemas.openxmlformats.org/drawingml/2006/main">
            <a:r>
              <a:t>        "output": "센서 관측",</a:t>
            </a:r>
          </a:p>
          <a:p xmlns:a="http://schemas.openxmlformats.org/drawingml/2006/main">
            <a:r>
              <a:t>        "refresh": "오경보·미탐과 운전자 반응의 표본 확인"</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"AX16",</a:t>
            </a:r>
          </a:p>
          <a:p xmlns:a="http://schemas.openxmlformats.org/drawingml/2006/main">
            <a:r>
              <a:t>    "success": [</a:t>
            </a:r>
          </a:p>
          <a:p xmlns:a="http://schemas.openxmlformats.org/drawingml/2006/main">
            <a:r>
              <a:t>      "차량의 위험 인지와 즉시 경고",</a:t>
            </a:r>
          </a:p>
          <a:p xmlns:a="http://schemas.openxmlformats.org/drawingml/2006/main">
            <a:r>
              <a:t>      "운전자 대응을 전제로 한 안전 지원"</a:t>
            </a:r>
          </a:p>
          <a:p xmlns:a="http://schemas.openxmlformats.org/drawingml/2006/main">
            <a:r>
              <a:t>    ],</a:t>
            </a:r>
          </a:p>
          <a:p xmlns:a="http://schemas.openxmlformats.org/drawingml/2006/main">
            <a:r>
              <a:t>    "risks": [</a:t>
            </a:r>
          </a:p>
          <a:p xmlns:a="http://schemas.openxmlformats.org/drawingml/2006/main">
            <a:r>
              <a:t>      "경보 과다에 따른 무시 위험",</a:t>
            </a:r>
          </a:p>
          <a:p xmlns:a="http://schemas.openxmlformats.org/drawingml/2006/main">
            <a:r>
              <a:t>      "확대 계획을 사고 감소 실적으로 해석"</a:t>
            </a:r>
          </a:p>
          <a:p xmlns:a="http://schemas.openxmlformats.org/drawingml/2006/main">
            <a:r>
              <a:t>    ],</a:t>
            </a:r>
          </a:p>
          <a:p xmlns:a="http://schemas.openxmlformats.org/drawingml/2006/main">
            <a:r>
              <a:t>    "architecture": [</a:t>
            </a:r>
          </a:p>
          <a:p xmlns:a="http://schemas.openxmlformats.org/drawingml/2006/main">
            <a:r>
              <a:t>      "버스 센서·영상",</a:t>
            </a:r>
          </a:p>
          <a:p xmlns:a="http://schemas.openxmlformats.org/drawingml/2006/main">
            <a:r>
              <a:t>      "충돌 위험 탐지",</a:t>
            </a:r>
          </a:p>
          <a:p xmlns:a="http://schemas.openxmlformats.org/drawingml/2006/main">
            <a:r>
              <a:t>      "위험 이벤트 기록",</a:t>
            </a:r>
          </a:p>
          <a:p xmlns:a="http://schemas.openxmlformats.org/drawingml/2006/main">
            <a:r>
              <a:t>      "운전자·안전 관리자"</a:t>
            </a:r>
          </a:p>
          <a:p xmlns:a="http://schemas.openxmlformats.org/drawingml/2006/main">
            <a:r>
              <a:t>    ],</a:t>
            </a:r>
          </a:p>
          <a:p xmlns:a="http://schemas.openxmlformats.org/drawingml/2006/main">
            <a:r>
              <a:t>    "transfers": [</a:t>
            </a:r>
          </a:p>
          <a:p xmlns:a="http://schemas.openxmlformats.org/drawingml/2006/main">
            <a:r>
              <a:t>      "센서 관측",</a:t>
            </a:r>
          </a:p>
          <a:p xmlns:a="http://schemas.openxmlformats.org/drawingml/2006/main">
            <a:r>
              <a:t>      "위험 후보",</a:t>
            </a:r>
          </a:p>
          <a:p xmlns:a="http://schemas.openxmlformats.org/drawingml/2006/main">
            <a:r>
              <a:t>      "경고",</a:t>
            </a:r>
          </a:p>
          <a:p xmlns:a="http://schemas.openxmlformats.org/drawingml/2006/main">
            <a:r>
              <a:t>      "운행 후 검토"</a:t>
            </a:r>
          </a:p>
          <a:p xmlns:a="http://schemas.openxmlformats.org/drawingml/2006/main">
            <a:r>
              <a:t>    ],</a:t>
            </a:r>
          </a:p>
          <a:p xmlns:a="http://schemas.openxmlformats.org/drawingml/2006/main">
            <a:r>
              <a:t>    "control": "경보 지연·오탐·운전자 수용성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싱가포르 버스 충돌경고 확대 · LTA / 2025-08-23 https://www.lta.gov.sg/content/ltagov/en/newsroom/2025/8/news-releases/making_bus_journeys_safer.html</a:t>
            </a:r>
          </a:p>
          <a:p xmlns:a="http://schemas.openxmlformats.org/drawingml/2006/main">
            <a:r>
              <a:t>홈페이지 https://heen1987-ops.github.io/TS-business-Plan-001/index.html?view=casebook&amp;case=AX16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"AX17",</a:t>
            </a:r>
          </a:p>
          <a:p xmlns:a="http://schemas.openxmlformats.org/drawingml/2006/main">
            <a:r>
              <a:t>    "title": "코레일 자동검측·AI 확대",</a:t>
            </a:r>
          </a:p>
          <a:p xmlns:a="http://schemas.openxmlformats.org/drawingml/2006/main">
            <a:r>
              <a:t>    "region": "국내",</a:t>
            </a:r>
          </a:p>
          <a:p xmlns:a="http://schemas.openxmlformats.org/drawingml/2006/main">
            <a:r>
              <a:t>    "country": "대한민국",</a:t>
            </a:r>
          </a:p>
          <a:p xmlns:a="http://schemas.openxmlformats.org/drawingml/2006/main">
            <a:r>
              <a:t>    "result": "혼합",</a:t>
            </a:r>
          </a:p>
          <a:p xmlns:a="http://schemas.openxmlformats.org/drawingml/2006/main">
            <a:r>
              <a:t>    "kind": "철도 설비 자동점검",</a:t>
            </a:r>
          </a:p>
          <a:p xmlns:a="http://schemas.openxmlformats.org/drawingml/2006/main">
            <a:r>
              <a:t>    "period": "2025 운영·고도화 계획",</a:t>
            </a:r>
          </a:p>
          <a:p xmlns:a="http://schemas.openxmlformats.org/drawingml/2006/main">
            <a:r>
              <a:t>    "sources": [</a:t>
            </a:r>
          </a:p>
          <a:p xmlns:a="http://schemas.openxmlformats.org/drawingml/2006/main">
            <a:r>
              <a:t>      "S-AX17"</a:t>
            </a:r>
          </a:p>
          <a:p xmlns:a="http://schemas.openxmlformats.org/drawingml/2006/main">
            <a:r>
              <a:t>    ],</a:t>
            </a:r>
          </a:p>
          <a:p xmlns:a="http://schemas.openxmlformats.org/drawingml/2006/main">
            <a:r>
              <a:t>    "keywords": [</a:t>
            </a:r>
          </a:p>
          <a:p xmlns:a="http://schemas.openxmlformats.org/drawingml/2006/main">
            <a:r>
              <a:t>      "철도 설비 자동점검"</a:t>
            </a:r>
          </a:p>
          <a:p xmlns:a="http://schemas.openxmlformats.org/drawingml/2006/main">
            <a:r>
              <a:t>    ],</a:t>
            </a:r>
          </a:p>
          <a:p xmlns:a="http://schemas.openxmlformats.org/drawingml/2006/main">
            <a:r>
              <a:t>    "fact": "자동검측 운영을 통한 설비 이상 탐지와 AI 분석 고도화 방향 공개",</a:t>
            </a:r>
          </a:p>
          <a:p xmlns:a="http://schemas.openxmlformats.org/drawingml/2006/main">
            <a:r>
              <a:t>    "limit": "현재 검측 기능과 향후 AI 확대 구분 · 안전 감소 효과의 인과 검증 별도",</a:t>
            </a:r>
          </a:p>
          <a:p xmlns:a="http://schemas.openxmlformats.org/drawingml/2006/main">
            <a:r>
              <a:t>    "flow": [</a:t>
            </a:r>
          </a:p>
          <a:p xmlns:a="http://schemas.openxmlformats.org/drawingml/2006/main">
            <a:r>
              <a:t>      "검측·영상 수집",</a:t>
            </a:r>
          </a:p>
          <a:p xmlns:a="http://schemas.openxmlformats.org/drawingml/2006/main">
            <a:r>
              <a:t>      "이상 후보 추출",</a:t>
            </a:r>
          </a:p>
          <a:p xmlns:a="http://schemas.openxmlformats.org/drawingml/2006/main">
            <a:r>
              <a:t>      "전문가 확인",</a:t>
            </a:r>
          </a:p>
          <a:p xmlns:a="http://schemas.openxmlformats.org/drawingml/2006/main">
            <a:r>
              <a:t>      "정비·검사 이력"</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"원천 검측과 판정 근거의 일관된 인계",</a:t>
            </a:r>
          </a:p>
          <a:p xmlns:a="http://schemas.openxmlformats.org/drawingml/2006/main">
            <a:r>
              <a:t>    "local": "TS 철도 안전 점검의 설비·검사·조치 증거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"설비 ID·판정 기준·검사 시점 대사",</a:t>
            </a:r>
          </a:p>
          <a:p xmlns:a="http://schemas.openxmlformats.org/drawingml/2006/main">
            <a:r>
              <a:t>    "test": "정상·이상·판정 변경 및 미조치 자료 재현",</a:t>
            </a:r>
          </a:p>
          <a:p xmlns:a="http://schemas.openxmlformats.org/drawingml/2006/main">
            <a:r>
              <a:t>    "metric": "검사 검토시간 / 증거 누락률",</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"AX17",</a:t>
            </a:r>
          </a:p>
          <a:p xmlns:a="http://schemas.openxmlformats.org/drawingml/2006/main">
            <a:r>
              <a:t>    "canonicalId": "AX17",</a:t>
            </a:r>
          </a:p>
          <a:p xmlns:a="http://schemas.openxmlformats.org/drawingml/2006/main">
            <a:r>
              <a:t>    "purpose": "철도 설비 자동검측과 유지보수 우선순위 지원",</a:t>
            </a:r>
          </a:p>
          <a:p xmlns:a="http://schemas.openxmlformats.org/drawingml/2006/main">
            <a:r>
              <a:t>    "users": "검측·시설 유지보수 담당",</a:t>
            </a:r>
          </a:p>
          <a:p xmlns:a="http://schemas.openxmlformats.org/drawingml/2006/main">
            <a:r>
              <a:t>    "scope": [</a:t>
            </a:r>
          </a:p>
          <a:p xmlns:a="http://schemas.openxmlformats.org/drawingml/2006/main">
            <a:r>
              <a:t>      "설비 관측",</a:t>
            </a:r>
          </a:p>
          <a:p xmlns:a="http://schemas.openxmlformats.org/drawingml/2006/main">
            <a:r>
              <a:t>      "이상 탐지",</a:t>
            </a:r>
          </a:p>
          <a:p xmlns:a="http://schemas.openxmlformats.org/drawingml/2006/main">
            <a:r>
              <a:t>      "정비 확인"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"검측 장비",</a:t>
            </a:r>
          </a:p>
          <a:p xmlns:a="http://schemas.openxmlformats.org/drawingml/2006/main">
            <a:r>
              <a:t>        "detail": "노선·설비 ID·검측구간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"설비 관측 / 이상 탐지 / 정비 확인",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"이상 후보 분석",</a:t>
            </a:r>
          </a:p>
          <a:p xmlns:a="http://schemas.openxmlformats.org/drawingml/2006/main">
            <a:r>
              <a:t>        "detail": "검측 수치의 이상 후보와 추세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"철도 정비 담당",</a:t>
            </a:r>
          </a:p>
          <a:p xmlns:a="http://schemas.openxmlformats.org/drawingml/2006/main">
            <a:r>
              <a:t>        "detail": "점검 담당자의 확인 후 정비계획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"검측·정비 기록",</a:t>
            </a:r>
          </a:p>
          <a:p xmlns:a="http://schemas.openxmlformats.org/drawingml/2006/main">
            <a:r>
              <a:t>        "detail": "검측값·설비대장·과거 정비 이력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"현장 확인값과 조치 후 재검측 결과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"검측·영상 수집",</a:t>
            </a:r>
          </a:p>
          <a:p xmlns:a="http://schemas.openxmlformats.org/drawingml/2006/main">
            <a:r>
              <a:t>        "input": "노선·설비 ID·검측구간 식별",</a:t>
            </a:r>
          </a:p>
          <a:p xmlns:a="http://schemas.openxmlformats.org/drawingml/2006/main">
            <a:r>
              <a:t>        "process": "검측값·설비대장·과거 정비 이력 연결",</a:t>
            </a:r>
          </a:p>
          <a:p xmlns:a="http://schemas.openxmlformats.org/drawingml/2006/main">
            <a:r>
              <a:t>        "output": "검측값·영상"</a:t>
            </a:r>
          </a:p>
          <a:p xmlns:a="http://schemas.openxmlformats.org/drawingml/2006/main">
            <a:r>
              <a:t>      },</a:t>
            </a:r>
          </a:p>
          <a:p xmlns:a="http://schemas.openxmlformats.org/drawingml/2006/main">
            <a:r>
              <a:t>      {</a:t>
            </a:r>
          </a:p>
          <a:p xmlns:a="http://schemas.openxmlformats.org/drawingml/2006/main">
            <a:r>
              <a:t>        "title": "이상 후보 추출",</a:t>
            </a:r>
          </a:p>
          <a:p xmlns:a="http://schemas.openxmlformats.org/drawingml/2006/main">
            <a:r>
              <a:t>        "input": "검측값·영상",</a:t>
            </a:r>
          </a:p>
          <a:p xmlns:a="http://schemas.openxmlformats.org/drawingml/2006/main">
            <a:r>
              <a:t>        "process": "검측 수치의 이상 후보와 추세 분석",</a:t>
            </a:r>
          </a:p>
          <a:p xmlns:a="http://schemas.openxmlformats.org/drawingml/2006/main">
            <a:r>
              <a:t>        "output": "결함 후보"</a:t>
            </a:r>
          </a:p>
          <a:p xmlns:a="http://schemas.openxmlformats.org/drawingml/2006/main">
            <a:r>
              <a:t>      },</a:t>
            </a:r>
          </a:p>
          <a:p xmlns:a="http://schemas.openxmlformats.org/drawingml/2006/main">
            <a:r>
              <a:t>      {</a:t>
            </a:r>
          </a:p>
          <a:p xmlns:a="http://schemas.openxmlformats.org/drawingml/2006/main">
            <a:r>
              <a:t>        "title": "전문가 확인",</a:t>
            </a:r>
          </a:p>
          <a:p xmlns:a="http://schemas.openxmlformats.org/drawingml/2006/main">
            <a:r>
              <a:t>        "input": "결함 후보",</a:t>
            </a:r>
          </a:p>
          <a:p xmlns:a="http://schemas.openxmlformats.org/drawingml/2006/main">
            <a:r>
              <a:t>        "process": "실제 결함과 검측 후보 대사",</a:t>
            </a:r>
          </a:p>
          <a:p xmlns:a="http://schemas.openxmlformats.org/drawingml/2006/main">
            <a:r>
              <a:t>        "output": "전문가 확인"</a:t>
            </a:r>
          </a:p>
          <a:p xmlns:a="http://schemas.openxmlformats.org/drawingml/2006/main">
            <a:r>
              <a:t>      },</a:t>
            </a:r>
          </a:p>
          <a:p xmlns:a="http://schemas.openxmlformats.org/drawingml/2006/main">
            <a:r>
              <a:t>      {</a:t>
            </a:r>
          </a:p>
          <a:p xmlns:a="http://schemas.openxmlformats.org/drawingml/2006/main">
            <a:r>
              <a:t>        "title": "정비·검사 이력",</a:t>
            </a:r>
          </a:p>
          <a:p xmlns:a="http://schemas.openxmlformats.org/drawingml/2006/main">
            <a:r>
              <a:t>        "input": "전문가 확인",</a:t>
            </a:r>
          </a:p>
          <a:p xmlns:a="http://schemas.openxmlformats.org/drawingml/2006/main">
            <a:r>
              <a:t>        "process": "점검 담당자의 확인 후 정비계획 반영",</a:t>
            </a:r>
          </a:p>
          <a:p xmlns:a="http://schemas.openxmlformats.org/drawingml/2006/main">
            <a:r>
              <a:t>        "output": "정비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"검측 이상을 설비대장에 연결하고 점검 대상 선정",</a:t>
            </a:r>
          </a:p>
          <a:p xmlns:a="http://schemas.openxmlformats.org/drawingml/2006/main">
            <a:r>
              <a:t>      "exception": "설비 ID 불일치·센서 튐·정비 후 상태 미갱신",</a:t>
            </a:r>
          </a:p>
          <a:p xmlns:a="http://schemas.openxmlformats.org/drawingml/2006/main">
            <a:r>
              <a:t>      "evidence": "검측 원천·설비·현장 판정·재검측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"검측·시설 유지보수 담당",</a:t>
            </a:r>
          </a:p>
          <a:p xmlns:a="http://schemas.openxmlformats.org/drawingml/2006/main">
            <a:r>
              <a:t>          "processing": "노선·설비 ID·검측구간 식별",</a:t>
            </a:r>
          </a:p>
          <a:p xmlns:a="http://schemas.openxmlformats.org/drawingml/2006/main">
            <a:r>
              <a:t>          "output": "검측값·영상"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"검측·정비 기록",</a:t>
            </a:r>
          </a:p>
          <a:p xmlns:a="http://schemas.openxmlformats.org/drawingml/2006/main">
            <a:r>
              <a:t>          "processing": "검측값·설비대장·과거 정비 이력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"검측값·영상",</a:t>
            </a:r>
          </a:p>
          <a:p xmlns:a="http://schemas.openxmlformats.org/drawingml/2006/main">
            <a:r>
              <a:t>          "processing": "검측 수치의 이상 후보와 추세 분석",</a:t>
            </a:r>
          </a:p>
          <a:p xmlns:a="http://schemas.openxmlformats.org/drawingml/2006/main">
            <a:r>
              <a:t>          "output": "전문가 확인"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"전문가 확인",</a:t>
            </a:r>
          </a:p>
          <a:p xmlns:a="http://schemas.openxmlformats.org/drawingml/2006/main">
            <a:r>
              <a:t>          "processing": "점검 담당자의 확인 후 정비계획 반영",</a:t>
            </a:r>
          </a:p>
          <a:p xmlns:a="http://schemas.openxmlformats.org/drawingml/2006/main">
            <a:r>
              <a:t>          "output": "정비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"현장 확인값과 조치 후 재검측 결과 비교",</a:t>
            </a:r>
          </a:p>
          <a:p xmlns:a="http://schemas.openxmlformats.org/drawingml/2006/main">
            <a:r>
              <a:t>          "output": "검측 원천·설비·현장 판정·재검측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"현장 확인값과 조치 후 재검측 결과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"S-AX17",</a:t>
            </a:r>
          </a:p>
          <a:p xmlns:a="http://schemas.openxmlformats.org/drawingml/2006/main">
            <a:r>
              <a:t>        "title": "코레일 자동검측·AI 확대 · 코레일 / 2025-08-17",</a:t>
            </a:r>
          </a:p>
          <a:p xmlns:a="http://schemas.openxmlformats.org/drawingml/2006/main">
            <a:r>
              <a:t>        "url": "https://info.korail.com/info/selectBbsNttView.do?bbsNo=199&amp;key=911&amp;nttNo=25238",</a:t>
            </a:r>
          </a:p>
          <a:p xmlns:a="http://schemas.openxmlformats.org/drawingml/2006/main">
            <a:r>
              <a:t>        "published": "2025 운영·고도화 계획",</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"원천 검측과 판정 근거의 일관된 인계",</a:t>
            </a:r>
          </a:p>
          <a:p xmlns:a="http://schemas.openxmlformats.org/drawingml/2006/main">
            <a:r>
              <a:t>    "local": "TS 철도 안전 점검의 설비·검사·조치 증거 연결",</a:t>
            </a:r>
          </a:p>
          <a:p xmlns:a="http://schemas.openxmlformats.org/drawingml/2006/main">
            <a:r>
              <a:t>    "sourceDetail": null,</a:t>
            </a:r>
          </a:p>
          <a:p xmlns:a="http://schemas.openxmlformats.org/drawingml/2006/main">
            <a:r>
              <a:t>    "narrative": [</a:t>
            </a:r>
          </a:p>
          <a:p xmlns:a="http://schemas.openxmlformats.org/drawingml/2006/main">
            <a:r>
              <a:t>      "철도 설비의 자동검측 자료를 유지보수 검토에 활용하는 사례. 검측 데이터 확보, AI 이상 분석, 현장 정비 판단은 서로 다른 기능·사업 범위.",</a:t>
            </a:r>
          </a:p>
          <a:p xmlns:a="http://schemas.openxmlformats.org/drawingml/2006/main">
            <a:r>
              <a:t>      "노선·설비 ID·검측구간을 기준으로 관측값과 과거 정비 이력을 결합하고 이상 후보를 점검자에게 제공하는 재구성. 현장 확인과 조치 후 재검측을 연결해 후보의 유효성을 확인.",</a:t>
            </a:r>
          </a:p>
          <a:p xmlns:a="http://schemas.openxmlformats.org/drawingml/2006/main">
            <a:r>
              <a:t>      "TS 철도 안전 업무에서는 기존 자동검측 장비와 추가 분석 모델을 분리해 재사용 범위를 산정할 필요. 실제 결함 정답, 설비별 탐지 편차, 정비 조치·재점검 증빙을 검수에 연결."</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"자동검측 접점",</a:t>
            </a:r>
          </a:p>
          <a:p xmlns:a="http://schemas.openxmlformats.org/drawingml/2006/main">
            <a:r>
              <a:t>          "layer": "이용 접점",</a:t>
            </a:r>
          </a:p>
          <a:p xmlns:a="http://schemas.openxmlformats.org/drawingml/2006/main">
            <a:r>
              <a:t>          "detail": "검측·시설 유지보수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"노선·설비 ID",</a:t>
            </a:r>
          </a:p>
          <a:p xmlns:a="http://schemas.openxmlformats.org/drawingml/2006/main">
            <a:r>
              <a:t>          "layer": "업무 문맥",</a:t>
            </a:r>
          </a:p>
          <a:p xmlns:a="http://schemas.openxmlformats.org/drawingml/2006/main">
            <a:r>
              <a:t>          "detail": "노선·설비 ID·검측구간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"검측·정비 조회",</a:t>
            </a:r>
          </a:p>
          <a:p xmlns:a="http://schemas.openxmlformats.org/drawingml/2006/main">
            <a:r>
              <a:t>          "layer": "자료 조회",</a:t>
            </a:r>
          </a:p>
          <a:p xmlns:a="http://schemas.openxmlformats.org/drawingml/2006/main">
            <a:r>
              <a:t>          "detail": "검측값·영상",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"이상 후보 분석",</a:t>
            </a:r>
          </a:p>
          <a:p xmlns:a="http://schemas.openxmlformats.org/drawingml/2006/main">
            <a:r>
              <a:t>          "layer": "핵심 처리",</a:t>
            </a:r>
          </a:p>
          <a:p xmlns:a="http://schemas.openxmlformats.org/drawingml/2006/main">
            <a:r>
              <a:t>          "detail": "검측 수치의 이상 후보와 추세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"결함 기준 대조",</a:t>
            </a:r>
          </a:p>
          <a:p xmlns:a="http://schemas.openxmlformats.org/drawingml/2006/main">
            <a:r>
              <a:t>          "layer": "결과 검증",</a:t>
            </a:r>
          </a:p>
          <a:p xmlns:a="http://schemas.openxmlformats.org/drawingml/2006/main">
            <a:r>
              <a:t>          "detail": "실제 결함과 검측 후보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"점검 담당 확인",</a:t>
            </a:r>
          </a:p>
          <a:p xmlns:a="http://schemas.openxmlformats.org/drawingml/2006/main">
            <a:r>
              <a:t>          "layer": "사람 확인",</a:t>
            </a:r>
          </a:p>
          <a:p xmlns:a="http://schemas.openxmlformats.org/drawingml/2006/main">
            <a:r>
              <a:t>          "detail": "검측 이상을 설비대장에 연결하고 점검 대상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"정비계획 반영",</a:t>
            </a:r>
          </a:p>
          <a:p xmlns:a="http://schemas.openxmlformats.org/drawingml/2006/main">
            <a:r>
              <a:t>          "layer": "업무 연결",</a:t>
            </a:r>
          </a:p>
          <a:p xmlns:a="http://schemas.openxmlformats.org/drawingml/2006/main">
            <a:r>
              <a:t>          "detail": "점검 담당자의 확인 후 정비계획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"조치 후 재검측",</a:t>
            </a:r>
          </a:p>
          <a:p xmlns:a="http://schemas.openxmlformats.org/drawingml/2006/main">
            <a:r>
              <a:t>          "layer": "운영 관측",</a:t>
            </a:r>
          </a:p>
          <a:p xmlns:a="http://schemas.openxmlformats.org/drawingml/2006/main">
            <a:r>
              <a:t>          "detail": "현장 확인값과 조치 후 재검측 결과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"설비·검측 자료",</a:t>
            </a:r>
          </a:p>
          <a:p xmlns:a="http://schemas.openxmlformats.org/drawingml/2006/main">
            <a:r>
              <a:t>          "layer": "데이터 원천",</a:t>
            </a:r>
          </a:p>
          <a:p xmlns:a="http://schemas.openxmlformats.org/drawingml/2006/main">
            <a:r>
              <a:t>          "detail": "검측·정비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"위치·단위 정합화",</a:t>
            </a:r>
          </a:p>
          <a:p xmlns:a="http://schemas.openxmlformats.org/drawingml/2006/main">
            <a:r>
              <a:t>          "layer": "준비·갱신",</a:t>
            </a:r>
          </a:p>
          <a:p xmlns:a="http://schemas.openxmlformats.org/drawingml/2006/main">
            <a:r>
              <a:t>          "detail": "검측값·설비대장·과거 정비 이력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"결함·정비 이력",</a:t>
            </a:r>
          </a:p>
          <a:p xmlns:a="http://schemas.openxmlformats.org/drawingml/2006/main">
            <a:r>
              <a:t>          "layer": "상태·지식 저장",</a:t>
            </a:r>
          </a:p>
          <a:p xmlns:a="http://schemas.openxmlformats.org/drawingml/2006/main">
            <a:r>
              <a:t>          "detail": "검측 원천·설비·현장 판정·재검측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"점검·판정 기준",</a:t>
            </a:r>
          </a:p>
          <a:p xmlns:a="http://schemas.openxmlformats.org/drawingml/2006/main">
            <a:r>
              <a:t>          "layer": "권한·정책",</a:t>
            </a:r>
          </a:p>
          <a:p xmlns:a="http://schemas.openxmlformats.org/drawingml/2006/main">
            <a:r>
              <a:t>          "detail": "설비 ID 불일치·센서 튐·정비 후 상태 미갱신",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"검측·영상 수집 → 이상 후보 추출 → 전문가 확인 → 정비·검사 이력"</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"검측·정비 기록",</a:t>
            </a:r>
          </a:p>
          <a:p xmlns:a="http://schemas.openxmlformats.org/drawingml/2006/main">
            <a:r>
              <a:t>          "check": "검측값·설비대장·과거 정비 이력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"검측값·설비대장·과거 정비 이력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"전문가 확인",</a:t>
            </a:r>
          </a:p>
          <a:p xmlns:a="http://schemas.openxmlformats.org/drawingml/2006/main">
            <a:r>
              <a:t>          "check": "검측 원천·설비·현장 판정·재검측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"점검·판정 기준",</a:t>
            </a:r>
          </a:p>
          <a:p xmlns:a="http://schemas.openxmlformats.org/drawingml/2006/main">
            <a:r>
              <a:t>          "check": "실제 결함과 검측 후보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"정비 기록",</a:t>
            </a:r>
          </a:p>
          <a:p xmlns:a="http://schemas.openxmlformats.org/drawingml/2006/main">
            <a:r>
              <a:t>          "check": "검측 원천·설비·현장 판정·재검측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"현장 확인값과 조치 후 재검측 결과 비교",</a:t>
            </a:r>
          </a:p>
          <a:p xmlns:a="http://schemas.openxmlformats.org/drawingml/2006/main">
            <a:r>
              <a:t>          "check": "현장 확인값과 조치 후 재검측 결과 비교"</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"철도 설비 자동검측과 유지보수 우선순위 지원 / 설비 관측·이상 탐지·정비 확인",</a:t>
            </a:r>
          </a:p>
          <a:p xmlns:a="http://schemas.openxmlformats.org/drawingml/2006/main">
            <a:r>
              <a:t>        "extension": "TS 철도 안전 점검의 설비·검사·조치 증거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"설비 ID 불일치·센서 튐·정비 후 상태 미갱신",</a:t>
            </a:r>
          </a:p>
          <a:p xmlns:a="http://schemas.openxmlformats.org/drawingml/2006/main">
            <a:r>
              <a:t>        "hold": "실제 결함과 검측 후보 대사",</a:t>
            </a:r>
          </a:p>
          <a:p xmlns:a="http://schemas.openxmlformats.org/drawingml/2006/main">
            <a:r>
              <a:t>        "recovery": "현장 확인값과 조치 후 재검측 결과 비교",</a:t>
            </a:r>
          </a:p>
          <a:p xmlns:a="http://schemas.openxmlformats.org/drawingml/2006/main">
            <a:r>
              <a:t>        "evidence": "검측 원천·설비·현장 판정·재검측 연결표"</a:t>
            </a:r>
          </a:p>
          <a:p xmlns:a="http://schemas.openxmlformats.org/drawingml/2006/main">
            <a:r>
              <a:t>      },</a:t>
            </a:r>
          </a:p>
          <a:p xmlns:a="http://schemas.openxmlformats.org/drawingml/2006/main">
            <a:r>
              <a:t>      "data": {</a:t>
            </a:r>
          </a:p>
          <a:p xmlns:a="http://schemas.openxmlformats.org/drawingml/2006/main">
            <a:r>
              <a:t>        "source": "검측·정비 기록",</a:t>
            </a:r>
          </a:p>
          <a:p xmlns:a="http://schemas.openxmlformats.org/drawingml/2006/main">
            <a:r>
              <a:t>        "prepare": "검측값·설비대장·과거 정비 이력 연결",</a:t>
            </a:r>
          </a:p>
          <a:p xmlns:a="http://schemas.openxmlformats.org/drawingml/2006/main">
            <a:r>
              <a:t>        "output": "검측값·영상",</a:t>
            </a:r>
          </a:p>
          <a:p xmlns:a="http://schemas.openxmlformats.org/drawingml/2006/main">
            <a:r>
              <a:t>        "refresh": "현장 확인값과 조치 후 재검측 결과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"AX17",</a:t>
            </a:r>
          </a:p>
          <a:p xmlns:a="http://schemas.openxmlformats.org/drawingml/2006/main">
            <a:r>
              <a:t>    "success": [</a:t>
            </a:r>
          </a:p>
          <a:p xmlns:a="http://schemas.openxmlformats.org/drawingml/2006/main">
            <a:r>
              <a:t>      "자동검측 자료의 지속 확보",</a:t>
            </a:r>
          </a:p>
          <a:p xmlns:a="http://schemas.openxmlformats.org/drawingml/2006/main">
            <a:r>
              <a:t>      "이상 후보와 정비 이력 연결"</a:t>
            </a:r>
          </a:p>
          <a:p xmlns:a="http://schemas.openxmlformats.org/drawingml/2006/main">
            <a:r>
              <a:t>    ],</a:t>
            </a:r>
          </a:p>
          <a:p xmlns:a="http://schemas.openxmlformats.org/drawingml/2006/main">
            <a:r>
              <a:t>    "risks": [</a:t>
            </a:r>
          </a:p>
          <a:p xmlns:a="http://schemas.openxmlformats.org/drawingml/2006/main">
            <a:r>
              <a:t>      "자동검측과 AI 개발 범위 혼동",</a:t>
            </a:r>
          </a:p>
          <a:p xmlns:a="http://schemas.openxmlformats.org/drawingml/2006/main">
            <a:r>
              <a:t>      "설비·노선별 탐지 편차"</a:t>
            </a:r>
          </a:p>
          <a:p xmlns:a="http://schemas.openxmlformats.org/drawingml/2006/main">
            <a:r>
              <a:t>    ],</a:t>
            </a:r>
          </a:p>
          <a:p xmlns:a="http://schemas.openxmlformats.org/drawingml/2006/main">
            <a:r>
              <a:t>    "architecture": [</a:t>
            </a:r>
          </a:p>
          <a:p xmlns:a="http://schemas.openxmlformats.org/drawingml/2006/main">
            <a:r>
              <a:t>      "검측 장비",</a:t>
            </a:r>
          </a:p>
          <a:p xmlns:a="http://schemas.openxmlformats.org/drawingml/2006/main">
            <a:r>
              <a:t>      "이상 후보 분석",</a:t>
            </a:r>
          </a:p>
          <a:p xmlns:a="http://schemas.openxmlformats.org/drawingml/2006/main">
            <a:r>
              <a:t>      "검측·정비 기록",</a:t>
            </a:r>
          </a:p>
          <a:p xmlns:a="http://schemas.openxmlformats.org/drawingml/2006/main">
            <a:r>
              <a:t>      "철도 정비 담당"</a:t>
            </a:r>
          </a:p>
          <a:p xmlns:a="http://schemas.openxmlformats.org/drawingml/2006/main">
            <a:r>
              <a:t>    ],</a:t>
            </a:r>
          </a:p>
          <a:p xmlns:a="http://schemas.openxmlformats.org/drawingml/2006/main">
            <a:r>
              <a:t>    "transfers": [</a:t>
            </a:r>
          </a:p>
          <a:p xmlns:a="http://schemas.openxmlformats.org/drawingml/2006/main">
            <a:r>
              <a:t>      "검측값·영상",</a:t>
            </a:r>
          </a:p>
          <a:p xmlns:a="http://schemas.openxmlformats.org/drawingml/2006/main">
            <a:r>
              <a:t>      "결함 후보",</a:t>
            </a:r>
          </a:p>
          <a:p xmlns:a="http://schemas.openxmlformats.org/drawingml/2006/main">
            <a:r>
              <a:t>      "전문가 확인",</a:t>
            </a:r>
          </a:p>
          <a:p xmlns:a="http://schemas.openxmlformats.org/drawingml/2006/main">
            <a:r>
              <a:t>      "정비 기록"</a:t>
            </a:r>
          </a:p>
          <a:p xmlns:a="http://schemas.openxmlformats.org/drawingml/2006/main">
            <a:r>
              <a:t>    ],</a:t>
            </a:r>
          </a:p>
          <a:p xmlns:a="http://schemas.openxmlformats.org/drawingml/2006/main">
            <a:r>
              <a:t>    "control": "실제 결함과 검측 후보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코레일 자동검측·AI 확대 · 코레일 / 2025-08-17 https://info.korail.com/info/selectBbsNttView.do?bbsNo=199&amp;key=911&amp;nttNo=25238</a:t>
            </a:r>
          </a:p>
          <a:p xmlns:a="http://schemas.openxmlformats.org/drawingml/2006/main">
            <a:r>
              <a:t>홈페이지 https://heen1987-ops.github.io/TS-business-Plan-001/index.html?view=casebook&amp;case=AX17</a:t>
            </a:r>
          </a:p>
          <a:p xmlns:a="http://schemas.openxmlformats.org/drawingml/2006/main">
            <a:r>
              <a:t>한계: 현재 검측 기능과 향후 AI 확대 구분 · 안전 감소 효과의 인과 검증 별도</a:t>
            </a:r>
          </a:p>
          <a:p xmlns:a="http://schemas.openxmlformats.org/drawingml/2006/main">
            <a:r>
              <a:t>실패 위험: 자동검측과 AI 개발 범위 혼동 / 설비·노선별 탐지 편차</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"AX17",</a:t>
            </a:r>
          </a:p>
          <a:p xmlns:a="http://schemas.openxmlformats.org/drawingml/2006/main">
            <a:r>
              <a:t>    "title": "코레일 자동검측·AI 확대",</a:t>
            </a:r>
          </a:p>
          <a:p xmlns:a="http://schemas.openxmlformats.org/drawingml/2006/main">
            <a:r>
              <a:t>    "region": "국내",</a:t>
            </a:r>
          </a:p>
          <a:p xmlns:a="http://schemas.openxmlformats.org/drawingml/2006/main">
            <a:r>
              <a:t>    "country": "대한민국",</a:t>
            </a:r>
          </a:p>
          <a:p xmlns:a="http://schemas.openxmlformats.org/drawingml/2006/main">
            <a:r>
              <a:t>    "result": "혼합",</a:t>
            </a:r>
          </a:p>
          <a:p xmlns:a="http://schemas.openxmlformats.org/drawingml/2006/main">
            <a:r>
              <a:t>    "kind": "철도 설비 자동점검",</a:t>
            </a:r>
          </a:p>
          <a:p xmlns:a="http://schemas.openxmlformats.org/drawingml/2006/main">
            <a:r>
              <a:t>    "period": "2025 운영·고도화 계획",</a:t>
            </a:r>
          </a:p>
          <a:p xmlns:a="http://schemas.openxmlformats.org/drawingml/2006/main">
            <a:r>
              <a:t>    "sources": [</a:t>
            </a:r>
          </a:p>
          <a:p xmlns:a="http://schemas.openxmlformats.org/drawingml/2006/main">
            <a:r>
              <a:t>      "S-AX17"</a:t>
            </a:r>
          </a:p>
          <a:p xmlns:a="http://schemas.openxmlformats.org/drawingml/2006/main">
            <a:r>
              <a:t>    ],</a:t>
            </a:r>
          </a:p>
          <a:p xmlns:a="http://schemas.openxmlformats.org/drawingml/2006/main">
            <a:r>
              <a:t>    "keywords": [</a:t>
            </a:r>
          </a:p>
          <a:p xmlns:a="http://schemas.openxmlformats.org/drawingml/2006/main">
            <a:r>
              <a:t>      "철도 설비 자동점검"</a:t>
            </a:r>
          </a:p>
          <a:p xmlns:a="http://schemas.openxmlformats.org/drawingml/2006/main">
            <a:r>
              <a:t>    ],</a:t>
            </a:r>
          </a:p>
          <a:p xmlns:a="http://schemas.openxmlformats.org/drawingml/2006/main">
            <a:r>
              <a:t>    "fact": "자동검측 운영을 통한 설비 이상 탐지와 AI 분석 고도화 방향 공개",</a:t>
            </a:r>
          </a:p>
          <a:p xmlns:a="http://schemas.openxmlformats.org/drawingml/2006/main">
            <a:r>
              <a:t>    "limit": "현재 검측 기능과 향후 AI 확대 구분 · 안전 감소 효과의 인과 검증 별도",</a:t>
            </a:r>
          </a:p>
          <a:p xmlns:a="http://schemas.openxmlformats.org/drawingml/2006/main">
            <a:r>
              <a:t>    "flow": [</a:t>
            </a:r>
          </a:p>
          <a:p xmlns:a="http://schemas.openxmlformats.org/drawingml/2006/main">
            <a:r>
              <a:t>      "검측·영상 수집",</a:t>
            </a:r>
          </a:p>
          <a:p xmlns:a="http://schemas.openxmlformats.org/drawingml/2006/main">
            <a:r>
              <a:t>      "이상 후보 추출",</a:t>
            </a:r>
          </a:p>
          <a:p xmlns:a="http://schemas.openxmlformats.org/drawingml/2006/main">
            <a:r>
              <a:t>      "전문가 확인",</a:t>
            </a:r>
          </a:p>
          <a:p xmlns:a="http://schemas.openxmlformats.org/drawingml/2006/main">
            <a:r>
              <a:t>      "정비·검사 이력"</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"원천 검측과 판정 근거의 일관된 인계",</a:t>
            </a:r>
          </a:p>
          <a:p xmlns:a="http://schemas.openxmlformats.org/drawingml/2006/main">
            <a:r>
              <a:t>    "local": "TS 철도 안전 점검의 설비·검사·조치 증거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"설비 ID·판정 기준·검사 시점 대사",</a:t>
            </a:r>
          </a:p>
          <a:p xmlns:a="http://schemas.openxmlformats.org/drawingml/2006/main">
            <a:r>
              <a:t>    "test": "정상·이상·판정 변경 및 미조치 자료 재현",</a:t>
            </a:r>
          </a:p>
          <a:p xmlns:a="http://schemas.openxmlformats.org/drawingml/2006/main">
            <a:r>
              <a:t>    "metric": "검사 검토시간 / 증거 누락률",</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"AX17",</a:t>
            </a:r>
          </a:p>
          <a:p xmlns:a="http://schemas.openxmlformats.org/drawingml/2006/main">
            <a:r>
              <a:t>    "canonicalId": "AX17",</a:t>
            </a:r>
          </a:p>
          <a:p xmlns:a="http://schemas.openxmlformats.org/drawingml/2006/main">
            <a:r>
              <a:t>    "purpose": "철도 설비 자동검측과 유지보수 우선순위 지원",</a:t>
            </a:r>
          </a:p>
          <a:p xmlns:a="http://schemas.openxmlformats.org/drawingml/2006/main">
            <a:r>
              <a:t>    "users": "검측·시설 유지보수 담당",</a:t>
            </a:r>
          </a:p>
          <a:p xmlns:a="http://schemas.openxmlformats.org/drawingml/2006/main">
            <a:r>
              <a:t>    "scope": [</a:t>
            </a:r>
          </a:p>
          <a:p xmlns:a="http://schemas.openxmlformats.org/drawingml/2006/main">
            <a:r>
              <a:t>      "설비 관측",</a:t>
            </a:r>
          </a:p>
          <a:p xmlns:a="http://schemas.openxmlformats.org/drawingml/2006/main">
            <a:r>
              <a:t>      "이상 탐지",</a:t>
            </a:r>
          </a:p>
          <a:p xmlns:a="http://schemas.openxmlformats.org/drawingml/2006/main">
            <a:r>
              <a:t>      "정비 확인"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"검측 장비",</a:t>
            </a:r>
          </a:p>
          <a:p xmlns:a="http://schemas.openxmlformats.org/drawingml/2006/main">
            <a:r>
              <a:t>        "detail": "노선·설비 ID·검측구간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"설비 관측 / 이상 탐지 / 정비 확인",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"이상 후보 분석",</a:t>
            </a:r>
          </a:p>
          <a:p xmlns:a="http://schemas.openxmlformats.org/drawingml/2006/main">
            <a:r>
              <a:t>        "detail": "검측 수치의 이상 후보와 추세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"철도 정비 담당",</a:t>
            </a:r>
          </a:p>
          <a:p xmlns:a="http://schemas.openxmlformats.org/drawingml/2006/main">
            <a:r>
              <a:t>        "detail": "점검 담당자의 확인 후 정비계획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"검측·정비 기록",</a:t>
            </a:r>
          </a:p>
          <a:p xmlns:a="http://schemas.openxmlformats.org/drawingml/2006/main">
            <a:r>
              <a:t>        "detail": "검측값·설비대장·과거 정비 이력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"현장 확인값과 조치 후 재검측 결과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"검측·영상 수집",</a:t>
            </a:r>
          </a:p>
          <a:p xmlns:a="http://schemas.openxmlformats.org/drawingml/2006/main">
            <a:r>
              <a:t>        "input": "노선·설비 ID·검측구간 식별",</a:t>
            </a:r>
          </a:p>
          <a:p xmlns:a="http://schemas.openxmlformats.org/drawingml/2006/main">
            <a:r>
              <a:t>        "process": "검측값·설비대장·과거 정비 이력 연결",</a:t>
            </a:r>
          </a:p>
          <a:p xmlns:a="http://schemas.openxmlformats.org/drawingml/2006/main">
            <a:r>
              <a:t>        "output": "검측값·영상"</a:t>
            </a:r>
          </a:p>
          <a:p xmlns:a="http://schemas.openxmlformats.org/drawingml/2006/main">
            <a:r>
              <a:t>      },</a:t>
            </a:r>
          </a:p>
          <a:p xmlns:a="http://schemas.openxmlformats.org/drawingml/2006/main">
            <a:r>
              <a:t>      {</a:t>
            </a:r>
          </a:p>
          <a:p xmlns:a="http://schemas.openxmlformats.org/drawingml/2006/main">
            <a:r>
              <a:t>        "title": "이상 후보 추출",</a:t>
            </a:r>
          </a:p>
          <a:p xmlns:a="http://schemas.openxmlformats.org/drawingml/2006/main">
            <a:r>
              <a:t>        "input": "검측값·영상",</a:t>
            </a:r>
          </a:p>
          <a:p xmlns:a="http://schemas.openxmlformats.org/drawingml/2006/main">
            <a:r>
              <a:t>        "process": "검측 수치의 이상 후보와 추세 분석",</a:t>
            </a:r>
          </a:p>
          <a:p xmlns:a="http://schemas.openxmlformats.org/drawingml/2006/main">
            <a:r>
              <a:t>        "output": "결함 후보"</a:t>
            </a:r>
          </a:p>
          <a:p xmlns:a="http://schemas.openxmlformats.org/drawingml/2006/main">
            <a:r>
              <a:t>      },</a:t>
            </a:r>
          </a:p>
          <a:p xmlns:a="http://schemas.openxmlformats.org/drawingml/2006/main">
            <a:r>
              <a:t>      {</a:t>
            </a:r>
          </a:p>
          <a:p xmlns:a="http://schemas.openxmlformats.org/drawingml/2006/main">
            <a:r>
              <a:t>        "title": "전문가 확인",</a:t>
            </a:r>
          </a:p>
          <a:p xmlns:a="http://schemas.openxmlformats.org/drawingml/2006/main">
            <a:r>
              <a:t>        "input": "결함 후보",</a:t>
            </a:r>
          </a:p>
          <a:p xmlns:a="http://schemas.openxmlformats.org/drawingml/2006/main">
            <a:r>
              <a:t>        "process": "실제 결함과 검측 후보 대사",</a:t>
            </a:r>
          </a:p>
          <a:p xmlns:a="http://schemas.openxmlformats.org/drawingml/2006/main">
            <a:r>
              <a:t>        "output": "전문가 확인"</a:t>
            </a:r>
          </a:p>
          <a:p xmlns:a="http://schemas.openxmlformats.org/drawingml/2006/main">
            <a:r>
              <a:t>      },</a:t>
            </a:r>
          </a:p>
          <a:p xmlns:a="http://schemas.openxmlformats.org/drawingml/2006/main">
            <a:r>
              <a:t>      {</a:t>
            </a:r>
          </a:p>
          <a:p xmlns:a="http://schemas.openxmlformats.org/drawingml/2006/main">
            <a:r>
              <a:t>        "title": "정비·검사 이력",</a:t>
            </a:r>
          </a:p>
          <a:p xmlns:a="http://schemas.openxmlformats.org/drawingml/2006/main">
            <a:r>
              <a:t>        "input": "전문가 확인",</a:t>
            </a:r>
          </a:p>
          <a:p xmlns:a="http://schemas.openxmlformats.org/drawingml/2006/main">
            <a:r>
              <a:t>        "process": "점검 담당자의 확인 후 정비계획 반영",</a:t>
            </a:r>
          </a:p>
          <a:p xmlns:a="http://schemas.openxmlformats.org/drawingml/2006/main">
            <a:r>
              <a:t>        "output": "정비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"검측 이상을 설비대장에 연결하고 점검 대상 선정",</a:t>
            </a:r>
          </a:p>
          <a:p xmlns:a="http://schemas.openxmlformats.org/drawingml/2006/main">
            <a:r>
              <a:t>      "exception": "설비 ID 불일치·센서 튐·정비 후 상태 미갱신",</a:t>
            </a:r>
          </a:p>
          <a:p xmlns:a="http://schemas.openxmlformats.org/drawingml/2006/main">
            <a:r>
              <a:t>      "evidence": "검측 원천·설비·현장 판정·재검측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"검측·시설 유지보수 담당",</a:t>
            </a:r>
          </a:p>
          <a:p xmlns:a="http://schemas.openxmlformats.org/drawingml/2006/main">
            <a:r>
              <a:t>          "processing": "노선·설비 ID·검측구간 식별",</a:t>
            </a:r>
          </a:p>
          <a:p xmlns:a="http://schemas.openxmlformats.org/drawingml/2006/main">
            <a:r>
              <a:t>          "output": "검측값·영상"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"검측·정비 기록",</a:t>
            </a:r>
          </a:p>
          <a:p xmlns:a="http://schemas.openxmlformats.org/drawingml/2006/main">
            <a:r>
              <a:t>          "processing": "검측값·설비대장·과거 정비 이력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"검측값·영상",</a:t>
            </a:r>
          </a:p>
          <a:p xmlns:a="http://schemas.openxmlformats.org/drawingml/2006/main">
            <a:r>
              <a:t>          "processing": "검측 수치의 이상 후보와 추세 분석",</a:t>
            </a:r>
          </a:p>
          <a:p xmlns:a="http://schemas.openxmlformats.org/drawingml/2006/main">
            <a:r>
              <a:t>          "output": "전문가 확인"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"전문가 확인",</a:t>
            </a:r>
          </a:p>
          <a:p xmlns:a="http://schemas.openxmlformats.org/drawingml/2006/main">
            <a:r>
              <a:t>          "processing": "점검 담당자의 확인 후 정비계획 반영",</a:t>
            </a:r>
          </a:p>
          <a:p xmlns:a="http://schemas.openxmlformats.org/drawingml/2006/main">
            <a:r>
              <a:t>          "output": "정비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"현장 확인값과 조치 후 재검측 결과 비교",</a:t>
            </a:r>
          </a:p>
          <a:p xmlns:a="http://schemas.openxmlformats.org/drawingml/2006/main">
            <a:r>
              <a:t>          "output": "검측 원천·설비·현장 판정·재검측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"현장 확인값과 조치 후 재검측 결과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"S-AX17",</a:t>
            </a:r>
          </a:p>
          <a:p xmlns:a="http://schemas.openxmlformats.org/drawingml/2006/main">
            <a:r>
              <a:t>        "title": "코레일 자동검측·AI 확대 · 코레일 / 2025-08-17",</a:t>
            </a:r>
          </a:p>
          <a:p xmlns:a="http://schemas.openxmlformats.org/drawingml/2006/main">
            <a:r>
              <a:t>        "url": "https://info.korail.com/info/selectBbsNttView.do?bbsNo=199&amp;key=911&amp;nttNo=25238",</a:t>
            </a:r>
          </a:p>
          <a:p xmlns:a="http://schemas.openxmlformats.org/drawingml/2006/main">
            <a:r>
              <a:t>        "published": "2025 운영·고도화 계획",</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"원천 검측과 판정 근거의 일관된 인계",</a:t>
            </a:r>
          </a:p>
          <a:p xmlns:a="http://schemas.openxmlformats.org/drawingml/2006/main">
            <a:r>
              <a:t>    "local": "TS 철도 안전 점검의 설비·검사·조치 증거 연결",</a:t>
            </a:r>
          </a:p>
          <a:p xmlns:a="http://schemas.openxmlformats.org/drawingml/2006/main">
            <a:r>
              <a:t>    "sourceDetail": null,</a:t>
            </a:r>
          </a:p>
          <a:p xmlns:a="http://schemas.openxmlformats.org/drawingml/2006/main">
            <a:r>
              <a:t>    "narrative": [</a:t>
            </a:r>
          </a:p>
          <a:p xmlns:a="http://schemas.openxmlformats.org/drawingml/2006/main">
            <a:r>
              <a:t>      "철도 설비의 자동검측 자료를 유지보수 검토에 활용하는 사례. 검측 데이터 확보, AI 이상 분석, 현장 정비 판단은 서로 다른 기능·사업 범위.",</a:t>
            </a:r>
          </a:p>
          <a:p xmlns:a="http://schemas.openxmlformats.org/drawingml/2006/main">
            <a:r>
              <a:t>      "노선·설비 ID·검측구간을 기준으로 관측값과 과거 정비 이력을 결합하고 이상 후보를 점검자에게 제공하는 재구성. 현장 확인과 조치 후 재검측을 연결해 후보의 유효성을 확인.",</a:t>
            </a:r>
          </a:p>
          <a:p xmlns:a="http://schemas.openxmlformats.org/drawingml/2006/main">
            <a:r>
              <a:t>      "TS 철도 안전 업무에서는 기존 자동검측 장비와 추가 분석 모델을 분리해 재사용 범위를 산정할 필요. 실제 결함 정답, 설비별 탐지 편차, 정비 조치·재점검 증빙을 검수에 연결."</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"자동검측 접점",</a:t>
            </a:r>
          </a:p>
          <a:p xmlns:a="http://schemas.openxmlformats.org/drawingml/2006/main">
            <a:r>
              <a:t>          "layer": "이용 접점",</a:t>
            </a:r>
          </a:p>
          <a:p xmlns:a="http://schemas.openxmlformats.org/drawingml/2006/main">
            <a:r>
              <a:t>          "detail": "검측·시설 유지보수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"노선·설비 ID",</a:t>
            </a:r>
          </a:p>
          <a:p xmlns:a="http://schemas.openxmlformats.org/drawingml/2006/main">
            <a:r>
              <a:t>          "layer": "업무 문맥",</a:t>
            </a:r>
          </a:p>
          <a:p xmlns:a="http://schemas.openxmlformats.org/drawingml/2006/main">
            <a:r>
              <a:t>          "detail": "노선·설비 ID·검측구간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"검측·정비 조회",</a:t>
            </a:r>
          </a:p>
          <a:p xmlns:a="http://schemas.openxmlformats.org/drawingml/2006/main">
            <a:r>
              <a:t>          "layer": "자료 조회",</a:t>
            </a:r>
          </a:p>
          <a:p xmlns:a="http://schemas.openxmlformats.org/drawingml/2006/main">
            <a:r>
              <a:t>          "detail": "검측값·영상",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"이상 후보 분석",</a:t>
            </a:r>
          </a:p>
          <a:p xmlns:a="http://schemas.openxmlformats.org/drawingml/2006/main">
            <a:r>
              <a:t>          "layer": "핵심 처리",</a:t>
            </a:r>
          </a:p>
          <a:p xmlns:a="http://schemas.openxmlformats.org/drawingml/2006/main">
            <a:r>
              <a:t>          "detail": "검측 수치의 이상 후보와 추세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"결함 기준 대조",</a:t>
            </a:r>
          </a:p>
          <a:p xmlns:a="http://schemas.openxmlformats.org/drawingml/2006/main">
            <a:r>
              <a:t>          "layer": "결과 검증",</a:t>
            </a:r>
          </a:p>
          <a:p xmlns:a="http://schemas.openxmlformats.org/drawingml/2006/main">
            <a:r>
              <a:t>          "detail": "실제 결함과 검측 후보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"점검 담당 확인",</a:t>
            </a:r>
          </a:p>
          <a:p xmlns:a="http://schemas.openxmlformats.org/drawingml/2006/main">
            <a:r>
              <a:t>          "layer": "사람 확인",</a:t>
            </a:r>
          </a:p>
          <a:p xmlns:a="http://schemas.openxmlformats.org/drawingml/2006/main">
            <a:r>
              <a:t>          "detail": "검측 이상을 설비대장에 연결하고 점검 대상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"정비계획 반영",</a:t>
            </a:r>
          </a:p>
          <a:p xmlns:a="http://schemas.openxmlformats.org/drawingml/2006/main">
            <a:r>
              <a:t>          "layer": "업무 연결",</a:t>
            </a:r>
          </a:p>
          <a:p xmlns:a="http://schemas.openxmlformats.org/drawingml/2006/main">
            <a:r>
              <a:t>          "detail": "점검 담당자의 확인 후 정비계획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"조치 후 재검측",</a:t>
            </a:r>
          </a:p>
          <a:p xmlns:a="http://schemas.openxmlformats.org/drawingml/2006/main">
            <a:r>
              <a:t>          "layer": "운영 관측",</a:t>
            </a:r>
          </a:p>
          <a:p xmlns:a="http://schemas.openxmlformats.org/drawingml/2006/main">
            <a:r>
              <a:t>          "detail": "현장 확인값과 조치 후 재검측 결과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"설비·검측 자료",</a:t>
            </a:r>
          </a:p>
          <a:p xmlns:a="http://schemas.openxmlformats.org/drawingml/2006/main">
            <a:r>
              <a:t>          "layer": "데이터 원천",</a:t>
            </a:r>
          </a:p>
          <a:p xmlns:a="http://schemas.openxmlformats.org/drawingml/2006/main">
            <a:r>
              <a:t>          "detail": "검측·정비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"위치·단위 정합화",</a:t>
            </a:r>
          </a:p>
          <a:p xmlns:a="http://schemas.openxmlformats.org/drawingml/2006/main">
            <a:r>
              <a:t>          "layer": "준비·갱신",</a:t>
            </a:r>
          </a:p>
          <a:p xmlns:a="http://schemas.openxmlformats.org/drawingml/2006/main">
            <a:r>
              <a:t>          "detail": "검측값·설비대장·과거 정비 이력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"결함·정비 이력",</a:t>
            </a:r>
          </a:p>
          <a:p xmlns:a="http://schemas.openxmlformats.org/drawingml/2006/main">
            <a:r>
              <a:t>          "layer": "상태·지식 저장",</a:t>
            </a:r>
          </a:p>
          <a:p xmlns:a="http://schemas.openxmlformats.org/drawingml/2006/main">
            <a:r>
              <a:t>          "detail": "검측 원천·설비·현장 판정·재검측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"점검·판정 기준",</a:t>
            </a:r>
          </a:p>
          <a:p xmlns:a="http://schemas.openxmlformats.org/drawingml/2006/main">
            <a:r>
              <a:t>          "layer": "권한·정책",</a:t>
            </a:r>
          </a:p>
          <a:p xmlns:a="http://schemas.openxmlformats.org/drawingml/2006/main">
            <a:r>
              <a:t>          "detail": "설비 ID 불일치·센서 튐·정비 후 상태 미갱신",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"검측·영상 수집 → 이상 후보 추출 → 전문가 확인 → 정비·검사 이력"</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"검측·정비 기록",</a:t>
            </a:r>
          </a:p>
          <a:p xmlns:a="http://schemas.openxmlformats.org/drawingml/2006/main">
            <a:r>
              <a:t>          "check": "검측값·설비대장·과거 정비 이력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"검측값·설비대장·과거 정비 이력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"전문가 확인",</a:t>
            </a:r>
          </a:p>
          <a:p xmlns:a="http://schemas.openxmlformats.org/drawingml/2006/main">
            <a:r>
              <a:t>          "check": "검측 원천·설비·현장 판정·재검측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"점검·판정 기준",</a:t>
            </a:r>
          </a:p>
          <a:p xmlns:a="http://schemas.openxmlformats.org/drawingml/2006/main">
            <a:r>
              <a:t>          "check": "실제 결함과 검측 후보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"정비 기록",</a:t>
            </a:r>
          </a:p>
          <a:p xmlns:a="http://schemas.openxmlformats.org/drawingml/2006/main">
            <a:r>
              <a:t>          "check": "검측 원천·설비·현장 판정·재검측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"현장 확인값과 조치 후 재검측 결과 비교",</a:t>
            </a:r>
          </a:p>
          <a:p xmlns:a="http://schemas.openxmlformats.org/drawingml/2006/main">
            <a:r>
              <a:t>          "check": "현장 확인값과 조치 후 재검측 결과 비교"</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"철도 설비 자동검측과 유지보수 우선순위 지원 / 설비 관측·이상 탐지·정비 확인",</a:t>
            </a:r>
          </a:p>
          <a:p xmlns:a="http://schemas.openxmlformats.org/drawingml/2006/main">
            <a:r>
              <a:t>        "extension": "TS 철도 안전 점검의 설비·검사·조치 증거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"설비 ID 불일치·센서 튐·정비 후 상태 미갱신",</a:t>
            </a:r>
          </a:p>
          <a:p xmlns:a="http://schemas.openxmlformats.org/drawingml/2006/main">
            <a:r>
              <a:t>        "hold": "실제 결함과 검측 후보 대사",</a:t>
            </a:r>
          </a:p>
          <a:p xmlns:a="http://schemas.openxmlformats.org/drawingml/2006/main">
            <a:r>
              <a:t>        "recovery": "현장 확인값과 조치 후 재검측 결과 비교",</a:t>
            </a:r>
          </a:p>
          <a:p xmlns:a="http://schemas.openxmlformats.org/drawingml/2006/main">
            <a:r>
              <a:t>        "evidence": "검측 원천·설비·현장 판정·재검측 연결표"</a:t>
            </a:r>
          </a:p>
          <a:p xmlns:a="http://schemas.openxmlformats.org/drawingml/2006/main">
            <a:r>
              <a:t>      },</a:t>
            </a:r>
          </a:p>
          <a:p xmlns:a="http://schemas.openxmlformats.org/drawingml/2006/main">
            <a:r>
              <a:t>      "data": {</a:t>
            </a:r>
          </a:p>
          <a:p xmlns:a="http://schemas.openxmlformats.org/drawingml/2006/main">
            <a:r>
              <a:t>        "source": "검측·정비 기록",</a:t>
            </a:r>
          </a:p>
          <a:p xmlns:a="http://schemas.openxmlformats.org/drawingml/2006/main">
            <a:r>
              <a:t>        "prepare": "검측값·설비대장·과거 정비 이력 연결",</a:t>
            </a:r>
          </a:p>
          <a:p xmlns:a="http://schemas.openxmlformats.org/drawingml/2006/main">
            <a:r>
              <a:t>        "output": "검측값·영상",</a:t>
            </a:r>
          </a:p>
          <a:p xmlns:a="http://schemas.openxmlformats.org/drawingml/2006/main">
            <a:r>
              <a:t>        "refresh": "현장 확인값과 조치 후 재검측 결과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"AX17",</a:t>
            </a:r>
          </a:p>
          <a:p xmlns:a="http://schemas.openxmlformats.org/drawingml/2006/main">
            <a:r>
              <a:t>    "success": [</a:t>
            </a:r>
          </a:p>
          <a:p xmlns:a="http://schemas.openxmlformats.org/drawingml/2006/main">
            <a:r>
              <a:t>      "자동검측 자료의 지속 확보",</a:t>
            </a:r>
          </a:p>
          <a:p xmlns:a="http://schemas.openxmlformats.org/drawingml/2006/main">
            <a:r>
              <a:t>      "이상 후보와 정비 이력 연결"</a:t>
            </a:r>
          </a:p>
          <a:p xmlns:a="http://schemas.openxmlformats.org/drawingml/2006/main">
            <a:r>
              <a:t>    ],</a:t>
            </a:r>
          </a:p>
          <a:p xmlns:a="http://schemas.openxmlformats.org/drawingml/2006/main">
            <a:r>
              <a:t>    "risks": [</a:t>
            </a:r>
          </a:p>
          <a:p xmlns:a="http://schemas.openxmlformats.org/drawingml/2006/main">
            <a:r>
              <a:t>      "자동검측과 AI 개발 범위 혼동",</a:t>
            </a:r>
          </a:p>
          <a:p xmlns:a="http://schemas.openxmlformats.org/drawingml/2006/main">
            <a:r>
              <a:t>      "설비·노선별 탐지 편차"</a:t>
            </a:r>
          </a:p>
          <a:p xmlns:a="http://schemas.openxmlformats.org/drawingml/2006/main">
            <a:r>
              <a:t>    ],</a:t>
            </a:r>
          </a:p>
          <a:p xmlns:a="http://schemas.openxmlformats.org/drawingml/2006/main">
            <a:r>
              <a:t>    "architecture": [</a:t>
            </a:r>
          </a:p>
          <a:p xmlns:a="http://schemas.openxmlformats.org/drawingml/2006/main">
            <a:r>
              <a:t>      "검측 장비",</a:t>
            </a:r>
          </a:p>
          <a:p xmlns:a="http://schemas.openxmlformats.org/drawingml/2006/main">
            <a:r>
              <a:t>      "이상 후보 분석",</a:t>
            </a:r>
          </a:p>
          <a:p xmlns:a="http://schemas.openxmlformats.org/drawingml/2006/main">
            <a:r>
              <a:t>      "검측·정비 기록",</a:t>
            </a:r>
          </a:p>
          <a:p xmlns:a="http://schemas.openxmlformats.org/drawingml/2006/main">
            <a:r>
              <a:t>      "철도 정비 담당"</a:t>
            </a:r>
          </a:p>
          <a:p xmlns:a="http://schemas.openxmlformats.org/drawingml/2006/main">
            <a:r>
              <a:t>    ],</a:t>
            </a:r>
          </a:p>
          <a:p xmlns:a="http://schemas.openxmlformats.org/drawingml/2006/main">
            <a:r>
              <a:t>    "transfers": [</a:t>
            </a:r>
          </a:p>
          <a:p xmlns:a="http://schemas.openxmlformats.org/drawingml/2006/main">
            <a:r>
              <a:t>      "검측값·영상",</a:t>
            </a:r>
          </a:p>
          <a:p xmlns:a="http://schemas.openxmlformats.org/drawingml/2006/main">
            <a:r>
              <a:t>      "결함 후보",</a:t>
            </a:r>
          </a:p>
          <a:p xmlns:a="http://schemas.openxmlformats.org/drawingml/2006/main">
            <a:r>
              <a:t>      "전문가 확인",</a:t>
            </a:r>
          </a:p>
          <a:p xmlns:a="http://schemas.openxmlformats.org/drawingml/2006/main">
            <a:r>
              <a:t>      "정비 기록"</a:t>
            </a:r>
          </a:p>
          <a:p xmlns:a="http://schemas.openxmlformats.org/drawingml/2006/main">
            <a:r>
              <a:t>    ],</a:t>
            </a:r>
          </a:p>
          <a:p xmlns:a="http://schemas.openxmlformats.org/drawingml/2006/main">
            <a:r>
              <a:t>    "control": "실제 결함과 검측 후보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코레일 자동검측·AI 확대 · 코레일 / 2025-08-17 https://info.korail.com/info/selectBbsNttView.do?bbsNo=199&amp;key=911&amp;nttNo=25238</a:t>
            </a:r>
          </a:p>
          <a:p xmlns:a="http://schemas.openxmlformats.org/drawingml/2006/main">
            <a:r>
              <a:t>홈페이지 https://heen1987-ops.github.io/TS-business-Plan-001/index.html?view=casebook&amp;case=AX17</a:t>
            </a:r>
          </a:p>
          <a:p xmlns:a="http://schemas.openxmlformats.org/drawingml/2006/main">
            <a:r>
              <a:t>성과 대조</a:t>
            </a:r>
          </a:p>
          <a:p xmlns:a="http://schemas.openxmlformats.org/drawingml/2006/main">
            <a:r>
              <a:t>{</a:t>
            </a:r>
          </a:p>
          <a:p xmlns:a="http://schemas.openxmlformats.org/drawingml/2006/main">
            <a:r>
              <a:t>  "caseId": "AX17",</a:t>
            </a:r>
          </a:p>
          <a:p xmlns:a="http://schemas.openxmlformats.org/drawingml/2006/main">
            <a:r>
              <a:t>  "asIs": "철도 설비의 인력 점검과 검측 결과 판독·정비 우선순위 판단에 시간 소요",</a:t>
            </a:r>
          </a:p>
          <a:p xmlns:a="http://schemas.openxmlformats.org/drawingml/2006/main">
            <a:r>
              <a:t>  "toBe": "자동검측 데이터를 이상 후보 추출에 활용하고 향후 AI 분석으로 점검·정비 지원 확대",</a:t>
            </a:r>
          </a:p>
          <a:p xmlns:a="http://schemas.openxmlformats.org/drawingml/2006/main">
            <a:r>
              <a:t>  "expectedEffect": "결함 조기 발견과 정비 효율·안전성 향상",</a:t>
            </a:r>
          </a:p>
          <a:p xmlns:a="http://schemas.openxmlformats.org/drawingml/2006/main">
            <a:r>
              <a:t>  "observed": "코레일이 자동검측 열차 운영과 2025년 상반기 까치집 180여 건 탐지·제거를 발표; 검측자료 AI 종합분석·예지정비는 고도화 계획",</a:t>
            </a:r>
          </a:p>
          <a:p xmlns:a="http://schemas.openxmlformats.org/drawingml/2006/main">
            <a:r>
              <a:t>  "verdict": "부분 성과",</a:t>
            </a:r>
          </a:p>
          <a:p xmlns:a="http://schemas.openxmlformats.org/drawingml/2006/main">
            <a:r>
              <a:t>  "verdictReason": "자동검측의 현장 탐지·조치 실적은 확인; 계획된 AI 분석의 성과와 사고 감소는 별도 확인 필요",</a:t>
            </a:r>
          </a:p>
          <a:p xmlns:a="http://schemas.openxmlformats.org/drawingml/2006/main">
            <a:r>
              <a:t>  "limits": "기존 자동검측 실적을 장래 AI 고도화 실적으로 합산하지 않음",</a:t>
            </a:r>
          </a:p>
          <a:p xmlns:a="http://schemas.openxmlformats.org/drawingml/2006/main">
            <a:r>
              <a:t>  "metric": "2025년 상반기 까치집 180여 건 탐지·제거: 코레일 공식 발표",</a:t>
            </a:r>
          </a:p>
          <a:p xmlns:a="http://schemas.openxmlformats.org/drawingml/2006/main">
            <a:r>
              <a:t>  "evidenceStage": "운영 중 검측과 AI 향후 계획 혼재",</a:t>
            </a:r>
          </a:p>
          <a:p xmlns:a="http://schemas.openxmlformats.org/drawingml/2006/main">
            <a:r>
              <a:t>  "sourceUrl": "https://info.korail.com/info/selectBbsNttView.do?bbsNo=199&amp;key=911&amp;nttNo=25238"</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"AX17",</a:t>
            </a:r>
          </a:p>
          <a:p xmlns:a="http://schemas.openxmlformats.org/drawingml/2006/main">
            <a:r>
              <a:t>    "title": "코레일 자동검측·AI 확대",</a:t>
            </a:r>
          </a:p>
          <a:p xmlns:a="http://schemas.openxmlformats.org/drawingml/2006/main">
            <a:r>
              <a:t>    "region": "국내",</a:t>
            </a:r>
          </a:p>
          <a:p xmlns:a="http://schemas.openxmlformats.org/drawingml/2006/main">
            <a:r>
              <a:t>    "country": "대한민국",</a:t>
            </a:r>
          </a:p>
          <a:p xmlns:a="http://schemas.openxmlformats.org/drawingml/2006/main">
            <a:r>
              <a:t>    "result": "혼합",</a:t>
            </a:r>
          </a:p>
          <a:p xmlns:a="http://schemas.openxmlformats.org/drawingml/2006/main">
            <a:r>
              <a:t>    "kind": "철도 설비 자동점검",</a:t>
            </a:r>
          </a:p>
          <a:p xmlns:a="http://schemas.openxmlformats.org/drawingml/2006/main">
            <a:r>
              <a:t>    "period": "2025 운영·고도화 계획",</a:t>
            </a:r>
          </a:p>
          <a:p xmlns:a="http://schemas.openxmlformats.org/drawingml/2006/main">
            <a:r>
              <a:t>    "sources": [</a:t>
            </a:r>
          </a:p>
          <a:p xmlns:a="http://schemas.openxmlformats.org/drawingml/2006/main">
            <a:r>
              <a:t>      "S-AX17"</a:t>
            </a:r>
          </a:p>
          <a:p xmlns:a="http://schemas.openxmlformats.org/drawingml/2006/main">
            <a:r>
              <a:t>    ],</a:t>
            </a:r>
          </a:p>
          <a:p xmlns:a="http://schemas.openxmlformats.org/drawingml/2006/main">
            <a:r>
              <a:t>    "keywords": [</a:t>
            </a:r>
          </a:p>
          <a:p xmlns:a="http://schemas.openxmlformats.org/drawingml/2006/main">
            <a:r>
              <a:t>      "철도 설비 자동점검"</a:t>
            </a:r>
          </a:p>
          <a:p xmlns:a="http://schemas.openxmlformats.org/drawingml/2006/main">
            <a:r>
              <a:t>    ],</a:t>
            </a:r>
          </a:p>
          <a:p xmlns:a="http://schemas.openxmlformats.org/drawingml/2006/main">
            <a:r>
              <a:t>    "fact": "자동검측 운영을 통한 설비 이상 탐지와 AI 분석 고도화 방향 공개",</a:t>
            </a:r>
          </a:p>
          <a:p xmlns:a="http://schemas.openxmlformats.org/drawingml/2006/main">
            <a:r>
              <a:t>    "limit": "현재 검측 기능과 향후 AI 확대 구분 · 안전 감소 효과의 인과 검증 별도",</a:t>
            </a:r>
          </a:p>
          <a:p xmlns:a="http://schemas.openxmlformats.org/drawingml/2006/main">
            <a:r>
              <a:t>    "flow": [</a:t>
            </a:r>
          </a:p>
          <a:p xmlns:a="http://schemas.openxmlformats.org/drawingml/2006/main">
            <a:r>
              <a:t>      "검측·영상 수집",</a:t>
            </a:r>
          </a:p>
          <a:p xmlns:a="http://schemas.openxmlformats.org/drawingml/2006/main">
            <a:r>
              <a:t>      "이상 후보 추출",</a:t>
            </a:r>
          </a:p>
          <a:p xmlns:a="http://schemas.openxmlformats.org/drawingml/2006/main">
            <a:r>
              <a:t>      "전문가 확인",</a:t>
            </a:r>
          </a:p>
          <a:p xmlns:a="http://schemas.openxmlformats.org/drawingml/2006/main">
            <a:r>
              <a:t>      "정비·검사 이력"</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"원천 검측과 판정 근거의 일관된 인계",</a:t>
            </a:r>
          </a:p>
          <a:p xmlns:a="http://schemas.openxmlformats.org/drawingml/2006/main">
            <a:r>
              <a:t>    "local": "TS 철도 안전 점검의 설비·검사·조치 증거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"설비 ID·판정 기준·검사 시점 대사",</a:t>
            </a:r>
          </a:p>
          <a:p xmlns:a="http://schemas.openxmlformats.org/drawingml/2006/main">
            <a:r>
              <a:t>    "test": "정상·이상·판정 변경 및 미조치 자료 재현",</a:t>
            </a:r>
          </a:p>
          <a:p xmlns:a="http://schemas.openxmlformats.org/drawingml/2006/main">
            <a:r>
              <a:t>    "metric": "검사 검토시간 / 증거 누락률",</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"AX17",</a:t>
            </a:r>
          </a:p>
          <a:p xmlns:a="http://schemas.openxmlformats.org/drawingml/2006/main">
            <a:r>
              <a:t>    "canonicalId": "AX17",</a:t>
            </a:r>
          </a:p>
          <a:p xmlns:a="http://schemas.openxmlformats.org/drawingml/2006/main">
            <a:r>
              <a:t>    "purpose": "철도 설비 자동검측과 유지보수 우선순위 지원",</a:t>
            </a:r>
          </a:p>
          <a:p xmlns:a="http://schemas.openxmlformats.org/drawingml/2006/main">
            <a:r>
              <a:t>    "users": "검측·시설 유지보수 담당",</a:t>
            </a:r>
          </a:p>
          <a:p xmlns:a="http://schemas.openxmlformats.org/drawingml/2006/main">
            <a:r>
              <a:t>    "scope": [</a:t>
            </a:r>
          </a:p>
          <a:p xmlns:a="http://schemas.openxmlformats.org/drawingml/2006/main">
            <a:r>
              <a:t>      "설비 관측",</a:t>
            </a:r>
          </a:p>
          <a:p xmlns:a="http://schemas.openxmlformats.org/drawingml/2006/main">
            <a:r>
              <a:t>      "이상 탐지",</a:t>
            </a:r>
          </a:p>
          <a:p xmlns:a="http://schemas.openxmlformats.org/drawingml/2006/main">
            <a:r>
              <a:t>      "정비 확인"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"검측 장비",</a:t>
            </a:r>
          </a:p>
          <a:p xmlns:a="http://schemas.openxmlformats.org/drawingml/2006/main">
            <a:r>
              <a:t>        "detail": "노선·설비 ID·검측구간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"설비 관측 / 이상 탐지 / 정비 확인",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"이상 후보 분석",</a:t>
            </a:r>
          </a:p>
          <a:p xmlns:a="http://schemas.openxmlformats.org/drawingml/2006/main">
            <a:r>
              <a:t>        "detail": "검측 수치의 이상 후보와 추세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"철도 정비 담당",</a:t>
            </a:r>
          </a:p>
          <a:p xmlns:a="http://schemas.openxmlformats.org/drawingml/2006/main">
            <a:r>
              <a:t>        "detail": "점검 담당자의 확인 후 정비계획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"검측·정비 기록",</a:t>
            </a:r>
          </a:p>
          <a:p xmlns:a="http://schemas.openxmlformats.org/drawingml/2006/main">
            <a:r>
              <a:t>        "detail": "검측값·설비대장·과거 정비 이력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"현장 확인값과 조치 후 재검측 결과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"검측·영상 수집",</a:t>
            </a:r>
          </a:p>
          <a:p xmlns:a="http://schemas.openxmlformats.org/drawingml/2006/main">
            <a:r>
              <a:t>        "input": "노선·설비 ID·검측구간 식별",</a:t>
            </a:r>
          </a:p>
          <a:p xmlns:a="http://schemas.openxmlformats.org/drawingml/2006/main">
            <a:r>
              <a:t>        "process": "검측값·설비대장·과거 정비 이력 연결",</a:t>
            </a:r>
          </a:p>
          <a:p xmlns:a="http://schemas.openxmlformats.org/drawingml/2006/main">
            <a:r>
              <a:t>        "output": "검측값·영상"</a:t>
            </a:r>
          </a:p>
          <a:p xmlns:a="http://schemas.openxmlformats.org/drawingml/2006/main">
            <a:r>
              <a:t>      },</a:t>
            </a:r>
          </a:p>
          <a:p xmlns:a="http://schemas.openxmlformats.org/drawingml/2006/main">
            <a:r>
              <a:t>      {</a:t>
            </a:r>
          </a:p>
          <a:p xmlns:a="http://schemas.openxmlformats.org/drawingml/2006/main">
            <a:r>
              <a:t>        "title": "이상 후보 추출",</a:t>
            </a:r>
          </a:p>
          <a:p xmlns:a="http://schemas.openxmlformats.org/drawingml/2006/main">
            <a:r>
              <a:t>        "input": "검측값·영상",</a:t>
            </a:r>
          </a:p>
          <a:p xmlns:a="http://schemas.openxmlformats.org/drawingml/2006/main">
            <a:r>
              <a:t>        "process": "검측 수치의 이상 후보와 추세 분석",</a:t>
            </a:r>
          </a:p>
          <a:p xmlns:a="http://schemas.openxmlformats.org/drawingml/2006/main">
            <a:r>
              <a:t>        "output": "결함 후보"</a:t>
            </a:r>
          </a:p>
          <a:p xmlns:a="http://schemas.openxmlformats.org/drawingml/2006/main">
            <a:r>
              <a:t>      },</a:t>
            </a:r>
          </a:p>
          <a:p xmlns:a="http://schemas.openxmlformats.org/drawingml/2006/main">
            <a:r>
              <a:t>      {</a:t>
            </a:r>
          </a:p>
          <a:p xmlns:a="http://schemas.openxmlformats.org/drawingml/2006/main">
            <a:r>
              <a:t>        "title": "전문가 확인",</a:t>
            </a:r>
          </a:p>
          <a:p xmlns:a="http://schemas.openxmlformats.org/drawingml/2006/main">
            <a:r>
              <a:t>        "input": "결함 후보",</a:t>
            </a:r>
          </a:p>
          <a:p xmlns:a="http://schemas.openxmlformats.org/drawingml/2006/main">
            <a:r>
              <a:t>        "process": "실제 결함과 검측 후보 대사",</a:t>
            </a:r>
          </a:p>
          <a:p xmlns:a="http://schemas.openxmlformats.org/drawingml/2006/main">
            <a:r>
              <a:t>        "output": "전문가 확인"</a:t>
            </a:r>
          </a:p>
          <a:p xmlns:a="http://schemas.openxmlformats.org/drawingml/2006/main">
            <a:r>
              <a:t>      },</a:t>
            </a:r>
          </a:p>
          <a:p xmlns:a="http://schemas.openxmlformats.org/drawingml/2006/main">
            <a:r>
              <a:t>      {</a:t>
            </a:r>
          </a:p>
          <a:p xmlns:a="http://schemas.openxmlformats.org/drawingml/2006/main">
            <a:r>
              <a:t>        "title": "정비·검사 이력",</a:t>
            </a:r>
          </a:p>
          <a:p xmlns:a="http://schemas.openxmlformats.org/drawingml/2006/main">
            <a:r>
              <a:t>        "input": "전문가 확인",</a:t>
            </a:r>
          </a:p>
          <a:p xmlns:a="http://schemas.openxmlformats.org/drawingml/2006/main">
            <a:r>
              <a:t>        "process": "점검 담당자의 확인 후 정비계획 반영",</a:t>
            </a:r>
          </a:p>
          <a:p xmlns:a="http://schemas.openxmlformats.org/drawingml/2006/main">
            <a:r>
              <a:t>        "output": "정비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"검측 이상을 설비대장에 연결하고 점검 대상 선정",</a:t>
            </a:r>
          </a:p>
          <a:p xmlns:a="http://schemas.openxmlformats.org/drawingml/2006/main">
            <a:r>
              <a:t>      "exception": "설비 ID 불일치·센서 튐·정비 후 상태 미갱신",</a:t>
            </a:r>
          </a:p>
          <a:p xmlns:a="http://schemas.openxmlformats.org/drawingml/2006/main">
            <a:r>
              <a:t>      "evidence": "검측 원천·설비·현장 판정·재검측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"검측·시설 유지보수 담당",</a:t>
            </a:r>
          </a:p>
          <a:p xmlns:a="http://schemas.openxmlformats.org/drawingml/2006/main">
            <a:r>
              <a:t>          "processing": "노선·설비 ID·검측구간 식별",</a:t>
            </a:r>
          </a:p>
          <a:p xmlns:a="http://schemas.openxmlformats.org/drawingml/2006/main">
            <a:r>
              <a:t>          "output": "검측값·영상"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"검측·정비 기록",</a:t>
            </a:r>
          </a:p>
          <a:p xmlns:a="http://schemas.openxmlformats.org/drawingml/2006/main">
            <a:r>
              <a:t>          "processing": "검측값·설비대장·과거 정비 이력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"검측값·영상",</a:t>
            </a:r>
          </a:p>
          <a:p xmlns:a="http://schemas.openxmlformats.org/drawingml/2006/main">
            <a:r>
              <a:t>          "processing": "검측 수치의 이상 후보와 추세 분석",</a:t>
            </a:r>
          </a:p>
          <a:p xmlns:a="http://schemas.openxmlformats.org/drawingml/2006/main">
            <a:r>
              <a:t>          "output": "전문가 확인"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"전문가 확인",</a:t>
            </a:r>
          </a:p>
          <a:p xmlns:a="http://schemas.openxmlformats.org/drawingml/2006/main">
            <a:r>
              <a:t>          "processing": "점검 담당자의 확인 후 정비계획 반영",</a:t>
            </a:r>
          </a:p>
          <a:p xmlns:a="http://schemas.openxmlformats.org/drawingml/2006/main">
            <a:r>
              <a:t>          "output": "정비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"현장 확인값과 조치 후 재검측 결과 비교",</a:t>
            </a:r>
          </a:p>
          <a:p xmlns:a="http://schemas.openxmlformats.org/drawingml/2006/main">
            <a:r>
              <a:t>          "output": "검측 원천·설비·현장 판정·재검측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"현장 확인값과 조치 후 재검측 결과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"S-AX17",</a:t>
            </a:r>
          </a:p>
          <a:p xmlns:a="http://schemas.openxmlformats.org/drawingml/2006/main">
            <a:r>
              <a:t>        "title": "코레일 자동검측·AI 확대 · 코레일 / 2025-08-17",</a:t>
            </a:r>
          </a:p>
          <a:p xmlns:a="http://schemas.openxmlformats.org/drawingml/2006/main">
            <a:r>
              <a:t>        "url": "https://info.korail.com/info/selectBbsNttView.do?bbsNo=199&amp;key=911&amp;nttNo=25238",</a:t>
            </a:r>
          </a:p>
          <a:p xmlns:a="http://schemas.openxmlformats.org/drawingml/2006/main">
            <a:r>
              <a:t>        "published": "2025 운영·고도화 계획",</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"원천 검측과 판정 근거의 일관된 인계",</a:t>
            </a:r>
          </a:p>
          <a:p xmlns:a="http://schemas.openxmlformats.org/drawingml/2006/main">
            <a:r>
              <a:t>    "local": "TS 철도 안전 점검의 설비·검사·조치 증거 연결",</a:t>
            </a:r>
          </a:p>
          <a:p xmlns:a="http://schemas.openxmlformats.org/drawingml/2006/main">
            <a:r>
              <a:t>    "sourceDetail": null,</a:t>
            </a:r>
          </a:p>
          <a:p xmlns:a="http://schemas.openxmlformats.org/drawingml/2006/main">
            <a:r>
              <a:t>    "narrative": [</a:t>
            </a:r>
          </a:p>
          <a:p xmlns:a="http://schemas.openxmlformats.org/drawingml/2006/main">
            <a:r>
              <a:t>      "철도 설비의 자동검측 자료를 유지보수 검토에 활용하는 사례. 검측 데이터 확보, AI 이상 분석, 현장 정비 판단은 서로 다른 기능·사업 범위.",</a:t>
            </a:r>
          </a:p>
          <a:p xmlns:a="http://schemas.openxmlformats.org/drawingml/2006/main">
            <a:r>
              <a:t>      "노선·설비 ID·검측구간을 기준으로 관측값과 과거 정비 이력을 결합하고 이상 후보를 점검자에게 제공하는 재구성. 현장 확인과 조치 후 재검측을 연결해 후보의 유효성을 확인.",</a:t>
            </a:r>
          </a:p>
          <a:p xmlns:a="http://schemas.openxmlformats.org/drawingml/2006/main">
            <a:r>
              <a:t>      "TS 철도 안전 업무에서는 기존 자동검측 장비와 추가 분석 모델을 분리해 재사용 범위를 산정할 필요. 실제 결함 정답, 설비별 탐지 편차, 정비 조치·재점검 증빙을 검수에 연결."</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"자동검측 접점",</a:t>
            </a:r>
          </a:p>
          <a:p xmlns:a="http://schemas.openxmlformats.org/drawingml/2006/main">
            <a:r>
              <a:t>          "layer": "이용 접점",</a:t>
            </a:r>
          </a:p>
          <a:p xmlns:a="http://schemas.openxmlformats.org/drawingml/2006/main">
            <a:r>
              <a:t>          "detail": "검측·시설 유지보수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"노선·설비 ID",</a:t>
            </a:r>
          </a:p>
          <a:p xmlns:a="http://schemas.openxmlformats.org/drawingml/2006/main">
            <a:r>
              <a:t>          "layer": "업무 문맥",</a:t>
            </a:r>
          </a:p>
          <a:p xmlns:a="http://schemas.openxmlformats.org/drawingml/2006/main">
            <a:r>
              <a:t>          "detail": "노선·설비 ID·검측구간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"검측·정비 조회",</a:t>
            </a:r>
          </a:p>
          <a:p xmlns:a="http://schemas.openxmlformats.org/drawingml/2006/main">
            <a:r>
              <a:t>          "layer": "자료 조회",</a:t>
            </a:r>
          </a:p>
          <a:p xmlns:a="http://schemas.openxmlformats.org/drawingml/2006/main">
            <a:r>
              <a:t>          "detail": "검측값·영상",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"이상 후보 분석",</a:t>
            </a:r>
          </a:p>
          <a:p xmlns:a="http://schemas.openxmlformats.org/drawingml/2006/main">
            <a:r>
              <a:t>          "layer": "핵심 처리",</a:t>
            </a:r>
          </a:p>
          <a:p xmlns:a="http://schemas.openxmlformats.org/drawingml/2006/main">
            <a:r>
              <a:t>          "detail": "검측 수치의 이상 후보와 추세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"결함 기준 대조",</a:t>
            </a:r>
          </a:p>
          <a:p xmlns:a="http://schemas.openxmlformats.org/drawingml/2006/main">
            <a:r>
              <a:t>          "layer": "결과 검증",</a:t>
            </a:r>
          </a:p>
          <a:p xmlns:a="http://schemas.openxmlformats.org/drawingml/2006/main">
            <a:r>
              <a:t>          "detail": "실제 결함과 검측 후보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"점검 담당 확인",</a:t>
            </a:r>
          </a:p>
          <a:p xmlns:a="http://schemas.openxmlformats.org/drawingml/2006/main">
            <a:r>
              <a:t>          "layer": "사람 확인",</a:t>
            </a:r>
          </a:p>
          <a:p xmlns:a="http://schemas.openxmlformats.org/drawingml/2006/main">
            <a:r>
              <a:t>          "detail": "검측 이상을 설비대장에 연결하고 점검 대상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"정비계획 반영",</a:t>
            </a:r>
          </a:p>
          <a:p xmlns:a="http://schemas.openxmlformats.org/drawingml/2006/main">
            <a:r>
              <a:t>          "layer": "업무 연결",</a:t>
            </a:r>
          </a:p>
          <a:p xmlns:a="http://schemas.openxmlformats.org/drawingml/2006/main">
            <a:r>
              <a:t>          "detail": "점검 담당자의 확인 후 정비계획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"조치 후 재검측",</a:t>
            </a:r>
          </a:p>
          <a:p xmlns:a="http://schemas.openxmlformats.org/drawingml/2006/main">
            <a:r>
              <a:t>          "layer": "운영 관측",</a:t>
            </a:r>
          </a:p>
          <a:p xmlns:a="http://schemas.openxmlformats.org/drawingml/2006/main">
            <a:r>
              <a:t>          "detail": "현장 확인값과 조치 후 재검측 결과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"설비·검측 자료",</a:t>
            </a:r>
          </a:p>
          <a:p xmlns:a="http://schemas.openxmlformats.org/drawingml/2006/main">
            <a:r>
              <a:t>          "layer": "데이터 원천",</a:t>
            </a:r>
          </a:p>
          <a:p xmlns:a="http://schemas.openxmlformats.org/drawingml/2006/main">
            <a:r>
              <a:t>          "detail": "검측·정비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"위치·단위 정합화",</a:t>
            </a:r>
          </a:p>
          <a:p xmlns:a="http://schemas.openxmlformats.org/drawingml/2006/main">
            <a:r>
              <a:t>          "layer": "준비·갱신",</a:t>
            </a:r>
          </a:p>
          <a:p xmlns:a="http://schemas.openxmlformats.org/drawingml/2006/main">
            <a:r>
              <a:t>          "detail": "검측값·설비대장·과거 정비 이력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"결함·정비 이력",</a:t>
            </a:r>
          </a:p>
          <a:p xmlns:a="http://schemas.openxmlformats.org/drawingml/2006/main">
            <a:r>
              <a:t>          "layer": "상태·지식 저장",</a:t>
            </a:r>
          </a:p>
          <a:p xmlns:a="http://schemas.openxmlformats.org/drawingml/2006/main">
            <a:r>
              <a:t>          "detail": "검측 원천·설비·현장 판정·재검측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"점검·판정 기준",</a:t>
            </a:r>
          </a:p>
          <a:p xmlns:a="http://schemas.openxmlformats.org/drawingml/2006/main">
            <a:r>
              <a:t>          "layer": "권한·정책",</a:t>
            </a:r>
          </a:p>
          <a:p xmlns:a="http://schemas.openxmlformats.org/drawingml/2006/main">
            <a:r>
              <a:t>          "detail": "설비 ID 불일치·센서 튐·정비 후 상태 미갱신",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"검측·영상 수집 → 이상 후보 추출 → 전문가 확인 → 정비·검사 이력"</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"검측·정비 기록",</a:t>
            </a:r>
          </a:p>
          <a:p xmlns:a="http://schemas.openxmlformats.org/drawingml/2006/main">
            <a:r>
              <a:t>          "check": "검측값·설비대장·과거 정비 이력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"검측값·설비대장·과거 정비 이력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"전문가 확인",</a:t>
            </a:r>
          </a:p>
          <a:p xmlns:a="http://schemas.openxmlformats.org/drawingml/2006/main">
            <a:r>
              <a:t>          "check": "검측 원천·설비·현장 판정·재검측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"점검·판정 기준",</a:t>
            </a:r>
          </a:p>
          <a:p xmlns:a="http://schemas.openxmlformats.org/drawingml/2006/main">
            <a:r>
              <a:t>          "check": "실제 결함과 검측 후보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"정비 기록",</a:t>
            </a:r>
          </a:p>
          <a:p xmlns:a="http://schemas.openxmlformats.org/drawingml/2006/main">
            <a:r>
              <a:t>          "check": "검측 원천·설비·현장 판정·재검측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"현장 확인값과 조치 후 재검측 결과 비교",</a:t>
            </a:r>
          </a:p>
          <a:p xmlns:a="http://schemas.openxmlformats.org/drawingml/2006/main">
            <a:r>
              <a:t>          "check": "현장 확인값과 조치 후 재검측 결과 비교"</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"철도 설비 자동검측과 유지보수 우선순위 지원 / 설비 관측·이상 탐지·정비 확인",</a:t>
            </a:r>
          </a:p>
          <a:p xmlns:a="http://schemas.openxmlformats.org/drawingml/2006/main">
            <a:r>
              <a:t>        "extension": "TS 철도 안전 점검의 설비·검사·조치 증거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"설비 ID 불일치·센서 튐·정비 후 상태 미갱신",</a:t>
            </a:r>
          </a:p>
          <a:p xmlns:a="http://schemas.openxmlformats.org/drawingml/2006/main">
            <a:r>
              <a:t>        "hold": "실제 결함과 검측 후보 대사",</a:t>
            </a:r>
          </a:p>
          <a:p xmlns:a="http://schemas.openxmlformats.org/drawingml/2006/main">
            <a:r>
              <a:t>        "recovery": "현장 확인값과 조치 후 재검측 결과 비교",</a:t>
            </a:r>
          </a:p>
          <a:p xmlns:a="http://schemas.openxmlformats.org/drawingml/2006/main">
            <a:r>
              <a:t>        "evidence": "검측 원천·설비·현장 판정·재검측 연결표"</a:t>
            </a:r>
          </a:p>
          <a:p xmlns:a="http://schemas.openxmlformats.org/drawingml/2006/main">
            <a:r>
              <a:t>      },</a:t>
            </a:r>
          </a:p>
          <a:p xmlns:a="http://schemas.openxmlformats.org/drawingml/2006/main">
            <a:r>
              <a:t>      "data": {</a:t>
            </a:r>
          </a:p>
          <a:p xmlns:a="http://schemas.openxmlformats.org/drawingml/2006/main">
            <a:r>
              <a:t>        "source": "검측·정비 기록",</a:t>
            </a:r>
          </a:p>
          <a:p xmlns:a="http://schemas.openxmlformats.org/drawingml/2006/main">
            <a:r>
              <a:t>        "prepare": "검측값·설비대장·과거 정비 이력 연결",</a:t>
            </a:r>
          </a:p>
          <a:p xmlns:a="http://schemas.openxmlformats.org/drawingml/2006/main">
            <a:r>
              <a:t>        "output": "검측값·영상",</a:t>
            </a:r>
          </a:p>
          <a:p xmlns:a="http://schemas.openxmlformats.org/drawingml/2006/main">
            <a:r>
              <a:t>        "refresh": "현장 확인값과 조치 후 재검측 결과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"AX17",</a:t>
            </a:r>
          </a:p>
          <a:p xmlns:a="http://schemas.openxmlformats.org/drawingml/2006/main">
            <a:r>
              <a:t>    "success": [</a:t>
            </a:r>
          </a:p>
          <a:p xmlns:a="http://schemas.openxmlformats.org/drawingml/2006/main">
            <a:r>
              <a:t>      "자동검측 자료의 지속 확보",</a:t>
            </a:r>
          </a:p>
          <a:p xmlns:a="http://schemas.openxmlformats.org/drawingml/2006/main">
            <a:r>
              <a:t>      "이상 후보와 정비 이력 연결"</a:t>
            </a:r>
          </a:p>
          <a:p xmlns:a="http://schemas.openxmlformats.org/drawingml/2006/main">
            <a:r>
              <a:t>    ],</a:t>
            </a:r>
          </a:p>
          <a:p xmlns:a="http://schemas.openxmlformats.org/drawingml/2006/main">
            <a:r>
              <a:t>    "risks": [</a:t>
            </a:r>
          </a:p>
          <a:p xmlns:a="http://schemas.openxmlformats.org/drawingml/2006/main">
            <a:r>
              <a:t>      "자동검측과 AI 개발 범위 혼동",</a:t>
            </a:r>
          </a:p>
          <a:p xmlns:a="http://schemas.openxmlformats.org/drawingml/2006/main">
            <a:r>
              <a:t>      "설비·노선별 탐지 편차"</a:t>
            </a:r>
          </a:p>
          <a:p xmlns:a="http://schemas.openxmlformats.org/drawingml/2006/main">
            <a:r>
              <a:t>    ],</a:t>
            </a:r>
          </a:p>
          <a:p xmlns:a="http://schemas.openxmlformats.org/drawingml/2006/main">
            <a:r>
              <a:t>    "architecture": [</a:t>
            </a:r>
          </a:p>
          <a:p xmlns:a="http://schemas.openxmlformats.org/drawingml/2006/main">
            <a:r>
              <a:t>      "검측 장비",</a:t>
            </a:r>
          </a:p>
          <a:p xmlns:a="http://schemas.openxmlformats.org/drawingml/2006/main">
            <a:r>
              <a:t>      "이상 후보 분석",</a:t>
            </a:r>
          </a:p>
          <a:p xmlns:a="http://schemas.openxmlformats.org/drawingml/2006/main">
            <a:r>
              <a:t>      "검측·정비 기록",</a:t>
            </a:r>
          </a:p>
          <a:p xmlns:a="http://schemas.openxmlformats.org/drawingml/2006/main">
            <a:r>
              <a:t>      "철도 정비 담당"</a:t>
            </a:r>
          </a:p>
          <a:p xmlns:a="http://schemas.openxmlformats.org/drawingml/2006/main">
            <a:r>
              <a:t>    ],</a:t>
            </a:r>
          </a:p>
          <a:p xmlns:a="http://schemas.openxmlformats.org/drawingml/2006/main">
            <a:r>
              <a:t>    "transfers": [</a:t>
            </a:r>
          </a:p>
          <a:p xmlns:a="http://schemas.openxmlformats.org/drawingml/2006/main">
            <a:r>
              <a:t>      "검측값·영상",</a:t>
            </a:r>
          </a:p>
          <a:p xmlns:a="http://schemas.openxmlformats.org/drawingml/2006/main">
            <a:r>
              <a:t>      "결함 후보",</a:t>
            </a:r>
          </a:p>
          <a:p xmlns:a="http://schemas.openxmlformats.org/drawingml/2006/main">
            <a:r>
              <a:t>      "전문가 확인",</a:t>
            </a:r>
          </a:p>
          <a:p xmlns:a="http://schemas.openxmlformats.org/drawingml/2006/main">
            <a:r>
              <a:t>      "정비 기록"</a:t>
            </a:r>
          </a:p>
          <a:p xmlns:a="http://schemas.openxmlformats.org/drawingml/2006/main">
            <a:r>
              <a:t>    ],</a:t>
            </a:r>
          </a:p>
          <a:p xmlns:a="http://schemas.openxmlformats.org/drawingml/2006/main">
            <a:r>
              <a:t>    "control": "실제 결함과 검측 후보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코레일 자동검측·AI 확대 · 코레일 / 2025-08-17 https://info.korail.com/info/selectBbsNttView.do?bbsNo=199&amp;key=911&amp;nttNo=25238</a:t>
            </a:r>
          </a:p>
          <a:p xmlns:a="http://schemas.openxmlformats.org/drawingml/2006/main">
            <a:r>
              <a:t>홈페이지 https://heen1987-ops.github.io/TS-business-Plan-001/index.html?view=casebook&amp;case=AX17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"AX17",</a:t>
            </a:r>
          </a:p>
          <a:p xmlns:a="http://schemas.openxmlformats.org/drawingml/2006/main">
            <a:r>
              <a:t>    "title": "코레일 자동검측·AI 확대",</a:t>
            </a:r>
          </a:p>
          <a:p xmlns:a="http://schemas.openxmlformats.org/drawingml/2006/main">
            <a:r>
              <a:t>    "region": "국내",</a:t>
            </a:r>
          </a:p>
          <a:p xmlns:a="http://schemas.openxmlformats.org/drawingml/2006/main">
            <a:r>
              <a:t>    "country": "대한민국",</a:t>
            </a:r>
          </a:p>
          <a:p xmlns:a="http://schemas.openxmlformats.org/drawingml/2006/main">
            <a:r>
              <a:t>    "result": "혼합",</a:t>
            </a:r>
          </a:p>
          <a:p xmlns:a="http://schemas.openxmlformats.org/drawingml/2006/main">
            <a:r>
              <a:t>    "kind": "철도 설비 자동점검",</a:t>
            </a:r>
          </a:p>
          <a:p xmlns:a="http://schemas.openxmlformats.org/drawingml/2006/main">
            <a:r>
              <a:t>    "period": "2025 운영·고도화 계획",</a:t>
            </a:r>
          </a:p>
          <a:p xmlns:a="http://schemas.openxmlformats.org/drawingml/2006/main">
            <a:r>
              <a:t>    "sources": [</a:t>
            </a:r>
          </a:p>
          <a:p xmlns:a="http://schemas.openxmlformats.org/drawingml/2006/main">
            <a:r>
              <a:t>      "S-AX17"</a:t>
            </a:r>
          </a:p>
          <a:p xmlns:a="http://schemas.openxmlformats.org/drawingml/2006/main">
            <a:r>
              <a:t>    ],</a:t>
            </a:r>
          </a:p>
          <a:p xmlns:a="http://schemas.openxmlformats.org/drawingml/2006/main">
            <a:r>
              <a:t>    "keywords": [</a:t>
            </a:r>
          </a:p>
          <a:p xmlns:a="http://schemas.openxmlformats.org/drawingml/2006/main">
            <a:r>
              <a:t>      "철도 설비 자동점검"</a:t>
            </a:r>
          </a:p>
          <a:p xmlns:a="http://schemas.openxmlformats.org/drawingml/2006/main">
            <a:r>
              <a:t>    ],</a:t>
            </a:r>
          </a:p>
          <a:p xmlns:a="http://schemas.openxmlformats.org/drawingml/2006/main">
            <a:r>
              <a:t>    "fact": "자동검측 운영을 통한 설비 이상 탐지와 AI 분석 고도화 방향 공개",</a:t>
            </a:r>
          </a:p>
          <a:p xmlns:a="http://schemas.openxmlformats.org/drawingml/2006/main">
            <a:r>
              <a:t>    "limit": "현재 검측 기능과 향후 AI 확대 구분 · 안전 감소 효과의 인과 검증 별도",</a:t>
            </a:r>
          </a:p>
          <a:p xmlns:a="http://schemas.openxmlformats.org/drawingml/2006/main">
            <a:r>
              <a:t>    "flow": [</a:t>
            </a:r>
          </a:p>
          <a:p xmlns:a="http://schemas.openxmlformats.org/drawingml/2006/main">
            <a:r>
              <a:t>      "검측·영상 수집",</a:t>
            </a:r>
          </a:p>
          <a:p xmlns:a="http://schemas.openxmlformats.org/drawingml/2006/main">
            <a:r>
              <a:t>      "이상 후보 추출",</a:t>
            </a:r>
          </a:p>
          <a:p xmlns:a="http://schemas.openxmlformats.org/drawingml/2006/main">
            <a:r>
              <a:t>      "전문가 확인",</a:t>
            </a:r>
          </a:p>
          <a:p xmlns:a="http://schemas.openxmlformats.org/drawingml/2006/main">
            <a:r>
              <a:t>      "정비·검사 이력"</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"원천 검측과 판정 근거의 일관된 인계",</a:t>
            </a:r>
          </a:p>
          <a:p xmlns:a="http://schemas.openxmlformats.org/drawingml/2006/main">
            <a:r>
              <a:t>    "local": "TS 철도 안전 점검의 설비·검사·조치 증거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"설비 ID·판정 기준·검사 시점 대사",</a:t>
            </a:r>
          </a:p>
          <a:p xmlns:a="http://schemas.openxmlformats.org/drawingml/2006/main">
            <a:r>
              <a:t>    "test": "정상·이상·판정 변경 및 미조치 자료 재현",</a:t>
            </a:r>
          </a:p>
          <a:p xmlns:a="http://schemas.openxmlformats.org/drawingml/2006/main">
            <a:r>
              <a:t>    "metric": "검사 검토시간 / 증거 누락률",</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"AX17",</a:t>
            </a:r>
          </a:p>
          <a:p xmlns:a="http://schemas.openxmlformats.org/drawingml/2006/main">
            <a:r>
              <a:t>    "canonicalId": "AX17",</a:t>
            </a:r>
          </a:p>
          <a:p xmlns:a="http://schemas.openxmlformats.org/drawingml/2006/main">
            <a:r>
              <a:t>    "purpose": "철도 설비 자동검측과 유지보수 우선순위 지원",</a:t>
            </a:r>
          </a:p>
          <a:p xmlns:a="http://schemas.openxmlformats.org/drawingml/2006/main">
            <a:r>
              <a:t>    "users": "검측·시설 유지보수 담당",</a:t>
            </a:r>
          </a:p>
          <a:p xmlns:a="http://schemas.openxmlformats.org/drawingml/2006/main">
            <a:r>
              <a:t>    "scope": [</a:t>
            </a:r>
          </a:p>
          <a:p xmlns:a="http://schemas.openxmlformats.org/drawingml/2006/main">
            <a:r>
              <a:t>      "설비 관측",</a:t>
            </a:r>
          </a:p>
          <a:p xmlns:a="http://schemas.openxmlformats.org/drawingml/2006/main">
            <a:r>
              <a:t>      "이상 탐지",</a:t>
            </a:r>
          </a:p>
          <a:p xmlns:a="http://schemas.openxmlformats.org/drawingml/2006/main">
            <a:r>
              <a:t>      "정비 확인"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"검측 장비",</a:t>
            </a:r>
          </a:p>
          <a:p xmlns:a="http://schemas.openxmlformats.org/drawingml/2006/main">
            <a:r>
              <a:t>        "detail": "노선·설비 ID·검측구간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"설비 관측 / 이상 탐지 / 정비 확인",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"이상 후보 분석",</a:t>
            </a:r>
          </a:p>
          <a:p xmlns:a="http://schemas.openxmlformats.org/drawingml/2006/main">
            <a:r>
              <a:t>        "detail": "검측 수치의 이상 후보와 추세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"철도 정비 담당",</a:t>
            </a:r>
          </a:p>
          <a:p xmlns:a="http://schemas.openxmlformats.org/drawingml/2006/main">
            <a:r>
              <a:t>        "detail": "점검 담당자의 확인 후 정비계획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"검측·정비 기록",</a:t>
            </a:r>
          </a:p>
          <a:p xmlns:a="http://schemas.openxmlformats.org/drawingml/2006/main">
            <a:r>
              <a:t>        "detail": "검측값·설비대장·과거 정비 이력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"현장 확인값과 조치 후 재검측 결과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"검측·영상 수집",</a:t>
            </a:r>
          </a:p>
          <a:p xmlns:a="http://schemas.openxmlformats.org/drawingml/2006/main">
            <a:r>
              <a:t>        "input": "노선·설비 ID·검측구간 식별",</a:t>
            </a:r>
          </a:p>
          <a:p xmlns:a="http://schemas.openxmlformats.org/drawingml/2006/main">
            <a:r>
              <a:t>        "process": "검측값·설비대장·과거 정비 이력 연결",</a:t>
            </a:r>
          </a:p>
          <a:p xmlns:a="http://schemas.openxmlformats.org/drawingml/2006/main">
            <a:r>
              <a:t>        "output": "검측값·영상"</a:t>
            </a:r>
          </a:p>
          <a:p xmlns:a="http://schemas.openxmlformats.org/drawingml/2006/main">
            <a:r>
              <a:t>      },</a:t>
            </a:r>
          </a:p>
          <a:p xmlns:a="http://schemas.openxmlformats.org/drawingml/2006/main">
            <a:r>
              <a:t>      {</a:t>
            </a:r>
          </a:p>
          <a:p xmlns:a="http://schemas.openxmlformats.org/drawingml/2006/main">
            <a:r>
              <a:t>        "title": "이상 후보 추출",</a:t>
            </a:r>
          </a:p>
          <a:p xmlns:a="http://schemas.openxmlformats.org/drawingml/2006/main">
            <a:r>
              <a:t>        "input": "검측값·영상",</a:t>
            </a:r>
          </a:p>
          <a:p xmlns:a="http://schemas.openxmlformats.org/drawingml/2006/main">
            <a:r>
              <a:t>        "process": "검측 수치의 이상 후보와 추세 분석",</a:t>
            </a:r>
          </a:p>
          <a:p xmlns:a="http://schemas.openxmlformats.org/drawingml/2006/main">
            <a:r>
              <a:t>        "output": "결함 후보"</a:t>
            </a:r>
          </a:p>
          <a:p xmlns:a="http://schemas.openxmlformats.org/drawingml/2006/main">
            <a:r>
              <a:t>      },</a:t>
            </a:r>
          </a:p>
          <a:p xmlns:a="http://schemas.openxmlformats.org/drawingml/2006/main">
            <a:r>
              <a:t>      {</a:t>
            </a:r>
          </a:p>
          <a:p xmlns:a="http://schemas.openxmlformats.org/drawingml/2006/main">
            <a:r>
              <a:t>        "title": "전문가 확인",</a:t>
            </a:r>
          </a:p>
          <a:p xmlns:a="http://schemas.openxmlformats.org/drawingml/2006/main">
            <a:r>
              <a:t>        "input": "결함 후보",</a:t>
            </a:r>
          </a:p>
          <a:p xmlns:a="http://schemas.openxmlformats.org/drawingml/2006/main">
            <a:r>
              <a:t>        "process": "실제 결함과 검측 후보 대사",</a:t>
            </a:r>
          </a:p>
          <a:p xmlns:a="http://schemas.openxmlformats.org/drawingml/2006/main">
            <a:r>
              <a:t>        "output": "전문가 확인"</a:t>
            </a:r>
          </a:p>
          <a:p xmlns:a="http://schemas.openxmlformats.org/drawingml/2006/main">
            <a:r>
              <a:t>      },</a:t>
            </a:r>
          </a:p>
          <a:p xmlns:a="http://schemas.openxmlformats.org/drawingml/2006/main">
            <a:r>
              <a:t>      {</a:t>
            </a:r>
          </a:p>
          <a:p xmlns:a="http://schemas.openxmlformats.org/drawingml/2006/main">
            <a:r>
              <a:t>        "title": "정비·검사 이력",</a:t>
            </a:r>
          </a:p>
          <a:p xmlns:a="http://schemas.openxmlformats.org/drawingml/2006/main">
            <a:r>
              <a:t>        "input": "전문가 확인",</a:t>
            </a:r>
          </a:p>
          <a:p xmlns:a="http://schemas.openxmlformats.org/drawingml/2006/main">
            <a:r>
              <a:t>        "process": "점검 담당자의 확인 후 정비계획 반영",</a:t>
            </a:r>
          </a:p>
          <a:p xmlns:a="http://schemas.openxmlformats.org/drawingml/2006/main">
            <a:r>
              <a:t>        "output": "정비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"검측 이상을 설비대장에 연결하고 점검 대상 선정",</a:t>
            </a:r>
          </a:p>
          <a:p xmlns:a="http://schemas.openxmlformats.org/drawingml/2006/main">
            <a:r>
              <a:t>      "exception": "설비 ID 불일치·센서 튐·정비 후 상태 미갱신",</a:t>
            </a:r>
          </a:p>
          <a:p xmlns:a="http://schemas.openxmlformats.org/drawingml/2006/main">
            <a:r>
              <a:t>      "evidence": "검측 원천·설비·현장 판정·재검측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"검측·시설 유지보수 담당",</a:t>
            </a:r>
          </a:p>
          <a:p xmlns:a="http://schemas.openxmlformats.org/drawingml/2006/main">
            <a:r>
              <a:t>          "processing": "노선·설비 ID·검측구간 식별",</a:t>
            </a:r>
          </a:p>
          <a:p xmlns:a="http://schemas.openxmlformats.org/drawingml/2006/main">
            <a:r>
              <a:t>          "output": "검측값·영상"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"검측·정비 기록",</a:t>
            </a:r>
          </a:p>
          <a:p xmlns:a="http://schemas.openxmlformats.org/drawingml/2006/main">
            <a:r>
              <a:t>          "processing": "검측값·설비대장·과거 정비 이력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"검측값·영상",</a:t>
            </a:r>
          </a:p>
          <a:p xmlns:a="http://schemas.openxmlformats.org/drawingml/2006/main">
            <a:r>
              <a:t>          "processing": "검측 수치의 이상 후보와 추세 분석",</a:t>
            </a:r>
          </a:p>
          <a:p xmlns:a="http://schemas.openxmlformats.org/drawingml/2006/main">
            <a:r>
              <a:t>          "output": "전문가 확인"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"전문가 확인",</a:t>
            </a:r>
          </a:p>
          <a:p xmlns:a="http://schemas.openxmlformats.org/drawingml/2006/main">
            <a:r>
              <a:t>          "processing": "점검 담당자의 확인 후 정비계획 반영",</a:t>
            </a:r>
          </a:p>
          <a:p xmlns:a="http://schemas.openxmlformats.org/drawingml/2006/main">
            <a:r>
              <a:t>          "output": "정비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"현장 확인값과 조치 후 재검측 결과 비교",</a:t>
            </a:r>
          </a:p>
          <a:p xmlns:a="http://schemas.openxmlformats.org/drawingml/2006/main">
            <a:r>
              <a:t>          "output": "검측 원천·설비·현장 판정·재검측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"현장 확인값과 조치 후 재검측 결과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"S-AX17",</a:t>
            </a:r>
          </a:p>
          <a:p xmlns:a="http://schemas.openxmlformats.org/drawingml/2006/main">
            <a:r>
              <a:t>        "title": "코레일 자동검측·AI 확대 · 코레일 / 2025-08-17",</a:t>
            </a:r>
          </a:p>
          <a:p xmlns:a="http://schemas.openxmlformats.org/drawingml/2006/main">
            <a:r>
              <a:t>        "url": "https://info.korail.com/info/selectBbsNttView.do?bbsNo=199&amp;key=911&amp;nttNo=25238",</a:t>
            </a:r>
          </a:p>
          <a:p xmlns:a="http://schemas.openxmlformats.org/drawingml/2006/main">
            <a:r>
              <a:t>        "published": "2025 운영·고도화 계획",</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"원천 검측과 판정 근거의 일관된 인계",</a:t>
            </a:r>
          </a:p>
          <a:p xmlns:a="http://schemas.openxmlformats.org/drawingml/2006/main">
            <a:r>
              <a:t>    "local": "TS 철도 안전 점검의 설비·검사·조치 증거 연결",</a:t>
            </a:r>
          </a:p>
          <a:p xmlns:a="http://schemas.openxmlformats.org/drawingml/2006/main">
            <a:r>
              <a:t>    "sourceDetail": null,</a:t>
            </a:r>
          </a:p>
          <a:p xmlns:a="http://schemas.openxmlformats.org/drawingml/2006/main">
            <a:r>
              <a:t>    "narrative": [</a:t>
            </a:r>
          </a:p>
          <a:p xmlns:a="http://schemas.openxmlformats.org/drawingml/2006/main">
            <a:r>
              <a:t>      "철도 설비의 자동검측 자료를 유지보수 검토에 활용하는 사례. 검측 데이터 확보, AI 이상 분석, 현장 정비 판단은 서로 다른 기능·사업 범위.",</a:t>
            </a:r>
          </a:p>
          <a:p xmlns:a="http://schemas.openxmlformats.org/drawingml/2006/main">
            <a:r>
              <a:t>      "노선·설비 ID·검측구간을 기준으로 관측값과 과거 정비 이력을 결합하고 이상 후보를 점검자에게 제공하는 재구성. 현장 확인과 조치 후 재검측을 연결해 후보의 유효성을 확인.",</a:t>
            </a:r>
          </a:p>
          <a:p xmlns:a="http://schemas.openxmlformats.org/drawingml/2006/main">
            <a:r>
              <a:t>      "TS 철도 안전 업무에서는 기존 자동검측 장비와 추가 분석 모델을 분리해 재사용 범위를 산정할 필요. 실제 결함 정답, 설비별 탐지 편차, 정비 조치·재점검 증빙을 검수에 연결."</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"자동검측 접점",</a:t>
            </a:r>
          </a:p>
          <a:p xmlns:a="http://schemas.openxmlformats.org/drawingml/2006/main">
            <a:r>
              <a:t>          "layer": "이용 접점",</a:t>
            </a:r>
          </a:p>
          <a:p xmlns:a="http://schemas.openxmlformats.org/drawingml/2006/main">
            <a:r>
              <a:t>          "detail": "검측·시설 유지보수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"노선·설비 ID",</a:t>
            </a:r>
          </a:p>
          <a:p xmlns:a="http://schemas.openxmlformats.org/drawingml/2006/main">
            <a:r>
              <a:t>          "layer": "업무 문맥",</a:t>
            </a:r>
          </a:p>
          <a:p xmlns:a="http://schemas.openxmlformats.org/drawingml/2006/main">
            <a:r>
              <a:t>          "detail": "노선·설비 ID·검측구간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"검측·정비 조회",</a:t>
            </a:r>
          </a:p>
          <a:p xmlns:a="http://schemas.openxmlformats.org/drawingml/2006/main">
            <a:r>
              <a:t>          "layer": "자료 조회",</a:t>
            </a:r>
          </a:p>
          <a:p xmlns:a="http://schemas.openxmlformats.org/drawingml/2006/main">
            <a:r>
              <a:t>          "detail": "검측값·영상",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"이상 후보 분석",</a:t>
            </a:r>
          </a:p>
          <a:p xmlns:a="http://schemas.openxmlformats.org/drawingml/2006/main">
            <a:r>
              <a:t>          "layer": "핵심 처리",</a:t>
            </a:r>
          </a:p>
          <a:p xmlns:a="http://schemas.openxmlformats.org/drawingml/2006/main">
            <a:r>
              <a:t>          "detail": "검측 수치의 이상 후보와 추세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"결함 기준 대조",</a:t>
            </a:r>
          </a:p>
          <a:p xmlns:a="http://schemas.openxmlformats.org/drawingml/2006/main">
            <a:r>
              <a:t>          "layer": "결과 검증",</a:t>
            </a:r>
          </a:p>
          <a:p xmlns:a="http://schemas.openxmlformats.org/drawingml/2006/main">
            <a:r>
              <a:t>          "detail": "실제 결함과 검측 후보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"점검 담당 확인",</a:t>
            </a:r>
          </a:p>
          <a:p xmlns:a="http://schemas.openxmlformats.org/drawingml/2006/main">
            <a:r>
              <a:t>          "layer": "사람 확인",</a:t>
            </a:r>
          </a:p>
          <a:p xmlns:a="http://schemas.openxmlformats.org/drawingml/2006/main">
            <a:r>
              <a:t>          "detail": "검측 이상을 설비대장에 연결하고 점검 대상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"정비계획 반영",</a:t>
            </a:r>
          </a:p>
          <a:p xmlns:a="http://schemas.openxmlformats.org/drawingml/2006/main">
            <a:r>
              <a:t>          "layer": "업무 연결",</a:t>
            </a:r>
          </a:p>
          <a:p xmlns:a="http://schemas.openxmlformats.org/drawingml/2006/main">
            <a:r>
              <a:t>          "detail": "점검 담당자의 확인 후 정비계획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"조치 후 재검측",</a:t>
            </a:r>
          </a:p>
          <a:p xmlns:a="http://schemas.openxmlformats.org/drawingml/2006/main">
            <a:r>
              <a:t>          "layer": "운영 관측",</a:t>
            </a:r>
          </a:p>
          <a:p xmlns:a="http://schemas.openxmlformats.org/drawingml/2006/main">
            <a:r>
              <a:t>          "detail": "현장 확인값과 조치 후 재검측 결과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"설비·검측 자료",</a:t>
            </a:r>
          </a:p>
          <a:p xmlns:a="http://schemas.openxmlformats.org/drawingml/2006/main">
            <a:r>
              <a:t>          "layer": "데이터 원천",</a:t>
            </a:r>
          </a:p>
          <a:p xmlns:a="http://schemas.openxmlformats.org/drawingml/2006/main">
            <a:r>
              <a:t>          "detail": "검측·정비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"위치·단위 정합화",</a:t>
            </a:r>
          </a:p>
          <a:p xmlns:a="http://schemas.openxmlformats.org/drawingml/2006/main">
            <a:r>
              <a:t>          "layer": "준비·갱신",</a:t>
            </a:r>
          </a:p>
          <a:p xmlns:a="http://schemas.openxmlformats.org/drawingml/2006/main">
            <a:r>
              <a:t>          "detail": "검측값·설비대장·과거 정비 이력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"결함·정비 이력",</a:t>
            </a:r>
          </a:p>
          <a:p xmlns:a="http://schemas.openxmlformats.org/drawingml/2006/main">
            <a:r>
              <a:t>          "layer": "상태·지식 저장",</a:t>
            </a:r>
          </a:p>
          <a:p xmlns:a="http://schemas.openxmlformats.org/drawingml/2006/main">
            <a:r>
              <a:t>          "detail": "검측 원천·설비·현장 판정·재검측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"점검·판정 기준",</a:t>
            </a:r>
          </a:p>
          <a:p xmlns:a="http://schemas.openxmlformats.org/drawingml/2006/main">
            <a:r>
              <a:t>          "layer": "권한·정책",</a:t>
            </a:r>
          </a:p>
          <a:p xmlns:a="http://schemas.openxmlformats.org/drawingml/2006/main">
            <a:r>
              <a:t>          "detail": "설비 ID 불일치·센서 튐·정비 후 상태 미갱신",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"검측·영상 수집 → 이상 후보 추출 → 전문가 확인 → 정비·검사 이력"</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"검측·정비 기록",</a:t>
            </a:r>
          </a:p>
          <a:p xmlns:a="http://schemas.openxmlformats.org/drawingml/2006/main">
            <a:r>
              <a:t>          "check": "검측값·설비대장·과거 정비 이력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"검측값·설비대장·과거 정비 이력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"전문가 확인",</a:t>
            </a:r>
          </a:p>
          <a:p xmlns:a="http://schemas.openxmlformats.org/drawingml/2006/main">
            <a:r>
              <a:t>          "check": "검측 원천·설비·현장 판정·재검측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"점검·판정 기준",</a:t>
            </a:r>
          </a:p>
          <a:p xmlns:a="http://schemas.openxmlformats.org/drawingml/2006/main">
            <a:r>
              <a:t>          "check": "실제 결함과 검측 후보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"정비 기록",</a:t>
            </a:r>
          </a:p>
          <a:p xmlns:a="http://schemas.openxmlformats.org/drawingml/2006/main">
            <a:r>
              <a:t>          "check": "검측 원천·설비·현장 판정·재검측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"현장 확인값과 조치 후 재검측 결과 비교",</a:t>
            </a:r>
          </a:p>
          <a:p xmlns:a="http://schemas.openxmlformats.org/drawingml/2006/main">
            <a:r>
              <a:t>          "check": "현장 확인값과 조치 후 재검측 결과 비교"</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"철도 설비 자동검측과 유지보수 우선순위 지원 / 설비 관측·이상 탐지·정비 확인",</a:t>
            </a:r>
          </a:p>
          <a:p xmlns:a="http://schemas.openxmlformats.org/drawingml/2006/main">
            <a:r>
              <a:t>        "extension": "TS 철도 안전 점검의 설비·검사·조치 증거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"설비 ID 불일치·센서 튐·정비 후 상태 미갱신",</a:t>
            </a:r>
          </a:p>
          <a:p xmlns:a="http://schemas.openxmlformats.org/drawingml/2006/main">
            <a:r>
              <a:t>        "hold": "실제 결함과 검측 후보 대사",</a:t>
            </a:r>
          </a:p>
          <a:p xmlns:a="http://schemas.openxmlformats.org/drawingml/2006/main">
            <a:r>
              <a:t>        "recovery": "현장 확인값과 조치 후 재검측 결과 비교",</a:t>
            </a:r>
          </a:p>
          <a:p xmlns:a="http://schemas.openxmlformats.org/drawingml/2006/main">
            <a:r>
              <a:t>        "evidence": "검측 원천·설비·현장 판정·재검측 연결표"</a:t>
            </a:r>
          </a:p>
          <a:p xmlns:a="http://schemas.openxmlformats.org/drawingml/2006/main">
            <a:r>
              <a:t>      },</a:t>
            </a:r>
          </a:p>
          <a:p xmlns:a="http://schemas.openxmlformats.org/drawingml/2006/main">
            <a:r>
              <a:t>      "data": {</a:t>
            </a:r>
          </a:p>
          <a:p xmlns:a="http://schemas.openxmlformats.org/drawingml/2006/main">
            <a:r>
              <a:t>        "source": "검측·정비 기록",</a:t>
            </a:r>
          </a:p>
          <a:p xmlns:a="http://schemas.openxmlformats.org/drawingml/2006/main">
            <a:r>
              <a:t>        "prepare": "검측값·설비대장·과거 정비 이력 연결",</a:t>
            </a:r>
          </a:p>
          <a:p xmlns:a="http://schemas.openxmlformats.org/drawingml/2006/main">
            <a:r>
              <a:t>        "output": "검측값·영상",</a:t>
            </a:r>
          </a:p>
          <a:p xmlns:a="http://schemas.openxmlformats.org/drawingml/2006/main">
            <a:r>
              <a:t>        "refresh": "현장 확인값과 조치 후 재검측 결과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"AX17",</a:t>
            </a:r>
          </a:p>
          <a:p xmlns:a="http://schemas.openxmlformats.org/drawingml/2006/main">
            <a:r>
              <a:t>    "success": [</a:t>
            </a:r>
          </a:p>
          <a:p xmlns:a="http://schemas.openxmlformats.org/drawingml/2006/main">
            <a:r>
              <a:t>      "자동검측 자료의 지속 확보",</a:t>
            </a:r>
          </a:p>
          <a:p xmlns:a="http://schemas.openxmlformats.org/drawingml/2006/main">
            <a:r>
              <a:t>      "이상 후보와 정비 이력 연결"</a:t>
            </a:r>
          </a:p>
          <a:p xmlns:a="http://schemas.openxmlformats.org/drawingml/2006/main">
            <a:r>
              <a:t>    ],</a:t>
            </a:r>
          </a:p>
          <a:p xmlns:a="http://schemas.openxmlformats.org/drawingml/2006/main">
            <a:r>
              <a:t>    "risks": [</a:t>
            </a:r>
          </a:p>
          <a:p xmlns:a="http://schemas.openxmlformats.org/drawingml/2006/main">
            <a:r>
              <a:t>      "자동검측과 AI 개발 범위 혼동",</a:t>
            </a:r>
          </a:p>
          <a:p xmlns:a="http://schemas.openxmlformats.org/drawingml/2006/main">
            <a:r>
              <a:t>      "설비·노선별 탐지 편차"</a:t>
            </a:r>
          </a:p>
          <a:p xmlns:a="http://schemas.openxmlformats.org/drawingml/2006/main">
            <a:r>
              <a:t>    ],</a:t>
            </a:r>
          </a:p>
          <a:p xmlns:a="http://schemas.openxmlformats.org/drawingml/2006/main">
            <a:r>
              <a:t>    "architecture": [</a:t>
            </a:r>
          </a:p>
          <a:p xmlns:a="http://schemas.openxmlformats.org/drawingml/2006/main">
            <a:r>
              <a:t>      "검측 장비",</a:t>
            </a:r>
          </a:p>
          <a:p xmlns:a="http://schemas.openxmlformats.org/drawingml/2006/main">
            <a:r>
              <a:t>      "이상 후보 분석",</a:t>
            </a:r>
          </a:p>
          <a:p xmlns:a="http://schemas.openxmlformats.org/drawingml/2006/main">
            <a:r>
              <a:t>      "검측·정비 기록",</a:t>
            </a:r>
          </a:p>
          <a:p xmlns:a="http://schemas.openxmlformats.org/drawingml/2006/main">
            <a:r>
              <a:t>      "철도 정비 담당"</a:t>
            </a:r>
          </a:p>
          <a:p xmlns:a="http://schemas.openxmlformats.org/drawingml/2006/main">
            <a:r>
              <a:t>    ],</a:t>
            </a:r>
          </a:p>
          <a:p xmlns:a="http://schemas.openxmlformats.org/drawingml/2006/main">
            <a:r>
              <a:t>    "transfers": [</a:t>
            </a:r>
          </a:p>
          <a:p xmlns:a="http://schemas.openxmlformats.org/drawingml/2006/main">
            <a:r>
              <a:t>      "검측값·영상",</a:t>
            </a:r>
          </a:p>
          <a:p xmlns:a="http://schemas.openxmlformats.org/drawingml/2006/main">
            <a:r>
              <a:t>      "결함 후보",</a:t>
            </a:r>
          </a:p>
          <a:p xmlns:a="http://schemas.openxmlformats.org/drawingml/2006/main">
            <a:r>
              <a:t>      "전문가 확인",</a:t>
            </a:r>
          </a:p>
          <a:p xmlns:a="http://schemas.openxmlformats.org/drawingml/2006/main">
            <a:r>
              <a:t>      "정비 기록"</a:t>
            </a:r>
          </a:p>
          <a:p xmlns:a="http://schemas.openxmlformats.org/drawingml/2006/main">
            <a:r>
              <a:t>    ],</a:t>
            </a:r>
          </a:p>
          <a:p xmlns:a="http://schemas.openxmlformats.org/drawingml/2006/main">
            <a:r>
              <a:t>    "control": "실제 결함과 검측 후보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코레일 자동검측·AI 확대 · 코레일 / 2025-08-17 https://info.korail.com/info/selectBbsNttView.do?bbsNo=199&amp;key=911&amp;nttNo=25238</a:t>
            </a:r>
          </a:p>
          <a:p xmlns:a="http://schemas.openxmlformats.org/drawingml/2006/main">
            <a:r>
              <a:t>홈페이지 https://heen1987-ops.github.io/TS-business-Plan-001/index.html?view=casebook&amp;case=AX17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"AX17",</a:t>
            </a:r>
          </a:p>
          <a:p xmlns:a="http://schemas.openxmlformats.org/drawingml/2006/main">
            <a:r>
              <a:t>    "title": "코레일 자동검측·AI 확대",</a:t>
            </a:r>
          </a:p>
          <a:p xmlns:a="http://schemas.openxmlformats.org/drawingml/2006/main">
            <a:r>
              <a:t>    "region": "국내",</a:t>
            </a:r>
          </a:p>
          <a:p xmlns:a="http://schemas.openxmlformats.org/drawingml/2006/main">
            <a:r>
              <a:t>    "country": "대한민국",</a:t>
            </a:r>
          </a:p>
          <a:p xmlns:a="http://schemas.openxmlformats.org/drawingml/2006/main">
            <a:r>
              <a:t>    "result": "혼합",</a:t>
            </a:r>
          </a:p>
          <a:p xmlns:a="http://schemas.openxmlformats.org/drawingml/2006/main">
            <a:r>
              <a:t>    "kind": "철도 설비 자동점검",</a:t>
            </a:r>
          </a:p>
          <a:p xmlns:a="http://schemas.openxmlformats.org/drawingml/2006/main">
            <a:r>
              <a:t>    "period": "2025 운영·고도화 계획",</a:t>
            </a:r>
          </a:p>
          <a:p xmlns:a="http://schemas.openxmlformats.org/drawingml/2006/main">
            <a:r>
              <a:t>    "sources": [</a:t>
            </a:r>
          </a:p>
          <a:p xmlns:a="http://schemas.openxmlformats.org/drawingml/2006/main">
            <a:r>
              <a:t>      "S-AX17"</a:t>
            </a:r>
          </a:p>
          <a:p xmlns:a="http://schemas.openxmlformats.org/drawingml/2006/main">
            <a:r>
              <a:t>    ],</a:t>
            </a:r>
          </a:p>
          <a:p xmlns:a="http://schemas.openxmlformats.org/drawingml/2006/main">
            <a:r>
              <a:t>    "keywords": [</a:t>
            </a:r>
          </a:p>
          <a:p xmlns:a="http://schemas.openxmlformats.org/drawingml/2006/main">
            <a:r>
              <a:t>      "철도 설비 자동점검"</a:t>
            </a:r>
          </a:p>
          <a:p xmlns:a="http://schemas.openxmlformats.org/drawingml/2006/main">
            <a:r>
              <a:t>    ],</a:t>
            </a:r>
          </a:p>
          <a:p xmlns:a="http://schemas.openxmlformats.org/drawingml/2006/main">
            <a:r>
              <a:t>    "fact": "자동검측 운영을 통한 설비 이상 탐지와 AI 분석 고도화 방향 공개",</a:t>
            </a:r>
          </a:p>
          <a:p xmlns:a="http://schemas.openxmlformats.org/drawingml/2006/main">
            <a:r>
              <a:t>    "limit": "현재 검측 기능과 향후 AI 확대 구분 · 안전 감소 효과의 인과 검증 별도",</a:t>
            </a:r>
          </a:p>
          <a:p xmlns:a="http://schemas.openxmlformats.org/drawingml/2006/main">
            <a:r>
              <a:t>    "flow": [</a:t>
            </a:r>
          </a:p>
          <a:p xmlns:a="http://schemas.openxmlformats.org/drawingml/2006/main">
            <a:r>
              <a:t>      "검측·영상 수집",</a:t>
            </a:r>
          </a:p>
          <a:p xmlns:a="http://schemas.openxmlformats.org/drawingml/2006/main">
            <a:r>
              <a:t>      "이상 후보 추출",</a:t>
            </a:r>
          </a:p>
          <a:p xmlns:a="http://schemas.openxmlformats.org/drawingml/2006/main">
            <a:r>
              <a:t>      "전문가 확인",</a:t>
            </a:r>
          </a:p>
          <a:p xmlns:a="http://schemas.openxmlformats.org/drawingml/2006/main">
            <a:r>
              <a:t>      "정비·검사 이력"</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"원천 검측과 판정 근거의 일관된 인계",</a:t>
            </a:r>
          </a:p>
          <a:p xmlns:a="http://schemas.openxmlformats.org/drawingml/2006/main">
            <a:r>
              <a:t>    "local": "TS 철도 안전 점검의 설비·검사·조치 증거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"설비 ID·판정 기준·검사 시점 대사",</a:t>
            </a:r>
          </a:p>
          <a:p xmlns:a="http://schemas.openxmlformats.org/drawingml/2006/main">
            <a:r>
              <a:t>    "test": "정상·이상·판정 변경 및 미조치 자료 재현",</a:t>
            </a:r>
          </a:p>
          <a:p xmlns:a="http://schemas.openxmlformats.org/drawingml/2006/main">
            <a:r>
              <a:t>    "metric": "검사 검토시간 / 증거 누락률",</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"AX17",</a:t>
            </a:r>
          </a:p>
          <a:p xmlns:a="http://schemas.openxmlformats.org/drawingml/2006/main">
            <a:r>
              <a:t>    "canonicalId": "AX17",</a:t>
            </a:r>
          </a:p>
          <a:p xmlns:a="http://schemas.openxmlformats.org/drawingml/2006/main">
            <a:r>
              <a:t>    "purpose": "철도 설비 자동검측과 유지보수 우선순위 지원",</a:t>
            </a:r>
          </a:p>
          <a:p xmlns:a="http://schemas.openxmlformats.org/drawingml/2006/main">
            <a:r>
              <a:t>    "users": "검측·시설 유지보수 담당",</a:t>
            </a:r>
          </a:p>
          <a:p xmlns:a="http://schemas.openxmlformats.org/drawingml/2006/main">
            <a:r>
              <a:t>    "scope": [</a:t>
            </a:r>
          </a:p>
          <a:p xmlns:a="http://schemas.openxmlformats.org/drawingml/2006/main">
            <a:r>
              <a:t>      "설비 관측",</a:t>
            </a:r>
          </a:p>
          <a:p xmlns:a="http://schemas.openxmlformats.org/drawingml/2006/main">
            <a:r>
              <a:t>      "이상 탐지",</a:t>
            </a:r>
          </a:p>
          <a:p xmlns:a="http://schemas.openxmlformats.org/drawingml/2006/main">
            <a:r>
              <a:t>      "정비 확인"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"검측 장비",</a:t>
            </a:r>
          </a:p>
          <a:p xmlns:a="http://schemas.openxmlformats.org/drawingml/2006/main">
            <a:r>
              <a:t>        "detail": "노선·설비 ID·검측구간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"설비 관측 / 이상 탐지 / 정비 확인",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"이상 후보 분석",</a:t>
            </a:r>
          </a:p>
          <a:p xmlns:a="http://schemas.openxmlformats.org/drawingml/2006/main">
            <a:r>
              <a:t>        "detail": "검측 수치의 이상 후보와 추세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"철도 정비 담당",</a:t>
            </a:r>
          </a:p>
          <a:p xmlns:a="http://schemas.openxmlformats.org/drawingml/2006/main">
            <a:r>
              <a:t>        "detail": "점검 담당자의 확인 후 정비계획 반영",</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"검측·정비 기록",</a:t>
            </a:r>
          </a:p>
          <a:p xmlns:a="http://schemas.openxmlformats.org/drawingml/2006/main">
            <a:r>
              <a:t>        "detail": "검측값·설비대장·과거 정비 이력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"현장 확인값과 조치 후 재검측 결과 비교",</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"검측·영상 수집",</a:t>
            </a:r>
          </a:p>
          <a:p xmlns:a="http://schemas.openxmlformats.org/drawingml/2006/main">
            <a:r>
              <a:t>        "input": "노선·설비 ID·검측구간 식별",</a:t>
            </a:r>
          </a:p>
          <a:p xmlns:a="http://schemas.openxmlformats.org/drawingml/2006/main">
            <a:r>
              <a:t>        "process": "검측값·설비대장·과거 정비 이력 연결",</a:t>
            </a:r>
          </a:p>
          <a:p xmlns:a="http://schemas.openxmlformats.org/drawingml/2006/main">
            <a:r>
              <a:t>        "output": "검측값·영상"</a:t>
            </a:r>
          </a:p>
          <a:p xmlns:a="http://schemas.openxmlformats.org/drawingml/2006/main">
            <a:r>
              <a:t>      },</a:t>
            </a:r>
          </a:p>
          <a:p xmlns:a="http://schemas.openxmlformats.org/drawingml/2006/main">
            <a:r>
              <a:t>      {</a:t>
            </a:r>
          </a:p>
          <a:p xmlns:a="http://schemas.openxmlformats.org/drawingml/2006/main">
            <a:r>
              <a:t>        "title": "이상 후보 추출",</a:t>
            </a:r>
          </a:p>
          <a:p xmlns:a="http://schemas.openxmlformats.org/drawingml/2006/main">
            <a:r>
              <a:t>        "input": "검측값·영상",</a:t>
            </a:r>
          </a:p>
          <a:p xmlns:a="http://schemas.openxmlformats.org/drawingml/2006/main">
            <a:r>
              <a:t>        "process": "검측 수치의 이상 후보와 추세 분석",</a:t>
            </a:r>
          </a:p>
          <a:p xmlns:a="http://schemas.openxmlformats.org/drawingml/2006/main">
            <a:r>
              <a:t>        "output": "결함 후보"</a:t>
            </a:r>
          </a:p>
          <a:p xmlns:a="http://schemas.openxmlformats.org/drawingml/2006/main">
            <a:r>
              <a:t>      },</a:t>
            </a:r>
          </a:p>
          <a:p xmlns:a="http://schemas.openxmlformats.org/drawingml/2006/main">
            <a:r>
              <a:t>      {</a:t>
            </a:r>
          </a:p>
          <a:p xmlns:a="http://schemas.openxmlformats.org/drawingml/2006/main">
            <a:r>
              <a:t>        "title": "전문가 확인",</a:t>
            </a:r>
          </a:p>
          <a:p xmlns:a="http://schemas.openxmlformats.org/drawingml/2006/main">
            <a:r>
              <a:t>        "input": "결함 후보",</a:t>
            </a:r>
          </a:p>
          <a:p xmlns:a="http://schemas.openxmlformats.org/drawingml/2006/main">
            <a:r>
              <a:t>        "process": "실제 결함과 검측 후보 대사",</a:t>
            </a:r>
          </a:p>
          <a:p xmlns:a="http://schemas.openxmlformats.org/drawingml/2006/main">
            <a:r>
              <a:t>        "output": "전문가 확인"</a:t>
            </a:r>
          </a:p>
          <a:p xmlns:a="http://schemas.openxmlformats.org/drawingml/2006/main">
            <a:r>
              <a:t>      },</a:t>
            </a:r>
          </a:p>
          <a:p xmlns:a="http://schemas.openxmlformats.org/drawingml/2006/main">
            <a:r>
              <a:t>      {</a:t>
            </a:r>
          </a:p>
          <a:p xmlns:a="http://schemas.openxmlformats.org/drawingml/2006/main">
            <a:r>
              <a:t>        "title": "정비·검사 이력",</a:t>
            </a:r>
          </a:p>
          <a:p xmlns:a="http://schemas.openxmlformats.org/drawingml/2006/main">
            <a:r>
              <a:t>        "input": "전문가 확인",</a:t>
            </a:r>
          </a:p>
          <a:p xmlns:a="http://schemas.openxmlformats.org/drawingml/2006/main">
            <a:r>
              <a:t>        "process": "점검 담당자의 확인 후 정비계획 반영",</a:t>
            </a:r>
          </a:p>
          <a:p xmlns:a="http://schemas.openxmlformats.org/drawingml/2006/main">
            <a:r>
              <a:t>        "output": "정비 기록"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"검측 이상을 설비대장에 연결하고 점검 대상 선정",</a:t>
            </a:r>
          </a:p>
          <a:p xmlns:a="http://schemas.openxmlformats.org/drawingml/2006/main">
            <a:r>
              <a:t>      "exception": "설비 ID 불일치·센서 튐·정비 후 상태 미갱신",</a:t>
            </a:r>
          </a:p>
          <a:p xmlns:a="http://schemas.openxmlformats.org/drawingml/2006/main">
            <a:r>
              <a:t>      "evidence": "검측 원천·설비·현장 판정·재검측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"검측·시설 유지보수 담당",</a:t>
            </a:r>
          </a:p>
          <a:p xmlns:a="http://schemas.openxmlformats.org/drawingml/2006/main">
            <a:r>
              <a:t>          "processing": "노선·설비 ID·검측구간 식별",</a:t>
            </a:r>
          </a:p>
          <a:p xmlns:a="http://schemas.openxmlformats.org/drawingml/2006/main">
            <a:r>
              <a:t>          "output": "검측값·영상"</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"검측·정비 기록",</a:t>
            </a:r>
          </a:p>
          <a:p xmlns:a="http://schemas.openxmlformats.org/drawingml/2006/main">
            <a:r>
              <a:t>          "processing": "검측값·설비대장·과거 정비 이력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"검측값·영상",</a:t>
            </a:r>
          </a:p>
          <a:p xmlns:a="http://schemas.openxmlformats.org/drawingml/2006/main">
            <a:r>
              <a:t>          "processing": "검측 수치의 이상 후보와 추세 분석",</a:t>
            </a:r>
          </a:p>
          <a:p xmlns:a="http://schemas.openxmlformats.org/drawingml/2006/main">
            <a:r>
              <a:t>          "output": "전문가 확인"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"전문가 확인",</a:t>
            </a:r>
          </a:p>
          <a:p xmlns:a="http://schemas.openxmlformats.org/drawingml/2006/main">
            <a:r>
              <a:t>          "processing": "점검 담당자의 확인 후 정비계획 반영",</a:t>
            </a:r>
          </a:p>
          <a:p xmlns:a="http://schemas.openxmlformats.org/drawingml/2006/main">
            <a:r>
              <a:t>          "output": "정비 기록"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"현장 확인값과 조치 후 재검측 결과 비교",</a:t>
            </a:r>
          </a:p>
          <a:p xmlns:a="http://schemas.openxmlformats.org/drawingml/2006/main">
            <a:r>
              <a:t>          "output": "검측 원천·설비·현장 판정·재검측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"현장 확인값과 조치 후 재검측 결과 비교",</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"S-AX17",</a:t>
            </a:r>
          </a:p>
          <a:p xmlns:a="http://schemas.openxmlformats.org/drawingml/2006/main">
            <a:r>
              <a:t>        "title": "코레일 자동검측·AI 확대 · 코레일 / 2025-08-17",</a:t>
            </a:r>
          </a:p>
          <a:p xmlns:a="http://schemas.openxmlformats.org/drawingml/2006/main">
            <a:r>
              <a:t>        "url": "https://info.korail.com/info/selectBbsNttView.do?bbsNo=199&amp;key=911&amp;nttNo=25238",</a:t>
            </a:r>
          </a:p>
          <a:p xmlns:a="http://schemas.openxmlformats.org/drawingml/2006/main">
            <a:r>
              <a:t>        "published": "2025 운영·고도화 계획",</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"원천 검측과 판정 근거의 일관된 인계",</a:t>
            </a:r>
          </a:p>
          <a:p xmlns:a="http://schemas.openxmlformats.org/drawingml/2006/main">
            <a:r>
              <a:t>    "local": "TS 철도 안전 점검의 설비·검사·조치 증거 연결",</a:t>
            </a:r>
          </a:p>
          <a:p xmlns:a="http://schemas.openxmlformats.org/drawingml/2006/main">
            <a:r>
              <a:t>    "sourceDetail": null,</a:t>
            </a:r>
          </a:p>
          <a:p xmlns:a="http://schemas.openxmlformats.org/drawingml/2006/main">
            <a:r>
              <a:t>    "narrative": [</a:t>
            </a:r>
          </a:p>
          <a:p xmlns:a="http://schemas.openxmlformats.org/drawingml/2006/main">
            <a:r>
              <a:t>      "철도 설비의 자동검측 자료를 유지보수 검토에 활용하는 사례. 검측 데이터 확보, AI 이상 분석, 현장 정비 판단은 서로 다른 기능·사업 범위.",</a:t>
            </a:r>
          </a:p>
          <a:p xmlns:a="http://schemas.openxmlformats.org/drawingml/2006/main">
            <a:r>
              <a:t>      "노선·설비 ID·검측구간을 기준으로 관측값과 과거 정비 이력을 결합하고 이상 후보를 점검자에게 제공하는 재구성. 현장 확인과 조치 후 재검측을 연결해 후보의 유효성을 확인.",</a:t>
            </a:r>
          </a:p>
          <a:p xmlns:a="http://schemas.openxmlformats.org/drawingml/2006/main">
            <a:r>
              <a:t>      "TS 철도 안전 업무에서는 기존 자동검측 장비와 추가 분석 모델을 분리해 재사용 범위를 산정할 필요. 실제 결함 정답, 설비별 탐지 편차, 정비 조치·재점검 증빙을 검수에 연결."</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"자동검측 접점",</a:t>
            </a:r>
          </a:p>
          <a:p xmlns:a="http://schemas.openxmlformats.org/drawingml/2006/main">
            <a:r>
              <a:t>          "layer": "이용 접점",</a:t>
            </a:r>
          </a:p>
          <a:p xmlns:a="http://schemas.openxmlformats.org/drawingml/2006/main">
            <a:r>
              <a:t>          "detail": "검측·시설 유지보수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"노선·설비 ID",</a:t>
            </a:r>
          </a:p>
          <a:p xmlns:a="http://schemas.openxmlformats.org/drawingml/2006/main">
            <a:r>
              <a:t>          "layer": "업무 문맥",</a:t>
            </a:r>
          </a:p>
          <a:p xmlns:a="http://schemas.openxmlformats.org/drawingml/2006/main">
            <a:r>
              <a:t>          "detail": "노선·설비 ID·검측구간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"검측·정비 조회",</a:t>
            </a:r>
          </a:p>
          <a:p xmlns:a="http://schemas.openxmlformats.org/drawingml/2006/main">
            <a:r>
              <a:t>          "layer": "자료 조회",</a:t>
            </a:r>
          </a:p>
          <a:p xmlns:a="http://schemas.openxmlformats.org/drawingml/2006/main">
            <a:r>
              <a:t>          "detail": "검측값·영상",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"이상 후보 분석",</a:t>
            </a:r>
          </a:p>
          <a:p xmlns:a="http://schemas.openxmlformats.org/drawingml/2006/main">
            <a:r>
              <a:t>          "layer": "핵심 처리",</a:t>
            </a:r>
          </a:p>
          <a:p xmlns:a="http://schemas.openxmlformats.org/drawingml/2006/main">
            <a:r>
              <a:t>          "detail": "검측 수치의 이상 후보와 추세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"결함 기준 대조",</a:t>
            </a:r>
          </a:p>
          <a:p xmlns:a="http://schemas.openxmlformats.org/drawingml/2006/main">
            <a:r>
              <a:t>          "layer": "결과 검증",</a:t>
            </a:r>
          </a:p>
          <a:p xmlns:a="http://schemas.openxmlformats.org/drawingml/2006/main">
            <a:r>
              <a:t>          "detail": "실제 결함과 검측 후보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"점검 담당 확인",</a:t>
            </a:r>
          </a:p>
          <a:p xmlns:a="http://schemas.openxmlformats.org/drawingml/2006/main">
            <a:r>
              <a:t>          "layer": "사람 확인",</a:t>
            </a:r>
          </a:p>
          <a:p xmlns:a="http://schemas.openxmlformats.org/drawingml/2006/main">
            <a:r>
              <a:t>          "detail": "검측 이상을 설비대장에 연결하고 점검 대상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"정비계획 반영",</a:t>
            </a:r>
          </a:p>
          <a:p xmlns:a="http://schemas.openxmlformats.org/drawingml/2006/main">
            <a:r>
              <a:t>          "layer": "업무 연결",</a:t>
            </a:r>
          </a:p>
          <a:p xmlns:a="http://schemas.openxmlformats.org/drawingml/2006/main">
            <a:r>
              <a:t>          "detail": "점검 담당자의 확인 후 정비계획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"조치 후 재검측",</a:t>
            </a:r>
          </a:p>
          <a:p xmlns:a="http://schemas.openxmlformats.org/drawingml/2006/main">
            <a:r>
              <a:t>          "layer": "운영 관측",</a:t>
            </a:r>
          </a:p>
          <a:p xmlns:a="http://schemas.openxmlformats.org/drawingml/2006/main">
            <a:r>
              <a:t>          "detail": "현장 확인값과 조치 후 재검측 결과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"설비·검측 자료",</a:t>
            </a:r>
          </a:p>
          <a:p xmlns:a="http://schemas.openxmlformats.org/drawingml/2006/main">
            <a:r>
              <a:t>          "layer": "데이터 원천",</a:t>
            </a:r>
          </a:p>
          <a:p xmlns:a="http://schemas.openxmlformats.org/drawingml/2006/main">
            <a:r>
              <a:t>          "detail": "검측·정비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"위치·단위 정합화",</a:t>
            </a:r>
          </a:p>
          <a:p xmlns:a="http://schemas.openxmlformats.org/drawingml/2006/main">
            <a:r>
              <a:t>          "layer": "준비·갱신",</a:t>
            </a:r>
          </a:p>
          <a:p xmlns:a="http://schemas.openxmlformats.org/drawingml/2006/main">
            <a:r>
              <a:t>          "detail": "검측값·설비대장·과거 정비 이력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"결함·정비 이력",</a:t>
            </a:r>
          </a:p>
          <a:p xmlns:a="http://schemas.openxmlformats.org/drawingml/2006/main">
            <a:r>
              <a:t>          "layer": "상태·지식 저장",</a:t>
            </a:r>
          </a:p>
          <a:p xmlns:a="http://schemas.openxmlformats.org/drawingml/2006/main">
            <a:r>
              <a:t>          "detail": "검측 원천·설비·현장 판정·재검측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"점검·판정 기준",</a:t>
            </a:r>
          </a:p>
          <a:p xmlns:a="http://schemas.openxmlformats.org/drawingml/2006/main">
            <a:r>
              <a:t>          "layer": "권한·정책",</a:t>
            </a:r>
          </a:p>
          <a:p xmlns:a="http://schemas.openxmlformats.org/drawingml/2006/main">
            <a:r>
              <a:t>          "detail": "설비 ID 불일치·센서 튐·정비 후 상태 미갱신",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"검측·영상 수집 → 이상 후보 추출 → 전문가 확인 → 정비·검사 이력"</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"검측·정비 기록",</a:t>
            </a:r>
          </a:p>
          <a:p xmlns:a="http://schemas.openxmlformats.org/drawingml/2006/main">
            <a:r>
              <a:t>          "check": "검측값·설비대장·과거 정비 이력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"검측값·설비대장·과거 정비 이력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"전문가 확인",</a:t>
            </a:r>
          </a:p>
          <a:p xmlns:a="http://schemas.openxmlformats.org/drawingml/2006/main">
            <a:r>
              <a:t>          "check": "검측 원천·설비·현장 판정·재검측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"점검·판정 기준",</a:t>
            </a:r>
          </a:p>
          <a:p xmlns:a="http://schemas.openxmlformats.org/drawingml/2006/main">
            <a:r>
              <a:t>          "check": "실제 결함과 검측 후보 대사"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"정비 기록",</a:t>
            </a:r>
          </a:p>
          <a:p xmlns:a="http://schemas.openxmlformats.org/drawingml/2006/main">
            <a:r>
              <a:t>          "check": "검측 원천·설비·현장 판정·재검측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"현장 확인값과 조치 후 재검측 결과 비교",</a:t>
            </a:r>
          </a:p>
          <a:p xmlns:a="http://schemas.openxmlformats.org/drawingml/2006/main">
            <a:r>
              <a:t>          "check": "현장 확인값과 조치 후 재검측 결과 비교"</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"철도 설비 자동검측과 유지보수 우선순위 지원 / 설비 관측·이상 탐지·정비 확인",</a:t>
            </a:r>
          </a:p>
          <a:p xmlns:a="http://schemas.openxmlformats.org/drawingml/2006/main">
            <a:r>
              <a:t>        "extension": "TS 철도 안전 점검의 설비·검사·조치 증거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"설비 ID 불일치·센서 튐·정비 후 상태 미갱신",</a:t>
            </a:r>
          </a:p>
          <a:p xmlns:a="http://schemas.openxmlformats.org/drawingml/2006/main">
            <a:r>
              <a:t>        "hold": "실제 결함과 검측 후보 대사",</a:t>
            </a:r>
          </a:p>
          <a:p xmlns:a="http://schemas.openxmlformats.org/drawingml/2006/main">
            <a:r>
              <a:t>        "recovery": "현장 확인값과 조치 후 재검측 결과 비교",</a:t>
            </a:r>
          </a:p>
          <a:p xmlns:a="http://schemas.openxmlformats.org/drawingml/2006/main">
            <a:r>
              <a:t>        "evidence": "검측 원천·설비·현장 판정·재검측 연결표"</a:t>
            </a:r>
          </a:p>
          <a:p xmlns:a="http://schemas.openxmlformats.org/drawingml/2006/main">
            <a:r>
              <a:t>      },</a:t>
            </a:r>
          </a:p>
          <a:p xmlns:a="http://schemas.openxmlformats.org/drawingml/2006/main">
            <a:r>
              <a:t>      "data": {</a:t>
            </a:r>
          </a:p>
          <a:p xmlns:a="http://schemas.openxmlformats.org/drawingml/2006/main">
            <a:r>
              <a:t>        "source": "검측·정비 기록",</a:t>
            </a:r>
          </a:p>
          <a:p xmlns:a="http://schemas.openxmlformats.org/drawingml/2006/main">
            <a:r>
              <a:t>        "prepare": "검측값·설비대장·과거 정비 이력 연결",</a:t>
            </a:r>
          </a:p>
          <a:p xmlns:a="http://schemas.openxmlformats.org/drawingml/2006/main">
            <a:r>
              <a:t>        "output": "검측값·영상",</a:t>
            </a:r>
          </a:p>
          <a:p xmlns:a="http://schemas.openxmlformats.org/drawingml/2006/main">
            <a:r>
              <a:t>        "refresh": "현장 확인값과 조치 후 재검측 결과 비교"</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"AX17",</a:t>
            </a:r>
          </a:p>
          <a:p xmlns:a="http://schemas.openxmlformats.org/drawingml/2006/main">
            <a:r>
              <a:t>    "success": [</a:t>
            </a:r>
          </a:p>
          <a:p xmlns:a="http://schemas.openxmlformats.org/drawingml/2006/main">
            <a:r>
              <a:t>      "자동검측 자료의 지속 확보",</a:t>
            </a:r>
          </a:p>
          <a:p xmlns:a="http://schemas.openxmlformats.org/drawingml/2006/main">
            <a:r>
              <a:t>      "이상 후보와 정비 이력 연결"</a:t>
            </a:r>
          </a:p>
          <a:p xmlns:a="http://schemas.openxmlformats.org/drawingml/2006/main">
            <a:r>
              <a:t>    ],</a:t>
            </a:r>
          </a:p>
          <a:p xmlns:a="http://schemas.openxmlformats.org/drawingml/2006/main">
            <a:r>
              <a:t>    "risks": [</a:t>
            </a:r>
          </a:p>
          <a:p xmlns:a="http://schemas.openxmlformats.org/drawingml/2006/main">
            <a:r>
              <a:t>      "자동검측과 AI 개발 범위 혼동",</a:t>
            </a:r>
          </a:p>
          <a:p xmlns:a="http://schemas.openxmlformats.org/drawingml/2006/main">
            <a:r>
              <a:t>      "설비·노선별 탐지 편차"</a:t>
            </a:r>
          </a:p>
          <a:p xmlns:a="http://schemas.openxmlformats.org/drawingml/2006/main">
            <a:r>
              <a:t>    ],</a:t>
            </a:r>
          </a:p>
          <a:p xmlns:a="http://schemas.openxmlformats.org/drawingml/2006/main">
            <a:r>
              <a:t>    "architecture": [</a:t>
            </a:r>
          </a:p>
          <a:p xmlns:a="http://schemas.openxmlformats.org/drawingml/2006/main">
            <a:r>
              <a:t>      "검측 장비",</a:t>
            </a:r>
          </a:p>
          <a:p xmlns:a="http://schemas.openxmlformats.org/drawingml/2006/main">
            <a:r>
              <a:t>      "이상 후보 분석",</a:t>
            </a:r>
          </a:p>
          <a:p xmlns:a="http://schemas.openxmlformats.org/drawingml/2006/main">
            <a:r>
              <a:t>      "검측·정비 기록",</a:t>
            </a:r>
          </a:p>
          <a:p xmlns:a="http://schemas.openxmlformats.org/drawingml/2006/main">
            <a:r>
              <a:t>      "철도 정비 담당"</a:t>
            </a:r>
          </a:p>
          <a:p xmlns:a="http://schemas.openxmlformats.org/drawingml/2006/main">
            <a:r>
              <a:t>    ],</a:t>
            </a:r>
          </a:p>
          <a:p xmlns:a="http://schemas.openxmlformats.org/drawingml/2006/main">
            <a:r>
              <a:t>    "transfers": [</a:t>
            </a:r>
          </a:p>
          <a:p xmlns:a="http://schemas.openxmlformats.org/drawingml/2006/main">
            <a:r>
              <a:t>      "검측값·영상",</a:t>
            </a:r>
          </a:p>
          <a:p xmlns:a="http://schemas.openxmlformats.org/drawingml/2006/main">
            <a:r>
              <a:t>      "결함 후보",</a:t>
            </a:r>
          </a:p>
          <a:p xmlns:a="http://schemas.openxmlformats.org/drawingml/2006/main">
            <a:r>
              <a:t>      "전문가 확인",</a:t>
            </a:r>
          </a:p>
          <a:p xmlns:a="http://schemas.openxmlformats.org/drawingml/2006/main">
            <a:r>
              <a:t>      "정비 기록"</a:t>
            </a:r>
          </a:p>
          <a:p xmlns:a="http://schemas.openxmlformats.org/drawingml/2006/main">
            <a:r>
              <a:t>    ],</a:t>
            </a:r>
          </a:p>
          <a:p xmlns:a="http://schemas.openxmlformats.org/drawingml/2006/main">
            <a:r>
              <a:t>    "control": "실제 결함과 검측 후보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코레일 자동검측·AI 확대 · 코레일 / 2025-08-17 https://info.korail.com/info/selectBbsNttView.do?bbsNo=199&amp;key=911&amp;nttNo=25238</a:t>
            </a:r>
          </a:p>
          <a:p xmlns:a="http://schemas.openxmlformats.org/drawingml/2006/main">
            <a:r>
              <a:t>홈페이지 https://heen1987-ops.github.io/TS-business-Plan-001/index.html?view=casebook&amp;case=AX17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"AX18",</a:t>
            </a:r>
          </a:p>
          <a:p xmlns:a="http://schemas.openxmlformats.org/drawingml/2006/main">
            <a:r>
              <a:t>    "title": "Network Rail Insight",</a:t>
            </a:r>
          </a:p>
          <a:p xmlns:a="http://schemas.openxmlformats.org/drawingml/2006/main">
            <a:r>
              <a:t>    "region": "해외",</a:t>
            </a:r>
          </a:p>
          <a:p xmlns:a="http://schemas.openxmlformats.org/drawingml/2006/main">
            <a:r>
              <a:t>    "country": "영국",</a:t>
            </a:r>
          </a:p>
          <a:p xmlns:a="http://schemas.openxmlformats.org/drawingml/2006/main">
            <a:r>
              <a:t>    "result": "성공",</a:t>
            </a:r>
          </a:p>
          <a:p xmlns:a="http://schemas.openxmlformats.org/drawingml/2006/main">
            <a:r>
              <a:t>    "kind": "철도 예지정비",</a:t>
            </a:r>
          </a:p>
          <a:p xmlns:a="http://schemas.openxmlformats.org/drawingml/2006/main">
            <a:r>
              <a:t>    "period": "2023 운영 소개",</a:t>
            </a:r>
          </a:p>
          <a:p xmlns:a="http://schemas.openxmlformats.org/drawingml/2006/main">
            <a:r>
              <a:t>    "sources": [</a:t>
            </a:r>
          </a:p>
          <a:p xmlns:a="http://schemas.openxmlformats.org/drawingml/2006/main">
            <a:r>
              <a:t>      "S-AX18"</a:t>
            </a:r>
          </a:p>
          <a:p xmlns:a="http://schemas.openxmlformats.org/drawingml/2006/main">
            <a:r>
              <a:t>    ],</a:t>
            </a:r>
          </a:p>
          <a:p xmlns:a="http://schemas.openxmlformats.org/drawingml/2006/main">
            <a:r>
              <a:t>    "keywords": [</a:t>
            </a:r>
          </a:p>
          <a:p xmlns:a="http://schemas.openxmlformats.org/drawingml/2006/main">
            <a:r>
              <a:t>      "철도 예지정비"</a:t>
            </a:r>
          </a:p>
          <a:p xmlns:a="http://schemas.openxmlformats.org/drawingml/2006/main">
            <a:r>
              <a:t>    ],</a:t>
            </a:r>
          </a:p>
          <a:p xmlns:a="http://schemas.openxmlformats.org/drawingml/2006/main">
            <a:r>
              <a:t>    "fact": "설비 데이터와 AI 분석을 결합하여 철도 유지관리의 이상 징후·우선순위 검토 지원",</a:t>
            </a:r>
          </a:p>
          <a:p xmlns:a="http://schemas.openxmlformats.org/drawingml/2006/main">
            <a:r>
              <a:t>    "limit": "철도 운영사 사례 · TS의 검사·감독 책임 범위에 맞춘 현지화 필요",</a:t>
            </a:r>
          </a:p>
          <a:p xmlns:a="http://schemas.openxmlformats.org/drawingml/2006/main">
            <a:r>
              <a:t>    "flow": [</a:t>
            </a:r>
          </a:p>
          <a:p xmlns:a="http://schemas.openxmlformats.org/drawingml/2006/main">
            <a:r>
              <a:t>      "설비·검측 자료",</a:t>
            </a:r>
          </a:p>
          <a:p xmlns:a="http://schemas.openxmlformats.org/drawingml/2006/main">
            <a:r>
              <a:t>      "AI 이상 분석",</a:t>
            </a:r>
          </a:p>
          <a:p xmlns:a="http://schemas.openxmlformats.org/drawingml/2006/main">
            <a:r>
              <a:t>      "정비 우선순위",</a:t>
            </a:r>
          </a:p>
          <a:p xmlns:a="http://schemas.openxmlformats.org/drawingml/2006/main">
            <a:r>
              <a:t>      "담당자 조치"</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"위험 예측과 정비 의사결정의 연결",</a:t>
            </a:r>
          </a:p>
          <a:p xmlns:a="http://schemas.openxmlformats.org/drawingml/2006/main">
            <a:r>
              <a:t>    "local": "TS 점검 계획의 위험 근거·소관·이력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"설비별 위험 근거 묶음·담당 배정·기한 관리",</a:t>
            </a:r>
          </a:p>
          <a:p xmlns:a="http://schemas.openxmlformats.org/drawingml/2006/main">
            <a:r>
              <a:t>    "test": "결측·상충 신호·미조치 건 우선순위 검증",</a:t>
            </a:r>
          </a:p>
          <a:p xmlns:a="http://schemas.openxmlformats.org/drawingml/2006/main">
            <a:r>
              <a:t>    "metric": "점검 준비시간 / 미조치 추적률",</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"AX18",</a:t>
            </a:r>
          </a:p>
          <a:p xmlns:a="http://schemas.openxmlformats.org/drawingml/2006/main">
            <a:r>
              <a:t>    "canonicalId": "AX18",</a:t>
            </a:r>
          </a:p>
          <a:p xmlns:a="http://schemas.openxmlformats.org/drawingml/2006/main">
            <a:r>
              <a:t>    "purpose": "설비 데이터 통합에 기반한 철도 예방정비",</a:t>
            </a:r>
          </a:p>
          <a:p xmlns:a="http://schemas.openxmlformats.org/drawingml/2006/main">
            <a:r>
              <a:t>    "users": "설비관리자·현장 유지보수 담당",</a:t>
            </a:r>
          </a:p>
          <a:p xmlns:a="http://schemas.openxmlformats.org/drawingml/2006/main">
            <a:r>
              <a:t>    "scope": [</a:t>
            </a:r>
          </a:p>
          <a:p xmlns:a="http://schemas.openxmlformats.org/drawingml/2006/main">
            <a:r>
              <a:t>      "이상 징후",</a:t>
            </a:r>
          </a:p>
          <a:p xmlns:a="http://schemas.openxmlformats.org/drawingml/2006/main">
            <a:r>
              <a:t>      "우선순위",</a:t>
            </a:r>
          </a:p>
          <a:p xmlns:a="http://schemas.openxmlformats.org/drawingml/2006/main">
            <a:r>
              <a:t>      "정비 계획"</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"설비·검측 수집",</a:t>
            </a:r>
          </a:p>
          <a:p xmlns:a="http://schemas.openxmlformats.org/drawingml/2006/main">
            <a:r>
              <a:t>        "detail": "설비·위치·고장 맥락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"이상 징후 / 우선순위 / 정비 계획",</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"Insight 분석",</a:t>
            </a:r>
          </a:p>
          <a:p xmlns:a="http://schemas.openxmlformats.org/drawingml/2006/main">
            <a:r>
              <a:t>        "detail": "서로 다른 관측자료의 이상 신호 결합",</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"유지관리 담당",</a:t>
            </a:r>
          </a:p>
          <a:p xmlns:a="http://schemas.openxmlformats.org/drawingml/2006/main">
            <a:r>
              <a:t>        "detail": "위험 후보를 현장 점검·정비계획으로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"설비·이상 이력",</a:t>
            </a:r>
          </a:p>
          <a:p xmlns:a="http://schemas.openxmlformats.org/drawingml/2006/main">
            <a:r>
              <a:t>        "detail": "설비 ID 기준 관측·상태·정비 이력 통합",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"현장 판정과 실제 결함을 다음 분석에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"설비·검측 자료",</a:t>
            </a:r>
          </a:p>
          <a:p xmlns:a="http://schemas.openxmlformats.org/drawingml/2006/main">
            <a:r>
              <a:t>        "input": "설비·위치·고장 맥락 지정",</a:t>
            </a:r>
          </a:p>
          <a:p xmlns:a="http://schemas.openxmlformats.org/drawingml/2006/main">
            <a:r>
              <a:t>        "process": "설비 ID 기준 관측·상태·정비 이력 통합",</a:t>
            </a:r>
          </a:p>
          <a:p xmlns:a="http://schemas.openxmlformats.org/drawingml/2006/main">
            <a:r>
              <a:t>        "output": "설비 관측"</a:t>
            </a:r>
          </a:p>
          <a:p xmlns:a="http://schemas.openxmlformats.org/drawingml/2006/main">
            <a:r>
              <a:t>      },</a:t>
            </a:r>
          </a:p>
          <a:p xmlns:a="http://schemas.openxmlformats.org/drawingml/2006/main">
            <a:r>
              <a:t>      {</a:t>
            </a:r>
          </a:p>
          <a:p xmlns:a="http://schemas.openxmlformats.org/drawingml/2006/main">
            <a:r>
              <a:t>        "title": "AI 이상 분석",</a:t>
            </a:r>
          </a:p>
          <a:p xmlns:a="http://schemas.openxmlformats.org/drawingml/2006/main">
            <a:r>
              <a:t>        "input": "설비 관측",</a:t>
            </a:r>
          </a:p>
          <a:p xmlns:a="http://schemas.openxmlformats.org/drawingml/2006/main">
            <a:r>
              <a:t>        "process": "서로 다른 관측자료의 이상 신호 결합",</a:t>
            </a:r>
          </a:p>
          <a:p xmlns:a="http://schemas.openxmlformats.org/drawingml/2006/main">
            <a:r>
              <a:t>        "output": "이상 징후"</a:t>
            </a:r>
          </a:p>
          <a:p xmlns:a="http://schemas.openxmlformats.org/drawingml/2006/main">
            <a:r>
              <a:t>      },</a:t>
            </a:r>
          </a:p>
          <a:p xmlns:a="http://schemas.openxmlformats.org/drawingml/2006/main">
            <a:r>
              <a:t>      {</a:t>
            </a:r>
          </a:p>
          <a:p xmlns:a="http://schemas.openxmlformats.org/drawingml/2006/main">
            <a:r>
              <a:t>        "title": "정비 우선순위",</a:t>
            </a:r>
          </a:p>
          <a:p xmlns:a="http://schemas.openxmlformats.org/drawingml/2006/main">
            <a:r>
              <a:t>        "input": "이상 징후",</a:t>
            </a:r>
          </a:p>
          <a:p xmlns:a="http://schemas.openxmlformats.org/drawingml/2006/main">
            <a:r>
              <a:t>        "process": "누락 설비·중요 결함 별도 평가",</a:t>
            </a:r>
          </a:p>
          <a:p xmlns:a="http://schemas.openxmlformats.org/drawingml/2006/main">
            <a:r>
              <a:t>        "output": "정비 우선순위"</a:t>
            </a:r>
          </a:p>
          <a:p xmlns:a="http://schemas.openxmlformats.org/drawingml/2006/main">
            <a:r>
              <a:t>      },</a:t>
            </a:r>
          </a:p>
          <a:p xmlns:a="http://schemas.openxmlformats.org/drawingml/2006/main">
            <a:r>
              <a:t>      {</a:t>
            </a:r>
          </a:p>
          <a:p xmlns:a="http://schemas.openxmlformats.org/drawingml/2006/main">
            <a:r>
              <a:t>        "title": "담당자 조치",</a:t>
            </a:r>
          </a:p>
          <a:p xmlns:a="http://schemas.openxmlformats.org/drawingml/2006/main">
            <a:r>
              <a:t>        "input": "정비 우선순위",</a:t>
            </a:r>
          </a:p>
          <a:p xmlns:a="http://schemas.openxmlformats.org/drawingml/2006/main">
            <a:r>
              <a:t>        "process": "위험 후보를 현장 점검·정비계획으로 연결",</a:t>
            </a:r>
          </a:p>
          <a:p xmlns:a="http://schemas.openxmlformats.org/drawingml/2006/main">
            <a:r>
              <a:t>        "output": "조치·재점검"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"설비의 여러 관측 신호로 정비 우선순위를 검토",</a:t>
            </a:r>
          </a:p>
          <a:p xmlns:a="http://schemas.openxmlformats.org/drawingml/2006/main">
            <a:r>
              <a:t>      "exception": "데이터 지연·상충 신호·정비 완료 이력 누락",</a:t>
            </a:r>
          </a:p>
          <a:p xmlns:a="http://schemas.openxmlformats.org/drawingml/2006/main">
            <a:r>
              <a:t>      "evidence": "우선순위 근거와 현장 확인·정비 결과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"설비관리자·현장 유지보수 담당",</a:t>
            </a:r>
          </a:p>
          <a:p xmlns:a="http://schemas.openxmlformats.org/drawingml/2006/main">
            <a:r>
              <a:t>          "processing": "설비·위치·고장 맥락 지정",</a:t>
            </a:r>
          </a:p>
          <a:p xmlns:a="http://schemas.openxmlformats.org/drawingml/2006/main">
            <a:r>
              <a:t>          "output": "설비 관측"</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"설비·이상 이력",</a:t>
            </a:r>
          </a:p>
          <a:p xmlns:a="http://schemas.openxmlformats.org/drawingml/2006/main">
            <a:r>
              <a:t>          "processing": "설비 ID 기준 관측·상태·정비 이력 통합",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"설비 관측",</a:t>
            </a:r>
          </a:p>
          <a:p xmlns:a="http://schemas.openxmlformats.org/drawingml/2006/main">
            <a:r>
              <a:t>          "processing": "서로 다른 관측자료의 이상 신호 결합",</a:t>
            </a:r>
          </a:p>
          <a:p xmlns:a="http://schemas.openxmlformats.org/drawingml/2006/main">
            <a:r>
              <a:t>          "output": "정비 우선순위"</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"정비 우선순위",</a:t>
            </a:r>
          </a:p>
          <a:p xmlns:a="http://schemas.openxmlformats.org/drawingml/2006/main">
            <a:r>
              <a:t>          "processing": "위험 후보를 현장 점검·정비계획으로 연결",</a:t>
            </a:r>
          </a:p>
          <a:p xmlns:a="http://schemas.openxmlformats.org/drawingml/2006/main">
            <a:r>
              <a:t>          "output": "조치·재점검"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"현장 판정과 실제 결함을 다음 분석에 반영",</a:t>
            </a:r>
          </a:p>
          <a:p xmlns:a="http://schemas.openxmlformats.org/drawingml/2006/main">
            <a:r>
              <a:t>          "output": "우선순위 근거와 현장 확인·정비 결과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"현장 판정과 실제 결함을 다음 분석에 반영",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"S-AX18",</a:t>
            </a:r>
          </a:p>
          <a:p xmlns:a="http://schemas.openxmlformats.org/drawingml/2006/main">
            <a:r>
              <a:t>        "title": "Network Rail Insight · 운영기관 / 2023-12-22",</a:t>
            </a:r>
          </a:p>
          <a:p xmlns:a="http://schemas.openxmlformats.org/drawingml/2006/main">
            <a:r>
              <a:t>        "url": "https://www.networkrail.co.uk/stories/using-artificial-intelligence-to-create-a-better-railway/",</a:t>
            </a:r>
          </a:p>
          <a:p xmlns:a="http://schemas.openxmlformats.org/drawingml/2006/main">
            <a:r>
              <a:t>        "published": "2023 운영 소개",</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"위험 예측과 정비 의사결정의 연결",</a:t>
            </a:r>
          </a:p>
          <a:p xmlns:a="http://schemas.openxmlformats.org/drawingml/2006/main">
            <a:r>
              <a:t>    "local": "TS 점검 계획의 위험 근거·소관·이력 연결",</a:t>
            </a:r>
          </a:p>
          <a:p xmlns:a="http://schemas.openxmlformats.org/drawingml/2006/main">
            <a:r>
              <a:t>    "sourceDetail": null,</a:t>
            </a:r>
          </a:p>
          <a:p xmlns:a="http://schemas.openxmlformats.org/drawingml/2006/main">
            <a:r>
              <a:t>    "narrative": [</a:t>
            </a:r>
          </a:p>
          <a:p xmlns:a="http://schemas.openxmlformats.org/drawingml/2006/main">
            <a:r>
              <a:t>      "여러 철도 설비의 관측 자료를 통합해 예방정비 우선순위를 지원하는 사례. 서로 다른 설비 데이터의 품질과 식별자를 맞추는 기반 작업이 주요 전제.",</a:t>
            </a:r>
          </a:p>
          <a:p xmlns:a="http://schemas.openxmlformats.org/drawingml/2006/main">
            <a:r>
              <a:t>      "설비 ID에 관측·위치·고장·정비 이력을 연결하고 이상 신호를 합쳐 점검 후보를 만드는 구조. 위험 순위는 현장 담당자의 확인 후 정비계획으로 전환하고 실제 결함 여부를 환류.",</a:t>
            </a:r>
          </a:p>
          <a:p xmlns:a="http://schemas.openxmlformats.org/drawingml/2006/main">
            <a:r>
              <a:t>      "CCK에서는 이상 경보를 정비 완료로 처리하지 않는 상태 모델을 적용. 누락 설비, 관측 결측, 실제 결함과 오경보, 점검 후 조치 완료를 함께 추적하는 TS 후속 업무 설계."</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"설비 상태 접점",</a:t>
            </a:r>
          </a:p>
          <a:p xmlns:a="http://schemas.openxmlformats.org/drawingml/2006/main">
            <a:r>
              <a:t>          "layer": "이용 접점",</a:t>
            </a:r>
          </a:p>
          <a:p xmlns:a="http://schemas.openxmlformats.org/drawingml/2006/main">
            <a:r>
              <a:t>          "detail": "설비관리자·현장 유지보수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"위치·고장 맥락",</a:t>
            </a:r>
          </a:p>
          <a:p xmlns:a="http://schemas.openxmlformats.org/drawingml/2006/main">
            <a:r>
              <a:t>          "layer": "업무 문맥",</a:t>
            </a:r>
          </a:p>
          <a:p xmlns:a="http://schemas.openxmlformats.org/drawingml/2006/main">
            <a:r>
              <a:t>          "detail": "설비·위치·고장 맥락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"다종 관측 조회",</a:t>
            </a:r>
          </a:p>
          <a:p xmlns:a="http://schemas.openxmlformats.org/drawingml/2006/main">
            <a:r>
              <a:t>          "layer": "자료 조회",</a:t>
            </a:r>
          </a:p>
          <a:p xmlns:a="http://schemas.openxmlformats.org/drawingml/2006/main">
            <a:r>
              <a:t>          "detail": "설비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"이상 신호 결합",</a:t>
            </a:r>
          </a:p>
          <a:p xmlns:a="http://schemas.openxmlformats.org/drawingml/2006/main">
            <a:r>
              <a:t>          "layer": "핵심 처리",</a:t>
            </a:r>
          </a:p>
          <a:p xmlns:a="http://schemas.openxmlformats.org/drawingml/2006/main">
            <a:r>
              <a:t>          "detail": "서로 다른 관측자료의 이상 신호 결합",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"누락 설비 검사",</a:t>
            </a:r>
          </a:p>
          <a:p xmlns:a="http://schemas.openxmlformats.org/drawingml/2006/main">
            <a:r>
              <a:t>          "layer": "결과 검증",</a:t>
            </a:r>
          </a:p>
          <a:p xmlns:a="http://schemas.openxmlformats.org/drawingml/2006/main">
            <a:r>
              <a:t>          "detail": "누락 설비·중요 결함 별도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점검 확인",</a:t>
            </a:r>
          </a:p>
          <a:p xmlns:a="http://schemas.openxmlformats.org/drawingml/2006/main">
            <a:r>
              <a:t>          "layer": "사람 확인",</a:t>
            </a:r>
          </a:p>
          <a:p xmlns:a="http://schemas.openxmlformats.org/drawingml/2006/main">
            <a:r>
              <a:t>          "detail": "설비의 여러 관측 신호로 정비 우선순위를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"정비 우선순위",</a:t>
            </a:r>
          </a:p>
          <a:p xmlns:a="http://schemas.openxmlformats.org/drawingml/2006/main">
            <a:r>
              <a:t>          "layer": "업무 연결",</a:t>
            </a:r>
          </a:p>
          <a:p xmlns:a="http://schemas.openxmlformats.org/drawingml/2006/main">
            <a:r>
              <a:t>          "detail": "위험 후보를 현장 점검·정비계획으로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"결함 결과 환류",</a:t>
            </a:r>
          </a:p>
          <a:p xmlns:a="http://schemas.openxmlformats.org/drawingml/2006/main">
            <a:r>
              <a:t>          "layer": "운영 관측",</a:t>
            </a:r>
          </a:p>
          <a:p xmlns:a="http://schemas.openxmlformats.org/drawingml/2006/main">
            <a:r>
              <a:t>          "detail": "현장 판정과 실제 결함을 다음 분석에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"관측·설비대장",</a:t>
            </a:r>
          </a:p>
          <a:p xmlns:a="http://schemas.openxmlformats.org/drawingml/2006/main">
            <a:r>
              <a:t>          "layer": "데이터 원천",</a:t>
            </a:r>
          </a:p>
          <a:p xmlns:a="http://schemas.openxmlformats.org/drawingml/2006/main">
            <a:r>
              <a:t>          "detail": "설비·이상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"설비 식별자 통합",</a:t>
            </a:r>
          </a:p>
          <a:p xmlns:a="http://schemas.openxmlformats.org/drawingml/2006/main">
            <a:r>
              <a:t>          "layer": "준비·갱신",</a:t>
            </a:r>
          </a:p>
          <a:p xmlns:a="http://schemas.openxmlformats.org/drawingml/2006/main">
            <a:r>
              <a:t>          "detail": "설비 ID 기준 관측·상태·정비 이력 통합",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"상태·정비 이력",</a:t>
            </a:r>
          </a:p>
          <a:p xmlns:a="http://schemas.openxmlformats.org/drawingml/2006/main">
            <a:r>
              <a:t>          "layer": "상태·지식 저장",</a:t>
            </a:r>
          </a:p>
          <a:p xmlns:a="http://schemas.openxmlformats.org/drawingml/2006/main">
            <a:r>
              <a:t>          "detail": "우선순위 근거와 현장 확인·정비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"설비 관리 책임",</a:t>
            </a:r>
          </a:p>
          <a:p xmlns:a="http://schemas.openxmlformats.org/drawingml/2006/main">
            <a:r>
              <a:t>          "layer": "권한·정책",</a:t>
            </a:r>
          </a:p>
          <a:p xmlns:a="http://schemas.openxmlformats.org/drawingml/2006/main">
            <a:r>
              <a:t>          "detail": "데이터 지연·상충 신호·정비 완료 이력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"설비·검측 자료 → AI 이상 분석 → 정비 우선순위 → 담당자 조치"</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"설비·이상 이력",</a:t>
            </a:r>
          </a:p>
          <a:p xmlns:a="http://schemas.openxmlformats.org/drawingml/2006/main">
            <a:r>
              <a:t>          "check": "설비 ID 기준 관측·상태·정비 이력 통합"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"설비 ID 기준 관측·상태·정비 이력 통합"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"정비 우선순위",</a:t>
            </a:r>
          </a:p>
          <a:p xmlns:a="http://schemas.openxmlformats.org/drawingml/2006/main">
            <a:r>
              <a:t>          "check": "우선순위 근거와 현장 확인·정비 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"설비 관리 책임",</a:t>
            </a:r>
          </a:p>
          <a:p xmlns:a="http://schemas.openxmlformats.org/drawingml/2006/main">
            <a:r>
              <a:t>          "check": "누락 설비·중요 결함 별도 평가"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"조치·재점검",</a:t>
            </a:r>
          </a:p>
          <a:p xmlns:a="http://schemas.openxmlformats.org/drawingml/2006/main">
            <a:r>
              <a:t>          "check": "우선순위 근거와 현장 확인·정비 결과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"현장 판정과 실제 결함을 다음 분석에 반영",</a:t>
            </a:r>
          </a:p>
          <a:p xmlns:a="http://schemas.openxmlformats.org/drawingml/2006/main">
            <a:r>
              <a:t>          "check": "현장 판정과 실제 결함을 다음 분석에 반영"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"설비 데이터 통합에 기반한 철도 예방정비 / 이상 징후·우선순위·정비 계획",</a:t>
            </a:r>
          </a:p>
          <a:p xmlns:a="http://schemas.openxmlformats.org/drawingml/2006/main">
            <a:r>
              <a:t>        "extension": "TS 점검 계획의 위험 근거·소관·이력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"데이터 지연·상충 신호·정비 완료 이력 누락",</a:t>
            </a:r>
          </a:p>
          <a:p xmlns:a="http://schemas.openxmlformats.org/drawingml/2006/main">
            <a:r>
              <a:t>        "hold": "누락 설비·중요 결함 별도 평가",</a:t>
            </a:r>
          </a:p>
          <a:p xmlns:a="http://schemas.openxmlformats.org/drawingml/2006/main">
            <a:r>
              <a:t>        "recovery": "현장 판정과 실제 결함을 다음 분석에 반영",</a:t>
            </a:r>
          </a:p>
          <a:p xmlns:a="http://schemas.openxmlformats.org/drawingml/2006/main">
            <a:r>
              <a:t>        "evidence": "우선순위 근거와 현장 확인·정비 결과 대사"</a:t>
            </a:r>
          </a:p>
          <a:p xmlns:a="http://schemas.openxmlformats.org/drawingml/2006/main">
            <a:r>
              <a:t>      },</a:t>
            </a:r>
          </a:p>
          <a:p xmlns:a="http://schemas.openxmlformats.org/drawingml/2006/main">
            <a:r>
              <a:t>      "data": {</a:t>
            </a:r>
          </a:p>
          <a:p xmlns:a="http://schemas.openxmlformats.org/drawingml/2006/main">
            <a:r>
              <a:t>        "source": "설비·이상 이력",</a:t>
            </a:r>
          </a:p>
          <a:p xmlns:a="http://schemas.openxmlformats.org/drawingml/2006/main">
            <a:r>
              <a:t>        "prepare": "설비 ID 기준 관측·상태·정비 이력 통합",</a:t>
            </a:r>
          </a:p>
          <a:p xmlns:a="http://schemas.openxmlformats.org/drawingml/2006/main">
            <a:r>
              <a:t>        "output": "설비 관측",</a:t>
            </a:r>
          </a:p>
          <a:p xmlns:a="http://schemas.openxmlformats.org/drawingml/2006/main">
            <a:r>
              <a:t>        "refresh": "현장 판정과 실제 결함을 다음 분석에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"AX18",</a:t>
            </a:r>
          </a:p>
          <a:p xmlns:a="http://schemas.openxmlformats.org/drawingml/2006/main">
            <a:r>
              <a:t>    "success": [</a:t>
            </a:r>
          </a:p>
          <a:p xmlns:a="http://schemas.openxmlformats.org/drawingml/2006/main">
            <a:r>
              <a:t>      "여러 설비 자료의 통합 분석",</a:t>
            </a:r>
          </a:p>
          <a:p xmlns:a="http://schemas.openxmlformats.org/drawingml/2006/main">
            <a:r>
              <a:t>      "정비 우선순위와 현장 조치 연결"</a:t>
            </a:r>
          </a:p>
          <a:p xmlns:a="http://schemas.openxmlformats.org/drawingml/2006/main">
            <a:r>
              <a:t>    ],</a:t>
            </a:r>
          </a:p>
          <a:p xmlns:a="http://schemas.openxmlformats.org/drawingml/2006/main">
            <a:r>
              <a:t>    "risks": [</a:t>
            </a:r>
          </a:p>
          <a:p xmlns:a="http://schemas.openxmlformats.org/drawingml/2006/main">
            <a:r>
              <a:t>      "설비별 데이터 품질 차이",</a:t>
            </a:r>
          </a:p>
          <a:p xmlns:a="http://schemas.openxmlformats.org/drawingml/2006/main">
            <a:r>
              <a:t>      "권고를 정비 완료로 간주하는 위험"</a:t>
            </a:r>
          </a:p>
          <a:p xmlns:a="http://schemas.openxmlformats.org/drawingml/2006/main">
            <a:r>
              <a:t>    ],</a:t>
            </a:r>
          </a:p>
          <a:p xmlns:a="http://schemas.openxmlformats.org/drawingml/2006/main">
            <a:r>
              <a:t>    "architecture": [</a:t>
            </a:r>
          </a:p>
          <a:p xmlns:a="http://schemas.openxmlformats.org/drawingml/2006/main">
            <a:r>
              <a:t>      "설비·검측 수집",</a:t>
            </a:r>
          </a:p>
          <a:p xmlns:a="http://schemas.openxmlformats.org/drawingml/2006/main">
            <a:r>
              <a:t>      "Insight 분석",</a:t>
            </a:r>
          </a:p>
          <a:p xmlns:a="http://schemas.openxmlformats.org/drawingml/2006/main">
            <a:r>
              <a:t>      "설비·이상 이력",</a:t>
            </a:r>
          </a:p>
          <a:p xmlns:a="http://schemas.openxmlformats.org/drawingml/2006/main">
            <a:r>
              <a:t>      "유지관리 담당"</a:t>
            </a:r>
          </a:p>
          <a:p xmlns:a="http://schemas.openxmlformats.org/drawingml/2006/main">
            <a:r>
              <a:t>    ],</a:t>
            </a:r>
          </a:p>
          <a:p xmlns:a="http://schemas.openxmlformats.org/drawingml/2006/main">
            <a:r>
              <a:t>    "transfers": [</a:t>
            </a:r>
          </a:p>
          <a:p xmlns:a="http://schemas.openxmlformats.org/drawingml/2006/main">
            <a:r>
              <a:t>      "설비 관측",</a:t>
            </a:r>
          </a:p>
          <a:p xmlns:a="http://schemas.openxmlformats.org/drawingml/2006/main">
            <a:r>
              <a:t>      "이상 징후",</a:t>
            </a:r>
          </a:p>
          <a:p xmlns:a="http://schemas.openxmlformats.org/drawingml/2006/main">
            <a:r>
              <a:t>      "정비 우선순위",</a:t>
            </a:r>
          </a:p>
          <a:p xmlns:a="http://schemas.openxmlformats.org/drawingml/2006/main">
            <a:r>
              <a:t>      "조치·재점검"</a:t>
            </a:r>
          </a:p>
          <a:p xmlns:a="http://schemas.openxmlformats.org/drawingml/2006/main">
            <a:r>
              <a:t>    ],</a:t>
            </a:r>
          </a:p>
          <a:p xmlns:a="http://schemas.openxmlformats.org/drawingml/2006/main">
            <a:r>
              <a:t>    "control": "누락 설비·중요 결함 별도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Network Rail Insight · 운영기관 / 2023-12-22 https://www.networkrail.co.uk/stories/using-artificial-intelligence-to-create-a-better-railway/</a:t>
            </a:r>
          </a:p>
          <a:p xmlns:a="http://schemas.openxmlformats.org/drawingml/2006/main">
            <a:r>
              <a:t>홈페이지 https://heen1987-ops.github.io/TS-business-Plan-001/index.html?view=casebook&amp;case=AX18</a:t>
            </a:r>
          </a:p>
          <a:p xmlns:a="http://schemas.openxmlformats.org/drawingml/2006/main">
            <a:r>
              <a:t>한계: 철도 운영사 사례 · TS의 검사·감독 책임 범위에 맞춘 현지화 필요</a:t>
            </a:r>
          </a:p>
          <a:p xmlns:a="http://schemas.openxmlformats.org/drawingml/2006/main">
            <a:r>
              <a:t>실패 위험: 설비별 데이터 품질 차이 / 권고를 정비 완료로 간주하는 위험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"AX18",</a:t>
            </a:r>
          </a:p>
          <a:p xmlns:a="http://schemas.openxmlformats.org/drawingml/2006/main">
            <a:r>
              <a:t>    "title": "Network Rail Insight",</a:t>
            </a:r>
          </a:p>
          <a:p xmlns:a="http://schemas.openxmlformats.org/drawingml/2006/main">
            <a:r>
              <a:t>    "region": "해외",</a:t>
            </a:r>
          </a:p>
          <a:p xmlns:a="http://schemas.openxmlformats.org/drawingml/2006/main">
            <a:r>
              <a:t>    "country": "영국",</a:t>
            </a:r>
          </a:p>
          <a:p xmlns:a="http://schemas.openxmlformats.org/drawingml/2006/main">
            <a:r>
              <a:t>    "result": "성공",</a:t>
            </a:r>
          </a:p>
          <a:p xmlns:a="http://schemas.openxmlformats.org/drawingml/2006/main">
            <a:r>
              <a:t>    "kind": "철도 예지정비",</a:t>
            </a:r>
          </a:p>
          <a:p xmlns:a="http://schemas.openxmlformats.org/drawingml/2006/main">
            <a:r>
              <a:t>    "period": "2023 운영 소개",</a:t>
            </a:r>
          </a:p>
          <a:p xmlns:a="http://schemas.openxmlformats.org/drawingml/2006/main">
            <a:r>
              <a:t>    "sources": [</a:t>
            </a:r>
          </a:p>
          <a:p xmlns:a="http://schemas.openxmlformats.org/drawingml/2006/main">
            <a:r>
              <a:t>      "S-AX18"</a:t>
            </a:r>
          </a:p>
          <a:p xmlns:a="http://schemas.openxmlformats.org/drawingml/2006/main">
            <a:r>
              <a:t>    ],</a:t>
            </a:r>
          </a:p>
          <a:p xmlns:a="http://schemas.openxmlformats.org/drawingml/2006/main">
            <a:r>
              <a:t>    "keywords": [</a:t>
            </a:r>
          </a:p>
          <a:p xmlns:a="http://schemas.openxmlformats.org/drawingml/2006/main">
            <a:r>
              <a:t>      "철도 예지정비"</a:t>
            </a:r>
          </a:p>
          <a:p xmlns:a="http://schemas.openxmlformats.org/drawingml/2006/main">
            <a:r>
              <a:t>    ],</a:t>
            </a:r>
          </a:p>
          <a:p xmlns:a="http://schemas.openxmlformats.org/drawingml/2006/main">
            <a:r>
              <a:t>    "fact": "설비 데이터와 AI 분석을 결합하여 철도 유지관리의 이상 징후·우선순위 검토 지원",</a:t>
            </a:r>
          </a:p>
          <a:p xmlns:a="http://schemas.openxmlformats.org/drawingml/2006/main">
            <a:r>
              <a:t>    "limit": "철도 운영사 사례 · TS의 검사·감독 책임 범위에 맞춘 현지화 필요",</a:t>
            </a:r>
          </a:p>
          <a:p xmlns:a="http://schemas.openxmlformats.org/drawingml/2006/main">
            <a:r>
              <a:t>    "flow": [</a:t>
            </a:r>
          </a:p>
          <a:p xmlns:a="http://schemas.openxmlformats.org/drawingml/2006/main">
            <a:r>
              <a:t>      "설비·검측 자료",</a:t>
            </a:r>
          </a:p>
          <a:p xmlns:a="http://schemas.openxmlformats.org/drawingml/2006/main">
            <a:r>
              <a:t>      "AI 이상 분석",</a:t>
            </a:r>
          </a:p>
          <a:p xmlns:a="http://schemas.openxmlformats.org/drawingml/2006/main">
            <a:r>
              <a:t>      "정비 우선순위",</a:t>
            </a:r>
          </a:p>
          <a:p xmlns:a="http://schemas.openxmlformats.org/drawingml/2006/main">
            <a:r>
              <a:t>      "담당자 조치"</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"위험 예측과 정비 의사결정의 연결",</a:t>
            </a:r>
          </a:p>
          <a:p xmlns:a="http://schemas.openxmlformats.org/drawingml/2006/main">
            <a:r>
              <a:t>    "local": "TS 점검 계획의 위험 근거·소관·이력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"설비별 위험 근거 묶음·담당 배정·기한 관리",</a:t>
            </a:r>
          </a:p>
          <a:p xmlns:a="http://schemas.openxmlformats.org/drawingml/2006/main">
            <a:r>
              <a:t>    "test": "결측·상충 신호·미조치 건 우선순위 검증",</a:t>
            </a:r>
          </a:p>
          <a:p xmlns:a="http://schemas.openxmlformats.org/drawingml/2006/main">
            <a:r>
              <a:t>    "metric": "점검 준비시간 / 미조치 추적률",</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"AX18",</a:t>
            </a:r>
          </a:p>
          <a:p xmlns:a="http://schemas.openxmlformats.org/drawingml/2006/main">
            <a:r>
              <a:t>    "canonicalId": "AX18",</a:t>
            </a:r>
          </a:p>
          <a:p xmlns:a="http://schemas.openxmlformats.org/drawingml/2006/main">
            <a:r>
              <a:t>    "purpose": "설비 데이터 통합에 기반한 철도 예방정비",</a:t>
            </a:r>
          </a:p>
          <a:p xmlns:a="http://schemas.openxmlformats.org/drawingml/2006/main">
            <a:r>
              <a:t>    "users": "설비관리자·현장 유지보수 담당",</a:t>
            </a:r>
          </a:p>
          <a:p xmlns:a="http://schemas.openxmlformats.org/drawingml/2006/main">
            <a:r>
              <a:t>    "scope": [</a:t>
            </a:r>
          </a:p>
          <a:p xmlns:a="http://schemas.openxmlformats.org/drawingml/2006/main">
            <a:r>
              <a:t>      "이상 징후",</a:t>
            </a:r>
          </a:p>
          <a:p xmlns:a="http://schemas.openxmlformats.org/drawingml/2006/main">
            <a:r>
              <a:t>      "우선순위",</a:t>
            </a:r>
          </a:p>
          <a:p xmlns:a="http://schemas.openxmlformats.org/drawingml/2006/main">
            <a:r>
              <a:t>      "정비 계획"</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"설비·검측 수집",</a:t>
            </a:r>
          </a:p>
          <a:p xmlns:a="http://schemas.openxmlformats.org/drawingml/2006/main">
            <a:r>
              <a:t>        "detail": "설비·위치·고장 맥락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"이상 징후 / 우선순위 / 정비 계획",</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"Insight 분석",</a:t>
            </a:r>
          </a:p>
          <a:p xmlns:a="http://schemas.openxmlformats.org/drawingml/2006/main">
            <a:r>
              <a:t>        "detail": "서로 다른 관측자료의 이상 신호 결합",</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"유지관리 담당",</a:t>
            </a:r>
          </a:p>
          <a:p xmlns:a="http://schemas.openxmlformats.org/drawingml/2006/main">
            <a:r>
              <a:t>        "detail": "위험 후보를 현장 점검·정비계획으로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"설비·이상 이력",</a:t>
            </a:r>
          </a:p>
          <a:p xmlns:a="http://schemas.openxmlformats.org/drawingml/2006/main">
            <a:r>
              <a:t>        "detail": "설비 ID 기준 관측·상태·정비 이력 통합",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"현장 판정과 실제 결함을 다음 분석에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"설비·검측 자료",</a:t>
            </a:r>
          </a:p>
          <a:p xmlns:a="http://schemas.openxmlformats.org/drawingml/2006/main">
            <a:r>
              <a:t>        "input": "설비·위치·고장 맥락 지정",</a:t>
            </a:r>
          </a:p>
          <a:p xmlns:a="http://schemas.openxmlformats.org/drawingml/2006/main">
            <a:r>
              <a:t>        "process": "설비 ID 기준 관측·상태·정비 이력 통합",</a:t>
            </a:r>
          </a:p>
          <a:p xmlns:a="http://schemas.openxmlformats.org/drawingml/2006/main">
            <a:r>
              <a:t>        "output": "설비 관측"</a:t>
            </a:r>
          </a:p>
          <a:p xmlns:a="http://schemas.openxmlformats.org/drawingml/2006/main">
            <a:r>
              <a:t>      },</a:t>
            </a:r>
          </a:p>
          <a:p xmlns:a="http://schemas.openxmlformats.org/drawingml/2006/main">
            <a:r>
              <a:t>      {</a:t>
            </a:r>
          </a:p>
          <a:p xmlns:a="http://schemas.openxmlformats.org/drawingml/2006/main">
            <a:r>
              <a:t>        "title": "AI 이상 분석",</a:t>
            </a:r>
          </a:p>
          <a:p xmlns:a="http://schemas.openxmlformats.org/drawingml/2006/main">
            <a:r>
              <a:t>        "input": "설비 관측",</a:t>
            </a:r>
          </a:p>
          <a:p xmlns:a="http://schemas.openxmlformats.org/drawingml/2006/main">
            <a:r>
              <a:t>        "process": "서로 다른 관측자료의 이상 신호 결합",</a:t>
            </a:r>
          </a:p>
          <a:p xmlns:a="http://schemas.openxmlformats.org/drawingml/2006/main">
            <a:r>
              <a:t>        "output": "이상 징후"</a:t>
            </a:r>
          </a:p>
          <a:p xmlns:a="http://schemas.openxmlformats.org/drawingml/2006/main">
            <a:r>
              <a:t>      },</a:t>
            </a:r>
          </a:p>
          <a:p xmlns:a="http://schemas.openxmlformats.org/drawingml/2006/main">
            <a:r>
              <a:t>      {</a:t>
            </a:r>
          </a:p>
          <a:p xmlns:a="http://schemas.openxmlformats.org/drawingml/2006/main">
            <a:r>
              <a:t>        "title": "정비 우선순위",</a:t>
            </a:r>
          </a:p>
          <a:p xmlns:a="http://schemas.openxmlformats.org/drawingml/2006/main">
            <a:r>
              <a:t>        "input": "이상 징후",</a:t>
            </a:r>
          </a:p>
          <a:p xmlns:a="http://schemas.openxmlformats.org/drawingml/2006/main">
            <a:r>
              <a:t>        "process": "누락 설비·중요 결함 별도 평가",</a:t>
            </a:r>
          </a:p>
          <a:p xmlns:a="http://schemas.openxmlformats.org/drawingml/2006/main">
            <a:r>
              <a:t>        "output": "정비 우선순위"</a:t>
            </a:r>
          </a:p>
          <a:p xmlns:a="http://schemas.openxmlformats.org/drawingml/2006/main">
            <a:r>
              <a:t>      },</a:t>
            </a:r>
          </a:p>
          <a:p xmlns:a="http://schemas.openxmlformats.org/drawingml/2006/main">
            <a:r>
              <a:t>      {</a:t>
            </a:r>
          </a:p>
          <a:p xmlns:a="http://schemas.openxmlformats.org/drawingml/2006/main">
            <a:r>
              <a:t>        "title": "담당자 조치",</a:t>
            </a:r>
          </a:p>
          <a:p xmlns:a="http://schemas.openxmlformats.org/drawingml/2006/main">
            <a:r>
              <a:t>        "input": "정비 우선순위",</a:t>
            </a:r>
          </a:p>
          <a:p xmlns:a="http://schemas.openxmlformats.org/drawingml/2006/main">
            <a:r>
              <a:t>        "process": "위험 후보를 현장 점검·정비계획으로 연결",</a:t>
            </a:r>
          </a:p>
          <a:p xmlns:a="http://schemas.openxmlformats.org/drawingml/2006/main">
            <a:r>
              <a:t>        "output": "조치·재점검"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"설비의 여러 관측 신호로 정비 우선순위를 검토",</a:t>
            </a:r>
          </a:p>
          <a:p xmlns:a="http://schemas.openxmlformats.org/drawingml/2006/main">
            <a:r>
              <a:t>      "exception": "데이터 지연·상충 신호·정비 완료 이력 누락",</a:t>
            </a:r>
          </a:p>
          <a:p xmlns:a="http://schemas.openxmlformats.org/drawingml/2006/main">
            <a:r>
              <a:t>      "evidence": "우선순위 근거와 현장 확인·정비 결과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"설비관리자·현장 유지보수 담당",</a:t>
            </a:r>
          </a:p>
          <a:p xmlns:a="http://schemas.openxmlformats.org/drawingml/2006/main">
            <a:r>
              <a:t>          "processing": "설비·위치·고장 맥락 지정",</a:t>
            </a:r>
          </a:p>
          <a:p xmlns:a="http://schemas.openxmlformats.org/drawingml/2006/main">
            <a:r>
              <a:t>          "output": "설비 관측"</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"설비·이상 이력",</a:t>
            </a:r>
          </a:p>
          <a:p xmlns:a="http://schemas.openxmlformats.org/drawingml/2006/main">
            <a:r>
              <a:t>          "processing": "설비 ID 기준 관측·상태·정비 이력 통합",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"설비 관측",</a:t>
            </a:r>
          </a:p>
          <a:p xmlns:a="http://schemas.openxmlformats.org/drawingml/2006/main">
            <a:r>
              <a:t>          "processing": "서로 다른 관측자료의 이상 신호 결합",</a:t>
            </a:r>
          </a:p>
          <a:p xmlns:a="http://schemas.openxmlformats.org/drawingml/2006/main">
            <a:r>
              <a:t>          "output": "정비 우선순위"</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"정비 우선순위",</a:t>
            </a:r>
          </a:p>
          <a:p xmlns:a="http://schemas.openxmlformats.org/drawingml/2006/main">
            <a:r>
              <a:t>          "processing": "위험 후보를 현장 점검·정비계획으로 연결",</a:t>
            </a:r>
          </a:p>
          <a:p xmlns:a="http://schemas.openxmlformats.org/drawingml/2006/main">
            <a:r>
              <a:t>          "output": "조치·재점검"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"현장 판정과 실제 결함을 다음 분석에 반영",</a:t>
            </a:r>
          </a:p>
          <a:p xmlns:a="http://schemas.openxmlformats.org/drawingml/2006/main">
            <a:r>
              <a:t>          "output": "우선순위 근거와 현장 확인·정비 결과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"현장 판정과 실제 결함을 다음 분석에 반영",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"S-AX18",</a:t>
            </a:r>
          </a:p>
          <a:p xmlns:a="http://schemas.openxmlformats.org/drawingml/2006/main">
            <a:r>
              <a:t>        "title": "Network Rail Insight · 운영기관 / 2023-12-22",</a:t>
            </a:r>
          </a:p>
          <a:p xmlns:a="http://schemas.openxmlformats.org/drawingml/2006/main">
            <a:r>
              <a:t>        "url": "https://www.networkrail.co.uk/stories/using-artificial-intelligence-to-create-a-better-railway/",</a:t>
            </a:r>
          </a:p>
          <a:p xmlns:a="http://schemas.openxmlformats.org/drawingml/2006/main">
            <a:r>
              <a:t>        "published": "2023 운영 소개",</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"위험 예측과 정비 의사결정의 연결",</a:t>
            </a:r>
          </a:p>
          <a:p xmlns:a="http://schemas.openxmlformats.org/drawingml/2006/main">
            <a:r>
              <a:t>    "local": "TS 점검 계획의 위험 근거·소관·이력 연결",</a:t>
            </a:r>
          </a:p>
          <a:p xmlns:a="http://schemas.openxmlformats.org/drawingml/2006/main">
            <a:r>
              <a:t>    "sourceDetail": null,</a:t>
            </a:r>
          </a:p>
          <a:p xmlns:a="http://schemas.openxmlformats.org/drawingml/2006/main">
            <a:r>
              <a:t>    "narrative": [</a:t>
            </a:r>
          </a:p>
          <a:p xmlns:a="http://schemas.openxmlformats.org/drawingml/2006/main">
            <a:r>
              <a:t>      "여러 철도 설비의 관측 자료를 통합해 예방정비 우선순위를 지원하는 사례. 서로 다른 설비 데이터의 품질과 식별자를 맞추는 기반 작업이 주요 전제.",</a:t>
            </a:r>
          </a:p>
          <a:p xmlns:a="http://schemas.openxmlformats.org/drawingml/2006/main">
            <a:r>
              <a:t>      "설비 ID에 관측·위치·고장·정비 이력을 연결하고 이상 신호를 합쳐 점검 후보를 만드는 구조. 위험 순위는 현장 담당자의 확인 후 정비계획으로 전환하고 실제 결함 여부를 환류.",</a:t>
            </a:r>
          </a:p>
          <a:p xmlns:a="http://schemas.openxmlformats.org/drawingml/2006/main">
            <a:r>
              <a:t>      "CCK에서는 이상 경보를 정비 완료로 처리하지 않는 상태 모델을 적용. 누락 설비, 관측 결측, 실제 결함과 오경보, 점검 후 조치 완료를 함께 추적하는 TS 후속 업무 설계."</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"설비 상태 접점",</a:t>
            </a:r>
          </a:p>
          <a:p xmlns:a="http://schemas.openxmlformats.org/drawingml/2006/main">
            <a:r>
              <a:t>          "layer": "이용 접점",</a:t>
            </a:r>
          </a:p>
          <a:p xmlns:a="http://schemas.openxmlformats.org/drawingml/2006/main">
            <a:r>
              <a:t>          "detail": "설비관리자·현장 유지보수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"위치·고장 맥락",</a:t>
            </a:r>
          </a:p>
          <a:p xmlns:a="http://schemas.openxmlformats.org/drawingml/2006/main">
            <a:r>
              <a:t>          "layer": "업무 문맥",</a:t>
            </a:r>
          </a:p>
          <a:p xmlns:a="http://schemas.openxmlformats.org/drawingml/2006/main">
            <a:r>
              <a:t>          "detail": "설비·위치·고장 맥락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"다종 관측 조회",</a:t>
            </a:r>
          </a:p>
          <a:p xmlns:a="http://schemas.openxmlformats.org/drawingml/2006/main">
            <a:r>
              <a:t>          "layer": "자료 조회",</a:t>
            </a:r>
          </a:p>
          <a:p xmlns:a="http://schemas.openxmlformats.org/drawingml/2006/main">
            <a:r>
              <a:t>          "detail": "설비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"이상 신호 결합",</a:t>
            </a:r>
          </a:p>
          <a:p xmlns:a="http://schemas.openxmlformats.org/drawingml/2006/main">
            <a:r>
              <a:t>          "layer": "핵심 처리",</a:t>
            </a:r>
          </a:p>
          <a:p xmlns:a="http://schemas.openxmlformats.org/drawingml/2006/main">
            <a:r>
              <a:t>          "detail": "서로 다른 관측자료의 이상 신호 결합",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"누락 설비 검사",</a:t>
            </a:r>
          </a:p>
          <a:p xmlns:a="http://schemas.openxmlformats.org/drawingml/2006/main">
            <a:r>
              <a:t>          "layer": "결과 검증",</a:t>
            </a:r>
          </a:p>
          <a:p xmlns:a="http://schemas.openxmlformats.org/drawingml/2006/main">
            <a:r>
              <a:t>          "detail": "누락 설비·중요 결함 별도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점검 확인",</a:t>
            </a:r>
          </a:p>
          <a:p xmlns:a="http://schemas.openxmlformats.org/drawingml/2006/main">
            <a:r>
              <a:t>          "layer": "사람 확인",</a:t>
            </a:r>
          </a:p>
          <a:p xmlns:a="http://schemas.openxmlformats.org/drawingml/2006/main">
            <a:r>
              <a:t>          "detail": "설비의 여러 관측 신호로 정비 우선순위를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"정비 우선순위",</a:t>
            </a:r>
          </a:p>
          <a:p xmlns:a="http://schemas.openxmlformats.org/drawingml/2006/main">
            <a:r>
              <a:t>          "layer": "업무 연결",</a:t>
            </a:r>
          </a:p>
          <a:p xmlns:a="http://schemas.openxmlformats.org/drawingml/2006/main">
            <a:r>
              <a:t>          "detail": "위험 후보를 현장 점검·정비계획으로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"결함 결과 환류",</a:t>
            </a:r>
          </a:p>
          <a:p xmlns:a="http://schemas.openxmlformats.org/drawingml/2006/main">
            <a:r>
              <a:t>          "layer": "운영 관측",</a:t>
            </a:r>
          </a:p>
          <a:p xmlns:a="http://schemas.openxmlformats.org/drawingml/2006/main">
            <a:r>
              <a:t>          "detail": "현장 판정과 실제 결함을 다음 분석에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"관측·설비대장",</a:t>
            </a:r>
          </a:p>
          <a:p xmlns:a="http://schemas.openxmlformats.org/drawingml/2006/main">
            <a:r>
              <a:t>          "layer": "데이터 원천",</a:t>
            </a:r>
          </a:p>
          <a:p xmlns:a="http://schemas.openxmlformats.org/drawingml/2006/main">
            <a:r>
              <a:t>          "detail": "설비·이상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"설비 식별자 통합",</a:t>
            </a:r>
          </a:p>
          <a:p xmlns:a="http://schemas.openxmlformats.org/drawingml/2006/main">
            <a:r>
              <a:t>          "layer": "준비·갱신",</a:t>
            </a:r>
          </a:p>
          <a:p xmlns:a="http://schemas.openxmlformats.org/drawingml/2006/main">
            <a:r>
              <a:t>          "detail": "설비 ID 기준 관측·상태·정비 이력 통합",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"상태·정비 이력",</a:t>
            </a:r>
          </a:p>
          <a:p xmlns:a="http://schemas.openxmlformats.org/drawingml/2006/main">
            <a:r>
              <a:t>          "layer": "상태·지식 저장",</a:t>
            </a:r>
          </a:p>
          <a:p xmlns:a="http://schemas.openxmlformats.org/drawingml/2006/main">
            <a:r>
              <a:t>          "detail": "우선순위 근거와 현장 확인·정비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"설비 관리 책임",</a:t>
            </a:r>
          </a:p>
          <a:p xmlns:a="http://schemas.openxmlformats.org/drawingml/2006/main">
            <a:r>
              <a:t>          "layer": "권한·정책",</a:t>
            </a:r>
          </a:p>
          <a:p xmlns:a="http://schemas.openxmlformats.org/drawingml/2006/main">
            <a:r>
              <a:t>          "detail": "데이터 지연·상충 신호·정비 완료 이력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"설비·검측 자료 → AI 이상 분석 → 정비 우선순위 → 담당자 조치"</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"설비·이상 이력",</a:t>
            </a:r>
          </a:p>
          <a:p xmlns:a="http://schemas.openxmlformats.org/drawingml/2006/main">
            <a:r>
              <a:t>          "check": "설비 ID 기준 관측·상태·정비 이력 통합"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"설비 ID 기준 관측·상태·정비 이력 통합"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"정비 우선순위",</a:t>
            </a:r>
          </a:p>
          <a:p xmlns:a="http://schemas.openxmlformats.org/drawingml/2006/main">
            <a:r>
              <a:t>          "check": "우선순위 근거와 현장 확인·정비 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"설비 관리 책임",</a:t>
            </a:r>
          </a:p>
          <a:p xmlns:a="http://schemas.openxmlformats.org/drawingml/2006/main">
            <a:r>
              <a:t>          "check": "누락 설비·중요 결함 별도 평가"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"조치·재점검",</a:t>
            </a:r>
          </a:p>
          <a:p xmlns:a="http://schemas.openxmlformats.org/drawingml/2006/main">
            <a:r>
              <a:t>          "check": "우선순위 근거와 현장 확인·정비 결과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"현장 판정과 실제 결함을 다음 분석에 반영",</a:t>
            </a:r>
          </a:p>
          <a:p xmlns:a="http://schemas.openxmlformats.org/drawingml/2006/main">
            <a:r>
              <a:t>          "check": "현장 판정과 실제 결함을 다음 분석에 반영"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"설비 데이터 통합에 기반한 철도 예방정비 / 이상 징후·우선순위·정비 계획",</a:t>
            </a:r>
          </a:p>
          <a:p xmlns:a="http://schemas.openxmlformats.org/drawingml/2006/main">
            <a:r>
              <a:t>        "extension": "TS 점검 계획의 위험 근거·소관·이력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"데이터 지연·상충 신호·정비 완료 이력 누락",</a:t>
            </a:r>
          </a:p>
          <a:p xmlns:a="http://schemas.openxmlformats.org/drawingml/2006/main">
            <a:r>
              <a:t>        "hold": "누락 설비·중요 결함 별도 평가",</a:t>
            </a:r>
          </a:p>
          <a:p xmlns:a="http://schemas.openxmlformats.org/drawingml/2006/main">
            <a:r>
              <a:t>        "recovery": "현장 판정과 실제 결함을 다음 분석에 반영",</a:t>
            </a:r>
          </a:p>
          <a:p xmlns:a="http://schemas.openxmlformats.org/drawingml/2006/main">
            <a:r>
              <a:t>        "evidence": "우선순위 근거와 현장 확인·정비 결과 대사"</a:t>
            </a:r>
          </a:p>
          <a:p xmlns:a="http://schemas.openxmlformats.org/drawingml/2006/main">
            <a:r>
              <a:t>      },</a:t>
            </a:r>
          </a:p>
          <a:p xmlns:a="http://schemas.openxmlformats.org/drawingml/2006/main">
            <a:r>
              <a:t>      "data": {</a:t>
            </a:r>
          </a:p>
          <a:p xmlns:a="http://schemas.openxmlformats.org/drawingml/2006/main">
            <a:r>
              <a:t>        "source": "설비·이상 이력",</a:t>
            </a:r>
          </a:p>
          <a:p xmlns:a="http://schemas.openxmlformats.org/drawingml/2006/main">
            <a:r>
              <a:t>        "prepare": "설비 ID 기준 관측·상태·정비 이력 통합",</a:t>
            </a:r>
          </a:p>
          <a:p xmlns:a="http://schemas.openxmlformats.org/drawingml/2006/main">
            <a:r>
              <a:t>        "output": "설비 관측",</a:t>
            </a:r>
          </a:p>
          <a:p xmlns:a="http://schemas.openxmlformats.org/drawingml/2006/main">
            <a:r>
              <a:t>        "refresh": "현장 판정과 실제 결함을 다음 분석에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"AX18",</a:t>
            </a:r>
          </a:p>
          <a:p xmlns:a="http://schemas.openxmlformats.org/drawingml/2006/main">
            <a:r>
              <a:t>    "success": [</a:t>
            </a:r>
          </a:p>
          <a:p xmlns:a="http://schemas.openxmlformats.org/drawingml/2006/main">
            <a:r>
              <a:t>      "여러 설비 자료의 통합 분석",</a:t>
            </a:r>
          </a:p>
          <a:p xmlns:a="http://schemas.openxmlformats.org/drawingml/2006/main">
            <a:r>
              <a:t>      "정비 우선순위와 현장 조치 연결"</a:t>
            </a:r>
          </a:p>
          <a:p xmlns:a="http://schemas.openxmlformats.org/drawingml/2006/main">
            <a:r>
              <a:t>    ],</a:t>
            </a:r>
          </a:p>
          <a:p xmlns:a="http://schemas.openxmlformats.org/drawingml/2006/main">
            <a:r>
              <a:t>    "risks": [</a:t>
            </a:r>
          </a:p>
          <a:p xmlns:a="http://schemas.openxmlformats.org/drawingml/2006/main">
            <a:r>
              <a:t>      "설비별 데이터 품질 차이",</a:t>
            </a:r>
          </a:p>
          <a:p xmlns:a="http://schemas.openxmlformats.org/drawingml/2006/main">
            <a:r>
              <a:t>      "권고를 정비 완료로 간주하는 위험"</a:t>
            </a:r>
          </a:p>
          <a:p xmlns:a="http://schemas.openxmlformats.org/drawingml/2006/main">
            <a:r>
              <a:t>    ],</a:t>
            </a:r>
          </a:p>
          <a:p xmlns:a="http://schemas.openxmlformats.org/drawingml/2006/main">
            <a:r>
              <a:t>    "architecture": [</a:t>
            </a:r>
          </a:p>
          <a:p xmlns:a="http://schemas.openxmlformats.org/drawingml/2006/main">
            <a:r>
              <a:t>      "설비·검측 수집",</a:t>
            </a:r>
          </a:p>
          <a:p xmlns:a="http://schemas.openxmlformats.org/drawingml/2006/main">
            <a:r>
              <a:t>      "Insight 분석",</a:t>
            </a:r>
          </a:p>
          <a:p xmlns:a="http://schemas.openxmlformats.org/drawingml/2006/main">
            <a:r>
              <a:t>      "설비·이상 이력",</a:t>
            </a:r>
          </a:p>
          <a:p xmlns:a="http://schemas.openxmlformats.org/drawingml/2006/main">
            <a:r>
              <a:t>      "유지관리 담당"</a:t>
            </a:r>
          </a:p>
          <a:p xmlns:a="http://schemas.openxmlformats.org/drawingml/2006/main">
            <a:r>
              <a:t>    ],</a:t>
            </a:r>
          </a:p>
          <a:p xmlns:a="http://schemas.openxmlformats.org/drawingml/2006/main">
            <a:r>
              <a:t>    "transfers": [</a:t>
            </a:r>
          </a:p>
          <a:p xmlns:a="http://schemas.openxmlformats.org/drawingml/2006/main">
            <a:r>
              <a:t>      "설비 관측",</a:t>
            </a:r>
          </a:p>
          <a:p xmlns:a="http://schemas.openxmlformats.org/drawingml/2006/main">
            <a:r>
              <a:t>      "이상 징후",</a:t>
            </a:r>
          </a:p>
          <a:p xmlns:a="http://schemas.openxmlformats.org/drawingml/2006/main">
            <a:r>
              <a:t>      "정비 우선순위",</a:t>
            </a:r>
          </a:p>
          <a:p xmlns:a="http://schemas.openxmlformats.org/drawingml/2006/main">
            <a:r>
              <a:t>      "조치·재점검"</a:t>
            </a:r>
          </a:p>
          <a:p xmlns:a="http://schemas.openxmlformats.org/drawingml/2006/main">
            <a:r>
              <a:t>    ],</a:t>
            </a:r>
          </a:p>
          <a:p xmlns:a="http://schemas.openxmlformats.org/drawingml/2006/main">
            <a:r>
              <a:t>    "control": "누락 설비·중요 결함 별도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Network Rail Insight · 운영기관 / 2023-12-22 https://www.networkrail.co.uk/stories/using-artificial-intelligence-to-create-a-better-railway/</a:t>
            </a:r>
          </a:p>
          <a:p xmlns:a="http://schemas.openxmlformats.org/drawingml/2006/main">
            <a:r>
              <a:t>홈페이지 https://heen1987-ops.github.io/TS-business-Plan-001/index.html?view=casebook&amp;case=AX18</a:t>
            </a:r>
          </a:p>
          <a:p xmlns:a="http://schemas.openxmlformats.org/drawingml/2006/main">
            <a:r>
              <a:t>성과 대조</a:t>
            </a:r>
          </a:p>
          <a:p xmlns:a="http://schemas.openxmlformats.org/drawingml/2006/main">
            <a:r>
              <a:t>{</a:t>
            </a:r>
          </a:p>
          <a:p xmlns:a="http://schemas.openxmlformats.org/drawingml/2006/main">
            <a:r>
              <a:t>  "caseId": "AX18",</a:t>
            </a:r>
          </a:p>
          <a:p xmlns:a="http://schemas.openxmlformats.org/drawingml/2006/main">
            <a:r>
              <a:t>  "asIs": "철도 설비·고장 자료가 분산되어 유지보수 우선순위와 위험의 조기 판단이 어려움",</a:t>
            </a:r>
          </a:p>
          <a:p xmlns:a="http://schemas.openxmlformats.org/drawingml/2006/main">
            <a:r>
              <a:t>  "toBe": "설비 데이터·영상·AI 분석을 통합해 담당자가 예지정비 조치를 선택",</a:t>
            </a:r>
          </a:p>
          <a:p xmlns:a="http://schemas.openxmlformats.org/drawingml/2006/main">
            <a:r>
              <a:t>  "expectedEffect": "고장 조기 발견과 지연·유지관리 비용 감소",</a:t>
            </a:r>
          </a:p>
          <a:p xmlns:a="http://schemas.openxmlformats.org/drawingml/2006/main">
            <a:r>
              <a:t>  "observed": "Network Rail이 AI 기반 철도 유지관리 적용 사례를 운영기관 자료로 소개",</a:t>
            </a:r>
          </a:p>
          <a:p xmlns:a="http://schemas.openxmlformats.org/drawingml/2006/main">
            <a:r>
              <a:t>  "verdict": "성과 미검증",</a:t>
            </a:r>
          </a:p>
          <a:p xmlns:a="http://schemas.openxmlformats.org/drawingml/2006/main">
            <a:r>
              <a:t>  "verdictReason": "적용 설명은 확인되나 고장 조기발견·지연·비용 개선의 전후 비교 결과 부재",</a:t>
            </a:r>
          </a:p>
          <a:p xmlns:a="http://schemas.openxmlformats.org/drawingml/2006/main">
            <a:r>
              <a:t>  "limits": "철도 운영기관 발표 기준. TS 검사·감독 업무 성과와 구분",</a:t>
            </a:r>
          </a:p>
          <a:p xmlns:a="http://schemas.openxmlformats.org/drawingml/2006/main">
            <a:r>
              <a:t>  "evidenceStage": "철도 운영기관 사례 발표",</a:t>
            </a:r>
          </a:p>
          <a:p xmlns:a="http://schemas.openxmlformats.org/drawingml/2006/main">
            <a:r>
              <a:t>  "sourceUrl": "https://www.networkrail.co.uk/stories/using-artificial-intelligence-to-create-a-better-railway/"</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"AX18",</a:t>
            </a:r>
          </a:p>
          <a:p xmlns:a="http://schemas.openxmlformats.org/drawingml/2006/main">
            <a:r>
              <a:t>    "title": "Network Rail Insight",</a:t>
            </a:r>
          </a:p>
          <a:p xmlns:a="http://schemas.openxmlformats.org/drawingml/2006/main">
            <a:r>
              <a:t>    "region": "해외",</a:t>
            </a:r>
          </a:p>
          <a:p xmlns:a="http://schemas.openxmlformats.org/drawingml/2006/main">
            <a:r>
              <a:t>    "country": "영국",</a:t>
            </a:r>
          </a:p>
          <a:p xmlns:a="http://schemas.openxmlformats.org/drawingml/2006/main">
            <a:r>
              <a:t>    "result": "성공",</a:t>
            </a:r>
          </a:p>
          <a:p xmlns:a="http://schemas.openxmlformats.org/drawingml/2006/main">
            <a:r>
              <a:t>    "kind": "철도 예지정비",</a:t>
            </a:r>
          </a:p>
          <a:p xmlns:a="http://schemas.openxmlformats.org/drawingml/2006/main">
            <a:r>
              <a:t>    "period": "2023 운영 소개",</a:t>
            </a:r>
          </a:p>
          <a:p xmlns:a="http://schemas.openxmlformats.org/drawingml/2006/main">
            <a:r>
              <a:t>    "sources": [</a:t>
            </a:r>
          </a:p>
          <a:p xmlns:a="http://schemas.openxmlformats.org/drawingml/2006/main">
            <a:r>
              <a:t>      "S-AX18"</a:t>
            </a:r>
          </a:p>
          <a:p xmlns:a="http://schemas.openxmlformats.org/drawingml/2006/main">
            <a:r>
              <a:t>    ],</a:t>
            </a:r>
          </a:p>
          <a:p xmlns:a="http://schemas.openxmlformats.org/drawingml/2006/main">
            <a:r>
              <a:t>    "keywords": [</a:t>
            </a:r>
          </a:p>
          <a:p xmlns:a="http://schemas.openxmlformats.org/drawingml/2006/main">
            <a:r>
              <a:t>      "철도 예지정비"</a:t>
            </a:r>
          </a:p>
          <a:p xmlns:a="http://schemas.openxmlformats.org/drawingml/2006/main">
            <a:r>
              <a:t>    ],</a:t>
            </a:r>
          </a:p>
          <a:p xmlns:a="http://schemas.openxmlformats.org/drawingml/2006/main">
            <a:r>
              <a:t>    "fact": "설비 데이터와 AI 분석을 결합하여 철도 유지관리의 이상 징후·우선순위 검토 지원",</a:t>
            </a:r>
          </a:p>
          <a:p xmlns:a="http://schemas.openxmlformats.org/drawingml/2006/main">
            <a:r>
              <a:t>    "limit": "철도 운영사 사례 · TS의 검사·감독 책임 범위에 맞춘 현지화 필요",</a:t>
            </a:r>
          </a:p>
          <a:p xmlns:a="http://schemas.openxmlformats.org/drawingml/2006/main">
            <a:r>
              <a:t>    "flow": [</a:t>
            </a:r>
          </a:p>
          <a:p xmlns:a="http://schemas.openxmlformats.org/drawingml/2006/main">
            <a:r>
              <a:t>      "설비·검측 자료",</a:t>
            </a:r>
          </a:p>
          <a:p xmlns:a="http://schemas.openxmlformats.org/drawingml/2006/main">
            <a:r>
              <a:t>      "AI 이상 분석",</a:t>
            </a:r>
          </a:p>
          <a:p xmlns:a="http://schemas.openxmlformats.org/drawingml/2006/main">
            <a:r>
              <a:t>      "정비 우선순위",</a:t>
            </a:r>
          </a:p>
          <a:p xmlns:a="http://schemas.openxmlformats.org/drawingml/2006/main">
            <a:r>
              <a:t>      "담당자 조치"</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"위험 예측과 정비 의사결정의 연결",</a:t>
            </a:r>
          </a:p>
          <a:p xmlns:a="http://schemas.openxmlformats.org/drawingml/2006/main">
            <a:r>
              <a:t>    "local": "TS 점검 계획의 위험 근거·소관·이력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"설비별 위험 근거 묶음·담당 배정·기한 관리",</a:t>
            </a:r>
          </a:p>
          <a:p xmlns:a="http://schemas.openxmlformats.org/drawingml/2006/main">
            <a:r>
              <a:t>    "test": "결측·상충 신호·미조치 건 우선순위 검증",</a:t>
            </a:r>
          </a:p>
          <a:p xmlns:a="http://schemas.openxmlformats.org/drawingml/2006/main">
            <a:r>
              <a:t>    "metric": "점검 준비시간 / 미조치 추적률",</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"AX18",</a:t>
            </a:r>
          </a:p>
          <a:p xmlns:a="http://schemas.openxmlformats.org/drawingml/2006/main">
            <a:r>
              <a:t>    "canonicalId": "AX18",</a:t>
            </a:r>
          </a:p>
          <a:p xmlns:a="http://schemas.openxmlformats.org/drawingml/2006/main">
            <a:r>
              <a:t>    "purpose": "설비 데이터 통합에 기반한 철도 예방정비",</a:t>
            </a:r>
          </a:p>
          <a:p xmlns:a="http://schemas.openxmlformats.org/drawingml/2006/main">
            <a:r>
              <a:t>    "users": "설비관리자·현장 유지보수 담당",</a:t>
            </a:r>
          </a:p>
          <a:p xmlns:a="http://schemas.openxmlformats.org/drawingml/2006/main">
            <a:r>
              <a:t>    "scope": [</a:t>
            </a:r>
          </a:p>
          <a:p xmlns:a="http://schemas.openxmlformats.org/drawingml/2006/main">
            <a:r>
              <a:t>      "이상 징후",</a:t>
            </a:r>
          </a:p>
          <a:p xmlns:a="http://schemas.openxmlformats.org/drawingml/2006/main">
            <a:r>
              <a:t>      "우선순위",</a:t>
            </a:r>
          </a:p>
          <a:p xmlns:a="http://schemas.openxmlformats.org/drawingml/2006/main">
            <a:r>
              <a:t>      "정비 계획"</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"설비·검측 수집",</a:t>
            </a:r>
          </a:p>
          <a:p xmlns:a="http://schemas.openxmlformats.org/drawingml/2006/main">
            <a:r>
              <a:t>        "detail": "설비·위치·고장 맥락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"이상 징후 / 우선순위 / 정비 계획",</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"Insight 분석",</a:t>
            </a:r>
          </a:p>
          <a:p xmlns:a="http://schemas.openxmlformats.org/drawingml/2006/main">
            <a:r>
              <a:t>        "detail": "서로 다른 관측자료의 이상 신호 결합",</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"유지관리 담당",</a:t>
            </a:r>
          </a:p>
          <a:p xmlns:a="http://schemas.openxmlformats.org/drawingml/2006/main">
            <a:r>
              <a:t>        "detail": "위험 후보를 현장 점검·정비계획으로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"설비·이상 이력",</a:t>
            </a:r>
          </a:p>
          <a:p xmlns:a="http://schemas.openxmlformats.org/drawingml/2006/main">
            <a:r>
              <a:t>        "detail": "설비 ID 기준 관측·상태·정비 이력 통합",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"현장 판정과 실제 결함을 다음 분석에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"설비·검측 자료",</a:t>
            </a:r>
          </a:p>
          <a:p xmlns:a="http://schemas.openxmlformats.org/drawingml/2006/main">
            <a:r>
              <a:t>        "input": "설비·위치·고장 맥락 지정",</a:t>
            </a:r>
          </a:p>
          <a:p xmlns:a="http://schemas.openxmlformats.org/drawingml/2006/main">
            <a:r>
              <a:t>        "process": "설비 ID 기준 관측·상태·정비 이력 통합",</a:t>
            </a:r>
          </a:p>
          <a:p xmlns:a="http://schemas.openxmlformats.org/drawingml/2006/main">
            <a:r>
              <a:t>        "output": "설비 관측"</a:t>
            </a:r>
          </a:p>
          <a:p xmlns:a="http://schemas.openxmlformats.org/drawingml/2006/main">
            <a:r>
              <a:t>      },</a:t>
            </a:r>
          </a:p>
          <a:p xmlns:a="http://schemas.openxmlformats.org/drawingml/2006/main">
            <a:r>
              <a:t>      {</a:t>
            </a:r>
          </a:p>
          <a:p xmlns:a="http://schemas.openxmlformats.org/drawingml/2006/main">
            <a:r>
              <a:t>        "title": "AI 이상 분석",</a:t>
            </a:r>
          </a:p>
          <a:p xmlns:a="http://schemas.openxmlformats.org/drawingml/2006/main">
            <a:r>
              <a:t>        "input": "설비 관측",</a:t>
            </a:r>
          </a:p>
          <a:p xmlns:a="http://schemas.openxmlformats.org/drawingml/2006/main">
            <a:r>
              <a:t>        "process": "서로 다른 관측자료의 이상 신호 결합",</a:t>
            </a:r>
          </a:p>
          <a:p xmlns:a="http://schemas.openxmlformats.org/drawingml/2006/main">
            <a:r>
              <a:t>        "output": "이상 징후"</a:t>
            </a:r>
          </a:p>
          <a:p xmlns:a="http://schemas.openxmlformats.org/drawingml/2006/main">
            <a:r>
              <a:t>      },</a:t>
            </a:r>
          </a:p>
          <a:p xmlns:a="http://schemas.openxmlformats.org/drawingml/2006/main">
            <a:r>
              <a:t>      {</a:t>
            </a:r>
          </a:p>
          <a:p xmlns:a="http://schemas.openxmlformats.org/drawingml/2006/main">
            <a:r>
              <a:t>        "title": "정비 우선순위",</a:t>
            </a:r>
          </a:p>
          <a:p xmlns:a="http://schemas.openxmlformats.org/drawingml/2006/main">
            <a:r>
              <a:t>        "input": "이상 징후",</a:t>
            </a:r>
          </a:p>
          <a:p xmlns:a="http://schemas.openxmlformats.org/drawingml/2006/main">
            <a:r>
              <a:t>        "process": "누락 설비·중요 결함 별도 평가",</a:t>
            </a:r>
          </a:p>
          <a:p xmlns:a="http://schemas.openxmlformats.org/drawingml/2006/main">
            <a:r>
              <a:t>        "output": "정비 우선순위"</a:t>
            </a:r>
          </a:p>
          <a:p xmlns:a="http://schemas.openxmlformats.org/drawingml/2006/main">
            <a:r>
              <a:t>      },</a:t>
            </a:r>
          </a:p>
          <a:p xmlns:a="http://schemas.openxmlformats.org/drawingml/2006/main">
            <a:r>
              <a:t>      {</a:t>
            </a:r>
          </a:p>
          <a:p xmlns:a="http://schemas.openxmlformats.org/drawingml/2006/main">
            <a:r>
              <a:t>        "title": "담당자 조치",</a:t>
            </a:r>
          </a:p>
          <a:p xmlns:a="http://schemas.openxmlformats.org/drawingml/2006/main">
            <a:r>
              <a:t>        "input": "정비 우선순위",</a:t>
            </a:r>
          </a:p>
          <a:p xmlns:a="http://schemas.openxmlformats.org/drawingml/2006/main">
            <a:r>
              <a:t>        "process": "위험 후보를 현장 점검·정비계획으로 연결",</a:t>
            </a:r>
          </a:p>
          <a:p xmlns:a="http://schemas.openxmlformats.org/drawingml/2006/main">
            <a:r>
              <a:t>        "output": "조치·재점검"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"설비의 여러 관측 신호로 정비 우선순위를 검토",</a:t>
            </a:r>
          </a:p>
          <a:p xmlns:a="http://schemas.openxmlformats.org/drawingml/2006/main">
            <a:r>
              <a:t>      "exception": "데이터 지연·상충 신호·정비 완료 이력 누락",</a:t>
            </a:r>
          </a:p>
          <a:p xmlns:a="http://schemas.openxmlformats.org/drawingml/2006/main">
            <a:r>
              <a:t>      "evidence": "우선순위 근거와 현장 확인·정비 결과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"설비관리자·현장 유지보수 담당",</a:t>
            </a:r>
          </a:p>
          <a:p xmlns:a="http://schemas.openxmlformats.org/drawingml/2006/main">
            <a:r>
              <a:t>          "processing": "설비·위치·고장 맥락 지정",</a:t>
            </a:r>
          </a:p>
          <a:p xmlns:a="http://schemas.openxmlformats.org/drawingml/2006/main">
            <a:r>
              <a:t>          "output": "설비 관측"</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"설비·이상 이력",</a:t>
            </a:r>
          </a:p>
          <a:p xmlns:a="http://schemas.openxmlformats.org/drawingml/2006/main">
            <a:r>
              <a:t>          "processing": "설비 ID 기준 관측·상태·정비 이력 통합",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"설비 관측",</a:t>
            </a:r>
          </a:p>
          <a:p xmlns:a="http://schemas.openxmlformats.org/drawingml/2006/main">
            <a:r>
              <a:t>          "processing": "서로 다른 관측자료의 이상 신호 결합",</a:t>
            </a:r>
          </a:p>
          <a:p xmlns:a="http://schemas.openxmlformats.org/drawingml/2006/main">
            <a:r>
              <a:t>          "output": "정비 우선순위"</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"정비 우선순위",</a:t>
            </a:r>
          </a:p>
          <a:p xmlns:a="http://schemas.openxmlformats.org/drawingml/2006/main">
            <a:r>
              <a:t>          "processing": "위험 후보를 현장 점검·정비계획으로 연결",</a:t>
            </a:r>
          </a:p>
          <a:p xmlns:a="http://schemas.openxmlformats.org/drawingml/2006/main">
            <a:r>
              <a:t>          "output": "조치·재점검"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"현장 판정과 실제 결함을 다음 분석에 반영",</a:t>
            </a:r>
          </a:p>
          <a:p xmlns:a="http://schemas.openxmlformats.org/drawingml/2006/main">
            <a:r>
              <a:t>          "output": "우선순위 근거와 현장 확인·정비 결과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"현장 판정과 실제 결함을 다음 분석에 반영",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"S-AX18",</a:t>
            </a:r>
          </a:p>
          <a:p xmlns:a="http://schemas.openxmlformats.org/drawingml/2006/main">
            <a:r>
              <a:t>        "title": "Network Rail Insight · 운영기관 / 2023-12-22",</a:t>
            </a:r>
          </a:p>
          <a:p xmlns:a="http://schemas.openxmlformats.org/drawingml/2006/main">
            <a:r>
              <a:t>        "url": "https://www.networkrail.co.uk/stories/using-artificial-intelligence-to-create-a-better-railway/",</a:t>
            </a:r>
          </a:p>
          <a:p xmlns:a="http://schemas.openxmlformats.org/drawingml/2006/main">
            <a:r>
              <a:t>        "published": "2023 운영 소개",</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"위험 예측과 정비 의사결정의 연결",</a:t>
            </a:r>
          </a:p>
          <a:p xmlns:a="http://schemas.openxmlformats.org/drawingml/2006/main">
            <a:r>
              <a:t>    "local": "TS 점검 계획의 위험 근거·소관·이력 연결",</a:t>
            </a:r>
          </a:p>
          <a:p xmlns:a="http://schemas.openxmlformats.org/drawingml/2006/main">
            <a:r>
              <a:t>    "sourceDetail": null,</a:t>
            </a:r>
          </a:p>
          <a:p xmlns:a="http://schemas.openxmlformats.org/drawingml/2006/main">
            <a:r>
              <a:t>    "narrative": [</a:t>
            </a:r>
          </a:p>
          <a:p xmlns:a="http://schemas.openxmlformats.org/drawingml/2006/main">
            <a:r>
              <a:t>      "여러 철도 설비의 관측 자료를 통합해 예방정비 우선순위를 지원하는 사례. 서로 다른 설비 데이터의 품질과 식별자를 맞추는 기반 작업이 주요 전제.",</a:t>
            </a:r>
          </a:p>
          <a:p xmlns:a="http://schemas.openxmlformats.org/drawingml/2006/main">
            <a:r>
              <a:t>      "설비 ID에 관측·위치·고장·정비 이력을 연결하고 이상 신호를 합쳐 점검 후보를 만드는 구조. 위험 순위는 현장 담당자의 확인 후 정비계획으로 전환하고 실제 결함 여부를 환류.",</a:t>
            </a:r>
          </a:p>
          <a:p xmlns:a="http://schemas.openxmlformats.org/drawingml/2006/main">
            <a:r>
              <a:t>      "CCK에서는 이상 경보를 정비 완료로 처리하지 않는 상태 모델을 적용. 누락 설비, 관측 결측, 실제 결함과 오경보, 점검 후 조치 완료를 함께 추적하는 TS 후속 업무 설계."</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"설비 상태 접점",</a:t>
            </a:r>
          </a:p>
          <a:p xmlns:a="http://schemas.openxmlformats.org/drawingml/2006/main">
            <a:r>
              <a:t>          "layer": "이용 접점",</a:t>
            </a:r>
          </a:p>
          <a:p xmlns:a="http://schemas.openxmlformats.org/drawingml/2006/main">
            <a:r>
              <a:t>          "detail": "설비관리자·현장 유지보수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"위치·고장 맥락",</a:t>
            </a:r>
          </a:p>
          <a:p xmlns:a="http://schemas.openxmlformats.org/drawingml/2006/main">
            <a:r>
              <a:t>          "layer": "업무 문맥",</a:t>
            </a:r>
          </a:p>
          <a:p xmlns:a="http://schemas.openxmlformats.org/drawingml/2006/main">
            <a:r>
              <a:t>          "detail": "설비·위치·고장 맥락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"다종 관측 조회",</a:t>
            </a:r>
          </a:p>
          <a:p xmlns:a="http://schemas.openxmlformats.org/drawingml/2006/main">
            <a:r>
              <a:t>          "layer": "자료 조회",</a:t>
            </a:r>
          </a:p>
          <a:p xmlns:a="http://schemas.openxmlformats.org/drawingml/2006/main">
            <a:r>
              <a:t>          "detail": "설비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"이상 신호 결합",</a:t>
            </a:r>
          </a:p>
          <a:p xmlns:a="http://schemas.openxmlformats.org/drawingml/2006/main">
            <a:r>
              <a:t>          "layer": "핵심 처리",</a:t>
            </a:r>
          </a:p>
          <a:p xmlns:a="http://schemas.openxmlformats.org/drawingml/2006/main">
            <a:r>
              <a:t>          "detail": "서로 다른 관측자료의 이상 신호 결합",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"누락 설비 검사",</a:t>
            </a:r>
          </a:p>
          <a:p xmlns:a="http://schemas.openxmlformats.org/drawingml/2006/main">
            <a:r>
              <a:t>          "layer": "결과 검증",</a:t>
            </a:r>
          </a:p>
          <a:p xmlns:a="http://schemas.openxmlformats.org/drawingml/2006/main">
            <a:r>
              <a:t>          "detail": "누락 설비·중요 결함 별도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점검 확인",</a:t>
            </a:r>
          </a:p>
          <a:p xmlns:a="http://schemas.openxmlformats.org/drawingml/2006/main">
            <a:r>
              <a:t>          "layer": "사람 확인",</a:t>
            </a:r>
          </a:p>
          <a:p xmlns:a="http://schemas.openxmlformats.org/drawingml/2006/main">
            <a:r>
              <a:t>          "detail": "설비의 여러 관측 신호로 정비 우선순위를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"정비 우선순위",</a:t>
            </a:r>
          </a:p>
          <a:p xmlns:a="http://schemas.openxmlformats.org/drawingml/2006/main">
            <a:r>
              <a:t>          "layer": "업무 연결",</a:t>
            </a:r>
          </a:p>
          <a:p xmlns:a="http://schemas.openxmlformats.org/drawingml/2006/main">
            <a:r>
              <a:t>          "detail": "위험 후보를 현장 점검·정비계획으로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"결함 결과 환류",</a:t>
            </a:r>
          </a:p>
          <a:p xmlns:a="http://schemas.openxmlformats.org/drawingml/2006/main">
            <a:r>
              <a:t>          "layer": "운영 관측",</a:t>
            </a:r>
          </a:p>
          <a:p xmlns:a="http://schemas.openxmlformats.org/drawingml/2006/main">
            <a:r>
              <a:t>          "detail": "현장 판정과 실제 결함을 다음 분석에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"관측·설비대장",</a:t>
            </a:r>
          </a:p>
          <a:p xmlns:a="http://schemas.openxmlformats.org/drawingml/2006/main">
            <a:r>
              <a:t>          "layer": "데이터 원천",</a:t>
            </a:r>
          </a:p>
          <a:p xmlns:a="http://schemas.openxmlformats.org/drawingml/2006/main">
            <a:r>
              <a:t>          "detail": "설비·이상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"설비 식별자 통합",</a:t>
            </a:r>
          </a:p>
          <a:p xmlns:a="http://schemas.openxmlformats.org/drawingml/2006/main">
            <a:r>
              <a:t>          "layer": "준비·갱신",</a:t>
            </a:r>
          </a:p>
          <a:p xmlns:a="http://schemas.openxmlformats.org/drawingml/2006/main">
            <a:r>
              <a:t>          "detail": "설비 ID 기준 관측·상태·정비 이력 통합",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"상태·정비 이력",</a:t>
            </a:r>
          </a:p>
          <a:p xmlns:a="http://schemas.openxmlformats.org/drawingml/2006/main">
            <a:r>
              <a:t>          "layer": "상태·지식 저장",</a:t>
            </a:r>
          </a:p>
          <a:p xmlns:a="http://schemas.openxmlformats.org/drawingml/2006/main">
            <a:r>
              <a:t>          "detail": "우선순위 근거와 현장 확인·정비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"설비 관리 책임",</a:t>
            </a:r>
          </a:p>
          <a:p xmlns:a="http://schemas.openxmlformats.org/drawingml/2006/main">
            <a:r>
              <a:t>          "layer": "권한·정책",</a:t>
            </a:r>
          </a:p>
          <a:p xmlns:a="http://schemas.openxmlformats.org/drawingml/2006/main">
            <a:r>
              <a:t>          "detail": "데이터 지연·상충 신호·정비 완료 이력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"설비·검측 자료 → AI 이상 분석 → 정비 우선순위 → 담당자 조치"</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"설비·이상 이력",</a:t>
            </a:r>
          </a:p>
          <a:p xmlns:a="http://schemas.openxmlformats.org/drawingml/2006/main">
            <a:r>
              <a:t>          "check": "설비 ID 기준 관측·상태·정비 이력 통합"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"설비 ID 기준 관측·상태·정비 이력 통합"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"정비 우선순위",</a:t>
            </a:r>
          </a:p>
          <a:p xmlns:a="http://schemas.openxmlformats.org/drawingml/2006/main">
            <a:r>
              <a:t>          "check": "우선순위 근거와 현장 확인·정비 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"설비 관리 책임",</a:t>
            </a:r>
          </a:p>
          <a:p xmlns:a="http://schemas.openxmlformats.org/drawingml/2006/main">
            <a:r>
              <a:t>          "check": "누락 설비·중요 결함 별도 평가"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"조치·재점검",</a:t>
            </a:r>
          </a:p>
          <a:p xmlns:a="http://schemas.openxmlformats.org/drawingml/2006/main">
            <a:r>
              <a:t>          "check": "우선순위 근거와 현장 확인·정비 결과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"현장 판정과 실제 결함을 다음 분석에 반영",</a:t>
            </a:r>
          </a:p>
          <a:p xmlns:a="http://schemas.openxmlformats.org/drawingml/2006/main">
            <a:r>
              <a:t>          "check": "현장 판정과 실제 결함을 다음 분석에 반영"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"설비 데이터 통합에 기반한 철도 예방정비 / 이상 징후·우선순위·정비 계획",</a:t>
            </a:r>
          </a:p>
          <a:p xmlns:a="http://schemas.openxmlformats.org/drawingml/2006/main">
            <a:r>
              <a:t>        "extension": "TS 점검 계획의 위험 근거·소관·이력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"데이터 지연·상충 신호·정비 완료 이력 누락",</a:t>
            </a:r>
          </a:p>
          <a:p xmlns:a="http://schemas.openxmlformats.org/drawingml/2006/main">
            <a:r>
              <a:t>        "hold": "누락 설비·중요 결함 별도 평가",</a:t>
            </a:r>
          </a:p>
          <a:p xmlns:a="http://schemas.openxmlformats.org/drawingml/2006/main">
            <a:r>
              <a:t>        "recovery": "현장 판정과 실제 결함을 다음 분석에 반영",</a:t>
            </a:r>
          </a:p>
          <a:p xmlns:a="http://schemas.openxmlformats.org/drawingml/2006/main">
            <a:r>
              <a:t>        "evidence": "우선순위 근거와 현장 확인·정비 결과 대사"</a:t>
            </a:r>
          </a:p>
          <a:p xmlns:a="http://schemas.openxmlformats.org/drawingml/2006/main">
            <a:r>
              <a:t>      },</a:t>
            </a:r>
          </a:p>
          <a:p xmlns:a="http://schemas.openxmlformats.org/drawingml/2006/main">
            <a:r>
              <a:t>      "data": {</a:t>
            </a:r>
          </a:p>
          <a:p xmlns:a="http://schemas.openxmlformats.org/drawingml/2006/main">
            <a:r>
              <a:t>        "source": "설비·이상 이력",</a:t>
            </a:r>
          </a:p>
          <a:p xmlns:a="http://schemas.openxmlformats.org/drawingml/2006/main">
            <a:r>
              <a:t>        "prepare": "설비 ID 기준 관측·상태·정비 이력 통합",</a:t>
            </a:r>
          </a:p>
          <a:p xmlns:a="http://schemas.openxmlformats.org/drawingml/2006/main">
            <a:r>
              <a:t>        "output": "설비 관측",</a:t>
            </a:r>
          </a:p>
          <a:p xmlns:a="http://schemas.openxmlformats.org/drawingml/2006/main">
            <a:r>
              <a:t>        "refresh": "현장 판정과 실제 결함을 다음 분석에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"AX18",</a:t>
            </a:r>
          </a:p>
          <a:p xmlns:a="http://schemas.openxmlformats.org/drawingml/2006/main">
            <a:r>
              <a:t>    "success": [</a:t>
            </a:r>
          </a:p>
          <a:p xmlns:a="http://schemas.openxmlformats.org/drawingml/2006/main">
            <a:r>
              <a:t>      "여러 설비 자료의 통합 분석",</a:t>
            </a:r>
          </a:p>
          <a:p xmlns:a="http://schemas.openxmlformats.org/drawingml/2006/main">
            <a:r>
              <a:t>      "정비 우선순위와 현장 조치 연결"</a:t>
            </a:r>
          </a:p>
          <a:p xmlns:a="http://schemas.openxmlformats.org/drawingml/2006/main">
            <a:r>
              <a:t>    ],</a:t>
            </a:r>
          </a:p>
          <a:p xmlns:a="http://schemas.openxmlformats.org/drawingml/2006/main">
            <a:r>
              <a:t>    "risks": [</a:t>
            </a:r>
          </a:p>
          <a:p xmlns:a="http://schemas.openxmlformats.org/drawingml/2006/main">
            <a:r>
              <a:t>      "설비별 데이터 품질 차이",</a:t>
            </a:r>
          </a:p>
          <a:p xmlns:a="http://schemas.openxmlformats.org/drawingml/2006/main">
            <a:r>
              <a:t>      "권고를 정비 완료로 간주하는 위험"</a:t>
            </a:r>
          </a:p>
          <a:p xmlns:a="http://schemas.openxmlformats.org/drawingml/2006/main">
            <a:r>
              <a:t>    ],</a:t>
            </a:r>
          </a:p>
          <a:p xmlns:a="http://schemas.openxmlformats.org/drawingml/2006/main">
            <a:r>
              <a:t>    "architecture": [</a:t>
            </a:r>
          </a:p>
          <a:p xmlns:a="http://schemas.openxmlformats.org/drawingml/2006/main">
            <a:r>
              <a:t>      "설비·검측 수집",</a:t>
            </a:r>
          </a:p>
          <a:p xmlns:a="http://schemas.openxmlformats.org/drawingml/2006/main">
            <a:r>
              <a:t>      "Insight 분석",</a:t>
            </a:r>
          </a:p>
          <a:p xmlns:a="http://schemas.openxmlformats.org/drawingml/2006/main">
            <a:r>
              <a:t>      "설비·이상 이력",</a:t>
            </a:r>
          </a:p>
          <a:p xmlns:a="http://schemas.openxmlformats.org/drawingml/2006/main">
            <a:r>
              <a:t>      "유지관리 담당"</a:t>
            </a:r>
          </a:p>
          <a:p xmlns:a="http://schemas.openxmlformats.org/drawingml/2006/main">
            <a:r>
              <a:t>    ],</a:t>
            </a:r>
          </a:p>
          <a:p xmlns:a="http://schemas.openxmlformats.org/drawingml/2006/main">
            <a:r>
              <a:t>    "transfers": [</a:t>
            </a:r>
          </a:p>
          <a:p xmlns:a="http://schemas.openxmlformats.org/drawingml/2006/main">
            <a:r>
              <a:t>      "설비 관측",</a:t>
            </a:r>
          </a:p>
          <a:p xmlns:a="http://schemas.openxmlformats.org/drawingml/2006/main">
            <a:r>
              <a:t>      "이상 징후",</a:t>
            </a:r>
          </a:p>
          <a:p xmlns:a="http://schemas.openxmlformats.org/drawingml/2006/main">
            <a:r>
              <a:t>      "정비 우선순위",</a:t>
            </a:r>
          </a:p>
          <a:p xmlns:a="http://schemas.openxmlformats.org/drawingml/2006/main">
            <a:r>
              <a:t>      "조치·재점검"</a:t>
            </a:r>
          </a:p>
          <a:p xmlns:a="http://schemas.openxmlformats.org/drawingml/2006/main">
            <a:r>
              <a:t>    ],</a:t>
            </a:r>
          </a:p>
          <a:p xmlns:a="http://schemas.openxmlformats.org/drawingml/2006/main">
            <a:r>
              <a:t>    "control": "누락 설비·중요 결함 별도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Network Rail Insight · 운영기관 / 2023-12-22 https://www.networkrail.co.uk/stories/using-artificial-intelligence-to-create-a-better-railway/</a:t>
            </a:r>
          </a:p>
          <a:p xmlns:a="http://schemas.openxmlformats.org/drawingml/2006/main">
            <a:r>
              <a:t>홈페이지 https://heen1987-ops.github.io/TS-business-Plan-001/index.html?view=casebook&amp;case=AX18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"AX18",</a:t>
            </a:r>
          </a:p>
          <a:p xmlns:a="http://schemas.openxmlformats.org/drawingml/2006/main">
            <a:r>
              <a:t>    "title": "Network Rail Insight",</a:t>
            </a:r>
          </a:p>
          <a:p xmlns:a="http://schemas.openxmlformats.org/drawingml/2006/main">
            <a:r>
              <a:t>    "region": "해외",</a:t>
            </a:r>
          </a:p>
          <a:p xmlns:a="http://schemas.openxmlformats.org/drawingml/2006/main">
            <a:r>
              <a:t>    "country": "영국",</a:t>
            </a:r>
          </a:p>
          <a:p xmlns:a="http://schemas.openxmlformats.org/drawingml/2006/main">
            <a:r>
              <a:t>    "result": "성공",</a:t>
            </a:r>
          </a:p>
          <a:p xmlns:a="http://schemas.openxmlformats.org/drawingml/2006/main">
            <a:r>
              <a:t>    "kind": "철도 예지정비",</a:t>
            </a:r>
          </a:p>
          <a:p xmlns:a="http://schemas.openxmlformats.org/drawingml/2006/main">
            <a:r>
              <a:t>    "period": "2023 운영 소개",</a:t>
            </a:r>
          </a:p>
          <a:p xmlns:a="http://schemas.openxmlformats.org/drawingml/2006/main">
            <a:r>
              <a:t>    "sources": [</a:t>
            </a:r>
          </a:p>
          <a:p xmlns:a="http://schemas.openxmlformats.org/drawingml/2006/main">
            <a:r>
              <a:t>      "S-AX18"</a:t>
            </a:r>
          </a:p>
          <a:p xmlns:a="http://schemas.openxmlformats.org/drawingml/2006/main">
            <a:r>
              <a:t>    ],</a:t>
            </a:r>
          </a:p>
          <a:p xmlns:a="http://schemas.openxmlformats.org/drawingml/2006/main">
            <a:r>
              <a:t>    "keywords": [</a:t>
            </a:r>
          </a:p>
          <a:p xmlns:a="http://schemas.openxmlformats.org/drawingml/2006/main">
            <a:r>
              <a:t>      "철도 예지정비"</a:t>
            </a:r>
          </a:p>
          <a:p xmlns:a="http://schemas.openxmlformats.org/drawingml/2006/main">
            <a:r>
              <a:t>    ],</a:t>
            </a:r>
          </a:p>
          <a:p xmlns:a="http://schemas.openxmlformats.org/drawingml/2006/main">
            <a:r>
              <a:t>    "fact": "설비 데이터와 AI 분석을 결합하여 철도 유지관리의 이상 징후·우선순위 검토 지원",</a:t>
            </a:r>
          </a:p>
          <a:p xmlns:a="http://schemas.openxmlformats.org/drawingml/2006/main">
            <a:r>
              <a:t>    "limit": "철도 운영사 사례 · TS의 검사·감독 책임 범위에 맞춘 현지화 필요",</a:t>
            </a:r>
          </a:p>
          <a:p xmlns:a="http://schemas.openxmlformats.org/drawingml/2006/main">
            <a:r>
              <a:t>    "flow": [</a:t>
            </a:r>
          </a:p>
          <a:p xmlns:a="http://schemas.openxmlformats.org/drawingml/2006/main">
            <a:r>
              <a:t>      "설비·검측 자료",</a:t>
            </a:r>
          </a:p>
          <a:p xmlns:a="http://schemas.openxmlformats.org/drawingml/2006/main">
            <a:r>
              <a:t>      "AI 이상 분석",</a:t>
            </a:r>
          </a:p>
          <a:p xmlns:a="http://schemas.openxmlformats.org/drawingml/2006/main">
            <a:r>
              <a:t>      "정비 우선순위",</a:t>
            </a:r>
          </a:p>
          <a:p xmlns:a="http://schemas.openxmlformats.org/drawingml/2006/main">
            <a:r>
              <a:t>      "담당자 조치"</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"위험 예측과 정비 의사결정의 연결",</a:t>
            </a:r>
          </a:p>
          <a:p xmlns:a="http://schemas.openxmlformats.org/drawingml/2006/main">
            <a:r>
              <a:t>    "local": "TS 점검 계획의 위험 근거·소관·이력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"설비별 위험 근거 묶음·담당 배정·기한 관리",</a:t>
            </a:r>
          </a:p>
          <a:p xmlns:a="http://schemas.openxmlformats.org/drawingml/2006/main">
            <a:r>
              <a:t>    "test": "결측·상충 신호·미조치 건 우선순위 검증",</a:t>
            </a:r>
          </a:p>
          <a:p xmlns:a="http://schemas.openxmlformats.org/drawingml/2006/main">
            <a:r>
              <a:t>    "metric": "점검 준비시간 / 미조치 추적률",</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"AX18",</a:t>
            </a:r>
          </a:p>
          <a:p xmlns:a="http://schemas.openxmlformats.org/drawingml/2006/main">
            <a:r>
              <a:t>    "canonicalId": "AX18",</a:t>
            </a:r>
          </a:p>
          <a:p xmlns:a="http://schemas.openxmlformats.org/drawingml/2006/main">
            <a:r>
              <a:t>    "purpose": "설비 데이터 통합에 기반한 철도 예방정비",</a:t>
            </a:r>
          </a:p>
          <a:p xmlns:a="http://schemas.openxmlformats.org/drawingml/2006/main">
            <a:r>
              <a:t>    "users": "설비관리자·현장 유지보수 담당",</a:t>
            </a:r>
          </a:p>
          <a:p xmlns:a="http://schemas.openxmlformats.org/drawingml/2006/main">
            <a:r>
              <a:t>    "scope": [</a:t>
            </a:r>
          </a:p>
          <a:p xmlns:a="http://schemas.openxmlformats.org/drawingml/2006/main">
            <a:r>
              <a:t>      "이상 징후",</a:t>
            </a:r>
          </a:p>
          <a:p xmlns:a="http://schemas.openxmlformats.org/drawingml/2006/main">
            <a:r>
              <a:t>      "우선순위",</a:t>
            </a:r>
          </a:p>
          <a:p xmlns:a="http://schemas.openxmlformats.org/drawingml/2006/main">
            <a:r>
              <a:t>      "정비 계획"</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"설비·검측 수집",</a:t>
            </a:r>
          </a:p>
          <a:p xmlns:a="http://schemas.openxmlformats.org/drawingml/2006/main">
            <a:r>
              <a:t>        "detail": "설비·위치·고장 맥락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"이상 징후 / 우선순위 / 정비 계획",</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"Insight 분석",</a:t>
            </a:r>
          </a:p>
          <a:p xmlns:a="http://schemas.openxmlformats.org/drawingml/2006/main">
            <a:r>
              <a:t>        "detail": "서로 다른 관측자료의 이상 신호 결합",</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"유지관리 담당",</a:t>
            </a:r>
          </a:p>
          <a:p xmlns:a="http://schemas.openxmlformats.org/drawingml/2006/main">
            <a:r>
              <a:t>        "detail": "위험 후보를 현장 점검·정비계획으로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"설비·이상 이력",</a:t>
            </a:r>
          </a:p>
          <a:p xmlns:a="http://schemas.openxmlformats.org/drawingml/2006/main">
            <a:r>
              <a:t>        "detail": "설비 ID 기준 관측·상태·정비 이력 통합",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"현장 판정과 실제 결함을 다음 분석에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"설비·검측 자료",</a:t>
            </a:r>
          </a:p>
          <a:p xmlns:a="http://schemas.openxmlformats.org/drawingml/2006/main">
            <a:r>
              <a:t>        "input": "설비·위치·고장 맥락 지정",</a:t>
            </a:r>
          </a:p>
          <a:p xmlns:a="http://schemas.openxmlformats.org/drawingml/2006/main">
            <a:r>
              <a:t>        "process": "설비 ID 기준 관측·상태·정비 이력 통합",</a:t>
            </a:r>
          </a:p>
          <a:p xmlns:a="http://schemas.openxmlformats.org/drawingml/2006/main">
            <a:r>
              <a:t>        "output": "설비 관측"</a:t>
            </a:r>
          </a:p>
          <a:p xmlns:a="http://schemas.openxmlformats.org/drawingml/2006/main">
            <a:r>
              <a:t>      },</a:t>
            </a:r>
          </a:p>
          <a:p xmlns:a="http://schemas.openxmlformats.org/drawingml/2006/main">
            <a:r>
              <a:t>      {</a:t>
            </a:r>
          </a:p>
          <a:p xmlns:a="http://schemas.openxmlformats.org/drawingml/2006/main">
            <a:r>
              <a:t>        "title": "AI 이상 분석",</a:t>
            </a:r>
          </a:p>
          <a:p xmlns:a="http://schemas.openxmlformats.org/drawingml/2006/main">
            <a:r>
              <a:t>        "input": "설비 관측",</a:t>
            </a:r>
          </a:p>
          <a:p xmlns:a="http://schemas.openxmlformats.org/drawingml/2006/main">
            <a:r>
              <a:t>        "process": "서로 다른 관측자료의 이상 신호 결합",</a:t>
            </a:r>
          </a:p>
          <a:p xmlns:a="http://schemas.openxmlformats.org/drawingml/2006/main">
            <a:r>
              <a:t>        "output": "이상 징후"</a:t>
            </a:r>
          </a:p>
          <a:p xmlns:a="http://schemas.openxmlformats.org/drawingml/2006/main">
            <a:r>
              <a:t>      },</a:t>
            </a:r>
          </a:p>
          <a:p xmlns:a="http://schemas.openxmlformats.org/drawingml/2006/main">
            <a:r>
              <a:t>      {</a:t>
            </a:r>
          </a:p>
          <a:p xmlns:a="http://schemas.openxmlformats.org/drawingml/2006/main">
            <a:r>
              <a:t>        "title": "정비 우선순위",</a:t>
            </a:r>
          </a:p>
          <a:p xmlns:a="http://schemas.openxmlformats.org/drawingml/2006/main">
            <a:r>
              <a:t>        "input": "이상 징후",</a:t>
            </a:r>
          </a:p>
          <a:p xmlns:a="http://schemas.openxmlformats.org/drawingml/2006/main">
            <a:r>
              <a:t>        "process": "누락 설비·중요 결함 별도 평가",</a:t>
            </a:r>
          </a:p>
          <a:p xmlns:a="http://schemas.openxmlformats.org/drawingml/2006/main">
            <a:r>
              <a:t>        "output": "정비 우선순위"</a:t>
            </a:r>
          </a:p>
          <a:p xmlns:a="http://schemas.openxmlformats.org/drawingml/2006/main">
            <a:r>
              <a:t>      },</a:t>
            </a:r>
          </a:p>
          <a:p xmlns:a="http://schemas.openxmlformats.org/drawingml/2006/main">
            <a:r>
              <a:t>      {</a:t>
            </a:r>
          </a:p>
          <a:p xmlns:a="http://schemas.openxmlformats.org/drawingml/2006/main">
            <a:r>
              <a:t>        "title": "담당자 조치",</a:t>
            </a:r>
          </a:p>
          <a:p xmlns:a="http://schemas.openxmlformats.org/drawingml/2006/main">
            <a:r>
              <a:t>        "input": "정비 우선순위",</a:t>
            </a:r>
          </a:p>
          <a:p xmlns:a="http://schemas.openxmlformats.org/drawingml/2006/main">
            <a:r>
              <a:t>        "process": "위험 후보를 현장 점검·정비계획으로 연결",</a:t>
            </a:r>
          </a:p>
          <a:p xmlns:a="http://schemas.openxmlformats.org/drawingml/2006/main">
            <a:r>
              <a:t>        "output": "조치·재점검"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"설비의 여러 관측 신호로 정비 우선순위를 검토",</a:t>
            </a:r>
          </a:p>
          <a:p xmlns:a="http://schemas.openxmlformats.org/drawingml/2006/main">
            <a:r>
              <a:t>      "exception": "데이터 지연·상충 신호·정비 완료 이력 누락",</a:t>
            </a:r>
          </a:p>
          <a:p xmlns:a="http://schemas.openxmlformats.org/drawingml/2006/main">
            <a:r>
              <a:t>      "evidence": "우선순위 근거와 현장 확인·정비 결과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"설비관리자·현장 유지보수 담당",</a:t>
            </a:r>
          </a:p>
          <a:p xmlns:a="http://schemas.openxmlformats.org/drawingml/2006/main">
            <a:r>
              <a:t>          "processing": "설비·위치·고장 맥락 지정",</a:t>
            </a:r>
          </a:p>
          <a:p xmlns:a="http://schemas.openxmlformats.org/drawingml/2006/main">
            <a:r>
              <a:t>          "output": "설비 관측"</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"설비·이상 이력",</a:t>
            </a:r>
          </a:p>
          <a:p xmlns:a="http://schemas.openxmlformats.org/drawingml/2006/main">
            <a:r>
              <a:t>          "processing": "설비 ID 기준 관측·상태·정비 이력 통합",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"설비 관측",</a:t>
            </a:r>
          </a:p>
          <a:p xmlns:a="http://schemas.openxmlformats.org/drawingml/2006/main">
            <a:r>
              <a:t>          "processing": "서로 다른 관측자료의 이상 신호 결합",</a:t>
            </a:r>
          </a:p>
          <a:p xmlns:a="http://schemas.openxmlformats.org/drawingml/2006/main">
            <a:r>
              <a:t>          "output": "정비 우선순위"</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"정비 우선순위",</a:t>
            </a:r>
          </a:p>
          <a:p xmlns:a="http://schemas.openxmlformats.org/drawingml/2006/main">
            <a:r>
              <a:t>          "processing": "위험 후보를 현장 점검·정비계획으로 연결",</a:t>
            </a:r>
          </a:p>
          <a:p xmlns:a="http://schemas.openxmlformats.org/drawingml/2006/main">
            <a:r>
              <a:t>          "output": "조치·재점검"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"현장 판정과 실제 결함을 다음 분석에 반영",</a:t>
            </a:r>
          </a:p>
          <a:p xmlns:a="http://schemas.openxmlformats.org/drawingml/2006/main">
            <a:r>
              <a:t>          "output": "우선순위 근거와 현장 확인·정비 결과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"현장 판정과 실제 결함을 다음 분석에 반영",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"S-AX18",</a:t>
            </a:r>
          </a:p>
          <a:p xmlns:a="http://schemas.openxmlformats.org/drawingml/2006/main">
            <a:r>
              <a:t>        "title": "Network Rail Insight · 운영기관 / 2023-12-22",</a:t>
            </a:r>
          </a:p>
          <a:p xmlns:a="http://schemas.openxmlformats.org/drawingml/2006/main">
            <a:r>
              <a:t>        "url": "https://www.networkrail.co.uk/stories/using-artificial-intelligence-to-create-a-better-railway/",</a:t>
            </a:r>
          </a:p>
          <a:p xmlns:a="http://schemas.openxmlformats.org/drawingml/2006/main">
            <a:r>
              <a:t>        "published": "2023 운영 소개",</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"위험 예측과 정비 의사결정의 연결",</a:t>
            </a:r>
          </a:p>
          <a:p xmlns:a="http://schemas.openxmlformats.org/drawingml/2006/main">
            <a:r>
              <a:t>    "local": "TS 점검 계획의 위험 근거·소관·이력 연결",</a:t>
            </a:r>
          </a:p>
          <a:p xmlns:a="http://schemas.openxmlformats.org/drawingml/2006/main">
            <a:r>
              <a:t>    "sourceDetail": null,</a:t>
            </a:r>
          </a:p>
          <a:p xmlns:a="http://schemas.openxmlformats.org/drawingml/2006/main">
            <a:r>
              <a:t>    "narrative": [</a:t>
            </a:r>
          </a:p>
          <a:p xmlns:a="http://schemas.openxmlformats.org/drawingml/2006/main">
            <a:r>
              <a:t>      "여러 철도 설비의 관측 자료를 통합해 예방정비 우선순위를 지원하는 사례. 서로 다른 설비 데이터의 품질과 식별자를 맞추는 기반 작업이 주요 전제.",</a:t>
            </a:r>
          </a:p>
          <a:p xmlns:a="http://schemas.openxmlformats.org/drawingml/2006/main">
            <a:r>
              <a:t>      "설비 ID에 관측·위치·고장·정비 이력을 연결하고 이상 신호를 합쳐 점검 후보를 만드는 구조. 위험 순위는 현장 담당자의 확인 후 정비계획으로 전환하고 실제 결함 여부를 환류.",</a:t>
            </a:r>
          </a:p>
          <a:p xmlns:a="http://schemas.openxmlformats.org/drawingml/2006/main">
            <a:r>
              <a:t>      "CCK에서는 이상 경보를 정비 완료로 처리하지 않는 상태 모델을 적용. 누락 설비, 관측 결측, 실제 결함과 오경보, 점검 후 조치 완료를 함께 추적하는 TS 후속 업무 설계."</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"설비 상태 접점",</a:t>
            </a:r>
          </a:p>
          <a:p xmlns:a="http://schemas.openxmlformats.org/drawingml/2006/main">
            <a:r>
              <a:t>          "layer": "이용 접점",</a:t>
            </a:r>
          </a:p>
          <a:p xmlns:a="http://schemas.openxmlformats.org/drawingml/2006/main">
            <a:r>
              <a:t>          "detail": "설비관리자·현장 유지보수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"위치·고장 맥락",</a:t>
            </a:r>
          </a:p>
          <a:p xmlns:a="http://schemas.openxmlformats.org/drawingml/2006/main">
            <a:r>
              <a:t>          "layer": "업무 문맥",</a:t>
            </a:r>
          </a:p>
          <a:p xmlns:a="http://schemas.openxmlformats.org/drawingml/2006/main">
            <a:r>
              <a:t>          "detail": "설비·위치·고장 맥락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"다종 관측 조회",</a:t>
            </a:r>
          </a:p>
          <a:p xmlns:a="http://schemas.openxmlformats.org/drawingml/2006/main">
            <a:r>
              <a:t>          "layer": "자료 조회",</a:t>
            </a:r>
          </a:p>
          <a:p xmlns:a="http://schemas.openxmlformats.org/drawingml/2006/main">
            <a:r>
              <a:t>          "detail": "설비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"이상 신호 결합",</a:t>
            </a:r>
          </a:p>
          <a:p xmlns:a="http://schemas.openxmlformats.org/drawingml/2006/main">
            <a:r>
              <a:t>          "layer": "핵심 처리",</a:t>
            </a:r>
          </a:p>
          <a:p xmlns:a="http://schemas.openxmlformats.org/drawingml/2006/main">
            <a:r>
              <a:t>          "detail": "서로 다른 관측자료의 이상 신호 결합",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"누락 설비 검사",</a:t>
            </a:r>
          </a:p>
          <a:p xmlns:a="http://schemas.openxmlformats.org/drawingml/2006/main">
            <a:r>
              <a:t>          "layer": "결과 검증",</a:t>
            </a:r>
          </a:p>
          <a:p xmlns:a="http://schemas.openxmlformats.org/drawingml/2006/main">
            <a:r>
              <a:t>          "detail": "누락 설비·중요 결함 별도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점검 확인",</a:t>
            </a:r>
          </a:p>
          <a:p xmlns:a="http://schemas.openxmlformats.org/drawingml/2006/main">
            <a:r>
              <a:t>          "layer": "사람 확인",</a:t>
            </a:r>
          </a:p>
          <a:p xmlns:a="http://schemas.openxmlformats.org/drawingml/2006/main">
            <a:r>
              <a:t>          "detail": "설비의 여러 관측 신호로 정비 우선순위를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"정비 우선순위",</a:t>
            </a:r>
          </a:p>
          <a:p xmlns:a="http://schemas.openxmlformats.org/drawingml/2006/main">
            <a:r>
              <a:t>          "layer": "업무 연결",</a:t>
            </a:r>
          </a:p>
          <a:p xmlns:a="http://schemas.openxmlformats.org/drawingml/2006/main">
            <a:r>
              <a:t>          "detail": "위험 후보를 현장 점검·정비계획으로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"결함 결과 환류",</a:t>
            </a:r>
          </a:p>
          <a:p xmlns:a="http://schemas.openxmlformats.org/drawingml/2006/main">
            <a:r>
              <a:t>          "layer": "운영 관측",</a:t>
            </a:r>
          </a:p>
          <a:p xmlns:a="http://schemas.openxmlformats.org/drawingml/2006/main">
            <a:r>
              <a:t>          "detail": "현장 판정과 실제 결함을 다음 분석에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"관측·설비대장",</a:t>
            </a:r>
          </a:p>
          <a:p xmlns:a="http://schemas.openxmlformats.org/drawingml/2006/main">
            <a:r>
              <a:t>          "layer": "데이터 원천",</a:t>
            </a:r>
          </a:p>
          <a:p xmlns:a="http://schemas.openxmlformats.org/drawingml/2006/main">
            <a:r>
              <a:t>          "detail": "설비·이상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"설비 식별자 통합",</a:t>
            </a:r>
          </a:p>
          <a:p xmlns:a="http://schemas.openxmlformats.org/drawingml/2006/main">
            <a:r>
              <a:t>          "layer": "준비·갱신",</a:t>
            </a:r>
          </a:p>
          <a:p xmlns:a="http://schemas.openxmlformats.org/drawingml/2006/main">
            <a:r>
              <a:t>          "detail": "설비 ID 기준 관측·상태·정비 이력 통합",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"상태·정비 이력",</a:t>
            </a:r>
          </a:p>
          <a:p xmlns:a="http://schemas.openxmlformats.org/drawingml/2006/main">
            <a:r>
              <a:t>          "layer": "상태·지식 저장",</a:t>
            </a:r>
          </a:p>
          <a:p xmlns:a="http://schemas.openxmlformats.org/drawingml/2006/main">
            <a:r>
              <a:t>          "detail": "우선순위 근거와 현장 확인·정비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"설비 관리 책임",</a:t>
            </a:r>
          </a:p>
          <a:p xmlns:a="http://schemas.openxmlformats.org/drawingml/2006/main">
            <a:r>
              <a:t>          "layer": "권한·정책",</a:t>
            </a:r>
          </a:p>
          <a:p xmlns:a="http://schemas.openxmlformats.org/drawingml/2006/main">
            <a:r>
              <a:t>          "detail": "데이터 지연·상충 신호·정비 완료 이력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"설비·검측 자료 → AI 이상 분석 → 정비 우선순위 → 담당자 조치"</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"설비·이상 이력",</a:t>
            </a:r>
          </a:p>
          <a:p xmlns:a="http://schemas.openxmlformats.org/drawingml/2006/main">
            <a:r>
              <a:t>          "check": "설비 ID 기준 관측·상태·정비 이력 통합"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"설비 ID 기준 관측·상태·정비 이력 통합"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"정비 우선순위",</a:t>
            </a:r>
          </a:p>
          <a:p xmlns:a="http://schemas.openxmlformats.org/drawingml/2006/main">
            <a:r>
              <a:t>          "check": "우선순위 근거와 현장 확인·정비 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"설비 관리 책임",</a:t>
            </a:r>
          </a:p>
          <a:p xmlns:a="http://schemas.openxmlformats.org/drawingml/2006/main">
            <a:r>
              <a:t>          "check": "누락 설비·중요 결함 별도 평가"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"조치·재점검",</a:t>
            </a:r>
          </a:p>
          <a:p xmlns:a="http://schemas.openxmlformats.org/drawingml/2006/main">
            <a:r>
              <a:t>          "check": "우선순위 근거와 현장 확인·정비 결과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"현장 판정과 실제 결함을 다음 분석에 반영",</a:t>
            </a:r>
          </a:p>
          <a:p xmlns:a="http://schemas.openxmlformats.org/drawingml/2006/main">
            <a:r>
              <a:t>          "check": "현장 판정과 실제 결함을 다음 분석에 반영"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"설비 데이터 통합에 기반한 철도 예방정비 / 이상 징후·우선순위·정비 계획",</a:t>
            </a:r>
          </a:p>
          <a:p xmlns:a="http://schemas.openxmlformats.org/drawingml/2006/main">
            <a:r>
              <a:t>        "extension": "TS 점검 계획의 위험 근거·소관·이력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"데이터 지연·상충 신호·정비 완료 이력 누락",</a:t>
            </a:r>
          </a:p>
          <a:p xmlns:a="http://schemas.openxmlformats.org/drawingml/2006/main">
            <a:r>
              <a:t>        "hold": "누락 설비·중요 결함 별도 평가",</a:t>
            </a:r>
          </a:p>
          <a:p xmlns:a="http://schemas.openxmlformats.org/drawingml/2006/main">
            <a:r>
              <a:t>        "recovery": "현장 판정과 실제 결함을 다음 분석에 반영",</a:t>
            </a:r>
          </a:p>
          <a:p xmlns:a="http://schemas.openxmlformats.org/drawingml/2006/main">
            <a:r>
              <a:t>        "evidence": "우선순위 근거와 현장 확인·정비 결과 대사"</a:t>
            </a:r>
          </a:p>
          <a:p xmlns:a="http://schemas.openxmlformats.org/drawingml/2006/main">
            <a:r>
              <a:t>      },</a:t>
            </a:r>
          </a:p>
          <a:p xmlns:a="http://schemas.openxmlformats.org/drawingml/2006/main">
            <a:r>
              <a:t>      "data": {</a:t>
            </a:r>
          </a:p>
          <a:p xmlns:a="http://schemas.openxmlformats.org/drawingml/2006/main">
            <a:r>
              <a:t>        "source": "설비·이상 이력",</a:t>
            </a:r>
          </a:p>
          <a:p xmlns:a="http://schemas.openxmlformats.org/drawingml/2006/main">
            <a:r>
              <a:t>        "prepare": "설비 ID 기준 관측·상태·정비 이력 통합",</a:t>
            </a:r>
          </a:p>
          <a:p xmlns:a="http://schemas.openxmlformats.org/drawingml/2006/main">
            <a:r>
              <a:t>        "output": "설비 관측",</a:t>
            </a:r>
          </a:p>
          <a:p xmlns:a="http://schemas.openxmlformats.org/drawingml/2006/main">
            <a:r>
              <a:t>        "refresh": "현장 판정과 실제 결함을 다음 분석에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"AX18",</a:t>
            </a:r>
          </a:p>
          <a:p xmlns:a="http://schemas.openxmlformats.org/drawingml/2006/main">
            <a:r>
              <a:t>    "success": [</a:t>
            </a:r>
          </a:p>
          <a:p xmlns:a="http://schemas.openxmlformats.org/drawingml/2006/main">
            <a:r>
              <a:t>      "여러 설비 자료의 통합 분석",</a:t>
            </a:r>
          </a:p>
          <a:p xmlns:a="http://schemas.openxmlformats.org/drawingml/2006/main">
            <a:r>
              <a:t>      "정비 우선순위와 현장 조치 연결"</a:t>
            </a:r>
          </a:p>
          <a:p xmlns:a="http://schemas.openxmlformats.org/drawingml/2006/main">
            <a:r>
              <a:t>    ],</a:t>
            </a:r>
          </a:p>
          <a:p xmlns:a="http://schemas.openxmlformats.org/drawingml/2006/main">
            <a:r>
              <a:t>    "risks": [</a:t>
            </a:r>
          </a:p>
          <a:p xmlns:a="http://schemas.openxmlformats.org/drawingml/2006/main">
            <a:r>
              <a:t>      "설비별 데이터 품질 차이",</a:t>
            </a:r>
          </a:p>
          <a:p xmlns:a="http://schemas.openxmlformats.org/drawingml/2006/main">
            <a:r>
              <a:t>      "권고를 정비 완료로 간주하는 위험"</a:t>
            </a:r>
          </a:p>
          <a:p xmlns:a="http://schemas.openxmlformats.org/drawingml/2006/main">
            <a:r>
              <a:t>    ],</a:t>
            </a:r>
          </a:p>
          <a:p xmlns:a="http://schemas.openxmlformats.org/drawingml/2006/main">
            <a:r>
              <a:t>    "architecture": [</a:t>
            </a:r>
          </a:p>
          <a:p xmlns:a="http://schemas.openxmlformats.org/drawingml/2006/main">
            <a:r>
              <a:t>      "설비·검측 수집",</a:t>
            </a:r>
          </a:p>
          <a:p xmlns:a="http://schemas.openxmlformats.org/drawingml/2006/main">
            <a:r>
              <a:t>      "Insight 분석",</a:t>
            </a:r>
          </a:p>
          <a:p xmlns:a="http://schemas.openxmlformats.org/drawingml/2006/main">
            <a:r>
              <a:t>      "설비·이상 이력",</a:t>
            </a:r>
          </a:p>
          <a:p xmlns:a="http://schemas.openxmlformats.org/drawingml/2006/main">
            <a:r>
              <a:t>      "유지관리 담당"</a:t>
            </a:r>
          </a:p>
          <a:p xmlns:a="http://schemas.openxmlformats.org/drawingml/2006/main">
            <a:r>
              <a:t>    ],</a:t>
            </a:r>
          </a:p>
          <a:p xmlns:a="http://schemas.openxmlformats.org/drawingml/2006/main">
            <a:r>
              <a:t>    "transfers": [</a:t>
            </a:r>
          </a:p>
          <a:p xmlns:a="http://schemas.openxmlformats.org/drawingml/2006/main">
            <a:r>
              <a:t>      "설비 관측",</a:t>
            </a:r>
          </a:p>
          <a:p xmlns:a="http://schemas.openxmlformats.org/drawingml/2006/main">
            <a:r>
              <a:t>      "이상 징후",</a:t>
            </a:r>
          </a:p>
          <a:p xmlns:a="http://schemas.openxmlformats.org/drawingml/2006/main">
            <a:r>
              <a:t>      "정비 우선순위",</a:t>
            </a:r>
          </a:p>
          <a:p xmlns:a="http://schemas.openxmlformats.org/drawingml/2006/main">
            <a:r>
              <a:t>      "조치·재점검"</a:t>
            </a:r>
          </a:p>
          <a:p xmlns:a="http://schemas.openxmlformats.org/drawingml/2006/main">
            <a:r>
              <a:t>    ],</a:t>
            </a:r>
          </a:p>
          <a:p xmlns:a="http://schemas.openxmlformats.org/drawingml/2006/main">
            <a:r>
              <a:t>    "control": "누락 설비·중요 결함 별도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Network Rail Insight · 운영기관 / 2023-12-22 https://www.networkrail.co.uk/stories/using-artificial-intelligence-to-create-a-better-railway/</a:t>
            </a:r>
          </a:p>
          <a:p xmlns:a="http://schemas.openxmlformats.org/drawingml/2006/main">
            <a:r>
              <a:t>홈페이지 https://heen1987-ops.github.io/TS-business-Plan-001/index.html?view=casebook&amp;case=AX18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"AX18",</a:t>
            </a:r>
          </a:p>
          <a:p xmlns:a="http://schemas.openxmlformats.org/drawingml/2006/main">
            <a:r>
              <a:t>    "title": "Network Rail Insight",</a:t>
            </a:r>
          </a:p>
          <a:p xmlns:a="http://schemas.openxmlformats.org/drawingml/2006/main">
            <a:r>
              <a:t>    "region": "해외",</a:t>
            </a:r>
          </a:p>
          <a:p xmlns:a="http://schemas.openxmlformats.org/drawingml/2006/main">
            <a:r>
              <a:t>    "country": "영국",</a:t>
            </a:r>
          </a:p>
          <a:p xmlns:a="http://schemas.openxmlformats.org/drawingml/2006/main">
            <a:r>
              <a:t>    "result": "성공",</a:t>
            </a:r>
          </a:p>
          <a:p xmlns:a="http://schemas.openxmlformats.org/drawingml/2006/main">
            <a:r>
              <a:t>    "kind": "철도 예지정비",</a:t>
            </a:r>
          </a:p>
          <a:p xmlns:a="http://schemas.openxmlformats.org/drawingml/2006/main">
            <a:r>
              <a:t>    "period": "2023 운영 소개",</a:t>
            </a:r>
          </a:p>
          <a:p xmlns:a="http://schemas.openxmlformats.org/drawingml/2006/main">
            <a:r>
              <a:t>    "sources": [</a:t>
            </a:r>
          </a:p>
          <a:p xmlns:a="http://schemas.openxmlformats.org/drawingml/2006/main">
            <a:r>
              <a:t>      "S-AX18"</a:t>
            </a:r>
          </a:p>
          <a:p xmlns:a="http://schemas.openxmlformats.org/drawingml/2006/main">
            <a:r>
              <a:t>    ],</a:t>
            </a:r>
          </a:p>
          <a:p xmlns:a="http://schemas.openxmlformats.org/drawingml/2006/main">
            <a:r>
              <a:t>    "keywords": [</a:t>
            </a:r>
          </a:p>
          <a:p xmlns:a="http://schemas.openxmlformats.org/drawingml/2006/main">
            <a:r>
              <a:t>      "철도 예지정비"</a:t>
            </a:r>
          </a:p>
          <a:p xmlns:a="http://schemas.openxmlformats.org/drawingml/2006/main">
            <a:r>
              <a:t>    ],</a:t>
            </a:r>
          </a:p>
          <a:p xmlns:a="http://schemas.openxmlformats.org/drawingml/2006/main">
            <a:r>
              <a:t>    "fact": "설비 데이터와 AI 분석을 결합하여 철도 유지관리의 이상 징후·우선순위 검토 지원",</a:t>
            </a:r>
          </a:p>
          <a:p xmlns:a="http://schemas.openxmlformats.org/drawingml/2006/main">
            <a:r>
              <a:t>    "limit": "철도 운영사 사례 · TS의 검사·감독 책임 범위에 맞춘 현지화 필요",</a:t>
            </a:r>
          </a:p>
          <a:p xmlns:a="http://schemas.openxmlformats.org/drawingml/2006/main">
            <a:r>
              <a:t>    "flow": [</a:t>
            </a:r>
          </a:p>
          <a:p xmlns:a="http://schemas.openxmlformats.org/drawingml/2006/main">
            <a:r>
              <a:t>      "설비·검측 자료",</a:t>
            </a:r>
          </a:p>
          <a:p xmlns:a="http://schemas.openxmlformats.org/drawingml/2006/main">
            <a:r>
              <a:t>      "AI 이상 분석",</a:t>
            </a:r>
          </a:p>
          <a:p xmlns:a="http://schemas.openxmlformats.org/drawingml/2006/main">
            <a:r>
              <a:t>      "정비 우선순위",</a:t>
            </a:r>
          </a:p>
          <a:p xmlns:a="http://schemas.openxmlformats.org/drawingml/2006/main">
            <a:r>
              <a:t>      "담당자 조치"</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"위험 예측과 정비 의사결정의 연결",</a:t>
            </a:r>
          </a:p>
          <a:p xmlns:a="http://schemas.openxmlformats.org/drawingml/2006/main">
            <a:r>
              <a:t>    "local": "TS 점검 계획의 위험 근거·소관·이력 연결",</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"설비별 위험 근거 묶음·담당 배정·기한 관리",</a:t>
            </a:r>
          </a:p>
          <a:p xmlns:a="http://schemas.openxmlformats.org/drawingml/2006/main">
            <a:r>
              <a:t>    "test": "결측·상충 신호·미조치 건 우선순위 검증",</a:t>
            </a:r>
          </a:p>
          <a:p xmlns:a="http://schemas.openxmlformats.org/drawingml/2006/main">
            <a:r>
              <a:t>    "metric": "점검 준비시간 / 미조치 추적률",</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"ST-05"</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"AX18",</a:t>
            </a:r>
          </a:p>
          <a:p xmlns:a="http://schemas.openxmlformats.org/drawingml/2006/main">
            <a:r>
              <a:t>    "canonicalId": "AX18",</a:t>
            </a:r>
          </a:p>
          <a:p xmlns:a="http://schemas.openxmlformats.org/drawingml/2006/main">
            <a:r>
              <a:t>    "purpose": "설비 데이터 통합에 기반한 철도 예방정비",</a:t>
            </a:r>
          </a:p>
          <a:p xmlns:a="http://schemas.openxmlformats.org/drawingml/2006/main">
            <a:r>
              <a:t>    "users": "설비관리자·현장 유지보수 담당",</a:t>
            </a:r>
          </a:p>
          <a:p xmlns:a="http://schemas.openxmlformats.org/drawingml/2006/main">
            <a:r>
              <a:t>    "scope": [</a:t>
            </a:r>
          </a:p>
          <a:p xmlns:a="http://schemas.openxmlformats.org/drawingml/2006/main">
            <a:r>
              <a:t>      "이상 징후",</a:t>
            </a:r>
          </a:p>
          <a:p xmlns:a="http://schemas.openxmlformats.org/drawingml/2006/main">
            <a:r>
              <a:t>      "우선순위",</a:t>
            </a:r>
          </a:p>
          <a:p xmlns:a="http://schemas.openxmlformats.org/drawingml/2006/main">
            <a:r>
              <a:t>      "정비 계획"</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"설비·검측 수집",</a:t>
            </a:r>
          </a:p>
          <a:p xmlns:a="http://schemas.openxmlformats.org/drawingml/2006/main">
            <a:r>
              <a:t>        "detail": "설비·위치·고장 맥락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"이상 징후 / 우선순위 / 정비 계획",</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"Insight 분석",</a:t>
            </a:r>
          </a:p>
          <a:p xmlns:a="http://schemas.openxmlformats.org/drawingml/2006/main">
            <a:r>
              <a:t>        "detail": "서로 다른 관측자료의 이상 신호 결합",</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"유지관리 담당",</a:t>
            </a:r>
          </a:p>
          <a:p xmlns:a="http://schemas.openxmlformats.org/drawingml/2006/main">
            <a:r>
              <a:t>        "detail": "위험 후보를 현장 점검·정비계획으로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"설비·이상 이력",</a:t>
            </a:r>
          </a:p>
          <a:p xmlns:a="http://schemas.openxmlformats.org/drawingml/2006/main">
            <a:r>
              <a:t>        "detail": "설비 ID 기준 관측·상태·정비 이력 통합",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"현장 판정과 실제 결함을 다음 분석에 반영",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"설비·검측 자료",</a:t>
            </a:r>
          </a:p>
          <a:p xmlns:a="http://schemas.openxmlformats.org/drawingml/2006/main">
            <a:r>
              <a:t>        "input": "설비·위치·고장 맥락 지정",</a:t>
            </a:r>
          </a:p>
          <a:p xmlns:a="http://schemas.openxmlformats.org/drawingml/2006/main">
            <a:r>
              <a:t>        "process": "설비 ID 기준 관측·상태·정비 이력 통합",</a:t>
            </a:r>
          </a:p>
          <a:p xmlns:a="http://schemas.openxmlformats.org/drawingml/2006/main">
            <a:r>
              <a:t>        "output": "설비 관측"</a:t>
            </a:r>
          </a:p>
          <a:p xmlns:a="http://schemas.openxmlformats.org/drawingml/2006/main">
            <a:r>
              <a:t>      },</a:t>
            </a:r>
          </a:p>
          <a:p xmlns:a="http://schemas.openxmlformats.org/drawingml/2006/main">
            <a:r>
              <a:t>      {</a:t>
            </a:r>
          </a:p>
          <a:p xmlns:a="http://schemas.openxmlformats.org/drawingml/2006/main">
            <a:r>
              <a:t>        "title": "AI 이상 분석",</a:t>
            </a:r>
          </a:p>
          <a:p xmlns:a="http://schemas.openxmlformats.org/drawingml/2006/main">
            <a:r>
              <a:t>        "input": "설비 관측",</a:t>
            </a:r>
          </a:p>
          <a:p xmlns:a="http://schemas.openxmlformats.org/drawingml/2006/main">
            <a:r>
              <a:t>        "process": "서로 다른 관측자료의 이상 신호 결합",</a:t>
            </a:r>
          </a:p>
          <a:p xmlns:a="http://schemas.openxmlformats.org/drawingml/2006/main">
            <a:r>
              <a:t>        "output": "이상 징후"</a:t>
            </a:r>
          </a:p>
          <a:p xmlns:a="http://schemas.openxmlformats.org/drawingml/2006/main">
            <a:r>
              <a:t>      },</a:t>
            </a:r>
          </a:p>
          <a:p xmlns:a="http://schemas.openxmlformats.org/drawingml/2006/main">
            <a:r>
              <a:t>      {</a:t>
            </a:r>
          </a:p>
          <a:p xmlns:a="http://schemas.openxmlformats.org/drawingml/2006/main">
            <a:r>
              <a:t>        "title": "정비 우선순위",</a:t>
            </a:r>
          </a:p>
          <a:p xmlns:a="http://schemas.openxmlformats.org/drawingml/2006/main">
            <a:r>
              <a:t>        "input": "이상 징후",</a:t>
            </a:r>
          </a:p>
          <a:p xmlns:a="http://schemas.openxmlformats.org/drawingml/2006/main">
            <a:r>
              <a:t>        "process": "누락 설비·중요 결함 별도 평가",</a:t>
            </a:r>
          </a:p>
          <a:p xmlns:a="http://schemas.openxmlformats.org/drawingml/2006/main">
            <a:r>
              <a:t>        "output": "정비 우선순위"</a:t>
            </a:r>
          </a:p>
          <a:p xmlns:a="http://schemas.openxmlformats.org/drawingml/2006/main">
            <a:r>
              <a:t>      },</a:t>
            </a:r>
          </a:p>
          <a:p xmlns:a="http://schemas.openxmlformats.org/drawingml/2006/main">
            <a:r>
              <a:t>      {</a:t>
            </a:r>
          </a:p>
          <a:p xmlns:a="http://schemas.openxmlformats.org/drawingml/2006/main">
            <a:r>
              <a:t>        "title": "담당자 조치",</a:t>
            </a:r>
          </a:p>
          <a:p xmlns:a="http://schemas.openxmlformats.org/drawingml/2006/main">
            <a:r>
              <a:t>        "input": "정비 우선순위",</a:t>
            </a:r>
          </a:p>
          <a:p xmlns:a="http://schemas.openxmlformats.org/drawingml/2006/main">
            <a:r>
              <a:t>        "process": "위험 후보를 현장 점검·정비계획으로 연결",</a:t>
            </a:r>
          </a:p>
          <a:p xmlns:a="http://schemas.openxmlformats.org/drawingml/2006/main">
            <a:r>
              <a:t>        "output": "조치·재점검"</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"설비의 여러 관측 신호로 정비 우선순위를 검토",</a:t>
            </a:r>
          </a:p>
          <a:p xmlns:a="http://schemas.openxmlformats.org/drawingml/2006/main">
            <a:r>
              <a:t>      "exception": "데이터 지연·상충 신호·정비 완료 이력 누락",</a:t>
            </a:r>
          </a:p>
          <a:p xmlns:a="http://schemas.openxmlformats.org/drawingml/2006/main">
            <a:r>
              <a:t>      "evidence": "우선순위 근거와 현장 확인·정비 결과 대사",</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"설비관리자·현장 유지보수 담당",</a:t>
            </a:r>
          </a:p>
          <a:p xmlns:a="http://schemas.openxmlformats.org/drawingml/2006/main">
            <a:r>
              <a:t>          "processing": "설비·위치·고장 맥락 지정",</a:t>
            </a:r>
          </a:p>
          <a:p xmlns:a="http://schemas.openxmlformats.org/drawingml/2006/main">
            <a:r>
              <a:t>          "output": "설비 관측"</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"설비·이상 이력",</a:t>
            </a:r>
          </a:p>
          <a:p xmlns:a="http://schemas.openxmlformats.org/drawingml/2006/main">
            <a:r>
              <a:t>          "processing": "설비 ID 기준 관측·상태·정비 이력 통합",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"설비 관측",</a:t>
            </a:r>
          </a:p>
          <a:p xmlns:a="http://schemas.openxmlformats.org/drawingml/2006/main">
            <a:r>
              <a:t>          "processing": "서로 다른 관측자료의 이상 신호 결합",</a:t>
            </a:r>
          </a:p>
          <a:p xmlns:a="http://schemas.openxmlformats.org/drawingml/2006/main">
            <a:r>
              <a:t>          "output": "정비 우선순위"</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"정비 우선순위",</a:t>
            </a:r>
          </a:p>
          <a:p xmlns:a="http://schemas.openxmlformats.org/drawingml/2006/main">
            <a:r>
              <a:t>          "processing": "위험 후보를 현장 점검·정비계획으로 연결",</a:t>
            </a:r>
          </a:p>
          <a:p xmlns:a="http://schemas.openxmlformats.org/drawingml/2006/main">
            <a:r>
              <a:t>          "output": "조치·재점검"</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"현장 판정과 실제 결함을 다음 분석에 반영",</a:t>
            </a:r>
          </a:p>
          <a:p xmlns:a="http://schemas.openxmlformats.org/drawingml/2006/main">
            <a:r>
              <a:t>          "output": "우선순위 근거와 현장 확인·정비 결과 대사"</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"현장 판정과 실제 결함을 다음 분석에 반영",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"S-AX18",</a:t>
            </a:r>
          </a:p>
          <a:p xmlns:a="http://schemas.openxmlformats.org/drawingml/2006/main">
            <a:r>
              <a:t>        "title": "Network Rail Insight · 운영기관 / 2023-12-22",</a:t>
            </a:r>
          </a:p>
          <a:p xmlns:a="http://schemas.openxmlformats.org/drawingml/2006/main">
            <a:r>
              <a:t>        "url": "https://www.networkrail.co.uk/stories/using-artificial-intelligence-to-create-a-better-railway/",</a:t>
            </a:r>
          </a:p>
          <a:p xmlns:a="http://schemas.openxmlformats.org/drawingml/2006/main">
            <a:r>
              <a:t>        "published": "2023 운영 소개",</a:t>
            </a:r>
          </a:p>
          <a:p xmlns:a="http://schemas.openxmlformats.org/drawingml/2006/main">
            <a:r>
              <a:t>        "level": "공식·1차 출처",</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"위험 예측과 정비 의사결정의 연결",</a:t>
            </a:r>
          </a:p>
          <a:p xmlns:a="http://schemas.openxmlformats.org/drawingml/2006/main">
            <a:r>
              <a:t>    "local": "TS 점검 계획의 위험 근거·소관·이력 연결",</a:t>
            </a:r>
          </a:p>
          <a:p xmlns:a="http://schemas.openxmlformats.org/drawingml/2006/main">
            <a:r>
              <a:t>    "sourceDetail": null,</a:t>
            </a:r>
          </a:p>
          <a:p xmlns:a="http://schemas.openxmlformats.org/drawingml/2006/main">
            <a:r>
              <a:t>    "narrative": [</a:t>
            </a:r>
          </a:p>
          <a:p xmlns:a="http://schemas.openxmlformats.org/drawingml/2006/main">
            <a:r>
              <a:t>      "여러 철도 설비의 관측 자료를 통합해 예방정비 우선순위를 지원하는 사례. 서로 다른 설비 데이터의 품질과 식별자를 맞추는 기반 작업이 주요 전제.",</a:t>
            </a:r>
          </a:p>
          <a:p xmlns:a="http://schemas.openxmlformats.org/drawingml/2006/main">
            <a:r>
              <a:t>      "설비 ID에 관측·위치·고장·정비 이력을 연결하고 이상 신호를 합쳐 점검 후보를 만드는 구조. 위험 순위는 현장 담당자의 확인 후 정비계획으로 전환하고 실제 결함 여부를 환류.",</a:t>
            </a:r>
          </a:p>
          <a:p xmlns:a="http://schemas.openxmlformats.org/drawingml/2006/main">
            <a:r>
              <a:t>      "CCK에서는 이상 경보를 정비 완료로 처리하지 않는 상태 모델을 적용. 누락 설비, 관측 결측, 실제 결함과 오경보, 점검 후 조치 완료를 함께 추적하는 TS 후속 업무 설계."</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"설비 상태 접점",</a:t>
            </a:r>
          </a:p>
          <a:p xmlns:a="http://schemas.openxmlformats.org/drawingml/2006/main">
            <a:r>
              <a:t>          "layer": "이용 접점",</a:t>
            </a:r>
          </a:p>
          <a:p xmlns:a="http://schemas.openxmlformats.org/drawingml/2006/main">
            <a:r>
              <a:t>          "detail": "설비관리자·현장 유지보수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"위치·고장 맥락",</a:t>
            </a:r>
          </a:p>
          <a:p xmlns:a="http://schemas.openxmlformats.org/drawingml/2006/main">
            <a:r>
              <a:t>          "layer": "업무 문맥",</a:t>
            </a:r>
          </a:p>
          <a:p xmlns:a="http://schemas.openxmlformats.org/drawingml/2006/main">
            <a:r>
              <a:t>          "detail": "설비·위치·고장 맥락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"다종 관측 조회",</a:t>
            </a:r>
          </a:p>
          <a:p xmlns:a="http://schemas.openxmlformats.org/drawingml/2006/main">
            <a:r>
              <a:t>          "layer": "자료 조회",</a:t>
            </a:r>
          </a:p>
          <a:p xmlns:a="http://schemas.openxmlformats.org/drawingml/2006/main">
            <a:r>
              <a:t>          "detail": "설비 관측",</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"이상 신호 결합",</a:t>
            </a:r>
          </a:p>
          <a:p xmlns:a="http://schemas.openxmlformats.org/drawingml/2006/main">
            <a:r>
              <a:t>          "layer": "핵심 처리",</a:t>
            </a:r>
          </a:p>
          <a:p xmlns:a="http://schemas.openxmlformats.org/drawingml/2006/main">
            <a:r>
              <a:t>          "detail": "서로 다른 관측자료의 이상 신호 결합",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"누락 설비 검사",</a:t>
            </a:r>
          </a:p>
          <a:p xmlns:a="http://schemas.openxmlformats.org/drawingml/2006/main">
            <a:r>
              <a:t>          "layer": "결과 검증",</a:t>
            </a:r>
          </a:p>
          <a:p xmlns:a="http://schemas.openxmlformats.org/drawingml/2006/main">
            <a:r>
              <a:t>          "detail": "누락 설비·중요 결함 별도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점검 확인",</a:t>
            </a:r>
          </a:p>
          <a:p xmlns:a="http://schemas.openxmlformats.org/drawingml/2006/main">
            <a:r>
              <a:t>          "layer": "사람 확인",</a:t>
            </a:r>
          </a:p>
          <a:p xmlns:a="http://schemas.openxmlformats.org/drawingml/2006/main">
            <a:r>
              <a:t>          "detail": "설비의 여러 관측 신호로 정비 우선순위를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"정비 우선순위",</a:t>
            </a:r>
          </a:p>
          <a:p xmlns:a="http://schemas.openxmlformats.org/drawingml/2006/main">
            <a:r>
              <a:t>          "layer": "업무 연결",</a:t>
            </a:r>
          </a:p>
          <a:p xmlns:a="http://schemas.openxmlformats.org/drawingml/2006/main">
            <a:r>
              <a:t>          "detail": "위험 후보를 현장 점검·정비계획으로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"결함 결과 환류",</a:t>
            </a:r>
          </a:p>
          <a:p xmlns:a="http://schemas.openxmlformats.org/drawingml/2006/main">
            <a:r>
              <a:t>          "layer": "운영 관측",</a:t>
            </a:r>
          </a:p>
          <a:p xmlns:a="http://schemas.openxmlformats.org/drawingml/2006/main">
            <a:r>
              <a:t>          "detail": "현장 판정과 실제 결함을 다음 분석에 반영",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"관측·설비대장",</a:t>
            </a:r>
          </a:p>
          <a:p xmlns:a="http://schemas.openxmlformats.org/drawingml/2006/main">
            <a:r>
              <a:t>          "layer": "데이터 원천",</a:t>
            </a:r>
          </a:p>
          <a:p xmlns:a="http://schemas.openxmlformats.org/drawingml/2006/main">
            <a:r>
              <a:t>          "detail": "설비·이상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"설비 식별자 통합",</a:t>
            </a:r>
          </a:p>
          <a:p xmlns:a="http://schemas.openxmlformats.org/drawingml/2006/main">
            <a:r>
              <a:t>          "layer": "준비·갱신",</a:t>
            </a:r>
          </a:p>
          <a:p xmlns:a="http://schemas.openxmlformats.org/drawingml/2006/main">
            <a:r>
              <a:t>          "detail": "설비 ID 기준 관측·상태·정비 이력 통합",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"상태·정비 이력",</a:t>
            </a:r>
          </a:p>
          <a:p xmlns:a="http://schemas.openxmlformats.org/drawingml/2006/main">
            <a:r>
              <a:t>          "layer": "상태·지식 저장",</a:t>
            </a:r>
          </a:p>
          <a:p xmlns:a="http://schemas.openxmlformats.org/drawingml/2006/main">
            <a:r>
              <a:t>          "detail": "우선순위 근거와 현장 확인·정비 결과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"설비 관리 책임",</a:t>
            </a:r>
          </a:p>
          <a:p xmlns:a="http://schemas.openxmlformats.org/drawingml/2006/main">
            <a:r>
              <a:t>          "layer": "권한·정책",</a:t>
            </a:r>
          </a:p>
          <a:p xmlns:a="http://schemas.openxmlformats.org/drawingml/2006/main">
            <a:r>
              <a:t>          "detail": "데이터 지연·상충 신호·정비 완료 이력 누락",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"설비·검측 자료 → AI 이상 분석 → 정비 우선순위 → 담당자 조치"</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"설비·이상 이력",</a:t>
            </a:r>
          </a:p>
          <a:p xmlns:a="http://schemas.openxmlformats.org/drawingml/2006/main">
            <a:r>
              <a:t>          "check": "설비 ID 기준 관측·상태·정비 이력 통합"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"설비 ID 기준 관측·상태·정비 이력 통합"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"정비 우선순위",</a:t>
            </a:r>
          </a:p>
          <a:p xmlns:a="http://schemas.openxmlformats.org/drawingml/2006/main">
            <a:r>
              <a:t>          "check": "우선순위 근거와 현장 확인·정비 결과 대사"</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"설비 관리 책임",</a:t>
            </a:r>
          </a:p>
          <a:p xmlns:a="http://schemas.openxmlformats.org/drawingml/2006/main">
            <a:r>
              <a:t>          "check": "누락 설비·중요 결함 별도 평가"</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"조치·재점검",</a:t>
            </a:r>
          </a:p>
          <a:p xmlns:a="http://schemas.openxmlformats.org/drawingml/2006/main">
            <a:r>
              <a:t>          "check": "우선순위 근거와 현장 확인·정비 결과 대사"</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"현장 판정과 실제 결함을 다음 분석에 반영",</a:t>
            </a:r>
          </a:p>
          <a:p xmlns:a="http://schemas.openxmlformats.org/drawingml/2006/main">
            <a:r>
              <a:t>          "check": "현장 판정과 실제 결함을 다음 분석에 반영"</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"설비 데이터 통합에 기반한 철도 예방정비 / 이상 징후·우선순위·정비 계획",</a:t>
            </a:r>
          </a:p>
          <a:p xmlns:a="http://schemas.openxmlformats.org/drawingml/2006/main">
            <a:r>
              <a:t>        "extension": "TS 점검 계획의 위험 근거·소관·이력 연결"</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"데이터 지연·상충 신호·정비 완료 이력 누락",</a:t>
            </a:r>
          </a:p>
          <a:p xmlns:a="http://schemas.openxmlformats.org/drawingml/2006/main">
            <a:r>
              <a:t>        "hold": "누락 설비·중요 결함 별도 평가",</a:t>
            </a:r>
          </a:p>
          <a:p xmlns:a="http://schemas.openxmlformats.org/drawingml/2006/main">
            <a:r>
              <a:t>        "recovery": "현장 판정과 실제 결함을 다음 분석에 반영",</a:t>
            </a:r>
          </a:p>
          <a:p xmlns:a="http://schemas.openxmlformats.org/drawingml/2006/main">
            <a:r>
              <a:t>        "evidence": "우선순위 근거와 현장 확인·정비 결과 대사"</a:t>
            </a:r>
          </a:p>
          <a:p xmlns:a="http://schemas.openxmlformats.org/drawingml/2006/main">
            <a:r>
              <a:t>      },</a:t>
            </a:r>
          </a:p>
          <a:p xmlns:a="http://schemas.openxmlformats.org/drawingml/2006/main">
            <a:r>
              <a:t>      "data": {</a:t>
            </a:r>
          </a:p>
          <a:p xmlns:a="http://schemas.openxmlformats.org/drawingml/2006/main">
            <a:r>
              <a:t>        "source": "설비·이상 이력",</a:t>
            </a:r>
          </a:p>
          <a:p xmlns:a="http://schemas.openxmlformats.org/drawingml/2006/main">
            <a:r>
              <a:t>        "prepare": "설비 ID 기준 관측·상태·정비 이력 통합",</a:t>
            </a:r>
          </a:p>
          <a:p xmlns:a="http://schemas.openxmlformats.org/drawingml/2006/main">
            <a:r>
              <a:t>        "output": "설비 관측",</a:t>
            </a:r>
          </a:p>
          <a:p xmlns:a="http://schemas.openxmlformats.org/drawingml/2006/main">
            <a:r>
              <a:t>        "refresh": "현장 판정과 실제 결함을 다음 분석에 반영"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"AX18",</a:t>
            </a:r>
          </a:p>
          <a:p xmlns:a="http://schemas.openxmlformats.org/drawingml/2006/main">
            <a:r>
              <a:t>    "success": [</a:t>
            </a:r>
          </a:p>
          <a:p xmlns:a="http://schemas.openxmlformats.org/drawingml/2006/main">
            <a:r>
              <a:t>      "여러 설비 자료의 통합 분석",</a:t>
            </a:r>
          </a:p>
          <a:p xmlns:a="http://schemas.openxmlformats.org/drawingml/2006/main">
            <a:r>
              <a:t>      "정비 우선순위와 현장 조치 연결"</a:t>
            </a:r>
          </a:p>
          <a:p xmlns:a="http://schemas.openxmlformats.org/drawingml/2006/main">
            <a:r>
              <a:t>    ],</a:t>
            </a:r>
          </a:p>
          <a:p xmlns:a="http://schemas.openxmlformats.org/drawingml/2006/main">
            <a:r>
              <a:t>    "risks": [</a:t>
            </a:r>
          </a:p>
          <a:p xmlns:a="http://schemas.openxmlformats.org/drawingml/2006/main">
            <a:r>
              <a:t>      "설비별 데이터 품질 차이",</a:t>
            </a:r>
          </a:p>
          <a:p xmlns:a="http://schemas.openxmlformats.org/drawingml/2006/main">
            <a:r>
              <a:t>      "권고를 정비 완료로 간주하는 위험"</a:t>
            </a:r>
          </a:p>
          <a:p xmlns:a="http://schemas.openxmlformats.org/drawingml/2006/main">
            <a:r>
              <a:t>    ],</a:t>
            </a:r>
          </a:p>
          <a:p xmlns:a="http://schemas.openxmlformats.org/drawingml/2006/main">
            <a:r>
              <a:t>    "architecture": [</a:t>
            </a:r>
          </a:p>
          <a:p xmlns:a="http://schemas.openxmlformats.org/drawingml/2006/main">
            <a:r>
              <a:t>      "설비·검측 수집",</a:t>
            </a:r>
          </a:p>
          <a:p xmlns:a="http://schemas.openxmlformats.org/drawingml/2006/main">
            <a:r>
              <a:t>      "Insight 분석",</a:t>
            </a:r>
          </a:p>
          <a:p xmlns:a="http://schemas.openxmlformats.org/drawingml/2006/main">
            <a:r>
              <a:t>      "설비·이상 이력",</a:t>
            </a:r>
          </a:p>
          <a:p xmlns:a="http://schemas.openxmlformats.org/drawingml/2006/main">
            <a:r>
              <a:t>      "유지관리 담당"</a:t>
            </a:r>
          </a:p>
          <a:p xmlns:a="http://schemas.openxmlformats.org/drawingml/2006/main">
            <a:r>
              <a:t>    ],</a:t>
            </a:r>
          </a:p>
          <a:p xmlns:a="http://schemas.openxmlformats.org/drawingml/2006/main">
            <a:r>
              <a:t>    "transfers": [</a:t>
            </a:r>
          </a:p>
          <a:p xmlns:a="http://schemas.openxmlformats.org/drawingml/2006/main">
            <a:r>
              <a:t>      "설비 관측",</a:t>
            </a:r>
          </a:p>
          <a:p xmlns:a="http://schemas.openxmlformats.org/drawingml/2006/main">
            <a:r>
              <a:t>      "이상 징후",</a:t>
            </a:r>
          </a:p>
          <a:p xmlns:a="http://schemas.openxmlformats.org/drawingml/2006/main">
            <a:r>
              <a:t>      "정비 우선순위",</a:t>
            </a:r>
          </a:p>
          <a:p xmlns:a="http://schemas.openxmlformats.org/drawingml/2006/main">
            <a:r>
              <a:t>      "조치·재점검"</a:t>
            </a:r>
          </a:p>
          <a:p xmlns:a="http://schemas.openxmlformats.org/drawingml/2006/main">
            <a:r>
              <a:t>    ],</a:t>
            </a:r>
          </a:p>
          <a:p xmlns:a="http://schemas.openxmlformats.org/drawingml/2006/main">
            <a:r>
              <a:t>    "control": "누락 설비·중요 결함 별도 평가",</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Network Rail Insight · 운영기관 / 2023-12-22 https://www.networkrail.co.uk/stories/using-artificial-intelligence-to-create-a-better-railway/</a:t>
            </a:r>
          </a:p>
          <a:p xmlns:a="http://schemas.openxmlformats.org/drawingml/2006/main">
            <a:r>
              <a:t>홈페이지 https://heen1987-ops.github.io/TS-business-Plan-001/index.html?view=casebook&amp;case=AX18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"AX19",</a:t>
            </a:r>
          </a:p>
          <a:p xmlns:a="http://schemas.openxmlformats.org/drawingml/2006/main">
            <a:r>
              <a:t>    "title": "청년농업인 특화 AI 상담",</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"지역·산업 특화 지식 서비스",</a:t>
            </a:r>
          </a:p>
          <a:p xmlns:a="http://schemas.openxmlformats.org/drawingml/2006/main">
            <a:r>
              <a:t>    "period": "2024 구축 / 2025.02 개시",</a:t>
            </a:r>
          </a:p>
          <a:p xmlns:a="http://schemas.openxmlformats.org/drawingml/2006/main">
            <a:r>
              <a:t>    "sources": [</a:t>
            </a:r>
          </a:p>
          <a:p xmlns:a="http://schemas.openxmlformats.org/drawingml/2006/main">
            <a:r>
              <a:t>      "S-AX19"</a:t>
            </a:r>
          </a:p>
          <a:p xmlns:a="http://schemas.openxmlformats.org/drawingml/2006/main">
            <a:r>
              <a:t>    ],</a:t>
            </a:r>
          </a:p>
          <a:p xmlns:a="http://schemas.openxmlformats.org/drawingml/2006/main">
            <a:r>
              <a:t>    "keywords": [</a:t>
            </a:r>
          </a:p>
          <a:p xmlns:a="http://schemas.openxmlformats.org/drawingml/2006/main">
            <a:r>
              <a:t>      "지역",</a:t>
            </a:r>
          </a:p>
          <a:p xmlns:a="http://schemas.openxmlformats.org/drawingml/2006/main">
            <a:r>
              <a:t>      "산업 특화 지식 서비스"</a:t>
            </a:r>
          </a:p>
          <a:p xmlns:a="http://schemas.openxmlformats.org/drawingml/2006/main">
            <a:r>
              <a:t>    ],</a:t>
            </a:r>
          </a:p>
          <a:p xmlns:a="http://schemas.openxmlformats.org/drawingml/2006/main">
            <a:r>
              <a:t>    "fact": "농업기술 앱에 초거대 AI 상담을 결합하고 전문가·청년농업인 사전 평가 후 서비스 개시",</a:t>
            </a:r>
          </a:p>
          <a:p xmlns:a="http://schemas.openxmlformats.org/drawingml/2006/main">
            <a:r>
              <a:t>    "limit": "기관 실증 사례 수록 · 정착·소득 개선 인과효과 실측과 구분",</a:t>
            </a:r>
          </a:p>
          <a:p xmlns:a="http://schemas.openxmlformats.org/drawingml/2006/main">
            <a:r>
              <a:t>    "flow": [</a:t>
            </a:r>
          </a:p>
          <a:p xmlns:a="http://schemas.openxmlformats.org/drawingml/2006/main">
            <a:r>
              <a:t>      "영농 지식",</a:t>
            </a:r>
          </a:p>
          <a:p xmlns:a="http://schemas.openxmlformats.org/drawingml/2006/main">
            <a:r>
              <a:t>      "위치·작물 맥락",</a:t>
            </a:r>
          </a:p>
          <a:p xmlns:a="http://schemas.openxmlformats.org/drawingml/2006/main">
            <a:r>
              <a:t>      "전문 상담",</a:t>
            </a:r>
          </a:p>
          <a:p xmlns:a="http://schemas.openxmlformats.org/drawingml/2006/main">
            <a:r>
              <a:t>      "현업·이용자 평가"</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"지역·산업 맥락과 전문가 사전 평가",</a:t>
            </a:r>
          </a:p>
          <a:p xmlns:a="http://schemas.openxmlformats.org/drawingml/2006/main">
            <a:r>
              <a:t>    "local": "운수사업자·지역별 안전·지원 업무 지식 구분",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"업종·지역·자격 조건·지원 절차 사전",</a:t>
            </a:r>
          </a:p>
          <a:p xmlns:a="http://schemas.openxmlformats.org/drawingml/2006/main">
            <a:r>
              <a:t>    "test": "업종·지역별 답변 근거와 신청 조건 대조",</a:t>
            </a:r>
          </a:p>
          <a:p xmlns:a="http://schemas.openxmlformats.org/drawingml/2006/main">
            <a:r>
              <a:t>    "metric": "정보 탐색시간 / 조건 오안내율",</a:t>
            </a:r>
          </a:p>
          <a:p xmlns:a="http://schemas.openxmlformats.org/drawingml/2006/main">
            <a:r>
              <a:t>    "strategies": [</a:t>
            </a:r>
          </a:p>
          <a:p xmlns:a="http://schemas.openxmlformats.org/drawingml/2006/main">
            <a:r>
              <a:t>      "ST-09",</a:t>
            </a:r>
          </a:p>
          <a:p xmlns:a="http://schemas.openxmlformats.org/drawingml/2006/main">
            <a:r>
              <a:t>      "ST-08"</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"AX19",</a:t>
            </a:r>
          </a:p>
          <a:p xmlns:a="http://schemas.openxmlformats.org/drawingml/2006/main">
            <a:r>
              <a:t>    "canonicalId": "AX19",</a:t>
            </a:r>
          </a:p>
          <a:p xmlns:a="http://schemas.openxmlformats.org/drawingml/2006/main">
            <a:r>
              <a:t>    "purpose": "농업 전문지식의 현장 상담 연결",</a:t>
            </a:r>
          </a:p>
          <a:p xmlns:a="http://schemas.openxmlformats.org/drawingml/2006/main">
            <a:r>
              <a:t>    "users": "청년농업인·농업 전문가",</a:t>
            </a:r>
          </a:p>
          <a:p xmlns:a="http://schemas.openxmlformats.org/drawingml/2006/main">
            <a:r>
              <a:t>    "scope": [</a:t>
            </a:r>
          </a:p>
          <a:p xmlns:a="http://schemas.openxmlformats.org/drawingml/2006/main">
            <a:r>
              <a:t>      "재배 질의",</a:t>
            </a:r>
          </a:p>
          <a:p xmlns:a="http://schemas.openxmlformats.org/drawingml/2006/main">
            <a:r>
              <a:t>      "전문지식",</a:t>
            </a:r>
          </a:p>
          <a:p xmlns:a="http://schemas.openxmlformats.org/drawingml/2006/main">
            <a:r>
              <a:t>      "사전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"농업기술 앱",</a:t>
            </a:r>
          </a:p>
          <a:p xmlns:a="http://schemas.openxmlformats.org/drawingml/2006/main">
            <a:r>
              <a:t>        "detail": "작물·지역·생육단계·문제 상황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"재배 질의 / 전문지식 / 사전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"맥락 기반 상담",</a:t>
            </a:r>
          </a:p>
          <a:p xmlns:a="http://schemas.openxmlformats.org/drawingml/2006/main">
            <a:r>
              <a:t>        "detail": "질의 관련 농업 지식의 검색·설명",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"농업인·전문가",</a:t>
            </a:r>
          </a:p>
          <a:p xmlns:a="http://schemas.openxmlformats.org/drawingml/2006/main">
            <a:r>
              <a:t>        "detail": "원문 근거 안내와 전문가 확인 경로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"영농 지식",</a:t>
            </a:r>
          </a:p>
          <a:p xmlns:a="http://schemas.openxmlformats.org/drawingml/2006/main">
            <a:r>
              <a:t>        "detail": "기술 문서·상담자료·전문가 평가셋 정비",</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"작물·상황별 오답과 현장 적용성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"영농 지식",</a:t>
            </a:r>
          </a:p>
          <a:p xmlns:a="http://schemas.openxmlformats.org/drawingml/2006/main">
            <a:r>
              <a:t>        "input": "작물·지역·생육단계·문제 상황 확인",</a:t>
            </a:r>
          </a:p>
          <a:p xmlns:a="http://schemas.openxmlformats.org/drawingml/2006/main">
            <a:r>
              <a:t>        "process": "기술 문서·상담자료·전문가 평가셋 정비",</a:t>
            </a:r>
          </a:p>
          <a:p xmlns:a="http://schemas.openxmlformats.org/drawingml/2006/main">
            <a:r>
              <a:t>        "output": "질문·작물·위치"</a:t>
            </a:r>
          </a:p>
          <a:p xmlns:a="http://schemas.openxmlformats.org/drawingml/2006/main">
            <a:r>
              <a:t>      },</a:t>
            </a:r>
          </a:p>
          <a:p xmlns:a="http://schemas.openxmlformats.org/drawingml/2006/main">
            <a:r>
              <a:t>      {</a:t>
            </a:r>
          </a:p>
          <a:p xmlns:a="http://schemas.openxmlformats.org/drawingml/2006/main">
            <a:r>
              <a:t>        "title": "위치·작물 맥락",</a:t>
            </a:r>
          </a:p>
          <a:p xmlns:a="http://schemas.openxmlformats.org/drawingml/2006/main">
            <a:r>
              <a:t>        "input": "질문·작물·위치",</a:t>
            </a:r>
          </a:p>
          <a:p xmlns:a="http://schemas.openxmlformats.org/drawingml/2006/main">
            <a:r>
              <a:t>        "process": "질의 관련 농업 지식의 검색·설명",</a:t>
            </a:r>
          </a:p>
          <a:p xmlns:a="http://schemas.openxmlformats.org/drawingml/2006/main">
            <a:r>
              <a:t>        "output": "관련 영농 근거"</a:t>
            </a:r>
          </a:p>
          <a:p xmlns:a="http://schemas.openxmlformats.org/drawingml/2006/main">
            <a:r>
              <a:t>      },</a:t>
            </a:r>
          </a:p>
          <a:p xmlns:a="http://schemas.openxmlformats.org/drawingml/2006/main">
            <a:r>
              <a:t>      {</a:t>
            </a:r>
          </a:p>
          <a:p xmlns:a="http://schemas.openxmlformats.org/drawingml/2006/main">
            <a:r>
              <a:t>        "title": "전문 상담",</a:t>
            </a:r>
          </a:p>
          <a:p xmlns:a="http://schemas.openxmlformats.org/drawingml/2006/main">
            <a:r>
              <a:t>        "input": "관련 영농 근거",</a:t>
            </a:r>
          </a:p>
          <a:p xmlns:a="http://schemas.openxmlformats.org/drawingml/2006/main">
            <a:r>
              <a:t>        "process": "지역·작물별 정답 및 전문가 전환",</a:t>
            </a:r>
          </a:p>
          <a:p xmlns:a="http://schemas.openxmlformats.org/drawingml/2006/main">
            <a:r>
              <a:t>        "output": "상담 답변"</a:t>
            </a:r>
          </a:p>
          <a:p xmlns:a="http://schemas.openxmlformats.org/drawingml/2006/main">
            <a:r>
              <a:t>      },</a:t>
            </a:r>
          </a:p>
          <a:p xmlns:a="http://schemas.openxmlformats.org/drawingml/2006/main">
            <a:r>
              <a:t>      {</a:t>
            </a:r>
          </a:p>
          <a:p xmlns:a="http://schemas.openxmlformats.org/drawingml/2006/main">
            <a:r>
              <a:t>        "title": "현업·이용자 평가",</a:t>
            </a:r>
          </a:p>
          <a:p xmlns:a="http://schemas.openxmlformats.org/drawingml/2006/main">
            <a:r>
              <a:t>        "input": "상담 답변",</a:t>
            </a:r>
          </a:p>
          <a:p xmlns:a="http://schemas.openxmlformats.org/drawingml/2006/main">
            <a:r>
              <a:t>        "process": "원문 근거 안내와 전문가 확인 경로 제공",</a:t>
            </a:r>
          </a:p>
          <a:p xmlns:a="http://schemas.openxmlformats.org/drawingml/2006/main">
            <a:r>
              <a:t>        "output": "이용자 검증"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"작물·지역·생육단계에 맞는 기술 지식 안내",</a:t>
            </a:r>
          </a:p>
          <a:p xmlns:a="http://schemas.openxmlformats.org/drawingml/2006/main">
            <a:r>
              <a:t>      "exception": "다른 작물 지침·증상 누락·전문가 판단이 필요한 요청",</a:t>
            </a:r>
          </a:p>
          <a:p xmlns:a="http://schemas.openxmlformats.org/drawingml/2006/main">
            <a:r>
              <a:t>      "evidence": "조건별 근거 일치와 전문가 전환 판정표",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"청년농업인·농업 전문가",</a:t>
            </a:r>
          </a:p>
          <a:p xmlns:a="http://schemas.openxmlformats.org/drawingml/2006/main">
            <a:r>
              <a:t>          "processing": "작물·지역·생육단계·문제 상황 확인",</a:t>
            </a:r>
          </a:p>
          <a:p xmlns:a="http://schemas.openxmlformats.org/drawingml/2006/main">
            <a:r>
              <a:t>          "output": "질문·작물·위치"</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"영농 지식",</a:t>
            </a:r>
          </a:p>
          <a:p xmlns:a="http://schemas.openxmlformats.org/drawingml/2006/main">
            <a:r>
              <a:t>          "processing": "기술 문서·상담자료·전문가 평가셋 정비",</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"질문·작물·위치",</a:t>
            </a:r>
          </a:p>
          <a:p xmlns:a="http://schemas.openxmlformats.org/drawingml/2006/main">
            <a:r>
              <a:t>          "processing": "질의 관련 농업 지식의 검색·설명",</a:t>
            </a:r>
          </a:p>
          <a:p xmlns:a="http://schemas.openxmlformats.org/drawingml/2006/main">
            <a:r>
              <a:t>          "output": "상담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"상담 답변",</a:t>
            </a:r>
          </a:p>
          <a:p xmlns:a="http://schemas.openxmlformats.org/drawingml/2006/main">
            <a:r>
              <a:t>          "processing": "원문 근거 안내와 전문가 확인 경로 제공",</a:t>
            </a:r>
          </a:p>
          <a:p xmlns:a="http://schemas.openxmlformats.org/drawingml/2006/main">
            <a:r>
              <a:t>          "output": "이용자 검증"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"작물·상황별 오답과 현장 적용성 검토",</a:t>
            </a:r>
          </a:p>
          <a:p xmlns:a="http://schemas.openxmlformats.org/drawingml/2006/main">
            <a:r>
              <a:t>          "output": "조건별 근거 일치와 전문가 전환 판정표"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"작물·상황별 오답과 현장 적용성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"S-AX19",</a:t>
            </a:r>
          </a:p>
          <a:p xmlns:a="http://schemas.openxmlformats.org/drawingml/2006/main">
            <a:r>
              <a:t>        "title": "청년농업인 특화 AI 상담 · 공공AI 사례집 44–45쪽",</a:t>
            </a:r>
          </a:p>
          <a:p xmlns:a="http://schemas.openxmlformats.org/drawingml/2006/main">
            <a:r>
              <a:t>        "url": "https://bigdata.dongjak.go.kr/board/viewArticle?articleNo=954&amp;boardId=4",</a:t>
            </a:r>
          </a:p>
          <a:p xmlns:a="http://schemas.openxmlformats.org/drawingml/2006/main">
            <a:r>
              <a:t>        "published": "2024 구축 / 2025.02 개시",</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"지역·산업 맥락과 전문가 사전 평가",</a:t>
            </a:r>
          </a:p>
          <a:p xmlns:a="http://schemas.openxmlformats.org/drawingml/2006/main">
            <a:r>
              <a:t>    "local": "운수사업자·지역별 안전·지원 업무 지식 구분",</a:t>
            </a:r>
          </a:p>
          <a:p xmlns:a="http://schemas.openxmlformats.org/drawingml/2006/main">
            <a:r>
              <a:t>    "sourceDetail": null,</a:t>
            </a:r>
          </a:p>
          <a:p xmlns:a="http://schemas.openxmlformats.org/drawingml/2006/main">
            <a:r>
              <a:t>    "narrative": [</a:t>
            </a:r>
          </a:p>
          <a:p xmlns:a="http://schemas.openxmlformats.org/drawingml/2006/main">
            <a:r>
              <a:t>      "농업인이 작물·지역·생육 상황에 맞는 전문지식을 찾도록 지원하는 상담 사례. 범용 질문 답변에 현장 문맥과 전문가 확인을 결합하는 유형.",</a:t>
            </a:r>
          </a:p>
          <a:p xmlns:a="http://schemas.openxmlformats.org/drawingml/2006/main">
            <a:r>
              <a:t>      "입력에서 작물·생육단계·지역·문제 상황을 정리한 뒤 관련 기술자료를 검색하고 원문 근거를 안내하는 구조의 재구성. 정보가 부족하거나 지역 예외가 있는 질문은 추가 확인·전문가 상담으로 연결.",</a:t>
            </a:r>
          </a:p>
          <a:p xmlns:a="http://schemas.openxmlformats.org/drawingml/2006/main">
            <a:r>
              <a:t>      "TS 업무에는 차량·시설·지역·시행일 등 도메인 문맥을 먼저 확보하는 방식으로 현지화. 평균 정답률보다 상황별 오류와 전문가 전환율, 실제 업무에 맞는 안내인지의 검토가 중요."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"영농 질의 접점",</a:t>
            </a:r>
          </a:p>
          <a:p xmlns:a="http://schemas.openxmlformats.org/drawingml/2006/main">
            <a:r>
              <a:t>          "layer": "이용 접점",</a:t>
            </a:r>
          </a:p>
          <a:p xmlns:a="http://schemas.openxmlformats.org/drawingml/2006/main">
            <a:r>
              <a:t>          "detail": "청년농업인·농업 전문가",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"작물·생육단계",</a:t>
            </a:r>
          </a:p>
          <a:p xmlns:a="http://schemas.openxmlformats.org/drawingml/2006/main">
            <a:r>
              <a:t>          "layer": "업무 문맥",</a:t>
            </a:r>
          </a:p>
          <a:p xmlns:a="http://schemas.openxmlformats.org/drawingml/2006/main">
            <a:r>
              <a:t>          "detail": "작물·지역·생육단계·문제 상황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"농업 지식 검색",</a:t>
            </a:r>
          </a:p>
          <a:p xmlns:a="http://schemas.openxmlformats.org/drawingml/2006/main">
            <a:r>
              <a:t>          "layer": "자료 조회",</a:t>
            </a:r>
          </a:p>
          <a:p xmlns:a="http://schemas.openxmlformats.org/drawingml/2006/main">
            <a:r>
              <a:t>          "detail": "질문·작물·위치",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"맥락형 상담 생성",</a:t>
            </a:r>
          </a:p>
          <a:p xmlns:a="http://schemas.openxmlformats.org/drawingml/2006/main">
            <a:r>
              <a:t>          "layer": "핵심 처리",</a:t>
            </a:r>
          </a:p>
          <a:p xmlns:a="http://schemas.openxmlformats.org/drawingml/2006/main">
            <a:r>
              <a:t>          "detail": "질의 관련 농업 지식의 검색·설명",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"지역·상황 대조",</a:t>
            </a:r>
          </a:p>
          <a:p xmlns:a="http://schemas.openxmlformats.org/drawingml/2006/main">
            <a:r>
              <a:t>          "layer": "결과 검증",</a:t>
            </a:r>
          </a:p>
          <a:p xmlns:a="http://schemas.openxmlformats.org/drawingml/2006/main">
            <a:r>
              <a:t>          "detail": "지역·작물별 정답 및 전문가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"전문가 확인",</a:t>
            </a:r>
          </a:p>
          <a:p xmlns:a="http://schemas.openxmlformats.org/drawingml/2006/main">
            <a:r>
              <a:t>          "layer": "사람 확인",</a:t>
            </a:r>
          </a:p>
          <a:p xmlns:a="http://schemas.openxmlformats.org/drawingml/2006/main">
            <a:r>
              <a:t>          "detail": "작물·지역·생육단계에 맞는 기술 지식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"원문·상담 연결",</a:t>
            </a:r>
          </a:p>
          <a:p xmlns:a="http://schemas.openxmlformats.org/drawingml/2006/main">
            <a:r>
              <a:t>          "layer": "업무 연결",</a:t>
            </a:r>
          </a:p>
          <a:p xmlns:a="http://schemas.openxmlformats.org/drawingml/2006/main">
            <a:r>
              <a:t>          "detail": "원문 근거 안내와 전문가 확인 경로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"현장 적합성 평가",</a:t>
            </a:r>
          </a:p>
          <a:p xmlns:a="http://schemas.openxmlformats.org/drawingml/2006/main">
            <a:r>
              <a:t>          "layer": "운영 관측",</a:t>
            </a:r>
          </a:p>
          <a:p xmlns:a="http://schemas.openxmlformats.org/drawingml/2006/main">
            <a:r>
              <a:t>          "detail": "작물·상황별 오답과 현장 적용성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"기술·상담 자료",</a:t>
            </a:r>
          </a:p>
          <a:p xmlns:a="http://schemas.openxmlformats.org/drawingml/2006/main">
            <a:r>
              <a:t>          "layer": "데이터 원천",</a:t>
            </a:r>
          </a:p>
          <a:p xmlns:a="http://schemas.openxmlformats.org/drawingml/2006/main">
            <a:r>
              <a:t>          "detail": "영농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"작물·지역 태깅",</a:t>
            </a:r>
          </a:p>
          <a:p xmlns:a="http://schemas.openxmlformats.org/drawingml/2006/main">
            <a:r>
              <a:t>          "layer": "준비·갱신",</a:t>
            </a:r>
          </a:p>
          <a:p xmlns:a="http://schemas.openxmlformats.org/drawingml/2006/main">
            <a:r>
              <a:t>          "detail": "기술 문서·상담자료·전문가 평가셋 정비",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"문서·평가셋",</a:t>
            </a:r>
          </a:p>
          <a:p xmlns:a="http://schemas.openxmlformats.org/drawingml/2006/main">
            <a:r>
              <a:t>          "layer": "상태·지식 저장",</a:t>
            </a:r>
          </a:p>
          <a:p xmlns:a="http://schemas.openxmlformats.org/drawingml/2006/main">
            <a:r>
              <a:t>          "detail": "조건별 근거 일치와 전문가 전환 판정표",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"전문가 전환 기준",</a:t>
            </a:r>
          </a:p>
          <a:p xmlns:a="http://schemas.openxmlformats.org/drawingml/2006/main">
            <a:r>
              <a:t>          "layer": "권한·정책",</a:t>
            </a:r>
          </a:p>
          <a:p xmlns:a="http://schemas.openxmlformats.org/drawingml/2006/main">
            <a:r>
              <a:t>          "detail": "다른 작물 지침·증상 누락·전문가 판단이 필요한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"영농 지식 → 위치·작물 맥락 → 전문 상담 → 현업·이용자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"영농 지식",</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"작물·지역·생육단계·문제 상황 확인",</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"조건별 근거 일치와 전문가 전환 판정표",</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영농 근거",</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"상담 답변",</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"농업 전문지식의 현장 상담 연결 / 재배 질의·전문지식·사전 평가",</a:t>
            </a:r>
          </a:p>
          <a:p xmlns:a="http://schemas.openxmlformats.org/drawingml/2006/main">
            <a:r>
              <a:t>        "extension": "운수사업자·지역별 안전·지원 업무 지식 구분"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작물 지침·증상 누락·전문가 판단이 필요한 요청",</a:t>
            </a:r>
          </a:p>
          <a:p xmlns:a="http://schemas.openxmlformats.org/drawingml/2006/main">
            <a:r>
              <a:t>        "hold": "지역·작물별 정답 및 전문가 전환",</a:t>
            </a:r>
          </a:p>
          <a:p xmlns:a="http://schemas.openxmlformats.org/drawingml/2006/main">
            <a:r>
              <a:t>        "recovery": "작물·상황별 오답과 현장 적용성 검토",</a:t>
            </a:r>
          </a:p>
          <a:p xmlns:a="http://schemas.openxmlformats.org/drawingml/2006/main">
            <a:r>
              <a:t>        "evidence": "조건별 근거 일치와 전문가 전환 판정표"</a:t>
            </a:r>
          </a:p>
          <a:p xmlns:a="http://schemas.openxmlformats.org/drawingml/2006/main">
            <a:r>
              <a:t>      },</a:t>
            </a:r>
          </a:p>
          <a:p xmlns:a="http://schemas.openxmlformats.org/drawingml/2006/main">
            <a:r>
              <a:t>      "data": {</a:t>
            </a:r>
          </a:p>
          <a:p xmlns:a="http://schemas.openxmlformats.org/drawingml/2006/main">
            <a:r>
              <a:t>        "source": "영농 지식",</a:t>
            </a:r>
          </a:p>
          <a:p xmlns:a="http://schemas.openxmlformats.org/drawingml/2006/main">
            <a:r>
              <a:t>        "prepare": "기술 문서·상담자료·전문가 평가셋 정비",</a:t>
            </a:r>
          </a:p>
          <a:p xmlns:a="http://schemas.openxmlformats.org/drawingml/2006/main">
            <a:r>
              <a:t>        "output": "질문·작물·위치",</a:t>
            </a:r>
          </a:p>
          <a:p xmlns:a="http://schemas.openxmlformats.org/drawingml/2006/main">
            <a:r>
              <a:t>        "refresh": "작물·상황별 오답과 현장 적용성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"AX19",</a:t>
            </a:r>
          </a:p>
          <a:p xmlns:a="http://schemas.openxmlformats.org/drawingml/2006/main">
            <a:r>
              <a:t>    "success": [</a:t>
            </a:r>
          </a:p>
          <a:p xmlns:a="http://schemas.openxmlformats.org/drawingml/2006/main">
            <a:r>
              <a:t>      "작물·위치 맥락의 전문 지식 연결",</a:t>
            </a:r>
          </a:p>
          <a:p xmlns:a="http://schemas.openxmlformats.org/drawingml/2006/main">
            <a:r>
              <a:t>      "전문가·이용자 사전 평가"</a:t>
            </a:r>
          </a:p>
          <a:p xmlns:a="http://schemas.openxmlformats.org/drawingml/2006/main">
            <a:r>
              <a:t>    ],</a:t>
            </a:r>
          </a:p>
          <a:p xmlns:a="http://schemas.openxmlformats.org/drawingml/2006/main">
            <a:r>
              <a:t>    "risks": [</a:t>
            </a:r>
          </a:p>
          <a:p xmlns:a="http://schemas.openxmlformats.org/drawingml/2006/main">
            <a:r>
              <a:t>      "지역·생육환경 예외",</a:t>
            </a:r>
          </a:p>
          <a:p xmlns:a="http://schemas.openxmlformats.org/drawingml/2006/main">
            <a:r>
              <a:t>      "상담 답변과 현장 적합성의 간극"</a:t>
            </a:r>
          </a:p>
          <a:p xmlns:a="http://schemas.openxmlformats.org/drawingml/2006/main">
            <a:r>
              <a:t>    ],</a:t>
            </a:r>
          </a:p>
          <a:p xmlns:a="http://schemas.openxmlformats.org/drawingml/2006/main">
            <a:r>
              <a:t>    "architecture": [</a:t>
            </a:r>
          </a:p>
          <a:p xmlns:a="http://schemas.openxmlformats.org/drawingml/2006/main">
            <a:r>
              <a:t>      "농업기술 앱",</a:t>
            </a:r>
          </a:p>
          <a:p xmlns:a="http://schemas.openxmlformats.org/drawingml/2006/main">
            <a:r>
              <a:t>      "맥락 기반 상담",</a:t>
            </a:r>
          </a:p>
          <a:p xmlns:a="http://schemas.openxmlformats.org/drawingml/2006/main">
            <a:r>
              <a:t>      "영농 지식",</a:t>
            </a:r>
          </a:p>
          <a:p xmlns:a="http://schemas.openxmlformats.org/drawingml/2006/main">
            <a:r>
              <a:t>      "농업인·전문가"</a:t>
            </a:r>
          </a:p>
          <a:p xmlns:a="http://schemas.openxmlformats.org/drawingml/2006/main">
            <a:r>
              <a:t>    ],</a:t>
            </a:r>
          </a:p>
          <a:p xmlns:a="http://schemas.openxmlformats.org/drawingml/2006/main">
            <a:r>
              <a:t>    "transfers": [</a:t>
            </a:r>
          </a:p>
          <a:p xmlns:a="http://schemas.openxmlformats.org/drawingml/2006/main">
            <a:r>
              <a:t>      "질문·작물·위치",</a:t>
            </a:r>
          </a:p>
          <a:p xmlns:a="http://schemas.openxmlformats.org/drawingml/2006/main">
            <a:r>
              <a:t>      "관련 영농 근거",</a:t>
            </a:r>
          </a:p>
          <a:p xmlns:a="http://schemas.openxmlformats.org/drawingml/2006/main">
            <a:r>
              <a:t>      "상담 답변",</a:t>
            </a:r>
          </a:p>
          <a:p xmlns:a="http://schemas.openxmlformats.org/drawingml/2006/main">
            <a:r>
              <a:t>      "이용자 검증"</a:t>
            </a:r>
          </a:p>
          <a:p xmlns:a="http://schemas.openxmlformats.org/drawingml/2006/main">
            <a:r>
              <a:t>    ],</a:t>
            </a:r>
          </a:p>
          <a:p xmlns:a="http://schemas.openxmlformats.org/drawingml/2006/main">
            <a:r>
              <a:t>    "control": "지역·작물별 정답 및 전문가 전환",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청년농업인 특화 AI 상담 · 공공AI 사례집 44–45쪽 https://bigdata.dongjak.go.kr/board/viewArticle?articleNo=954&amp;boardId=4</a:t>
            </a:r>
          </a:p>
          <a:p xmlns:a="http://schemas.openxmlformats.org/drawingml/2006/main">
            <a:r>
              <a:t>홈페이지 https://heen1987-ops.github.io/TS-business-Plan-001/index.html?view=casebook&amp;case=AX19</a:t>
            </a:r>
          </a:p>
          <a:p xmlns:a="http://schemas.openxmlformats.org/drawingml/2006/main">
            <a:r>
              <a:t>한계: 기관 실증 사례 수록 · 정착·소득 개선 인과효과 실측과 구분</a:t>
            </a:r>
          </a:p>
          <a:p xmlns:a="http://schemas.openxmlformats.org/drawingml/2006/main">
            <a:r>
              <a:t>실패 위험: 지역·생육환경 예외 / 상담 답변과 현장 적합성의 간극</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"AX19",</a:t>
            </a:r>
          </a:p>
          <a:p xmlns:a="http://schemas.openxmlformats.org/drawingml/2006/main">
            <a:r>
              <a:t>    "title": "청년농업인 특화 AI 상담",</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"지역·산업 특화 지식 서비스",</a:t>
            </a:r>
          </a:p>
          <a:p xmlns:a="http://schemas.openxmlformats.org/drawingml/2006/main">
            <a:r>
              <a:t>    "period": "2024 구축 / 2025.02 개시",</a:t>
            </a:r>
          </a:p>
          <a:p xmlns:a="http://schemas.openxmlformats.org/drawingml/2006/main">
            <a:r>
              <a:t>    "sources": [</a:t>
            </a:r>
          </a:p>
          <a:p xmlns:a="http://schemas.openxmlformats.org/drawingml/2006/main">
            <a:r>
              <a:t>      "S-AX19"</a:t>
            </a:r>
          </a:p>
          <a:p xmlns:a="http://schemas.openxmlformats.org/drawingml/2006/main">
            <a:r>
              <a:t>    ],</a:t>
            </a:r>
          </a:p>
          <a:p xmlns:a="http://schemas.openxmlformats.org/drawingml/2006/main">
            <a:r>
              <a:t>    "keywords": [</a:t>
            </a:r>
          </a:p>
          <a:p xmlns:a="http://schemas.openxmlformats.org/drawingml/2006/main">
            <a:r>
              <a:t>      "지역",</a:t>
            </a:r>
          </a:p>
          <a:p xmlns:a="http://schemas.openxmlformats.org/drawingml/2006/main">
            <a:r>
              <a:t>      "산업 특화 지식 서비스"</a:t>
            </a:r>
          </a:p>
          <a:p xmlns:a="http://schemas.openxmlformats.org/drawingml/2006/main">
            <a:r>
              <a:t>    ],</a:t>
            </a:r>
          </a:p>
          <a:p xmlns:a="http://schemas.openxmlformats.org/drawingml/2006/main">
            <a:r>
              <a:t>    "fact": "농업기술 앱에 초거대 AI 상담을 결합하고 전문가·청년농업인 사전 평가 후 서비스 개시",</a:t>
            </a:r>
          </a:p>
          <a:p xmlns:a="http://schemas.openxmlformats.org/drawingml/2006/main">
            <a:r>
              <a:t>    "limit": "기관 실증 사례 수록 · 정착·소득 개선 인과효과 실측과 구분",</a:t>
            </a:r>
          </a:p>
          <a:p xmlns:a="http://schemas.openxmlformats.org/drawingml/2006/main">
            <a:r>
              <a:t>    "flow": [</a:t>
            </a:r>
          </a:p>
          <a:p xmlns:a="http://schemas.openxmlformats.org/drawingml/2006/main">
            <a:r>
              <a:t>      "영농 지식",</a:t>
            </a:r>
          </a:p>
          <a:p xmlns:a="http://schemas.openxmlformats.org/drawingml/2006/main">
            <a:r>
              <a:t>      "위치·작물 맥락",</a:t>
            </a:r>
          </a:p>
          <a:p xmlns:a="http://schemas.openxmlformats.org/drawingml/2006/main">
            <a:r>
              <a:t>      "전문 상담",</a:t>
            </a:r>
          </a:p>
          <a:p xmlns:a="http://schemas.openxmlformats.org/drawingml/2006/main">
            <a:r>
              <a:t>      "현업·이용자 평가"</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"지역·산업 맥락과 전문가 사전 평가",</a:t>
            </a:r>
          </a:p>
          <a:p xmlns:a="http://schemas.openxmlformats.org/drawingml/2006/main">
            <a:r>
              <a:t>    "local": "운수사업자·지역별 안전·지원 업무 지식 구분",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"업종·지역·자격 조건·지원 절차 사전",</a:t>
            </a:r>
          </a:p>
          <a:p xmlns:a="http://schemas.openxmlformats.org/drawingml/2006/main">
            <a:r>
              <a:t>    "test": "업종·지역별 답변 근거와 신청 조건 대조",</a:t>
            </a:r>
          </a:p>
          <a:p xmlns:a="http://schemas.openxmlformats.org/drawingml/2006/main">
            <a:r>
              <a:t>    "metric": "정보 탐색시간 / 조건 오안내율",</a:t>
            </a:r>
          </a:p>
          <a:p xmlns:a="http://schemas.openxmlformats.org/drawingml/2006/main">
            <a:r>
              <a:t>    "strategies": [</a:t>
            </a:r>
          </a:p>
          <a:p xmlns:a="http://schemas.openxmlformats.org/drawingml/2006/main">
            <a:r>
              <a:t>      "ST-09",</a:t>
            </a:r>
          </a:p>
          <a:p xmlns:a="http://schemas.openxmlformats.org/drawingml/2006/main">
            <a:r>
              <a:t>      "ST-08"</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"AX19",</a:t>
            </a:r>
          </a:p>
          <a:p xmlns:a="http://schemas.openxmlformats.org/drawingml/2006/main">
            <a:r>
              <a:t>    "canonicalId": "AX19",</a:t>
            </a:r>
          </a:p>
          <a:p xmlns:a="http://schemas.openxmlformats.org/drawingml/2006/main">
            <a:r>
              <a:t>    "purpose": "농업 전문지식의 현장 상담 연결",</a:t>
            </a:r>
          </a:p>
          <a:p xmlns:a="http://schemas.openxmlformats.org/drawingml/2006/main">
            <a:r>
              <a:t>    "users": "청년농업인·농업 전문가",</a:t>
            </a:r>
          </a:p>
          <a:p xmlns:a="http://schemas.openxmlformats.org/drawingml/2006/main">
            <a:r>
              <a:t>    "scope": [</a:t>
            </a:r>
          </a:p>
          <a:p xmlns:a="http://schemas.openxmlformats.org/drawingml/2006/main">
            <a:r>
              <a:t>      "재배 질의",</a:t>
            </a:r>
          </a:p>
          <a:p xmlns:a="http://schemas.openxmlformats.org/drawingml/2006/main">
            <a:r>
              <a:t>      "전문지식",</a:t>
            </a:r>
          </a:p>
          <a:p xmlns:a="http://schemas.openxmlformats.org/drawingml/2006/main">
            <a:r>
              <a:t>      "사전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"농업기술 앱",</a:t>
            </a:r>
          </a:p>
          <a:p xmlns:a="http://schemas.openxmlformats.org/drawingml/2006/main">
            <a:r>
              <a:t>        "detail": "작물·지역·생육단계·문제 상황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"재배 질의 / 전문지식 / 사전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"맥락 기반 상담",</a:t>
            </a:r>
          </a:p>
          <a:p xmlns:a="http://schemas.openxmlformats.org/drawingml/2006/main">
            <a:r>
              <a:t>        "detail": "질의 관련 농업 지식의 검색·설명",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"농업인·전문가",</a:t>
            </a:r>
          </a:p>
          <a:p xmlns:a="http://schemas.openxmlformats.org/drawingml/2006/main">
            <a:r>
              <a:t>        "detail": "원문 근거 안내와 전문가 확인 경로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"영농 지식",</a:t>
            </a:r>
          </a:p>
          <a:p xmlns:a="http://schemas.openxmlformats.org/drawingml/2006/main">
            <a:r>
              <a:t>        "detail": "기술 문서·상담자료·전문가 평가셋 정비",</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"작물·상황별 오답과 현장 적용성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"영농 지식",</a:t>
            </a:r>
          </a:p>
          <a:p xmlns:a="http://schemas.openxmlformats.org/drawingml/2006/main">
            <a:r>
              <a:t>        "input": "작물·지역·생육단계·문제 상황 확인",</a:t>
            </a:r>
          </a:p>
          <a:p xmlns:a="http://schemas.openxmlformats.org/drawingml/2006/main">
            <a:r>
              <a:t>        "process": "기술 문서·상담자료·전문가 평가셋 정비",</a:t>
            </a:r>
          </a:p>
          <a:p xmlns:a="http://schemas.openxmlformats.org/drawingml/2006/main">
            <a:r>
              <a:t>        "output": "질문·작물·위치"</a:t>
            </a:r>
          </a:p>
          <a:p xmlns:a="http://schemas.openxmlformats.org/drawingml/2006/main">
            <a:r>
              <a:t>      },</a:t>
            </a:r>
          </a:p>
          <a:p xmlns:a="http://schemas.openxmlformats.org/drawingml/2006/main">
            <a:r>
              <a:t>      {</a:t>
            </a:r>
          </a:p>
          <a:p xmlns:a="http://schemas.openxmlformats.org/drawingml/2006/main">
            <a:r>
              <a:t>        "title": "위치·작물 맥락",</a:t>
            </a:r>
          </a:p>
          <a:p xmlns:a="http://schemas.openxmlformats.org/drawingml/2006/main">
            <a:r>
              <a:t>        "input": "질문·작물·위치",</a:t>
            </a:r>
          </a:p>
          <a:p xmlns:a="http://schemas.openxmlformats.org/drawingml/2006/main">
            <a:r>
              <a:t>        "process": "질의 관련 농업 지식의 검색·설명",</a:t>
            </a:r>
          </a:p>
          <a:p xmlns:a="http://schemas.openxmlformats.org/drawingml/2006/main">
            <a:r>
              <a:t>        "output": "관련 영농 근거"</a:t>
            </a:r>
          </a:p>
          <a:p xmlns:a="http://schemas.openxmlformats.org/drawingml/2006/main">
            <a:r>
              <a:t>      },</a:t>
            </a:r>
          </a:p>
          <a:p xmlns:a="http://schemas.openxmlformats.org/drawingml/2006/main">
            <a:r>
              <a:t>      {</a:t>
            </a:r>
          </a:p>
          <a:p xmlns:a="http://schemas.openxmlformats.org/drawingml/2006/main">
            <a:r>
              <a:t>        "title": "전문 상담",</a:t>
            </a:r>
          </a:p>
          <a:p xmlns:a="http://schemas.openxmlformats.org/drawingml/2006/main">
            <a:r>
              <a:t>        "input": "관련 영농 근거",</a:t>
            </a:r>
          </a:p>
          <a:p xmlns:a="http://schemas.openxmlformats.org/drawingml/2006/main">
            <a:r>
              <a:t>        "process": "지역·작물별 정답 및 전문가 전환",</a:t>
            </a:r>
          </a:p>
          <a:p xmlns:a="http://schemas.openxmlformats.org/drawingml/2006/main">
            <a:r>
              <a:t>        "output": "상담 답변"</a:t>
            </a:r>
          </a:p>
          <a:p xmlns:a="http://schemas.openxmlformats.org/drawingml/2006/main">
            <a:r>
              <a:t>      },</a:t>
            </a:r>
          </a:p>
          <a:p xmlns:a="http://schemas.openxmlformats.org/drawingml/2006/main">
            <a:r>
              <a:t>      {</a:t>
            </a:r>
          </a:p>
          <a:p xmlns:a="http://schemas.openxmlformats.org/drawingml/2006/main">
            <a:r>
              <a:t>        "title": "현업·이용자 평가",</a:t>
            </a:r>
          </a:p>
          <a:p xmlns:a="http://schemas.openxmlformats.org/drawingml/2006/main">
            <a:r>
              <a:t>        "input": "상담 답변",</a:t>
            </a:r>
          </a:p>
          <a:p xmlns:a="http://schemas.openxmlformats.org/drawingml/2006/main">
            <a:r>
              <a:t>        "process": "원문 근거 안내와 전문가 확인 경로 제공",</a:t>
            </a:r>
          </a:p>
          <a:p xmlns:a="http://schemas.openxmlformats.org/drawingml/2006/main">
            <a:r>
              <a:t>        "output": "이용자 검증"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"작물·지역·생육단계에 맞는 기술 지식 안내",</a:t>
            </a:r>
          </a:p>
          <a:p xmlns:a="http://schemas.openxmlformats.org/drawingml/2006/main">
            <a:r>
              <a:t>      "exception": "다른 작물 지침·증상 누락·전문가 판단이 필요한 요청",</a:t>
            </a:r>
          </a:p>
          <a:p xmlns:a="http://schemas.openxmlformats.org/drawingml/2006/main">
            <a:r>
              <a:t>      "evidence": "조건별 근거 일치와 전문가 전환 판정표",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"청년농업인·농업 전문가",</a:t>
            </a:r>
          </a:p>
          <a:p xmlns:a="http://schemas.openxmlformats.org/drawingml/2006/main">
            <a:r>
              <a:t>          "processing": "작물·지역·생육단계·문제 상황 확인",</a:t>
            </a:r>
          </a:p>
          <a:p xmlns:a="http://schemas.openxmlformats.org/drawingml/2006/main">
            <a:r>
              <a:t>          "output": "질문·작물·위치"</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"영농 지식",</a:t>
            </a:r>
          </a:p>
          <a:p xmlns:a="http://schemas.openxmlformats.org/drawingml/2006/main">
            <a:r>
              <a:t>          "processing": "기술 문서·상담자료·전문가 평가셋 정비",</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"질문·작물·위치",</a:t>
            </a:r>
          </a:p>
          <a:p xmlns:a="http://schemas.openxmlformats.org/drawingml/2006/main">
            <a:r>
              <a:t>          "processing": "질의 관련 농업 지식의 검색·설명",</a:t>
            </a:r>
          </a:p>
          <a:p xmlns:a="http://schemas.openxmlformats.org/drawingml/2006/main">
            <a:r>
              <a:t>          "output": "상담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"상담 답변",</a:t>
            </a:r>
          </a:p>
          <a:p xmlns:a="http://schemas.openxmlformats.org/drawingml/2006/main">
            <a:r>
              <a:t>          "processing": "원문 근거 안내와 전문가 확인 경로 제공",</a:t>
            </a:r>
          </a:p>
          <a:p xmlns:a="http://schemas.openxmlformats.org/drawingml/2006/main">
            <a:r>
              <a:t>          "output": "이용자 검증"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"작물·상황별 오답과 현장 적용성 검토",</a:t>
            </a:r>
          </a:p>
          <a:p xmlns:a="http://schemas.openxmlformats.org/drawingml/2006/main">
            <a:r>
              <a:t>          "output": "조건별 근거 일치와 전문가 전환 판정표"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"작물·상황별 오답과 현장 적용성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"S-AX19",</a:t>
            </a:r>
          </a:p>
          <a:p xmlns:a="http://schemas.openxmlformats.org/drawingml/2006/main">
            <a:r>
              <a:t>        "title": "청년농업인 특화 AI 상담 · 공공AI 사례집 44–45쪽",</a:t>
            </a:r>
          </a:p>
          <a:p xmlns:a="http://schemas.openxmlformats.org/drawingml/2006/main">
            <a:r>
              <a:t>        "url": "https://bigdata.dongjak.go.kr/board/viewArticle?articleNo=954&amp;boardId=4",</a:t>
            </a:r>
          </a:p>
          <a:p xmlns:a="http://schemas.openxmlformats.org/drawingml/2006/main">
            <a:r>
              <a:t>        "published": "2024 구축 / 2025.02 개시",</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"지역·산업 맥락과 전문가 사전 평가",</a:t>
            </a:r>
          </a:p>
          <a:p xmlns:a="http://schemas.openxmlformats.org/drawingml/2006/main">
            <a:r>
              <a:t>    "local": "운수사업자·지역별 안전·지원 업무 지식 구분",</a:t>
            </a:r>
          </a:p>
          <a:p xmlns:a="http://schemas.openxmlformats.org/drawingml/2006/main">
            <a:r>
              <a:t>    "sourceDetail": null,</a:t>
            </a:r>
          </a:p>
          <a:p xmlns:a="http://schemas.openxmlformats.org/drawingml/2006/main">
            <a:r>
              <a:t>    "narrative": [</a:t>
            </a:r>
          </a:p>
          <a:p xmlns:a="http://schemas.openxmlformats.org/drawingml/2006/main">
            <a:r>
              <a:t>      "농업인이 작물·지역·생육 상황에 맞는 전문지식을 찾도록 지원하는 상담 사례. 범용 질문 답변에 현장 문맥과 전문가 확인을 결합하는 유형.",</a:t>
            </a:r>
          </a:p>
          <a:p xmlns:a="http://schemas.openxmlformats.org/drawingml/2006/main">
            <a:r>
              <a:t>      "입력에서 작물·생육단계·지역·문제 상황을 정리한 뒤 관련 기술자료를 검색하고 원문 근거를 안내하는 구조의 재구성. 정보가 부족하거나 지역 예외가 있는 질문은 추가 확인·전문가 상담으로 연결.",</a:t>
            </a:r>
          </a:p>
          <a:p xmlns:a="http://schemas.openxmlformats.org/drawingml/2006/main">
            <a:r>
              <a:t>      "TS 업무에는 차량·시설·지역·시행일 등 도메인 문맥을 먼저 확보하는 방식으로 현지화. 평균 정답률보다 상황별 오류와 전문가 전환율, 실제 업무에 맞는 안내인지의 검토가 중요."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"영농 질의 접점",</a:t>
            </a:r>
          </a:p>
          <a:p xmlns:a="http://schemas.openxmlformats.org/drawingml/2006/main">
            <a:r>
              <a:t>          "layer": "이용 접점",</a:t>
            </a:r>
          </a:p>
          <a:p xmlns:a="http://schemas.openxmlformats.org/drawingml/2006/main">
            <a:r>
              <a:t>          "detail": "청년농업인·농업 전문가",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"작물·생육단계",</a:t>
            </a:r>
          </a:p>
          <a:p xmlns:a="http://schemas.openxmlformats.org/drawingml/2006/main">
            <a:r>
              <a:t>          "layer": "업무 문맥",</a:t>
            </a:r>
          </a:p>
          <a:p xmlns:a="http://schemas.openxmlformats.org/drawingml/2006/main">
            <a:r>
              <a:t>          "detail": "작물·지역·생육단계·문제 상황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"농업 지식 검색",</a:t>
            </a:r>
          </a:p>
          <a:p xmlns:a="http://schemas.openxmlformats.org/drawingml/2006/main">
            <a:r>
              <a:t>          "layer": "자료 조회",</a:t>
            </a:r>
          </a:p>
          <a:p xmlns:a="http://schemas.openxmlformats.org/drawingml/2006/main">
            <a:r>
              <a:t>          "detail": "질문·작물·위치",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"맥락형 상담 생성",</a:t>
            </a:r>
          </a:p>
          <a:p xmlns:a="http://schemas.openxmlformats.org/drawingml/2006/main">
            <a:r>
              <a:t>          "layer": "핵심 처리",</a:t>
            </a:r>
          </a:p>
          <a:p xmlns:a="http://schemas.openxmlformats.org/drawingml/2006/main">
            <a:r>
              <a:t>          "detail": "질의 관련 농업 지식의 검색·설명",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"지역·상황 대조",</a:t>
            </a:r>
          </a:p>
          <a:p xmlns:a="http://schemas.openxmlformats.org/drawingml/2006/main">
            <a:r>
              <a:t>          "layer": "결과 검증",</a:t>
            </a:r>
          </a:p>
          <a:p xmlns:a="http://schemas.openxmlformats.org/drawingml/2006/main">
            <a:r>
              <a:t>          "detail": "지역·작물별 정답 및 전문가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"전문가 확인",</a:t>
            </a:r>
          </a:p>
          <a:p xmlns:a="http://schemas.openxmlformats.org/drawingml/2006/main">
            <a:r>
              <a:t>          "layer": "사람 확인",</a:t>
            </a:r>
          </a:p>
          <a:p xmlns:a="http://schemas.openxmlformats.org/drawingml/2006/main">
            <a:r>
              <a:t>          "detail": "작물·지역·생육단계에 맞는 기술 지식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"원문·상담 연결",</a:t>
            </a:r>
          </a:p>
          <a:p xmlns:a="http://schemas.openxmlformats.org/drawingml/2006/main">
            <a:r>
              <a:t>          "layer": "업무 연결",</a:t>
            </a:r>
          </a:p>
          <a:p xmlns:a="http://schemas.openxmlformats.org/drawingml/2006/main">
            <a:r>
              <a:t>          "detail": "원문 근거 안내와 전문가 확인 경로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"현장 적합성 평가",</a:t>
            </a:r>
          </a:p>
          <a:p xmlns:a="http://schemas.openxmlformats.org/drawingml/2006/main">
            <a:r>
              <a:t>          "layer": "운영 관측",</a:t>
            </a:r>
          </a:p>
          <a:p xmlns:a="http://schemas.openxmlformats.org/drawingml/2006/main">
            <a:r>
              <a:t>          "detail": "작물·상황별 오답과 현장 적용성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"기술·상담 자료",</a:t>
            </a:r>
          </a:p>
          <a:p xmlns:a="http://schemas.openxmlformats.org/drawingml/2006/main">
            <a:r>
              <a:t>          "layer": "데이터 원천",</a:t>
            </a:r>
          </a:p>
          <a:p xmlns:a="http://schemas.openxmlformats.org/drawingml/2006/main">
            <a:r>
              <a:t>          "detail": "영농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"작물·지역 태깅",</a:t>
            </a:r>
          </a:p>
          <a:p xmlns:a="http://schemas.openxmlformats.org/drawingml/2006/main">
            <a:r>
              <a:t>          "layer": "준비·갱신",</a:t>
            </a:r>
          </a:p>
          <a:p xmlns:a="http://schemas.openxmlformats.org/drawingml/2006/main">
            <a:r>
              <a:t>          "detail": "기술 문서·상담자료·전문가 평가셋 정비",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"문서·평가셋",</a:t>
            </a:r>
          </a:p>
          <a:p xmlns:a="http://schemas.openxmlformats.org/drawingml/2006/main">
            <a:r>
              <a:t>          "layer": "상태·지식 저장",</a:t>
            </a:r>
          </a:p>
          <a:p xmlns:a="http://schemas.openxmlformats.org/drawingml/2006/main">
            <a:r>
              <a:t>          "detail": "조건별 근거 일치와 전문가 전환 판정표",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"전문가 전환 기준",</a:t>
            </a:r>
          </a:p>
          <a:p xmlns:a="http://schemas.openxmlformats.org/drawingml/2006/main">
            <a:r>
              <a:t>          "layer": "권한·정책",</a:t>
            </a:r>
          </a:p>
          <a:p xmlns:a="http://schemas.openxmlformats.org/drawingml/2006/main">
            <a:r>
              <a:t>          "detail": "다른 작물 지침·증상 누락·전문가 판단이 필요한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"영농 지식 → 위치·작물 맥락 → 전문 상담 → 현업·이용자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"영농 지식",</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"작물·지역·생육단계·문제 상황 확인",</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"조건별 근거 일치와 전문가 전환 판정표",</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영농 근거",</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"상담 답변",</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"농업 전문지식의 현장 상담 연결 / 재배 질의·전문지식·사전 평가",</a:t>
            </a:r>
          </a:p>
          <a:p xmlns:a="http://schemas.openxmlformats.org/drawingml/2006/main">
            <a:r>
              <a:t>        "extension": "운수사업자·지역별 안전·지원 업무 지식 구분"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작물 지침·증상 누락·전문가 판단이 필요한 요청",</a:t>
            </a:r>
          </a:p>
          <a:p xmlns:a="http://schemas.openxmlformats.org/drawingml/2006/main">
            <a:r>
              <a:t>        "hold": "지역·작물별 정답 및 전문가 전환",</a:t>
            </a:r>
          </a:p>
          <a:p xmlns:a="http://schemas.openxmlformats.org/drawingml/2006/main">
            <a:r>
              <a:t>        "recovery": "작물·상황별 오답과 현장 적용성 검토",</a:t>
            </a:r>
          </a:p>
          <a:p xmlns:a="http://schemas.openxmlformats.org/drawingml/2006/main">
            <a:r>
              <a:t>        "evidence": "조건별 근거 일치와 전문가 전환 판정표"</a:t>
            </a:r>
          </a:p>
          <a:p xmlns:a="http://schemas.openxmlformats.org/drawingml/2006/main">
            <a:r>
              <a:t>      },</a:t>
            </a:r>
          </a:p>
          <a:p xmlns:a="http://schemas.openxmlformats.org/drawingml/2006/main">
            <a:r>
              <a:t>      "data": {</a:t>
            </a:r>
          </a:p>
          <a:p xmlns:a="http://schemas.openxmlformats.org/drawingml/2006/main">
            <a:r>
              <a:t>        "source": "영농 지식",</a:t>
            </a:r>
          </a:p>
          <a:p xmlns:a="http://schemas.openxmlformats.org/drawingml/2006/main">
            <a:r>
              <a:t>        "prepare": "기술 문서·상담자료·전문가 평가셋 정비",</a:t>
            </a:r>
          </a:p>
          <a:p xmlns:a="http://schemas.openxmlformats.org/drawingml/2006/main">
            <a:r>
              <a:t>        "output": "질문·작물·위치",</a:t>
            </a:r>
          </a:p>
          <a:p xmlns:a="http://schemas.openxmlformats.org/drawingml/2006/main">
            <a:r>
              <a:t>        "refresh": "작물·상황별 오답과 현장 적용성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"AX19",</a:t>
            </a:r>
          </a:p>
          <a:p xmlns:a="http://schemas.openxmlformats.org/drawingml/2006/main">
            <a:r>
              <a:t>    "success": [</a:t>
            </a:r>
          </a:p>
          <a:p xmlns:a="http://schemas.openxmlformats.org/drawingml/2006/main">
            <a:r>
              <a:t>      "작물·위치 맥락의 전문 지식 연결",</a:t>
            </a:r>
          </a:p>
          <a:p xmlns:a="http://schemas.openxmlformats.org/drawingml/2006/main">
            <a:r>
              <a:t>      "전문가·이용자 사전 평가"</a:t>
            </a:r>
          </a:p>
          <a:p xmlns:a="http://schemas.openxmlformats.org/drawingml/2006/main">
            <a:r>
              <a:t>    ],</a:t>
            </a:r>
          </a:p>
          <a:p xmlns:a="http://schemas.openxmlformats.org/drawingml/2006/main">
            <a:r>
              <a:t>    "risks": [</a:t>
            </a:r>
          </a:p>
          <a:p xmlns:a="http://schemas.openxmlformats.org/drawingml/2006/main">
            <a:r>
              <a:t>      "지역·생육환경 예외",</a:t>
            </a:r>
          </a:p>
          <a:p xmlns:a="http://schemas.openxmlformats.org/drawingml/2006/main">
            <a:r>
              <a:t>      "상담 답변과 현장 적합성의 간극"</a:t>
            </a:r>
          </a:p>
          <a:p xmlns:a="http://schemas.openxmlformats.org/drawingml/2006/main">
            <a:r>
              <a:t>    ],</a:t>
            </a:r>
          </a:p>
          <a:p xmlns:a="http://schemas.openxmlformats.org/drawingml/2006/main">
            <a:r>
              <a:t>    "architecture": [</a:t>
            </a:r>
          </a:p>
          <a:p xmlns:a="http://schemas.openxmlformats.org/drawingml/2006/main">
            <a:r>
              <a:t>      "농업기술 앱",</a:t>
            </a:r>
          </a:p>
          <a:p xmlns:a="http://schemas.openxmlformats.org/drawingml/2006/main">
            <a:r>
              <a:t>      "맥락 기반 상담",</a:t>
            </a:r>
          </a:p>
          <a:p xmlns:a="http://schemas.openxmlformats.org/drawingml/2006/main">
            <a:r>
              <a:t>      "영농 지식",</a:t>
            </a:r>
          </a:p>
          <a:p xmlns:a="http://schemas.openxmlformats.org/drawingml/2006/main">
            <a:r>
              <a:t>      "농업인·전문가"</a:t>
            </a:r>
          </a:p>
          <a:p xmlns:a="http://schemas.openxmlformats.org/drawingml/2006/main">
            <a:r>
              <a:t>    ],</a:t>
            </a:r>
          </a:p>
          <a:p xmlns:a="http://schemas.openxmlformats.org/drawingml/2006/main">
            <a:r>
              <a:t>    "transfers": [</a:t>
            </a:r>
          </a:p>
          <a:p xmlns:a="http://schemas.openxmlformats.org/drawingml/2006/main">
            <a:r>
              <a:t>      "질문·작물·위치",</a:t>
            </a:r>
          </a:p>
          <a:p xmlns:a="http://schemas.openxmlformats.org/drawingml/2006/main">
            <a:r>
              <a:t>      "관련 영농 근거",</a:t>
            </a:r>
          </a:p>
          <a:p xmlns:a="http://schemas.openxmlformats.org/drawingml/2006/main">
            <a:r>
              <a:t>      "상담 답변",</a:t>
            </a:r>
          </a:p>
          <a:p xmlns:a="http://schemas.openxmlformats.org/drawingml/2006/main">
            <a:r>
              <a:t>      "이용자 검증"</a:t>
            </a:r>
          </a:p>
          <a:p xmlns:a="http://schemas.openxmlformats.org/drawingml/2006/main">
            <a:r>
              <a:t>    ],</a:t>
            </a:r>
          </a:p>
          <a:p xmlns:a="http://schemas.openxmlformats.org/drawingml/2006/main">
            <a:r>
              <a:t>    "control": "지역·작물별 정답 및 전문가 전환",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청년농업인 특화 AI 상담 · 공공AI 사례집 44–45쪽 https://bigdata.dongjak.go.kr/board/viewArticle?articleNo=954&amp;boardId=4</a:t>
            </a:r>
          </a:p>
          <a:p xmlns:a="http://schemas.openxmlformats.org/drawingml/2006/main">
            <a:r>
              <a:t>홈페이지 https://heen1987-ops.github.io/TS-business-Plan-001/index.html?view=casebook&amp;case=AX19</a:t>
            </a:r>
          </a:p>
          <a:p xmlns:a="http://schemas.openxmlformats.org/drawingml/2006/main">
            <a:r>
              <a:t>성과 대조</a:t>
            </a:r>
          </a:p>
          <a:p xmlns:a="http://schemas.openxmlformats.org/drawingml/2006/main">
            <a:r>
              <a:t>{</a:t>
            </a:r>
          </a:p>
          <a:p xmlns:a="http://schemas.openxmlformats.org/drawingml/2006/main">
            <a:r>
              <a:t>  "caseId": "AX19",</a:t>
            </a:r>
          </a:p>
          <a:p xmlns:a="http://schemas.openxmlformats.org/drawingml/2006/main">
            <a:r>
              <a:t>  "asIs": "청년농업인이 작물·지역 상황에 맞는 영농 지식을 전문가·분산 자료에서 탐색",</a:t>
            </a:r>
          </a:p>
          <a:p xmlns:a="http://schemas.openxmlformats.org/drawingml/2006/main">
            <a:r>
              <a:t>  "toBe": "농업기술 앱에 위치·작물 맥락을 반영한 AI 상담을 결합",</a:t>
            </a:r>
          </a:p>
          <a:p xmlns:a="http://schemas.openxmlformats.org/drawingml/2006/main">
            <a:r>
              <a:t>  "expectedEffect": "상담 접근성·답변 속도 향상 및 현장 의사결정 지원",</a:t>
            </a:r>
          </a:p>
          <a:p xmlns:a="http://schemas.openxmlformats.org/drawingml/2006/main">
            <a:r>
              <a:t>  "observed": "공공 사례집이 전문가·청년농업인 사전 평가와 2025년 2월 서비스 개시를 소개",</a:t>
            </a:r>
          </a:p>
          <a:p xmlns:a="http://schemas.openxmlformats.org/drawingml/2006/main">
            <a:r>
              <a:t>  "verdict": "성과 미검증",</a:t>
            </a:r>
          </a:p>
          <a:p xmlns:a="http://schemas.openxmlformats.org/drawingml/2006/main">
            <a:r>
              <a:t>  "verdictReason": "사전 평가·서비스 개시만 확인; 실제 이용률·답변 품질·농가 의사결정 효과의 측정 결과 부재",</a:t>
            </a:r>
          </a:p>
          <a:p xmlns:a="http://schemas.openxmlformats.org/drawingml/2006/main">
            <a:r>
              <a:t>  "limits": "공공 사례집 수록 범위. 원 운영기관의 상세 성과 자료 미확인",</a:t>
            </a:r>
          </a:p>
          <a:p xmlns:a="http://schemas.openxmlformats.org/drawingml/2006/main">
            <a:r>
              <a:t>  "evidenceStage": "정부 실증 사례집·서비스 개시",</a:t>
            </a:r>
          </a:p>
          <a:p xmlns:a="http://schemas.openxmlformats.org/drawingml/2006/main">
            <a:r>
              <a:t>  "sourceUrl": "https://bigdata.dongjak.go.kr/board/viewArticle?articleNo=954&amp;boardId=4"</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"AX19",</a:t>
            </a:r>
          </a:p>
          <a:p xmlns:a="http://schemas.openxmlformats.org/drawingml/2006/main">
            <a:r>
              <a:t>    "title": "청년농업인 특화 AI 상담",</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"지역·산업 특화 지식 서비스",</a:t>
            </a:r>
          </a:p>
          <a:p xmlns:a="http://schemas.openxmlformats.org/drawingml/2006/main">
            <a:r>
              <a:t>    "period": "2024 구축 / 2025.02 개시",</a:t>
            </a:r>
          </a:p>
          <a:p xmlns:a="http://schemas.openxmlformats.org/drawingml/2006/main">
            <a:r>
              <a:t>    "sources": [</a:t>
            </a:r>
          </a:p>
          <a:p xmlns:a="http://schemas.openxmlformats.org/drawingml/2006/main">
            <a:r>
              <a:t>      "S-AX19"</a:t>
            </a:r>
          </a:p>
          <a:p xmlns:a="http://schemas.openxmlformats.org/drawingml/2006/main">
            <a:r>
              <a:t>    ],</a:t>
            </a:r>
          </a:p>
          <a:p xmlns:a="http://schemas.openxmlformats.org/drawingml/2006/main">
            <a:r>
              <a:t>    "keywords": [</a:t>
            </a:r>
          </a:p>
          <a:p xmlns:a="http://schemas.openxmlformats.org/drawingml/2006/main">
            <a:r>
              <a:t>      "지역",</a:t>
            </a:r>
          </a:p>
          <a:p xmlns:a="http://schemas.openxmlformats.org/drawingml/2006/main">
            <a:r>
              <a:t>      "산업 특화 지식 서비스"</a:t>
            </a:r>
          </a:p>
          <a:p xmlns:a="http://schemas.openxmlformats.org/drawingml/2006/main">
            <a:r>
              <a:t>    ],</a:t>
            </a:r>
          </a:p>
          <a:p xmlns:a="http://schemas.openxmlformats.org/drawingml/2006/main">
            <a:r>
              <a:t>    "fact": "농업기술 앱에 초거대 AI 상담을 결합하고 전문가·청년농업인 사전 평가 후 서비스 개시",</a:t>
            </a:r>
          </a:p>
          <a:p xmlns:a="http://schemas.openxmlformats.org/drawingml/2006/main">
            <a:r>
              <a:t>    "limit": "기관 실증 사례 수록 · 정착·소득 개선 인과효과 실측과 구분",</a:t>
            </a:r>
          </a:p>
          <a:p xmlns:a="http://schemas.openxmlformats.org/drawingml/2006/main">
            <a:r>
              <a:t>    "flow": [</a:t>
            </a:r>
          </a:p>
          <a:p xmlns:a="http://schemas.openxmlformats.org/drawingml/2006/main">
            <a:r>
              <a:t>      "영농 지식",</a:t>
            </a:r>
          </a:p>
          <a:p xmlns:a="http://schemas.openxmlformats.org/drawingml/2006/main">
            <a:r>
              <a:t>      "위치·작물 맥락",</a:t>
            </a:r>
          </a:p>
          <a:p xmlns:a="http://schemas.openxmlformats.org/drawingml/2006/main">
            <a:r>
              <a:t>      "전문 상담",</a:t>
            </a:r>
          </a:p>
          <a:p xmlns:a="http://schemas.openxmlformats.org/drawingml/2006/main">
            <a:r>
              <a:t>      "현업·이용자 평가"</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"지역·산업 맥락과 전문가 사전 평가",</a:t>
            </a:r>
          </a:p>
          <a:p xmlns:a="http://schemas.openxmlformats.org/drawingml/2006/main">
            <a:r>
              <a:t>    "local": "운수사업자·지역별 안전·지원 업무 지식 구분",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"업종·지역·자격 조건·지원 절차 사전",</a:t>
            </a:r>
          </a:p>
          <a:p xmlns:a="http://schemas.openxmlformats.org/drawingml/2006/main">
            <a:r>
              <a:t>    "test": "업종·지역별 답변 근거와 신청 조건 대조",</a:t>
            </a:r>
          </a:p>
          <a:p xmlns:a="http://schemas.openxmlformats.org/drawingml/2006/main">
            <a:r>
              <a:t>    "metric": "정보 탐색시간 / 조건 오안내율",</a:t>
            </a:r>
          </a:p>
          <a:p xmlns:a="http://schemas.openxmlformats.org/drawingml/2006/main">
            <a:r>
              <a:t>    "strategies": [</a:t>
            </a:r>
          </a:p>
          <a:p xmlns:a="http://schemas.openxmlformats.org/drawingml/2006/main">
            <a:r>
              <a:t>      "ST-09",</a:t>
            </a:r>
          </a:p>
          <a:p xmlns:a="http://schemas.openxmlformats.org/drawingml/2006/main">
            <a:r>
              <a:t>      "ST-08"</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"AX19",</a:t>
            </a:r>
          </a:p>
          <a:p xmlns:a="http://schemas.openxmlformats.org/drawingml/2006/main">
            <a:r>
              <a:t>    "canonicalId": "AX19",</a:t>
            </a:r>
          </a:p>
          <a:p xmlns:a="http://schemas.openxmlformats.org/drawingml/2006/main">
            <a:r>
              <a:t>    "purpose": "농업 전문지식의 현장 상담 연결",</a:t>
            </a:r>
          </a:p>
          <a:p xmlns:a="http://schemas.openxmlformats.org/drawingml/2006/main">
            <a:r>
              <a:t>    "users": "청년농업인·농업 전문가",</a:t>
            </a:r>
          </a:p>
          <a:p xmlns:a="http://schemas.openxmlformats.org/drawingml/2006/main">
            <a:r>
              <a:t>    "scope": [</a:t>
            </a:r>
          </a:p>
          <a:p xmlns:a="http://schemas.openxmlformats.org/drawingml/2006/main">
            <a:r>
              <a:t>      "재배 질의",</a:t>
            </a:r>
          </a:p>
          <a:p xmlns:a="http://schemas.openxmlformats.org/drawingml/2006/main">
            <a:r>
              <a:t>      "전문지식",</a:t>
            </a:r>
          </a:p>
          <a:p xmlns:a="http://schemas.openxmlformats.org/drawingml/2006/main">
            <a:r>
              <a:t>      "사전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"농업기술 앱",</a:t>
            </a:r>
          </a:p>
          <a:p xmlns:a="http://schemas.openxmlformats.org/drawingml/2006/main">
            <a:r>
              <a:t>        "detail": "작물·지역·생육단계·문제 상황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"재배 질의 / 전문지식 / 사전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"맥락 기반 상담",</a:t>
            </a:r>
          </a:p>
          <a:p xmlns:a="http://schemas.openxmlformats.org/drawingml/2006/main">
            <a:r>
              <a:t>        "detail": "질의 관련 농업 지식의 검색·설명",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"농업인·전문가",</a:t>
            </a:r>
          </a:p>
          <a:p xmlns:a="http://schemas.openxmlformats.org/drawingml/2006/main">
            <a:r>
              <a:t>        "detail": "원문 근거 안내와 전문가 확인 경로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"영농 지식",</a:t>
            </a:r>
          </a:p>
          <a:p xmlns:a="http://schemas.openxmlformats.org/drawingml/2006/main">
            <a:r>
              <a:t>        "detail": "기술 문서·상담자료·전문가 평가셋 정비",</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"작물·상황별 오답과 현장 적용성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"영농 지식",</a:t>
            </a:r>
          </a:p>
          <a:p xmlns:a="http://schemas.openxmlformats.org/drawingml/2006/main">
            <a:r>
              <a:t>        "input": "작물·지역·생육단계·문제 상황 확인",</a:t>
            </a:r>
          </a:p>
          <a:p xmlns:a="http://schemas.openxmlformats.org/drawingml/2006/main">
            <a:r>
              <a:t>        "process": "기술 문서·상담자료·전문가 평가셋 정비",</a:t>
            </a:r>
          </a:p>
          <a:p xmlns:a="http://schemas.openxmlformats.org/drawingml/2006/main">
            <a:r>
              <a:t>        "output": "질문·작물·위치"</a:t>
            </a:r>
          </a:p>
          <a:p xmlns:a="http://schemas.openxmlformats.org/drawingml/2006/main">
            <a:r>
              <a:t>      },</a:t>
            </a:r>
          </a:p>
          <a:p xmlns:a="http://schemas.openxmlformats.org/drawingml/2006/main">
            <a:r>
              <a:t>      {</a:t>
            </a:r>
          </a:p>
          <a:p xmlns:a="http://schemas.openxmlformats.org/drawingml/2006/main">
            <a:r>
              <a:t>        "title": "위치·작물 맥락",</a:t>
            </a:r>
          </a:p>
          <a:p xmlns:a="http://schemas.openxmlformats.org/drawingml/2006/main">
            <a:r>
              <a:t>        "input": "질문·작물·위치",</a:t>
            </a:r>
          </a:p>
          <a:p xmlns:a="http://schemas.openxmlformats.org/drawingml/2006/main">
            <a:r>
              <a:t>        "process": "질의 관련 농업 지식의 검색·설명",</a:t>
            </a:r>
          </a:p>
          <a:p xmlns:a="http://schemas.openxmlformats.org/drawingml/2006/main">
            <a:r>
              <a:t>        "output": "관련 영농 근거"</a:t>
            </a:r>
          </a:p>
          <a:p xmlns:a="http://schemas.openxmlformats.org/drawingml/2006/main">
            <a:r>
              <a:t>      },</a:t>
            </a:r>
          </a:p>
          <a:p xmlns:a="http://schemas.openxmlformats.org/drawingml/2006/main">
            <a:r>
              <a:t>      {</a:t>
            </a:r>
          </a:p>
          <a:p xmlns:a="http://schemas.openxmlformats.org/drawingml/2006/main">
            <a:r>
              <a:t>        "title": "전문 상담",</a:t>
            </a:r>
          </a:p>
          <a:p xmlns:a="http://schemas.openxmlformats.org/drawingml/2006/main">
            <a:r>
              <a:t>        "input": "관련 영농 근거",</a:t>
            </a:r>
          </a:p>
          <a:p xmlns:a="http://schemas.openxmlformats.org/drawingml/2006/main">
            <a:r>
              <a:t>        "process": "지역·작물별 정답 및 전문가 전환",</a:t>
            </a:r>
          </a:p>
          <a:p xmlns:a="http://schemas.openxmlformats.org/drawingml/2006/main">
            <a:r>
              <a:t>        "output": "상담 답변"</a:t>
            </a:r>
          </a:p>
          <a:p xmlns:a="http://schemas.openxmlformats.org/drawingml/2006/main">
            <a:r>
              <a:t>      },</a:t>
            </a:r>
          </a:p>
          <a:p xmlns:a="http://schemas.openxmlformats.org/drawingml/2006/main">
            <a:r>
              <a:t>      {</a:t>
            </a:r>
          </a:p>
          <a:p xmlns:a="http://schemas.openxmlformats.org/drawingml/2006/main">
            <a:r>
              <a:t>        "title": "현업·이용자 평가",</a:t>
            </a:r>
          </a:p>
          <a:p xmlns:a="http://schemas.openxmlformats.org/drawingml/2006/main">
            <a:r>
              <a:t>        "input": "상담 답변",</a:t>
            </a:r>
          </a:p>
          <a:p xmlns:a="http://schemas.openxmlformats.org/drawingml/2006/main">
            <a:r>
              <a:t>        "process": "원문 근거 안내와 전문가 확인 경로 제공",</a:t>
            </a:r>
          </a:p>
          <a:p xmlns:a="http://schemas.openxmlformats.org/drawingml/2006/main">
            <a:r>
              <a:t>        "output": "이용자 검증"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"작물·지역·생육단계에 맞는 기술 지식 안내",</a:t>
            </a:r>
          </a:p>
          <a:p xmlns:a="http://schemas.openxmlformats.org/drawingml/2006/main">
            <a:r>
              <a:t>      "exception": "다른 작물 지침·증상 누락·전문가 판단이 필요한 요청",</a:t>
            </a:r>
          </a:p>
          <a:p xmlns:a="http://schemas.openxmlformats.org/drawingml/2006/main">
            <a:r>
              <a:t>      "evidence": "조건별 근거 일치와 전문가 전환 판정표",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"청년농업인·농업 전문가",</a:t>
            </a:r>
          </a:p>
          <a:p xmlns:a="http://schemas.openxmlformats.org/drawingml/2006/main">
            <a:r>
              <a:t>          "processing": "작물·지역·생육단계·문제 상황 확인",</a:t>
            </a:r>
          </a:p>
          <a:p xmlns:a="http://schemas.openxmlformats.org/drawingml/2006/main">
            <a:r>
              <a:t>          "output": "질문·작물·위치"</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"영농 지식",</a:t>
            </a:r>
          </a:p>
          <a:p xmlns:a="http://schemas.openxmlformats.org/drawingml/2006/main">
            <a:r>
              <a:t>          "processing": "기술 문서·상담자료·전문가 평가셋 정비",</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"질문·작물·위치",</a:t>
            </a:r>
          </a:p>
          <a:p xmlns:a="http://schemas.openxmlformats.org/drawingml/2006/main">
            <a:r>
              <a:t>          "processing": "질의 관련 농업 지식의 검색·설명",</a:t>
            </a:r>
          </a:p>
          <a:p xmlns:a="http://schemas.openxmlformats.org/drawingml/2006/main">
            <a:r>
              <a:t>          "output": "상담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"상담 답변",</a:t>
            </a:r>
          </a:p>
          <a:p xmlns:a="http://schemas.openxmlformats.org/drawingml/2006/main">
            <a:r>
              <a:t>          "processing": "원문 근거 안내와 전문가 확인 경로 제공",</a:t>
            </a:r>
          </a:p>
          <a:p xmlns:a="http://schemas.openxmlformats.org/drawingml/2006/main">
            <a:r>
              <a:t>          "output": "이용자 검증"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"작물·상황별 오답과 현장 적용성 검토",</a:t>
            </a:r>
          </a:p>
          <a:p xmlns:a="http://schemas.openxmlformats.org/drawingml/2006/main">
            <a:r>
              <a:t>          "output": "조건별 근거 일치와 전문가 전환 판정표"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"작물·상황별 오답과 현장 적용성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"S-AX19",</a:t>
            </a:r>
          </a:p>
          <a:p xmlns:a="http://schemas.openxmlformats.org/drawingml/2006/main">
            <a:r>
              <a:t>        "title": "청년농업인 특화 AI 상담 · 공공AI 사례집 44–45쪽",</a:t>
            </a:r>
          </a:p>
          <a:p xmlns:a="http://schemas.openxmlformats.org/drawingml/2006/main">
            <a:r>
              <a:t>        "url": "https://bigdata.dongjak.go.kr/board/viewArticle?articleNo=954&amp;boardId=4",</a:t>
            </a:r>
          </a:p>
          <a:p xmlns:a="http://schemas.openxmlformats.org/drawingml/2006/main">
            <a:r>
              <a:t>        "published": "2024 구축 / 2025.02 개시",</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"지역·산업 맥락과 전문가 사전 평가",</a:t>
            </a:r>
          </a:p>
          <a:p xmlns:a="http://schemas.openxmlformats.org/drawingml/2006/main">
            <a:r>
              <a:t>    "local": "운수사업자·지역별 안전·지원 업무 지식 구분",</a:t>
            </a:r>
          </a:p>
          <a:p xmlns:a="http://schemas.openxmlformats.org/drawingml/2006/main">
            <a:r>
              <a:t>    "sourceDetail": null,</a:t>
            </a:r>
          </a:p>
          <a:p xmlns:a="http://schemas.openxmlformats.org/drawingml/2006/main">
            <a:r>
              <a:t>    "narrative": [</a:t>
            </a:r>
          </a:p>
          <a:p xmlns:a="http://schemas.openxmlformats.org/drawingml/2006/main">
            <a:r>
              <a:t>      "농업인이 작물·지역·생육 상황에 맞는 전문지식을 찾도록 지원하는 상담 사례. 범용 질문 답변에 현장 문맥과 전문가 확인을 결합하는 유형.",</a:t>
            </a:r>
          </a:p>
          <a:p xmlns:a="http://schemas.openxmlformats.org/drawingml/2006/main">
            <a:r>
              <a:t>      "입력에서 작물·생육단계·지역·문제 상황을 정리한 뒤 관련 기술자료를 검색하고 원문 근거를 안내하는 구조의 재구성. 정보가 부족하거나 지역 예외가 있는 질문은 추가 확인·전문가 상담으로 연결.",</a:t>
            </a:r>
          </a:p>
          <a:p xmlns:a="http://schemas.openxmlformats.org/drawingml/2006/main">
            <a:r>
              <a:t>      "TS 업무에는 차량·시설·지역·시행일 등 도메인 문맥을 먼저 확보하는 방식으로 현지화. 평균 정답률보다 상황별 오류와 전문가 전환율, 실제 업무에 맞는 안내인지의 검토가 중요."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"영농 질의 접점",</a:t>
            </a:r>
          </a:p>
          <a:p xmlns:a="http://schemas.openxmlformats.org/drawingml/2006/main">
            <a:r>
              <a:t>          "layer": "이용 접점",</a:t>
            </a:r>
          </a:p>
          <a:p xmlns:a="http://schemas.openxmlformats.org/drawingml/2006/main">
            <a:r>
              <a:t>          "detail": "청년농업인·농업 전문가",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"작물·생육단계",</a:t>
            </a:r>
          </a:p>
          <a:p xmlns:a="http://schemas.openxmlformats.org/drawingml/2006/main">
            <a:r>
              <a:t>          "layer": "업무 문맥",</a:t>
            </a:r>
          </a:p>
          <a:p xmlns:a="http://schemas.openxmlformats.org/drawingml/2006/main">
            <a:r>
              <a:t>          "detail": "작물·지역·생육단계·문제 상황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"농업 지식 검색",</a:t>
            </a:r>
          </a:p>
          <a:p xmlns:a="http://schemas.openxmlformats.org/drawingml/2006/main">
            <a:r>
              <a:t>          "layer": "자료 조회",</a:t>
            </a:r>
          </a:p>
          <a:p xmlns:a="http://schemas.openxmlformats.org/drawingml/2006/main">
            <a:r>
              <a:t>          "detail": "질문·작물·위치",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"맥락형 상담 생성",</a:t>
            </a:r>
          </a:p>
          <a:p xmlns:a="http://schemas.openxmlformats.org/drawingml/2006/main">
            <a:r>
              <a:t>          "layer": "핵심 처리",</a:t>
            </a:r>
          </a:p>
          <a:p xmlns:a="http://schemas.openxmlformats.org/drawingml/2006/main">
            <a:r>
              <a:t>          "detail": "질의 관련 농업 지식의 검색·설명",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"지역·상황 대조",</a:t>
            </a:r>
          </a:p>
          <a:p xmlns:a="http://schemas.openxmlformats.org/drawingml/2006/main">
            <a:r>
              <a:t>          "layer": "결과 검증",</a:t>
            </a:r>
          </a:p>
          <a:p xmlns:a="http://schemas.openxmlformats.org/drawingml/2006/main">
            <a:r>
              <a:t>          "detail": "지역·작물별 정답 및 전문가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"전문가 확인",</a:t>
            </a:r>
          </a:p>
          <a:p xmlns:a="http://schemas.openxmlformats.org/drawingml/2006/main">
            <a:r>
              <a:t>          "layer": "사람 확인",</a:t>
            </a:r>
          </a:p>
          <a:p xmlns:a="http://schemas.openxmlformats.org/drawingml/2006/main">
            <a:r>
              <a:t>          "detail": "작물·지역·생육단계에 맞는 기술 지식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"원문·상담 연결",</a:t>
            </a:r>
          </a:p>
          <a:p xmlns:a="http://schemas.openxmlformats.org/drawingml/2006/main">
            <a:r>
              <a:t>          "layer": "업무 연결",</a:t>
            </a:r>
          </a:p>
          <a:p xmlns:a="http://schemas.openxmlformats.org/drawingml/2006/main">
            <a:r>
              <a:t>          "detail": "원문 근거 안내와 전문가 확인 경로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"현장 적합성 평가",</a:t>
            </a:r>
          </a:p>
          <a:p xmlns:a="http://schemas.openxmlformats.org/drawingml/2006/main">
            <a:r>
              <a:t>          "layer": "운영 관측",</a:t>
            </a:r>
          </a:p>
          <a:p xmlns:a="http://schemas.openxmlformats.org/drawingml/2006/main">
            <a:r>
              <a:t>          "detail": "작물·상황별 오답과 현장 적용성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"기술·상담 자료",</a:t>
            </a:r>
          </a:p>
          <a:p xmlns:a="http://schemas.openxmlformats.org/drawingml/2006/main">
            <a:r>
              <a:t>          "layer": "데이터 원천",</a:t>
            </a:r>
          </a:p>
          <a:p xmlns:a="http://schemas.openxmlformats.org/drawingml/2006/main">
            <a:r>
              <a:t>          "detail": "영농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"작물·지역 태깅",</a:t>
            </a:r>
          </a:p>
          <a:p xmlns:a="http://schemas.openxmlformats.org/drawingml/2006/main">
            <a:r>
              <a:t>          "layer": "준비·갱신",</a:t>
            </a:r>
          </a:p>
          <a:p xmlns:a="http://schemas.openxmlformats.org/drawingml/2006/main">
            <a:r>
              <a:t>          "detail": "기술 문서·상담자료·전문가 평가셋 정비",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"문서·평가셋",</a:t>
            </a:r>
          </a:p>
          <a:p xmlns:a="http://schemas.openxmlformats.org/drawingml/2006/main">
            <a:r>
              <a:t>          "layer": "상태·지식 저장",</a:t>
            </a:r>
          </a:p>
          <a:p xmlns:a="http://schemas.openxmlformats.org/drawingml/2006/main">
            <a:r>
              <a:t>          "detail": "조건별 근거 일치와 전문가 전환 판정표",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"전문가 전환 기준",</a:t>
            </a:r>
          </a:p>
          <a:p xmlns:a="http://schemas.openxmlformats.org/drawingml/2006/main">
            <a:r>
              <a:t>          "layer": "권한·정책",</a:t>
            </a:r>
          </a:p>
          <a:p xmlns:a="http://schemas.openxmlformats.org/drawingml/2006/main">
            <a:r>
              <a:t>          "detail": "다른 작물 지침·증상 누락·전문가 판단이 필요한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"영농 지식 → 위치·작물 맥락 → 전문 상담 → 현업·이용자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"영농 지식",</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"작물·지역·생육단계·문제 상황 확인",</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"조건별 근거 일치와 전문가 전환 판정표",</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영농 근거",</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"상담 답변",</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"농업 전문지식의 현장 상담 연결 / 재배 질의·전문지식·사전 평가",</a:t>
            </a:r>
          </a:p>
          <a:p xmlns:a="http://schemas.openxmlformats.org/drawingml/2006/main">
            <a:r>
              <a:t>        "extension": "운수사업자·지역별 안전·지원 업무 지식 구분"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작물 지침·증상 누락·전문가 판단이 필요한 요청",</a:t>
            </a:r>
          </a:p>
          <a:p xmlns:a="http://schemas.openxmlformats.org/drawingml/2006/main">
            <a:r>
              <a:t>        "hold": "지역·작물별 정답 및 전문가 전환",</a:t>
            </a:r>
          </a:p>
          <a:p xmlns:a="http://schemas.openxmlformats.org/drawingml/2006/main">
            <a:r>
              <a:t>        "recovery": "작물·상황별 오답과 현장 적용성 검토",</a:t>
            </a:r>
          </a:p>
          <a:p xmlns:a="http://schemas.openxmlformats.org/drawingml/2006/main">
            <a:r>
              <a:t>        "evidence": "조건별 근거 일치와 전문가 전환 판정표"</a:t>
            </a:r>
          </a:p>
          <a:p xmlns:a="http://schemas.openxmlformats.org/drawingml/2006/main">
            <a:r>
              <a:t>      },</a:t>
            </a:r>
          </a:p>
          <a:p xmlns:a="http://schemas.openxmlformats.org/drawingml/2006/main">
            <a:r>
              <a:t>      "data": {</a:t>
            </a:r>
          </a:p>
          <a:p xmlns:a="http://schemas.openxmlformats.org/drawingml/2006/main">
            <a:r>
              <a:t>        "source": "영농 지식",</a:t>
            </a:r>
          </a:p>
          <a:p xmlns:a="http://schemas.openxmlformats.org/drawingml/2006/main">
            <a:r>
              <a:t>        "prepare": "기술 문서·상담자료·전문가 평가셋 정비",</a:t>
            </a:r>
          </a:p>
          <a:p xmlns:a="http://schemas.openxmlformats.org/drawingml/2006/main">
            <a:r>
              <a:t>        "output": "질문·작물·위치",</a:t>
            </a:r>
          </a:p>
          <a:p xmlns:a="http://schemas.openxmlformats.org/drawingml/2006/main">
            <a:r>
              <a:t>        "refresh": "작물·상황별 오답과 현장 적용성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"AX19",</a:t>
            </a:r>
          </a:p>
          <a:p xmlns:a="http://schemas.openxmlformats.org/drawingml/2006/main">
            <a:r>
              <a:t>    "success": [</a:t>
            </a:r>
          </a:p>
          <a:p xmlns:a="http://schemas.openxmlformats.org/drawingml/2006/main">
            <a:r>
              <a:t>      "작물·위치 맥락의 전문 지식 연결",</a:t>
            </a:r>
          </a:p>
          <a:p xmlns:a="http://schemas.openxmlformats.org/drawingml/2006/main">
            <a:r>
              <a:t>      "전문가·이용자 사전 평가"</a:t>
            </a:r>
          </a:p>
          <a:p xmlns:a="http://schemas.openxmlformats.org/drawingml/2006/main">
            <a:r>
              <a:t>    ],</a:t>
            </a:r>
          </a:p>
          <a:p xmlns:a="http://schemas.openxmlformats.org/drawingml/2006/main">
            <a:r>
              <a:t>    "risks": [</a:t>
            </a:r>
          </a:p>
          <a:p xmlns:a="http://schemas.openxmlformats.org/drawingml/2006/main">
            <a:r>
              <a:t>      "지역·생육환경 예외",</a:t>
            </a:r>
          </a:p>
          <a:p xmlns:a="http://schemas.openxmlformats.org/drawingml/2006/main">
            <a:r>
              <a:t>      "상담 답변과 현장 적합성의 간극"</a:t>
            </a:r>
          </a:p>
          <a:p xmlns:a="http://schemas.openxmlformats.org/drawingml/2006/main">
            <a:r>
              <a:t>    ],</a:t>
            </a:r>
          </a:p>
          <a:p xmlns:a="http://schemas.openxmlformats.org/drawingml/2006/main">
            <a:r>
              <a:t>    "architecture": [</a:t>
            </a:r>
          </a:p>
          <a:p xmlns:a="http://schemas.openxmlformats.org/drawingml/2006/main">
            <a:r>
              <a:t>      "농업기술 앱",</a:t>
            </a:r>
          </a:p>
          <a:p xmlns:a="http://schemas.openxmlformats.org/drawingml/2006/main">
            <a:r>
              <a:t>      "맥락 기반 상담",</a:t>
            </a:r>
          </a:p>
          <a:p xmlns:a="http://schemas.openxmlformats.org/drawingml/2006/main">
            <a:r>
              <a:t>      "영농 지식",</a:t>
            </a:r>
          </a:p>
          <a:p xmlns:a="http://schemas.openxmlformats.org/drawingml/2006/main">
            <a:r>
              <a:t>      "농업인·전문가"</a:t>
            </a:r>
          </a:p>
          <a:p xmlns:a="http://schemas.openxmlformats.org/drawingml/2006/main">
            <a:r>
              <a:t>    ],</a:t>
            </a:r>
          </a:p>
          <a:p xmlns:a="http://schemas.openxmlformats.org/drawingml/2006/main">
            <a:r>
              <a:t>    "transfers": [</a:t>
            </a:r>
          </a:p>
          <a:p xmlns:a="http://schemas.openxmlformats.org/drawingml/2006/main">
            <a:r>
              <a:t>      "질문·작물·위치",</a:t>
            </a:r>
          </a:p>
          <a:p xmlns:a="http://schemas.openxmlformats.org/drawingml/2006/main">
            <a:r>
              <a:t>      "관련 영농 근거",</a:t>
            </a:r>
          </a:p>
          <a:p xmlns:a="http://schemas.openxmlformats.org/drawingml/2006/main">
            <a:r>
              <a:t>      "상담 답변",</a:t>
            </a:r>
          </a:p>
          <a:p xmlns:a="http://schemas.openxmlformats.org/drawingml/2006/main">
            <a:r>
              <a:t>      "이용자 검증"</a:t>
            </a:r>
          </a:p>
          <a:p xmlns:a="http://schemas.openxmlformats.org/drawingml/2006/main">
            <a:r>
              <a:t>    ],</a:t>
            </a:r>
          </a:p>
          <a:p xmlns:a="http://schemas.openxmlformats.org/drawingml/2006/main">
            <a:r>
              <a:t>    "control": "지역·작물별 정답 및 전문가 전환",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청년농업인 특화 AI 상담 · 공공AI 사례집 44–45쪽 https://bigdata.dongjak.go.kr/board/viewArticle?articleNo=954&amp;boardId=4</a:t>
            </a:r>
          </a:p>
          <a:p xmlns:a="http://schemas.openxmlformats.org/drawingml/2006/main">
            <a:r>
              <a:t>홈페이지 https://heen1987-ops.github.io/TS-business-Plan-001/index.html?view=casebook&amp;case=AX19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"AX19",</a:t>
            </a:r>
          </a:p>
          <a:p xmlns:a="http://schemas.openxmlformats.org/drawingml/2006/main">
            <a:r>
              <a:t>    "title": "청년농업인 특화 AI 상담",</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"지역·산업 특화 지식 서비스",</a:t>
            </a:r>
          </a:p>
          <a:p xmlns:a="http://schemas.openxmlformats.org/drawingml/2006/main">
            <a:r>
              <a:t>    "period": "2024 구축 / 2025.02 개시",</a:t>
            </a:r>
          </a:p>
          <a:p xmlns:a="http://schemas.openxmlformats.org/drawingml/2006/main">
            <a:r>
              <a:t>    "sources": [</a:t>
            </a:r>
          </a:p>
          <a:p xmlns:a="http://schemas.openxmlformats.org/drawingml/2006/main">
            <a:r>
              <a:t>      "S-AX19"</a:t>
            </a:r>
          </a:p>
          <a:p xmlns:a="http://schemas.openxmlformats.org/drawingml/2006/main">
            <a:r>
              <a:t>    ],</a:t>
            </a:r>
          </a:p>
          <a:p xmlns:a="http://schemas.openxmlformats.org/drawingml/2006/main">
            <a:r>
              <a:t>    "keywords": [</a:t>
            </a:r>
          </a:p>
          <a:p xmlns:a="http://schemas.openxmlformats.org/drawingml/2006/main">
            <a:r>
              <a:t>      "지역",</a:t>
            </a:r>
          </a:p>
          <a:p xmlns:a="http://schemas.openxmlformats.org/drawingml/2006/main">
            <a:r>
              <a:t>      "산업 특화 지식 서비스"</a:t>
            </a:r>
          </a:p>
          <a:p xmlns:a="http://schemas.openxmlformats.org/drawingml/2006/main">
            <a:r>
              <a:t>    ],</a:t>
            </a:r>
          </a:p>
          <a:p xmlns:a="http://schemas.openxmlformats.org/drawingml/2006/main">
            <a:r>
              <a:t>    "fact": "농업기술 앱에 초거대 AI 상담을 결합하고 전문가·청년농업인 사전 평가 후 서비스 개시",</a:t>
            </a:r>
          </a:p>
          <a:p xmlns:a="http://schemas.openxmlformats.org/drawingml/2006/main">
            <a:r>
              <a:t>    "limit": "기관 실증 사례 수록 · 정착·소득 개선 인과효과 실측과 구분",</a:t>
            </a:r>
          </a:p>
          <a:p xmlns:a="http://schemas.openxmlformats.org/drawingml/2006/main">
            <a:r>
              <a:t>    "flow": [</a:t>
            </a:r>
          </a:p>
          <a:p xmlns:a="http://schemas.openxmlformats.org/drawingml/2006/main">
            <a:r>
              <a:t>      "영농 지식",</a:t>
            </a:r>
          </a:p>
          <a:p xmlns:a="http://schemas.openxmlformats.org/drawingml/2006/main">
            <a:r>
              <a:t>      "위치·작물 맥락",</a:t>
            </a:r>
          </a:p>
          <a:p xmlns:a="http://schemas.openxmlformats.org/drawingml/2006/main">
            <a:r>
              <a:t>      "전문 상담",</a:t>
            </a:r>
          </a:p>
          <a:p xmlns:a="http://schemas.openxmlformats.org/drawingml/2006/main">
            <a:r>
              <a:t>      "현업·이용자 평가"</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"지역·산업 맥락과 전문가 사전 평가",</a:t>
            </a:r>
          </a:p>
          <a:p xmlns:a="http://schemas.openxmlformats.org/drawingml/2006/main">
            <a:r>
              <a:t>    "local": "운수사업자·지역별 안전·지원 업무 지식 구분",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"업종·지역·자격 조건·지원 절차 사전",</a:t>
            </a:r>
          </a:p>
          <a:p xmlns:a="http://schemas.openxmlformats.org/drawingml/2006/main">
            <a:r>
              <a:t>    "test": "업종·지역별 답변 근거와 신청 조건 대조",</a:t>
            </a:r>
          </a:p>
          <a:p xmlns:a="http://schemas.openxmlformats.org/drawingml/2006/main">
            <a:r>
              <a:t>    "metric": "정보 탐색시간 / 조건 오안내율",</a:t>
            </a:r>
          </a:p>
          <a:p xmlns:a="http://schemas.openxmlformats.org/drawingml/2006/main">
            <a:r>
              <a:t>    "strategies": [</a:t>
            </a:r>
          </a:p>
          <a:p xmlns:a="http://schemas.openxmlformats.org/drawingml/2006/main">
            <a:r>
              <a:t>      "ST-09",</a:t>
            </a:r>
          </a:p>
          <a:p xmlns:a="http://schemas.openxmlformats.org/drawingml/2006/main">
            <a:r>
              <a:t>      "ST-08"</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"AX19",</a:t>
            </a:r>
          </a:p>
          <a:p xmlns:a="http://schemas.openxmlformats.org/drawingml/2006/main">
            <a:r>
              <a:t>    "canonicalId": "AX19",</a:t>
            </a:r>
          </a:p>
          <a:p xmlns:a="http://schemas.openxmlformats.org/drawingml/2006/main">
            <a:r>
              <a:t>    "purpose": "농업 전문지식의 현장 상담 연결",</a:t>
            </a:r>
          </a:p>
          <a:p xmlns:a="http://schemas.openxmlformats.org/drawingml/2006/main">
            <a:r>
              <a:t>    "users": "청년농업인·농업 전문가",</a:t>
            </a:r>
          </a:p>
          <a:p xmlns:a="http://schemas.openxmlformats.org/drawingml/2006/main">
            <a:r>
              <a:t>    "scope": [</a:t>
            </a:r>
          </a:p>
          <a:p xmlns:a="http://schemas.openxmlformats.org/drawingml/2006/main">
            <a:r>
              <a:t>      "재배 질의",</a:t>
            </a:r>
          </a:p>
          <a:p xmlns:a="http://schemas.openxmlformats.org/drawingml/2006/main">
            <a:r>
              <a:t>      "전문지식",</a:t>
            </a:r>
          </a:p>
          <a:p xmlns:a="http://schemas.openxmlformats.org/drawingml/2006/main">
            <a:r>
              <a:t>      "사전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"농업기술 앱",</a:t>
            </a:r>
          </a:p>
          <a:p xmlns:a="http://schemas.openxmlformats.org/drawingml/2006/main">
            <a:r>
              <a:t>        "detail": "작물·지역·생육단계·문제 상황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"재배 질의 / 전문지식 / 사전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"맥락 기반 상담",</a:t>
            </a:r>
          </a:p>
          <a:p xmlns:a="http://schemas.openxmlformats.org/drawingml/2006/main">
            <a:r>
              <a:t>        "detail": "질의 관련 농업 지식의 검색·설명",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"농업인·전문가",</a:t>
            </a:r>
          </a:p>
          <a:p xmlns:a="http://schemas.openxmlformats.org/drawingml/2006/main">
            <a:r>
              <a:t>        "detail": "원문 근거 안내와 전문가 확인 경로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"영농 지식",</a:t>
            </a:r>
          </a:p>
          <a:p xmlns:a="http://schemas.openxmlformats.org/drawingml/2006/main">
            <a:r>
              <a:t>        "detail": "기술 문서·상담자료·전문가 평가셋 정비",</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"작물·상황별 오답과 현장 적용성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"영농 지식",</a:t>
            </a:r>
          </a:p>
          <a:p xmlns:a="http://schemas.openxmlformats.org/drawingml/2006/main">
            <a:r>
              <a:t>        "input": "작물·지역·생육단계·문제 상황 확인",</a:t>
            </a:r>
          </a:p>
          <a:p xmlns:a="http://schemas.openxmlformats.org/drawingml/2006/main">
            <a:r>
              <a:t>        "process": "기술 문서·상담자료·전문가 평가셋 정비",</a:t>
            </a:r>
          </a:p>
          <a:p xmlns:a="http://schemas.openxmlformats.org/drawingml/2006/main">
            <a:r>
              <a:t>        "output": "질문·작물·위치"</a:t>
            </a:r>
          </a:p>
          <a:p xmlns:a="http://schemas.openxmlformats.org/drawingml/2006/main">
            <a:r>
              <a:t>      },</a:t>
            </a:r>
          </a:p>
          <a:p xmlns:a="http://schemas.openxmlformats.org/drawingml/2006/main">
            <a:r>
              <a:t>      {</a:t>
            </a:r>
          </a:p>
          <a:p xmlns:a="http://schemas.openxmlformats.org/drawingml/2006/main">
            <a:r>
              <a:t>        "title": "위치·작물 맥락",</a:t>
            </a:r>
          </a:p>
          <a:p xmlns:a="http://schemas.openxmlformats.org/drawingml/2006/main">
            <a:r>
              <a:t>        "input": "질문·작물·위치",</a:t>
            </a:r>
          </a:p>
          <a:p xmlns:a="http://schemas.openxmlformats.org/drawingml/2006/main">
            <a:r>
              <a:t>        "process": "질의 관련 농업 지식의 검색·설명",</a:t>
            </a:r>
          </a:p>
          <a:p xmlns:a="http://schemas.openxmlformats.org/drawingml/2006/main">
            <a:r>
              <a:t>        "output": "관련 영농 근거"</a:t>
            </a:r>
          </a:p>
          <a:p xmlns:a="http://schemas.openxmlformats.org/drawingml/2006/main">
            <a:r>
              <a:t>      },</a:t>
            </a:r>
          </a:p>
          <a:p xmlns:a="http://schemas.openxmlformats.org/drawingml/2006/main">
            <a:r>
              <a:t>      {</a:t>
            </a:r>
          </a:p>
          <a:p xmlns:a="http://schemas.openxmlformats.org/drawingml/2006/main">
            <a:r>
              <a:t>        "title": "전문 상담",</a:t>
            </a:r>
          </a:p>
          <a:p xmlns:a="http://schemas.openxmlformats.org/drawingml/2006/main">
            <a:r>
              <a:t>        "input": "관련 영농 근거",</a:t>
            </a:r>
          </a:p>
          <a:p xmlns:a="http://schemas.openxmlformats.org/drawingml/2006/main">
            <a:r>
              <a:t>        "process": "지역·작물별 정답 및 전문가 전환",</a:t>
            </a:r>
          </a:p>
          <a:p xmlns:a="http://schemas.openxmlformats.org/drawingml/2006/main">
            <a:r>
              <a:t>        "output": "상담 답변"</a:t>
            </a:r>
          </a:p>
          <a:p xmlns:a="http://schemas.openxmlformats.org/drawingml/2006/main">
            <a:r>
              <a:t>      },</a:t>
            </a:r>
          </a:p>
          <a:p xmlns:a="http://schemas.openxmlformats.org/drawingml/2006/main">
            <a:r>
              <a:t>      {</a:t>
            </a:r>
          </a:p>
          <a:p xmlns:a="http://schemas.openxmlformats.org/drawingml/2006/main">
            <a:r>
              <a:t>        "title": "현업·이용자 평가",</a:t>
            </a:r>
          </a:p>
          <a:p xmlns:a="http://schemas.openxmlformats.org/drawingml/2006/main">
            <a:r>
              <a:t>        "input": "상담 답변",</a:t>
            </a:r>
          </a:p>
          <a:p xmlns:a="http://schemas.openxmlformats.org/drawingml/2006/main">
            <a:r>
              <a:t>        "process": "원문 근거 안내와 전문가 확인 경로 제공",</a:t>
            </a:r>
          </a:p>
          <a:p xmlns:a="http://schemas.openxmlformats.org/drawingml/2006/main">
            <a:r>
              <a:t>        "output": "이용자 검증"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"작물·지역·생육단계에 맞는 기술 지식 안내",</a:t>
            </a:r>
          </a:p>
          <a:p xmlns:a="http://schemas.openxmlformats.org/drawingml/2006/main">
            <a:r>
              <a:t>      "exception": "다른 작물 지침·증상 누락·전문가 판단이 필요한 요청",</a:t>
            </a:r>
          </a:p>
          <a:p xmlns:a="http://schemas.openxmlformats.org/drawingml/2006/main">
            <a:r>
              <a:t>      "evidence": "조건별 근거 일치와 전문가 전환 판정표",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"청년농업인·농업 전문가",</a:t>
            </a:r>
          </a:p>
          <a:p xmlns:a="http://schemas.openxmlformats.org/drawingml/2006/main">
            <a:r>
              <a:t>          "processing": "작물·지역·생육단계·문제 상황 확인",</a:t>
            </a:r>
          </a:p>
          <a:p xmlns:a="http://schemas.openxmlformats.org/drawingml/2006/main">
            <a:r>
              <a:t>          "output": "질문·작물·위치"</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"영농 지식",</a:t>
            </a:r>
          </a:p>
          <a:p xmlns:a="http://schemas.openxmlformats.org/drawingml/2006/main">
            <a:r>
              <a:t>          "processing": "기술 문서·상담자료·전문가 평가셋 정비",</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"질문·작물·위치",</a:t>
            </a:r>
          </a:p>
          <a:p xmlns:a="http://schemas.openxmlformats.org/drawingml/2006/main">
            <a:r>
              <a:t>          "processing": "질의 관련 농업 지식의 검색·설명",</a:t>
            </a:r>
          </a:p>
          <a:p xmlns:a="http://schemas.openxmlformats.org/drawingml/2006/main">
            <a:r>
              <a:t>          "output": "상담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"상담 답변",</a:t>
            </a:r>
          </a:p>
          <a:p xmlns:a="http://schemas.openxmlformats.org/drawingml/2006/main">
            <a:r>
              <a:t>          "processing": "원문 근거 안내와 전문가 확인 경로 제공",</a:t>
            </a:r>
          </a:p>
          <a:p xmlns:a="http://schemas.openxmlformats.org/drawingml/2006/main">
            <a:r>
              <a:t>          "output": "이용자 검증"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"작물·상황별 오답과 현장 적용성 검토",</a:t>
            </a:r>
          </a:p>
          <a:p xmlns:a="http://schemas.openxmlformats.org/drawingml/2006/main">
            <a:r>
              <a:t>          "output": "조건별 근거 일치와 전문가 전환 판정표"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"작물·상황별 오답과 현장 적용성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"S-AX19",</a:t>
            </a:r>
          </a:p>
          <a:p xmlns:a="http://schemas.openxmlformats.org/drawingml/2006/main">
            <a:r>
              <a:t>        "title": "청년농업인 특화 AI 상담 · 공공AI 사례집 44–45쪽",</a:t>
            </a:r>
          </a:p>
          <a:p xmlns:a="http://schemas.openxmlformats.org/drawingml/2006/main">
            <a:r>
              <a:t>        "url": "https://bigdata.dongjak.go.kr/board/viewArticle?articleNo=954&amp;boardId=4",</a:t>
            </a:r>
          </a:p>
          <a:p xmlns:a="http://schemas.openxmlformats.org/drawingml/2006/main">
            <a:r>
              <a:t>        "published": "2024 구축 / 2025.02 개시",</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"지역·산업 맥락과 전문가 사전 평가",</a:t>
            </a:r>
          </a:p>
          <a:p xmlns:a="http://schemas.openxmlformats.org/drawingml/2006/main">
            <a:r>
              <a:t>    "local": "운수사업자·지역별 안전·지원 업무 지식 구분",</a:t>
            </a:r>
          </a:p>
          <a:p xmlns:a="http://schemas.openxmlformats.org/drawingml/2006/main">
            <a:r>
              <a:t>    "sourceDetail": null,</a:t>
            </a:r>
          </a:p>
          <a:p xmlns:a="http://schemas.openxmlformats.org/drawingml/2006/main">
            <a:r>
              <a:t>    "narrative": [</a:t>
            </a:r>
          </a:p>
          <a:p xmlns:a="http://schemas.openxmlformats.org/drawingml/2006/main">
            <a:r>
              <a:t>      "농업인이 작물·지역·생육 상황에 맞는 전문지식을 찾도록 지원하는 상담 사례. 범용 질문 답변에 현장 문맥과 전문가 확인을 결합하는 유형.",</a:t>
            </a:r>
          </a:p>
          <a:p xmlns:a="http://schemas.openxmlformats.org/drawingml/2006/main">
            <a:r>
              <a:t>      "입력에서 작물·생육단계·지역·문제 상황을 정리한 뒤 관련 기술자료를 검색하고 원문 근거를 안내하는 구조의 재구성. 정보가 부족하거나 지역 예외가 있는 질문은 추가 확인·전문가 상담으로 연결.",</a:t>
            </a:r>
          </a:p>
          <a:p xmlns:a="http://schemas.openxmlformats.org/drawingml/2006/main">
            <a:r>
              <a:t>      "TS 업무에는 차량·시설·지역·시행일 등 도메인 문맥을 먼저 확보하는 방식으로 현지화. 평균 정답률보다 상황별 오류와 전문가 전환율, 실제 업무에 맞는 안내인지의 검토가 중요."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"영농 질의 접점",</a:t>
            </a:r>
          </a:p>
          <a:p xmlns:a="http://schemas.openxmlformats.org/drawingml/2006/main">
            <a:r>
              <a:t>          "layer": "이용 접점",</a:t>
            </a:r>
          </a:p>
          <a:p xmlns:a="http://schemas.openxmlformats.org/drawingml/2006/main">
            <a:r>
              <a:t>          "detail": "청년농업인·농업 전문가",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"작물·생육단계",</a:t>
            </a:r>
          </a:p>
          <a:p xmlns:a="http://schemas.openxmlformats.org/drawingml/2006/main">
            <a:r>
              <a:t>          "layer": "업무 문맥",</a:t>
            </a:r>
          </a:p>
          <a:p xmlns:a="http://schemas.openxmlformats.org/drawingml/2006/main">
            <a:r>
              <a:t>          "detail": "작물·지역·생육단계·문제 상황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"농업 지식 검색",</a:t>
            </a:r>
          </a:p>
          <a:p xmlns:a="http://schemas.openxmlformats.org/drawingml/2006/main">
            <a:r>
              <a:t>          "layer": "자료 조회",</a:t>
            </a:r>
          </a:p>
          <a:p xmlns:a="http://schemas.openxmlformats.org/drawingml/2006/main">
            <a:r>
              <a:t>          "detail": "질문·작물·위치",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"맥락형 상담 생성",</a:t>
            </a:r>
          </a:p>
          <a:p xmlns:a="http://schemas.openxmlformats.org/drawingml/2006/main">
            <a:r>
              <a:t>          "layer": "핵심 처리",</a:t>
            </a:r>
          </a:p>
          <a:p xmlns:a="http://schemas.openxmlformats.org/drawingml/2006/main">
            <a:r>
              <a:t>          "detail": "질의 관련 농업 지식의 검색·설명",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"지역·상황 대조",</a:t>
            </a:r>
          </a:p>
          <a:p xmlns:a="http://schemas.openxmlformats.org/drawingml/2006/main">
            <a:r>
              <a:t>          "layer": "결과 검증",</a:t>
            </a:r>
          </a:p>
          <a:p xmlns:a="http://schemas.openxmlformats.org/drawingml/2006/main">
            <a:r>
              <a:t>          "detail": "지역·작물별 정답 및 전문가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"전문가 확인",</a:t>
            </a:r>
          </a:p>
          <a:p xmlns:a="http://schemas.openxmlformats.org/drawingml/2006/main">
            <a:r>
              <a:t>          "layer": "사람 확인",</a:t>
            </a:r>
          </a:p>
          <a:p xmlns:a="http://schemas.openxmlformats.org/drawingml/2006/main">
            <a:r>
              <a:t>          "detail": "작물·지역·생육단계에 맞는 기술 지식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"원문·상담 연결",</a:t>
            </a:r>
          </a:p>
          <a:p xmlns:a="http://schemas.openxmlformats.org/drawingml/2006/main">
            <a:r>
              <a:t>          "layer": "업무 연결",</a:t>
            </a:r>
          </a:p>
          <a:p xmlns:a="http://schemas.openxmlformats.org/drawingml/2006/main">
            <a:r>
              <a:t>          "detail": "원문 근거 안내와 전문가 확인 경로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"현장 적합성 평가",</a:t>
            </a:r>
          </a:p>
          <a:p xmlns:a="http://schemas.openxmlformats.org/drawingml/2006/main">
            <a:r>
              <a:t>          "layer": "운영 관측",</a:t>
            </a:r>
          </a:p>
          <a:p xmlns:a="http://schemas.openxmlformats.org/drawingml/2006/main">
            <a:r>
              <a:t>          "detail": "작물·상황별 오답과 현장 적용성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"기술·상담 자료",</a:t>
            </a:r>
          </a:p>
          <a:p xmlns:a="http://schemas.openxmlformats.org/drawingml/2006/main">
            <a:r>
              <a:t>          "layer": "데이터 원천",</a:t>
            </a:r>
          </a:p>
          <a:p xmlns:a="http://schemas.openxmlformats.org/drawingml/2006/main">
            <a:r>
              <a:t>          "detail": "영농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"작물·지역 태깅",</a:t>
            </a:r>
          </a:p>
          <a:p xmlns:a="http://schemas.openxmlformats.org/drawingml/2006/main">
            <a:r>
              <a:t>          "layer": "준비·갱신",</a:t>
            </a:r>
          </a:p>
          <a:p xmlns:a="http://schemas.openxmlformats.org/drawingml/2006/main">
            <a:r>
              <a:t>          "detail": "기술 문서·상담자료·전문가 평가셋 정비",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"문서·평가셋",</a:t>
            </a:r>
          </a:p>
          <a:p xmlns:a="http://schemas.openxmlformats.org/drawingml/2006/main">
            <a:r>
              <a:t>          "layer": "상태·지식 저장",</a:t>
            </a:r>
          </a:p>
          <a:p xmlns:a="http://schemas.openxmlformats.org/drawingml/2006/main">
            <a:r>
              <a:t>          "detail": "조건별 근거 일치와 전문가 전환 판정표",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"전문가 전환 기준",</a:t>
            </a:r>
          </a:p>
          <a:p xmlns:a="http://schemas.openxmlformats.org/drawingml/2006/main">
            <a:r>
              <a:t>          "layer": "권한·정책",</a:t>
            </a:r>
          </a:p>
          <a:p xmlns:a="http://schemas.openxmlformats.org/drawingml/2006/main">
            <a:r>
              <a:t>          "detail": "다른 작물 지침·증상 누락·전문가 판단이 필요한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"영농 지식 → 위치·작물 맥락 → 전문 상담 → 현업·이용자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"영농 지식",</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"작물·지역·생육단계·문제 상황 확인",</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"조건별 근거 일치와 전문가 전환 판정표",</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영농 근거",</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"상담 답변",</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"농업 전문지식의 현장 상담 연결 / 재배 질의·전문지식·사전 평가",</a:t>
            </a:r>
          </a:p>
          <a:p xmlns:a="http://schemas.openxmlformats.org/drawingml/2006/main">
            <a:r>
              <a:t>        "extension": "운수사업자·지역별 안전·지원 업무 지식 구분"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작물 지침·증상 누락·전문가 판단이 필요한 요청",</a:t>
            </a:r>
          </a:p>
          <a:p xmlns:a="http://schemas.openxmlformats.org/drawingml/2006/main">
            <a:r>
              <a:t>        "hold": "지역·작물별 정답 및 전문가 전환",</a:t>
            </a:r>
          </a:p>
          <a:p xmlns:a="http://schemas.openxmlformats.org/drawingml/2006/main">
            <a:r>
              <a:t>        "recovery": "작물·상황별 오답과 현장 적용성 검토",</a:t>
            </a:r>
          </a:p>
          <a:p xmlns:a="http://schemas.openxmlformats.org/drawingml/2006/main">
            <a:r>
              <a:t>        "evidence": "조건별 근거 일치와 전문가 전환 판정표"</a:t>
            </a:r>
          </a:p>
          <a:p xmlns:a="http://schemas.openxmlformats.org/drawingml/2006/main">
            <a:r>
              <a:t>      },</a:t>
            </a:r>
          </a:p>
          <a:p xmlns:a="http://schemas.openxmlformats.org/drawingml/2006/main">
            <a:r>
              <a:t>      "data": {</a:t>
            </a:r>
          </a:p>
          <a:p xmlns:a="http://schemas.openxmlformats.org/drawingml/2006/main">
            <a:r>
              <a:t>        "source": "영농 지식",</a:t>
            </a:r>
          </a:p>
          <a:p xmlns:a="http://schemas.openxmlformats.org/drawingml/2006/main">
            <a:r>
              <a:t>        "prepare": "기술 문서·상담자료·전문가 평가셋 정비",</a:t>
            </a:r>
          </a:p>
          <a:p xmlns:a="http://schemas.openxmlformats.org/drawingml/2006/main">
            <a:r>
              <a:t>        "output": "질문·작물·위치",</a:t>
            </a:r>
          </a:p>
          <a:p xmlns:a="http://schemas.openxmlformats.org/drawingml/2006/main">
            <a:r>
              <a:t>        "refresh": "작물·상황별 오답과 현장 적용성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"AX19",</a:t>
            </a:r>
          </a:p>
          <a:p xmlns:a="http://schemas.openxmlformats.org/drawingml/2006/main">
            <a:r>
              <a:t>    "success": [</a:t>
            </a:r>
          </a:p>
          <a:p xmlns:a="http://schemas.openxmlformats.org/drawingml/2006/main">
            <a:r>
              <a:t>      "작물·위치 맥락의 전문 지식 연결",</a:t>
            </a:r>
          </a:p>
          <a:p xmlns:a="http://schemas.openxmlformats.org/drawingml/2006/main">
            <a:r>
              <a:t>      "전문가·이용자 사전 평가"</a:t>
            </a:r>
          </a:p>
          <a:p xmlns:a="http://schemas.openxmlformats.org/drawingml/2006/main">
            <a:r>
              <a:t>    ],</a:t>
            </a:r>
          </a:p>
          <a:p xmlns:a="http://schemas.openxmlformats.org/drawingml/2006/main">
            <a:r>
              <a:t>    "risks": [</a:t>
            </a:r>
          </a:p>
          <a:p xmlns:a="http://schemas.openxmlformats.org/drawingml/2006/main">
            <a:r>
              <a:t>      "지역·생육환경 예외",</a:t>
            </a:r>
          </a:p>
          <a:p xmlns:a="http://schemas.openxmlformats.org/drawingml/2006/main">
            <a:r>
              <a:t>      "상담 답변과 현장 적합성의 간극"</a:t>
            </a:r>
          </a:p>
          <a:p xmlns:a="http://schemas.openxmlformats.org/drawingml/2006/main">
            <a:r>
              <a:t>    ],</a:t>
            </a:r>
          </a:p>
          <a:p xmlns:a="http://schemas.openxmlformats.org/drawingml/2006/main">
            <a:r>
              <a:t>    "architecture": [</a:t>
            </a:r>
          </a:p>
          <a:p xmlns:a="http://schemas.openxmlformats.org/drawingml/2006/main">
            <a:r>
              <a:t>      "농업기술 앱",</a:t>
            </a:r>
          </a:p>
          <a:p xmlns:a="http://schemas.openxmlformats.org/drawingml/2006/main">
            <a:r>
              <a:t>      "맥락 기반 상담",</a:t>
            </a:r>
          </a:p>
          <a:p xmlns:a="http://schemas.openxmlformats.org/drawingml/2006/main">
            <a:r>
              <a:t>      "영농 지식",</a:t>
            </a:r>
          </a:p>
          <a:p xmlns:a="http://schemas.openxmlformats.org/drawingml/2006/main">
            <a:r>
              <a:t>      "농업인·전문가"</a:t>
            </a:r>
          </a:p>
          <a:p xmlns:a="http://schemas.openxmlformats.org/drawingml/2006/main">
            <a:r>
              <a:t>    ],</a:t>
            </a:r>
          </a:p>
          <a:p xmlns:a="http://schemas.openxmlformats.org/drawingml/2006/main">
            <a:r>
              <a:t>    "transfers": [</a:t>
            </a:r>
          </a:p>
          <a:p xmlns:a="http://schemas.openxmlformats.org/drawingml/2006/main">
            <a:r>
              <a:t>      "질문·작물·위치",</a:t>
            </a:r>
          </a:p>
          <a:p xmlns:a="http://schemas.openxmlformats.org/drawingml/2006/main">
            <a:r>
              <a:t>      "관련 영농 근거",</a:t>
            </a:r>
          </a:p>
          <a:p xmlns:a="http://schemas.openxmlformats.org/drawingml/2006/main">
            <a:r>
              <a:t>      "상담 답변",</a:t>
            </a:r>
          </a:p>
          <a:p xmlns:a="http://schemas.openxmlformats.org/drawingml/2006/main">
            <a:r>
              <a:t>      "이용자 검증"</a:t>
            </a:r>
          </a:p>
          <a:p xmlns:a="http://schemas.openxmlformats.org/drawingml/2006/main">
            <a:r>
              <a:t>    ],</a:t>
            </a:r>
          </a:p>
          <a:p xmlns:a="http://schemas.openxmlformats.org/drawingml/2006/main">
            <a:r>
              <a:t>    "control": "지역·작물별 정답 및 전문가 전환",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청년농업인 특화 AI 상담 · 공공AI 사례집 44–45쪽 https://bigdata.dongjak.go.kr/board/viewArticle?articleNo=954&amp;boardId=4</a:t>
            </a:r>
          </a:p>
          <a:p xmlns:a="http://schemas.openxmlformats.org/drawingml/2006/main">
            <a:r>
              <a:t>홈페이지 https://heen1987-ops.github.io/TS-business-Plan-001/index.html?view=casebook&amp;case=AX19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"AX19",</a:t>
            </a:r>
          </a:p>
          <a:p xmlns:a="http://schemas.openxmlformats.org/drawingml/2006/main">
            <a:r>
              <a:t>    "title": "청년농업인 특화 AI 상담",</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"지역·산업 특화 지식 서비스",</a:t>
            </a:r>
          </a:p>
          <a:p xmlns:a="http://schemas.openxmlformats.org/drawingml/2006/main">
            <a:r>
              <a:t>    "period": "2024 구축 / 2025.02 개시",</a:t>
            </a:r>
          </a:p>
          <a:p xmlns:a="http://schemas.openxmlformats.org/drawingml/2006/main">
            <a:r>
              <a:t>    "sources": [</a:t>
            </a:r>
          </a:p>
          <a:p xmlns:a="http://schemas.openxmlformats.org/drawingml/2006/main">
            <a:r>
              <a:t>      "S-AX19"</a:t>
            </a:r>
          </a:p>
          <a:p xmlns:a="http://schemas.openxmlformats.org/drawingml/2006/main">
            <a:r>
              <a:t>    ],</a:t>
            </a:r>
          </a:p>
          <a:p xmlns:a="http://schemas.openxmlformats.org/drawingml/2006/main">
            <a:r>
              <a:t>    "keywords": [</a:t>
            </a:r>
          </a:p>
          <a:p xmlns:a="http://schemas.openxmlformats.org/drawingml/2006/main">
            <a:r>
              <a:t>      "지역",</a:t>
            </a:r>
          </a:p>
          <a:p xmlns:a="http://schemas.openxmlformats.org/drawingml/2006/main">
            <a:r>
              <a:t>      "산업 특화 지식 서비스"</a:t>
            </a:r>
          </a:p>
          <a:p xmlns:a="http://schemas.openxmlformats.org/drawingml/2006/main">
            <a:r>
              <a:t>    ],</a:t>
            </a:r>
          </a:p>
          <a:p xmlns:a="http://schemas.openxmlformats.org/drawingml/2006/main">
            <a:r>
              <a:t>    "fact": "농업기술 앱에 초거대 AI 상담을 결합하고 전문가·청년농업인 사전 평가 후 서비스 개시",</a:t>
            </a:r>
          </a:p>
          <a:p xmlns:a="http://schemas.openxmlformats.org/drawingml/2006/main">
            <a:r>
              <a:t>    "limit": "기관 실증 사례 수록 · 정착·소득 개선 인과효과 실측과 구분",</a:t>
            </a:r>
          </a:p>
          <a:p xmlns:a="http://schemas.openxmlformats.org/drawingml/2006/main">
            <a:r>
              <a:t>    "flow": [</a:t>
            </a:r>
          </a:p>
          <a:p xmlns:a="http://schemas.openxmlformats.org/drawingml/2006/main">
            <a:r>
              <a:t>      "영농 지식",</a:t>
            </a:r>
          </a:p>
          <a:p xmlns:a="http://schemas.openxmlformats.org/drawingml/2006/main">
            <a:r>
              <a:t>      "위치·작물 맥락",</a:t>
            </a:r>
          </a:p>
          <a:p xmlns:a="http://schemas.openxmlformats.org/drawingml/2006/main">
            <a:r>
              <a:t>      "전문 상담",</a:t>
            </a:r>
          </a:p>
          <a:p xmlns:a="http://schemas.openxmlformats.org/drawingml/2006/main">
            <a:r>
              <a:t>      "현업·이용자 평가"</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"지역·산업 맥락과 전문가 사전 평가",</a:t>
            </a:r>
          </a:p>
          <a:p xmlns:a="http://schemas.openxmlformats.org/drawingml/2006/main">
            <a:r>
              <a:t>    "local": "운수사업자·지역별 안전·지원 업무 지식 구분",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"업종·지역·자격 조건·지원 절차 사전",</a:t>
            </a:r>
          </a:p>
          <a:p xmlns:a="http://schemas.openxmlformats.org/drawingml/2006/main">
            <a:r>
              <a:t>    "test": "업종·지역별 답변 근거와 신청 조건 대조",</a:t>
            </a:r>
          </a:p>
          <a:p xmlns:a="http://schemas.openxmlformats.org/drawingml/2006/main">
            <a:r>
              <a:t>    "metric": "정보 탐색시간 / 조건 오안내율",</a:t>
            </a:r>
          </a:p>
          <a:p xmlns:a="http://schemas.openxmlformats.org/drawingml/2006/main">
            <a:r>
              <a:t>    "strategies": [</a:t>
            </a:r>
          </a:p>
          <a:p xmlns:a="http://schemas.openxmlformats.org/drawingml/2006/main">
            <a:r>
              <a:t>      "ST-09",</a:t>
            </a:r>
          </a:p>
          <a:p xmlns:a="http://schemas.openxmlformats.org/drawingml/2006/main">
            <a:r>
              <a:t>      "ST-08"</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"AX19",</a:t>
            </a:r>
          </a:p>
          <a:p xmlns:a="http://schemas.openxmlformats.org/drawingml/2006/main">
            <a:r>
              <a:t>    "canonicalId": "AX19",</a:t>
            </a:r>
          </a:p>
          <a:p xmlns:a="http://schemas.openxmlformats.org/drawingml/2006/main">
            <a:r>
              <a:t>    "purpose": "농업 전문지식의 현장 상담 연결",</a:t>
            </a:r>
          </a:p>
          <a:p xmlns:a="http://schemas.openxmlformats.org/drawingml/2006/main">
            <a:r>
              <a:t>    "users": "청년농업인·농업 전문가",</a:t>
            </a:r>
          </a:p>
          <a:p xmlns:a="http://schemas.openxmlformats.org/drawingml/2006/main">
            <a:r>
              <a:t>    "scope": [</a:t>
            </a:r>
          </a:p>
          <a:p xmlns:a="http://schemas.openxmlformats.org/drawingml/2006/main">
            <a:r>
              <a:t>      "재배 질의",</a:t>
            </a:r>
          </a:p>
          <a:p xmlns:a="http://schemas.openxmlformats.org/drawingml/2006/main">
            <a:r>
              <a:t>      "전문지식",</a:t>
            </a:r>
          </a:p>
          <a:p xmlns:a="http://schemas.openxmlformats.org/drawingml/2006/main">
            <a:r>
              <a:t>      "사전 평가"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"농업기술 앱",</a:t>
            </a:r>
          </a:p>
          <a:p xmlns:a="http://schemas.openxmlformats.org/drawingml/2006/main">
            <a:r>
              <a:t>        "detail": "작물·지역·생육단계·문제 상황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"재배 질의 / 전문지식 / 사전 평가",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"맥락 기반 상담",</a:t>
            </a:r>
          </a:p>
          <a:p xmlns:a="http://schemas.openxmlformats.org/drawingml/2006/main">
            <a:r>
              <a:t>        "detail": "질의 관련 농업 지식의 검색·설명",</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"농업인·전문가",</a:t>
            </a:r>
          </a:p>
          <a:p xmlns:a="http://schemas.openxmlformats.org/drawingml/2006/main">
            <a:r>
              <a:t>        "detail": "원문 근거 안내와 전문가 확인 경로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"영농 지식",</a:t>
            </a:r>
          </a:p>
          <a:p xmlns:a="http://schemas.openxmlformats.org/drawingml/2006/main">
            <a:r>
              <a:t>        "detail": "기술 문서·상담자료·전문가 평가셋 정비",</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"작물·상황별 오답과 현장 적용성 검토",</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"영농 지식",</a:t>
            </a:r>
          </a:p>
          <a:p xmlns:a="http://schemas.openxmlformats.org/drawingml/2006/main">
            <a:r>
              <a:t>        "input": "작물·지역·생육단계·문제 상황 확인",</a:t>
            </a:r>
          </a:p>
          <a:p xmlns:a="http://schemas.openxmlformats.org/drawingml/2006/main">
            <a:r>
              <a:t>        "process": "기술 문서·상담자료·전문가 평가셋 정비",</a:t>
            </a:r>
          </a:p>
          <a:p xmlns:a="http://schemas.openxmlformats.org/drawingml/2006/main">
            <a:r>
              <a:t>        "output": "질문·작물·위치"</a:t>
            </a:r>
          </a:p>
          <a:p xmlns:a="http://schemas.openxmlformats.org/drawingml/2006/main">
            <a:r>
              <a:t>      },</a:t>
            </a:r>
          </a:p>
          <a:p xmlns:a="http://schemas.openxmlformats.org/drawingml/2006/main">
            <a:r>
              <a:t>      {</a:t>
            </a:r>
          </a:p>
          <a:p xmlns:a="http://schemas.openxmlformats.org/drawingml/2006/main">
            <a:r>
              <a:t>        "title": "위치·작물 맥락",</a:t>
            </a:r>
          </a:p>
          <a:p xmlns:a="http://schemas.openxmlformats.org/drawingml/2006/main">
            <a:r>
              <a:t>        "input": "질문·작물·위치",</a:t>
            </a:r>
          </a:p>
          <a:p xmlns:a="http://schemas.openxmlformats.org/drawingml/2006/main">
            <a:r>
              <a:t>        "process": "질의 관련 농업 지식의 검색·설명",</a:t>
            </a:r>
          </a:p>
          <a:p xmlns:a="http://schemas.openxmlformats.org/drawingml/2006/main">
            <a:r>
              <a:t>        "output": "관련 영농 근거"</a:t>
            </a:r>
          </a:p>
          <a:p xmlns:a="http://schemas.openxmlformats.org/drawingml/2006/main">
            <a:r>
              <a:t>      },</a:t>
            </a:r>
          </a:p>
          <a:p xmlns:a="http://schemas.openxmlformats.org/drawingml/2006/main">
            <a:r>
              <a:t>      {</a:t>
            </a:r>
          </a:p>
          <a:p xmlns:a="http://schemas.openxmlformats.org/drawingml/2006/main">
            <a:r>
              <a:t>        "title": "전문 상담",</a:t>
            </a:r>
          </a:p>
          <a:p xmlns:a="http://schemas.openxmlformats.org/drawingml/2006/main">
            <a:r>
              <a:t>        "input": "관련 영농 근거",</a:t>
            </a:r>
          </a:p>
          <a:p xmlns:a="http://schemas.openxmlformats.org/drawingml/2006/main">
            <a:r>
              <a:t>        "process": "지역·작물별 정답 및 전문가 전환",</a:t>
            </a:r>
          </a:p>
          <a:p xmlns:a="http://schemas.openxmlformats.org/drawingml/2006/main">
            <a:r>
              <a:t>        "output": "상담 답변"</a:t>
            </a:r>
          </a:p>
          <a:p xmlns:a="http://schemas.openxmlformats.org/drawingml/2006/main">
            <a:r>
              <a:t>      },</a:t>
            </a:r>
          </a:p>
          <a:p xmlns:a="http://schemas.openxmlformats.org/drawingml/2006/main">
            <a:r>
              <a:t>      {</a:t>
            </a:r>
          </a:p>
          <a:p xmlns:a="http://schemas.openxmlformats.org/drawingml/2006/main">
            <a:r>
              <a:t>        "title": "현업·이용자 평가",</a:t>
            </a:r>
          </a:p>
          <a:p xmlns:a="http://schemas.openxmlformats.org/drawingml/2006/main">
            <a:r>
              <a:t>        "input": "상담 답변",</a:t>
            </a:r>
          </a:p>
          <a:p xmlns:a="http://schemas.openxmlformats.org/drawingml/2006/main">
            <a:r>
              <a:t>        "process": "원문 근거 안내와 전문가 확인 경로 제공",</a:t>
            </a:r>
          </a:p>
          <a:p xmlns:a="http://schemas.openxmlformats.org/drawingml/2006/main">
            <a:r>
              <a:t>        "output": "이용자 검증"</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"작물·지역·생육단계에 맞는 기술 지식 안내",</a:t>
            </a:r>
          </a:p>
          <a:p xmlns:a="http://schemas.openxmlformats.org/drawingml/2006/main">
            <a:r>
              <a:t>      "exception": "다른 작물 지침·증상 누락·전문가 판단이 필요한 요청",</a:t>
            </a:r>
          </a:p>
          <a:p xmlns:a="http://schemas.openxmlformats.org/drawingml/2006/main">
            <a:r>
              <a:t>      "evidence": "조건별 근거 일치와 전문가 전환 판정표",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"청년농업인·농업 전문가",</a:t>
            </a:r>
          </a:p>
          <a:p xmlns:a="http://schemas.openxmlformats.org/drawingml/2006/main">
            <a:r>
              <a:t>          "processing": "작물·지역·생육단계·문제 상황 확인",</a:t>
            </a:r>
          </a:p>
          <a:p xmlns:a="http://schemas.openxmlformats.org/drawingml/2006/main">
            <a:r>
              <a:t>          "output": "질문·작물·위치"</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"영농 지식",</a:t>
            </a:r>
          </a:p>
          <a:p xmlns:a="http://schemas.openxmlformats.org/drawingml/2006/main">
            <a:r>
              <a:t>          "processing": "기술 문서·상담자료·전문가 평가셋 정비",</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"질문·작물·위치",</a:t>
            </a:r>
          </a:p>
          <a:p xmlns:a="http://schemas.openxmlformats.org/drawingml/2006/main">
            <a:r>
              <a:t>          "processing": "질의 관련 농업 지식의 검색·설명",</a:t>
            </a:r>
          </a:p>
          <a:p xmlns:a="http://schemas.openxmlformats.org/drawingml/2006/main">
            <a:r>
              <a:t>          "output": "상담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"상담 답변",</a:t>
            </a:r>
          </a:p>
          <a:p xmlns:a="http://schemas.openxmlformats.org/drawingml/2006/main">
            <a:r>
              <a:t>          "processing": "원문 근거 안내와 전문가 확인 경로 제공",</a:t>
            </a:r>
          </a:p>
          <a:p xmlns:a="http://schemas.openxmlformats.org/drawingml/2006/main">
            <a:r>
              <a:t>          "output": "이용자 검증"</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"작물·상황별 오답과 현장 적용성 검토",</a:t>
            </a:r>
          </a:p>
          <a:p xmlns:a="http://schemas.openxmlformats.org/drawingml/2006/main">
            <a:r>
              <a:t>          "output": "조건별 근거 일치와 전문가 전환 판정표"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"작물·상황별 오답과 현장 적용성 검토",</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"S-AX19",</a:t>
            </a:r>
          </a:p>
          <a:p xmlns:a="http://schemas.openxmlformats.org/drawingml/2006/main">
            <a:r>
              <a:t>        "title": "청년농업인 특화 AI 상담 · 공공AI 사례집 44–45쪽",</a:t>
            </a:r>
          </a:p>
          <a:p xmlns:a="http://schemas.openxmlformats.org/drawingml/2006/main">
            <a:r>
              <a:t>        "url": "https://bigdata.dongjak.go.kr/board/viewArticle?articleNo=954&amp;boardId=4",</a:t>
            </a:r>
          </a:p>
          <a:p xmlns:a="http://schemas.openxmlformats.org/drawingml/2006/main">
            <a:r>
              <a:t>        "published": "2024 구축 / 2025.02 개시",</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"지역·산업 맥락과 전문가 사전 평가",</a:t>
            </a:r>
          </a:p>
          <a:p xmlns:a="http://schemas.openxmlformats.org/drawingml/2006/main">
            <a:r>
              <a:t>    "local": "운수사업자·지역별 안전·지원 업무 지식 구분",</a:t>
            </a:r>
          </a:p>
          <a:p xmlns:a="http://schemas.openxmlformats.org/drawingml/2006/main">
            <a:r>
              <a:t>    "sourceDetail": null,</a:t>
            </a:r>
          </a:p>
          <a:p xmlns:a="http://schemas.openxmlformats.org/drawingml/2006/main">
            <a:r>
              <a:t>    "narrative": [</a:t>
            </a:r>
          </a:p>
          <a:p xmlns:a="http://schemas.openxmlformats.org/drawingml/2006/main">
            <a:r>
              <a:t>      "농업인이 작물·지역·생육 상황에 맞는 전문지식을 찾도록 지원하는 상담 사례. 범용 질문 답변에 현장 문맥과 전문가 확인을 결합하는 유형.",</a:t>
            </a:r>
          </a:p>
          <a:p xmlns:a="http://schemas.openxmlformats.org/drawingml/2006/main">
            <a:r>
              <a:t>      "입력에서 작물·생육단계·지역·문제 상황을 정리한 뒤 관련 기술자료를 검색하고 원문 근거를 안내하는 구조의 재구성. 정보가 부족하거나 지역 예외가 있는 질문은 추가 확인·전문가 상담으로 연결.",</a:t>
            </a:r>
          </a:p>
          <a:p xmlns:a="http://schemas.openxmlformats.org/drawingml/2006/main">
            <a:r>
              <a:t>      "TS 업무에는 차량·시설·지역·시행일 등 도메인 문맥을 먼저 확보하는 방식으로 현지화. 평균 정답률보다 상황별 오류와 전문가 전환율, 실제 업무에 맞는 안내인지의 검토가 중요."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"영농 질의 접점",</a:t>
            </a:r>
          </a:p>
          <a:p xmlns:a="http://schemas.openxmlformats.org/drawingml/2006/main">
            <a:r>
              <a:t>          "layer": "이용 접점",</a:t>
            </a:r>
          </a:p>
          <a:p xmlns:a="http://schemas.openxmlformats.org/drawingml/2006/main">
            <a:r>
              <a:t>          "detail": "청년농업인·농업 전문가",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"작물·생육단계",</a:t>
            </a:r>
          </a:p>
          <a:p xmlns:a="http://schemas.openxmlformats.org/drawingml/2006/main">
            <a:r>
              <a:t>          "layer": "업무 문맥",</a:t>
            </a:r>
          </a:p>
          <a:p xmlns:a="http://schemas.openxmlformats.org/drawingml/2006/main">
            <a:r>
              <a:t>          "detail": "작물·지역·생육단계·문제 상황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"농업 지식 검색",</a:t>
            </a:r>
          </a:p>
          <a:p xmlns:a="http://schemas.openxmlformats.org/drawingml/2006/main">
            <a:r>
              <a:t>          "layer": "자료 조회",</a:t>
            </a:r>
          </a:p>
          <a:p xmlns:a="http://schemas.openxmlformats.org/drawingml/2006/main">
            <a:r>
              <a:t>          "detail": "질문·작물·위치",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"맥락형 상담 생성",</a:t>
            </a:r>
          </a:p>
          <a:p xmlns:a="http://schemas.openxmlformats.org/drawingml/2006/main">
            <a:r>
              <a:t>          "layer": "핵심 처리",</a:t>
            </a:r>
          </a:p>
          <a:p xmlns:a="http://schemas.openxmlformats.org/drawingml/2006/main">
            <a:r>
              <a:t>          "detail": "질의 관련 농업 지식의 검색·설명",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"지역·상황 대조",</a:t>
            </a:r>
          </a:p>
          <a:p xmlns:a="http://schemas.openxmlformats.org/drawingml/2006/main">
            <a:r>
              <a:t>          "layer": "결과 검증",</a:t>
            </a:r>
          </a:p>
          <a:p xmlns:a="http://schemas.openxmlformats.org/drawingml/2006/main">
            <a:r>
              <a:t>          "detail": "지역·작물별 정답 및 전문가 전환",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"전문가 확인",</a:t>
            </a:r>
          </a:p>
          <a:p xmlns:a="http://schemas.openxmlformats.org/drawingml/2006/main">
            <a:r>
              <a:t>          "layer": "사람 확인",</a:t>
            </a:r>
          </a:p>
          <a:p xmlns:a="http://schemas.openxmlformats.org/drawingml/2006/main">
            <a:r>
              <a:t>          "detail": "작물·지역·생육단계에 맞는 기술 지식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"원문·상담 연결",</a:t>
            </a:r>
          </a:p>
          <a:p xmlns:a="http://schemas.openxmlformats.org/drawingml/2006/main">
            <a:r>
              <a:t>          "layer": "업무 연결",</a:t>
            </a:r>
          </a:p>
          <a:p xmlns:a="http://schemas.openxmlformats.org/drawingml/2006/main">
            <a:r>
              <a:t>          "detail": "원문 근거 안내와 전문가 확인 경로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"현장 적합성 평가",</a:t>
            </a:r>
          </a:p>
          <a:p xmlns:a="http://schemas.openxmlformats.org/drawingml/2006/main">
            <a:r>
              <a:t>          "layer": "운영 관측",</a:t>
            </a:r>
          </a:p>
          <a:p xmlns:a="http://schemas.openxmlformats.org/drawingml/2006/main">
            <a:r>
              <a:t>          "detail": "작물·상황별 오답과 현장 적용성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"기술·상담 자료",</a:t>
            </a:r>
          </a:p>
          <a:p xmlns:a="http://schemas.openxmlformats.org/drawingml/2006/main">
            <a:r>
              <a:t>          "layer": "데이터 원천",</a:t>
            </a:r>
          </a:p>
          <a:p xmlns:a="http://schemas.openxmlformats.org/drawingml/2006/main">
            <a:r>
              <a:t>          "detail": "영농 지식",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"작물·지역 태깅",</a:t>
            </a:r>
          </a:p>
          <a:p xmlns:a="http://schemas.openxmlformats.org/drawingml/2006/main">
            <a:r>
              <a:t>          "layer": "준비·갱신",</a:t>
            </a:r>
          </a:p>
          <a:p xmlns:a="http://schemas.openxmlformats.org/drawingml/2006/main">
            <a:r>
              <a:t>          "detail": "기술 문서·상담자료·전문가 평가셋 정비",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"문서·평가셋",</a:t>
            </a:r>
          </a:p>
          <a:p xmlns:a="http://schemas.openxmlformats.org/drawingml/2006/main">
            <a:r>
              <a:t>          "layer": "상태·지식 저장",</a:t>
            </a:r>
          </a:p>
          <a:p xmlns:a="http://schemas.openxmlformats.org/drawingml/2006/main">
            <a:r>
              <a:t>          "detail": "조건별 근거 일치와 전문가 전환 판정표",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"전문가 전환 기준",</a:t>
            </a:r>
          </a:p>
          <a:p xmlns:a="http://schemas.openxmlformats.org/drawingml/2006/main">
            <a:r>
              <a:t>          "layer": "권한·정책",</a:t>
            </a:r>
          </a:p>
          <a:p xmlns:a="http://schemas.openxmlformats.org/drawingml/2006/main">
            <a:r>
              <a:t>          "detail": "다른 작물 지침·증상 누락·전문가 판단이 필요한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"영농 지식 → 위치·작물 맥락 → 전문 상담 → 현업·이용자 평가"</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"영농 지식",</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"작물·지역·생육단계·문제 상황 확인",</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"조건별 근거 일치와 전문가 전환 판정표",</a:t>
            </a:r>
          </a:p>
          <a:p xmlns:a="http://schemas.openxmlformats.org/drawingml/2006/main">
            <a:r>
              <a:t>          "check": "기술 문서·상담자료·전문가 평가셋 정비"</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영농 근거",</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"상담 답변",</a:t>
            </a:r>
          </a:p>
          <a:p xmlns:a="http://schemas.openxmlformats.org/drawingml/2006/main">
            <a:r>
              <a:t>          "check": "조건별 근거 일치와 전문가 전환 판정표"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"농업 전문지식의 현장 상담 연결 / 재배 질의·전문지식·사전 평가",</a:t>
            </a:r>
          </a:p>
          <a:p xmlns:a="http://schemas.openxmlformats.org/drawingml/2006/main">
            <a:r>
              <a:t>        "extension": "운수사업자·지역별 안전·지원 업무 지식 구분"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작물 지침·증상 누락·전문가 판단이 필요한 요청",</a:t>
            </a:r>
          </a:p>
          <a:p xmlns:a="http://schemas.openxmlformats.org/drawingml/2006/main">
            <a:r>
              <a:t>        "hold": "지역·작물별 정답 및 전문가 전환",</a:t>
            </a:r>
          </a:p>
          <a:p xmlns:a="http://schemas.openxmlformats.org/drawingml/2006/main">
            <a:r>
              <a:t>        "recovery": "작물·상황별 오답과 현장 적용성 검토",</a:t>
            </a:r>
          </a:p>
          <a:p xmlns:a="http://schemas.openxmlformats.org/drawingml/2006/main">
            <a:r>
              <a:t>        "evidence": "조건별 근거 일치와 전문가 전환 판정표"</a:t>
            </a:r>
          </a:p>
          <a:p xmlns:a="http://schemas.openxmlformats.org/drawingml/2006/main">
            <a:r>
              <a:t>      },</a:t>
            </a:r>
          </a:p>
          <a:p xmlns:a="http://schemas.openxmlformats.org/drawingml/2006/main">
            <a:r>
              <a:t>      "data": {</a:t>
            </a:r>
          </a:p>
          <a:p xmlns:a="http://schemas.openxmlformats.org/drawingml/2006/main">
            <a:r>
              <a:t>        "source": "영농 지식",</a:t>
            </a:r>
          </a:p>
          <a:p xmlns:a="http://schemas.openxmlformats.org/drawingml/2006/main">
            <a:r>
              <a:t>        "prepare": "기술 문서·상담자료·전문가 평가셋 정비",</a:t>
            </a:r>
          </a:p>
          <a:p xmlns:a="http://schemas.openxmlformats.org/drawingml/2006/main">
            <a:r>
              <a:t>        "output": "질문·작물·위치",</a:t>
            </a:r>
          </a:p>
          <a:p xmlns:a="http://schemas.openxmlformats.org/drawingml/2006/main">
            <a:r>
              <a:t>        "refresh": "작물·상황별 오답과 현장 적용성 검토"</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"AX19",</a:t>
            </a:r>
          </a:p>
          <a:p xmlns:a="http://schemas.openxmlformats.org/drawingml/2006/main">
            <a:r>
              <a:t>    "success": [</a:t>
            </a:r>
          </a:p>
          <a:p xmlns:a="http://schemas.openxmlformats.org/drawingml/2006/main">
            <a:r>
              <a:t>      "작물·위치 맥락의 전문 지식 연결",</a:t>
            </a:r>
          </a:p>
          <a:p xmlns:a="http://schemas.openxmlformats.org/drawingml/2006/main">
            <a:r>
              <a:t>      "전문가·이용자 사전 평가"</a:t>
            </a:r>
          </a:p>
          <a:p xmlns:a="http://schemas.openxmlformats.org/drawingml/2006/main">
            <a:r>
              <a:t>    ],</a:t>
            </a:r>
          </a:p>
          <a:p xmlns:a="http://schemas.openxmlformats.org/drawingml/2006/main">
            <a:r>
              <a:t>    "risks": [</a:t>
            </a:r>
          </a:p>
          <a:p xmlns:a="http://schemas.openxmlformats.org/drawingml/2006/main">
            <a:r>
              <a:t>      "지역·생육환경 예외",</a:t>
            </a:r>
          </a:p>
          <a:p xmlns:a="http://schemas.openxmlformats.org/drawingml/2006/main">
            <a:r>
              <a:t>      "상담 답변과 현장 적합성의 간극"</a:t>
            </a:r>
          </a:p>
          <a:p xmlns:a="http://schemas.openxmlformats.org/drawingml/2006/main">
            <a:r>
              <a:t>    ],</a:t>
            </a:r>
          </a:p>
          <a:p xmlns:a="http://schemas.openxmlformats.org/drawingml/2006/main">
            <a:r>
              <a:t>    "architecture": [</a:t>
            </a:r>
          </a:p>
          <a:p xmlns:a="http://schemas.openxmlformats.org/drawingml/2006/main">
            <a:r>
              <a:t>      "농업기술 앱",</a:t>
            </a:r>
          </a:p>
          <a:p xmlns:a="http://schemas.openxmlformats.org/drawingml/2006/main">
            <a:r>
              <a:t>      "맥락 기반 상담",</a:t>
            </a:r>
          </a:p>
          <a:p xmlns:a="http://schemas.openxmlformats.org/drawingml/2006/main">
            <a:r>
              <a:t>      "영농 지식",</a:t>
            </a:r>
          </a:p>
          <a:p xmlns:a="http://schemas.openxmlformats.org/drawingml/2006/main">
            <a:r>
              <a:t>      "농업인·전문가"</a:t>
            </a:r>
          </a:p>
          <a:p xmlns:a="http://schemas.openxmlformats.org/drawingml/2006/main">
            <a:r>
              <a:t>    ],</a:t>
            </a:r>
          </a:p>
          <a:p xmlns:a="http://schemas.openxmlformats.org/drawingml/2006/main">
            <a:r>
              <a:t>    "transfers": [</a:t>
            </a:r>
          </a:p>
          <a:p xmlns:a="http://schemas.openxmlformats.org/drawingml/2006/main">
            <a:r>
              <a:t>      "질문·작물·위치",</a:t>
            </a:r>
          </a:p>
          <a:p xmlns:a="http://schemas.openxmlformats.org/drawingml/2006/main">
            <a:r>
              <a:t>      "관련 영농 근거",</a:t>
            </a:r>
          </a:p>
          <a:p xmlns:a="http://schemas.openxmlformats.org/drawingml/2006/main">
            <a:r>
              <a:t>      "상담 답변",</a:t>
            </a:r>
          </a:p>
          <a:p xmlns:a="http://schemas.openxmlformats.org/drawingml/2006/main">
            <a:r>
              <a:t>      "이용자 검증"</a:t>
            </a:r>
          </a:p>
          <a:p xmlns:a="http://schemas.openxmlformats.org/drawingml/2006/main">
            <a:r>
              <a:t>    ],</a:t>
            </a:r>
          </a:p>
          <a:p xmlns:a="http://schemas.openxmlformats.org/drawingml/2006/main">
            <a:r>
              <a:t>    "control": "지역·작물별 정답 및 전문가 전환",</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청년농업인 특화 AI 상담 · 공공AI 사례집 44–45쪽 https://bigdata.dongjak.go.kr/board/viewArticle?articleNo=954&amp;boardId=4</a:t>
            </a:r>
          </a:p>
          <a:p xmlns:a="http://schemas.openxmlformats.org/drawingml/2006/main">
            <a:r>
              <a:t>홈페이지 https://heen1987-ops.github.io/TS-business-Plan-001/index.html?view=casebook&amp;case=AX19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"AX20",</a:t>
            </a:r>
          </a:p>
          <a:p xmlns:a="http://schemas.openxmlformats.org/drawingml/2006/main">
            <a:r>
              <a:t>    "title": "K-인파관리지원시스템",</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"데이터 기반 위험 상황 공유",</a:t>
            </a:r>
          </a:p>
          <a:p xmlns:a="http://schemas.openxmlformats.org/drawingml/2006/main">
            <a:r>
              <a:t>    "period": "2023 구축·운영",</a:t>
            </a:r>
          </a:p>
          <a:p xmlns:a="http://schemas.openxmlformats.org/drawingml/2006/main">
            <a:r>
              <a:t>    "sources": [</a:t>
            </a:r>
          </a:p>
          <a:p xmlns:a="http://schemas.openxmlformats.org/drawingml/2006/main">
            <a:r>
              <a:t>      "S-AX20"</a:t>
            </a:r>
          </a:p>
          <a:p xmlns:a="http://schemas.openxmlformats.org/drawingml/2006/main">
            <a:r>
              <a:t>    ],</a:t>
            </a:r>
          </a:p>
          <a:p xmlns:a="http://schemas.openxmlformats.org/drawingml/2006/main">
            <a:r>
              <a:t>    "keywords": [</a:t>
            </a:r>
          </a:p>
          <a:p xmlns:a="http://schemas.openxmlformats.org/drawingml/2006/main">
            <a:r>
              <a:t>      "데이터 기반 위험 상황 공유"</a:t>
            </a:r>
          </a:p>
          <a:p xmlns:a="http://schemas.openxmlformats.org/drawingml/2006/main">
            <a:r>
              <a:t>    ],</a:t>
            </a:r>
          </a:p>
          <a:p xmlns:a="http://schemas.openxmlformats.org/drawingml/2006/main">
            <a:r>
              <a:t>    "fact": "유동인구·공간정보의 밀집도 분석과 GIS 상황판·위험 알림 제공",</a:t>
            </a:r>
          </a:p>
          <a:p xmlns:a="http://schemas.openxmlformats.org/drawingml/2006/main">
            <a:r>
              <a:t>    "limit": "데이터 분석 운영 사례 · 생성형 AI 아님 · 사고 감소 인과효과 별도",</a:t>
            </a:r>
          </a:p>
          <a:p xmlns:a="http://schemas.openxmlformats.org/drawingml/2006/main">
            <a:r>
              <a:t>    "flow": [</a:t>
            </a:r>
          </a:p>
          <a:p xmlns:a="http://schemas.openxmlformats.org/drawingml/2006/main">
            <a:r>
              <a:t>      "유동인구·공간정보",</a:t>
            </a:r>
          </a:p>
          <a:p xmlns:a="http://schemas.openxmlformats.org/drawingml/2006/main">
            <a:r>
              <a:t>      "밀집도 분석",</a:t>
            </a:r>
          </a:p>
          <a:p xmlns:a="http://schemas.openxmlformats.org/drawingml/2006/main">
            <a:r>
              <a:t>      "GIS·위험 알림",</a:t>
            </a:r>
          </a:p>
          <a:p xmlns:a="http://schemas.openxmlformats.org/drawingml/2006/main">
            <a:r>
              <a:t>      "지자체 대응"</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"위험 감지와 소관기관 상황 전파 연결",</a:t>
            </a:r>
          </a:p>
          <a:p xmlns:a="http://schemas.openxmlformats.org/drawingml/2006/main">
            <a:r>
              <a:t>    "local": "행사·교통시설 혼잡 정보의 관할·업무 인계",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"장소·시간·단계·담당 기관 매핑",</a:t>
            </a:r>
          </a:p>
          <a:p xmlns:a="http://schemas.openxmlformats.org/drawingml/2006/main">
            <a:r>
              <a:t>    "test": "자료 지연·경계 지역·알림 미수신 시험",</a:t>
            </a:r>
          </a:p>
          <a:p xmlns:a="http://schemas.openxmlformats.org/drawingml/2006/main">
            <a:r>
              <a:t>    "metric": "상황 전파시간 / 조치 누락률",</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"ST-07"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"AX20",</a:t>
            </a:r>
          </a:p>
          <a:p xmlns:a="http://schemas.openxmlformats.org/drawingml/2006/main">
            <a:r>
              <a:t>    "canonicalId": "AX20",</a:t>
            </a:r>
          </a:p>
          <a:p xmlns:a="http://schemas.openxmlformats.org/drawingml/2006/main">
            <a:r>
              <a:t>    "purpose": "인파 밀집 위험의 공간 기반 상황 관리",</a:t>
            </a:r>
          </a:p>
          <a:p xmlns:a="http://schemas.openxmlformats.org/drawingml/2006/main">
            <a:r>
              <a:t>    "users": "지자체 상황실·현장 대응부서",</a:t>
            </a:r>
          </a:p>
          <a:p xmlns:a="http://schemas.openxmlformats.org/drawingml/2006/main">
            <a:r>
              <a:t>    "scope": [</a:t>
            </a:r>
          </a:p>
          <a:p xmlns:a="http://schemas.openxmlformats.org/drawingml/2006/main">
            <a:r>
              <a:t>      "밀집도",</a:t>
            </a:r>
          </a:p>
          <a:p xmlns:a="http://schemas.openxmlformats.org/drawingml/2006/main">
            <a:r>
              <a:t>      "GIS 상황판",</a:t>
            </a:r>
          </a:p>
          <a:p xmlns:a="http://schemas.openxmlformats.org/drawingml/2006/main">
            <a:r>
              <a:t>      "위험 알림"</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"유동인구·공간정보",</a:t>
            </a:r>
          </a:p>
          <a:p xmlns:a="http://schemas.openxmlformats.org/drawingml/2006/main">
            <a:r>
              <a:t>        "detail": "구역·시간·행사 등 상황 맥락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"밀집도 / GIS 상황판 / 위험 알림",</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"밀집도 분석",</a:t>
            </a:r>
          </a:p>
          <a:p xmlns:a="http://schemas.openxmlformats.org/drawingml/2006/main">
            <a:r>
              <a:t>        "detail": "유동인구와 공간 조건의 밀집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"지자체 상황실",</a:t>
            </a:r>
          </a:p>
          <a:p xmlns:a="http://schemas.openxmlformats.org/drawingml/2006/main">
            <a:r>
              <a:t>        "detail": "상황판 경보와 현장 확인·대응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"지역별 밀집 이력",</a:t>
            </a:r>
          </a:p>
          <a:p xmlns:a="http://schemas.openxmlformats.org/drawingml/2006/main">
            <a:r>
              <a:t>        "detail": "유동인구 집계·공간정보·구역 코드 결합",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"실제 밀집상태·경보·대응시간 대조",</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"유동인구·공간정보",</a:t>
            </a:r>
          </a:p>
          <a:p xmlns:a="http://schemas.openxmlformats.org/drawingml/2006/main">
            <a:r>
              <a:t>        "input": "구역·시간·행사 등 상황 맥락 지정",</a:t>
            </a:r>
          </a:p>
          <a:p xmlns:a="http://schemas.openxmlformats.org/drawingml/2006/main">
            <a:r>
              <a:t>        "process": "유동인구 집계·공간정보·구역 코드 결합",</a:t>
            </a:r>
          </a:p>
          <a:p xmlns:a="http://schemas.openxmlformats.org/drawingml/2006/main">
            <a:r>
              <a:t>        "output": "인구·공간 집계"</a:t>
            </a:r>
          </a:p>
          <a:p xmlns:a="http://schemas.openxmlformats.org/drawingml/2006/main">
            <a:r>
              <a:t>      },</a:t>
            </a:r>
          </a:p>
          <a:p xmlns:a="http://schemas.openxmlformats.org/drawingml/2006/main">
            <a:r>
              <a:t>      {</a:t>
            </a:r>
          </a:p>
          <a:p xmlns:a="http://schemas.openxmlformats.org/drawingml/2006/main">
            <a:r>
              <a:t>        "title": "밀집도 분석",</a:t>
            </a:r>
          </a:p>
          <a:p xmlns:a="http://schemas.openxmlformats.org/drawingml/2006/main">
            <a:r>
              <a:t>        "input": "인구·공간 집계",</a:t>
            </a:r>
          </a:p>
          <a:p xmlns:a="http://schemas.openxmlformats.org/drawingml/2006/main">
            <a:r>
              <a:t>        "process": "유동인구와 공간 조건의 밀집 분석",</a:t>
            </a:r>
          </a:p>
          <a:p xmlns:a="http://schemas.openxmlformats.org/drawingml/2006/main">
            <a:r>
              <a:t>        "output": "밀집 지표"</a:t>
            </a:r>
          </a:p>
          <a:p xmlns:a="http://schemas.openxmlformats.org/drawingml/2006/main">
            <a:r>
              <a:t>      },</a:t>
            </a:r>
          </a:p>
          <a:p xmlns:a="http://schemas.openxmlformats.org/drawingml/2006/main">
            <a:r>
              <a:t>      {</a:t>
            </a:r>
          </a:p>
          <a:p xmlns:a="http://schemas.openxmlformats.org/drawingml/2006/main">
            <a:r>
              <a:t>        "title": "GIS·위험 알림",</a:t>
            </a:r>
          </a:p>
          <a:p xmlns:a="http://schemas.openxmlformats.org/drawingml/2006/main">
            <a:r>
              <a:t>        "input": "밀집 지표",</a:t>
            </a:r>
          </a:p>
          <a:p xmlns:a="http://schemas.openxmlformats.org/drawingml/2006/main">
            <a:r>
              <a:t>        "process": "공간·시간 단위 대사와 조치 확인",</a:t>
            </a:r>
          </a:p>
          <a:p xmlns:a="http://schemas.openxmlformats.org/drawingml/2006/main">
            <a:r>
              <a:t>        "output": "위험 알림"</a:t>
            </a:r>
          </a:p>
          <a:p xmlns:a="http://schemas.openxmlformats.org/drawingml/2006/main">
            <a:r>
              <a:t>      },</a:t>
            </a:r>
          </a:p>
          <a:p xmlns:a="http://schemas.openxmlformats.org/drawingml/2006/main">
            <a:r>
              <a:t>      {</a:t>
            </a:r>
          </a:p>
          <a:p xmlns:a="http://schemas.openxmlformats.org/drawingml/2006/main">
            <a:r>
              <a:t>        "title": "지자체 대응",</a:t>
            </a:r>
          </a:p>
          <a:p xmlns:a="http://schemas.openxmlformats.org/drawingml/2006/main">
            <a:r>
              <a:t>        "input": "위험 알림",</a:t>
            </a:r>
          </a:p>
          <a:p xmlns:a="http://schemas.openxmlformats.org/drawingml/2006/main">
            <a:r>
              <a:t>        "process": "상황판 경보와 현장 확인·대응 연결",</a:t>
            </a:r>
          </a:p>
          <a:p xmlns:a="http://schemas.openxmlformats.org/drawingml/2006/main">
            <a:r>
              <a:t>        "output": "현장 대응"</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"구역별 인파 밀집을 파악하고 현장 확인 요청",</a:t>
            </a:r>
          </a:p>
          <a:p xmlns:a="http://schemas.openxmlformats.org/drawingml/2006/main">
            <a:r>
              <a:t>      "exception": "집계 지연·통신 표본 편향·구역 경계 변경",</a:t>
            </a:r>
          </a:p>
          <a:p xmlns:a="http://schemas.openxmlformats.org/drawingml/2006/main">
            <a:r>
              <a:t>      "evidence": "현장 밀집상태 대비 경보·전파·조치 시각",</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"지자체 상황실·현장 대응부서",</a:t>
            </a:r>
          </a:p>
          <a:p xmlns:a="http://schemas.openxmlformats.org/drawingml/2006/main">
            <a:r>
              <a:t>          "processing": "구역·시간·행사 등 상황 맥락 지정",</a:t>
            </a:r>
          </a:p>
          <a:p xmlns:a="http://schemas.openxmlformats.org/drawingml/2006/main">
            <a:r>
              <a:t>          "output": "인구·공간 집계"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"지역별 밀집 이력",</a:t>
            </a:r>
          </a:p>
          <a:p xmlns:a="http://schemas.openxmlformats.org/drawingml/2006/main">
            <a:r>
              <a:t>          "processing": "유동인구 집계·공간정보·구역 코드 결합",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"인구·공간 집계",</a:t>
            </a:r>
          </a:p>
          <a:p xmlns:a="http://schemas.openxmlformats.org/drawingml/2006/main">
            <a:r>
              <a:t>          "processing": "유동인구와 공간 조건의 밀집 분석",</a:t>
            </a:r>
          </a:p>
          <a:p xmlns:a="http://schemas.openxmlformats.org/drawingml/2006/main">
            <a:r>
              <a:t>          "output": "위험 알림"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 알림",</a:t>
            </a:r>
          </a:p>
          <a:p xmlns:a="http://schemas.openxmlformats.org/drawingml/2006/main">
            <a:r>
              <a:t>          "processing": "상황판 경보와 현장 확인·대응 연결",</a:t>
            </a:r>
          </a:p>
          <a:p xmlns:a="http://schemas.openxmlformats.org/drawingml/2006/main">
            <a:r>
              <a:t>          "output": "현장 대응"</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"실제 밀집상태·경보·대응시간 대조",</a:t>
            </a:r>
          </a:p>
          <a:p xmlns:a="http://schemas.openxmlformats.org/drawingml/2006/main">
            <a:r>
              <a:t>          "output": "현장 밀집상태 대비 경보·전파·조치 시각"</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"실제 밀집상태·경보·대응시간 대조",</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"S-AX20",</a:t>
            </a:r>
          </a:p>
          <a:p xmlns:a="http://schemas.openxmlformats.org/drawingml/2006/main">
            <a:r>
              <a:t>        "title": "K-인파관리지원시스템 · 공공AI 사례집 86–87쪽",</a:t>
            </a:r>
          </a:p>
          <a:p xmlns:a="http://schemas.openxmlformats.org/drawingml/2006/main">
            <a:r>
              <a:t>        "url": "https://bigdata.dongjak.go.kr/board/viewArticle?articleNo=954&amp;boardId=4",</a:t>
            </a:r>
          </a:p>
          <a:p xmlns:a="http://schemas.openxmlformats.org/drawingml/2006/main">
            <a:r>
              <a:t>        "published": "2023 구축·운영",</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"위험 감지와 소관기관 상황 전파 연결",</a:t>
            </a:r>
          </a:p>
          <a:p xmlns:a="http://schemas.openxmlformats.org/drawingml/2006/main">
            <a:r>
              <a:t>    "local": "행사·교통시설 혼잡 정보의 관할·업무 인계",</a:t>
            </a:r>
          </a:p>
          <a:p xmlns:a="http://schemas.openxmlformats.org/drawingml/2006/main">
            <a:r>
              <a:t>    "sourceDetail": null,</a:t>
            </a:r>
          </a:p>
          <a:p xmlns:a="http://schemas.openxmlformats.org/drawingml/2006/main">
            <a:r>
              <a:t>    "narrative": [</a:t>
            </a:r>
          </a:p>
          <a:p xmlns:a="http://schemas.openxmlformats.org/drawingml/2006/main">
            <a:r>
              <a:t>      "유동인구와 공간정보를 결합해 밀집 위험을 상황실과 현장 대응부서에 전달하는 사례. 추정 밀집도와 실제 현장 상태를 확인하는 조직적 대응이 결합된 구조.",</a:t>
            </a:r>
          </a:p>
          <a:p xmlns:a="http://schemas.openxmlformats.org/drawingml/2006/main">
            <a:r>
              <a:t>      "시간·구역·행사 맥락에 따라 집계 자료를 정합화하고 GIS 상황판과 경보를 생성하는 재구성. 경보 발생, 상황실 확인, 현장 출동·통제, 결과 보고를 별도 상태로 연결.",</a:t>
            </a:r>
          </a:p>
          <a:p xmlns:a="http://schemas.openxmlformats.org/drawingml/2006/main">
            <a:r>
              <a:t>      "TS 교통·시설 안전 적용에서 집계 공간 단위와 관측 편차를 먼저 확인할 필요. 오경보·미탐 외에 알림 수신·확인·대응까지 걸린 시간과 담당 부서의 인계 누락을 검수할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"상황실 조회",</a:t>
            </a:r>
          </a:p>
          <a:p xmlns:a="http://schemas.openxmlformats.org/drawingml/2006/main">
            <a:r>
              <a:t>          "layer": "이용 접점",</a:t>
            </a:r>
          </a:p>
          <a:p xmlns:a="http://schemas.openxmlformats.org/drawingml/2006/main">
            <a:r>
              <a:t>          "detail": "지자체 상황실·현장 대응부서",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"구역·행사 맥락",</a:t>
            </a:r>
          </a:p>
          <a:p xmlns:a="http://schemas.openxmlformats.org/drawingml/2006/main">
            <a:r>
              <a:t>          "layer": "업무 문맥",</a:t>
            </a:r>
          </a:p>
          <a:p xmlns:a="http://schemas.openxmlformats.org/drawingml/2006/main">
            <a:r>
              <a:t>          "detail": "구역·시간·행사 등 상황 맥락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"인구·공간 조회",</a:t>
            </a:r>
          </a:p>
          <a:p xmlns:a="http://schemas.openxmlformats.org/drawingml/2006/main">
            <a:r>
              <a:t>          "layer": "자료 조회",</a:t>
            </a:r>
          </a:p>
          <a:p xmlns:a="http://schemas.openxmlformats.org/drawingml/2006/main">
            <a:r>
              <a:t>          "detail": "인구·공간 집계",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"밀집 위험 분석",</a:t>
            </a:r>
          </a:p>
          <a:p xmlns:a="http://schemas.openxmlformats.org/drawingml/2006/main">
            <a:r>
              <a:t>          "layer": "핵심 처리",</a:t>
            </a:r>
          </a:p>
          <a:p xmlns:a="http://schemas.openxmlformats.org/drawingml/2006/main">
            <a:r>
              <a:t>          "detail": "유동인구와 공간 조건의 밀집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"관측·추정 대조",</a:t>
            </a:r>
          </a:p>
          <a:p xmlns:a="http://schemas.openxmlformats.org/drawingml/2006/main">
            <a:r>
              <a:t>          "layer": "결과 검증",</a:t>
            </a:r>
          </a:p>
          <a:p xmlns:a="http://schemas.openxmlformats.org/drawingml/2006/main">
            <a:r>
              <a:t>          "detail": "공간·시간 단위 대사와 조치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"상황실 확인",</a:t>
            </a:r>
          </a:p>
          <a:p xmlns:a="http://schemas.openxmlformats.org/drawingml/2006/main">
            <a:r>
              <a:t>          "layer": "사람 확인",</a:t>
            </a:r>
          </a:p>
          <a:p xmlns:a="http://schemas.openxmlformats.org/drawingml/2006/main">
            <a:r>
              <a:t>          "detail": "구역별 인파 밀집을 파악하고 현장 확인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"현장 대응 알림",</a:t>
            </a:r>
          </a:p>
          <a:p xmlns:a="http://schemas.openxmlformats.org/drawingml/2006/main">
            <a:r>
              <a:t>          "layer": "업무 연결",</a:t>
            </a:r>
          </a:p>
          <a:p xmlns:a="http://schemas.openxmlformats.org/drawingml/2006/main">
            <a:r>
              <a:t>          "detail": "상황판 경보와 현장 확인·대응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"대응시간 추적",</a:t>
            </a:r>
          </a:p>
          <a:p xmlns:a="http://schemas.openxmlformats.org/drawingml/2006/main">
            <a:r>
              <a:t>          "layer": "운영 관측",</a:t>
            </a:r>
          </a:p>
          <a:p xmlns:a="http://schemas.openxmlformats.org/drawingml/2006/main">
            <a:r>
              <a:t>          "detail": "실제 밀집상태·경보·대응시간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"유동인구·GIS",</a:t>
            </a:r>
          </a:p>
          <a:p xmlns:a="http://schemas.openxmlformats.org/drawingml/2006/main">
            <a:r>
              <a:t>          "layer": "데이터 원천",</a:t>
            </a:r>
          </a:p>
          <a:p xmlns:a="http://schemas.openxmlformats.org/drawingml/2006/main">
            <a:r>
              <a:t>          "detail": "지역별 밀집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"시간·구역 정합화",</a:t>
            </a:r>
          </a:p>
          <a:p xmlns:a="http://schemas.openxmlformats.org/drawingml/2006/main">
            <a:r>
              <a:t>          "layer": "준비·갱신",</a:t>
            </a:r>
          </a:p>
          <a:p xmlns:a="http://schemas.openxmlformats.org/drawingml/2006/main">
            <a:r>
              <a:t>          "detail": "유동인구 집계·공간정보·구역 코드 결합",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"밀집·대응 이력",</a:t>
            </a:r>
          </a:p>
          <a:p xmlns:a="http://schemas.openxmlformats.org/drawingml/2006/main">
            <a:r>
              <a:t>          "layer": "상태·지식 저장",</a:t>
            </a:r>
          </a:p>
          <a:p xmlns:a="http://schemas.openxmlformats.org/drawingml/2006/main">
            <a:r>
              <a:t>          "detail": "현장 밀집상태 대비 경보·전파·조치 시각",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"집계·경보 기준",</a:t>
            </a:r>
          </a:p>
          <a:p xmlns:a="http://schemas.openxmlformats.org/drawingml/2006/main">
            <a:r>
              <a:t>          "layer": "권한·정책",</a:t>
            </a:r>
          </a:p>
          <a:p xmlns:a="http://schemas.openxmlformats.org/drawingml/2006/main">
            <a:r>
              <a:t>          "detail": "집계 지연·통신 표본 편향·구역 경계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"유동인구·공간정보 → 밀집도 분석 → GIS·위험 알림 → 지자체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"지역별 밀집 이력",</a:t>
            </a:r>
          </a:p>
          <a:p xmlns:a="http://schemas.openxmlformats.org/drawingml/2006/main">
            <a:r>
              <a:t>          "check": "유동인구 집계·공간정보·구역 코드 결합"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"유동인구 집계·공간정보·구역 코드 결합"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"위험 알림",</a:t>
            </a:r>
          </a:p>
          <a:p xmlns:a="http://schemas.openxmlformats.org/drawingml/2006/main">
            <a:r>
              <a:t>          "check": "현장 밀집상태 대비 경보·전파·조치 시각"</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"집계·경보 기준",</a:t>
            </a:r>
          </a:p>
          <a:p xmlns:a="http://schemas.openxmlformats.org/drawingml/2006/main">
            <a:r>
              <a:t>          "check": "공간·시간 단위 대사와 조치 확인"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"현장 대응",</a:t>
            </a:r>
          </a:p>
          <a:p xmlns:a="http://schemas.openxmlformats.org/drawingml/2006/main">
            <a:r>
              <a:t>          "check": "현장 밀집상태 대비 경보·전파·조치 시각"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"실제 밀집상태·경보·대응시간 대조",</a:t>
            </a:r>
          </a:p>
          <a:p xmlns:a="http://schemas.openxmlformats.org/drawingml/2006/main">
            <a:r>
              <a:t>          "check": "실제 밀집상태·경보·대응시간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"인파 밀집 위험의 공간 기반 상황 관리 / 밀집도·GIS 상황판·위험 알림",</a:t>
            </a:r>
          </a:p>
          <a:p xmlns:a="http://schemas.openxmlformats.org/drawingml/2006/main">
            <a:r>
              <a:t>        "extension": "행사·교통시설 혼잡 정보의 관할·업무 인계"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"집계 지연·통신 표본 편향·구역 경계 변경",</a:t>
            </a:r>
          </a:p>
          <a:p xmlns:a="http://schemas.openxmlformats.org/drawingml/2006/main">
            <a:r>
              <a:t>        "hold": "공간·시간 단위 대사와 조치 확인",</a:t>
            </a:r>
          </a:p>
          <a:p xmlns:a="http://schemas.openxmlformats.org/drawingml/2006/main">
            <a:r>
              <a:t>        "recovery": "실제 밀집상태·경보·대응시간 대조",</a:t>
            </a:r>
          </a:p>
          <a:p xmlns:a="http://schemas.openxmlformats.org/drawingml/2006/main">
            <a:r>
              <a:t>        "evidence": "현장 밀집상태 대비 경보·전파·조치 시각"</a:t>
            </a:r>
          </a:p>
          <a:p xmlns:a="http://schemas.openxmlformats.org/drawingml/2006/main">
            <a:r>
              <a:t>      },</a:t>
            </a:r>
          </a:p>
          <a:p xmlns:a="http://schemas.openxmlformats.org/drawingml/2006/main">
            <a:r>
              <a:t>      "data": {</a:t>
            </a:r>
          </a:p>
          <a:p xmlns:a="http://schemas.openxmlformats.org/drawingml/2006/main">
            <a:r>
              <a:t>        "source": "지역별 밀집 이력",</a:t>
            </a:r>
          </a:p>
          <a:p xmlns:a="http://schemas.openxmlformats.org/drawingml/2006/main">
            <a:r>
              <a:t>        "prepare": "유동인구 집계·공간정보·구역 코드 결합",</a:t>
            </a:r>
          </a:p>
          <a:p xmlns:a="http://schemas.openxmlformats.org/drawingml/2006/main">
            <a:r>
              <a:t>        "output": "인구·공간 집계",</a:t>
            </a:r>
          </a:p>
          <a:p xmlns:a="http://schemas.openxmlformats.org/drawingml/2006/main">
            <a:r>
              <a:t>        "refresh": "실제 밀집상태·경보·대응시간 대조"</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"AX20",</a:t>
            </a:r>
          </a:p>
          <a:p xmlns:a="http://schemas.openxmlformats.org/drawingml/2006/main">
            <a:r>
              <a:t>    "success": [</a:t>
            </a:r>
          </a:p>
          <a:p xmlns:a="http://schemas.openxmlformats.org/drawingml/2006/main">
            <a:r>
              <a:t>      "공간정보와 유동인구의 결합",</a:t>
            </a:r>
          </a:p>
          <a:p xmlns:a="http://schemas.openxmlformats.org/drawingml/2006/main">
            <a:r>
              <a:t>      "상황판·알림과 지자체 대응 연결"</a:t>
            </a:r>
          </a:p>
          <a:p xmlns:a="http://schemas.openxmlformats.org/drawingml/2006/main">
            <a:r>
              <a:t>    ],</a:t>
            </a:r>
          </a:p>
          <a:p xmlns:a="http://schemas.openxmlformats.org/drawingml/2006/main">
            <a:r>
              <a:t>    "risks": [</a:t>
            </a:r>
          </a:p>
          <a:p xmlns:a="http://schemas.openxmlformats.org/drawingml/2006/main">
            <a:r>
              <a:t>      "추정 인구와 실제 밀집의 차이",</a:t>
            </a:r>
          </a:p>
          <a:p xmlns:a="http://schemas.openxmlformats.org/drawingml/2006/main">
            <a:r>
              <a:t>      "알림 발생과 대응 완료의 혼동"</a:t>
            </a:r>
          </a:p>
          <a:p xmlns:a="http://schemas.openxmlformats.org/drawingml/2006/main">
            <a:r>
              <a:t>    ],</a:t>
            </a:r>
          </a:p>
          <a:p xmlns:a="http://schemas.openxmlformats.org/drawingml/2006/main">
            <a:r>
              <a:t>    "architecture": [</a:t>
            </a:r>
          </a:p>
          <a:p xmlns:a="http://schemas.openxmlformats.org/drawingml/2006/main">
            <a:r>
              <a:t>      "유동인구·공간정보",</a:t>
            </a:r>
          </a:p>
          <a:p xmlns:a="http://schemas.openxmlformats.org/drawingml/2006/main">
            <a:r>
              <a:t>      "밀집도 분석",</a:t>
            </a:r>
          </a:p>
          <a:p xmlns:a="http://schemas.openxmlformats.org/drawingml/2006/main">
            <a:r>
              <a:t>      "지역별 밀집 이력",</a:t>
            </a:r>
          </a:p>
          <a:p xmlns:a="http://schemas.openxmlformats.org/drawingml/2006/main">
            <a:r>
              <a:t>      "지자체 상황실"</a:t>
            </a:r>
          </a:p>
          <a:p xmlns:a="http://schemas.openxmlformats.org/drawingml/2006/main">
            <a:r>
              <a:t>    ],</a:t>
            </a:r>
          </a:p>
          <a:p xmlns:a="http://schemas.openxmlformats.org/drawingml/2006/main">
            <a:r>
              <a:t>    "transfers": [</a:t>
            </a:r>
          </a:p>
          <a:p xmlns:a="http://schemas.openxmlformats.org/drawingml/2006/main">
            <a:r>
              <a:t>      "인구·공간 집계",</a:t>
            </a:r>
          </a:p>
          <a:p xmlns:a="http://schemas.openxmlformats.org/drawingml/2006/main">
            <a:r>
              <a:t>      "밀집 지표",</a:t>
            </a:r>
          </a:p>
          <a:p xmlns:a="http://schemas.openxmlformats.org/drawingml/2006/main">
            <a:r>
              <a:t>      "위험 알림",</a:t>
            </a:r>
          </a:p>
          <a:p xmlns:a="http://schemas.openxmlformats.org/drawingml/2006/main">
            <a:r>
              <a:t>      "현장 대응"</a:t>
            </a:r>
          </a:p>
          <a:p xmlns:a="http://schemas.openxmlformats.org/drawingml/2006/main">
            <a:r>
              <a:t>    ],</a:t>
            </a:r>
          </a:p>
          <a:p xmlns:a="http://schemas.openxmlformats.org/drawingml/2006/main">
            <a:r>
              <a:t>    "control": "공간·시간 단위 대사와 조치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K-인파관리지원시스템 · 공공AI 사례집 86–87쪽 https://bigdata.dongjak.go.kr/board/viewArticle?articleNo=954&amp;boardId=4</a:t>
            </a:r>
          </a:p>
          <a:p xmlns:a="http://schemas.openxmlformats.org/drawingml/2006/main">
            <a:r>
              <a:t>홈페이지 https://heen1987-ops.github.io/TS-business-Plan-001/index.html?view=casebook&amp;case=AX20</a:t>
            </a:r>
          </a:p>
          <a:p xmlns:a="http://schemas.openxmlformats.org/drawingml/2006/main">
            <a:r>
              <a:t>한계: 데이터 분석 운영 사례 · 생성형 AI 아님 · 사고 감소 인과효과 별도</a:t>
            </a:r>
          </a:p>
          <a:p xmlns:a="http://schemas.openxmlformats.org/drawingml/2006/main">
            <a:r>
              <a:t>실패 위험: 추정 인구와 실제 밀집의 차이 / 알림 발생과 대응 완료의 혼동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"AX20",</a:t>
            </a:r>
          </a:p>
          <a:p xmlns:a="http://schemas.openxmlformats.org/drawingml/2006/main">
            <a:r>
              <a:t>    "title": "K-인파관리지원시스템",</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"데이터 기반 위험 상황 공유",</a:t>
            </a:r>
          </a:p>
          <a:p xmlns:a="http://schemas.openxmlformats.org/drawingml/2006/main">
            <a:r>
              <a:t>    "period": "2023 구축·운영",</a:t>
            </a:r>
          </a:p>
          <a:p xmlns:a="http://schemas.openxmlformats.org/drawingml/2006/main">
            <a:r>
              <a:t>    "sources": [</a:t>
            </a:r>
          </a:p>
          <a:p xmlns:a="http://schemas.openxmlformats.org/drawingml/2006/main">
            <a:r>
              <a:t>      "S-AX20"</a:t>
            </a:r>
          </a:p>
          <a:p xmlns:a="http://schemas.openxmlformats.org/drawingml/2006/main">
            <a:r>
              <a:t>    ],</a:t>
            </a:r>
          </a:p>
          <a:p xmlns:a="http://schemas.openxmlformats.org/drawingml/2006/main">
            <a:r>
              <a:t>    "keywords": [</a:t>
            </a:r>
          </a:p>
          <a:p xmlns:a="http://schemas.openxmlformats.org/drawingml/2006/main">
            <a:r>
              <a:t>      "데이터 기반 위험 상황 공유"</a:t>
            </a:r>
          </a:p>
          <a:p xmlns:a="http://schemas.openxmlformats.org/drawingml/2006/main">
            <a:r>
              <a:t>    ],</a:t>
            </a:r>
          </a:p>
          <a:p xmlns:a="http://schemas.openxmlformats.org/drawingml/2006/main">
            <a:r>
              <a:t>    "fact": "유동인구·공간정보의 밀집도 분석과 GIS 상황판·위험 알림 제공",</a:t>
            </a:r>
          </a:p>
          <a:p xmlns:a="http://schemas.openxmlformats.org/drawingml/2006/main">
            <a:r>
              <a:t>    "limit": "데이터 분석 운영 사례 · 생성형 AI 아님 · 사고 감소 인과효과 별도",</a:t>
            </a:r>
          </a:p>
          <a:p xmlns:a="http://schemas.openxmlformats.org/drawingml/2006/main">
            <a:r>
              <a:t>    "flow": [</a:t>
            </a:r>
          </a:p>
          <a:p xmlns:a="http://schemas.openxmlformats.org/drawingml/2006/main">
            <a:r>
              <a:t>      "유동인구·공간정보",</a:t>
            </a:r>
          </a:p>
          <a:p xmlns:a="http://schemas.openxmlformats.org/drawingml/2006/main">
            <a:r>
              <a:t>      "밀집도 분석",</a:t>
            </a:r>
          </a:p>
          <a:p xmlns:a="http://schemas.openxmlformats.org/drawingml/2006/main">
            <a:r>
              <a:t>      "GIS·위험 알림",</a:t>
            </a:r>
          </a:p>
          <a:p xmlns:a="http://schemas.openxmlformats.org/drawingml/2006/main">
            <a:r>
              <a:t>      "지자체 대응"</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"위험 감지와 소관기관 상황 전파 연결",</a:t>
            </a:r>
          </a:p>
          <a:p xmlns:a="http://schemas.openxmlformats.org/drawingml/2006/main">
            <a:r>
              <a:t>    "local": "행사·교통시설 혼잡 정보의 관할·업무 인계",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"장소·시간·단계·담당 기관 매핑",</a:t>
            </a:r>
          </a:p>
          <a:p xmlns:a="http://schemas.openxmlformats.org/drawingml/2006/main">
            <a:r>
              <a:t>    "test": "자료 지연·경계 지역·알림 미수신 시험",</a:t>
            </a:r>
          </a:p>
          <a:p xmlns:a="http://schemas.openxmlformats.org/drawingml/2006/main">
            <a:r>
              <a:t>    "metric": "상황 전파시간 / 조치 누락률",</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"ST-07"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"AX20",</a:t>
            </a:r>
          </a:p>
          <a:p xmlns:a="http://schemas.openxmlformats.org/drawingml/2006/main">
            <a:r>
              <a:t>    "canonicalId": "AX20",</a:t>
            </a:r>
          </a:p>
          <a:p xmlns:a="http://schemas.openxmlformats.org/drawingml/2006/main">
            <a:r>
              <a:t>    "purpose": "인파 밀집 위험의 공간 기반 상황 관리",</a:t>
            </a:r>
          </a:p>
          <a:p xmlns:a="http://schemas.openxmlformats.org/drawingml/2006/main">
            <a:r>
              <a:t>    "users": "지자체 상황실·현장 대응부서",</a:t>
            </a:r>
          </a:p>
          <a:p xmlns:a="http://schemas.openxmlformats.org/drawingml/2006/main">
            <a:r>
              <a:t>    "scope": [</a:t>
            </a:r>
          </a:p>
          <a:p xmlns:a="http://schemas.openxmlformats.org/drawingml/2006/main">
            <a:r>
              <a:t>      "밀집도",</a:t>
            </a:r>
          </a:p>
          <a:p xmlns:a="http://schemas.openxmlformats.org/drawingml/2006/main">
            <a:r>
              <a:t>      "GIS 상황판",</a:t>
            </a:r>
          </a:p>
          <a:p xmlns:a="http://schemas.openxmlformats.org/drawingml/2006/main">
            <a:r>
              <a:t>      "위험 알림"</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"유동인구·공간정보",</a:t>
            </a:r>
          </a:p>
          <a:p xmlns:a="http://schemas.openxmlformats.org/drawingml/2006/main">
            <a:r>
              <a:t>        "detail": "구역·시간·행사 등 상황 맥락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"밀집도 / GIS 상황판 / 위험 알림",</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"밀집도 분석",</a:t>
            </a:r>
          </a:p>
          <a:p xmlns:a="http://schemas.openxmlformats.org/drawingml/2006/main">
            <a:r>
              <a:t>        "detail": "유동인구와 공간 조건의 밀집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"지자체 상황실",</a:t>
            </a:r>
          </a:p>
          <a:p xmlns:a="http://schemas.openxmlformats.org/drawingml/2006/main">
            <a:r>
              <a:t>        "detail": "상황판 경보와 현장 확인·대응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"지역별 밀집 이력",</a:t>
            </a:r>
          </a:p>
          <a:p xmlns:a="http://schemas.openxmlformats.org/drawingml/2006/main">
            <a:r>
              <a:t>        "detail": "유동인구 집계·공간정보·구역 코드 결합",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"실제 밀집상태·경보·대응시간 대조",</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"유동인구·공간정보",</a:t>
            </a:r>
          </a:p>
          <a:p xmlns:a="http://schemas.openxmlformats.org/drawingml/2006/main">
            <a:r>
              <a:t>        "input": "구역·시간·행사 등 상황 맥락 지정",</a:t>
            </a:r>
          </a:p>
          <a:p xmlns:a="http://schemas.openxmlformats.org/drawingml/2006/main">
            <a:r>
              <a:t>        "process": "유동인구 집계·공간정보·구역 코드 결합",</a:t>
            </a:r>
          </a:p>
          <a:p xmlns:a="http://schemas.openxmlformats.org/drawingml/2006/main">
            <a:r>
              <a:t>        "output": "인구·공간 집계"</a:t>
            </a:r>
          </a:p>
          <a:p xmlns:a="http://schemas.openxmlformats.org/drawingml/2006/main">
            <a:r>
              <a:t>      },</a:t>
            </a:r>
          </a:p>
          <a:p xmlns:a="http://schemas.openxmlformats.org/drawingml/2006/main">
            <a:r>
              <a:t>      {</a:t>
            </a:r>
          </a:p>
          <a:p xmlns:a="http://schemas.openxmlformats.org/drawingml/2006/main">
            <a:r>
              <a:t>        "title": "밀집도 분석",</a:t>
            </a:r>
          </a:p>
          <a:p xmlns:a="http://schemas.openxmlformats.org/drawingml/2006/main">
            <a:r>
              <a:t>        "input": "인구·공간 집계",</a:t>
            </a:r>
          </a:p>
          <a:p xmlns:a="http://schemas.openxmlformats.org/drawingml/2006/main">
            <a:r>
              <a:t>        "process": "유동인구와 공간 조건의 밀집 분석",</a:t>
            </a:r>
          </a:p>
          <a:p xmlns:a="http://schemas.openxmlformats.org/drawingml/2006/main">
            <a:r>
              <a:t>        "output": "밀집 지표"</a:t>
            </a:r>
          </a:p>
          <a:p xmlns:a="http://schemas.openxmlformats.org/drawingml/2006/main">
            <a:r>
              <a:t>      },</a:t>
            </a:r>
          </a:p>
          <a:p xmlns:a="http://schemas.openxmlformats.org/drawingml/2006/main">
            <a:r>
              <a:t>      {</a:t>
            </a:r>
          </a:p>
          <a:p xmlns:a="http://schemas.openxmlformats.org/drawingml/2006/main">
            <a:r>
              <a:t>        "title": "GIS·위험 알림",</a:t>
            </a:r>
          </a:p>
          <a:p xmlns:a="http://schemas.openxmlformats.org/drawingml/2006/main">
            <a:r>
              <a:t>        "input": "밀집 지표",</a:t>
            </a:r>
          </a:p>
          <a:p xmlns:a="http://schemas.openxmlformats.org/drawingml/2006/main">
            <a:r>
              <a:t>        "process": "공간·시간 단위 대사와 조치 확인",</a:t>
            </a:r>
          </a:p>
          <a:p xmlns:a="http://schemas.openxmlformats.org/drawingml/2006/main">
            <a:r>
              <a:t>        "output": "위험 알림"</a:t>
            </a:r>
          </a:p>
          <a:p xmlns:a="http://schemas.openxmlformats.org/drawingml/2006/main">
            <a:r>
              <a:t>      },</a:t>
            </a:r>
          </a:p>
          <a:p xmlns:a="http://schemas.openxmlformats.org/drawingml/2006/main">
            <a:r>
              <a:t>      {</a:t>
            </a:r>
          </a:p>
          <a:p xmlns:a="http://schemas.openxmlformats.org/drawingml/2006/main">
            <a:r>
              <a:t>        "title": "지자체 대응",</a:t>
            </a:r>
          </a:p>
          <a:p xmlns:a="http://schemas.openxmlformats.org/drawingml/2006/main">
            <a:r>
              <a:t>        "input": "위험 알림",</a:t>
            </a:r>
          </a:p>
          <a:p xmlns:a="http://schemas.openxmlformats.org/drawingml/2006/main">
            <a:r>
              <a:t>        "process": "상황판 경보와 현장 확인·대응 연결",</a:t>
            </a:r>
          </a:p>
          <a:p xmlns:a="http://schemas.openxmlformats.org/drawingml/2006/main">
            <a:r>
              <a:t>        "output": "현장 대응"</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"구역별 인파 밀집을 파악하고 현장 확인 요청",</a:t>
            </a:r>
          </a:p>
          <a:p xmlns:a="http://schemas.openxmlformats.org/drawingml/2006/main">
            <a:r>
              <a:t>      "exception": "집계 지연·통신 표본 편향·구역 경계 변경",</a:t>
            </a:r>
          </a:p>
          <a:p xmlns:a="http://schemas.openxmlformats.org/drawingml/2006/main">
            <a:r>
              <a:t>      "evidence": "현장 밀집상태 대비 경보·전파·조치 시각",</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"지자체 상황실·현장 대응부서",</a:t>
            </a:r>
          </a:p>
          <a:p xmlns:a="http://schemas.openxmlformats.org/drawingml/2006/main">
            <a:r>
              <a:t>          "processing": "구역·시간·행사 등 상황 맥락 지정",</a:t>
            </a:r>
          </a:p>
          <a:p xmlns:a="http://schemas.openxmlformats.org/drawingml/2006/main">
            <a:r>
              <a:t>          "output": "인구·공간 집계"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"지역별 밀집 이력",</a:t>
            </a:r>
          </a:p>
          <a:p xmlns:a="http://schemas.openxmlformats.org/drawingml/2006/main">
            <a:r>
              <a:t>          "processing": "유동인구 집계·공간정보·구역 코드 결합",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"인구·공간 집계",</a:t>
            </a:r>
          </a:p>
          <a:p xmlns:a="http://schemas.openxmlformats.org/drawingml/2006/main">
            <a:r>
              <a:t>          "processing": "유동인구와 공간 조건의 밀집 분석",</a:t>
            </a:r>
          </a:p>
          <a:p xmlns:a="http://schemas.openxmlformats.org/drawingml/2006/main">
            <a:r>
              <a:t>          "output": "위험 알림"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 알림",</a:t>
            </a:r>
          </a:p>
          <a:p xmlns:a="http://schemas.openxmlformats.org/drawingml/2006/main">
            <a:r>
              <a:t>          "processing": "상황판 경보와 현장 확인·대응 연결",</a:t>
            </a:r>
          </a:p>
          <a:p xmlns:a="http://schemas.openxmlformats.org/drawingml/2006/main">
            <a:r>
              <a:t>          "output": "현장 대응"</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"실제 밀집상태·경보·대응시간 대조",</a:t>
            </a:r>
          </a:p>
          <a:p xmlns:a="http://schemas.openxmlformats.org/drawingml/2006/main">
            <a:r>
              <a:t>          "output": "현장 밀집상태 대비 경보·전파·조치 시각"</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"실제 밀집상태·경보·대응시간 대조",</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"S-AX20",</a:t>
            </a:r>
          </a:p>
          <a:p xmlns:a="http://schemas.openxmlformats.org/drawingml/2006/main">
            <a:r>
              <a:t>        "title": "K-인파관리지원시스템 · 공공AI 사례집 86–87쪽",</a:t>
            </a:r>
          </a:p>
          <a:p xmlns:a="http://schemas.openxmlformats.org/drawingml/2006/main">
            <a:r>
              <a:t>        "url": "https://bigdata.dongjak.go.kr/board/viewArticle?articleNo=954&amp;boardId=4",</a:t>
            </a:r>
          </a:p>
          <a:p xmlns:a="http://schemas.openxmlformats.org/drawingml/2006/main">
            <a:r>
              <a:t>        "published": "2023 구축·운영",</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"위험 감지와 소관기관 상황 전파 연결",</a:t>
            </a:r>
          </a:p>
          <a:p xmlns:a="http://schemas.openxmlformats.org/drawingml/2006/main">
            <a:r>
              <a:t>    "local": "행사·교통시설 혼잡 정보의 관할·업무 인계",</a:t>
            </a:r>
          </a:p>
          <a:p xmlns:a="http://schemas.openxmlformats.org/drawingml/2006/main">
            <a:r>
              <a:t>    "sourceDetail": null,</a:t>
            </a:r>
          </a:p>
          <a:p xmlns:a="http://schemas.openxmlformats.org/drawingml/2006/main">
            <a:r>
              <a:t>    "narrative": [</a:t>
            </a:r>
          </a:p>
          <a:p xmlns:a="http://schemas.openxmlformats.org/drawingml/2006/main">
            <a:r>
              <a:t>      "유동인구와 공간정보를 결합해 밀집 위험을 상황실과 현장 대응부서에 전달하는 사례. 추정 밀집도와 실제 현장 상태를 확인하는 조직적 대응이 결합된 구조.",</a:t>
            </a:r>
          </a:p>
          <a:p xmlns:a="http://schemas.openxmlformats.org/drawingml/2006/main">
            <a:r>
              <a:t>      "시간·구역·행사 맥락에 따라 집계 자료를 정합화하고 GIS 상황판과 경보를 생성하는 재구성. 경보 발생, 상황실 확인, 현장 출동·통제, 결과 보고를 별도 상태로 연결.",</a:t>
            </a:r>
          </a:p>
          <a:p xmlns:a="http://schemas.openxmlformats.org/drawingml/2006/main">
            <a:r>
              <a:t>      "TS 교통·시설 안전 적용에서 집계 공간 단위와 관측 편차를 먼저 확인할 필요. 오경보·미탐 외에 알림 수신·확인·대응까지 걸린 시간과 담당 부서의 인계 누락을 검수할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"상황실 조회",</a:t>
            </a:r>
          </a:p>
          <a:p xmlns:a="http://schemas.openxmlformats.org/drawingml/2006/main">
            <a:r>
              <a:t>          "layer": "이용 접점",</a:t>
            </a:r>
          </a:p>
          <a:p xmlns:a="http://schemas.openxmlformats.org/drawingml/2006/main">
            <a:r>
              <a:t>          "detail": "지자체 상황실·현장 대응부서",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"구역·행사 맥락",</a:t>
            </a:r>
          </a:p>
          <a:p xmlns:a="http://schemas.openxmlformats.org/drawingml/2006/main">
            <a:r>
              <a:t>          "layer": "업무 문맥",</a:t>
            </a:r>
          </a:p>
          <a:p xmlns:a="http://schemas.openxmlformats.org/drawingml/2006/main">
            <a:r>
              <a:t>          "detail": "구역·시간·행사 등 상황 맥락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"인구·공간 조회",</a:t>
            </a:r>
          </a:p>
          <a:p xmlns:a="http://schemas.openxmlformats.org/drawingml/2006/main">
            <a:r>
              <a:t>          "layer": "자료 조회",</a:t>
            </a:r>
          </a:p>
          <a:p xmlns:a="http://schemas.openxmlformats.org/drawingml/2006/main">
            <a:r>
              <a:t>          "detail": "인구·공간 집계",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"밀집 위험 분석",</a:t>
            </a:r>
          </a:p>
          <a:p xmlns:a="http://schemas.openxmlformats.org/drawingml/2006/main">
            <a:r>
              <a:t>          "layer": "핵심 처리",</a:t>
            </a:r>
          </a:p>
          <a:p xmlns:a="http://schemas.openxmlformats.org/drawingml/2006/main">
            <a:r>
              <a:t>          "detail": "유동인구와 공간 조건의 밀집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"관측·추정 대조",</a:t>
            </a:r>
          </a:p>
          <a:p xmlns:a="http://schemas.openxmlformats.org/drawingml/2006/main">
            <a:r>
              <a:t>          "layer": "결과 검증",</a:t>
            </a:r>
          </a:p>
          <a:p xmlns:a="http://schemas.openxmlformats.org/drawingml/2006/main">
            <a:r>
              <a:t>          "detail": "공간·시간 단위 대사와 조치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"상황실 확인",</a:t>
            </a:r>
          </a:p>
          <a:p xmlns:a="http://schemas.openxmlformats.org/drawingml/2006/main">
            <a:r>
              <a:t>          "layer": "사람 확인",</a:t>
            </a:r>
          </a:p>
          <a:p xmlns:a="http://schemas.openxmlformats.org/drawingml/2006/main">
            <a:r>
              <a:t>          "detail": "구역별 인파 밀집을 파악하고 현장 확인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"현장 대응 알림",</a:t>
            </a:r>
          </a:p>
          <a:p xmlns:a="http://schemas.openxmlformats.org/drawingml/2006/main">
            <a:r>
              <a:t>          "layer": "업무 연결",</a:t>
            </a:r>
          </a:p>
          <a:p xmlns:a="http://schemas.openxmlformats.org/drawingml/2006/main">
            <a:r>
              <a:t>          "detail": "상황판 경보와 현장 확인·대응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"대응시간 추적",</a:t>
            </a:r>
          </a:p>
          <a:p xmlns:a="http://schemas.openxmlformats.org/drawingml/2006/main">
            <a:r>
              <a:t>          "layer": "운영 관측",</a:t>
            </a:r>
          </a:p>
          <a:p xmlns:a="http://schemas.openxmlformats.org/drawingml/2006/main">
            <a:r>
              <a:t>          "detail": "실제 밀집상태·경보·대응시간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"유동인구·GIS",</a:t>
            </a:r>
          </a:p>
          <a:p xmlns:a="http://schemas.openxmlformats.org/drawingml/2006/main">
            <a:r>
              <a:t>          "layer": "데이터 원천",</a:t>
            </a:r>
          </a:p>
          <a:p xmlns:a="http://schemas.openxmlformats.org/drawingml/2006/main">
            <a:r>
              <a:t>          "detail": "지역별 밀집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"시간·구역 정합화",</a:t>
            </a:r>
          </a:p>
          <a:p xmlns:a="http://schemas.openxmlformats.org/drawingml/2006/main">
            <a:r>
              <a:t>          "layer": "준비·갱신",</a:t>
            </a:r>
          </a:p>
          <a:p xmlns:a="http://schemas.openxmlformats.org/drawingml/2006/main">
            <a:r>
              <a:t>          "detail": "유동인구 집계·공간정보·구역 코드 결합",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"밀집·대응 이력",</a:t>
            </a:r>
          </a:p>
          <a:p xmlns:a="http://schemas.openxmlformats.org/drawingml/2006/main">
            <a:r>
              <a:t>          "layer": "상태·지식 저장",</a:t>
            </a:r>
          </a:p>
          <a:p xmlns:a="http://schemas.openxmlformats.org/drawingml/2006/main">
            <a:r>
              <a:t>          "detail": "현장 밀집상태 대비 경보·전파·조치 시각",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"집계·경보 기준",</a:t>
            </a:r>
          </a:p>
          <a:p xmlns:a="http://schemas.openxmlformats.org/drawingml/2006/main">
            <a:r>
              <a:t>          "layer": "권한·정책",</a:t>
            </a:r>
          </a:p>
          <a:p xmlns:a="http://schemas.openxmlformats.org/drawingml/2006/main">
            <a:r>
              <a:t>          "detail": "집계 지연·통신 표본 편향·구역 경계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"유동인구·공간정보 → 밀집도 분석 → GIS·위험 알림 → 지자체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"지역별 밀집 이력",</a:t>
            </a:r>
          </a:p>
          <a:p xmlns:a="http://schemas.openxmlformats.org/drawingml/2006/main">
            <a:r>
              <a:t>          "check": "유동인구 집계·공간정보·구역 코드 결합"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"유동인구 집계·공간정보·구역 코드 결합"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"위험 알림",</a:t>
            </a:r>
          </a:p>
          <a:p xmlns:a="http://schemas.openxmlformats.org/drawingml/2006/main">
            <a:r>
              <a:t>          "check": "현장 밀집상태 대비 경보·전파·조치 시각"</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"집계·경보 기준",</a:t>
            </a:r>
          </a:p>
          <a:p xmlns:a="http://schemas.openxmlformats.org/drawingml/2006/main">
            <a:r>
              <a:t>          "check": "공간·시간 단위 대사와 조치 확인"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"현장 대응",</a:t>
            </a:r>
          </a:p>
          <a:p xmlns:a="http://schemas.openxmlformats.org/drawingml/2006/main">
            <a:r>
              <a:t>          "check": "현장 밀집상태 대비 경보·전파·조치 시각"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"실제 밀집상태·경보·대응시간 대조",</a:t>
            </a:r>
          </a:p>
          <a:p xmlns:a="http://schemas.openxmlformats.org/drawingml/2006/main">
            <a:r>
              <a:t>          "check": "실제 밀집상태·경보·대응시간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"인파 밀집 위험의 공간 기반 상황 관리 / 밀집도·GIS 상황판·위험 알림",</a:t>
            </a:r>
          </a:p>
          <a:p xmlns:a="http://schemas.openxmlformats.org/drawingml/2006/main">
            <a:r>
              <a:t>        "extension": "행사·교통시설 혼잡 정보의 관할·업무 인계"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"집계 지연·통신 표본 편향·구역 경계 변경",</a:t>
            </a:r>
          </a:p>
          <a:p xmlns:a="http://schemas.openxmlformats.org/drawingml/2006/main">
            <a:r>
              <a:t>        "hold": "공간·시간 단위 대사와 조치 확인",</a:t>
            </a:r>
          </a:p>
          <a:p xmlns:a="http://schemas.openxmlformats.org/drawingml/2006/main">
            <a:r>
              <a:t>        "recovery": "실제 밀집상태·경보·대응시간 대조",</a:t>
            </a:r>
          </a:p>
          <a:p xmlns:a="http://schemas.openxmlformats.org/drawingml/2006/main">
            <a:r>
              <a:t>        "evidence": "현장 밀집상태 대비 경보·전파·조치 시각"</a:t>
            </a:r>
          </a:p>
          <a:p xmlns:a="http://schemas.openxmlformats.org/drawingml/2006/main">
            <a:r>
              <a:t>      },</a:t>
            </a:r>
          </a:p>
          <a:p xmlns:a="http://schemas.openxmlformats.org/drawingml/2006/main">
            <a:r>
              <a:t>      "data": {</a:t>
            </a:r>
          </a:p>
          <a:p xmlns:a="http://schemas.openxmlformats.org/drawingml/2006/main">
            <a:r>
              <a:t>        "source": "지역별 밀집 이력",</a:t>
            </a:r>
          </a:p>
          <a:p xmlns:a="http://schemas.openxmlformats.org/drawingml/2006/main">
            <a:r>
              <a:t>        "prepare": "유동인구 집계·공간정보·구역 코드 결합",</a:t>
            </a:r>
          </a:p>
          <a:p xmlns:a="http://schemas.openxmlformats.org/drawingml/2006/main">
            <a:r>
              <a:t>        "output": "인구·공간 집계",</a:t>
            </a:r>
          </a:p>
          <a:p xmlns:a="http://schemas.openxmlformats.org/drawingml/2006/main">
            <a:r>
              <a:t>        "refresh": "실제 밀집상태·경보·대응시간 대조"</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"AX20",</a:t>
            </a:r>
          </a:p>
          <a:p xmlns:a="http://schemas.openxmlformats.org/drawingml/2006/main">
            <a:r>
              <a:t>    "success": [</a:t>
            </a:r>
          </a:p>
          <a:p xmlns:a="http://schemas.openxmlformats.org/drawingml/2006/main">
            <a:r>
              <a:t>      "공간정보와 유동인구의 결합",</a:t>
            </a:r>
          </a:p>
          <a:p xmlns:a="http://schemas.openxmlformats.org/drawingml/2006/main">
            <a:r>
              <a:t>      "상황판·알림과 지자체 대응 연결"</a:t>
            </a:r>
          </a:p>
          <a:p xmlns:a="http://schemas.openxmlformats.org/drawingml/2006/main">
            <a:r>
              <a:t>    ],</a:t>
            </a:r>
          </a:p>
          <a:p xmlns:a="http://schemas.openxmlformats.org/drawingml/2006/main">
            <a:r>
              <a:t>    "risks": [</a:t>
            </a:r>
          </a:p>
          <a:p xmlns:a="http://schemas.openxmlformats.org/drawingml/2006/main">
            <a:r>
              <a:t>      "추정 인구와 실제 밀집의 차이",</a:t>
            </a:r>
          </a:p>
          <a:p xmlns:a="http://schemas.openxmlformats.org/drawingml/2006/main">
            <a:r>
              <a:t>      "알림 발생과 대응 완료의 혼동"</a:t>
            </a:r>
          </a:p>
          <a:p xmlns:a="http://schemas.openxmlformats.org/drawingml/2006/main">
            <a:r>
              <a:t>    ],</a:t>
            </a:r>
          </a:p>
          <a:p xmlns:a="http://schemas.openxmlformats.org/drawingml/2006/main">
            <a:r>
              <a:t>    "architecture": [</a:t>
            </a:r>
          </a:p>
          <a:p xmlns:a="http://schemas.openxmlformats.org/drawingml/2006/main">
            <a:r>
              <a:t>      "유동인구·공간정보",</a:t>
            </a:r>
          </a:p>
          <a:p xmlns:a="http://schemas.openxmlformats.org/drawingml/2006/main">
            <a:r>
              <a:t>      "밀집도 분석",</a:t>
            </a:r>
          </a:p>
          <a:p xmlns:a="http://schemas.openxmlformats.org/drawingml/2006/main">
            <a:r>
              <a:t>      "지역별 밀집 이력",</a:t>
            </a:r>
          </a:p>
          <a:p xmlns:a="http://schemas.openxmlformats.org/drawingml/2006/main">
            <a:r>
              <a:t>      "지자체 상황실"</a:t>
            </a:r>
          </a:p>
          <a:p xmlns:a="http://schemas.openxmlformats.org/drawingml/2006/main">
            <a:r>
              <a:t>    ],</a:t>
            </a:r>
          </a:p>
          <a:p xmlns:a="http://schemas.openxmlformats.org/drawingml/2006/main">
            <a:r>
              <a:t>    "transfers": [</a:t>
            </a:r>
          </a:p>
          <a:p xmlns:a="http://schemas.openxmlformats.org/drawingml/2006/main">
            <a:r>
              <a:t>      "인구·공간 집계",</a:t>
            </a:r>
          </a:p>
          <a:p xmlns:a="http://schemas.openxmlformats.org/drawingml/2006/main">
            <a:r>
              <a:t>      "밀집 지표",</a:t>
            </a:r>
          </a:p>
          <a:p xmlns:a="http://schemas.openxmlformats.org/drawingml/2006/main">
            <a:r>
              <a:t>      "위험 알림",</a:t>
            </a:r>
          </a:p>
          <a:p xmlns:a="http://schemas.openxmlformats.org/drawingml/2006/main">
            <a:r>
              <a:t>      "현장 대응"</a:t>
            </a:r>
          </a:p>
          <a:p xmlns:a="http://schemas.openxmlformats.org/drawingml/2006/main">
            <a:r>
              <a:t>    ],</a:t>
            </a:r>
          </a:p>
          <a:p xmlns:a="http://schemas.openxmlformats.org/drawingml/2006/main">
            <a:r>
              <a:t>    "control": "공간·시간 단위 대사와 조치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K-인파관리지원시스템 · 공공AI 사례집 86–87쪽 https://bigdata.dongjak.go.kr/board/viewArticle?articleNo=954&amp;boardId=4</a:t>
            </a:r>
          </a:p>
          <a:p xmlns:a="http://schemas.openxmlformats.org/drawingml/2006/main">
            <a:r>
              <a:t>홈페이지 https://heen1987-ops.github.io/TS-business-Plan-001/index.html?view=casebook&amp;case=AX20</a:t>
            </a:r>
          </a:p>
          <a:p xmlns:a="http://schemas.openxmlformats.org/drawingml/2006/main">
            <a:r>
              <a:t>성과 대조</a:t>
            </a:r>
          </a:p>
          <a:p xmlns:a="http://schemas.openxmlformats.org/drawingml/2006/main">
            <a:r>
              <a:t>{</a:t>
            </a:r>
          </a:p>
          <a:p xmlns:a="http://schemas.openxmlformats.org/drawingml/2006/main">
            <a:r>
              <a:t>  "caseId": "AX20",</a:t>
            </a:r>
          </a:p>
          <a:p xmlns:a="http://schemas.openxmlformats.org/drawingml/2006/main">
            <a:r>
              <a:t>  "asIs": "인파 밀집 정보를 지역·시점별로 모아 지자체가 실시간 확인하기 어려움",</a:t>
            </a:r>
          </a:p>
          <a:p xmlns:a="http://schemas.openxmlformats.org/drawingml/2006/main">
            <a:r>
              <a:t>  "toBe": "유동인구·공간정보를 분석해 GIS 상황판과 위험 알림 제공",</a:t>
            </a:r>
          </a:p>
          <a:p xmlns:a="http://schemas.openxmlformats.org/drawingml/2006/main">
            <a:r>
              <a:t>  "expectedEffect": "군중 밀집 조기 인지와 현장 조치 시간 단축",</a:t>
            </a:r>
          </a:p>
          <a:p xmlns:a="http://schemas.openxmlformats.org/drawingml/2006/main">
            <a:r>
              <a:t>  "observed": "공공 사례집이 K-인파관리지원시스템의 구축·상황판 운영을 소개",</a:t>
            </a:r>
          </a:p>
          <a:p xmlns:a="http://schemas.openxmlformats.org/drawingml/2006/main">
            <a:r>
              <a:t>  "verdict": "성과 미검증",</a:t>
            </a:r>
          </a:p>
          <a:p xmlns:a="http://schemas.openxmlformats.org/drawingml/2006/main">
            <a:r>
              <a:t>  "verdictReason": "상황판 제공은 확인되나 위험 감지 정확도·현장 조치시간·사고 감소의 측정 결과 부재",</a:t>
            </a:r>
          </a:p>
          <a:p xmlns:a="http://schemas.openxmlformats.org/drawingml/2006/main">
            <a:r>
              <a:t>  "limits": "데이터 분석 시스템. 생성형 AI 도입이나 사고 예방 인과성과로 확대 불가",</a:t>
            </a:r>
          </a:p>
          <a:p xmlns:a="http://schemas.openxmlformats.org/drawingml/2006/main">
            <a:r>
              <a:t>  "evidenceStage": "정부 구축·운영 사례집",</a:t>
            </a:r>
          </a:p>
          <a:p xmlns:a="http://schemas.openxmlformats.org/drawingml/2006/main">
            <a:r>
              <a:t>  "sourceUrl": "https://bigdata.dongjak.go.kr/board/viewArticle?articleNo=954&amp;boardId=4"</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"AX20",</a:t>
            </a:r>
          </a:p>
          <a:p xmlns:a="http://schemas.openxmlformats.org/drawingml/2006/main">
            <a:r>
              <a:t>    "title": "K-인파관리지원시스템",</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"데이터 기반 위험 상황 공유",</a:t>
            </a:r>
          </a:p>
          <a:p xmlns:a="http://schemas.openxmlformats.org/drawingml/2006/main">
            <a:r>
              <a:t>    "period": "2023 구축·운영",</a:t>
            </a:r>
          </a:p>
          <a:p xmlns:a="http://schemas.openxmlformats.org/drawingml/2006/main">
            <a:r>
              <a:t>    "sources": [</a:t>
            </a:r>
          </a:p>
          <a:p xmlns:a="http://schemas.openxmlformats.org/drawingml/2006/main">
            <a:r>
              <a:t>      "S-AX20"</a:t>
            </a:r>
          </a:p>
          <a:p xmlns:a="http://schemas.openxmlformats.org/drawingml/2006/main">
            <a:r>
              <a:t>    ],</a:t>
            </a:r>
          </a:p>
          <a:p xmlns:a="http://schemas.openxmlformats.org/drawingml/2006/main">
            <a:r>
              <a:t>    "keywords": [</a:t>
            </a:r>
          </a:p>
          <a:p xmlns:a="http://schemas.openxmlformats.org/drawingml/2006/main">
            <a:r>
              <a:t>      "데이터 기반 위험 상황 공유"</a:t>
            </a:r>
          </a:p>
          <a:p xmlns:a="http://schemas.openxmlformats.org/drawingml/2006/main">
            <a:r>
              <a:t>    ],</a:t>
            </a:r>
          </a:p>
          <a:p xmlns:a="http://schemas.openxmlformats.org/drawingml/2006/main">
            <a:r>
              <a:t>    "fact": "유동인구·공간정보의 밀집도 분석과 GIS 상황판·위험 알림 제공",</a:t>
            </a:r>
          </a:p>
          <a:p xmlns:a="http://schemas.openxmlformats.org/drawingml/2006/main">
            <a:r>
              <a:t>    "limit": "데이터 분석 운영 사례 · 생성형 AI 아님 · 사고 감소 인과효과 별도",</a:t>
            </a:r>
          </a:p>
          <a:p xmlns:a="http://schemas.openxmlformats.org/drawingml/2006/main">
            <a:r>
              <a:t>    "flow": [</a:t>
            </a:r>
          </a:p>
          <a:p xmlns:a="http://schemas.openxmlformats.org/drawingml/2006/main">
            <a:r>
              <a:t>      "유동인구·공간정보",</a:t>
            </a:r>
          </a:p>
          <a:p xmlns:a="http://schemas.openxmlformats.org/drawingml/2006/main">
            <a:r>
              <a:t>      "밀집도 분석",</a:t>
            </a:r>
          </a:p>
          <a:p xmlns:a="http://schemas.openxmlformats.org/drawingml/2006/main">
            <a:r>
              <a:t>      "GIS·위험 알림",</a:t>
            </a:r>
          </a:p>
          <a:p xmlns:a="http://schemas.openxmlformats.org/drawingml/2006/main">
            <a:r>
              <a:t>      "지자체 대응"</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"위험 감지와 소관기관 상황 전파 연결",</a:t>
            </a:r>
          </a:p>
          <a:p xmlns:a="http://schemas.openxmlformats.org/drawingml/2006/main">
            <a:r>
              <a:t>    "local": "행사·교통시설 혼잡 정보의 관할·업무 인계",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"장소·시간·단계·담당 기관 매핑",</a:t>
            </a:r>
          </a:p>
          <a:p xmlns:a="http://schemas.openxmlformats.org/drawingml/2006/main">
            <a:r>
              <a:t>    "test": "자료 지연·경계 지역·알림 미수신 시험",</a:t>
            </a:r>
          </a:p>
          <a:p xmlns:a="http://schemas.openxmlformats.org/drawingml/2006/main">
            <a:r>
              <a:t>    "metric": "상황 전파시간 / 조치 누락률",</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"ST-07"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"AX20",</a:t>
            </a:r>
          </a:p>
          <a:p xmlns:a="http://schemas.openxmlformats.org/drawingml/2006/main">
            <a:r>
              <a:t>    "canonicalId": "AX20",</a:t>
            </a:r>
          </a:p>
          <a:p xmlns:a="http://schemas.openxmlformats.org/drawingml/2006/main">
            <a:r>
              <a:t>    "purpose": "인파 밀집 위험의 공간 기반 상황 관리",</a:t>
            </a:r>
          </a:p>
          <a:p xmlns:a="http://schemas.openxmlformats.org/drawingml/2006/main">
            <a:r>
              <a:t>    "users": "지자체 상황실·현장 대응부서",</a:t>
            </a:r>
          </a:p>
          <a:p xmlns:a="http://schemas.openxmlformats.org/drawingml/2006/main">
            <a:r>
              <a:t>    "scope": [</a:t>
            </a:r>
          </a:p>
          <a:p xmlns:a="http://schemas.openxmlformats.org/drawingml/2006/main">
            <a:r>
              <a:t>      "밀집도",</a:t>
            </a:r>
          </a:p>
          <a:p xmlns:a="http://schemas.openxmlformats.org/drawingml/2006/main">
            <a:r>
              <a:t>      "GIS 상황판",</a:t>
            </a:r>
          </a:p>
          <a:p xmlns:a="http://schemas.openxmlformats.org/drawingml/2006/main">
            <a:r>
              <a:t>      "위험 알림"</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"유동인구·공간정보",</a:t>
            </a:r>
          </a:p>
          <a:p xmlns:a="http://schemas.openxmlformats.org/drawingml/2006/main">
            <a:r>
              <a:t>        "detail": "구역·시간·행사 등 상황 맥락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"밀집도 / GIS 상황판 / 위험 알림",</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"밀집도 분석",</a:t>
            </a:r>
          </a:p>
          <a:p xmlns:a="http://schemas.openxmlformats.org/drawingml/2006/main">
            <a:r>
              <a:t>        "detail": "유동인구와 공간 조건의 밀집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"지자체 상황실",</a:t>
            </a:r>
          </a:p>
          <a:p xmlns:a="http://schemas.openxmlformats.org/drawingml/2006/main">
            <a:r>
              <a:t>        "detail": "상황판 경보와 현장 확인·대응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"지역별 밀집 이력",</a:t>
            </a:r>
          </a:p>
          <a:p xmlns:a="http://schemas.openxmlformats.org/drawingml/2006/main">
            <a:r>
              <a:t>        "detail": "유동인구 집계·공간정보·구역 코드 결합",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"실제 밀집상태·경보·대응시간 대조",</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"유동인구·공간정보",</a:t>
            </a:r>
          </a:p>
          <a:p xmlns:a="http://schemas.openxmlformats.org/drawingml/2006/main">
            <a:r>
              <a:t>        "input": "구역·시간·행사 등 상황 맥락 지정",</a:t>
            </a:r>
          </a:p>
          <a:p xmlns:a="http://schemas.openxmlformats.org/drawingml/2006/main">
            <a:r>
              <a:t>        "process": "유동인구 집계·공간정보·구역 코드 결합",</a:t>
            </a:r>
          </a:p>
          <a:p xmlns:a="http://schemas.openxmlformats.org/drawingml/2006/main">
            <a:r>
              <a:t>        "output": "인구·공간 집계"</a:t>
            </a:r>
          </a:p>
          <a:p xmlns:a="http://schemas.openxmlformats.org/drawingml/2006/main">
            <a:r>
              <a:t>      },</a:t>
            </a:r>
          </a:p>
          <a:p xmlns:a="http://schemas.openxmlformats.org/drawingml/2006/main">
            <a:r>
              <a:t>      {</a:t>
            </a:r>
          </a:p>
          <a:p xmlns:a="http://schemas.openxmlformats.org/drawingml/2006/main">
            <a:r>
              <a:t>        "title": "밀집도 분석",</a:t>
            </a:r>
          </a:p>
          <a:p xmlns:a="http://schemas.openxmlformats.org/drawingml/2006/main">
            <a:r>
              <a:t>        "input": "인구·공간 집계",</a:t>
            </a:r>
          </a:p>
          <a:p xmlns:a="http://schemas.openxmlformats.org/drawingml/2006/main">
            <a:r>
              <a:t>        "process": "유동인구와 공간 조건의 밀집 분석",</a:t>
            </a:r>
          </a:p>
          <a:p xmlns:a="http://schemas.openxmlformats.org/drawingml/2006/main">
            <a:r>
              <a:t>        "output": "밀집 지표"</a:t>
            </a:r>
          </a:p>
          <a:p xmlns:a="http://schemas.openxmlformats.org/drawingml/2006/main">
            <a:r>
              <a:t>      },</a:t>
            </a:r>
          </a:p>
          <a:p xmlns:a="http://schemas.openxmlformats.org/drawingml/2006/main">
            <a:r>
              <a:t>      {</a:t>
            </a:r>
          </a:p>
          <a:p xmlns:a="http://schemas.openxmlformats.org/drawingml/2006/main">
            <a:r>
              <a:t>        "title": "GIS·위험 알림",</a:t>
            </a:r>
          </a:p>
          <a:p xmlns:a="http://schemas.openxmlformats.org/drawingml/2006/main">
            <a:r>
              <a:t>        "input": "밀집 지표",</a:t>
            </a:r>
          </a:p>
          <a:p xmlns:a="http://schemas.openxmlformats.org/drawingml/2006/main">
            <a:r>
              <a:t>        "process": "공간·시간 단위 대사와 조치 확인",</a:t>
            </a:r>
          </a:p>
          <a:p xmlns:a="http://schemas.openxmlformats.org/drawingml/2006/main">
            <a:r>
              <a:t>        "output": "위험 알림"</a:t>
            </a:r>
          </a:p>
          <a:p xmlns:a="http://schemas.openxmlformats.org/drawingml/2006/main">
            <a:r>
              <a:t>      },</a:t>
            </a:r>
          </a:p>
          <a:p xmlns:a="http://schemas.openxmlformats.org/drawingml/2006/main">
            <a:r>
              <a:t>      {</a:t>
            </a:r>
          </a:p>
          <a:p xmlns:a="http://schemas.openxmlformats.org/drawingml/2006/main">
            <a:r>
              <a:t>        "title": "지자체 대응",</a:t>
            </a:r>
          </a:p>
          <a:p xmlns:a="http://schemas.openxmlformats.org/drawingml/2006/main">
            <a:r>
              <a:t>        "input": "위험 알림",</a:t>
            </a:r>
          </a:p>
          <a:p xmlns:a="http://schemas.openxmlformats.org/drawingml/2006/main">
            <a:r>
              <a:t>        "process": "상황판 경보와 현장 확인·대응 연결",</a:t>
            </a:r>
          </a:p>
          <a:p xmlns:a="http://schemas.openxmlformats.org/drawingml/2006/main">
            <a:r>
              <a:t>        "output": "현장 대응"</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"구역별 인파 밀집을 파악하고 현장 확인 요청",</a:t>
            </a:r>
          </a:p>
          <a:p xmlns:a="http://schemas.openxmlformats.org/drawingml/2006/main">
            <a:r>
              <a:t>      "exception": "집계 지연·통신 표본 편향·구역 경계 변경",</a:t>
            </a:r>
          </a:p>
          <a:p xmlns:a="http://schemas.openxmlformats.org/drawingml/2006/main">
            <a:r>
              <a:t>      "evidence": "현장 밀집상태 대비 경보·전파·조치 시각",</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"지자체 상황실·현장 대응부서",</a:t>
            </a:r>
          </a:p>
          <a:p xmlns:a="http://schemas.openxmlformats.org/drawingml/2006/main">
            <a:r>
              <a:t>          "processing": "구역·시간·행사 등 상황 맥락 지정",</a:t>
            </a:r>
          </a:p>
          <a:p xmlns:a="http://schemas.openxmlformats.org/drawingml/2006/main">
            <a:r>
              <a:t>          "output": "인구·공간 집계"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"지역별 밀집 이력",</a:t>
            </a:r>
          </a:p>
          <a:p xmlns:a="http://schemas.openxmlformats.org/drawingml/2006/main">
            <a:r>
              <a:t>          "processing": "유동인구 집계·공간정보·구역 코드 결합",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"인구·공간 집계",</a:t>
            </a:r>
          </a:p>
          <a:p xmlns:a="http://schemas.openxmlformats.org/drawingml/2006/main">
            <a:r>
              <a:t>          "processing": "유동인구와 공간 조건의 밀집 분석",</a:t>
            </a:r>
          </a:p>
          <a:p xmlns:a="http://schemas.openxmlformats.org/drawingml/2006/main">
            <a:r>
              <a:t>          "output": "위험 알림"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 알림",</a:t>
            </a:r>
          </a:p>
          <a:p xmlns:a="http://schemas.openxmlformats.org/drawingml/2006/main">
            <a:r>
              <a:t>          "processing": "상황판 경보와 현장 확인·대응 연결",</a:t>
            </a:r>
          </a:p>
          <a:p xmlns:a="http://schemas.openxmlformats.org/drawingml/2006/main">
            <a:r>
              <a:t>          "output": "현장 대응"</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"실제 밀집상태·경보·대응시간 대조",</a:t>
            </a:r>
          </a:p>
          <a:p xmlns:a="http://schemas.openxmlformats.org/drawingml/2006/main">
            <a:r>
              <a:t>          "output": "현장 밀집상태 대비 경보·전파·조치 시각"</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"실제 밀집상태·경보·대응시간 대조",</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"S-AX20",</a:t>
            </a:r>
          </a:p>
          <a:p xmlns:a="http://schemas.openxmlformats.org/drawingml/2006/main">
            <a:r>
              <a:t>        "title": "K-인파관리지원시스템 · 공공AI 사례집 86–87쪽",</a:t>
            </a:r>
          </a:p>
          <a:p xmlns:a="http://schemas.openxmlformats.org/drawingml/2006/main">
            <a:r>
              <a:t>        "url": "https://bigdata.dongjak.go.kr/board/viewArticle?articleNo=954&amp;boardId=4",</a:t>
            </a:r>
          </a:p>
          <a:p xmlns:a="http://schemas.openxmlformats.org/drawingml/2006/main">
            <a:r>
              <a:t>        "published": "2023 구축·운영",</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"위험 감지와 소관기관 상황 전파 연결",</a:t>
            </a:r>
          </a:p>
          <a:p xmlns:a="http://schemas.openxmlformats.org/drawingml/2006/main">
            <a:r>
              <a:t>    "local": "행사·교통시설 혼잡 정보의 관할·업무 인계",</a:t>
            </a:r>
          </a:p>
          <a:p xmlns:a="http://schemas.openxmlformats.org/drawingml/2006/main">
            <a:r>
              <a:t>    "sourceDetail": null,</a:t>
            </a:r>
          </a:p>
          <a:p xmlns:a="http://schemas.openxmlformats.org/drawingml/2006/main">
            <a:r>
              <a:t>    "narrative": [</a:t>
            </a:r>
          </a:p>
          <a:p xmlns:a="http://schemas.openxmlformats.org/drawingml/2006/main">
            <a:r>
              <a:t>      "유동인구와 공간정보를 결합해 밀집 위험을 상황실과 현장 대응부서에 전달하는 사례. 추정 밀집도와 실제 현장 상태를 확인하는 조직적 대응이 결합된 구조.",</a:t>
            </a:r>
          </a:p>
          <a:p xmlns:a="http://schemas.openxmlformats.org/drawingml/2006/main">
            <a:r>
              <a:t>      "시간·구역·행사 맥락에 따라 집계 자료를 정합화하고 GIS 상황판과 경보를 생성하는 재구성. 경보 발생, 상황실 확인, 현장 출동·통제, 결과 보고를 별도 상태로 연결.",</a:t>
            </a:r>
          </a:p>
          <a:p xmlns:a="http://schemas.openxmlformats.org/drawingml/2006/main">
            <a:r>
              <a:t>      "TS 교통·시설 안전 적용에서 집계 공간 단위와 관측 편차를 먼저 확인할 필요. 오경보·미탐 외에 알림 수신·확인·대응까지 걸린 시간과 담당 부서의 인계 누락을 검수할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"상황실 조회",</a:t>
            </a:r>
          </a:p>
          <a:p xmlns:a="http://schemas.openxmlformats.org/drawingml/2006/main">
            <a:r>
              <a:t>          "layer": "이용 접점",</a:t>
            </a:r>
          </a:p>
          <a:p xmlns:a="http://schemas.openxmlformats.org/drawingml/2006/main">
            <a:r>
              <a:t>          "detail": "지자체 상황실·현장 대응부서",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"구역·행사 맥락",</a:t>
            </a:r>
          </a:p>
          <a:p xmlns:a="http://schemas.openxmlformats.org/drawingml/2006/main">
            <a:r>
              <a:t>          "layer": "업무 문맥",</a:t>
            </a:r>
          </a:p>
          <a:p xmlns:a="http://schemas.openxmlformats.org/drawingml/2006/main">
            <a:r>
              <a:t>          "detail": "구역·시간·행사 등 상황 맥락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"인구·공간 조회",</a:t>
            </a:r>
          </a:p>
          <a:p xmlns:a="http://schemas.openxmlformats.org/drawingml/2006/main">
            <a:r>
              <a:t>          "layer": "자료 조회",</a:t>
            </a:r>
          </a:p>
          <a:p xmlns:a="http://schemas.openxmlformats.org/drawingml/2006/main">
            <a:r>
              <a:t>          "detail": "인구·공간 집계",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"밀집 위험 분석",</a:t>
            </a:r>
          </a:p>
          <a:p xmlns:a="http://schemas.openxmlformats.org/drawingml/2006/main">
            <a:r>
              <a:t>          "layer": "핵심 처리",</a:t>
            </a:r>
          </a:p>
          <a:p xmlns:a="http://schemas.openxmlformats.org/drawingml/2006/main">
            <a:r>
              <a:t>          "detail": "유동인구와 공간 조건의 밀집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"관측·추정 대조",</a:t>
            </a:r>
          </a:p>
          <a:p xmlns:a="http://schemas.openxmlformats.org/drawingml/2006/main">
            <a:r>
              <a:t>          "layer": "결과 검증",</a:t>
            </a:r>
          </a:p>
          <a:p xmlns:a="http://schemas.openxmlformats.org/drawingml/2006/main">
            <a:r>
              <a:t>          "detail": "공간·시간 단위 대사와 조치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"상황실 확인",</a:t>
            </a:r>
          </a:p>
          <a:p xmlns:a="http://schemas.openxmlformats.org/drawingml/2006/main">
            <a:r>
              <a:t>          "layer": "사람 확인",</a:t>
            </a:r>
          </a:p>
          <a:p xmlns:a="http://schemas.openxmlformats.org/drawingml/2006/main">
            <a:r>
              <a:t>          "detail": "구역별 인파 밀집을 파악하고 현장 확인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"현장 대응 알림",</a:t>
            </a:r>
          </a:p>
          <a:p xmlns:a="http://schemas.openxmlformats.org/drawingml/2006/main">
            <a:r>
              <a:t>          "layer": "업무 연결",</a:t>
            </a:r>
          </a:p>
          <a:p xmlns:a="http://schemas.openxmlformats.org/drawingml/2006/main">
            <a:r>
              <a:t>          "detail": "상황판 경보와 현장 확인·대응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"대응시간 추적",</a:t>
            </a:r>
          </a:p>
          <a:p xmlns:a="http://schemas.openxmlformats.org/drawingml/2006/main">
            <a:r>
              <a:t>          "layer": "운영 관측",</a:t>
            </a:r>
          </a:p>
          <a:p xmlns:a="http://schemas.openxmlformats.org/drawingml/2006/main">
            <a:r>
              <a:t>          "detail": "실제 밀집상태·경보·대응시간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"유동인구·GIS",</a:t>
            </a:r>
          </a:p>
          <a:p xmlns:a="http://schemas.openxmlformats.org/drawingml/2006/main">
            <a:r>
              <a:t>          "layer": "데이터 원천",</a:t>
            </a:r>
          </a:p>
          <a:p xmlns:a="http://schemas.openxmlformats.org/drawingml/2006/main">
            <a:r>
              <a:t>          "detail": "지역별 밀집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"시간·구역 정합화",</a:t>
            </a:r>
          </a:p>
          <a:p xmlns:a="http://schemas.openxmlformats.org/drawingml/2006/main">
            <a:r>
              <a:t>          "layer": "준비·갱신",</a:t>
            </a:r>
          </a:p>
          <a:p xmlns:a="http://schemas.openxmlformats.org/drawingml/2006/main">
            <a:r>
              <a:t>          "detail": "유동인구 집계·공간정보·구역 코드 결합",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"밀집·대응 이력",</a:t>
            </a:r>
          </a:p>
          <a:p xmlns:a="http://schemas.openxmlformats.org/drawingml/2006/main">
            <a:r>
              <a:t>          "layer": "상태·지식 저장",</a:t>
            </a:r>
          </a:p>
          <a:p xmlns:a="http://schemas.openxmlformats.org/drawingml/2006/main">
            <a:r>
              <a:t>          "detail": "현장 밀집상태 대비 경보·전파·조치 시각",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"집계·경보 기준",</a:t>
            </a:r>
          </a:p>
          <a:p xmlns:a="http://schemas.openxmlformats.org/drawingml/2006/main">
            <a:r>
              <a:t>          "layer": "권한·정책",</a:t>
            </a:r>
          </a:p>
          <a:p xmlns:a="http://schemas.openxmlformats.org/drawingml/2006/main">
            <a:r>
              <a:t>          "detail": "집계 지연·통신 표본 편향·구역 경계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"유동인구·공간정보 → 밀집도 분석 → GIS·위험 알림 → 지자체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"지역별 밀집 이력",</a:t>
            </a:r>
          </a:p>
          <a:p xmlns:a="http://schemas.openxmlformats.org/drawingml/2006/main">
            <a:r>
              <a:t>          "check": "유동인구 집계·공간정보·구역 코드 결합"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"유동인구 집계·공간정보·구역 코드 결합"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"위험 알림",</a:t>
            </a:r>
          </a:p>
          <a:p xmlns:a="http://schemas.openxmlformats.org/drawingml/2006/main">
            <a:r>
              <a:t>          "check": "현장 밀집상태 대비 경보·전파·조치 시각"</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"집계·경보 기준",</a:t>
            </a:r>
          </a:p>
          <a:p xmlns:a="http://schemas.openxmlformats.org/drawingml/2006/main">
            <a:r>
              <a:t>          "check": "공간·시간 단위 대사와 조치 확인"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"현장 대응",</a:t>
            </a:r>
          </a:p>
          <a:p xmlns:a="http://schemas.openxmlformats.org/drawingml/2006/main">
            <a:r>
              <a:t>          "check": "현장 밀집상태 대비 경보·전파·조치 시각"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"실제 밀집상태·경보·대응시간 대조",</a:t>
            </a:r>
          </a:p>
          <a:p xmlns:a="http://schemas.openxmlformats.org/drawingml/2006/main">
            <a:r>
              <a:t>          "check": "실제 밀집상태·경보·대응시간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"인파 밀집 위험의 공간 기반 상황 관리 / 밀집도·GIS 상황판·위험 알림",</a:t>
            </a:r>
          </a:p>
          <a:p xmlns:a="http://schemas.openxmlformats.org/drawingml/2006/main">
            <a:r>
              <a:t>        "extension": "행사·교통시설 혼잡 정보의 관할·업무 인계"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"집계 지연·통신 표본 편향·구역 경계 변경",</a:t>
            </a:r>
          </a:p>
          <a:p xmlns:a="http://schemas.openxmlformats.org/drawingml/2006/main">
            <a:r>
              <a:t>        "hold": "공간·시간 단위 대사와 조치 확인",</a:t>
            </a:r>
          </a:p>
          <a:p xmlns:a="http://schemas.openxmlformats.org/drawingml/2006/main">
            <a:r>
              <a:t>        "recovery": "실제 밀집상태·경보·대응시간 대조",</a:t>
            </a:r>
          </a:p>
          <a:p xmlns:a="http://schemas.openxmlformats.org/drawingml/2006/main">
            <a:r>
              <a:t>        "evidence": "현장 밀집상태 대비 경보·전파·조치 시각"</a:t>
            </a:r>
          </a:p>
          <a:p xmlns:a="http://schemas.openxmlformats.org/drawingml/2006/main">
            <a:r>
              <a:t>      },</a:t>
            </a:r>
          </a:p>
          <a:p xmlns:a="http://schemas.openxmlformats.org/drawingml/2006/main">
            <a:r>
              <a:t>      "data": {</a:t>
            </a:r>
          </a:p>
          <a:p xmlns:a="http://schemas.openxmlformats.org/drawingml/2006/main">
            <a:r>
              <a:t>        "source": "지역별 밀집 이력",</a:t>
            </a:r>
          </a:p>
          <a:p xmlns:a="http://schemas.openxmlformats.org/drawingml/2006/main">
            <a:r>
              <a:t>        "prepare": "유동인구 집계·공간정보·구역 코드 결합",</a:t>
            </a:r>
          </a:p>
          <a:p xmlns:a="http://schemas.openxmlformats.org/drawingml/2006/main">
            <a:r>
              <a:t>        "output": "인구·공간 집계",</a:t>
            </a:r>
          </a:p>
          <a:p xmlns:a="http://schemas.openxmlformats.org/drawingml/2006/main">
            <a:r>
              <a:t>        "refresh": "실제 밀집상태·경보·대응시간 대조"</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"AX20",</a:t>
            </a:r>
          </a:p>
          <a:p xmlns:a="http://schemas.openxmlformats.org/drawingml/2006/main">
            <a:r>
              <a:t>    "success": [</a:t>
            </a:r>
          </a:p>
          <a:p xmlns:a="http://schemas.openxmlformats.org/drawingml/2006/main">
            <a:r>
              <a:t>      "공간정보와 유동인구의 결합",</a:t>
            </a:r>
          </a:p>
          <a:p xmlns:a="http://schemas.openxmlformats.org/drawingml/2006/main">
            <a:r>
              <a:t>      "상황판·알림과 지자체 대응 연결"</a:t>
            </a:r>
          </a:p>
          <a:p xmlns:a="http://schemas.openxmlformats.org/drawingml/2006/main">
            <a:r>
              <a:t>    ],</a:t>
            </a:r>
          </a:p>
          <a:p xmlns:a="http://schemas.openxmlformats.org/drawingml/2006/main">
            <a:r>
              <a:t>    "risks": [</a:t>
            </a:r>
          </a:p>
          <a:p xmlns:a="http://schemas.openxmlformats.org/drawingml/2006/main">
            <a:r>
              <a:t>      "추정 인구와 실제 밀집의 차이",</a:t>
            </a:r>
          </a:p>
          <a:p xmlns:a="http://schemas.openxmlformats.org/drawingml/2006/main">
            <a:r>
              <a:t>      "알림 발생과 대응 완료의 혼동"</a:t>
            </a:r>
          </a:p>
          <a:p xmlns:a="http://schemas.openxmlformats.org/drawingml/2006/main">
            <a:r>
              <a:t>    ],</a:t>
            </a:r>
          </a:p>
          <a:p xmlns:a="http://schemas.openxmlformats.org/drawingml/2006/main">
            <a:r>
              <a:t>    "architecture": [</a:t>
            </a:r>
          </a:p>
          <a:p xmlns:a="http://schemas.openxmlformats.org/drawingml/2006/main">
            <a:r>
              <a:t>      "유동인구·공간정보",</a:t>
            </a:r>
          </a:p>
          <a:p xmlns:a="http://schemas.openxmlformats.org/drawingml/2006/main">
            <a:r>
              <a:t>      "밀집도 분석",</a:t>
            </a:r>
          </a:p>
          <a:p xmlns:a="http://schemas.openxmlformats.org/drawingml/2006/main">
            <a:r>
              <a:t>      "지역별 밀집 이력",</a:t>
            </a:r>
          </a:p>
          <a:p xmlns:a="http://schemas.openxmlformats.org/drawingml/2006/main">
            <a:r>
              <a:t>      "지자체 상황실"</a:t>
            </a:r>
          </a:p>
          <a:p xmlns:a="http://schemas.openxmlformats.org/drawingml/2006/main">
            <a:r>
              <a:t>    ],</a:t>
            </a:r>
          </a:p>
          <a:p xmlns:a="http://schemas.openxmlformats.org/drawingml/2006/main">
            <a:r>
              <a:t>    "transfers": [</a:t>
            </a:r>
          </a:p>
          <a:p xmlns:a="http://schemas.openxmlformats.org/drawingml/2006/main">
            <a:r>
              <a:t>      "인구·공간 집계",</a:t>
            </a:r>
          </a:p>
          <a:p xmlns:a="http://schemas.openxmlformats.org/drawingml/2006/main">
            <a:r>
              <a:t>      "밀집 지표",</a:t>
            </a:r>
          </a:p>
          <a:p xmlns:a="http://schemas.openxmlformats.org/drawingml/2006/main">
            <a:r>
              <a:t>      "위험 알림",</a:t>
            </a:r>
          </a:p>
          <a:p xmlns:a="http://schemas.openxmlformats.org/drawingml/2006/main">
            <a:r>
              <a:t>      "현장 대응"</a:t>
            </a:r>
          </a:p>
          <a:p xmlns:a="http://schemas.openxmlformats.org/drawingml/2006/main">
            <a:r>
              <a:t>    ],</a:t>
            </a:r>
          </a:p>
          <a:p xmlns:a="http://schemas.openxmlformats.org/drawingml/2006/main">
            <a:r>
              <a:t>    "control": "공간·시간 단위 대사와 조치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K-인파관리지원시스템 · 공공AI 사례집 86–87쪽 https://bigdata.dongjak.go.kr/board/viewArticle?articleNo=954&amp;boardId=4</a:t>
            </a:r>
          </a:p>
          <a:p xmlns:a="http://schemas.openxmlformats.org/drawingml/2006/main">
            <a:r>
              <a:t>홈페이지 https://heen1987-ops.github.io/TS-business-Plan-001/index.html?view=casebook&amp;case=AX20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"AX20",</a:t>
            </a:r>
          </a:p>
          <a:p xmlns:a="http://schemas.openxmlformats.org/drawingml/2006/main">
            <a:r>
              <a:t>    "title": "K-인파관리지원시스템",</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"데이터 기반 위험 상황 공유",</a:t>
            </a:r>
          </a:p>
          <a:p xmlns:a="http://schemas.openxmlformats.org/drawingml/2006/main">
            <a:r>
              <a:t>    "period": "2023 구축·운영",</a:t>
            </a:r>
          </a:p>
          <a:p xmlns:a="http://schemas.openxmlformats.org/drawingml/2006/main">
            <a:r>
              <a:t>    "sources": [</a:t>
            </a:r>
          </a:p>
          <a:p xmlns:a="http://schemas.openxmlformats.org/drawingml/2006/main">
            <a:r>
              <a:t>      "S-AX20"</a:t>
            </a:r>
          </a:p>
          <a:p xmlns:a="http://schemas.openxmlformats.org/drawingml/2006/main">
            <a:r>
              <a:t>    ],</a:t>
            </a:r>
          </a:p>
          <a:p xmlns:a="http://schemas.openxmlformats.org/drawingml/2006/main">
            <a:r>
              <a:t>    "keywords": [</a:t>
            </a:r>
          </a:p>
          <a:p xmlns:a="http://schemas.openxmlformats.org/drawingml/2006/main">
            <a:r>
              <a:t>      "데이터 기반 위험 상황 공유"</a:t>
            </a:r>
          </a:p>
          <a:p xmlns:a="http://schemas.openxmlformats.org/drawingml/2006/main">
            <a:r>
              <a:t>    ],</a:t>
            </a:r>
          </a:p>
          <a:p xmlns:a="http://schemas.openxmlformats.org/drawingml/2006/main">
            <a:r>
              <a:t>    "fact": "유동인구·공간정보의 밀집도 분석과 GIS 상황판·위험 알림 제공",</a:t>
            </a:r>
          </a:p>
          <a:p xmlns:a="http://schemas.openxmlformats.org/drawingml/2006/main">
            <a:r>
              <a:t>    "limit": "데이터 분석 운영 사례 · 생성형 AI 아님 · 사고 감소 인과효과 별도",</a:t>
            </a:r>
          </a:p>
          <a:p xmlns:a="http://schemas.openxmlformats.org/drawingml/2006/main">
            <a:r>
              <a:t>    "flow": [</a:t>
            </a:r>
          </a:p>
          <a:p xmlns:a="http://schemas.openxmlformats.org/drawingml/2006/main">
            <a:r>
              <a:t>      "유동인구·공간정보",</a:t>
            </a:r>
          </a:p>
          <a:p xmlns:a="http://schemas.openxmlformats.org/drawingml/2006/main">
            <a:r>
              <a:t>      "밀집도 분석",</a:t>
            </a:r>
          </a:p>
          <a:p xmlns:a="http://schemas.openxmlformats.org/drawingml/2006/main">
            <a:r>
              <a:t>      "GIS·위험 알림",</a:t>
            </a:r>
          </a:p>
          <a:p xmlns:a="http://schemas.openxmlformats.org/drawingml/2006/main">
            <a:r>
              <a:t>      "지자체 대응"</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"위험 감지와 소관기관 상황 전파 연결",</a:t>
            </a:r>
          </a:p>
          <a:p xmlns:a="http://schemas.openxmlformats.org/drawingml/2006/main">
            <a:r>
              <a:t>    "local": "행사·교통시설 혼잡 정보의 관할·업무 인계",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"장소·시간·단계·담당 기관 매핑",</a:t>
            </a:r>
          </a:p>
          <a:p xmlns:a="http://schemas.openxmlformats.org/drawingml/2006/main">
            <a:r>
              <a:t>    "test": "자료 지연·경계 지역·알림 미수신 시험",</a:t>
            </a:r>
          </a:p>
          <a:p xmlns:a="http://schemas.openxmlformats.org/drawingml/2006/main">
            <a:r>
              <a:t>    "metric": "상황 전파시간 / 조치 누락률",</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"ST-07"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"AX20",</a:t>
            </a:r>
          </a:p>
          <a:p xmlns:a="http://schemas.openxmlformats.org/drawingml/2006/main">
            <a:r>
              <a:t>    "canonicalId": "AX20",</a:t>
            </a:r>
          </a:p>
          <a:p xmlns:a="http://schemas.openxmlformats.org/drawingml/2006/main">
            <a:r>
              <a:t>    "purpose": "인파 밀집 위험의 공간 기반 상황 관리",</a:t>
            </a:r>
          </a:p>
          <a:p xmlns:a="http://schemas.openxmlformats.org/drawingml/2006/main">
            <a:r>
              <a:t>    "users": "지자체 상황실·현장 대응부서",</a:t>
            </a:r>
          </a:p>
          <a:p xmlns:a="http://schemas.openxmlformats.org/drawingml/2006/main">
            <a:r>
              <a:t>    "scope": [</a:t>
            </a:r>
          </a:p>
          <a:p xmlns:a="http://schemas.openxmlformats.org/drawingml/2006/main">
            <a:r>
              <a:t>      "밀집도",</a:t>
            </a:r>
          </a:p>
          <a:p xmlns:a="http://schemas.openxmlformats.org/drawingml/2006/main">
            <a:r>
              <a:t>      "GIS 상황판",</a:t>
            </a:r>
          </a:p>
          <a:p xmlns:a="http://schemas.openxmlformats.org/drawingml/2006/main">
            <a:r>
              <a:t>      "위험 알림"</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"유동인구·공간정보",</a:t>
            </a:r>
          </a:p>
          <a:p xmlns:a="http://schemas.openxmlformats.org/drawingml/2006/main">
            <a:r>
              <a:t>        "detail": "구역·시간·행사 등 상황 맥락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"밀집도 / GIS 상황판 / 위험 알림",</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"밀집도 분석",</a:t>
            </a:r>
          </a:p>
          <a:p xmlns:a="http://schemas.openxmlformats.org/drawingml/2006/main">
            <a:r>
              <a:t>        "detail": "유동인구와 공간 조건의 밀집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"지자체 상황실",</a:t>
            </a:r>
          </a:p>
          <a:p xmlns:a="http://schemas.openxmlformats.org/drawingml/2006/main">
            <a:r>
              <a:t>        "detail": "상황판 경보와 현장 확인·대응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"지역별 밀집 이력",</a:t>
            </a:r>
          </a:p>
          <a:p xmlns:a="http://schemas.openxmlformats.org/drawingml/2006/main">
            <a:r>
              <a:t>        "detail": "유동인구 집계·공간정보·구역 코드 결합",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"실제 밀집상태·경보·대응시간 대조",</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"유동인구·공간정보",</a:t>
            </a:r>
          </a:p>
          <a:p xmlns:a="http://schemas.openxmlformats.org/drawingml/2006/main">
            <a:r>
              <a:t>        "input": "구역·시간·행사 등 상황 맥락 지정",</a:t>
            </a:r>
          </a:p>
          <a:p xmlns:a="http://schemas.openxmlformats.org/drawingml/2006/main">
            <a:r>
              <a:t>        "process": "유동인구 집계·공간정보·구역 코드 결합",</a:t>
            </a:r>
          </a:p>
          <a:p xmlns:a="http://schemas.openxmlformats.org/drawingml/2006/main">
            <a:r>
              <a:t>        "output": "인구·공간 집계"</a:t>
            </a:r>
          </a:p>
          <a:p xmlns:a="http://schemas.openxmlformats.org/drawingml/2006/main">
            <a:r>
              <a:t>      },</a:t>
            </a:r>
          </a:p>
          <a:p xmlns:a="http://schemas.openxmlformats.org/drawingml/2006/main">
            <a:r>
              <a:t>      {</a:t>
            </a:r>
          </a:p>
          <a:p xmlns:a="http://schemas.openxmlformats.org/drawingml/2006/main">
            <a:r>
              <a:t>        "title": "밀집도 분석",</a:t>
            </a:r>
          </a:p>
          <a:p xmlns:a="http://schemas.openxmlformats.org/drawingml/2006/main">
            <a:r>
              <a:t>        "input": "인구·공간 집계",</a:t>
            </a:r>
          </a:p>
          <a:p xmlns:a="http://schemas.openxmlformats.org/drawingml/2006/main">
            <a:r>
              <a:t>        "process": "유동인구와 공간 조건의 밀집 분석",</a:t>
            </a:r>
          </a:p>
          <a:p xmlns:a="http://schemas.openxmlformats.org/drawingml/2006/main">
            <a:r>
              <a:t>        "output": "밀집 지표"</a:t>
            </a:r>
          </a:p>
          <a:p xmlns:a="http://schemas.openxmlformats.org/drawingml/2006/main">
            <a:r>
              <a:t>      },</a:t>
            </a:r>
          </a:p>
          <a:p xmlns:a="http://schemas.openxmlformats.org/drawingml/2006/main">
            <a:r>
              <a:t>      {</a:t>
            </a:r>
          </a:p>
          <a:p xmlns:a="http://schemas.openxmlformats.org/drawingml/2006/main">
            <a:r>
              <a:t>        "title": "GIS·위험 알림",</a:t>
            </a:r>
          </a:p>
          <a:p xmlns:a="http://schemas.openxmlformats.org/drawingml/2006/main">
            <a:r>
              <a:t>        "input": "밀집 지표",</a:t>
            </a:r>
          </a:p>
          <a:p xmlns:a="http://schemas.openxmlformats.org/drawingml/2006/main">
            <a:r>
              <a:t>        "process": "공간·시간 단위 대사와 조치 확인",</a:t>
            </a:r>
          </a:p>
          <a:p xmlns:a="http://schemas.openxmlformats.org/drawingml/2006/main">
            <a:r>
              <a:t>        "output": "위험 알림"</a:t>
            </a:r>
          </a:p>
          <a:p xmlns:a="http://schemas.openxmlformats.org/drawingml/2006/main">
            <a:r>
              <a:t>      },</a:t>
            </a:r>
          </a:p>
          <a:p xmlns:a="http://schemas.openxmlformats.org/drawingml/2006/main">
            <a:r>
              <a:t>      {</a:t>
            </a:r>
          </a:p>
          <a:p xmlns:a="http://schemas.openxmlformats.org/drawingml/2006/main">
            <a:r>
              <a:t>        "title": "지자체 대응",</a:t>
            </a:r>
          </a:p>
          <a:p xmlns:a="http://schemas.openxmlformats.org/drawingml/2006/main">
            <a:r>
              <a:t>        "input": "위험 알림",</a:t>
            </a:r>
          </a:p>
          <a:p xmlns:a="http://schemas.openxmlformats.org/drawingml/2006/main">
            <a:r>
              <a:t>        "process": "상황판 경보와 현장 확인·대응 연결",</a:t>
            </a:r>
          </a:p>
          <a:p xmlns:a="http://schemas.openxmlformats.org/drawingml/2006/main">
            <a:r>
              <a:t>        "output": "현장 대응"</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"구역별 인파 밀집을 파악하고 현장 확인 요청",</a:t>
            </a:r>
          </a:p>
          <a:p xmlns:a="http://schemas.openxmlformats.org/drawingml/2006/main">
            <a:r>
              <a:t>      "exception": "집계 지연·통신 표본 편향·구역 경계 변경",</a:t>
            </a:r>
          </a:p>
          <a:p xmlns:a="http://schemas.openxmlformats.org/drawingml/2006/main">
            <a:r>
              <a:t>      "evidence": "현장 밀집상태 대비 경보·전파·조치 시각",</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"지자체 상황실·현장 대응부서",</a:t>
            </a:r>
          </a:p>
          <a:p xmlns:a="http://schemas.openxmlformats.org/drawingml/2006/main">
            <a:r>
              <a:t>          "processing": "구역·시간·행사 등 상황 맥락 지정",</a:t>
            </a:r>
          </a:p>
          <a:p xmlns:a="http://schemas.openxmlformats.org/drawingml/2006/main">
            <a:r>
              <a:t>          "output": "인구·공간 집계"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"지역별 밀집 이력",</a:t>
            </a:r>
          </a:p>
          <a:p xmlns:a="http://schemas.openxmlformats.org/drawingml/2006/main">
            <a:r>
              <a:t>          "processing": "유동인구 집계·공간정보·구역 코드 결합",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"인구·공간 집계",</a:t>
            </a:r>
          </a:p>
          <a:p xmlns:a="http://schemas.openxmlformats.org/drawingml/2006/main">
            <a:r>
              <a:t>          "processing": "유동인구와 공간 조건의 밀집 분석",</a:t>
            </a:r>
          </a:p>
          <a:p xmlns:a="http://schemas.openxmlformats.org/drawingml/2006/main">
            <a:r>
              <a:t>          "output": "위험 알림"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 알림",</a:t>
            </a:r>
          </a:p>
          <a:p xmlns:a="http://schemas.openxmlformats.org/drawingml/2006/main">
            <a:r>
              <a:t>          "processing": "상황판 경보와 현장 확인·대응 연결",</a:t>
            </a:r>
          </a:p>
          <a:p xmlns:a="http://schemas.openxmlformats.org/drawingml/2006/main">
            <a:r>
              <a:t>          "output": "현장 대응"</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"실제 밀집상태·경보·대응시간 대조",</a:t>
            </a:r>
          </a:p>
          <a:p xmlns:a="http://schemas.openxmlformats.org/drawingml/2006/main">
            <a:r>
              <a:t>          "output": "현장 밀집상태 대비 경보·전파·조치 시각"</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"실제 밀집상태·경보·대응시간 대조",</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"S-AX20",</a:t>
            </a:r>
          </a:p>
          <a:p xmlns:a="http://schemas.openxmlformats.org/drawingml/2006/main">
            <a:r>
              <a:t>        "title": "K-인파관리지원시스템 · 공공AI 사례집 86–87쪽",</a:t>
            </a:r>
          </a:p>
          <a:p xmlns:a="http://schemas.openxmlformats.org/drawingml/2006/main">
            <a:r>
              <a:t>        "url": "https://bigdata.dongjak.go.kr/board/viewArticle?articleNo=954&amp;boardId=4",</a:t>
            </a:r>
          </a:p>
          <a:p xmlns:a="http://schemas.openxmlformats.org/drawingml/2006/main">
            <a:r>
              <a:t>        "published": "2023 구축·운영",</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"위험 감지와 소관기관 상황 전파 연결",</a:t>
            </a:r>
          </a:p>
          <a:p xmlns:a="http://schemas.openxmlformats.org/drawingml/2006/main">
            <a:r>
              <a:t>    "local": "행사·교통시설 혼잡 정보의 관할·업무 인계",</a:t>
            </a:r>
          </a:p>
          <a:p xmlns:a="http://schemas.openxmlformats.org/drawingml/2006/main">
            <a:r>
              <a:t>    "sourceDetail": null,</a:t>
            </a:r>
          </a:p>
          <a:p xmlns:a="http://schemas.openxmlformats.org/drawingml/2006/main">
            <a:r>
              <a:t>    "narrative": [</a:t>
            </a:r>
          </a:p>
          <a:p xmlns:a="http://schemas.openxmlformats.org/drawingml/2006/main">
            <a:r>
              <a:t>      "유동인구와 공간정보를 결합해 밀집 위험을 상황실과 현장 대응부서에 전달하는 사례. 추정 밀집도와 실제 현장 상태를 확인하는 조직적 대응이 결합된 구조.",</a:t>
            </a:r>
          </a:p>
          <a:p xmlns:a="http://schemas.openxmlformats.org/drawingml/2006/main">
            <a:r>
              <a:t>      "시간·구역·행사 맥락에 따라 집계 자료를 정합화하고 GIS 상황판과 경보를 생성하는 재구성. 경보 발생, 상황실 확인, 현장 출동·통제, 결과 보고를 별도 상태로 연결.",</a:t>
            </a:r>
          </a:p>
          <a:p xmlns:a="http://schemas.openxmlformats.org/drawingml/2006/main">
            <a:r>
              <a:t>      "TS 교통·시설 안전 적용에서 집계 공간 단위와 관측 편차를 먼저 확인할 필요. 오경보·미탐 외에 알림 수신·확인·대응까지 걸린 시간과 담당 부서의 인계 누락을 검수할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"상황실 조회",</a:t>
            </a:r>
          </a:p>
          <a:p xmlns:a="http://schemas.openxmlformats.org/drawingml/2006/main">
            <a:r>
              <a:t>          "layer": "이용 접점",</a:t>
            </a:r>
          </a:p>
          <a:p xmlns:a="http://schemas.openxmlformats.org/drawingml/2006/main">
            <a:r>
              <a:t>          "detail": "지자체 상황실·현장 대응부서",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"구역·행사 맥락",</a:t>
            </a:r>
          </a:p>
          <a:p xmlns:a="http://schemas.openxmlformats.org/drawingml/2006/main">
            <a:r>
              <a:t>          "layer": "업무 문맥",</a:t>
            </a:r>
          </a:p>
          <a:p xmlns:a="http://schemas.openxmlformats.org/drawingml/2006/main">
            <a:r>
              <a:t>          "detail": "구역·시간·행사 등 상황 맥락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"인구·공간 조회",</a:t>
            </a:r>
          </a:p>
          <a:p xmlns:a="http://schemas.openxmlformats.org/drawingml/2006/main">
            <a:r>
              <a:t>          "layer": "자료 조회",</a:t>
            </a:r>
          </a:p>
          <a:p xmlns:a="http://schemas.openxmlformats.org/drawingml/2006/main">
            <a:r>
              <a:t>          "detail": "인구·공간 집계",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"밀집 위험 분석",</a:t>
            </a:r>
          </a:p>
          <a:p xmlns:a="http://schemas.openxmlformats.org/drawingml/2006/main">
            <a:r>
              <a:t>          "layer": "핵심 처리",</a:t>
            </a:r>
          </a:p>
          <a:p xmlns:a="http://schemas.openxmlformats.org/drawingml/2006/main">
            <a:r>
              <a:t>          "detail": "유동인구와 공간 조건의 밀집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"관측·추정 대조",</a:t>
            </a:r>
          </a:p>
          <a:p xmlns:a="http://schemas.openxmlformats.org/drawingml/2006/main">
            <a:r>
              <a:t>          "layer": "결과 검증",</a:t>
            </a:r>
          </a:p>
          <a:p xmlns:a="http://schemas.openxmlformats.org/drawingml/2006/main">
            <a:r>
              <a:t>          "detail": "공간·시간 단위 대사와 조치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"상황실 확인",</a:t>
            </a:r>
          </a:p>
          <a:p xmlns:a="http://schemas.openxmlformats.org/drawingml/2006/main">
            <a:r>
              <a:t>          "layer": "사람 확인",</a:t>
            </a:r>
          </a:p>
          <a:p xmlns:a="http://schemas.openxmlformats.org/drawingml/2006/main">
            <a:r>
              <a:t>          "detail": "구역별 인파 밀집을 파악하고 현장 확인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"현장 대응 알림",</a:t>
            </a:r>
          </a:p>
          <a:p xmlns:a="http://schemas.openxmlformats.org/drawingml/2006/main">
            <a:r>
              <a:t>          "layer": "업무 연결",</a:t>
            </a:r>
          </a:p>
          <a:p xmlns:a="http://schemas.openxmlformats.org/drawingml/2006/main">
            <a:r>
              <a:t>          "detail": "상황판 경보와 현장 확인·대응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"대응시간 추적",</a:t>
            </a:r>
          </a:p>
          <a:p xmlns:a="http://schemas.openxmlformats.org/drawingml/2006/main">
            <a:r>
              <a:t>          "layer": "운영 관측",</a:t>
            </a:r>
          </a:p>
          <a:p xmlns:a="http://schemas.openxmlformats.org/drawingml/2006/main">
            <a:r>
              <a:t>          "detail": "실제 밀집상태·경보·대응시간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"유동인구·GIS",</a:t>
            </a:r>
          </a:p>
          <a:p xmlns:a="http://schemas.openxmlformats.org/drawingml/2006/main">
            <a:r>
              <a:t>          "layer": "데이터 원천",</a:t>
            </a:r>
          </a:p>
          <a:p xmlns:a="http://schemas.openxmlformats.org/drawingml/2006/main">
            <a:r>
              <a:t>          "detail": "지역별 밀집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"시간·구역 정합화",</a:t>
            </a:r>
          </a:p>
          <a:p xmlns:a="http://schemas.openxmlformats.org/drawingml/2006/main">
            <a:r>
              <a:t>          "layer": "준비·갱신",</a:t>
            </a:r>
          </a:p>
          <a:p xmlns:a="http://schemas.openxmlformats.org/drawingml/2006/main">
            <a:r>
              <a:t>          "detail": "유동인구 집계·공간정보·구역 코드 결합",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"밀집·대응 이력",</a:t>
            </a:r>
          </a:p>
          <a:p xmlns:a="http://schemas.openxmlformats.org/drawingml/2006/main">
            <a:r>
              <a:t>          "layer": "상태·지식 저장",</a:t>
            </a:r>
          </a:p>
          <a:p xmlns:a="http://schemas.openxmlformats.org/drawingml/2006/main">
            <a:r>
              <a:t>          "detail": "현장 밀집상태 대비 경보·전파·조치 시각",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"집계·경보 기준",</a:t>
            </a:r>
          </a:p>
          <a:p xmlns:a="http://schemas.openxmlformats.org/drawingml/2006/main">
            <a:r>
              <a:t>          "layer": "권한·정책",</a:t>
            </a:r>
          </a:p>
          <a:p xmlns:a="http://schemas.openxmlformats.org/drawingml/2006/main">
            <a:r>
              <a:t>          "detail": "집계 지연·통신 표본 편향·구역 경계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"유동인구·공간정보 → 밀집도 분석 → GIS·위험 알림 → 지자체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"지역별 밀집 이력",</a:t>
            </a:r>
          </a:p>
          <a:p xmlns:a="http://schemas.openxmlformats.org/drawingml/2006/main">
            <a:r>
              <a:t>          "check": "유동인구 집계·공간정보·구역 코드 결합"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"유동인구 집계·공간정보·구역 코드 결합"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"위험 알림",</a:t>
            </a:r>
          </a:p>
          <a:p xmlns:a="http://schemas.openxmlformats.org/drawingml/2006/main">
            <a:r>
              <a:t>          "check": "현장 밀집상태 대비 경보·전파·조치 시각"</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"집계·경보 기준",</a:t>
            </a:r>
          </a:p>
          <a:p xmlns:a="http://schemas.openxmlformats.org/drawingml/2006/main">
            <a:r>
              <a:t>          "check": "공간·시간 단위 대사와 조치 확인"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"현장 대응",</a:t>
            </a:r>
          </a:p>
          <a:p xmlns:a="http://schemas.openxmlformats.org/drawingml/2006/main">
            <a:r>
              <a:t>          "check": "현장 밀집상태 대비 경보·전파·조치 시각"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"실제 밀집상태·경보·대응시간 대조",</a:t>
            </a:r>
          </a:p>
          <a:p xmlns:a="http://schemas.openxmlformats.org/drawingml/2006/main">
            <a:r>
              <a:t>          "check": "실제 밀집상태·경보·대응시간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"인파 밀집 위험의 공간 기반 상황 관리 / 밀집도·GIS 상황판·위험 알림",</a:t>
            </a:r>
          </a:p>
          <a:p xmlns:a="http://schemas.openxmlformats.org/drawingml/2006/main">
            <a:r>
              <a:t>        "extension": "행사·교통시설 혼잡 정보의 관할·업무 인계"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"집계 지연·통신 표본 편향·구역 경계 변경",</a:t>
            </a:r>
          </a:p>
          <a:p xmlns:a="http://schemas.openxmlformats.org/drawingml/2006/main">
            <a:r>
              <a:t>        "hold": "공간·시간 단위 대사와 조치 확인",</a:t>
            </a:r>
          </a:p>
          <a:p xmlns:a="http://schemas.openxmlformats.org/drawingml/2006/main">
            <a:r>
              <a:t>        "recovery": "실제 밀집상태·경보·대응시간 대조",</a:t>
            </a:r>
          </a:p>
          <a:p xmlns:a="http://schemas.openxmlformats.org/drawingml/2006/main">
            <a:r>
              <a:t>        "evidence": "현장 밀집상태 대비 경보·전파·조치 시각"</a:t>
            </a:r>
          </a:p>
          <a:p xmlns:a="http://schemas.openxmlformats.org/drawingml/2006/main">
            <a:r>
              <a:t>      },</a:t>
            </a:r>
          </a:p>
          <a:p xmlns:a="http://schemas.openxmlformats.org/drawingml/2006/main">
            <a:r>
              <a:t>      "data": {</a:t>
            </a:r>
          </a:p>
          <a:p xmlns:a="http://schemas.openxmlformats.org/drawingml/2006/main">
            <a:r>
              <a:t>        "source": "지역별 밀집 이력",</a:t>
            </a:r>
          </a:p>
          <a:p xmlns:a="http://schemas.openxmlformats.org/drawingml/2006/main">
            <a:r>
              <a:t>        "prepare": "유동인구 집계·공간정보·구역 코드 결합",</a:t>
            </a:r>
          </a:p>
          <a:p xmlns:a="http://schemas.openxmlformats.org/drawingml/2006/main">
            <a:r>
              <a:t>        "output": "인구·공간 집계",</a:t>
            </a:r>
          </a:p>
          <a:p xmlns:a="http://schemas.openxmlformats.org/drawingml/2006/main">
            <a:r>
              <a:t>        "refresh": "실제 밀집상태·경보·대응시간 대조"</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"AX20",</a:t>
            </a:r>
          </a:p>
          <a:p xmlns:a="http://schemas.openxmlformats.org/drawingml/2006/main">
            <a:r>
              <a:t>    "success": [</a:t>
            </a:r>
          </a:p>
          <a:p xmlns:a="http://schemas.openxmlformats.org/drawingml/2006/main">
            <a:r>
              <a:t>      "공간정보와 유동인구의 결합",</a:t>
            </a:r>
          </a:p>
          <a:p xmlns:a="http://schemas.openxmlformats.org/drawingml/2006/main">
            <a:r>
              <a:t>      "상황판·알림과 지자체 대응 연결"</a:t>
            </a:r>
          </a:p>
          <a:p xmlns:a="http://schemas.openxmlformats.org/drawingml/2006/main">
            <a:r>
              <a:t>    ],</a:t>
            </a:r>
          </a:p>
          <a:p xmlns:a="http://schemas.openxmlformats.org/drawingml/2006/main">
            <a:r>
              <a:t>    "risks": [</a:t>
            </a:r>
          </a:p>
          <a:p xmlns:a="http://schemas.openxmlformats.org/drawingml/2006/main">
            <a:r>
              <a:t>      "추정 인구와 실제 밀집의 차이",</a:t>
            </a:r>
          </a:p>
          <a:p xmlns:a="http://schemas.openxmlformats.org/drawingml/2006/main">
            <a:r>
              <a:t>      "알림 발생과 대응 완료의 혼동"</a:t>
            </a:r>
          </a:p>
          <a:p xmlns:a="http://schemas.openxmlformats.org/drawingml/2006/main">
            <a:r>
              <a:t>    ],</a:t>
            </a:r>
          </a:p>
          <a:p xmlns:a="http://schemas.openxmlformats.org/drawingml/2006/main">
            <a:r>
              <a:t>    "architecture": [</a:t>
            </a:r>
          </a:p>
          <a:p xmlns:a="http://schemas.openxmlformats.org/drawingml/2006/main">
            <a:r>
              <a:t>      "유동인구·공간정보",</a:t>
            </a:r>
          </a:p>
          <a:p xmlns:a="http://schemas.openxmlformats.org/drawingml/2006/main">
            <a:r>
              <a:t>      "밀집도 분석",</a:t>
            </a:r>
          </a:p>
          <a:p xmlns:a="http://schemas.openxmlformats.org/drawingml/2006/main">
            <a:r>
              <a:t>      "지역별 밀집 이력",</a:t>
            </a:r>
          </a:p>
          <a:p xmlns:a="http://schemas.openxmlformats.org/drawingml/2006/main">
            <a:r>
              <a:t>      "지자체 상황실"</a:t>
            </a:r>
          </a:p>
          <a:p xmlns:a="http://schemas.openxmlformats.org/drawingml/2006/main">
            <a:r>
              <a:t>    ],</a:t>
            </a:r>
          </a:p>
          <a:p xmlns:a="http://schemas.openxmlformats.org/drawingml/2006/main">
            <a:r>
              <a:t>    "transfers": [</a:t>
            </a:r>
          </a:p>
          <a:p xmlns:a="http://schemas.openxmlformats.org/drawingml/2006/main">
            <a:r>
              <a:t>      "인구·공간 집계",</a:t>
            </a:r>
          </a:p>
          <a:p xmlns:a="http://schemas.openxmlformats.org/drawingml/2006/main">
            <a:r>
              <a:t>      "밀집 지표",</a:t>
            </a:r>
          </a:p>
          <a:p xmlns:a="http://schemas.openxmlformats.org/drawingml/2006/main">
            <a:r>
              <a:t>      "위험 알림",</a:t>
            </a:r>
          </a:p>
          <a:p xmlns:a="http://schemas.openxmlformats.org/drawingml/2006/main">
            <a:r>
              <a:t>      "현장 대응"</a:t>
            </a:r>
          </a:p>
          <a:p xmlns:a="http://schemas.openxmlformats.org/drawingml/2006/main">
            <a:r>
              <a:t>    ],</a:t>
            </a:r>
          </a:p>
          <a:p xmlns:a="http://schemas.openxmlformats.org/drawingml/2006/main">
            <a:r>
              <a:t>    "control": "공간·시간 단위 대사와 조치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K-인파관리지원시스템 · 공공AI 사례집 86–87쪽 https://bigdata.dongjak.go.kr/board/viewArticle?articleNo=954&amp;boardId=4</a:t>
            </a:r>
          </a:p>
          <a:p xmlns:a="http://schemas.openxmlformats.org/drawingml/2006/main">
            <a:r>
              <a:t>홈페이지 https://heen1987-ops.github.io/TS-business-Plan-001/index.html?view=casebook&amp;case=AX20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"AX20",</a:t>
            </a:r>
          </a:p>
          <a:p xmlns:a="http://schemas.openxmlformats.org/drawingml/2006/main">
            <a:r>
              <a:t>    "title": "K-인파관리지원시스템",</a:t>
            </a:r>
          </a:p>
          <a:p xmlns:a="http://schemas.openxmlformats.org/drawingml/2006/main">
            <a:r>
              <a:t>    "region": "국내",</a:t>
            </a:r>
          </a:p>
          <a:p xmlns:a="http://schemas.openxmlformats.org/drawingml/2006/main">
            <a:r>
              <a:t>    "country": "대한민국",</a:t>
            </a:r>
          </a:p>
          <a:p xmlns:a="http://schemas.openxmlformats.org/drawingml/2006/main">
            <a:r>
              <a:t>    "result": "성공",</a:t>
            </a:r>
          </a:p>
          <a:p xmlns:a="http://schemas.openxmlformats.org/drawingml/2006/main">
            <a:r>
              <a:t>    "kind": "데이터 기반 위험 상황 공유",</a:t>
            </a:r>
          </a:p>
          <a:p xmlns:a="http://schemas.openxmlformats.org/drawingml/2006/main">
            <a:r>
              <a:t>    "period": "2023 구축·운영",</a:t>
            </a:r>
          </a:p>
          <a:p xmlns:a="http://schemas.openxmlformats.org/drawingml/2006/main">
            <a:r>
              <a:t>    "sources": [</a:t>
            </a:r>
          </a:p>
          <a:p xmlns:a="http://schemas.openxmlformats.org/drawingml/2006/main">
            <a:r>
              <a:t>      "S-AX20"</a:t>
            </a:r>
          </a:p>
          <a:p xmlns:a="http://schemas.openxmlformats.org/drawingml/2006/main">
            <a:r>
              <a:t>    ],</a:t>
            </a:r>
          </a:p>
          <a:p xmlns:a="http://schemas.openxmlformats.org/drawingml/2006/main">
            <a:r>
              <a:t>    "keywords": [</a:t>
            </a:r>
          </a:p>
          <a:p xmlns:a="http://schemas.openxmlformats.org/drawingml/2006/main">
            <a:r>
              <a:t>      "데이터 기반 위험 상황 공유"</a:t>
            </a:r>
          </a:p>
          <a:p xmlns:a="http://schemas.openxmlformats.org/drawingml/2006/main">
            <a:r>
              <a:t>    ],</a:t>
            </a:r>
          </a:p>
          <a:p xmlns:a="http://schemas.openxmlformats.org/drawingml/2006/main">
            <a:r>
              <a:t>    "fact": "유동인구·공간정보의 밀집도 분석과 GIS 상황판·위험 알림 제공",</a:t>
            </a:r>
          </a:p>
          <a:p xmlns:a="http://schemas.openxmlformats.org/drawingml/2006/main">
            <a:r>
              <a:t>    "limit": "데이터 분석 운영 사례 · 생성형 AI 아님 · 사고 감소 인과효과 별도",</a:t>
            </a:r>
          </a:p>
          <a:p xmlns:a="http://schemas.openxmlformats.org/drawingml/2006/main">
            <a:r>
              <a:t>    "flow": [</a:t>
            </a:r>
          </a:p>
          <a:p xmlns:a="http://schemas.openxmlformats.org/drawingml/2006/main">
            <a:r>
              <a:t>      "유동인구·공간정보",</a:t>
            </a:r>
          </a:p>
          <a:p xmlns:a="http://schemas.openxmlformats.org/drawingml/2006/main">
            <a:r>
              <a:t>      "밀집도 분석",</a:t>
            </a:r>
          </a:p>
          <a:p xmlns:a="http://schemas.openxmlformats.org/drawingml/2006/main">
            <a:r>
              <a:t>      "GIS·위험 알림",</a:t>
            </a:r>
          </a:p>
          <a:p xmlns:a="http://schemas.openxmlformats.org/drawingml/2006/main">
            <a:r>
              <a:t>      "지자체 대응"</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"위험 감지와 소관기관 상황 전파 연결",</a:t>
            </a:r>
          </a:p>
          <a:p xmlns:a="http://schemas.openxmlformats.org/drawingml/2006/main">
            <a:r>
              <a:t>    "local": "행사·교통시설 혼잡 정보의 관할·업무 인계",</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"장소·시간·단계·담당 기관 매핑",</a:t>
            </a:r>
          </a:p>
          <a:p xmlns:a="http://schemas.openxmlformats.org/drawingml/2006/main">
            <a:r>
              <a:t>    "test": "자료 지연·경계 지역·알림 미수신 시험",</a:t>
            </a:r>
          </a:p>
          <a:p xmlns:a="http://schemas.openxmlformats.org/drawingml/2006/main">
            <a:r>
              <a:t>    "metric": "상황 전파시간 / 조치 누락률",</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"ST-07"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"AX20",</a:t>
            </a:r>
          </a:p>
          <a:p xmlns:a="http://schemas.openxmlformats.org/drawingml/2006/main">
            <a:r>
              <a:t>    "canonicalId": "AX20",</a:t>
            </a:r>
          </a:p>
          <a:p xmlns:a="http://schemas.openxmlformats.org/drawingml/2006/main">
            <a:r>
              <a:t>    "purpose": "인파 밀집 위험의 공간 기반 상황 관리",</a:t>
            </a:r>
          </a:p>
          <a:p xmlns:a="http://schemas.openxmlformats.org/drawingml/2006/main">
            <a:r>
              <a:t>    "users": "지자체 상황실·현장 대응부서",</a:t>
            </a:r>
          </a:p>
          <a:p xmlns:a="http://schemas.openxmlformats.org/drawingml/2006/main">
            <a:r>
              <a:t>    "scope": [</a:t>
            </a:r>
          </a:p>
          <a:p xmlns:a="http://schemas.openxmlformats.org/drawingml/2006/main">
            <a:r>
              <a:t>      "밀집도",</a:t>
            </a:r>
          </a:p>
          <a:p xmlns:a="http://schemas.openxmlformats.org/drawingml/2006/main">
            <a:r>
              <a:t>      "GIS 상황판",</a:t>
            </a:r>
          </a:p>
          <a:p xmlns:a="http://schemas.openxmlformats.org/drawingml/2006/main">
            <a:r>
              <a:t>      "위험 알림"</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"유동인구·공간정보",</a:t>
            </a:r>
          </a:p>
          <a:p xmlns:a="http://schemas.openxmlformats.org/drawingml/2006/main">
            <a:r>
              <a:t>        "detail": "구역·시간·행사 등 상황 맥락 지정",</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"밀집도 / GIS 상황판 / 위험 알림",</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"밀집도 분석",</a:t>
            </a:r>
          </a:p>
          <a:p xmlns:a="http://schemas.openxmlformats.org/drawingml/2006/main">
            <a:r>
              <a:t>        "detail": "유동인구와 공간 조건의 밀집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"지자체 상황실",</a:t>
            </a:r>
          </a:p>
          <a:p xmlns:a="http://schemas.openxmlformats.org/drawingml/2006/main">
            <a:r>
              <a:t>        "detail": "상황판 경보와 현장 확인·대응 연결",</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"지역별 밀집 이력",</a:t>
            </a:r>
          </a:p>
          <a:p xmlns:a="http://schemas.openxmlformats.org/drawingml/2006/main">
            <a:r>
              <a:t>        "detail": "유동인구 집계·공간정보·구역 코드 결합",</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"실제 밀집상태·경보·대응시간 대조",</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"유동인구·공간정보",</a:t>
            </a:r>
          </a:p>
          <a:p xmlns:a="http://schemas.openxmlformats.org/drawingml/2006/main">
            <a:r>
              <a:t>        "input": "구역·시간·행사 등 상황 맥락 지정",</a:t>
            </a:r>
          </a:p>
          <a:p xmlns:a="http://schemas.openxmlformats.org/drawingml/2006/main">
            <a:r>
              <a:t>        "process": "유동인구 집계·공간정보·구역 코드 결합",</a:t>
            </a:r>
          </a:p>
          <a:p xmlns:a="http://schemas.openxmlformats.org/drawingml/2006/main">
            <a:r>
              <a:t>        "output": "인구·공간 집계"</a:t>
            </a:r>
          </a:p>
          <a:p xmlns:a="http://schemas.openxmlformats.org/drawingml/2006/main">
            <a:r>
              <a:t>      },</a:t>
            </a:r>
          </a:p>
          <a:p xmlns:a="http://schemas.openxmlformats.org/drawingml/2006/main">
            <a:r>
              <a:t>      {</a:t>
            </a:r>
          </a:p>
          <a:p xmlns:a="http://schemas.openxmlformats.org/drawingml/2006/main">
            <a:r>
              <a:t>        "title": "밀집도 분석",</a:t>
            </a:r>
          </a:p>
          <a:p xmlns:a="http://schemas.openxmlformats.org/drawingml/2006/main">
            <a:r>
              <a:t>        "input": "인구·공간 집계",</a:t>
            </a:r>
          </a:p>
          <a:p xmlns:a="http://schemas.openxmlformats.org/drawingml/2006/main">
            <a:r>
              <a:t>        "process": "유동인구와 공간 조건의 밀집 분석",</a:t>
            </a:r>
          </a:p>
          <a:p xmlns:a="http://schemas.openxmlformats.org/drawingml/2006/main">
            <a:r>
              <a:t>        "output": "밀집 지표"</a:t>
            </a:r>
          </a:p>
          <a:p xmlns:a="http://schemas.openxmlformats.org/drawingml/2006/main">
            <a:r>
              <a:t>      },</a:t>
            </a:r>
          </a:p>
          <a:p xmlns:a="http://schemas.openxmlformats.org/drawingml/2006/main">
            <a:r>
              <a:t>      {</a:t>
            </a:r>
          </a:p>
          <a:p xmlns:a="http://schemas.openxmlformats.org/drawingml/2006/main">
            <a:r>
              <a:t>        "title": "GIS·위험 알림",</a:t>
            </a:r>
          </a:p>
          <a:p xmlns:a="http://schemas.openxmlformats.org/drawingml/2006/main">
            <a:r>
              <a:t>        "input": "밀집 지표",</a:t>
            </a:r>
          </a:p>
          <a:p xmlns:a="http://schemas.openxmlformats.org/drawingml/2006/main">
            <a:r>
              <a:t>        "process": "공간·시간 단위 대사와 조치 확인",</a:t>
            </a:r>
          </a:p>
          <a:p xmlns:a="http://schemas.openxmlformats.org/drawingml/2006/main">
            <a:r>
              <a:t>        "output": "위험 알림"</a:t>
            </a:r>
          </a:p>
          <a:p xmlns:a="http://schemas.openxmlformats.org/drawingml/2006/main">
            <a:r>
              <a:t>      },</a:t>
            </a:r>
          </a:p>
          <a:p xmlns:a="http://schemas.openxmlformats.org/drawingml/2006/main">
            <a:r>
              <a:t>      {</a:t>
            </a:r>
          </a:p>
          <a:p xmlns:a="http://schemas.openxmlformats.org/drawingml/2006/main">
            <a:r>
              <a:t>        "title": "지자체 대응",</a:t>
            </a:r>
          </a:p>
          <a:p xmlns:a="http://schemas.openxmlformats.org/drawingml/2006/main">
            <a:r>
              <a:t>        "input": "위험 알림",</a:t>
            </a:r>
          </a:p>
          <a:p xmlns:a="http://schemas.openxmlformats.org/drawingml/2006/main">
            <a:r>
              <a:t>        "process": "상황판 경보와 현장 확인·대응 연결",</a:t>
            </a:r>
          </a:p>
          <a:p xmlns:a="http://schemas.openxmlformats.org/drawingml/2006/main">
            <a:r>
              <a:t>        "output": "현장 대응"</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"구역별 인파 밀집을 파악하고 현장 확인 요청",</a:t>
            </a:r>
          </a:p>
          <a:p xmlns:a="http://schemas.openxmlformats.org/drawingml/2006/main">
            <a:r>
              <a:t>      "exception": "집계 지연·통신 표본 편향·구역 경계 변경",</a:t>
            </a:r>
          </a:p>
          <a:p xmlns:a="http://schemas.openxmlformats.org/drawingml/2006/main">
            <a:r>
              <a:t>      "evidence": "현장 밀집상태 대비 경보·전파·조치 시각",</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"지자체 상황실·현장 대응부서",</a:t>
            </a:r>
          </a:p>
          <a:p xmlns:a="http://schemas.openxmlformats.org/drawingml/2006/main">
            <a:r>
              <a:t>          "processing": "구역·시간·행사 등 상황 맥락 지정",</a:t>
            </a:r>
          </a:p>
          <a:p xmlns:a="http://schemas.openxmlformats.org/drawingml/2006/main">
            <a:r>
              <a:t>          "output": "인구·공간 집계"</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"지역별 밀집 이력",</a:t>
            </a:r>
          </a:p>
          <a:p xmlns:a="http://schemas.openxmlformats.org/drawingml/2006/main">
            <a:r>
              <a:t>          "processing": "유동인구 집계·공간정보·구역 코드 결합",</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"인구·공간 집계",</a:t>
            </a:r>
          </a:p>
          <a:p xmlns:a="http://schemas.openxmlformats.org/drawingml/2006/main">
            <a:r>
              <a:t>          "processing": "유동인구와 공간 조건의 밀집 분석",</a:t>
            </a:r>
          </a:p>
          <a:p xmlns:a="http://schemas.openxmlformats.org/drawingml/2006/main">
            <a:r>
              <a:t>          "output": "위험 알림"</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 알림",</a:t>
            </a:r>
          </a:p>
          <a:p xmlns:a="http://schemas.openxmlformats.org/drawingml/2006/main">
            <a:r>
              <a:t>          "processing": "상황판 경보와 현장 확인·대응 연결",</a:t>
            </a:r>
          </a:p>
          <a:p xmlns:a="http://schemas.openxmlformats.org/drawingml/2006/main">
            <a:r>
              <a:t>          "output": "현장 대응"</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"실제 밀집상태·경보·대응시간 대조",</a:t>
            </a:r>
          </a:p>
          <a:p xmlns:a="http://schemas.openxmlformats.org/drawingml/2006/main">
            <a:r>
              <a:t>          "output": "현장 밀집상태 대비 경보·전파·조치 시각"</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"실제 밀집상태·경보·대응시간 대조",</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"S-AX20",</a:t>
            </a:r>
          </a:p>
          <a:p xmlns:a="http://schemas.openxmlformats.org/drawingml/2006/main">
            <a:r>
              <a:t>        "title": "K-인파관리지원시스템 · 공공AI 사례집 86–87쪽",</a:t>
            </a:r>
          </a:p>
          <a:p xmlns:a="http://schemas.openxmlformats.org/drawingml/2006/main">
            <a:r>
              <a:t>        "url": "https://bigdata.dongjak.go.kr/board/viewArticle?articleNo=954&amp;boardId=4",</a:t>
            </a:r>
          </a:p>
          <a:p xmlns:a="http://schemas.openxmlformats.org/drawingml/2006/main">
            <a:r>
              <a:t>        "published": "2023 구축·운영",</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"위험 감지와 소관기관 상황 전파 연결",</a:t>
            </a:r>
          </a:p>
          <a:p xmlns:a="http://schemas.openxmlformats.org/drawingml/2006/main">
            <a:r>
              <a:t>    "local": "행사·교통시설 혼잡 정보의 관할·업무 인계",</a:t>
            </a:r>
          </a:p>
          <a:p xmlns:a="http://schemas.openxmlformats.org/drawingml/2006/main">
            <a:r>
              <a:t>    "sourceDetail": null,</a:t>
            </a:r>
          </a:p>
          <a:p xmlns:a="http://schemas.openxmlformats.org/drawingml/2006/main">
            <a:r>
              <a:t>    "narrative": [</a:t>
            </a:r>
          </a:p>
          <a:p xmlns:a="http://schemas.openxmlformats.org/drawingml/2006/main">
            <a:r>
              <a:t>      "유동인구와 공간정보를 결합해 밀집 위험을 상황실과 현장 대응부서에 전달하는 사례. 추정 밀집도와 실제 현장 상태를 확인하는 조직적 대응이 결합된 구조.",</a:t>
            </a:r>
          </a:p>
          <a:p xmlns:a="http://schemas.openxmlformats.org/drawingml/2006/main">
            <a:r>
              <a:t>      "시간·구역·행사 맥락에 따라 집계 자료를 정합화하고 GIS 상황판과 경보를 생성하는 재구성. 경보 발생, 상황실 확인, 현장 출동·통제, 결과 보고를 별도 상태로 연결.",</a:t>
            </a:r>
          </a:p>
          <a:p xmlns:a="http://schemas.openxmlformats.org/drawingml/2006/main">
            <a:r>
              <a:t>      "TS 교통·시설 안전 적용에서 집계 공간 단위와 관측 편차를 먼저 확인할 필요. 오경보·미탐 외에 알림 수신·확인·대응까지 걸린 시간과 담당 부서의 인계 누락을 검수할 대상."</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"상황실 조회",</a:t>
            </a:r>
          </a:p>
          <a:p xmlns:a="http://schemas.openxmlformats.org/drawingml/2006/main">
            <a:r>
              <a:t>          "layer": "이용 접점",</a:t>
            </a:r>
          </a:p>
          <a:p xmlns:a="http://schemas.openxmlformats.org/drawingml/2006/main">
            <a:r>
              <a:t>          "detail": "지자체 상황실·현장 대응부서",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"구역·행사 맥락",</a:t>
            </a:r>
          </a:p>
          <a:p xmlns:a="http://schemas.openxmlformats.org/drawingml/2006/main">
            <a:r>
              <a:t>          "layer": "업무 문맥",</a:t>
            </a:r>
          </a:p>
          <a:p xmlns:a="http://schemas.openxmlformats.org/drawingml/2006/main">
            <a:r>
              <a:t>          "detail": "구역·시간·행사 등 상황 맥락 지정",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"인구·공간 조회",</a:t>
            </a:r>
          </a:p>
          <a:p xmlns:a="http://schemas.openxmlformats.org/drawingml/2006/main">
            <a:r>
              <a:t>          "layer": "자료 조회",</a:t>
            </a:r>
          </a:p>
          <a:p xmlns:a="http://schemas.openxmlformats.org/drawingml/2006/main">
            <a:r>
              <a:t>          "detail": "인구·공간 집계",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"밀집 위험 분석",</a:t>
            </a:r>
          </a:p>
          <a:p xmlns:a="http://schemas.openxmlformats.org/drawingml/2006/main">
            <a:r>
              <a:t>          "layer": "핵심 처리",</a:t>
            </a:r>
          </a:p>
          <a:p xmlns:a="http://schemas.openxmlformats.org/drawingml/2006/main">
            <a:r>
              <a:t>          "detail": "유동인구와 공간 조건의 밀집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"관측·추정 대조",</a:t>
            </a:r>
          </a:p>
          <a:p xmlns:a="http://schemas.openxmlformats.org/drawingml/2006/main">
            <a:r>
              <a:t>          "layer": "결과 검증",</a:t>
            </a:r>
          </a:p>
          <a:p xmlns:a="http://schemas.openxmlformats.org/drawingml/2006/main">
            <a:r>
              <a:t>          "detail": "공간·시간 단위 대사와 조치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"상황실 확인",</a:t>
            </a:r>
          </a:p>
          <a:p xmlns:a="http://schemas.openxmlformats.org/drawingml/2006/main">
            <a:r>
              <a:t>          "layer": "사람 확인",</a:t>
            </a:r>
          </a:p>
          <a:p xmlns:a="http://schemas.openxmlformats.org/drawingml/2006/main">
            <a:r>
              <a:t>          "detail": "구역별 인파 밀집을 파악하고 현장 확인 요청",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"현장 대응 알림",</a:t>
            </a:r>
          </a:p>
          <a:p xmlns:a="http://schemas.openxmlformats.org/drawingml/2006/main">
            <a:r>
              <a:t>          "layer": "업무 연결",</a:t>
            </a:r>
          </a:p>
          <a:p xmlns:a="http://schemas.openxmlformats.org/drawingml/2006/main">
            <a:r>
              <a:t>          "detail": "상황판 경보와 현장 확인·대응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"대응시간 추적",</a:t>
            </a:r>
          </a:p>
          <a:p xmlns:a="http://schemas.openxmlformats.org/drawingml/2006/main">
            <a:r>
              <a:t>          "layer": "운영 관측",</a:t>
            </a:r>
          </a:p>
          <a:p xmlns:a="http://schemas.openxmlformats.org/drawingml/2006/main">
            <a:r>
              <a:t>          "detail": "실제 밀집상태·경보·대응시간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"유동인구·GIS",</a:t>
            </a:r>
          </a:p>
          <a:p xmlns:a="http://schemas.openxmlformats.org/drawingml/2006/main">
            <a:r>
              <a:t>          "layer": "데이터 원천",</a:t>
            </a:r>
          </a:p>
          <a:p xmlns:a="http://schemas.openxmlformats.org/drawingml/2006/main">
            <a:r>
              <a:t>          "detail": "지역별 밀집 이력",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"시간·구역 정합화",</a:t>
            </a:r>
          </a:p>
          <a:p xmlns:a="http://schemas.openxmlformats.org/drawingml/2006/main">
            <a:r>
              <a:t>          "layer": "준비·갱신",</a:t>
            </a:r>
          </a:p>
          <a:p xmlns:a="http://schemas.openxmlformats.org/drawingml/2006/main">
            <a:r>
              <a:t>          "detail": "유동인구 집계·공간정보·구역 코드 결합",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"밀집·대응 이력",</a:t>
            </a:r>
          </a:p>
          <a:p xmlns:a="http://schemas.openxmlformats.org/drawingml/2006/main">
            <a:r>
              <a:t>          "layer": "상태·지식 저장",</a:t>
            </a:r>
          </a:p>
          <a:p xmlns:a="http://schemas.openxmlformats.org/drawingml/2006/main">
            <a:r>
              <a:t>          "detail": "현장 밀집상태 대비 경보·전파·조치 시각",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"집계·경보 기준",</a:t>
            </a:r>
          </a:p>
          <a:p xmlns:a="http://schemas.openxmlformats.org/drawingml/2006/main">
            <a:r>
              <a:t>          "layer": "권한·정책",</a:t>
            </a:r>
          </a:p>
          <a:p xmlns:a="http://schemas.openxmlformats.org/drawingml/2006/main">
            <a:r>
              <a:t>          "detail": "집계 지연·통신 표본 편향·구역 경계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"realtime",</a:t>
            </a:r>
          </a:p>
          <a:p xmlns:a="http://schemas.openxmlformats.org/drawingml/2006/main">
            <a:r>
              <a:t>        "label": "관측·안전 판정·현장 조치·환류",</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"C04",</a:t>
            </a:r>
          </a:p>
          <a:p xmlns:a="http://schemas.openxmlformats.org/drawingml/2006/main">
            <a:r>
              <a:t>            "C05",</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"C02",</a:t>
            </a:r>
          </a:p>
          <a:p xmlns:a="http://schemas.openxmlformats.org/drawingml/2006/main">
            <a:r>
              <a:t>            "C03",</a:t>
            </a:r>
          </a:p>
          <a:p xmlns:a="http://schemas.openxmlformats.org/drawingml/2006/main">
            <a:r>
              <a:t>            "C12",</a:t>
            </a:r>
          </a:p>
          <a:p xmlns:a="http://schemas.openxmlformats.org/drawingml/2006/main">
            <a:r>
              <a:t>            "C06",</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입력"</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상태"</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"data",</a:t>
            </a:r>
          </a:p>
          <a:p xmlns:a="http://schemas.openxmlformats.org/drawingml/2006/main">
            <a:r>
              <a:t>            "mode": "현장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"data",</a:t>
            </a:r>
          </a:p>
          <a:p xmlns:a="http://schemas.openxmlformats.org/drawingml/2006/main">
            <a:r>
              <a:t>            "mode": "이력·설비"</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"위험·제어 후보"</a:t>
            </a:r>
          </a:p>
          <a:p xmlns:a="http://schemas.openxmlformats.org/drawingml/2006/main">
            <a:r>
              <a:t>          },</a:t>
            </a:r>
          </a:p>
          <a:p xmlns:a="http://schemas.openxmlformats.org/drawingml/2006/main">
            <a:r>
              <a:t>          {</a:t>
            </a:r>
          </a:p>
          <a:p xmlns:a="http://schemas.openxmlformats.org/drawingml/2006/main">
            <a:r>
              <a:t>            "from": "C12",</a:t>
            </a:r>
          </a:p>
          <a:p xmlns:a="http://schemas.openxmlformats.org/drawingml/2006/main">
            <a:r>
              <a:t>            "to": "C05",</a:t>
            </a:r>
          </a:p>
          <a:p xmlns:a="http://schemas.openxmlformats.org/drawingml/2006/main">
            <a:r>
              <a:t>            "kind": "control",</a:t>
            </a:r>
          </a:p>
          <a:p xmlns:a="http://schemas.openxmlformats.org/drawingml/2006/main">
            <a:r>
              <a:t>            "mode": "안전 경계"</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"사람·현장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"경고·조치"</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"현장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"C04",</a:t>
            </a:r>
          </a:p>
          <a:p xmlns:a="http://schemas.openxmlformats.org/drawingml/2006/main">
            <a:r>
              <a:t>            "kind": "feedback",</a:t>
            </a:r>
          </a:p>
          <a:p xmlns:a="http://schemas.openxmlformats.org/drawingml/2006/main">
            <a:r>
              <a:t>            "mode": "다음 주기"</a:t>
            </a:r>
          </a:p>
          <a:p xmlns:a="http://schemas.openxmlformats.org/drawingml/2006/main">
            <a:r>
              <a:t>          }</a:t>
            </a:r>
          </a:p>
          <a:p xmlns:a="http://schemas.openxmlformats.org/drawingml/2006/main">
            <a:r>
              <a:t>        ],</a:t>
            </a:r>
          </a:p>
          <a:p xmlns:a="http://schemas.openxmlformats.org/drawingml/2006/main">
            <a:r>
              <a:t>        "summary": "유동인구·공간정보 → 밀집도 분석 → GIS·위험 알림 → 지자체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입력",</a:t>
            </a:r>
          </a:p>
          <a:p xmlns:a="http://schemas.openxmlformats.org/drawingml/2006/main">
            <a:r>
              <a:t>          "payload": "지역별 밀집 이력",</a:t>
            </a:r>
          </a:p>
          <a:p xmlns:a="http://schemas.openxmlformats.org/drawingml/2006/main">
            <a:r>
              <a:t>          "check": "유동인구 집계·공간정보·구역 코드 결합"</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"정합화 상태",</a:t>
            </a:r>
          </a:p>
          <a:p xmlns:a="http://schemas.openxmlformats.org/drawingml/2006/main">
            <a:r>
              <a:t>          "payload": "처리에 사용할 자료·출처·문맥",</a:t>
            </a:r>
          </a:p>
          <a:p xmlns:a="http://schemas.openxmlformats.org/drawingml/2006/main">
            <a:r>
              <a:t>          "check": "유동인구 집계·공간정보·구역 코드 결합"</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"위험·제어 후보",</a:t>
            </a:r>
          </a:p>
          <a:p xmlns:a="http://schemas.openxmlformats.org/drawingml/2006/main">
            <a:r>
              <a:t>          "payload": "위험 알림",</a:t>
            </a:r>
          </a:p>
          <a:p xmlns:a="http://schemas.openxmlformats.org/drawingml/2006/main">
            <a:r>
              <a:t>          "check": "현장 밀집상태 대비 경보·전파·조치 시각"</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"C12",</a:t>
            </a:r>
          </a:p>
          <a:p xmlns:a="http://schemas.openxmlformats.org/drawingml/2006/main">
            <a:r>
              <a:t>          "to": "C05",</a:t>
            </a:r>
          </a:p>
          <a:p xmlns:a="http://schemas.openxmlformats.org/drawingml/2006/main">
            <a:r>
              <a:t>          "mode": "안전 경계",</a:t>
            </a:r>
          </a:p>
          <a:p xmlns:a="http://schemas.openxmlformats.org/drawingml/2006/main">
            <a:r>
              <a:t>          "payload": "집계·경보 기준",</a:t>
            </a:r>
          </a:p>
          <a:p xmlns:a="http://schemas.openxmlformats.org/drawingml/2006/main">
            <a:r>
              <a:t>          "check": "공간·시간 단위 대사와 조치 확인"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"C06",</a:t>
            </a:r>
          </a:p>
          <a:p xmlns:a="http://schemas.openxmlformats.org/drawingml/2006/main">
            <a:r>
              <a:t>          "to": "C07",</a:t>
            </a:r>
          </a:p>
          <a:p xmlns:a="http://schemas.openxmlformats.org/drawingml/2006/main">
            <a:r>
              <a:t>          "mode": "경고·조치",</a:t>
            </a:r>
          </a:p>
          <a:p xmlns:a="http://schemas.openxmlformats.org/drawingml/2006/main">
            <a:r>
              <a:t>          "payload": "현장 대응",</a:t>
            </a:r>
          </a:p>
          <a:p xmlns:a="http://schemas.openxmlformats.org/drawingml/2006/main">
            <a:r>
              <a:t>          "check": "현장 밀집상태 대비 경보·전파·조치 시각"</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"C08",</a:t>
            </a:r>
          </a:p>
          <a:p xmlns:a="http://schemas.openxmlformats.org/drawingml/2006/main">
            <a:r>
              <a:t>          "to": "C04",</a:t>
            </a:r>
          </a:p>
          <a:p xmlns:a="http://schemas.openxmlformats.org/drawingml/2006/main">
            <a:r>
              <a:t>          "mode": "다음 주기",</a:t>
            </a:r>
          </a:p>
          <a:p xmlns:a="http://schemas.openxmlformats.org/drawingml/2006/main">
            <a:r>
              <a:t>          "payload": "실제 밀집상태·경보·대응시간 대조",</a:t>
            </a:r>
          </a:p>
          <a:p xmlns:a="http://schemas.openxmlformats.org/drawingml/2006/main">
            <a:r>
              <a:t>          "check": "실제 밀집상태·경보·대응시간 대조"</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11,</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"인파 밀집 위험의 공간 기반 상황 관리 / 밀집도·GIS 상황판·위험 알림",</a:t>
            </a:r>
          </a:p>
          <a:p xmlns:a="http://schemas.openxmlformats.org/drawingml/2006/main">
            <a:r>
              <a:t>        "extension": "행사·교통시설 혼잡 정보의 관할·업무 인계"</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"집계 지연·통신 표본 편향·구역 경계 변경",</a:t>
            </a:r>
          </a:p>
          <a:p xmlns:a="http://schemas.openxmlformats.org/drawingml/2006/main">
            <a:r>
              <a:t>        "hold": "공간·시간 단위 대사와 조치 확인",</a:t>
            </a:r>
          </a:p>
          <a:p xmlns:a="http://schemas.openxmlformats.org/drawingml/2006/main">
            <a:r>
              <a:t>        "recovery": "실제 밀집상태·경보·대응시간 대조",</a:t>
            </a:r>
          </a:p>
          <a:p xmlns:a="http://schemas.openxmlformats.org/drawingml/2006/main">
            <a:r>
              <a:t>        "evidence": "현장 밀집상태 대비 경보·전파·조치 시각"</a:t>
            </a:r>
          </a:p>
          <a:p xmlns:a="http://schemas.openxmlformats.org/drawingml/2006/main">
            <a:r>
              <a:t>      },</a:t>
            </a:r>
          </a:p>
          <a:p xmlns:a="http://schemas.openxmlformats.org/drawingml/2006/main">
            <a:r>
              <a:t>      "data": {</a:t>
            </a:r>
          </a:p>
          <a:p xmlns:a="http://schemas.openxmlformats.org/drawingml/2006/main">
            <a:r>
              <a:t>        "source": "지역별 밀집 이력",</a:t>
            </a:r>
          </a:p>
          <a:p xmlns:a="http://schemas.openxmlformats.org/drawingml/2006/main">
            <a:r>
              <a:t>        "prepare": "유동인구 집계·공간정보·구역 코드 결합",</a:t>
            </a:r>
          </a:p>
          <a:p xmlns:a="http://schemas.openxmlformats.org/drawingml/2006/main">
            <a:r>
              <a:t>        "output": "인구·공간 집계",</a:t>
            </a:r>
          </a:p>
          <a:p xmlns:a="http://schemas.openxmlformats.org/drawingml/2006/main">
            <a:r>
              <a:t>        "refresh": "실제 밀집상태·경보·대응시간 대조"</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"AX20",</a:t>
            </a:r>
          </a:p>
          <a:p xmlns:a="http://schemas.openxmlformats.org/drawingml/2006/main">
            <a:r>
              <a:t>    "success": [</a:t>
            </a:r>
          </a:p>
          <a:p xmlns:a="http://schemas.openxmlformats.org/drawingml/2006/main">
            <a:r>
              <a:t>      "공간정보와 유동인구의 결합",</a:t>
            </a:r>
          </a:p>
          <a:p xmlns:a="http://schemas.openxmlformats.org/drawingml/2006/main">
            <a:r>
              <a:t>      "상황판·알림과 지자체 대응 연결"</a:t>
            </a:r>
          </a:p>
          <a:p xmlns:a="http://schemas.openxmlformats.org/drawingml/2006/main">
            <a:r>
              <a:t>    ],</a:t>
            </a:r>
          </a:p>
          <a:p xmlns:a="http://schemas.openxmlformats.org/drawingml/2006/main">
            <a:r>
              <a:t>    "risks": [</a:t>
            </a:r>
          </a:p>
          <a:p xmlns:a="http://schemas.openxmlformats.org/drawingml/2006/main">
            <a:r>
              <a:t>      "추정 인구와 실제 밀집의 차이",</a:t>
            </a:r>
          </a:p>
          <a:p xmlns:a="http://schemas.openxmlformats.org/drawingml/2006/main">
            <a:r>
              <a:t>      "알림 발생과 대응 완료의 혼동"</a:t>
            </a:r>
          </a:p>
          <a:p xmlns:a="http://schemas.openxmlformats.org/drawingml/2006/main">
            <a:r>
              <a:t>    ],</a:t>
            </a:r>
          </a:p>
          <a:p xmlns:a="http://schemas.openxmlformats.org/drawingml/2006/main">
            <a:r>
              <a:t>    "architecture": [</a:t>
            </a:r>
          </a:p>
          <a:p xmlns:a="http://schemas.openxmlformats.org/drawingml/2006/main">
            <a:r>
              <a:t>      "유동인구·공간정보",</a:t>
            </a:r>
          </a:p>
          <a:p xmlns:a="http://schemas.openxmlformats.org/drawingml/2006/main">
            <a:r>
              <a:t>      "밀집도 분석",</a:t>
            </a:r>
          </a:p>
          <a:p xmlns:a="http://schemas.openxmlformats.org/drawingml/2006/main">
            <a:r>
              <a:t>      "지역별 밀집 이력",</a:t>
            </a:r>
          </a:p>
          <a:p xmlns:a="http://schemas.openxmlformats.org/drawingml/2006/main">
            <a:r>
              <a:t>      "지자체 상황실"</a:t>
            </a:r>
          </a:p>
          <a:p xmlns:a="http://schemas.openxmlformats.org/drawingml/2006/main">
            <a:r>
              <a:t>    ],</a:t>
            </a:r>
          </a:p>
          <a:p xmlns:a="http://schemas.openxmlformats.org/drawingml/2006/main">
            <a:r>
              <a:t>    "transfers": [</a:t>
            </a:r>
          </a:p>
          <a:p xmlns:a="http://schemas.openxmlformats.org/drawingml/2006/main">
            <a:r>
              <a:t>      "인구·공간 집계",</a:t>
            </a:r>
          </a:p>
          <a:p xmlns:a="http://schemas.openxmlformats.org/drawingml/2006/main">
            <a:r>
              <a:t>      "밀집 지표",</a:t>
            </a:r>
          </a:p>
          <a:p xmlns:a="http://schemas.openxmlformats.org/drawingml/2006/main">
            <a:r>
              <a:t>      "위험 알림",</a:t>
            </a:r>
          </a:p>
          <a:p xmlns:a="http://schemas.openxmlformats.org/drawingml/2006/main">
            <a:r>
              <a:t>      "현장 대응"</a:t>
            </a:r>
          </a:p>
          <a:p xmlns:a="http://schemas.openxmlformats.org/drawingml/2006/main">
            <a:r>
              <a:t>    ],</a:t>
            </a:r>
          </a:p>
          <a:p xmlns:a="http://schemas.openxmlformats.org/drawingml/2006/main">
            <a:r>
              <a:t>    "control": "공간·시간 단위 대사와 조치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K-인파관리지원시스템 · 공공AI 사례집 86–87쪽 https://bigdata.dongjak.go.kr/board/viewArticle?articleNo=954&amp;boardId=4</a:t>
            </a:r>
          </a:p>
          <a:p xmlns:a="http://schemas.openxmlformats.org/drawingml/2006/main">
            <a:r>
              <a:t>홈페이지 https://heen1987-ops.github.io/TS-business-Plan-001/index.html?view=casebook&amp;case=AX20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"AX21",</a:t>
            </a:r>
          </a:p>
          <a:p xmlns:a="http://schemas.openxmlformats.org/drawingml/2006/main">
            <a:r>
              <a:t>    "title": "항공안전 이슈 분석 AI PoC",</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"안전 문서 분류·분석",</a:t>
            </a:r>
          </a:p>
          <a:p xmlns:a="http://schemas.openxmlformats.org/drawingml/2006/main">
            <a:r>
              <a:t>    "period": "2024 기술 실증",</a:t>
            </a:r>
          </a:p>
          <a:p xmlns:a="http://schemas.openxmlformats.org/drawingml/2006/main">
            <a:r>
              <a:t>    "sources": [</a:t>
            </a:r>
          </a:p>
          <a:p xmlns:a="http://schemas.openxmlformats.org/drawingml/2006/main">
            <a:r>
              <a:t>      "S-AX21"</a:t>
            </a:r>
          </a:p>
          <a:p xmlns:a="http://schemas.openxmlformats.org/drawingml/2006/main">
            <a:r>
              <a:t>    ],</a:t>
            </a:r>
          </a:p>
          <a:p xmlns:a="http://schemas.openxmlformats.org/drawingml/2006/main">
            <a:r>
              <a:t>    "keywords": [</a:t>
            </a:r>
          </a:p>
          <a:p xmlns:a="http://schemas.openxmlformats.org/drawingml/2006/main">
            <a:r>
              <a:t>      "안전 문서 분류",</a:t>
            </a:r>
          </a:p>
          <a:p xmlns:a="http://schemas.openxmlformats.org/drawingml/2006/main">
            <a:r>
              <a:t>      "분석"</a:t>
            </a:r>
          </a:p>
          <a:p xmlns:a="http://schemas.openxmlformats.org/drawingml/2006/main">
            <a:r>
              <a:t>    ],</a:t>
            </a:r>
          </a:p>
          <a:p xmlns:a="http://schemas.openxmlformats.org/drawingml/2006/main">
            <a:r>
              <a:t>    "fact": "항공안전 기사·분류체계 기반 번역·요약·위험 분류와 분석원 검토의 기술 실증",</a:t>
            </a:r>
          </a:p>
          <a:p xmlns:a="http://schemas.openxmlformats.org/drawingml/2006/main">
            <a:r>
              <a:t>    "limit": "PoC 범위 · 운영 생산성 실측으로 해석 금지",</a:t>
            </a:r>
          </a:p>
          <a:p xmlns:a="http://schemas.openxmlformats.org/drawingml/2006/main">
            <a:r>
              <a:t>    "flow": [</a:t>
            </a:r>
          </a:p>
          <a:p xmlns:a="http://schemas.openxmlformats.org/drawingml/2006/main">
            <a:r>
              <a:t>      "항공안전 기사",</a:t>
            </a:r>
          </a:p>
          <a:p xmlns:a="http://schemas.openxmlformats.org/drawingml/2006/main">
            <a:r>
              <a:t>      "전처리·RAG",</a:t>
            </a:r>
          </a:p>
          <a:p xmlns:a="http://schemas.openxmlformats.org/drawingml/2006/main">
            <a:r>
              <a:t>      "요약·위험 분류",</a:t>
            </a:r>
          </a:p>
          <a:p xmlns:a="http://schemas.openxmlformats.org/drawingml/2006/main">
            <a:r>
              <a:t>      "분석원 재검토"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"전문 분류체계와 사람의 재검토 결합",</a:t>
            </a:r>
          </a:p>
          <a:p xmlns:a="http://schemas.openxmlformats.org/drawingml/2006/main">
            <a:r>
              <a:t>    "local": "TS 분야별 사고·위험 용어와 책임 직무 매핑",</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"안전 이슈 분류셋·근거 위치·검토 기록",</a:t>
            </a:r>
          </a:p>
          <a:p xmlns:a="http://schemas.openxmlformats.org/drawingml/2006/main">
            <a:r>
              <a:t>    "test": "위험 유형별 누락·오분류·번역 오류 평가",</a:t>
            </a:r>
          </a:p>
          <a:p xmlns:a="http://schemas.openxmlformats.org/drawingml/2006/main">
            <a:r>
              <a:t>    "metric": "분류 재현율 / 검토 포함 소요시간",</a:t>
            </a:r>
          </a:p>
          <a:p xmlns:a="http://schemas.openxmlformats.org/drawingml/2006/main">
            <a:r>
              <a:t>    "strategies": [</a:t>
            </a:r>
          </a:p>
          <a:p xmlns:a="http://schemas.openxmlformats.org/drawingml/2006/main">
            <a:r>
              <a:t>      "ST-03",</a:t>
            </a:r>
          </a:p>
          <a:p xmlns:a="http://schemas.openxmlformats.org/drawingml/2006/main">
            <a:r>
              <a:t>      "ST-05",</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"AX21",</a:t>
            </a:r>
          </a:p>
          <a:p xmlns:a="http://schemas.openxmlformats.org/drawingml/2006/main">
            <a:r>
              <a:t>    "canonicalId": "AX21",</a:t>
            </a:r>
          </a:p>
          <a:p xmlns:a="http://schemas.openxmlformats.org/drawingml/2006/main">
            <a:r>
              <a:t>    "purpose": "항공안전 이슈의 번역·분류·검토 지원",</a:t>
            </a:r>
          </a:p>
          <a:p xmlns:a="http://schemas.openxmlformats.org/drawingml/2006/main">
            <a:r>
              <a:t>    "users": "항공안전 분석원",</a:t>
            </a:r>
          </a:p>
          <a:p xmlns:a="http://schemas.openxmlformats.org/drawingml/2006/main">
            <a:r>
              <a:t>    "scope": [</a:t>
            </a:r>
          </a:p>
          <a:p xmlns:a="http://schemas.openxmlformats.org/drawingml/2006/main">
            <a:r>
              <a:t>      "기사 수집",</a:t>
            </a:r>
          </a:p>
          <a:p xmlns:a="http://schemas.openxmlformats.org/drawingml/2006/main">
            <a:r>
              <a:t>      "위험 분류",</a:t>
            </a:r>
          </a:p>
          <a:p xmlns:a="http://schemas.openxmlformats.org/drawingml/2006/main">
            <a:r>
              <a:t>      "분석원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"항공안전 기사",</a:t>
            </a:r>
          </a:p>
          <a:p xmlns:a="http://schemas.openxmlformats.org/drawingml/2006/main">
            <a:r>
              <a:t>        "detail": "기사 출처·발생일·대상 항공 업무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"기사 수집 / 위험 분류 / 분석원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"전처리·RAG·분류",</a:t>
            </a:r>
          </a:p>
          <a:p xmlns:a="http://schemas.openxmlformats.org/drawingml/2006/main">
            <a:r>
              <a:t>        "detail": "번역·요약 후 안전 분류체계별 후보 제시",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"항공안전 분석원",</a:t>
            </a:r>
          </a:p>
          <a:p xmlns:a="http://schemas.openxmlformats.org/drawingml/2006/main">
            <a:r>
              <a:t>        "detail": "분류 근거와 원문을 분석원에게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"기사·위험 분류체계",</a:t>
            </a:r>
          </a:p>
          <a:p xmlns:a="http://schemas.openxmlformats.org/drawingml/2006/main">
            <a:r>
              <a:t>        "detail": "원문 기사·번역문·분류체계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"분석원 수정과 분류 누락의 회귀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"항공안전 기사",</a:t>
            </a:r>
          </a:p>
          <a:p xmlns:a="http://schemas.openxmlformats.org/drawingml/2006/main">
            <a:r>
              <a:t>        "input": "기사 출처·발생일·대상 항공 업무 식별",</a:t>
            </a:r>
          </a:p>
          <a:p xmlns:a="http://schemas.openxmlformats.org/drawingml/2006/main">
            <a:r>
              <a:t>        "process": "원문 기사·번역문·분류체계 판본 관리",</a:t>
            </a:r>
          </a:p>
          <a:p xmlns:a="http://schemas.openxmlformats.org/drawingml/2006/main">
            <a:r>
              <a:t>        "output": "기사 원문"</a:t>
            </a:r>
          </a:p>
          <a:p xmlns:a="http://schemas.openxmlformats.org/drawingml/2006/main">
            <a:r>
              <a:t>      },</a:t>
            </a:r>
          </a:p>
          <a:p xmlns:a="http://schemas.openxmlformats.org/drawingml/2006/main">
            <a:r>
              <a:t>      {</a:t>
            </a:r>
          </a:p>
          <a:p xmlns:a="http://schemas.openxmlformats.org/drawingml/2006/main">
            <a:r>
              <a:t>        "title": "전처리·RAG",</a:t>
            </a:r>
          </a:p>
          <a:p xmlns:a="http://schemas.openxmlformats.org/drawingml/2006/main">
            <a:r>
              <a:t>        "input": "기사 원문",</a:t>
            </a:r>
          </a:p>
          <a:p xmlns:a="http://schemas.openxmlformats.org/drawingml/2006/main">
            <a:r>
              <a:t>        "process": "번역·요약 후 안전 분류체계별 후보 제시",</a:t>
            </a:r>
          </a:p>
          <a:p xmlns:a="http://schemas.openxmlformats.org/drawingml/2006/main">
            <a:r>
              <a:t>        "output": "분석용 문서"</a:t>
            </a:r>
          </a:p>
          <a:p xmlns:a="http://schemas.openxmlformats.org/drawingml/2006/main">
            <a:r>
              <a:t>      },</a:t>
            </a:r>
          </a:p>
          <a:p xmlns:a="http://schemas.openxmlformats.org/drawingml/2006/main">
            <a:r>
              <a:t>      {</a:t>
            </a:r>
          </a:p>
          <a:p xmlns:a="http://schemas.openxmlformats.org/drawingml/2006/main">
            <a:r>
              <a:t>        "title": "요약·위험 분류",</a:t>
            </a:r>
          </a:p>
          <a:p xmlns:a="http://schemas.openxmlformats.org/drawingml/2006/main">
            <a:r>
              <a:t>        "input": "분석용 문서",</a:t>
            </a:r>
          </a:p>
          <a:p xmlns:a="http://schemas.openxmlformats.org/drawingml/2006/main">
            <a:r>
              <a:t>        "process": "원문 사건·시각·위험등급 대조",</a:t>
            </a:r>
          </a:p>
          <a:p xmlns:a="http://schemas.openxmlformats.org/drawingml/2006/main">
            <a:r>
              <a:t>        "output": "요약·위험 태그"</a:t>
            </a:r>
          </a:p>
          <a:p xmlns:a="http://schemas.openxmlformats.org/drawingml/2006/main">
            <a:r>
              <a:t>      },</a:t>
            </a:r>
          </a:p>
          <a:p xmlns:a="http://schemas.openxmlformats.org/drawingml/2006/main">
            <a:r>
              <a:t>      {</a:t>
            </a:r>
          </a:p>
          <a:p xmlns:a="http://schemas.openxmlformats.org/drawingml/2006/main">
            <a:r>
              <a:t>        "title": "분석원 재검토",</a:t>
            </a:r>
          </a:p>
          <a:p xmlns:a="http://schemas.openxmlformats.org/drawingml/2006/main">
            <a:r>
              <a:t>        "input": "요약·위험 태그",</a:t>
            </a:r>
          </a:p>
          <a:p xmlns:a="http://schemas.openxmlformats.org/drawingml/2006/main">
            <a:r>
              <a:t>        "process": "분류 근거와 원문을 분석원에게 전달",</a:t>
            </a:r>
          </a:p>
          <a:p xmlns:a="http://schemas.openxmlformats.org/drawingml/2006/main">
            <a:r>
              <a:t>        "output": "분석원 수정"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"기사의 사건·번역·분류 근거를 분석원이 검토",</a:t>
            </a:r>
          </a:p>
          <a:p xmlns:a="http://schemas.openxmlformats.org/drawingml/2006/main">
            <a:r>
              <a:t>      "exception": "다른 사건의 혼합·번역 부정문 오류·분류 중복",</a:t>
            </a:r>
          </a:p>
          <a:p xmlns:a="http://schemas.openxmlformats.org/drawingml/2006/main">
            <a:r>
              <a:t>      "evidence": "원문 구간과 번역·분류·분석원 수정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"항공안전 분석원",</a:t>
            </a:r>
          </a:p>
          <a:p xmlns:a="http://schemas.openxmlformats.org/drawingml/2006/main">
            <a:r>
              <a:t>          "processing": "기사 출처·발생일·대상 항공 업무 식별",</a:t>
            </a:r>
          </a:p>
          <a:p xmlns:a="http://schemas.openxmlformats.org/drawingml/2006/main">
            <a:r>
              <a:t>          "output": "기사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"기사·위험 분류체계",</a:t>
            </a:r>
          </a:p>
          <a:p xmlns:a="http://schemas.openxmlformats.org/drawingml/2006/main">
            <a:r>
              <a:t>          "processing": "원문 기사·번역문·분류체계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"기사 원문",</a:t>
            </a:r>
          </a:p>
          <a:p xmlns:a="http://schemas.openxmlformats.org/drawingml/2006/main">
            <a:r>
              <a:t>          "processing": "번역·요약 후 안전 분류체계별 후보 제시",</a:t>
            </a:r>
          </a:p>
          <a:p xmlns:a="http://schemas.openxmlformats.org/drawingml/2006/main">
            <a:r>
              <a:t>          "output": "요약·위험 태그"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"요약·위험 태그",</a:t>
            </a:r>
          </a:p>
          <a:p xmlns:a="http://schemas.openxmlformats.org/drawingml/2006/main">
            <a:r>
              <a:t>          "processing": "분류 근거와 원문을 분석원에게 전달",</a:t>
            </a:r>
          </a:p>
          <a:p xmlns:a="http://schemas.openxmlformats.org/drawingml/2006/main">
            <a:r>
              <a:t>          "output": "분석원 수정"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"분석원 수정과 분류 누락의 회귀 평가",</a:t>
            </a:r>
          </a:p>
          <a:p xmlns:a="http://schemas.openxmlformats.org/drawingml/2006/main">
            <a:r>
              <a:t>          "output": "원문 구간과 번역·분류·분석원 수정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"분석원 수정과 분류 누락의 회귀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"S-AX21",</a:t>
            </a:r>
          </a:p>
          <a:p xmlns:a="http://schemas.openxmlformats.org/drawingml/2006/main">
            <a:r>
              <a:t>        "title": "항공안전 이슈 분석 AI PoC · 공공AI 사례집 100–101쪽",</a:t>
            </a:r>
          </a:p>
          <a:p xmlns:a="http://schemas.openxmlformats.org/drawingml/2006/main">
            <a:r>
              <a:t>        "url": "https://bigdata.dongjak.go.kr/board/viewArticle?articleNo=954&amp;boardId=4",</a:t>
            </a:r>
          </a:p>
          <a:p xmlns:a="http://schemas.openxmlformats.org/drawingml/2006/main">
            <a:r>
              <a:t>        "published": "2024 기술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"전문 분류체계와 사람의 재검토 결합",</a:t>
            </a:r>
          </a:p>
          <a:p xmlns:a="http://schemas.openxmlformats.org/drawingml/2006/main">
            <a:r>
              <a:t>    "local": "TS 분야별 사고·위험 용어와 책임 직무 매핑",</a:t>
            </a:r>
          </a:p>
          <a:p xmlns:a="http://schemas.openxmlformats.org/drawingml/2006/main">
            <a:r>
              <a:t>    "sourceDetail": null,</a:t>
            </a:r>
          </a:p>
          <a:p xmlns:a="http://schemas.openxmlformats.org/drawingml/2006/main">
            <a:r>
              <a:t>    "narrative": [</a:t>
            </a:r>
          </a:p>
          <a:p xmlns:a="http://schemas.openxmlformats.org/drawingml/2006/main">
            <a:r>
              <a:t>      "항공안전 관련 기사에서 사건과 위험 요인을 찾아 분석원의 검토를 돕는 사례. 다국어 자료의 번역·요약과 정해진 안전 분류체계 적용이 결합된 업무.",</a:t>
            </a:r>
          </a:p>
          <a:p xmlns:a="http://schemas.openxmlformats.org/drawingml/2006/main">
            <a:r>
              <a:t>      "기사 출처·발생일·항공업무를 식별한 뒤 번역문과 원문을 연결하고 위험 태그 후보를 제시하는 재구성. 분석원의 수정값과 판정 근거를 보존해 분류 누락·오역을 회귀 평가.",</a:t>
            </a:r>
          </a:p>
          <a:p xmlns:a="http://schemas.openxmlformats.org/drawingml/2006/main">
            <a:r>
              <a:t>      "TS 적용에서는 기사량 처리보다 사건·시각·위험등급의 정확한 추출과 근거 추적을 우선. 원문 대비 중요 사건 누락, 분류체계 개정, 다국어 전문용어 오역을 독립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"기사 수집 접점",</a:t>
            </a:r>
          </a:p>
          <a:p xmlns:a="http://schemas.openxmlformats.org/drawingml/2006/main">
            <a:r>
              <a:t>          "layer": "이용 접점",</a:t>
            </a:r>
          </a:p>
          <a:p xmlns:a="http://schemas.openxmlformats.org/drawingml/2006/main">
            <a:r>
              <a:t>          "detail": "항공안전 분석원",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"출처·발생일",</a:t>
            </a:r>
          </a:p>
          <a:p xmlns:a="http://schemas.openxmlformats.org/drawingml/2006/main">
            <a:r>
              <a:t>          "layer": "업무 문맥",</a:t>
            </a:r>
          </a:p>
          <a:p xmlns:a="http://schemas.openxmlformats.org/drawingml/2006/main">
            <a:r>
              <a:t>          "detail": "기사 출처·발생일·대상 항공 업무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"분류 지식 검색",</a:t>
            </a:r>
          </a:p>
          <a:p xmlns:a="http://schemas.openxmlformats.org/drawingml/2006/main">
            <a:r>
              <a:t>          "layer": "자료 조회",</a:t>
            </a:r>
          </a:p>
          <a:p xmlns:a="http://schemas.openxmlformats.org/drawingml/2006/main">
            <a:r>
              <a:t>          "detail": "기사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"번역·요약·태깅",</a:t>
            </a:r>
          </a:p>
          <a:p xmlns:a="http://schemas.openxmlformats.org/drawingml/2006/main">
            <a:r>
              <a:t>          "layer": "핵심 처리",</a:t>
            </a:r>
          </a:p>
          <a:p xmlns:a="http://schemas.openxmlformats.org/drawingml/2006/main">
            <a:r>
              <a:t>          "detail": "번역·요약 후 안전 분류체계별 후보 제시",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"사건·등급 대조",</a:t>
            </a:r>
          </a:p>
          <a:p xmlns:a="http://schemas.openxmlformats.org/drawingml/2006/main">
            <a:r>
              <a:t>          "layer": "결과 검증",</a:t>
            </a:r>
          </a:p>
          <a:p xmlns:a="http://schemas.openxmlformats.org/drawingml/2006/main">
            <a:r>
              <a:t>          "detail": "원문 사건·시각·위험등급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"분석원 수정",</a:t>
            </a:r>
          </a:p>
          <a:p xmlns:a="http://schemas.openxmlformats.org/drawingml/2006/main">
            <a:r>
              <a:t>          "layer": "사람 확인",</a:t>
            </a:r>
          </a:p>
          <a:p xmlns:a="http://schemas.openxmlformats.org/drawingml/2006/main">
            <a:r>
              <a:t>          "detail": "기사의 사건·번역·분류 근거를 분석원이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"검토 보고서",</a:t>
            </a:r>
          </a:p>
          <a:p xmlns:a="http://schemas.openxmlformats.org/drawingml/2006/main">
            <a:r>
              <a:t>          "layer": "업무 연결",</a:t>
            </a:r>
          </a:p>
          <a:p xmlns:a="http://schemas.openxmlformats.org/drawingml/2006/main">
            <a:r>
              <a:t>          "detail": "분류 근거와 원문을 분석원에게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"누락 회귀평가",</a:t>
            </a:r>
          </a:p>
          <a:p xmlns:a="http://schemas.openxmlformats.org/drawingml/2006/main">
            <a:r>
              <a:t>          "layer": "운영 관측",</a:t>
            </a:r>
          </a:p>
          <a:p xmlns:a="http://schemas.openxmlformats.org/drawingml/2006/main">
            <a:r>
              <a:t>          "detail": "분석원 수정과 분류 누락의 회귀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"기사·안전 분류",</a:t>
            </a:r>
          </a:p>
          <a:p xmlns:a="http://schemas.openxmlformats.org/drawingml/2006/main">
            <a:r>
              <a:t>          "layer": "데이터 원천",</a:t>
            </a:r>
          </a:p>
          <a:p xmlns:a="http://schemas.openxmlformats.org/drawingml/2006/main">
            <a:r>
              <a:t>          "detail": "기사·위험 분류체계",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"번역·판본 정리",</a:t>
            </a:r>
          </a:p>
          <a:p xmlns:a="http://schemas.openxmlformats.org/drawingml/2006/main">
            <a:r>
              <a:t>          "layer": "준비·갱신",</a:t>
            </a:r>
          </a:p>
          <a:p xmlns:a="http://schemas.openxmlformats.org/drawingml/2006/main">
            <a:r>
              <a:t>          "detail": "원문 기사·번역문·분류체계 판본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"기사·분류 이력",</a:t>
            </a:r>
          </a:p>
          <a:p xmlns:a="http://schemas.openxmlformats.org/drawingml/2006/main">
            <a:r>
              <a:t>          "layer": "상태·지식 저장",</a:t>
            </a:r>
          </a:p>
          <a:p xmlns:a="http://schemas.openxmlformats.org/drawingml/2006/main">
            <a:r>
              <a:t>          "detail": "원문 구간과 번역·분류·분석원 수정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"분류·검토 책임",</a:t>
            </a:r>
          </a:p>
          <a:p xmlns:a="http://schemas.openxmlformats.org/drawingml/2006/main">
            <a:r>
              <a:t>          "layer": "권한·정책",</a:t>
            </a:r>
          </a:p>
          <a:p xmlns:a="http://schemas.openxmlformats.org/drawingml/2006/main">
            <a:r>
              <a:t>          "detail": "다른 사건의 혼합·번역 부정문 오류·분류 중복",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"항공안전 기사 → 전처리·RAG → 요약·위험 분류 → 분석원 재검토"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"기사·위험 분류체계",</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"요약·위험 태그",</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"분석용 문서",</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"요약·위험 태그",</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"분석원 수정",</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"항공안전 이슈의 번역·분류·검토 지원 / 기사 수집·위험 분류·분석원 검토",</a:t>
            </a:r>
          </a:p>
          <a:p xmlns:a="http://schemas.openxmlformats.org/drawingml/2006/main">
            <a:r>
              <a:t>        "extension": "TS 분야별 사고·위험 용어와 책임 직무 매핑"</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사건의 혼합·번역 부정문 오류·분류 중복",</a:t>
            </a:r>
          </a:p>
          <a:p xmlns:a="http://schemas.openxmlformats.org/drawingml/2006/main">
            <a:r>
              <a:t>        "hold": "원문 사건·시각·위험등급 대조",</a:t>
            </a:r>
          </a:p>
          <a:p xmlns:a="http://schemas.openxmlformats.org/drawingml/2006/main">
            <a:r>
              <a:t>        "recovery": "분석원 수정과 분류 누락의 회귀 평가",</a:t>
            </a:r>
          </a:p>
          <a:p xmlns:a="http://schemas.openxmlformats.org/drawingml/2006/main">
            <a:r>
              <a:t>        "evidence": "원문 구간과 번역·분류·분석원 수정 연결표"</a:t>
            </a:r>
          </a:p>
          <a:p xmlns:a="http://schemas.openxmlformats.org/drawingml/2006/main">
            <a:r>
              <a:t>      },</a:t>
            </a:r>
          </a:p>
          <a:p xmlns:a="http://schemas.openxmlformats.org/drawingml/2006/main">
            <a:r>
              <a:t>      "data": {</a:t>
            </a:r>
          </a:p>
          <a:p xmlns:a="http://schemas.openxmlformats.org/drawingml/2006/main">
            <a:r>
              <a:t>        "source": "기사·위험 분류체계",</a:t>
            </a:r>
          </a:p>
          <a:p xmlns:a="http://schemas.openxmlformats.org/drawingml/2006/main">
            <a:r>
              <a:t>        "prepare": "원문 기사·번역문·분류체계 판본 관리",</a:t>
            </a:r>
          </a:p>
          <a:p xmlns:a="http://schemas.openxmlformats.org/drawingml/2006/main">
            <a:r>
              <a:t>        "output": "기사 원문",</a:t>
            </a:r>
          </a:p>
          <a:p xmlns:a="http://schemas.openxmlformats.org/drawingml/2006/main">
            <a:r>
              <a:t>        "refresh": "분석원 수정과 분류 누락의 회귀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"AX21",</a:t>
            </a:r>
          </a:p>
          <a:p xmlns:a="http://schemas.openxmlformats.org/drawingml/2006/main">
            <a:r>
              <a:t>    "success": [</a:t>
            </a:r>
          </a:p>
          <a:p xmlns:a="http://schemas.openxmlformats.org/drawingml/2006/main">
            <a:r>
              <a:t>      "분류체계에 맞춘 번역·요약",</a:t>
            </a:r>
          </a:p>
          <a:p xmlns:a="http://schemas.openxmlformats.org/drawingml/2006/main">
            <a:r>
              <a:t>      "안전 분석원의 재검토"</a:t>
            </a:r>
          </a:p>
          <a:p xmlns:a="http://schemas.openxmlformats.org/drawingml/2006/main">
            <a:r>
              <a:t>    ],</a:t>
            </a:r>
          </a:p>
          <a:p xmlns:a="http://schemas.openxmlformats.org/drawingml/2006/main">
            <a:r>
              <a:t>    "risks": [</a:t>
            </a:r>
          </a:p>
          <a:p xmlns:a="http://schemas.openxmlformats.org/drawingml/2006/main">
            <a:r>
              <a:t>      "다국어 용어·위험 분류 오류",</a:t>
            </a:r>
          </a:p>
          <a:p xmlns:a="http://schemas.openxmlformats.org/drawingml/2006/main">
            <a:r>
              <a:t>      "기사 요약에서 중요 사건 누락"</a:t>
            </a:r>
          </a:p>
          <a:p xmlns:a="http://schemas.openxmlformats.org/drawingml/2006/main">
            <a:r>
              <a:t>    ],</a:t>
            </a:r>
          </a:p>
          <a:p xmlns:a="http://schemas.openxmlformats.org/drawingml/2006/main">
            <a:r>
              <a:t>    "architecture": [</a:t>
            </a:r>
          </a:p>
          <a:p xmlns:a="http://schemas.openxmlformats.org/drawingml/2006/main">
            <a:r>
              <a:t>      "항공안전 기사",</a:t>
            </a:r>
          </a:p>
          <a:p xmlns:a="http://schemas.openxmlformats.org/drawingml/2006/main">
            <a:r>
              <a:t>      "전처리·RAG·분류",</a:t>
            </a:r>
          </a:p>
          <a:p xmlns:a="http://schemas.openxmlformats.org/drawingml/2006/main">
            <a:r>
              <a:t>      "기사·위험 분류체계",</a:t>
            </a:r>
          </a:p>
          <a:p xmlns:a="http://schemas.openxmlformats.org/drawingml/2006/main">
            <a:r>
              <a:t>      "항공안전 분석원"</a:t>
            </a:r>
          </a:p>
          <a:p xmlns:a="http://schemas.openxmlformats.org/drawingml/2006/main">
            <a:r>
              <a:t>    ],</a:t>
            </a:r>
          </a:p>
          <a:p xmlns:a="http://schemas.openxmlformats.org/drawingml/2006/main">
            <a:r>
              <a:t>    "transfers": [</a:t>
            </a:r>
          </a:p>
          <a:p xmlns:a="http://schemas.openxmlformats.org/drawingml/2006/main">
            <a:r>
              <a:t>      "기사 원문",</a:t>
            </a:r>
          </a:p>
          <a:p xmlns:a="http://schemas.openxmlformats.org/drawingml/2006/main">
            <a:r>
              <a:t>      "분석용 문서",</a:t>
            </a:r>
          </a:p>
          <a:p xmlns:a="http://schemas.openxmlformats.org/drawingml/2006/main">
            <a:r>
              <a:t>      "요약·위험 태그",</a:t>
            </a:r>
          </a:p>
          <a:p xmlns:a="http://schemas.openxmlformats.org/drawingml/2006/main">
            <a:r>
              <a:t>      "분석원 수정"</a:t>
            </a:r>
          </a:p>
          <a:p xmlns:a="http://schemas.openxmlformats.org/drawingml/2006/main">
            <a:r>
              <a:t>    ],</a:t>
            </a:r>
          </a:p>
          <a:p xmlns:a="http://schemas.openxmlformats.org/drawingml/2006/main">
            <a:r>
              <a:t>    "control": "원문 사건·시각·위험등급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항공안전 이슈 분석 AI PoC · 공공AI 사례집 100–101쪽 https://bigdata.dongjak.go.kr/board/viewArticle?articleNo=954&amp;boardId=4</a:t>
            </a:r>
          </a:p>
          <a:p xmlns:a="http://schemas.openxmlformats.org/drawingml/2006/main">
            <a:r>
              <a:t>홈페이지 https://heen1987-ops.github.io/TS-business-Plan-001/index.html?view=casebook&amp;case=AX21</a:t>
            </a:r>
          </a:p>
          <a:p xmlns:a="http://schemas.openxmlformats.org/drawingml/2006/main">
            <a:r>
              <a:t>한계: PoC 범위 · 운영 생산성 실측으로 해석 금지</a:t>
            </a:r>
          </a:p>
          <a:p xmlns:a="http://schemas.openxmlformats.org/drawingml/2006/main">
            <a:r>
              <a:t>실패 위험: 다국어 용어·위험 분류 오류 / 기사 요약에서 중요 사건 누락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"AX21",</a:t>
            </a:r>
          </a:p>
          <a:p xmlns:a="http://schemas.openxmlformats.org/drawingml/2006/main">
            <a:r>
              <a:t>    "title": "항공안전 이슈 분석 AI PoC",</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"안전 문서 분류·분석",</a:t>
            </a:r>
          </a:p>
          <a:p xmlns:a="http://schemas.openxmlformats.org/drawingml/2006/main">
            <a:r>
              <a:t>    "period": "2024 기술 실증",</a:t>
            </a:r>
          </a:p>
          <a:p xmlns:a="http://schemas.openxmlformats.org/drawingml/2006/main">
            <a:r>
              <a:t>    "sources": [</a:t>
            </a:r>
          </a:p>
          <a:p xmlns:a="http://schemas.openxmlformats.org/drawingml/2006/main">
            <a:r>
              <a:t>      "S-AX21"</a:t>
            </a:r>
          </a:p>
          <a:p xmlns:a="http://schemas.openxmlformats.org/drawingml/2006/main">
            <a:r>
              <a:t>    ],</a:t>
            </a:r>
          </a:p>
          <a:p xmlns:a="http://schemas.openxmlformats.org/drawingml/2006/main">
            <a:r>
              <a:t>    "keywords": [</a:t>
            </a:r>
          </a:p>
          <a:p xmlns:a="http://schemas.openxmlformats.org/drawingml/2006/main">
            <a:r>
              <a:t>      "안전 문서 분류",</a:t>
            </a:r>
          </a:p>
          <a:p xmlns:a="http://schemas.openxmlformats.org/drawingml/2006/main">
            <a:r>
              <a:t>      "분석"</a:t>
            </a:r>
          </a:p>
          <a:p xmlns:a="http://schemas.openxmlformats.org/drawingml/2006/main">
            <a:r>
              <a:t>    ],</a:t>
            </a:r>
          </a:p>
          <a:p xmlns:a="http://schemas.openxmlformats.org/drawingml/2006/main">
            <a:r>
              <a:t>    "fact": "항공안전 기사·분류체계 기반 번역·요약·위험 분류와 분석원 검토의 기술 실증",</a:t>
            </a:r>
          </a:p>
          <a:p xmlns:a="http://schemas.openxmlformats.org/drawingml/2006/main">
            <a:r>
              <a:t>    "limit": "PoC 범위 · 운영 생산성 실측으로 해석 금지",</a:t>
            </a:r>
          </a:p>
          <a:p xmlns:a="http://schemas.openxmlformats.org/drawingml/2006/main">
            <a:r>
              <a:t>    "flow": [</a:t>
            </a:r>
          </a:p>
          <a:p xmlns:a="http://schemas.openxmlformats.org/drawingml/2006/main">
            <a:r>
              <a:t>      "항공안전 기사",</a:t>
            </a:r>
          </a:p>
          <a:p xmlns:a="http://schemas.openxmlformats.org/drawingml/2006/main">
            <a:r>
              <a:t>      "전처리·RAG",</a:t>
            </a:r>
          </a:p>
          <a:p xmlns:a="http://schemas.openxmlformats.org/drawingml/2006/main">
            <a:r>
              <a:t>      "요약·위험 분류",</a:t>
            </a:r>
          </a:p>
          <a:p xmlns:a="http://schemas.openxmlformats.org/drawingml/2006/main">
            <a:r>
              <a:t>      "분석원 재검토"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"전문 분류체계와 사람의 재검토 결합",</a:t>
            </a:r>
          </a:p>
          <a:p xmlns:a="http://schemas.openxmlformats.org/drawingml/2006/main">
            <a:r>
              <a:t>    "local": "TS 분야별 사고·위험 용어와 책임 직무 매핑",</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"안전 이슈 분류셋·근거 위치·검토 기록",</a:t>
            </a:r>
          </a:p>
          <a:p xmlns:a="http://schemas.openxmlformats.org/drawingml/2006/main">
            <a:r>
              <a:t>    "test": "위험 유형별 누락·오분류·번역 오류 평가",</a:t>
            </a:r>
          </a:p>
          <a:p xmlns:a="http://schemas.openxmlformats.org/drawingml/2006/main">
            <a:r>
              <a:t>    "metric": "분류 재현율 / 검토 포함 소요시간",</a:t>
            </a:r>
          </a:p>
          <a:p xmlns:a="http://schemas.openxmlformats.org/drawingml/2006/main">
            <a:r>
              <a:t>    "strategies": [</a:t>
            </a:r>
          </a:p>
          <a:p xmlns:a="http://schemas.openxmlformats.org/drawingml/2006/main">
            <a:r>
              <a:t>      "ST-03",</a:t>
            </a:r>
          </a:p>
          <a:p xmlns:a="http://schemas.openxmlformats.org/drawingml/2006/main">
            <a:r>
              <a:t>      "ST-05",</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"AX21",</a:t>
            </a:r>
          </a:p>
          <a:p xmlns:a="http://schemas.openxmlformats.org/drawingml/2006/main">
            <a:r>
              <a:t>    "canonicalId": "AX21",</a:t>
            </a:r>
          </a:p>
          <a:p xmlns:a="http://schemas.openxmlformats.org/drawingml/2006/main">
            <a:r>
              <a:t>    "purpose": "항공안전 이슈의 번역·분류·검토 지원",</a:t>
            </a:r>
          </a:p>
          <a:p xmlns:a="http://schemas.openxmlformats.org/drawingml/2006/main">
            <a:r>
              <a:t>    "users": "항공안전 분석원",</a:t>
            </a:r>
          </a:p>
          <a:p xmlns:a="http://schemas.openxmlformats.org/drawingml/2006/main">
            <a:r>
              <a:t>    "scope": [</a:t>
            </a:r>
          </a:p>
          <a:p xmlns:a="http://schemas.openxmlformats.org/drawingml/2006/main">
            <a:r>
              <a:t>      "기사 수집",</a:t>
            </a:r>
          </a:p>
          <a:p xmlns:a="http://schemas.openxmlformats.org/drawingml/2006/main">
            <a:r>
              <a:t>      "위험 분류",</a:t>
            </a:r>
          </a:p>
          <a:p xmlns:a="http://schemas.openxmlformats.org/drawingml/2006/main">
            <a:r>
              <a:t>      "분석원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"항공안전 기사",</a:t>
            </a:r>
          </a:p>
          <a:p xmlns:a="http://schemas.openxmlformats.org/drawingml/2006/main">
            <a:r>
              <a:t>        "detail": "기사 출처·발생일·대상 항공 업무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"기사 수집 / 위험 분류 / 분석원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"전처리·RAG·분류",</a:t>
            </a:r>
          </a:p>
          <a:p xmlns:a="http://schemas.openxmlformats.org/drawingml/2006/main">
            <a:r>
              <a:t>        "detail": "번역·요약 후 안전 분류체계별 후보 제시",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"항공안전 분석원",</a:t>
            </a:r>
          </a:p>
          <a:p xmlns:a="http://schemas.openxmlformats.org/drawingml/2006/main">
            <a:r>
              <a:t>        "detail": "분류 근거와 원문을 분석원에게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"기사·위험 분류체계",</a:t>
            </a:r>
          </a:p>
          <a:p xmlns:a="http://schemas.openxmlformats.org/drawingml/2006/main">
            <a:r>
              <a:t>        "detail": "원문 기사·번역문·분류체계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"분석원 수정과 분류 누락의 회귀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"항공안전 기사",</a:t>
            </a:r>
          </a:p>
          <a:p xmlns:a="http://schemas.openxmlformats.org/drawingml/2006/main">
            <a:r>
              <a:t>        "input": "기사 출처·발생일·대상 항공 업무 식별",</a:t>
            </a:r>
          </a:p>
          <a:p xmlns:a="http://schemas.openxmlformats.org/drawingml/2006/main">
            <a:r>
              <a:t>        "process": "원문 기사·번역문·분류체계 판본 관리",</a:t>
            </a:r>
          </a:p>
          <a:p xmlns:a="http://schemas.openxmlformats.org/drawingml/2006/main">
            <a:r>
              <a:t>        "output": "기사 원문"</a:t>
            </a:r>
          </a:p>
          <a:p xmlns:a="http://schemas.openxmlformats.org/drawingml/2006/main">
            <a:r>
              <a:t>      },</a:t>
            </a:r>
          </a:p>
          <a:p xmlns:a="http://schemas.openxmlformats.org/drawingml/2006/main">
            <a:r>
              <a:t>      {</a:t>
            </a:r>
          </a:p>
          <a:p xmlns:a="http://schemas.openxmlformats.org/drawingml/2006/main">
            <a:r>
              <a:t>        "title": "전처리·RAG",</a:t>
            </a:r>
          </a:p>
          <a:p xmlns:a="http://schemas.openxmlformats.org/drawingml/2006/main">
            <a:r>
              <a:t>        "input": "기사 원문",</a:t>
            </a:r>
          </a:p>
          <a:p xmlns:a="http://schemas.openxmlformats.org/drawingml/2006/main">
            <a:r>
              <a:t>        "process": "번역·요약 후 안전 분류체계별 후보 제시",</a:t>
            </a:r>
          </a:p>
          <a:p xmlns:a="http://schemas.openxmlformats.org/drawingml/2006/main">
            <a:r>
              <a:t>        "output": "분석용 문서"</a:t>
            </a:r>
          </a:p>
          <a:p xmlns:a="http://schemas.openxmlformats.org/drawingml/2006/main">
            <a:r>
              <a:t>      },</a:t>
            </a:r>
          </a:p>
          <a:p xmlns:a="http://schemas.openxmlformats.org/drawingml/2006/main">
            <a:r>
              <a:t>      {</a:t>
            </a:r>
          </a:p>
          <a:p xmlns:a="http://schemas.openxmlformats.org/drawingml/2006/main">
            <a:r>
              <a:t>        "title": "요약·위험 분류",</a:t>
            </a:r>
          </a:p>
          <a:p xmlns:a="http://schemas.openxmlformats.org/drawingml/2006/main">
            <a:r>
              <a:t>        "input": "분석용 문서",</a:t>
            </a:r>
          </a:p>
          <a:p xmlns:a="http://schemas.openxmlformats.org/drawingml/2006/main">
            <a:r>
              <a:t>        "process": "원문 사건·시각·위험등급 대조",</a:t>
            </a:r>
          </a:p>
          <a:p xmlns:a="http://schemas.openxmlformats.org/drawingml/2006/main">
            <a:r>
              <a:t>        "output": "요약·위험 태그"</a:t>
            </a:r>
          </a:p>
          <a:p xmlns:a="http://schemas.openxmlformats.org/drawingml/2006/main">
            <a:r>
              <a:t>      },</a:t>
            </a:r>
          </a:p>
          <a:p xmlns:a="http://schemas.openxmlformats.org/drawingml/2006/main">
            <a:r>
              <a:t>      {</a:t>
            </a:r>
          </a:p>
          <a:p xmlns:a="http://schemas.openxmlformats.org/drawingml/2006/main">
            <a:r>
              <a:t>        "title": "분석원 재검토",</a:t>
            </a:r>
          </a:p>
          <a:p xmlns:a="http://schemas.openxmlformats.org/drawingml/2006/main">
            <a:r>
              <a:t>        "input": "요약·위험 태그",</a:t>
            </a:r>
          </a:p>
          <a:p xmlns:a="http://schemas.openxmlformats.org/drawingml/2006/main">
            <a:r>
              <a:t>        "process": "분류 근거와 원문을 분석원에게 전달",</a:t>
            </a:r>
          </a:p>
          <a:p xmlns:a="http://schemas.openxmlformats.org/drawingml/2006/main">
            <a:r>
              <a:t>        "output": "분석원 수정"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"기사의 사건·번역·분류 근거를 분석원이 검토",</a:t>
            </a:r>
          </a:p>
          <a:p xmlns:a="http://schemas.openxmlformats.org/drawingml/2006/main">
            <a:r>
              <a:t>      "exception": "다른 사건의 혼합·번역 부정문 오류·분류 중복",</a:t>
            </a:r>
          </a:p>
          <a:p xmlns:a="http://schemas.openxmlformats.org/drawingml/2006/main">
            <a:r>
              <a:t>      "evidence": "원문 구간과 번역·분류·분석원 수정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"항공안전 분석원",</a:t>
            </a:r>
          </a:p>
          <a:p xmlns:a="http://schemas.openxmlformats.org/drawingml/2006/main">
            <a:r>
              <a:t>          "processing": "기사 출처·발생일·대상 항공 업무 식별",</a:t>
            </a:r>
          </a:p>
          <a:p xmlns:a="http://schemas.openxmlformats.org/drawingml/2006/main">
            <a:r>
              <a:t>          "output": "기사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"기사·위험 분류체계",</a:t>
            </a:r>
          </a:p>
          <a:p xmlns:a="http://schemas.openxmlformats.org/drawingml/2006/main">
            <a:r>
              <a:t>          "processing": "원문 기사·번역문·분류체계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"기사 원문",</a:t>
            </a:r>
          </a:p>
          <a:p xmlns:a="http://schemas.openxmlformats.org/drawingml/2006/main">
            <a:r>
              <a:t>          "processing": "번역·요약 후 안전 분류체계별 후보 제시",</a:t>
            </a:r>
          </a:p>
          <a:p xmlns:a="http://schemas.openxmlformats.org/drawingml/2006/main">
            <a:r>
              <a:t>          "output": "요약·위험 태그"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"요약·위험 태그",</a:t>
            </a:r>
          </a:p>
          <a:p xmlns:a="http://schemas.openxmlformats.org/drawingml/2006/main">
            <a:r>
              <a:t>          "processing": "분류 근거와 원문을 분석원에게 전달",</a:t>
            </a:r>
          </a:p>
          <a:p xmlns:a="http://schemas.openxmlformats.org/drawingml/2006/main">
            <a:r>
              <a:t>          "output": "분석원 수정"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"분석원 수정과 분류 누락의 회귀 평가",</a:t>
            </a:r>
          </a:p>
          <a:p xmlns:a="http://schemas.openxmlformats.org/drawingml/2006/main">
            <a:r>
              <a:t>          "output": "원문 구간과 번역·분류·분석원 수정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"분석원 수정과 분류 누락의 회귀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"S-AX21",</a:t>
            </a:r>
          </a:p>
          <a:p xmlns:a="http://schemas.openxmlformats.org/drawingml/2006/main">
            <a:r>
              <a:t>        "title": "항공안전 이슈 분석 AI PoC · 공공AI 사례집 100–101쪽",</a:t>
            </a:r>
          </a:p>
          <a:p xmlns:a="http://schemas.openxmlformats.org/drawingml/2006/main">
            <a:r>
              <a:t>        "url": "https://bigdata.dongjak.go.kr/board/viewArticle?articleNo=954&amp;boardId=4",</a:t>
            </a:r>
          </a:p>
          <a:p xmlns:a="http://schemas.openxmlformats.org/drawingml/2006/main">
            <a:r>
              <a:t>        "published": "2024 기술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"전문 분류체계와 사람의 재검토 결합",</a:t>
            </a:r>
          </a:p>
          <a:p xmlns:a="http://schemas.openxmlformats.org/drawingml/2006/main">
            <a:r>
              <a:t>    "local": "TS 분야별 사고·위험 용어와 책임 직무 매핑",</a:t>
            </a:r>
          </a:p>
          <a:p xmlns:a="http://schemas.openxmlformats.org/drawingml/2006/main">
            <a:r>
              <a:t>    "sourceDetail": null,</a:t>
            </a:r>
          </a:p>
          <a:p xmlns:a="http://schemas.openxmlformats.org/drawingml/2006/main">
            <a:r>
              <a:t>    "narrative": [</a:t>
            </a:r>
          </a:p>
          <a:p xmlns:a="http://schemas.openxmlformats.org/drawingml/2006/main">
            <a:r>
              <a:t>      "항공안전 관련 기사에서 사건과 위험 요인을 찾아 분석원의 검토를 돕는 사례. 다국어 자료의 번역·요약과 정해진 안전 분류체계 적용이 결합된 업무.",</a:t>
            </a:r>
          </a:p>
          <a:p xmlns:a="http://schemas.openxmlformats.org/drawingml/2006/main">
            <a:r>
              <a:t>      "기사 출처·발생일·항공업무를 식별한 뒤 번역문과 원문을 연결하고 위험 태그 후보를 제시하는 재구성. 분석원의 수정값과 판정 근거를 보존해 분류 누락·오역을 회귀 평가.",</a:t>
            </a:r>
          </a:p>
          <a:p xmlns:a="http://schemas.openxmlformats.org/drawingml/2006/main">
            <a:r>
              <a:t>      "TS 적용에서는 기사량 처리보다 사건·시각·위험등급의 정확한 추출과 근거 추적을 우선. 원문 대비 중요 사건 누락, 분류체계 개정, 다국어 전문용어 오역을 독립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"기사 수집 접점",</a:t>
            </a:r>
          </a:p>
          <a:p xmlns:a="http://schemas.openxmlformats.org/drawingml/2006/main">
            <a:r>
              <a:t>          "layer": "이용 접점",</a:t>
            </a:r>
          </a:p>
          <a:p xmlns:a="http://schemas.openxmlformats.org/drawingml/2006/main">
            <a:r>
              <a:t>          "detail": "항공안전 분석원",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"출처·발생일",</a:t>
            </a:r>
          </a:p>
          <a:p xmlns:a="http://schemas.openxmlformats.org/drawingml/2006/main">
            <a:r>
              <a:t>          "layer": "업무 문맥",</a:t>
            </a:r>
          </a:p>
          <a:p xmlns:a="http://schemas.openxmlformats.org/drawingml/2006/main">
            <a:r>
              <a:t>          "detail": "기사 출처·발생일·대상 항공 업무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"분류 지식 검색",</a:t>
            </a:r>
          </a:p>
          <a:p xmlns:a="http://schemas.openxmlformats.org/drawingml/2006/main">
            <a:r>
              <a:t>          "layer": "자료 조회",</a:t>
            </a:r>
          </a:p>
          <a:p xmlns:a="http://schemas.openxmlformats.org/drawingml/2006/main">
            <a:r>
              <a:t>          "detail": "기사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"번역·요약·태깅",</a:t>
            </a:r>
          </a:p>
          <a:p xmlns:a="http://schemas.openxmlformats.org/drawingml/2006/main">
            <a:r>
              <a:t>          "layer": "핵심 처리",</a:t>
            </a:r>
          </a:p>
          <a:p xmlns:a="http://schemas.openxmlformats.org/drawingml/2006/main">
            <a:r>
              <a:t>          "detail": "번역·요약 후 안전 분류체계별 후보 제시",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"사건·등급 대조",</a:t>
            </a:r>
          </a:p>
          <a:p xmlns:a="http://schemas.openxmlformats.org/drawingml/2006/main">
            <a:r>
              <a:t>          "layer": "결과 검증",</a:t>
            </a:r>
          </a:p>
          <a:p xmlns:a="http://schemas.openxmlformats.org/drawingml/2006/main">
            <a:r>
              <a:t>          "detail": "원문 사건·시각·위험등급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"분석원 수정",</a:t>
            </a:r>
          </a:p>
          <a:p xmlns:a="http://schemas.openxmlformats.org/drawingml/2006/main">
            <a:r>
              <a:t>          "layer": "사람 확인",</a:t>
            </a:r>
          </a:p>
          <a:p xmlns:a="http://schemas.openxmlformats.org/drawingml/2006/main">
            <a:r>
              <a:t>          "detail": "기사의 사건·번역·분류 근거를 분석원이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"검토 보고서",</a:t>
            </a:r>
          </a:p>
          <a:p xmlns:a="http://schemas.openxmlformats.org/drawingml/2006/main">
            <a:r>
              <a:t>          "layer": "업무 연결",</a:t>
            </a:r>
          </a:p>
          <a:p xmlns:a="http://schemas.openxmlformats.org/drawingml/2006/main">
            <a:r>
              <a:t>          "detail": "분류 근거와 원문을 분석원에게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"누락 회귀평가",</a:t>
            </a:r>
          </a:p>
          <a:p xmlns:a="http://schemas.openxmlformats.org/drawingml/2006/main">
            <a:r>
              <a:t>          "layer": "운영 관측",</a:t>
            </a:r>
          </a:p>
          <a:p xmlns:a="http://schemas.openxmlformats.org/drawingml/2006/main">
            <a:r>
              <a:t>          "detail": "분석원 수정과 분류 누락의 회귀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"기사·안전 분류",</a:t>
            </a:r>
          </a:p>
          <a:p xmlns:a="http://schemas.openxmlformats.org/drawingml/2006/main">
            <a:r>
              <a:t>          "layer": "데이터 원천",</a:t>
            </a:r>
          </a:p>
          <a:p xmlns:a="http://schemas.openxmlformats.org/drawingml/2006/main">
            <a:r>
              <a:t>          "detail": "기사·위험 분류체계",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"번역·판본 정리",</a:t>
            </a:r>
          </a:p>
          <a:p xmlns:a="http://schemas.openxmlformats.org/drawingml/2006/main">
            <a:r>
              <a:t>          "layer": "준비·갱신",</a:t>
            </a:r>
          </a:p>
          <a:p xmlns:a="http://schemas.openxmlformats.org/drawingml/2006/main">
            <a:r>
              <a:t>          "detail": "원문 기사·번역문·분류체계 판본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"기사·분류 이력",</a:t>
            </a:r>
          </a:p>
          <a:p xmlns:a="http://schemas.openxmlformats.org/drawingml/2006/main">
            <a:r>
              <a:t>          "layer": "상태·지식 저장",</a:t>
            </a:r>
          </a:p>
          <a:p xmlns:a="http://schemas.openxmlformats.org/drawingml/2006/main">
            <a:r>
              <a:t>          "detail": "원문 구간과 번역·분류·분석원 수정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"분류·검토 책임",</a:t>
            </a:r>
          </a:p>
          <a:p xmlns:a="http://schemas.openxmlformats.org/drawingml/2006/main">
            <a:r>
              <a:t>          "layer": "권한·정책",</a:t>
            </a:r>
          </a:p>
          <a:p xmlns:a="http://schemas.openxmlformats.org/drawingml/2006/main">
            <a:r>
              <a:t>          "detail": "다른 사건의 혼합·번역 부정문 오류·분류 중복",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"항공안전 기사 → 전처리·RAG → 요약·위험 분류 → 분석원 재검토"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"기사·위험 분류체계",</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"요약·위험 태그",</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"분석용 문서",</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"요약·위험 태그",</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"분석원 수정",</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"항공안전 이슈의 번역·분류·검토 지원 / 기사 수집·위험 분류·분석원 검토",</a:t>
            </a:r>
          </a:p>
          <a:p xmlns:a="http://schemas.openxmlformats.org/drawingml/2006/main">
            <a:r>
              <a:t>        "extension": "TS 분야별 사고·위험 용어와 책임 직무 매핑"</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사건의 혼합·번역 부정문 오류·분류 중복",</a:t>
            </a:r>
          </a:p>
          <a:p xmlns:a="http://schemas.openxmlformats.org/drawingml/2006/main">
            <a:r>
              <a:t>        "hold": "원문 사건·시각·위험등급 대조",</a:t>
            </a:r>
          </a:p>
          <a:p xmlns:a="http://schemas.openxmlformats.org/drawingml/2006/main">
            <a:r>
              <a:t>        "recovery": "분석원 수정과 분류 누락의 회귀 평가",</a:t>
            </a:r>
          </a:p>
          <a:p xmlns:a="http://schemas.openxmlformats.org/drawingml/2006/main">
            <a:r>
              <a:t>        "evidence": "원문 구간과 번역·분류·분석원 수정 연결표"</a:t>
            </a:r>
          </a:p>
          <a:p xmlns:a="http://schemas.openxmlformats.org/drawingml/2006/main">
            <a:r>
              <a:t>      },</a:t>
            </a:r>
          </a:p>
          <a:p xmlns:a="http://schemas.openxmlformats.org/drawingml/2006/main">
            <a:r>
              <a:t>      "data": {</a:t>
            </a:r>
          </a:p>
          <a:p xmlns:a="http://schemas.openxmlformats.org/drawingml/2006/main">
            <a:r>
              <a:t>        "source": "기사·위험 분류체계",</a:t>
            </a:r>
          </a:p>
          <a:p xmlns:a="http://schemas.openxmlformats.org/drawingml/2006/main">
            <a:r>
              <a:t>        "prepare": "원문 기사·번역문·분류체계 판본 관리",</a:t>
            </a:r>
          </a:p>
          <a:p xmlns:a="http://schemas.openxmlformats.org/drawingml/2006/main">
            <a:r>
              <a:t>        "output": "기사 원문",</a:t>
            </a:r>
          </a:p>
          <a:p xmlns:a="http://schemas.openxmlformats.org/drawingml/2006/main">
            <a:r>
              <a:t>        "refresh": "분석원 수정과 분류 누락의 회귀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"AX21",</a:t>
            </a:r>
          </a:p>
          <a:p xmlns:a="http://schemas.openxmlformats.org/drawingml/2006/main">
            <a:r>
              <a:t>    "success": [</a:t>
            </a:r>
          </a:p>
          <a:p xmlns:a="http://schemas.openxmlformats.org/drawingml/2006/main">
            <a:r>
              <a:t>      "분류체계에 맞춘 번역·요약",</a:t>
            </a:r>
          </a:p>
          <a:p xmlns:a="http://schemas.openxmlformats.org/drawingml/2006/main">
            <a:r>
              <a:t>      "안전 분석원의 재검토"</a:t>
            </a:r>
          </a:p>
          <a:p xmlns:a="http://schemas.openxmlformats.org/drawingml/2006/main">
            <a:r>
              <a:t>    ],</a:t>
            </a:r>
          </a:p>
          <a:p xmlns:a="http://schemas.openxmlformats.org/drawingml/2006/main">
            <a:r>
              <a:t>    "risks": [</a:t>
            </a:r>
          </a:p>
          <a:p xmlns:a="http://schemas.openxmlformats.org/drawingml/2006/main">
            <a:r>
              <a:t>      "다국어 용어·위험 분류 오류",</a:t>
            </a:r>
          </a:p>
          <a:p xmlns:a="http://schemas.openxmlformats.org/drawingml/2006/main">
            <a:r>
              <a:t>      "기사 요약에서 중요 사건 누락"</a:t>
            </a:r>
          </a:p>
          <a:p xmlns:a="http://schemas.openxmlformats.org/drawingml/2006/main">
            <a:r>
              <a:t>    ],</a:t>
            </a:r>
          </a:p>
          <a:p xmlns:a="http://schemas.openxmlformats.org/drawingml/2006/main">
            <a:r>
              <a:t>    "architecture": [</a:t>
            </a:r>
          </a:p>
          <a:p xmlns:a="http://schemas.openxmlformats.org/drawingml/2006/main">
            <a:r>
              <a:t>      "항공안전 기사",</a:t>
            </a:r>
          </a:p>
          <a:p xmlns:a="http://schemas.openxmlformats.org/drawingml/2006/main">
            <a:r>
              <a:t>      "전처리·RAG·분류",</a:t>
            </a:r>
          </a:p>
          <a:p xmlns:a="http://schemas.openxmlformats.org/drawingml/2006/main">
            <a:r>
              <a:t>      "기사·위험 분류체계",</a:t>
            </a:r>
          </a:p>
          <a:p xmlns:a="http://schemas.openxmlformats.org/drawingml/2006/main">
            <a:r>
              <a:t>      "항공안전 분석원"</a:t>
            </a:r>
          </a:p>
          <a:p xmlns:a="http://schemas.openxmlformats.org/drawingml/2006/main">
            <a:r>
              <a:t>    ],</a:t>
            </a:r>
          </a:p>
          <a:p xmlns:a="http://schemas.openxmlformats.org/drawingml/2006/main">
            <a:r>
              <a:t>    "transfers": [</a:t>
            </a:r>
          </a:p>
          <a:p xmlns:a="http://schemas.openxmlformats.org/drawingml/2006/main">
            <a:r>
              <a:t>      "기사 원문",</a:t>
            </a:r>
          </a:p>
          <a:p xmlns:a="http://schemas.openxmlformats.org/drawingml/2006/main">
            <a:r>
              <a:t>      "분석용 문서",</a:t>
            </a:r>
          </a:p>
          <a:p xmlns:a="http://schemas.openxmlformats.org/drawingml/2006/main">
            <a:r>
              <a:t>      "요약·위험 태그",</a:t>
            </a:r>
          </a:p>
          <a:p xmlns:a="http://schemas.openxmlformats.org/drawingml/2006/main">
            <a:r>
              <a:t>      "분석원 수정"</a:t>
            </a:r>
          </a:p>
          <a:p xmlns:a="http://schemas.openxmlformats.org/drawingml/2006/main">
            <a:r>
              <a:t>    ],</a:t>
            </a:r>
          </a:p>
          <a:p xmlns:a="http://schemas.openxmlformats.org/drawingml/2006/main">
            <a:r>
              <a:t>    "control": "원문 사건·시각·위험등급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항공안전 이슈 분석 AI PoC · 공공AI 사례집 100–101쪽 https://bigdata.dongjak.go.kr/board/viewArticle?articleNo=954&amp;boardId=4</a:t>
            </a:r>
          </a:p>
          <a:p xmlns:a="http://schemas.openxmlformats.org/drawingml/2006/main">
            <a:r>
              <a:t>홈페이지 https://heen1987-ops.github.io/TS-business-Plan-001/index.html?view=casebook&amp;case=AX21</a:t>
            </a:r>
          </a:p>
          <a:p xmlns:a="http://schemas.openxmlformats.org/drawingml/2006/main">
            <a:r>
              <a:t>성과 대조</a:t>
            </a:r>
          </a:p>
          <a:p xmlns:a="http://schemas.openxmlformats.org/drawingml/2006/main">
            <a:r>
              <a:t>{</a:t>
            </a:r>
          </a:p>
          <a:p xmlns:a="http://schemas.openxmlformats.org/drawingml/2006/main">
            <a:r>
              <a:t>  "caseId": "AX21",</a:t>
            </a:r>
          </a:p>
          <a:p xmlns:a="http://schemas.openxmlformats.org/drawingml/2006/main">
            <a:r>
              <a:t>  "asIs": "항공안전 분석원이 다국어 기사·문서를 수작업 번역·요약·위험 분류",</a:t>
            </a:r>
          </a:p>
          <a:p xmlns:a="http://schemas.openxmlformats.org/drawingml/2006/main">
            <a:r>
              <a:t>  "toBe": "RAG·분류 모델이 위험 후보와 근거를 정리하고 분석원이 재검토",</a:t>
            </a:r>
          </a:p>
          <a:p xmlns:a="http://schemas.openxmlformats.org/drawingml/2006/main">
            <a:r>
              <a:t>  "expectedEffect": "안전 이슈 수집·검토 속도와 누락 방지",</a:t>
            </a:r>
          </a:p>
          <a:p xmlns:a="http://schemas.openxmlformats.org/drawingml/2006/main">
            <a:r>
              <a:t>  "observed": "공공 사례집이 항공안전 기사 기반 번역·요약·위험 분류의 기술 실증을 기록",</a:t>
            </a:r>
          </a:p>
          <a:p xmlns:a="http://schemas.openxmlformats.org/drawingml/2006/main">
            <a:r>
              <a:t>  "verdict": "성과 미검증",</a:t>
            </a:r>
          </a:p>
          <a:p xmlns:a="http://schemas.openxmlformats.org/drawingml/2006/main">
            <a:r>
              <a:t>  "verdictReason": "PoC 기능 확인만으로 운영 정확도·시간 절감·후속 안전조치 성과 판단 불가",</a:t>
            </a:r>
          </a:p>
          <a:p xmlns:a="http://schemas.openxmlformats.org/drawingml/2006/main">
            <a:r>
              <a:t>  "limits": "정부 사례집의 실증 설명 기준. 운영 규모·비교시험 미확인",</a:t>
            </a:r>
          </a:p>
          <a:p xmlns:a="http://schemas.openxmlformats.org/drawingml/2006/main">
            <a:r>
              <a:t>  "evidenceStage": "정부 기술 실증 사례집",</a:t>
            </a:r>
          </a:p>
          <a:p xmlns:a="http://schemas.openxmlformats.org/drawingml/2006/main">
            <a:r>
              <a:t>  "sourceUrl": "https://bigdata.dongjak.go.kr/board/viewArticle?articleNo=954&amp;boardId=4"</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"AX21",</a:t>
            </a:r>
          </a:p>
          <a:p xmlns:a="http://schemas.openxmlformats.org/drawingml/2006/main">
            <a:r>
              <a:t>    "title": "항공안전 이슈 분석 AI PoC",</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"안전 문서 분류·분석",</a:t>
            </a:r>
          </a:p>
          <a:p xmlns:a="http://schemas.openxmlformats.org/drawingml/2006/main">
            <a:r>
              <a:t>    "period": "2024 기술 실증",</a:t>
            </a:r>
          </a:p>
          <a:p xmlns:a="http://schemas.openxmlformats.org/drawingml/2006/main">
            <a:r>
              <a:t>    "sources": [</a:t>
            </a:r>
          </a:p>
          <a:p xmlns:a="http://schemas.openxmlformats.org/drawingml/2006/main">
            <a:r>
              <a:t>      "S-AX21"</a:t>
            </a:r>
          </a:p>
          <a:p xmlns:a="http://schemas.openxmlformats.org/drawingml/2006/main">
            <a:r>
              <a:t>    ],</a:t>
            </a:r>
          </a:p>
          <a:p xmlns:a="http://schemas.openxmlformats.org/drawingml/2006/main">
            <a:r>
              <a:t>    "keywords": [</a:t>
            </a:r>
          </a:p>
          <a:p xmlns:a="http://schemas.openxmlformats.org/drawingml/2006/main">
            <a:r>
              <a:t>      "안전 문서 분류",</a:t>
            </a:r>
          </a:p>
          <a:p xmlns:a="http://schemas.openxmlformats.org/drawingml/2006/main">
            <a:r>
              <a:t>      "분석"</a:t>
            </a:r>
          </a:p>
          <a:p xmlns:a="http://schemas.openxmlformats.org/drawingml/2006/main">
            <a:r>
              <a:t>    ],</a:t>
            </a:r>
          </a:p>
          <a:p xmlns:a="http://schemas.openxmlformats.org/drawingml/2006/main">
            <a:r>
              <a:t>    "fact": "항공안전 기사·분류체계 기반 번역·요약·위험 분류와 분석원 검토의 기술 실증",</a:t>
            </a:r>
          </a:p>
          <a:p xmlns:a="http://schemas.openxmlformats.org/drawingml/2006/main">
            <a:r>
              <a:t>    "limit": "PoC 범위 · 운영 생산성 실측으로 해석 금지",</a:t>
            </a:r>
          </a:p>
          <a:p xmlns:a="http://schemas.openxmlformats.org/drawingml/2006/main">
            <a:r>
              <a:t>    "flow": [</a:t>
            </a:r>
          </a:p>
          <a:p xmlns:a="http://schemas.openxmlformats.org/drawingml/2006/main">
            <a:r>
              <a:t>      "항공안전 기사",</a:t>
            </a:r>
          </a:p>
          <a:p xmlns:a="http://schemas.openxmlformats.org/drawingml/2006/main">
            <a:r>
              <a:t>      "전처리·RAG",</a:t>
            </a:r>
          </a:p>
          <a:p xmlns:a="http://schemas.openxmlformats.org/drawingml/2006/main">
            <a:r>
              <a:t>      "요약·위험 분류",</a:t>
            </a:r>
          </a:p>
          <a:p xmlns:a="http://schemas.openxmlformats.org/drawingml/2006/main">
            <a:r>
              <a:t>      "분석원 재검토"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"전문 분류체계와 사람의 재검토 결합",</a:t>
            </a:r>
          </a:p>
          <a:p xmlns:a="http://schemas.openxmlformats.org/drawingml/2006/main">
            <a:r>
              <a:t>    "local": "TS 분야별 사고·위험 용어와 책임 직무 매핑",</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"안전 이슈 분류셋·근거 위치·검토 기록",</a:t>
            </a:r>
          </a:p>
          <a:p xmlns:a="http://schemas.openxmlformats.org/drawingml/2006/main">
            <a:r>
              <a:t>    "test": "위험 유형별 누락·오분류·번역 오류 평가",</a:t>
            </a:r>
          </a:p>
          <a:p xmlns:a="http://schemas.openxmlformats.org/drawingml/2006/main">
            <a:r>
              <a:t>    "metric": "분류 재현율 / 검토 포함 소요시간",</a:t>
            </a:r>
          </a:p>
          <a:p xmlns:a="http://schemas.openxmlformats.org/drawingml/2006/main">
            <a:r>
              <a:t>    "strategies": [</a:t>
            </a:r>
          </a:p>
          <a:p xmlns:a="http://schemas.openxmlformats.org/drawingml/2006/main">
            <a:r>
              <a:t>      "ST-03",</a:t>
            </a:r>
          </a:p>
          <a:p xmlns:a="http://schemas.openxmlformats.org/drawingml/2006/main">
            <a:r>
              <a:t>      "ST-05",</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"AX21",</a:t>
            </a:r>
          </a:p>
          <a:p xmlns:a="http://schemas.openxmlformats.org/drawingml/2006/main">
            <a:r>
              <a:t>    "canonicalId": "AX21",</a:t>
            </a:r>
          </a:p>
          <a:p xmlns:a="http://schemas.openxmlformats.org/drawingml/2006/main">
            <a:r>
              <a:t>    "purpose": "항공안전 이슈의 번역·분류·검토 지원",</a:t>
            </a:r>
          </a:p>
          <a:p xmlns:a="http://schemas.openxmlformats.org/drawingml/2006/main">
            <a:r>
              <a:t>    "users": "항공안전 분석원",</a:t>
            </a:r>
          </a:p>
          <a:p xmlns:a="http://schemas.openxmlformats.org/drawingml/2006/main">
            <a:r>
              <a:t>    "scope": [</a:t>
            </a:r>
          </a:p>
          <a:p xmlns:a="http://schemas.openxmlformats.org/drawingml/2006/main">
            <a:r>
              <a:t>      "기사 수집",</a:t>
            </a:r>
          </a:p>
          <a:p xmlns:a="http://schemas.openxmlformats.org/drawingml/2006/main">
            <a:r>
              <a:t>      "위험 분류",</a:t>
            </a:r>
          </a:p>
          <a:p xmlns:a="http://schemas.openxmlformats.org/drawingml/2006/main">
            <a:r>
              <a:t>      "분석원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"항공안전 기사",</a:t>
            </a:r>
          </a:p>
          <a:p xmlns:a="http://schemas.openxmlformats.org/drawingml/2006/main">
            <a:r>
              <a:t>        "detail": "기사 출처·발생일·대상 항공 업무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"기사 수집 / 위험 분류 / 분석원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"전처리·RAG·분류",</a:t>
            </a:r>
          </a:p>
          <a:p xmlns:a="http://schemas.openxmlformats.org/drawingml/2006/main">
            <a:r>
              <a:t>        "detail": "번역·요약 후 안전 분류체계별 후보 제시",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"항공안전 분석원",</a:t>
            </a:r>
          </a:p>
          <a:p xmlns:a="http://schemas.openxmlformats.org/drawingml/2006/main">
            <a:r>
              <a:t>        "detail": "분류 근거와 원문을 분석원에게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"기사·위험 분류체계",</a:t>
            </a:r>
          </a:p>
          <a:p xmlns:a="http://schemas.openxmlformats.org/drawingml/2006/main">
            <a:r>
              <a:t>        "detail": "원문 기사·번역문·분류체계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"분석원 수정과 분류 누락의 회귀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"항공안전 기사",</a:t>
            </a:r>
          </a:p>
          <a:p xmlns:a="http://schemas.openxmlformats.org/drawingml/2006/main">
            <a:r>
              <a:t>        "input": "기사 출처·발생일·대상 항공 업무 식별",</a:t>
            </a:r>
          </a:p>
          <a:p xmlns:a="http://schemas.openxmlformats.org/drawingml/2006/main">
            <a:r>
              <a:t>        "process": "원문 기사·번역문·분류체계 판본 관리",</a:t>
            </a:r>
          </a:p>
          <a:p xmlns:a="http://schemas.openxmlformats.org/drawingml/2006/main">
            <a:r>
              <a:t>        "output": "기사 원문"</a:t>
            </a:r>
          </a:p>
          <a:p xmlns:a="http://schemas.openxmlformats.org/drawingml/2006/main">
            <a:r>
              <a:t>      },</a:t>
            </a:r>
          </a:p>
          <a:p xmlns:a="http://schemas.openxmlformats.org/drawingml/2006/main">
            <a:r>
              <a:t>      {</a:t>
            </a:r>
          </a:p>
          <a:p xmlns:a="http://schemas.openxmlformats.org/drawingml/2006/main">
            <a:r>
              <a:t>        "title": "전처리·RAG",</a:t>
            </a:r>
          </a:p>
          <a:p xmlns:a="http://schemas.openxmlformats.org/drawingml/2006/main">
            <a:r>
              <a:t>        "input": "기사 원문",</a:t>
            </a:r>
          </a:p>
          <a:p xmlns:a="http://schemas.openxmlformats.org/drawingml/2006/main">
            <a:r>
              <a:t>        "process": "번역·요약 후 안전 분류체계별 후보 제시",</a:t>
            </a:r>
          </a:p>
          <a:p xmlns:a="http://schemas.openxmlformats.org/drawingml/2006/main">
            <a:r>
              <a:t>        "output": "분석용 문서"</a:t>
            </a:r>
          </a:p>
          <a:p xmlns:a="http://schemas.openxmlformats.org/drawingml/2006/main">
            <a:r>
              <a:t>      },</a:t>
            </a:r>
          </a:p>
          <a:p xmlns:a="http://schemas.openxmlformats.org/drawingml/2006/main">
            <a:r>
              <a:t>      {</a:t>
            </a:r>
          </a:p>
          <a:p xmlns:a="http://schemas.openxmlformats.org/drawingml/2006/main">
            <a:r>
              <a:t>        "title": "요약·위험 분류",</a:t>
            </a:r>
          </a:p>
          <a:p xmlns:a="http://schemas.openxmlformats.org/drawingml/2006/main">
            <a:r>
              <a:t>        "input": "분석용 문서",</a:t>
            </a:r>
          </a:p>
          <a:p xmlns:a="http://schemas.openxmlformats.org/drawingml/2006/main">
            <a:r>
              <a:t>        "process": "원문 사건·시각·위험등급 대조",</a:t>
            </a:r>
          </a:p>
          <a:p xmlns:a="http://schemas.openxmlformats.org/drawingml/2006/main">
            <a:r>
              <a:t>        "output": "요약·위험 태그"</a:t>
            </a:r>
          </a:p>
          <a:p xmlns:a="http://schemas.openxmlformats.org/drawingml/2006/main">
            <a:r>
              <a:t>      },</a:t>
            </a:r>
          </a:p>
          <a:p xmlns:a="http://schemas.openxmlformats.org/drawingml/2006/main">
            <a:r>
              <a:t>      {</a:t>
            </a:r>
          </a:p>
          <a:p xmlns:a="http://schemas.openxmlformats.org/drawingml/2006/main">
            <a:r>
              <a:t>        "title": "분석원 재검토",</a:t>
            </a:r>
          </a:p>
          <a:p xmlns:a="http://schemas.openxmlformats.org/drawingml/2006/main">
            <a:r>
              <a:t>        "input": "요약·위험 태그",</a:t>
            </a:r>
          </a:p>
          <a:p xmlns:a="http://schemas.openxmlformats.org/drawingml/2006/main">
            <a:r>
              <a:t>        "process": "분류 근거와 원문을 분석원에게 전달",</a:t>
            </a:r>
          </a:p>
          <a:p xmlns:a="http://schemas.openxmlformats.org/drawingml/2006/main">
            <a:r>
              <a:t>        "output": "분석원 수정"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"기사의 사건·번역·분류 근거를 분석원이 검토",</a:t>
            </a:r>
          </a:p>
          <a:p xmlns:a="http://schemas.openxmlformats.org/drawingml/2006/main">
            <a:r>
              <a:t>      "exception": "다른 사건의 혼합·번역 부정문 오류·분류 중복",</a:t>
            </a:r>
          </a:p>
          <a:p xmlns:a="http://schemas.openxmlformats.org/drawingml/2006/main">
            <a:r>
              <a:t>      "evidence": "원문 구간과 번역·분류·분석원 수정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"항공안전 분석원",</a:t>
            </a:r>
          </a:p>
          <a:p xmlns:a="http://schemas.openxmlformats.org/drawingml/2006/main">
            <a:r>
              <a:t>          "processing": "기사 출처·발생일·대상 항공 업무 식별",</a:t>
            </a:r>
          </a:p>
          <a:p xmlns:a="http://schemas.openxmlformats.org/drawingml/2006/main">
            <a:r>
              <a:t>          "output": "기사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"기사·위험 분류체계",</a:t>
            </a:r>
          </a:p>
          <a:p xmlns:a="http://schemas.openxmlformats.org/drawingml/2006/main">
            <a:r>
              <a:t>          "processing": "원문 기사·번역문·분류체계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"기사 원문",</a:t>
            </a:r>
          </a:p>
          <a:p xmlns:a="http://schemas.openxmlformats.org/drawingml/2006/main">
            <a:r>
              <a:t>          "processing": "번역·요약 후 안전 분류체계별 후보 제시",</a:t>
            </a:r>
          </a:p>
          <a:p xmlns:a="http://schemas.openxmlformats.org/drawingml/2006/main">
            <a:r>
              <a:t>          "output": "요약·위험 태그"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"요약·위험 태그",</a:t>
            </a:r>
          </a:p>
          <a:p xmlns:a="http://schemas.openxmlformats.org/drawingml/2006/main">
            <a:r>
              <a:t>          "processing": "분류 근거와 원문을 분석원에게 전달",</a:t>
            </a:r>
          </a:p>
          <a:p xmlns:a="http://schemas.openxmlformats.org/drawingml/2006/main">
            <a:r>
              <a:t>          "output": "분석원 수정"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"분석원 수정과 분류 누락의 회귀 평가",</a:t>
            </a:r>
          </a:p>
          <a:p xmlns:a="http://schemas.openxmlformats.org/drawingml/2006/main">
            <a:r>
              <a:t>          "output": "원문 구간과 번역·분류·분석원 수정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"분석원 수정과 분류 누락의 회귀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"S-AX21",</a:t>
            </a:r>
          </a:p>
          <a:p xmlns:a="http://schemas.openxmlformats.org/drawingml/2006/main">
            <a:r>
              <a:t>        "title": "항공안전 이슈 분석 AI PoC · 공공AI 사례집 100–101쪽",</a:t>
            </a:r>
          </a:p>
          <a:p xmlns:a="http://schemas.openxmlformats.org/drawingml/2006/main">
            <a:r>
              <a:t>        "url": "https://bigdata.dongjak.go.kr/board/viewArticle?articleNo=954&amp;boardId=4",</a:t>
            </a:r>
          </a:p>
          <a:p xmlns:a="http://schemas.openxmlformats.org/drawingml/2006/main">
            <a:r>
              <a:t>        "published": "2024 기술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"전문 분류체계와 사람의 재검토 결합",</a:t>
            </a:r>
          </a:p>
          <a:p xmlns:a="http://schemas.openxmlformats.org/drawingml/2006/main">
            <a:r>
              <a:t>    "local": "TS 분야별 사고·위험 용어와 책임 직무 매핑",</a:t>
            </a:r>
          </a:p>
          <a:p xmlns:a="http://schemas.openxmlformats.org/drawingml/2006/main">
            <a:r>
              <a:t>    "sourceDetail": null,</a:t>
            </a:r>
          </a:p>
          <a:p xmlns:a="http://schemas.openxmlformats.org/drawingml/2006/main">
            <a:r>
              <a:t>    "narrative": [</a:t>
            </a:r>
          </a:p>
          <a:p xmlns:a="http://schemas.openxmlformats.org/drawingml/2006/main">
            <a:r>
              <a:t>      "항공안전 관련 기사에서 사건과 위험 요인을 찾아 분석원의 검토를 돕는 사례. 다국어 자료의 번역·요약과 정해진 안전 분류체계 적용이 결합된 업무.",</a:t>
            </a:r>
          </a:p>
          <a:p xmlns:a="http://schemas.openxmlformats.org/drawingml/2006/main">
            <a:r>
              <a:t>      "기사 출처·발생일·항공업무를 식별한 뒤 번역문과 원문을 연결하고 위험 태그 후보를 제시하는 재구성. 분석원의 수정값과 판정 근거를 보존해 분류 누락·오역을 회귀 평가.",</a:t>
            </a:r>
          </a:p>
          <a:p xmlns:a="http://schemas.openxmlformats.org/drawingml/2006/main">
            <a:r>
              <a:t>      "TS 적용에서는 기사량 처리보다 사건·시각·위험등급의 정확한 추출과 근거 추적을 우선. 원문 대비 중요 사건 누락, 분류체계 개정, 다국어 전문용어 오역을 독립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"기사 수집 접점",</a:t>
            </a:r>
          </a:p>
          <a:p xmlns:a="http://schemas.openxmlformats.org/drawingml/2006/main">
            <a:r>
              <a:t>          "layer": "이용 접점",</a:t>
            </a:r>
          </a:p>
          <a:p xmlns:a="http://schemas.openxmlformats.org/drawingml/2006/main">
            <a:r>
              <a:t>          "detail": "항공안전 분석원",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"출처·발생일",</a:t>
            </a:r>
          </a:p>
          <a:p xmlns:a="http://schemas.openxmlformats.org/drawingml/2006/main">
            <a:r>
              <a:t>          "layer": "업무 문맥",</a:t>
            </a:r>
          </a:p>
          <a:p xmlns:a="http://schemas.openxmlformats.org/drawingml/2006/main">
            <a:r>
              <a:t>          "detail": "기사 출처·발생일·대상 항공 업무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"분류 지식 검색",</a:t>
            </a:r>
          </a:p>
          <a:p xmlns:a="http://schemas.openxmlformats.org/drawingml/2006/main">
            <a:r>
              <a:t>          "layer": "자료 조회",</a:t>
            </a:r>
          </a:p>
          <a:p xmlns:a="http://schemas.openxmlformats.org/drawingml/2006/main">
            <a:r>
              <a:t>          "detail": "기사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"번역·요약·태깅",</a:t>
            </a:r>
          </a:p>
          <a:p xmlns:a="http://schemas.openxmlformats.org/drawingml/2006/main">
            <a:r>
              <a:t>          "layer": "핵심 처리",</a:t>
            </a:r>
          </a:p>
          <a:p xmlns:a="http://schemas.openxmlformats.org/drawingml/2006/main">
            <a:r>
              <a:t>          "detail": "번역·요약 후 안전 분류체계별 후보 제시",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"사건·등급 대조",</a:t>
            </a:r>
          </a:p>
          <a:p xmlns:a="http://schemas.openxmlformats.org/drawingml/2006/main">
            <a:r>
              <a:t>          "layer": "결과 검증",</a:t>
            </a:r>
          </a:p>
          <a:p xmlns:a="http://schemas.openxmlformats.org/drawingml/2006/main">
            <a:r>
              <a:t>          "detail": "원문 사건·시각·위험등급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"분석원 수정",</a:t>
            </a:r>
          </a:p>
          <a:p xmlns:a="http://schemas.openxmlformats.org/drawingml/2006/main">
            <a:r>
              <a:t>          "layer": "사람 확인",</a:t>
            </a:r>
          </a:p>
          <a:p xmlns:a="http://schemas.openxmlformats.org/drawingml/2006/main">
            <a:r>
              <a:t>          "detail": "기사의 사건·번역·분류 근거를 분석원이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"검토 보고서",</a:t>
            </a:r>
          </a:p>
          <a:p xmlns:a="http://schemas.openxmlformats.org/drawingml/2006/main">
            <a:r>
              <a:t>          "layer": "업무 연결",</a:t>
            </a:r>
          </a:p>
          <a:p xmlns:a="http://schemas.openxmlformats.org/drawingml/2006/main">
            <a:r>
              <a:t>          "detail": "분류 근거와 원문을 분석원에게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"누락 회귀평가",</a:t>
            </a:r>
          </a:p>
          <a:p xmlns:a="http://schemas.openxmlformats.org/drawingml/2006/main">
            <a:r>
              <a:t>          "layer": "운영 관측",</a:t>
            </a:r>
          </a:p>
          <a:p xmlns:a="http://schemas.openxmlformats.org/drawingml/2006/main">
            <a:r>
              <a:t>          "detail": "분석원 수정과 분류 누락의 회귀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"기사·안전 분류",</a:t>
            </a:r>
          </a:p>
          <a:p xmlns:a="http://schemas.openxmlformats.org/drawingml/2006/main">
            <a:r>
              <a:t>          "layer": "데이터 원천",</a:t>
            </a:r>
          </a:p>
          <a:p xmlns:a="http://schemas.openxmlformats.org/drawingml/2006/main">
            <a:r>
              <a:t>          "detail": "기사·위험 분류체계",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"번역·판본 정리",</a:t>
            </a:r>
          </a:p>
          <a:p xmlns:a="http://schemas.openxmlformats.org/drawingml/2006/main">
            <a:r>
              <a:t>          "layer": "준비·갱신",</a:t>
            </a:r>
          </a:p>
          <a:p xmlns:a="http://schemas.openxmlformats.org/drawingml/2006/main">
            <a:r>
              <a:t>          "detail": "원문 기사·번역문·분류체계 판본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"기사·분류 이력",</a:t>
            </a:r>
          </a:p>
          <a:p xmlns:a="http://schemas.openxmlformats.org/drawingml/2006/main">
            <a:r>
              <a:t>          "layer": "상태·지식 저장",</a:t>
            </a:r>
          </a:p>
          <a:p xmlns:a="http://schemas.openxmlformats.org/drawingml/2006/main">
            <a:r>
              <a:t>          "detail": "원문 구간과 번역·분류·분석원 수정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"분류·검토 책임",</a:t>
            </a:r>
          </a:p>
          <a:p xmlns:a="http://schemas.openxmlformats.org/drawingml/2006/main">
            <a:r>
              <a:t>          "layer": "권한·정책",</a:t>
            </a:r>
          </a:p>
          <a:p xmlns:a="http://schemas.openxmlformats.org/drawingml/2006/main">
            <a:r>
              <a:t>          "detail": "다른 사건의 혼합·번역 부정문 오류·분류 중복",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"항공안전 기사 → 전처리·RAG → 요약·위험 분류 → 분석원 재검토"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"기사·위험 분류체계",</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"요약·위험 태그",</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"분석용 문서",</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"요약·위험 태그",</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"분석원 수정",</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"항공안전 이슈의 번역·분류·검토 지원 / 기사 수집·위험 분류·분석원 검토",</a:t>
            </a:r>
          </a:p>
          <a:p xmlns:a="http://schemas.openxmlformats.org/drawingml/2006/main">
            <a:r>
              <a:t>        "extension": "TS 분야별 사고·위험 용어와 책임 직무 매핑"</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사건의 혼합·번역 부정문 오류·분류 중복",</a:t>
            </a:r>
          </a:p>
          <a:p xmlns:a="http://schemas.openxmlformats.org/drawingml/2006/main">
            <a:r>
              <a:t>        "hold": "원문 사건·시각·위험등급 대조",</a:t>
            </a:r>
          </a:p>
          <a:p xmlns:a="http://schemas.openxmlformats.org/drawingml/2006/main">
            <a:r>
              <a:t>        "recovery": "분석원 수정과 분류 누락의 회귀 평가",</a:t>
            </a:r>
          </a:p>
          <a:p xmlns:a="http://schemas.openxmlformats.org/drawingml/2006/main">
            <a:r>
              <a:t>        "evidence": "원문 구간과 번역·분류·분석원 수정 연결표"</a:t>
            </a:r>
          </a:p>
          <a:p xmlns:a="http://schemas.openxmlformats.org/drawingml/2006/main">
            <a:r>
              <a:t>      },</a:t>
            </a:r>
          </a:p>
          <a:p xmlns:a="http://schemas.openxmlformats.org/drawingml/2006/main">
            <a:r>
              <a:t>      "data": {</a:t>
            </a:r>
          </a:p>
          <a:p xmlns:a="http://schemas.openxmlformats.org/drawingml/2006/main">
            <a:r>
              <a:t>        "source": "기사·위험 분류체계",</a:t>
            </a:r>
          </a:p>
          <a:p xmlns:a="http://schemas.openxmlformats.org/drawingml/2006/main">
            <a:r>
              <a:t>        "prepare": "원문 기사·번역문·분류체계 판본 관리",</a:t>
            </a:r>
          </a:p>
          <a:p xmlns:a="http://schemas.openxmlformats.org/drawingml/2006/main">
            <a:r>
              <a:t>        "output": "기사 원문",</a:t>
            </a:r>
          </a:p>
          <a:p xmlns:a="http://schemas.openxmlformats.org/drawingml/2006/main">
            <a:r>
              <a:t>        "refresh": "분석원 수정과 분류 누락의 회귀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"AX21",</a:t>
            </a:r>
          </a:p>
          <a:p xmlns:a="http://schemas.openxmlformats.org/drawingml/2006/main">
            <a:r>
              <a:t>    "success": [</a:t>
            </a:r>
          </a:p>
          <a:p xmlns:a="http://schemas.openxmlformats.org/drawingml/2006/main">
            <a:r>
              <a:t>      "분류체계에 맞춘 번역·요약",</a:t>
            </a:r>
          </a:p>
          <a:p xmlns:a="http://schemas.openxmlformats.org/drawingml/2006/main">
            <a:r>
              <a:t>      "안전 분석원의 재검토"</a:t>
            </a:r>
          </a:p>
          <a:p xmlns:a="http://schemas.openxmlformats.org/drawingml/2006/main">
            <a:r>
              <a:t>    ],</a:t>
            </a:r>
          </a:p>
          <a:p xmlns:a="http://schemas.openxmlformats.org/drawingml/2006/main">
            <a:r>
              <a:t>    "risks": [</a:t>
            </a:r>
          </a:p>
          <a:p xmlns:a="http://schemas.openxmlformats.org/drawingml/2006/main">
            <a:r>
              <a:t>      "다국어 용어·위험 분류 오류",</a:t>
            </a:r>
          </a:p>
          <a:p xmlns:a="http://schemas.openxmlformats.org/drawingml/2006/main">
            <a:r>
              <a:t>      "기사 요약에서 중요 사건 누락"</a:t>
            </a:r>
          </a:p>
          <a:p xmlns:a="http://schemas.openxmlformats.org/drawingml/2006/main">
            <a:r>
              <a:t>    ],</a:t>
            </a:r>
          </a:p>
          <a:p xmlns:a="http://schemas.openxmlformats.org/drawingml/2006/main">
            <a:r>
              <a:t>    "architecture": [</a:t>
            </a:r>
          </a:p>
          <a:p xmlns:a="http://schemas.openxmlformats.org/drawingml/2006/main">
            <a:r>
              <a:t>      "항공안전 기사",</a:t>
            </a:r>
          </a:p>
          <a:p xmlns:a="http://schemas.openxmlformats.org/drawingml/2006/main">
            <a:r>
              <a:t>      "전처리·RAG·분류",</a:t>
            </a:r>
          </a:p>
          <a:p xmlns:a="http://schemas.openxmlformats.org/drawingml/2006/main">
            <a:r>
              <a:t>      "기사·위험 분류체계",</a:t>
            </a:r>
          </a:p>
          <a:p xmlns:a="http://schemas.openxmlformats.org/drawingml/2006/main">
            <a:r>
              <a:t>      "항공안전 분석원"</a:t>
            </a:r>
          </a:p>
          <a:p xmlns:a="http://schemas.openxmlformats.org/drawingml/2006/main">
            <a:r>
              <a:t>    ],</a:t>
            </a:r>
          </a:p>
          <a:p xmlns:a="http://schemas.openxmlformats.org/drawingml/2006/main">
            <a:r>
              <a:t>    "transfers": [</a:t>
            </a:r>
          </a:p>
          <a:p xmlns:a="http://schemas.openxmlformats.org/drawingml/2006/main">
            <a:r>
              <a:t>      "기사 원문",</a:t>
            </a:r>
          </a:p>
          <a:p xmlns:a="http://schemas.openxmlformats.org/drawingml/2006/main">
            <a:r>
              <a:t>      "분석용 문서",</a:t>
            </a:r>
          </a:p>
          <a:p xmlns:a="http://schemas.openxmlformats.org/drawingml/2006/main">
            <a:r>
              <a:t>      "요약·위험 태그",</a:t>
            </a:r>
          </a:p>
          <a:p xmlns:a="http://schemas.openxmlformats.org/drawingml/2006/main">
            <a:r>
              <a:t>      "분석원 수정"</a:t>
            </a:r>
          </a:p>
          <a:p xmlns:a="http://schemas.openxmlformats.org/drawingml/2006/main">
            <a:r>
              <a:t>    ],</a:t>
            </a:r>
          </a:p>
          <a:p xmlns:a="http://schemas.openxmlformats.org/drawingml/2006/main">
            <a:r>
              <a:t>    "control": "원문 사건·시각·위험등급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항공안전 이슈 분석 AI PoC · 공공AI 사례집 100–101쪽 https://bigdata.dongjak.go.kr/board/viewArticle?articleNo=954&amp;boardId=4</a:t>
            </a:r>
          </a:p>
          <a:p xmlns:a="http://schemas.openxmlformats.org/drawingml/2006/main">
            <a:r>
              <a:t>홈페이지 https://heen1987-ops.github.io/TS-business-Plan-001/index.html?view=casebook&amp;case=AX21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"AX21",</a:t>
            </a:r>
          </a:p>
          <a:p xmlns:a="http://schemas.openxmlformats.org/drawingml/2006/main">
            <a:r>
              <a:t>    "title": "항공안전 이슈 분석 AI PoC",</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"안전 문서 분류·분석",</a:t>
            </a:r>
          </a:p>
          <a:p xmlns:a="http://schemas.openxmlformats.org/drawingml/2006/main">
            <a:r>
              <a:t>    "period": "2024 기술 실증",</a:t>
            </a:r>
          </a:p>
          <a:p xmlns:a="http://schemas.openxmlformats.org/drawingml/2006/main">
            <a:r>
              <a:t>    "sources": [</a:t>
            </a:r>
          </a:p>
          <a:p xmlns:a="http://schemas.openxmlformats.org/drawingml/2006/main">
            <a:r>
              <a:t>      "S-AX21"</a:t>
            </a:r>
          </a:p>
          <a:p xmlns:a="http://schemas.openxmlformats.org/drawingml/2006/main">
            <a:r>
              <a:t>    ],</a:t>
            </a:r>
          </a:p>
          <a:p xmlns:a="http://schemas.openxmlformats.org/drawingml/2006/main">
            <a:r>
              <a:t>    "keywords": [</a:t>
            </a:r>
          </a:p>
          <a:p xmlns:a="http://schemas.openxmlformats.org/drawingml/2006/main">
            <a:r>
              <a:t>      "안전 문서 분류",</a:t>
            </a:r>
          </a:p>
          <a:p xmlns:a="http://schemas.openxmlformats.org/drawingml/2006/main">
            <a:r>
              <a:t>      "분석"</a:t>
            </a:r>
          </a:p>
          <a:p xmlns:a="http://schemas.openxmlformats.org/drawingml/2006/main">
            <a:r>
              <a:t>    ],</a:t>
            </a:r>
          </a:p>
          <a:p xmlns:a="http://schemas.openxmlformats.org/drawingml/2006/main">
            <a:r>
              <a:t>    "fact": "항공안전 기사·분류체계 기반 번역·요약·위험 분류와 분석원 검토의 기술 실증",</a:t>
            </a:r>
          </a:p>
          <a:p xmlns:a="http://schemas.openxmlformats.org/drawingml/2006/main">
            <a:r>
              <a:t>    "limit": "PoC 범위 · 운영 생산성 실측으로 해석 금지",</a:t>
            </a:r>
          </a:p>
          <a:p xmlns:a="http://schemas.openxmlformats.org/drawingml/2006/main">
            <a:r>
              <a:t>    "flow": [</a:t>
            </a:r>
          </a:p>
          <a:p xmlns:a="http://schemas.openxmlformats.org/drawingml/2006/main">
            <a:r>
              <a:t>      "항공안전 기사",</a:t>
            </a:r>
          </a:p>
          <a:p xmlns:a="http://schemas.openxmlformats.org/drawingml/2006/main">
            <a:r>
              <a:t>      "전처리·RAG",</a:t>
            </a:r>
          </a:p>
          <a:p xmlns:a="http://schemas.openxmlformats.org/drawingml/2006/main">
            <a:r>
              <a:t>      "요약·위험 분류",</a:t>
            </a:r>
          </a:p>
          <a:p xmlns:a="http://schemas.openxmlformats.org/drawingml/2006/main">
            <a:r>
              <a:t>      "분석원 재검토"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"전문 분류체계와 사람의 재검토 결합",</a:t>
            </a:r>
          </a:p>
          <a:p xmlns:a="http://schemas.openxmlformats.org/drawingml/2006/main">
            <a:r>
              <a:t>    "local": "TS 분야별 사고·위험 용어와 책임 직무 매핑",</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"안전 이슈 분류셋·근거 위치·검토 기록",</a:t>
            </a:r>
          </a:p>
          <a:p xmlns:a="http://schemas.openxmlformats.org/drawingml/2006/main">
            <a:r>
              <a:t>    "test": "위험 유형별 누락·오분류·번역 오류 평가",</a:t>
            </a:r>
          </a:p>
          <a:p xmlns:a="http://schemas.openxmlformats.org/drawingml/2006/main">
            <a:r>
              <a:t>    "metric": "분류 재현율 / 검토 포함 소요시간",</a:t>
            </a:r>
          </a:p>
          <a:p xmlns:a="http://schemas.openxmlformats.org/drawingml/2006/main">
            <a:r>
              <a:t>    "strategies": [</a:t>
            </a:r>
          </a:p>
          <a:p xmlns:a="http://schemas.openxmlformats.org/drawingml/2006/main">
            <a:r>
              <a:t>      "ST-03",</a:t>
            </a:r>
          </a:p>
          <a:p xmlns:a="http://schemas.openxmlformats.org/drawingml/2006/main">
            <a:r>
              <a:t>      "ST-05",</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"AX21",</a:t>
            </a:r>
          </a:p>
          <a:p xmlns:a="http://schemas.openxmlformats.org/drawingml/2006/main">
            <a:r>
              <a:t>    "canonicalId": "AX21",</a:t>
            </a:r>
          </a:p>
          <a:p xmlns:a="http://schemas.openxmlformats.org/drawingml/2006/main">
            <a:r>
              <a:t>    "purpose": "항공안전 이슈의 번역·분류·검토 지원",</a:t>
            </a:r>
          </a:p>
          <a:p xmlns:a="http://schemas.openxmlformats.org/drawingml/2006/main">
            <a:r>
              <a:t>    "users": "항공안전 분석원",</a:t>
            </a:r>
          </a:p>
          <a:p xmlns:a="http://schemas.openxmlformats.org/drawingml/2006/main">
            <a:r>
              <a:t>    "scope": [</a:t>
            </a:r>
          </a:p>
          <a:p xmlns:a="http://schemas.openxmlformats.org/drawingml/2006/main">
            <a:r>
              <a:t>      "기사 수집",</a:t>
            </a:r>
          </a:p>
          <a:p xmlns:a="http://schemas.openxmlformats.org/drawingml/2006/main">
            <a:r>
              <a:t>      "위험 분류",</a:t>
            </a:r>
          </a:p>
          <a:p xmlns:a="http://schemas.openxmlformats.org/drawingml/2006/main">
            <a:r>
              <a:t>      "분석원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"항공안전 기사",</a:t>
            </a:r>
          </a:p>
          <a:p xmlns:a="http://schemas.openxmlformats.org/drawingml/2006/main">
            <a:r>
              <a:t>        "detail": "기사 출처·발생일·대상 항공 업무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"기사 수집 / 위험 분류 / 분석원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"전처리·RAG·분류",</a:t>
            </a:r>
          </a:p>
          <a:p xmlns:a="http://schemas.openxmlformats.org/drawingml/2006/main">
            <a:r>
              <a:t>        "detail": "번역·요약 후 안전 분류체계별 후보 제시",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"항공안전 분석원",</a:t>
            </a:r>
          </a:p>
          <a:p xmlns:a="http://schemas.openxmlformats.org/drawingml/2006/main">
            <a:r>
              <a:t>        "detail": "분류 근거와 원문을 분석원에게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"기사·위험 분류체계",</a:t>
            </a:r>
          </a:p>
          <a:p xmlns:a="http://schemas.openxmlformats.org/drawingml/2006/main">
            <a:r>
              <a:t>        "detail": "원문 기사·번역문·분류체계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"분석원 수정과 분류 누락의 회귀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"항공안전 기사",</a:t>
            </a:r>
          </a:p>
          <a:p xmlns:a="http://schemas.openxmlformats.org/drawingml/2006/main">
            <a:r>
              <a:t>        "input": "기사 출처·발생일·대상 항공 업무 식별",</a:t>
            </a:r>
          </a:p>
          <a:p xmlns:a="http://schemas.openxmlformats.org/drawingml/2006/main">
            <a:r>
              <a:t>        "process": "원문 기사·번역문·분류체계 판본 관리",</a:t>
            </a:r>
          </a:p>
          <a:p xmlns:a="http://schemas.openxmlformats.org/drawingml/2006/main">
            <a:r>
              <a:t>        "output": "기사 원문"</a:t>
            </a:r>
          </a:p>
          <a:p xmlns:a="http://schemas.openxmlformats.org/drawingml/2006/main">
            <a:r>
              <a:t>      },</a:t>
            </a:r>
          </a:p>
          <a:p xmlns:a="http://schemas.openxmlformats.org/drawingml/2006/main">
            <a:r>
              <a:t>      {</a:t>
            </a:r>
          </a:p>
          <a:p xmlns:a="http://schemas.openxmlformats.org/drawingml/2006/main">
            <a:r>
              <a:t>        "title": "전처리·RAG",</a:t>
            </a:r>
          </a:p>
          <a:p xmlns:a="http://schemas.openxmlformats.org/drawingml/2006/main">
            <a:r>
              <a:t>        "input": "기사 원문",</a:t>
            </a:r>
          </a:p>
          <a:p xmlns:a="http://schemas.openxmlformats.org/drawingml/2006/main">
            <a:r>
              <a:t>        "process": "번역·요약 후 안전 분류체계별 후보 제시",</a:t>
            </a:r>
          </a:p>
          <a:p xmlns:a="http://schemas.openxmlformats.org/drawingml/2006/main">
            <a:r>
              <a:t>        "output": "분석용 문서"</a:t>
            </a:r>
          </a:p>
          <a:p xmlns:a="http://schemas.openxmlformats.org/drawingml/2006/main">
            <a:r>
              <a:t>      },</a:t>
            </a:r>
          </a:p>
          <a:p xmlns:a="http://schemas.openxmlformats.org/drawingml/2006/main">
            <a:r>
              <a:t>      {</a:t>
            </a:r>
          </a:p>
          <a:p xmlns:a="http://schemas.openxmlformats.org/drawingml/2006/main">
            <a:r>
              <a:t>        "title": "요약·위험 분류",</a:t>
            </a:r>
          </a:p>
          <a:p xmlns:a="http://schemas.openxmlformats.org/drawingml/2006/main">
            <a:r>
              <a:t>        "input": "분석용 문서",</a:t>
            </a:r>
          </a:p>
          <a:p xmlns:a="http://schemas.openxmlformats.org/drawingml/2006/main">
            <a:r>
              <a:t>        "process": "원문 사건·시각·위험등급 대조",</a:t>
            </a:r>
          </a:p>
          <a:p xmlns:a="http://schemas.openxmlformats.org/drawingml/2006/main">
            <a:r>
              <a:t>        "output": "요약·위험 태그"</a:t>
            </a:r>
          </a:p>
          <a:p xmlns:a="http://schemas.openxmlformats.org/drawingml/2006/main">
            <a:r>
              <a:t>      },</a:t>
            </a:r>
          </a:p>
          <a:p xmlns:a="http://schemas.openxmlformats.org/drawingml/2006/main">
            <a:r>
              <a:t>      {</a:t>
            </a:r>
          </a:p>
          <a:p xmlns:a="http://schemas.openxmlformats.org/drawingml/2006/main">
            <a:r>
              <a:t>        "title": "분석원 재검토",</a:t>
            </a:r>
          </a:p>
          <a:p xmlns:a="http://schemas.openxmlformats.org/drawingml/2006/main">
            <a:r>
              <a:t>        "input": "요약·위험 태그",</a:t>
            </a:r>
          </a:p>
          <a:p xmlns:a="http://schemas.openxmlformats.org/drawingml/2006/main">
            <a:r>
              <a:t>        "process": "분류 근거와 원문을 분석원에게 전달",</a:t>
            </a:r>
          </a:p>
          <a:p xmlns:a="http://schemas.openxmlformats.org/drawingml/2006/main">
            <a:r>
              <a:t>        "output": "분석원 수정"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"기사의 사건·번역·분류 근거를 분석원이 검토",</a:t>
            </a:r>
          </a:p>
          <a:p xmlns:a="http://schemas.openxmlformats.org/drawingml/2006/main">
            <a:r>
              <a:t>      "exception": "다른 사건의 혼합·번역 부정문 오류·분류 중복",</a:t>
            </a:r>
          </a:p>
          <a:p xmlns:a="http://schemas.openxmlformats.org/drawingml/2006/main">
            <a:r>
              <a:t>      "evidence": "원문 구간과 번역·분류·분석원 수정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"항공안전 분석원",</a:t>
            </a:r>
          </a:p>
          <a:p xmlns:a="http://schemas.openxmlformats.org/drawingml/2006/main">
            <a:r>
              <a:t>          "processing": "기사 출처·발생일·대상 항공 업무 식별",</a:t>
            </a:r>
          </a:p>
          <a:p xmlns:a="http://schemas.openxmlformats.org/drawingml/2006/main">
            <a:r>
              <a:t>          "output": "기사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"기사·위험 분류체계",</a:t>
            </a:r>
          </a:p>
          <a:p xmlns:a="http://schemas.openxmlformats.org/drawingml/2006/main">
            <a:r>
              <a:t>          "processing": "원문 기사·번역문·분류체계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"기사 원문",</a:t>
            </a:r>
          </a:p>
          <a:p xmlns:a="http://schemas.openxmlformats.org/drawingml/2006/main">
            <a:r>
              <a:t>          "processing": "번역·요약 후 안전 분류체계별 후보 제시",</a:t>
            </a:r>
          </a:p>
          <a:p xmlns:a="http://schemas.openxmlformats.org/drawingml/2006/main">
            <a:r>
              <a:t>          "output": "요약·위험 태그"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"요약·위험 태그",</a:t>
            </a:r>
          </a:p>
          <a:p xmlns:a="http://schemas.openxmlformats.org/drawingml/2006/main">
            <a:r>
              <a:t>          "processing": "분류 근거와 원문을 분석원에게 전달",</a:t>
            </a:r>
          </a:p>
          <a:p xmlns:a="http://schemas.openxmlformats.org/drawingml/2006/main">
            <a:r>
              <a:t>          "output": "분석원 수정"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"분석원 수정과 분류 누락의 회귀 평가",</a:t>
            </a:r>
          </a:p>
          <a:p xmlns:a="http://schemas.openxmlformats.org/drawingml/2006/main">
            <a:r>
              <a:t>          "output": "원문 구간과 번역·분류·분석원 수정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"분석원 수정과 분류 누락의 회귀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"S-AX21",</a:t>
            </a:r>
          </a:p>
          <a:p xmlns:a="http://schemas.openxmlformats.org/drawingml/2006/main">
            <a:r>
              <a:t>        "title": "항공안전 이슈 분석 AI PoC · 공공AI 사례집 100–101쪽",</a:t>
            </a:r>
          </a:p>
          <a:p xmlns:a="http://schemas.openxmlformats.org/drawingml/2006/main">
            <a:r>
              <a:t>        "url": "https://bigdata.dongjak.go.kr/board/viewArticle?articleNo=954&amp;boardId=4",</a:t>
            </a:r>
          </a:p>
          <a:p xmlns:a="http://schemas.openxmlformats.org/drawingml/2006/main">
            <a:r>
              <a:t>        "published": "2024 기술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"전문 분류체계와 사람의 재검토 결합",</a:t>
            </a:r>
          </a:p>
          <a:p xmlns:a="http://schemas.openxmlformats.org/drawingml/2006/main">
            <a:r>
              <a:t>    "local": "TS 분야별 사고·위험 용어와 책임 직무 매핑",</a:t>
            </a:r>
          </a:p>
          <a:p xmlns:a="http://schemas.openxmlformats.org/drawingml/2006/main">
            <a:r>
              <a:t>    "sourceDetail": null,</a:t>
            </a:r>
          </a:p>
          <a:p xmlns:a="http://schemas.openxmlformats.org/drawingml/2006/main">
            <a:r>
              <a:t>    "narrative": [</a:t>
            </a:r>
          </a:p>
          <a:p xmlns:a="http://schemas.openxmlformats.org/drawingml/2006/main">
            <a:r>
              <a:t>      "항공안전 관련 기사에서 사건과 위험 요인을 찾아 분석원의 검토를 돕는 사례. 다국어 자료의 번역·요약과 정해진 안전 분류체계 적용이 결합된 업무.",</a:t>
            </a:r>
          </a:p>
          <a:p xmlns:a="http://schemas.openxmlformats.org/drawingml/2006/main">
            <a:r>
              <a:t>      "기사 출처·발생일·항공업무를 식별한 뒤 번역문과 원문을 연결하고 위험 태그 후보를 제시하는 재구성. 분석원의 수정값과 판정 근거를 보존해 분류 누락·오역을 회귀 평가.",</a:t>
            </a:r>
          </a:p>
          <a:p xmlns:a="http://schemas.openxmlformats.org/drawingml/2006/main">
            <a:r>
              <a:t>      "TS 적용에서는 기사량 처리보다 사건·시각·위험등급의 정확한 추출과 근거 추적을 우선. 원문 대비 중요 사건 누락, 분류체계 개정, 다국어 전문용어 오역을 독립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"기사 수집 접점",</a:t>
            </a:r>
          </a:p>
          <a:p xmlns:a="http://schemas.openxmlformats.org/drawingml/2006/main">
            <a:r>
              <a:t>          "layer": "이용 접점",</a:t>
            </a:r>
          </a:p>
          <a:p xmlns:a="http://schemas.openxmlformats.org/drawingml/2006/main">
            <a:r>
              <a:t>          "detail": "항공안전 분석원",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"출처·발생일",</a:t>
            </a:r>
          </a:p>
          <a:p xmlns:a="http://schemas.openxmlformats.org/drawingml/2006/main">
            <a:r>
              <a:t>          "layer": "업무 문맥",</a:t>
            </a:r>
          </a:p>
          <a:p xmlns:a="http://schemas.openxmlformats.org/drawingml/2006/main">
            <a:r>
              <a:t>          "detail": "기사 출처·발생일·대상 항공 업무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"분류 지식 검색",</a:t>
            </a:r>
          </a:p>
          <a:p xmlns:a="http://schemas.openxmlformats.org/drawingml/2006/main">
            <a:r>
              <a:t>          "layer": "자료 조회",</a:t>
            </a:r>
          </a:p>
          <a:p xmlns:a="http://schemas.openxmlformats.org/drawingml/2006/main">
            <a:r>
              <a:t>          "detail": "기사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"번역·요약·태깅",</a:t>
            </a:r>
          </a:p>
          <a:p xmlns:a="http://schemas.openxmlformats.org/drawingml/2006/main">
            <a:r>
              <a:t>          "layer": "핵심 처리",</a:t>
            </a:r>
          </a:p>
          <a:p xmlns:a="http://schemas.openxmlformats.org/drawingml/2006/main">
            <a:r>
              <a:t>          "detail": "번역·요약 후 안전 분류체계별 후보 제시",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"사건·등급 대조",</a:t>
            </a:r>
          </a:p>
          <a:p xmlns:a="http://schemas.openxmlformats.org/drawingml/2006/main">
            <a:r>
              <a:t>          "layer": "결과 검증",</a:t>
            </a:r>
          </a:p>
          <a:p xmlns:a="http://schemas.openxmlformats.org/drawingml/2006/main">
            <a:r>
              <a:t>          "detail": "원문 사건·시각·위험등급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"분석원 수정",</a:t>
            </a:r>
          </a:p>
          <a:p xmlns:a="http://schemas.openxmlformats.org/drawingml/2006/main">
            <a:r>
              <a:t>          "layer": "사람 확인",</a:t>
            </a:r>
          </a:p>
          <a:p xmlns:a="http://schemas.openxmlformats.org/drawingml/2006/main">
            <a:r>
              <a:t>          "detail": "기사의 사건·번역·분류 근거를 분석원이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"검토 보고서",</a:t>
            </a:r>
          </a:p>
          <a:p xmlns:a="http://schemas.openxmlformats.org/drawingml/2006/main">
            <a:r>
              <a:t>          "layer": "업무 연결",</a:t>
            </a:r>
          </a:p>
          <a:p xmlns:a="http://schemas.openxmlformats.org/drawingml/2006/main">
            <a:r>
              <a:t>          "detail": "분류 근거와 원문을 분석원에게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"누락 회귀평가",</a:t>
            </a:r>
          </a:p>
          <a:p xmlns:a="http://schemas.openxmlformats.org/drawingml/2006/main">
            <a:r>
              <a:t>          "layer": "운영 관측",</a:t>
            </a:r>
          </a:p>
          <a:p xmlns:a="http://schemas.openxmlformats.org/drawingml/2006/main">
            <a:r>
              <a:t>          "detail": "분석원 수정과 분류 누락의 회귀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"기사·안전 분류",</a:t>
            </a:r>
          </a:p>
          <a:p xmlns:a="http://schemas.openxmlformats.org/drawingml/2006/main">
            <a:r>
              <a:t>          "layer": "데이터 원천",</a:t>
            </a:r>
          </a:p>
          <a:p xmlns:a="http://schemas.openxmlformats.org/drawingml/2006/main">
            <a:r>
              <a:t>          "detail": "기사·위험 분류체계",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"번역·판본 정리",</a:t>
            </a:r>
          </a:p>
          <a:p xmlns:a="http://schemas.openxmlformats.org/drawingml/2006/main">
            <a:r>
              <a:t>          "layer": "준비·갱신",</a:t>
            </a:r>
          </a:p>
          <a:p xmlns:a="http://schemas.openxmlformats.org/drawingml/2006/main">
            <a:r>
              <a:t>          "detail": "원문 기사·번역문·분류체계 판본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"기사·분류 이력",</a:t>
            </a:r>
          </a:p>
          <a:p xmlns:a="http://schemas.openxmlformats.org/drawingml/2006/main">
            <a:r>
              <a:t>          "layer": "상태·지식 저장",</a:t>
            </a:r>
          </a:p>
          <a:p xmlns:a="http://schemas.openxmlformats.org/drawingml/2006/main">
            <a:r>
              <a:t>          "detail": "원문 구간과 번역·분류·분석원 수정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"분류·검토 책임",</a:t>
            </a:r>
          </a:p>
          <a:p xmlns:a="http://schemas.openxmlformats.org/drawingml/2006/main">
            <a:r>
              <a:t>          "layer": "권한·정책",</a:t>
            </a:r>
          </a:p>
          <a:p xmlns:a="http://schemas.openxmlformats.org/drawingml/2006/main">
            <a:r>
              <a:t>          "detail": "다른 사건의 혼합·번역 부정문 오류·분류 중복",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"항공안전 기사 → 전처리·RAG → 요약·위험 분류 → 분석원 재검토"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"기사·위험 분류체계",</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"요약·위험 태그",</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"분석용 문서",</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"요약·위험 태그",</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"분석원 수정",</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"항공안전 이슈의 번역·분류·검토 지원 / 기사 수집·위험 분류·분석원 검토",</a:t>
            </a:r>
          </a:p>
          <a:p xmlns:a="http://schemas.openxmlformats.org/drawingml/2006/main">
            <a:r>
              <a:t>        "extension": "TS 분야별 사고·위험 용어와 책임 직무 매핑"</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사건의 혼합·번역 부정문 오류·분류 중복",</a:t>
            </a:r>
          </a:p>
          <a:p xmlns:a="http://schemas.openxmlformats.org/drawingml/2006/main">
            <a:r>
              <a:t>        "hold": "원문 사건·시각·위험등급 대조",</a:t>
            </a:r>
          </a:p>
          <a:p xmlns:a="http://schemas.openxmlformats.org/drawingml/2006/main">
            <a:r>
              <a:t>        "recovery": "분석원 수정과 분류 누락의 회귀 평가",</a:t>
            </a:r>
          </a:p>
          <a:p xmlns:a="http://schemas.openxmlformats.org/drawingml/2006/main">
            <a:r>
              <a:t>        "evidence": "원문 구간과 번역·분류·분석원 수정 연결표"</a:t>
            </a:r>
          </a:p>
          <a:p xmlns:a="http://schemas.openxmlformats.org/drawingml/2006/main">
            <a:r>
              <a:t>      },</a:t>
            </a:r>
          </a:p>
          <a:p xmlns:a="http://schemas.openxmlformats.org/drawingml/2006/main">
            <a:r>
              <a:t>      "data": {</a:t>
            </a:r>
          </a:p>
          <a:p xmlns:a="http://schemas.openxmlformats.org/drawingml/2006/main">
            <a:r>
              <a:t>        "source": "기사·위험 분류체계",</a:t>
            </a:r>
          </a:p>
          <a:p xmlns:a="http://schemas.openxmlformats.org/drawingml/2006/main">
            <a:r>
              <a:t>        "prepare": "원문 기사·번역문·분류체계 판본 관리",</a:t>
            </a:r>
          </a:p>
          <a:p xmlns:a="http://schemas.openxmlformats.org/drawingml/2006/main">
            <a:r>
              <a:t>        "output": "기사 원문",</a:t>
            </a:r>
          </a:p>
          <a:p xmlns:a="http://schemas.openxmlformats.org/drawingml/2006/main">
            <a:r>
              <a:t>        "refresh": "분석원 수정과 분류 누락의 회귀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"AX21",</a:t>
            </a:r>
          </a:p>
          <a:p xmlns:a="http://schemas.openxmlformats.org/drawingml/2006/main">
            <a:r>
              <a:t>    "success": [</a:t>
            </a:r>
          </a:p>
          <a:p xmlns:a="http://schemas.openxmlformats.org/drawingml/2006/main">
            <a:r>
              <a:t>      "분류체계에 맞춘 번역·요약",</a:t>
            </a:r>
          </a:p>
          <a:p xmlns:a="http://schemas.openxmlformats.org/drawingml/2006/main">
            <a:r>
              <a:t>      "안전 분석원의 재검토"</a:t>
            </a:r>
          </a:p>
          <a:p xmlns:a="http://schemas.openxmlformats.org/drawingml/2006/main">
            <a:r>
              <a:t>    ],</a:t>
            </a:r>
          </a:p>
          <a:p xmlns:a="http://schemas.openxmlformats.org/drawingml/2006/main">
            <a:r>
              <a:t>    "risks": [</a:t>
            </a:r>
          </a:p>
          <a:p xmlns:a="http://schemas.openxmlformats.org/drawingml/2006/main">
            <a:r>
              <a:t>      "다국어 용어·위험 분류 오류",</a:t>
            </a:r>
          </a:p>
          <a:p xmlns:a="http://schemas.openxmlformats.org/drawingml/2006/main">
            <a:r>
              <a:t>      "기사 요약에서 중요 사건 누락"</a:t>
            </a:r>
          </a:p>
          <a:p xmlns:a="http://schemas.openxmlformats.org/drawingml/2006/main">
            <a:r>
              <a:t>    ],</a:t>
            </a:r>
          </a:p>
          <a:p xmlns:a="http://schemas.openxmlformats.org/drawingml/2006/main">
            <a:r>
              <a:t>    "architecture": [</a:t>
            </a:r>
          </a:p>
          <a:p xmlns:a="http://schemas.openxmlformats.org/drawingml/2006/main">
            <a:r>
              <a:t>      "항공안전 기사",</a:t>
            </a:r>
          </a:p>
          <a:p xmlns:a="http://schemas.openxmlformats.org/drawingml/2006/main">
            <a:r>
              <a:t>      "전처리·RAG·분류",</a:t>
            </a:r>
          </a:p>
          <a:p xmlns:a="http://schemas.openxmlformats.org/drawingml/2006/main">
            <a:r>
              <a:t>      "기사·위험 분류체계",</a:t>
            </a:r>
          </a:p>
          <a:p xmlns:a="http://schemas.openxmlformats.org/drawingml/2006/main">
            <a:r>
              <a:t>      "항공안전 분석원"</a:t>
            </a:r>
          </a:p>
          <a:p xmlns:a="http://schemas.openxmlformats.org/drawingml/2006/main">
            <a:r>
              <a:t>    ],</a:t>
            </a:r>
          </a:p>
          <a:p xmlns:a="http://schemas.openxmlformats.org/drawingml/2006/main">
            <a:r>
              <a:t>    "transfers": [</a:t>
            </a:r>
          </a:p>
          <a:p xmlns:a="http://schemas.openxmlformats.org/drawingml/2006/main">
            <a:r>
              <a:t>      "기사 원문",</a:t>
            </a:r>
          </a:p>
          <a:p xmlns:a="http://schemas.openxmlformats.org/drawingml/2006/main">
            <a:r>
              <a:t>      "분석용 문서",</a:t>
            </a:r>
          </a:p>
          <a:p xmlns:a="http://schemas.openxmlformats.org/drawingml/2006/main">
            <a:r>
              <a:t>      "요약·위험 태그",</a:t>
            </a:r>
          </a:p>
          <a:p xmlns:a="http://schemas.openxmlformats.org/drawingml/2006/main">
            <a:r>
              <a:t>      "분석원 수정"</a:t>
            </a:r>
          </a:p>
          <a:p xmlns:a="http://schemas.openxmlformats.org/drawingml/2006/main">
            <a:r>
              <a:t>    ],</a:t>
            </a:r>
          </a:p>
          <a:p xmlns:a="http://schemas.openxmlformats.org/drawingml/2006/main">
            <a:r>
              <a:t>    "control": "원문 사건·시각·위험등급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항공안전 이슈 분석 AI PoC · 공공AI 사례집 100–101쪽 https://bigdata.dongjak.go.kr/board/viewArticle?articleNo=954&amp;boardId=4</a:t>
            </a:r>
          </a:p>
          <a:p xmlns:a="http://schemas.openxmlformats.org/drawingml/2006/main">
            <a:r>
              <a:t>홈페이지 https://heen1987-ops.github.io/TS-business-Plan-001/index.html?view=casebook&amp;case=AX21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"AX21",</a:t>
            </a:r>
          </a:p>
          <a:p xmlns:a="http://schemas.openxmlformats.org/drawingml/2006/main">
            <a:r>
              <a:t>    "title": "항공안전 이슈 분석 AI PoC",</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"안전 문서 분류·분석",</a:t>
            </a:r>
          </a:p>
          <a:p xmlns:a="http://schemas.openxmlformats.org/drawingml/2006/main">
            <a:r>
              <a:t>    "period": "2024 기술 실증",</a:t>
            </a:r>
          </a:p>
          <a:p xmlns:a="http://schemas.openxmlformats.org/drawingml/2006/main">
            <a:r>
              <a:t>    "sources": [</a:t>
            </a:r>
          </a:p>
          <a:p xmlns:a="http://schemas.openxmlformats.org/drawingml/2006/main">
            <a:r>
              <a:t>      "S-AX21"</a:t>
            </a:r>
          </a:p>
          <a:p xmlns:a="http://schemas.openxmlformats.org/drawingml/2006/main">
            <a:r>
              <a:t>    ],</a:t>
            </a:r>
          </a:p>
          <a:p xmlns:a="http://schemas.openxmlformats.org/drawingml/2006/main">
            <a:r>
              <a:t>    "keywords": [</a:t>
            </a:r>
          </a:p>
          <a:p xmlns:a="http://schemas.openxmlformats.org/drawingml/2006/main">
            <a:r>
              <a:t>      "안전 문서 분류",</a:t>
            </a:r>
          </a:p>
          <a:p xmlns:a="http://schemas.openxmlformats.org/drawingml/2006/main">
            <a:r>
              <a:t>      "분석"</a:t>
            </a:r>
          </a:p>
          <a:p xmlns:a="http://schemas.openxmlformats.org/drawingml/2006/main">
            <a:r>
              <a:t>    ],</a:t>
            </a:r>
          </a:p>
          <a:p xmlns:a="http://schemas.openxmlformats.org/drawingml/2006/main">
            <a:r>
              <a:t>    "fact": "항공안전 기사·분류체계 기반 번역·요약·위험 분류와 분석원 검토의 기술 실증",</a:t>
            </a:r>
          </a:p>
          <a:p xmlns:a="http://schemas.openxmlformats.org/drawingml/2006/main">
            <a:r>
              <a:t>    "limit": "PoC 범위 · 운영 생산성 실측으로 해석 금지",</a:t>
            </a:r>
          </a:p>
          <a:p xmlns:a="http://schemas.openxmlformats.org/drawingml/2006/main">
            <a:r>
              <a:t>    "flow": [</a:t>
            </a:r>
          </a:p>
          <a:p xmlns:a="http://schemas.openxmlformats.org/drawingml/2006/main">
            <a:r>
              <a:t>      "항공안전 기사",</a:t>
            </a:r>
          </a:p>
          <a:p xmlns:a="http://schemas.openxmlformats.org/drawingml/2006/main">
            <a:r>
              <a:t>      "전처리·RAG",</a:t>
            </a:r>
          </a:p>
          <a:p xmlns:a="http://schemas.openxmlformats.org/drawingml/2006/main">
            <a:r>
              <a:t>      "요약·위험 분류",</a:t>
            </a:r>
          </a:p>
          <a:p xmlns:a="http://schemas.openxmlformats.org/drawingml/2006/main">
            <a:r>
              <a:t>      "분석원 재검토"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"전문 분류체계와 사람의 재검토 결합",</a:t>
            </a:r>
          </a:p>
          <a:p xmlns:a="http://schemas.openxmlformats.org/drawingml/2006/main">
            <a:r>
              <a:t>    "local": "TS 분야별 사고·위험 용어와 책임 직무 매핑",</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"안전 이슈 분류셋·근거 위치·검토 기록",</a:t>
            </a:r>
          </a:p>
          <a:p xmlns:a="http://schemas.openxmlformats.org/drawingml/2006/main">
            <a:r>
              <a:t>    "test": "위험 유형별 누락·오분류·번역 오류 평가",</a:t>
            </a:r>
          </a:p>
          <a:p xmlns:a="http://schemas.openxmlformats.org/drawingml/2006/main">
            <a:r>
              <a:t>    "metric": "분류 재현율 / 검토 포함 소요시간",</a:t>
            </a:r>
          </a:p>
          <a:p xmlns:a="http://schemas.openxmlformats.org/drawingml/2006/main">
            <a:r>
              <a:t>    "strategies": [</a:t>
            </a:r>
          </a:p>
          <a:p xmlns:a="http://schemas.openxmlformats.org/drawingml/2006/main">
            <a:r>
              <a:t>      "ST-03",</a:t>
            </a:r>
          </a:p>
          <a:p xmlns:a="http://schemas.openxmlformats.org/drawingml/2006/main">
            <a:r>
              <a:t>      "ST-05",</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"AX21",</a:t>
            </a:r>
          </a:p>
          <a:p xmlns:a="http://schemas.openxmlformats.org/drawingml/2006/main">
            <a:r>
              <a:t>    "canonicalId": "AX21",</a:t>
            </a:r>
          </a:p>
          <a:p xmlns:a="http://schemas.openxmlformats.org/drawingml/2006/main">
            <a:r>
              <a:t>    "purpose": "항공안전 이슈의 번역·분류·검토 지원",</a:t>
            </a:r>
          </a:p>
          <a:p xmlns:a="http://schemas.openxmlformats.org/drawingml/2006/main">
            <a:r>
              <a:t>    "users": "항공안전 분석원",</a:t>
            </a:r>
          </a:p>
          <a:p xmlns:a="http://schemas.openxmlformats.org/drawingml/2006/main">
            <a:r>
              <a:t>    "scope": [</a:t>
            </a:r>
          </a:p>
          <a:p xmlns:a="http://schemas.openxmlformats.org/drawingml/2006/main">
            <a:r>
              <a:t>      "기사 수집",</a:t>
            </a:r>
          </a:p>
          <a:p xmlns:a="http://schemas.openxmlformats.org/drawingml/2006/main">
            <a:r>
              <a:t>      "위험 분류",</a:t>
            </a:r>
          </a:p>
          <a:p xmlns:a="http://schemas.openxmlformats.org/drawingml/2006/main">
            <a:r>
              <a:t>      "분석원 검토"</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"항공안전 기사",</a:t>
            </a:r>
          </a:p>
          <a:p xmlns:a="http://schemas.openxmlformats.org/drawingml/2006/main">
            <a:r>
              <a:t>        "detail": "기사 출처·발생일·대상 항공 업무 식별",</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"기사 수집 / 위험 분류 / 분석원 검토",</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"전처리·RAG·분류",</a:t>
            </a:r>
          </a:p>
          <a:p xmlns:a="http://schemas.openxmlformats.org/drawingml/2006/main">
            <a:r>
              <a:t>        "detail": "번역·요약 후 안전 분류체계별 후보 제시",</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"항공안전 분석원",</a:t>
            </a:r>
          </a:p>
          <a:p xmlns:a="http://schemas.openxmlformats.org/drawingml/2006/main">
            <a:r>
              <a:t>        "detail": "분류 근거와 원문을 분석원에게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"기사·위험 분류체계",</a:t>
            </a:r>
          </a:p>
          <a:p xmlns:a="http://schemas.openxmlformats.org/drawingml/2006/main">
            <a:r>
              <a:t>        "detail": "원문 기사·번역문·분류체계 판본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"분석원 수정과 분류 누락의 회귀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"항공안전 기사",</a:t>
            </a:r>
          </a:p>
          <a:p xmlns:a="http://schemas.openxmlformats.org/drawingml/2006/main">
            <a:r>
              <a:t>        "input": "기사 출처·발생일·대상 항공 업무 식별",</a:t>
            </a:r>
          </a:p>
          <a:p xmlns:a="http://schemas.openxmlformats.org/drawingml/2006/main">
            <a:r>
              <a:t>        "process": "원문 기사·번역문·분류체계 판본 관리",</a:t>
            </a:r>
          </a:p>
          <a:p xmlns:a="http://schemas.openxmlformats.org/drawingml/2006/main">
            <a:r>
              <a:t>        "output": "기사 원문"</a:t>
            </a:r>
          </a:p>
          <a:p xmlns:a="http://schemas.openxmlformats.org/drawingml/2006/main">
            <a:r>
              <a:t>      },</a:t>
            </a:r>
          </a:p>
          <a:p xmlns:a="http://schemas.openxmlformats.org/drawingml/2006/main">
            <a:r>
              <a:t>      {</a:t>
            </a:r>
          </a:p>
          <a:p xmlns:a="http://schemas.openxmlformats.org/drawingml/2006/main">
            <a:r>
              <a:t>        "title": "전처리·RAG",</a:t>
            </a:r>
          </a:p>
          <a:p xmlns:a="http://schemas.openxmlformats.org/drawingml/2006/main">
            <a:r>
              <a:t>        "input": "기사 원문",</a:t>
            </a:r>
          </a:p>
          <a:p xmlns:a="http://schemas.openxmlformats.org/drawingml/2006/main">
            <a:r>
              <a:t>        "process": "번역·요약 후 안전 분류체계별 후보 제시",</a:t>
            </a:r>
          </a:p>
          <a:p xmlns:a="http://schemas.openxmlformats.org/drawingml/2006/main">
            <a:r>
              <a:t>        "output": "분석용 문서"</a:t>
            </a:r>
          </a:p>
          <a:p xmlns:a="http://schemas.openxmlformats.org/drawingml/2006/main">
            <a:r>
              <a:t>      },</a:t>
            </a:r>
          </a:p>
          <a:p xmlns:a="http://schemas.openxmlformats.org/drawingml/2006/main">
            <a:r>
              <a:t>      {</a:t>
            </a:r>
          </a:p>
          <a:p xmlns:a="http://schemas.openxmlformats.org/drawingml/2006/main">
            <a:r>
              <a:t>        "title": "요약·위험 분류",</a:t>
            </a:r>
          </a:p>
          <a:p xmlns:a="http://schemas.openxmlformats.org/drawingml/2006/main">
            <a:r>
              <a:t>        "input": "분석용 문서",</a:t>
            </a:r>
          </a:p>
          <a:p xmlns:a="http://schemas.openxmlformats.org/drawingml/2006/main">
            <a:r>
              <a:t>        "process": "원문 사건·시각·위험등급 대조",</a:t>
            </a:r>
          </a:p>
          <a:p xmlns:a="http://schemas.openxmlformats.org/drawingml/2006/main">
            <a:r>
              <a:t>        "output": "요약·위험 태그"</a:t>
            </a:r>
          </a:p>
          <a:p xmlns:a="http://schemas.openxmlformats.org/drawingml/2006/main">
            <a:r>
              <a:t>      },</a:t>
            </a:r>
          </a:p>
          <a:p xmlns:a="http://schemas.openxmlformats.org/drawingml/2006/main">
            <a:r>
              <a:t>      {</a:t>
            </a:r>
          </a:p>
          <a:p xmlns:a="http://schemas.openxmlformats.org/drawingml/2006/main">
            <a:r>
              <a:t>        "title": "분석원 재검토",</a:t>
            </a:r>
          </a:p>
          <a:p xmlns:a="http://schemas.openxmlformats.org/drawingml/2006/main">
            <a:r>
              <a:t>        "input": "요약·위험 태그",</a:t>
            </a:r>
          </a:p>
          <a:p xmlns:a="http://schemas.openxmlformats.org/drawingml/2006/main">
            <a:r>
              <a:t>        "process": "분류 근거와 원문을 분석원에게 전달",</a:t>
            </a:r>
          </a:p>
          <a:p xmlns:a="http://schemas.openxmlformats.org/drawingml/2006/main">
            <a:r>
              <a:t>        "output": "분석원 수정"</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"기사의 사건·번역·분류 근거를 분석원이 검토",</a:t>
            </a:r>
          </a:p>
          <a:p xmlns:a="http://schemas.openxmlformats.org/drawingml/2006/main">
            <a:r>
              <a:t>      "exception": "다른 사건의 혼합·번역 부정문 오류·분류 중복",</a:t>
            </a:r>
          </a:p>
          <a:p xmlns:a="http://schemas.openxmlformats.org/drawingml/2006/main">
            <a:r>
              <a:t>      "evidence": "원문 구간과 번역·분류·분석원 수정 연결표",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"항공안전 분석원",</a:t>
            </a:r>
          </a:p>
          <a:p xmlns:a="http://schemas.openxmlformats.org/drawingml/2006/main">
            <a:r>
              <a:t>          "processing": "기사 출처·발생일·대상 항공 업무 식별",</a:t>
            </a:r>
          </a:p>
          <a:p xmlns:a="http://schemas.openxmlformats.org/drawingml/2006/main">
            <a:r>
              <a:t>          "output": "기사 원문"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"기사·위험 분류체계",</a:t>
            </a:r>
          </a:p>
          <a:p xmlns:a="http://schemas.openxmlformats.org/drawingml/2006/main">
            <a:r>
              <a:t>          "processing": "원문 기사·번역문·분류체계 판본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"기사 원문",</a:t>
            </a:r>
          </a:p>
          <a:p xmlns:a="http://schemas.openxmlformats.org/drawingml/2006/main">
            <a:r>
              <a:t>          "processing": "번역·요약 후 안전 분류체계별 후보 제시",</a:t>
            </a:r>
          </a:p>
          <a:p xmlns:a="http://schemas.openxmlformats.org/drawingml/2006/main">
            <a:r>
              <a:t>          "output": "요약·위험 태그"</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"요약·위험 태그",</a:t>
            </a:r>
          </a:p>
          <a:p xmlns:a="http://schemas.openxmlformats.org/drawingml/2006/main">
            <a:r>
              <a:t>          "processing": "분류 근거와 원문을 분석원에게 전달",</a:t>
            </a:r>
          </a:p>
          <a:p xmlns:a="http://schemas.openxmlformats.org/drawingml/2006/main">
            <a:r>
              <a:t>          "output": "분석원 수정"</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"분석원 수정과 분류 누락의 회귀 평가",</a:t>
            </a:r>
          </a:p>
          <a:p xmlns:a="http://schemas.openxmlformats.org/drawingml/2006/main">
            <a:r>
              <a:t>          "output": "원문 구간과 번역·분류·분석원 수정 연결표"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"분석원 수정과 분류 누락의 회귀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"S-AX21",</a:t>
            </a:r>
          </a:p>
          <a:p xmlns:a="http://schemas.openxmlformats.org/drawingml/2006/main">
            <a:r>
              <a:t>        "title": "항공안전 이슈 분석 AI PoC · 공공AI 사례집 100–101쪽",</a:t>
            </a:r>
          </a:p>
          <a:p xmlns:a="http://schemas.openxmlformats.org/drawingml/2006/main">
            <a:r>
              <a:t>        "url": "https://bigdata.dongjak.go.kr/board/viewArticle?articleNo=954&amp;boardId=4",</a:t>
            </a:r>
          </a:p>
          <a:p xmlns:a="http://schemas.openxmlformats.org/drawingml/2006/main">
            <a:r>
              <a:t>        "published": "2024 기술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"전문 분류체계와 사람의 재검토 결합",</a:t>
            </a:r>
          </a:p>
          <a:p xmlns:a="http://schemas.openxmlformats.org/drawingml/2006/main">
            <a:r>
              <a:t>    "local": "TS 분야별 사고·위험 용어와 책임 직무 매핑",</a:t>
            </a:r>
          </a:p>
          <a:p xmlns:a="http://schemas.openxmlformats.org/drawingml/2006/main">
            <a:r>
              <a:t>    "sourceDetail": null,</a:t>
            </a:r>
          </a:p>
          <a:p xmlns:a="http://schemas.openxmlformats.org/drawingml/2006/main">
            <a:r>
              <a:t>    "narrative": [</a:t>
            </a:r>
          </a:p>
          <a:p xmlns:a="http://schemas.openxmlformats.org/drawingml/2006/main">
            <a:r>
              <a:t>      "항공안전 관련 기사에서 사건과 위험 요인을 찾아 분석원의 검토를 돕는 사례. 다국어 자료의 번역·요약과 정해진 안전 분류체계 적용이 결합된 업무.",</a:t>
            </a:r>
          </a:p>
          <a:p xmlns:a="http://schemas.openxmlformats.org/drawingml/2006/main">
            <a:r>
              <a:t>      "기사 출처·발생일·항공업무를 식별한 뒤 번역문과 원문을 연결하고 위험 태그 후보를 제시하는 재구성. 분석원의 수정값과 판정 근거를 보존해 분류 누락·오역을 회귀 평가.",</a:t>
            </a:r>
          </a:p>
          <a:p xmlns:a="http://schemas.openxmlformats.org/drawingml/2006/main">
            <a:r>
              <a:t>      "TS 적용에서는 기사량 처리보다 사건·시각·위험등급의 정확한 추출과 근거 추적을 우선. 원문 대비 중요 사건 누락, 분류체계 개정, 다국어 전문용어 오역을 독립 시험할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"기사 수집 접점",</a:t>
            </a:r>
          </a:p>
          <a:p xmlns:a="http://schemas.openxmlformats.org/drawingml/2006/main">
            <a:r>
              <a:t>          "layer": "이용 접점",</a:t>
            </a:r>
          </a:p>
          <a:p xmlns:a="http://schemas.openxmlformats.org/drawingml/2006/main">
            <a:r>
              <a:t>          "detail": "항공안전 분석원",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"출처·발생일",</a:t>
            </a:r>
          </a:p>
          <a:p xmlns:a="http://schemas.openxmlformats.org/drawingml/2006/main">
            <a:r>
              <a:t>          "layer": "업무 문맥",</a:t>
            </a:r>
          </a:p>
          <a:p xmlns:a="http://schemas.openxmlformats.org/drawingml/2006/main">
            <a:r>
              <a:t>          "detail": "기사 출처·발생일·대상 항공 업무 식별",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"분류 지식 검색",</a:t>
            </a:r>
          </a:p>
          <a:p xmlns:a="http://schemas.openxmlformats.org/drawingml/2006/main">
            <a:r>
              <a:t>          "layer": "자료 조회",</a:t>
            </a:r>
          </a:p>
          <a:p xmlns:a="http://schemas.openxmlformats.org/drawingml/2006/main">
            <a:r>
              <a:t>          "detail": "기사 원문",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"번역·요약·태깅",</a:t>
            </a:r>
          </a:p>
          <a:p xmlns:a="http://schemas.openxmlformats.org/drawingml/2006/main">
            <a:r>
              <a:t>          "layer": "핵심 처리",</a:t>
            </a:r>
          </a:p>
          <a:p xmlns:a="http://schemas.openxmlformats.org/drawingml/2006/main">
            <a:r>
              <a:t>          "detail": "번역·요약 후 안전 분류체계별 후보 제시",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"사건·등급 대조",</a:t>
            </a:r>
          </a:p>
          <a:p xmlns:a="http://schemas.openxmlformats.org/drawingml/2006/main">
            <a:r>
              <a:t>          "layer": "결과 검증",</a:t>
            </a:r>
          </a:p>
          <a:p xmlns:a="http://schemas.openxmlformats.org/drawingml/2006/main">
            <a:r>
              <a:t>          "detail": "원문 사건·시각·위험등급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"분석원 수정",</a:t>
            </a:r>
          </a:p>
          <a:p xmlns:a="http://schemas.openxmlformats.org/drawingml/2006/main">
            <a:r>
              <a:t>          "layer": "사람 확인",</a:t>
            </a:r>
          </a:p>
          <a:p xmlns:a="http://schemas.openxmlformats.org/drawingml/2006/main">
            <a:r>
              <a:t>          "detail": "기사의 사건·번역·분류 근거를 분석원이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"검토 보고서",</a:t>
            </a:r>
          </a:p>
          <a:p xmlns:a="http://schemas.openxmlformats.org/drawingml/2006/main">
            <a:r>
              <a:t>          "layer": "업무 연결",</a:t>
            </a:r>
          </a:p>
          <a:p xmlns:a="http://schemas.openxmlformats.org/drawingml/2006/main">
            <a:r>
              <a:t>          "detail": "분류 근거와 원문을 분석원에게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"누락 회귀평가",</a:t>
            </a:r>
          </a:p>
          <a:p xmlns:a="http://schemas.openxmlformats.org/drawingml/2006/main">
            <a:r>
              <a:t>          "layer": "운영 관측",</a:t>
            </a:r>
          </a:p>
          <a:p xmlns:a="http://schemas.openxmlformats.org/drawingml/2006/main">
            <a:r>
              <a:t>          "detail": "분석원 수정과 분류 누락의 회귀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"기사·안전 분류",</a:t>
            </a:r>
          </a:p>
          <a:p xmlns:a="http://schemas.openxmlformats.org/drawingml/2006/main">
            <a:r>
              <a:t>          "layer": "데이터 원천",</a:t>
            </a:r>
          </a:p>
          <a:p xmlns:a="http://schemas.openxmlformats.org/drawingml/2006/main">
            <a:r>
              <a:t>          "detail": "기사·위험 분류체계",</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"번역·판본 정리",</a:t>
            </a:r>
          </a:p>
          <a:p xmlns:a="http://schemas.openxmlformats.org/drawingml/2006/main">
            <a:r>
              <a:t>          "layer": "준비·갱신",</a:t>
            </a:r>
          </a:p>
          <a:p xmlns:a="http://schemas.openxmlformats.org/drawingml/2006/main">
            <a:r>
              <a:t>          "detail": "원문 기사·번역문·분류체계 판본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"기사·분류 이력",</a:t>
            </a:r>
          </a:p>
          <a:p xmlns:a="http://schemas.openxmlformats.org/drawingml/2006/main">
            <a:r>
              <a:t>          "layer": "상태·지식 저장",</a:t>
            </a:r>
          </a:p>
          <a:p xmlns:a="http://schemas.openxmlformats.org/drawingml/2006/main">
            <a:r>
              <a:t>          "detail": "원문 구간과 번역·분류·분석원 수정 연결표",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"분류·검토 책임",</a:t>
            </a:r>
          </a:p>
          <a:p xmlns:a="http://schemas.openxmlformats.org/drawingml/2006/main">
            <a:r>
              <a:t>          "layer": "권한·정책",</a:t>
            </a:r>
          </a:p>
          <a:p xmlns:a="http://schemas.openxmlformats.org/drawingml/2006/main">
            <a:r>
              <a:t>          "detail": "다른 사건의 혼합·번역 부정문 오류·분류 중복",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"항공안전 기사 → 전처리·RAG → 요약·위험 분류 → 분석원 재검토"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"기사·위험 분류체계",</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"요약·위험 태그",</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"분석용 문서",</a:t>
            </a:r>
          </a:p>
          <a:p xmlns:a="http://schemas.openxmlformats.org/drawingml/2006/main">
            <a:r>
              <a:t>          "check": "원문 기사·번역문·분류체계 판본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"요약·위험 태그",</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"분석원 수정",</a:t>
            </a:r>
          </a:p>
          <a:p xmlns:a="http://schemas.openxmlformats.org/drawingml/2006/main">
            <a:r>
              <a:t>          "check": "원문 구간과 번역·분류·분석원 수정 연결표"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"항공안전 이슈의 번역·분류·검토 지원 / 기사 수집·위험 분류·분석원 검토",</a:t>
            </a:r>
          </a:p>
          <a:p xmlns:a="http://schemas.openxmlformats.org/drawingml/2006/main">
            <a:r>
              <a:t>        "extension": "TS 분야별 사고·위험 용어와 책임 직무 매핑"</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사건의 혼합·번역 부정문 오류·분류 중복",</a:t>
            </a:r>
          </a:p>
          <a:p xmlns:a="http://schemas.openxmlformats.org/drawingml/2006/main">
            <a:r>
              <a:t>        "hold": "원문 사건·시각·위험등급 대조",</a:t>
            </a:r>
          </a:p>
          <a:p xmlns:a="http://schemas.openxmlformats.org/drawingml/2006/main">
            <a:r>
              <a:t>        "recovery": "분석원 수정과 분류 누락의 회귀 평가",</a:t>
            </a:r>
          </a:p>
          <a:p xmlns:a="http://schemas.openxmlformats.org/drawingml/2006/main">
            <a:r>
              <a:t>        "evidence": "원문 구간과 번역·분류·분석원 수정 연결표"</a:t>
            </a:r>
          </a:p>
          <a:p xmlns:a="http://schemas.openxmlformats.org/drawingml/2006/main">
            <a:r>
              <a:t>      },</a:t>
            </a:r>
          </a:p>
          <a:p xmlns:a="http://schemas.openxmlformats.org/drawingml/2006/main">
            <a:r>
              <a:t>      "data": {</a:t>
            </a:r>
          </a:p>
          <a:p xmlns:a="http://schemas.openxmlformats.org/drawingml/2006/main">
            <a:r>
              <a:t>        "source": "기사·위험 분류체계",</a:t>
            </a:r>
          </a:p>
          <a:p xmlns:a="http://schemas.openxmlformats.org/drawingml/2006/main">
            <a:r>
              <a:t>        "prepare": "원문 기사·번역문·분류체계 판본 관리",</a:t>
            </a:r>
          </a:p>
          <a:p xmlns:a="http://schemas.openxmlformats.org/drawingml/2006/main">
            <a:r>
              <a:t>        "output": "기사 원문",</a:t>
            </a:r>
          </a:p>
          <a:p xmlns:a="http://schemas.openxmlformats.org/drawingml/2006/main">
            <a:r>
              <a:t>        "refresh": "분석원 수정과 분류 누락의 회귀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"AX21",</a:t>
            </a:r>
          </a:p>
          <a:p xmlns:a="http://schemas.openxmlformats.org/drawingml/2006/main">
            <a:r>
              <a:t>    "success": [</a:t>
            </a:r>
          </a:p>
          <a:p xmlns:a="http://schemas.openxmlformats.org/drawingml/2006/main">
            <a:r>
              <a:t>      "분류체계에 맞춘 번역·요약",</a:t>
            </a:r>
          </a:p>
          <a:p xmlns:a="http://schemas.openxmlformats.org/drawingml/2006/main">
            <a:r>
              <a:t>      "안전 분석원의 재검토"</a:t>
            </a:r>
          </a:p>
          <a:p xmlns:a="http://schemas.openxmlformats.org/drawingml/2006/main">
            <a:r>
              <a:t>    ],</a:t>
            </a:r>
          </a:p>
          <a:p xmlns:a="http://schemas.openxmlformats.org/drawingml/2006/main">
            <a:r>
              <a:t>    "risks": [</a:t>
            </a:r>
          </a:p>
          <a:p xmlns:a="http://schemas.openxmlformats.org/drawingml/2006/main">
            <a:r>
              <a:t>      "다국어 용어·위험 분류 오류",</a:t>
            </a:r>
          </a:p>
          <a:p xmlns:a="http://schemas.openxmlformats.org/drawingml/2006/main">
            <a:r>
              <a:t>      "기사 요약에서 중요 사건 누락"</a:t>
            </a:r>
          </a:p>
          <a:p xmlns:a="http://schemas.openxmlformats.org/drawingml/2006/main">
            <a:r>
              <a:t>    ],</a:t>
            </a:r>
          </a:p>
          <a:p xmlns:a="http://schemas.openxmlformats.org/drawingml/2006/main">
            <a:r>
              <a:t>    "architecture": [</a:t>
            </a:r>
          </a:p>
          <a:p xmlns:a="http://schemas.openxmlformats.org/drawingml/2006/main">
            <a:r>
              <a:t>      "항공안전 기사",</a:t>
            </a:r>
          </a:p>
          <a:p xmlns:a="http://schemas.openxmlformats.org/drawingml/2006/main">
            <a:r>
              <a:t>      "전처리·RAG·분류",</a:t>
            </a:r>
          </a:p>
          <a:p xmlns:a="http://schemas.openxmlformats.org/drawingml/2006/main">
            <a:r>
              <a:t>      "기사·위험 분류체계",</a:t>
            </a:r>
          </a:p>
          <a:p xmlns:a="http://schemas.openxmlformats.org/drawingml/2006/main">
            <a:r>
              <a:t>      "항공안전 분석원"</a:t>
            </a:r>
          </a:p>
          <a:p xmlns:a="http://schemas.openxmlformats.org/drawingml/2006/main">
            <a:r>
              <a:t>    ],</a:t>
            </a:r>
          </a:p>
          <a:p xmlns:a="http://schemas.openxmlformats.org/drawingml/2006/main">
            <a:r>
              <a:t>    "transfers": [</a:t>
            </a:r>
          </a:p>
          <a:p xmlns:a="http://schemas.openxmlformats.org/drawingml/2006/main">
            <a:r>
              <a:t>      "기사 원문",</a:t>
            </a:r>
          </a:p>
          <a:p xmlns:a="http://schemas.openxmlformats.org/drawingml/2006/main">
            <a:r>
              <a:t>      "분석용 문서",</a:t>
            </a:r>
          </a:p>
          <a:p xmlns:a="http://schemas.openxmlformats.org/drawingml/2006/main">
            <a:r>
              <a:t>      "요약·위험 태그",</a:t>
            </a:r>
          </a:p>
          <a:p xmlns:a="http://schemas.openxmlformats.org/drawingml/2006/main">
            <a:r>
              <a:t>      "분석원 수정"</a:t>
            </a:r>
          </a:p>
          <a:p xmlns:a="http://schemas.openxmlformats.org/drawingml/2006/main">
            <a:r>
              <a:t>    ],</a:t>
            </a:r>
          </a:p>
          <a:p xmlns:a="http://schemas.openxmlformats.org/drawingml/2006/main">
            <a:r>
              <a:t>    "control": "원문 사건·시각·위험등급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항공안전 이슈 분석 AI PoC · 공공AI 사례집 100–101쪽 https://bigdata.dongjak.go.kr/board/viewArticle?articleNo=954&amp;boardId=4</a:t>
            </a:r>
          </a:p>
          <a:p xmlns:a="http://schemas.openxmlformats.org/drawingml/2006/main">
            <a:r>
              <a:t>홈페이지 https://heen1987-ops.github.io/TS-business-Plan-001/index.html?view=casebook&amp;case=AX21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"AX22",</a:t>
            </a:r>
          </a:p>
          <a:p xmlns:a="http://schemas.openxmlformats.org/drawingml/2006/main">
            <a:r>
              <a:t>    "title": "도시철도 교통안전 GPT",</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"규정·매뉴얼 지식 지원",</a:t>
            </a:r>
          </a:p>
          <a:p xmlns:a="http://schemas.openxmlformats.org/drawingml/2006/main">
            <a:r>
              <a:t>    "period": "2023 실증",</a:t>
            </a:r>
          </a:p>
          <a:p xmlns:a="http://schemas.openxmlformats.org/drawingml/2006/main">
            <a:r>
              <a:t>    "sources": [</a:t>
            </a:r>
          </a:p>
          <a:p xmlns:a="http://schemas.openxmlformats.org/drawingml/2006/main">
            <a:r>
              <a:t>      "S-AX22"</a:t>
            </a:r>
          </a:p>
          <a:p xmlns:a="http://schemas.openxmlformats.org/drawingml/2006/main">
            <a:r>
              <a:t>    ],</a:t>
            </a:r>
          </a:p>
          <a:p xmlns:a="http://schemas.openxmlformats.org/drawingml/2006/main">
            <a:r>
              <a:t>    "keywords": [</a:t>
            </a:r>
          </a:p>
          <a:p xmlns:a="http://schemas.openxmlformats.org/drawingml/2006/main">
            <a:r>
              <a:t>      "규정",</a:t>
            </a:r>
          </a:p>
          <a:p xmlns:a="http://schemas.openxmlformats.org/drawingml/2006/main">
            <a:r>
              <a:t>      "매뉴얼 지식 지원"</a:t>
            </a:r>
          </a:p>
          <a:p xmlns:a="http://schemas.openxmlformats.org/drawingml/2006/main">
            <a:r>
              <a:t>    ],</a:t>
            </a:r>
          </a:p>
          <a:p xmlns:a="http://schemas.openxmlformats.org/drawingml/2006/main">
            <a:r>
              <a:t>    "fact": "안전 법령·사규·매뉴얼을 활용한 질의응답과 최신 근거 제공 서비스 실증",</a:t>
            </a:r>
          </a:p>
          <a:p xmlns:a="http://schemas.openxmlformats.org/drawingml/2006/main">
            <a:r>
              <a:t>    "limit": "실증과 기대효과 소개 · 사고 예방의 인과성과 수치 미제시",</a:t>
            </a:r>
          </a:p>
          <a:p xmlns:a="http://schemas.openxmlformats.org/drawingml/2006/main">
            <a:r>
              <a:t>    "flow": [</a:t>
            </a:r>
          </a:p>
          <a:p xmlns:a="http://schemas.openxmlformats.org/drawingml/2006/main">
            <a:r>
              <a:t>      "법령·사규·매뉴얼",</a:t>
            </a:r>
          </a:p>
          <a:p xmlns:a="http://schemas.openxmlformats.org/drawingml/2006/main">
            <a:r>
              <a:t>      "전처리·검색",</a:t>
            </a:r>
          </a:p>
          <a:p xmlns:a="http://schemas.openxmlformats.org/drawingml/2006/main">
            <a:r>
              <a:t>      "안전 Q&amp;A",</a:t>
            </a:r>
          </a:p>
          <a:p xmlns:a="http://schemas.openxmlformats.org/drawingml/2006/main">
            <a:r>
              <a:t>      "안전 담당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"문서 판본과 안전 직무별 근거 연결",</a:t>
            </a:r>
          </a:p>
          <a:p xmlns:a="http://schemas.openxmlformats.org/drawingml/2006/main">
            <a:r>
              <a:t>    "local": "TS 안전 직무별 규정·검사 기준 지식 분리",</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"규정 효력일·폐지 문서·업무별 평가셋",</a:t>
            </a:r>
          </a:p>
          <a:p xmlns:a="http://schemas.openxmlformats.org/drawingml/2006/main">
            <a:r>
              <a:t>    "test": "동일 질문의 개정 전후 근거·답변 일치 시험",</a:t>
            </a:r>
          </a:p>
          <a:p xmlns:a="http://schemas.openxmlformats.org/drawingml/2006/main">
            <a:r>
              <a:t>    "metric": "근거 정확도 / 검토시간",</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"ST-04"</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"AX22",</a:t>
            </a:r>
          </a:p>
          <a:p xmlns:a="http://schemas.openxmlformats.org/drawingml/2006/main">
            <a:r>
              <a:t>    "canonicalId": "AX22",</a:t>
            </a:r>
          </a:p>
          <a:p xmlns:a="http://schemas.openxmlformats.org/drawingml/2006/main">
            <a:r>
              <a:t>    "purpose": "도시철도 안전 규정의 근거형 질의응답",</a:t>
            </a:r>
          </a:p>
          <a:p xmlns:a="http://schemas.openxmlformats.org/drawingml/2006/main">
            <a:r>
              <a:t>    "users": "안전·현장 운영 담당자",</a:t>
            </a:r>
          </a:p>
          <a:p xmlns:a="http://schemas.openxmlformats.org/drawingml/2006/main">
            <a:r>
              <a:t>    "scope": [</a:t>
            </a:r>
          </a:p>
          <a:p xmlns:a="http://schemas.openxmlformats.org/drawingml/2006/main">
            <a:r>
              <a:t>      "법령·사규",</a:t>
            </a:r>
          </a:p>
          <a:p xmlns:a="http://schemas.openxmlformats.org/drawingml/2006/main">
            <a:r>
              <a:t>      "질의응답",</a:t>
            </a:r>
          </a:p>
          <a:p xmlns:a="http://schemas.openxmlformats.org/drawingml/2006/main">
            <a:r>
              <a:t>      "판본 확인"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"안전 담당 질의",</a:t>
            </a:r>
          </a:p>
          <a:p xmlns:a="http://schemas.openxmlformats.org/drawingml/2006/main">
            <a:r>
              <a:t>        "detail": "업무·설비·적용 시점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"법령·사규 / 질의응답 / 판본 확인",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"문서 검색·Q&amp;A",</a:t>
            </a:r>
          </a:p>
          <a:p xmlns:a="http://schemas.openxmlformats.org/drawingml/2006/main">
            <a:r>
              <a:t>        "detail": "규정 검색과 조문 근거형 응답",</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"안전 검토자",</a:t>
            </a:r>
          </a:p>
          <a:p xmlns:a="http://schemas.openxmlformats.org/drawingml/2006/main">
            <a:r>
              <a:t>        "detail": "현장 담당자가 출처를 확인한 후 적용",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"안전 규정·매뉴얼",</a:t>
            </a:r>
          </a:p>
          <a:p xmlns:a="http://schemas.openxmlformats.org/drawingml/2006/main">
            <a:r>
              <a:t>        "detail": "법령·사규·매뉴얼의 조문·개정일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"개정 후 구버전 인용과 충돌 답변 시험",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"법령·사규·매뉴얼",</a:t>
            </a:r>
          </a:p>
          <a:p xmlns:a="http://schemas.openxmlformats.org/drawingml/2006/main">
            <a:r>
              <a:t>        "input": "업무·설비·적용 시점 확인",</a:t>
            </a:r>
          </a:p>
          <a:p xmlns:a="http://schemas.openxmlformats.org/drawingml/2006/main">
            <a:r>
              <a:t>        "process": "법령·사규·매뉴얼의 조문·개정일 색인",</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"전처리·검색",</a:t>
            </a:r>
          </a:p>
          <a:p xmlns:a="http://schemas.openxmlformats.org/drawingml/2006/main">
            <a:r>
              <a:t>        "input": "질문",</a:t>
            </a:r>
          </a:p>
          <a:p xmlns:a="http://schemas.openxmlformats.org/drawingml/2006/main">
            <a:r>
              <a:t>        "process": "규정 검색과 조문 근거형 응답",</a:t>
            </a:r>
          </a:p>
          <a:p xmlns:a="http://schemas.openxmlformats.org/drawingml/2006/main">
            <a:r>
              <a:t>        "output": "관련 조문"</a:t>
            </a:r>
          </a:p>
          <a:p xmlns:a="http://schemas.openxmlformats.org/drawingml/2006/main">
            <a:r>
              <a:t>      },</a:t>
            </a:r>
          </a:p>
          <a:p xmlns:a="http://schemas.openxmlformats.org/drawingml/2006/main">
            <a:r>
              <a:t>      {</a:t>
            </a:r>
          </a:p>
          <a:p xmlns:a="http://schemas.openxmlformats.org/drawingml/2006/main">
            <a:r>
              <a:t>        "title": "안전 Q&amp;A",</a:t>
            </a:r>
          </a:p>
          <a:p xmlns:a="http://schemas.openxmlformats.org/drawingml/2006/main">
            <a:r>
              <a:t>        "input": "관련 조문",</a:t>
            </a:r>
          </a:p>
          <a:p xmlns:a="http://schemas.openxmlformats.org/drawingml/2006/main">
            <a:r>
              <a:t>        "process": "시행일·조문 위치·예외 조건 검증",</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"title": "안전 담당 검토",</a:t>
            </a:r>
          </a:p>
          <a:p xmlns:a="http://schemas.openxmlformats.org/drawingml/2006/main">
            <a:r>
              <a:t>        "input": "근거 답변",</a:t>
            </a:r>
          </a:p>
          <a:p xmlns:a="http://schemas.openxmlformats.org/drawingml/2006/main">
            <a:r>
              <a:t>        "process": "현장 담당자가 출처를 확인한 후 적용",</a:t>
            </a:r>
          </a:p>
          <a:p xmlns:a="http://schemas.openxmlformats.org/drawingml/2006/main">
            <a:r>
              <a:t>        "output": "현장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"현장 질문에 적용 시점의 안전 규정과 조문 제공",</a:t>
            </a:r>
          </a:p>
          <a:p xmlns:a="http://schemas.openxmlformats.org/drawingml/2006/main">
            <a:r>
              <a:t>      "exception": "폐지 규정·상위 법령과 사규 충돌·근거 부재",</a:t>
            </a:r>
          </a:p>
          <a:p xmlns:a="http://schemas.openxmlformats.org/drawingml/2006/main">
            <a:r>
              <a:t>      "evidence": "판본·조문 정답표와 충돌 경고·응답 보류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"안전·현장 운영 담당자",</a:t>
            </a:r>
          </a:p>
          <a:p xmlns:a="http://schemas.openxmlformats.org/drawingml/2006/main">
            <a:r>
              <a:t>          "processing": "업무·설비·적용 시점 확인",</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"안전 규정·매뉴얼",</a:t>
            </a:r>
          </a:p>
          <a:p xmlns:a="http://schemas.openxmlformats.org/drawingml/2006/main">
            <a:r>
              <a:t>          "processing": "법령·사규·매뉴얼의 조문·개정일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"규정 검색과 조문 근거형 응답",</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답변",</a:t>
            </a:r>
          </a:p>
          <a:p xmlns:a="http://schemas.openxmlformats.org/drawingml/2006/main">
            <a:r>
              <a:t>          "processing": "현장 담당자가 출처를 확인한 후 적용",</a:t>
            </a:r>
          </a:p>
          <a:p xmlns:a="http://schemas.openxmlformats.org/drawingml/2006/main">
            <a:r>
              <a:t>          "output": "현장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"개정 후 구버전 인용과 충돌 답변 시험",</a:t>
            </a:r>
          </a:p>
          <a:p xmlns:a="http://schemas.openxmlformats.org/drawingml/2006/main">
            <a:r>
              <a:t>          "output": "판본·조문 정답표와 충돌 경고·응답 보류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"개정 후 구버전 인용과 충돌 답변 시험",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"S-AX22",</a:t>
            </a:r>
          </a:p>
          <a:p xmlns:a="http://schemas.openxmlformats.org/drawingml/2006/main">
            <a:r>
              <a:t>        "title": "도시철도 교통안전 GPT · 공공AI 사례집 108–109쪽",</a:t>
            </a:r>
          </a:p>
          <a:p xmlns:a="http://schemas.openxmlformats.org/drawingml/2006/main">
            <a:r>
              <a:t>        "url": "https://bigdata.dongjak.go.kr/board/viewArticle?articleNo=954&amp;boardId=4",</a:t>
            </a:r>
          </a:p>
          <a:p xmlns:a="http://schemas.openxmlformats.org/drawingml/2006/main">
            <a:r>
              <a:t>        "published": "2023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"문서 판본과 안전 직무별 근거 연결",</a:t>
            </a:r>
          </a:p>
          <a:p xmlns:a="http://schemas.openxmlformats.org/drawingml/2006/main">
            <a:r>
              <a:t>    "local": "TS 안전 직무별 규정·검사 기준 지식 분리",</a:t>
            </a:r>
          </a:p>
          <a:p xmlns:a="http://schemas.openxmlformats.org/drawingml/2006/main">
            <a:r>
              <a:t>    "sourceDetail": null,</a:t>
            </a:r>
          </a:p>
          <a:p xmlns:a="http://schemas.openxmlformats.org/drawingml/2006/main">
            <a:r>
              <a:t>    "narrative": [</a:t>
            </a:r>
          </a:p>
          <a:p xmlns:a="http://schemas.openxmlformats.org/drawingml/2006/main">
            <a:r>
              <a:t>      "도시철도 안전 업무에서 법령·사규·매뉴얼을 함께 검색하는 질의응답 사례. 자료가 여러 위치와 판본으로 존재할 때 관련 조문을 찾는 작업의 지원.",</a:t>
            </a:r>
          </a:p>
          <a:p xmlns:a="http://schemas.openxmlformats.org/drawingml/2006/main">
            <a:r>
              <a:t>      "질의의 업무·설비·적용 시점을 바탕으로 유효 문서를 검색하고 조문 위치를 포함한 답변을 구성하는 재구성. 현장 담당자가 예외 조건과 시행일을 확인한 후 업무에 참고하는 흐름.",</a:t>
            </a:r>
          </a:p>
          <a:p xmlns:a="http://schemas.openxmlformats.org/drawingml/2006/main">
            <a:r>
              <a:t>      "CCK에서는 검색 답변과 안전 승인 권한을 분리하고 개정 전후 충돌 답변을 시험할 근거. 구판 회수, 조문 위치 일치, 예외 조건 누락과 검토시간을 TS 부서별로 측정할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"안전업무 질의",</a:t>
            </a:r>
          </a:p>
          <a:p xmlns:a="http://schemas.openxmlformats.org/drawingml/2006/main">
            <a:r>
              <a:t>          "layer": "이용 접점",</a:t>
            </a:r>
          </a:p>
          <a:p xmlns:a="http://schemas.openxmlformats.org/drawingml/2006/main">
            <a:r>
              <a:t>          "detail": "안전·현장 운영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"설비·적용시점",</a:t>
            </a:r>
          </a:p>
          <a:p xmlns:a="http://schemas.openxmlformats.org/drawingml/2006/main">
            <a:r>
              <a:t>          "layer": "업무 문맥",</a:t>
            </a:r>
          </a:p>
          <a:p xmlns:a="http://schemas.openxmlformats.org/drawingml/2006/main">
            <a:r>
              <a:t>          "detail": "업무·설비·적용 시점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조문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답변 생성",</a:t>
            </a:r>
          </a:p>
          <a:p xmlns:a="http://schemas.openxmlformats.org/drawingml/2006/main">
            <a:r>
              <a:t>          "layer": "핵심 처리",</a:t>
            </a:r>
          </a:p>
          <a:p xmlns:a="http://schemas.openxmlformats.org/drawingml/2006/main">
            <a:r>
              <a:t>          "detail": "규정 검색과 조문 근거형 응답",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"시행일·예외 대조",</a:t>
            </a:r>
          </a:p>
          <a:p xmlns:a="http://schemas.openxmlformats.org/drawingml/2006/main">
            <a:r>
              <a:t>          "layer": "결과 검증",</a:t>
            </a:r>
          </a:p>
          <a:p xmlns:a="http://schemas.openxmlformats.org/drawingml/2006/main">
            <a:r>
              <a:t>          "detail": "시행일·조문 위치·예외 조건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담당 검토",</a:t>
            </a:r>
          </a:p>
          <a:p xmlns:a="http://schemas.openxmlformats.org/drawingml/2006/main">
            <a:r>
              <a:t>          "layer": "사람 확인",</a:t>
            </a:r>
          </a:p>
          <a:p xmlns:a="http://schemas.openxmlformats.org/drawingml/2006/main">
            <a:r>
              <a:t>          "detail": "현장 질문에 적용 시점의 안전 규정과 조문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"안전업무 참고",</a:t>
            </a:r>
          </a:p>
          <a:p xmlns:a="http://schemas.openxmlformats.org/drawingml/2006/main">
            <a:r>
              <a:t>          "layer": "업무 연결",</a:t>
            </a:r>
          </a:p>
          <a:p xmlns:a="http://schemas.openxmlformats.org/drawingml/2006/main">
            <a:r>
              <a:t>          "detail": "현장 담당자가 출처를 확인한 후 적용",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"구판 인용 검사",</a:t>
            </a:r>
          </a:p>
          <a:p xmlns:a="http://schemas.openxmlformats.org/drawingml/2006/main">
            <a:r>
              <a:t>          "layer": "운영 관측",</a:t>
            </a:r>
          </a:p>
          <a:p xmlns:a="http://schemas.openxmlformats.org/drawingml/2006/main">
            <a:r>
              <a:t>          "detail": "개정 후 구버전 인용과 충돌 답변 시험",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"법령·사규·매뉴얼",</a:t>
            </a:r>
          </a:p>
          <a:p xmlns:a="http://schemas.openxmlformats.org/drawingml/2006/main">
            <a:r>
              <a:t>          "layer": "데이터 원천",</a:t>
            </a:r>
          </a:p>
          <a:p xmlns:a="http://schemas.openxmlformats.org/drawingml/2006/main">
            <a:r>
              <a:t>          "detail": "안전 규정·매뉴얼",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"조문·개정일 색인",</a:t>
            </a:r>
          </a:p>
          <a:p xmlns:a="http://schemas.openxmlformats.org/drawingml/2006/main">
            <a:r>
              <a:t>          "layer": "준비·갱신",</a:t>
            </a:r>
          </a:p>
          <a:p xmlns:a="http://schemas.openxmlformats.org/drawingml/2006/main">
            <a:r>
              <a:t>          "detail": "법령·사규·매뉴얼의 조문·개정일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"유효 문서·답변",</a:t>
            </a:r>
          </a:p>
          <a:p xmlns:a="http://schemas.openxmlformats.org/drawingml/2006/main">
            <a:r>
              <a:t>          "layer": "상태·지식 저장",</a:t>
            </a:r>
          </a:p>
          <a:p xmlns:a="http://schemas.openxmlformats.org/drawingml/2006/main">
            <a:r>
              <a:t>          "detail": "판본·조문 정답표와 충돌 경고·응답 보류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"안전 승인 경계",</a:t>
            </a:r>
          </a:p>
          <a:p xmlns:a="http://schemas.openxmlformats.org/drawingml/2006/main">
            <a:r>
              <a:t>          "layer": "권한·정책",</a:t>
            </a:r>
          </a:p>
          <a:p xmlns:a="http://schemas.openxmlformats.org/drawingml/2006/main">
            <a:r>
              <a:t>          "detail": "폐지 규정·상위 법령과 사규 충돌·근거 부재",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"법령·사규·매뉴얼 → 전처리·검색 → 안전 Q&amp;A → 안전 담당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"안전 규정·매뉴얼",</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"업무·설비·적용 시점 확인",</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"판본·조문 정답표와 충돌 경고·응답 보류 결과",</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조문",</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답변",</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"도시철도 안전 규정의 근거형 질의응답 / 법령·사규·질의응답·판본 확인",</a:t>
            </a:r>
          </a:p>
          <a:p xmlns:a="http://schemas.openxmlformats.org/drawingml/2006/main">
            <a:r>
              <a:t>        "extension": "TS 안전 직무별 규정·검사 기준 지식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규정·상위 법령과 사규 충돌·근거 부재",</a:t>
            </a:r>
          </a:p>
          <a:p xmlns:a="http://schemas.openxmlformats.org/drawingml/2006/main">
            <a:r>
              <a:t>        "hold": "시행일·조문 위치·예외 조건 검증",</a:t>
            </a:r>
          </a:p>
          <a:p xmlns:a="http://schemas.openxmlformats.org/drawingml/2006/main">
            <a:r>
              <a:t>        "recovery": "개정 후 구버전 인용과 충돌 답변 시험",</a:t>
            </a:r>
          </a:p>
          <a:p xmlns:a="http://schemas.openxmlformats.org/drawingml/2006/main">
            <a:r>
              <a:t>        "evidence": "판본·조문 정답표와 충돌 경고·응답 보류 결과"</a:t>
            </a:r>
          </a:p>
          <a:p xmlns:a="http://schemas.openxmlformats.org/drawingml/2006/main">
            <a:r>
              <a:t>      },</a:t>
            </a:r>
          </a:p>
          <a:p xmlns:a="http://schemas.openxmlformats.org/drawingml/2006/main">
            <a:r>
              <a:t>      "data": {</a:t>
            </a:r>
          </a:p>
          <a:p xmlns:a="http://schemas.openxmlformats.org/drawingml/2006/main">
            <a:r>
              <a:t>        "source": "안전 규정·매뉴얼",</a:t>
            </a:r>
          </a:p>
          <a:p xmlns:a="http://schemas.openxmlformats.org/drawingml/2006/main">
            <a:r>
              <a:t>        "prepare": "법령·사규·매뉴얼의 조문·개정일 색인",</a:t>
            </a:r>
          </a:p>
          <a:p xmlns:a="http://schemas.openxmlformats.org/drawingml/2006/main">
            <a:r>
              <a:t>        "output": "질문",</a:t>
            </a:r>
          </a:p>
          <a:p xmlns:a="http://schemas.openxmlformats.org/drawingml/2006/main">
            <a:r>
              <a:t>        "refresh": "개정 후 구버전 인용과 충돌 답변 시험"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"AX22",</a:t>
            </a:r>
          </a:p>
          <a:p xmlns:a="http://schemas.openxmlformats.org/drawingml/2006/main">
            <a:r>
              <a:t>    "success": [</a:t>
            </a:r>
          </a:p>
          <a:p xmlns:a="http://schemas.openxmlformats.org/drawingml/2006/main">
            <a:r>
              <a:t>      "법령·사규·매뉴얼의 통합 검색",</a:t>
            </a:r>
          </a:p>
          <a:p xmlns:a="http://schemas.openxmlformats.org/drawingml/2006/main">
            <a:r>
              <a:t>      "안전 담당자의 근거 검토"</a:t>
            </a:r>
          </a:p>
          <a:p xmlns:a="http://schemas.openxmlformats.org/drawingml/2006/main">
            <a:r>
              <a:t>    ],</a:t>
            </a:r>
          </a:p>
          <a:p xmlns:a="http://schemas.openxmlformats.org/drawingml/2006/main">
            <a:r>
              <a:t>    "risks": [</a:t>
            </a:r>
          </a:p>
          <a:p xmlns:a="http://schemas.openxmlformats.org/drawingml/2006/main">
            <a:r>
              <a:t>      "폐지·개정 전 문서 인용",</a:t>
            </a:r>
          </a:p>
          <a:p xmlns:a="http://schemas.openxmlformats.org/drawingml/2006/main">
            <a:r>
              <a:t>      "질의응답을 안전 승인으로 오인"</a:t>
            </a:r>
          </a:p>
          <a:p xmlns:a="http://schemas.openxmlformats.org/drawingml/2006/main">
            <a:r>
              <a:t>    ],</a:t>
            </a:r>
          </a:p>
          <a:p xmlns:a="http://schemas.openxmlformats.org/drawingml/2006/main">
            <a:r>
              <a:t>    "architecture": [</a:t>
            </a:r>
          </a:p>
          <a:p xmlns:a="http://schemas.openxmlformats.org/drawingml/2006/main">
            <a:r>
              <a:t>      "안전 담당 질의",</a:t>
            </a:r>
          </a:p>
          <a:p xmlns:a="http://schemas.openxmlformats.org/drawingml/2006/main">
            <a:r>
              <a:t>      "문서 검색·Q&amp;A",</a:t>
            </a:r>
          </a:p>
          <a:p xmlns:a="http://schemas.openxmlformats.org/drawingml/2006/main">
            <a:r>
              <a:t>      "안전 규정·매뉴얼",</a:t>
            </a:r>
          </a:p>
          <a:p xmlns:a="http://schemas.openxmlformats.org/drawingml/2006/main">
            <a:r>
              <a:t>      "안전 검토자"</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"관련 조문",</a:t>
            </a:r>
          </a:p>
          <a:p xmlns:a="http://schemas.openxmlformats.org/drawingml/2006/main">
            <a:r>
              <a:t>      "근거 답변",</a:t>
            </a:r>
          </a:p>
          <a:p xmlns:a="http://schemas.openxmlformats.org/drawingml/2006/main">
            <a:r>
              <a:t>      "현장 검토"</a:t>
            </a:r>
          </a:p>
          <a:p xmlns:a="http://schemas.openxmlformats.org/drawingml/2006/main">
            <a:r>
              <a:t>    ],</a:t>
            </a:r>
          </a:p>
          <a:p xmlns:a="http://schemas.openxmlformats.org/drawingml/2006/main">
            <a:r>
              <a:t>    "control": "시행일·조문 위치·예외 조건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도시철도 교통안전 GPT · 공공AI 사례집 108–109쪽 https://bigdata.dongjak.go.kr/board/viewArticle?articleNo=954&amp;boardId=4</a:t>
            </a:r>
          </a:p>
          <a:p xmlns:a="http://schemas.openxmlformats.org/drawingml/2006/main">
            <a:r>
              <a:t>홈페이지 https://heen1987-ops.github.io/TS-business-Plan-001/index.html?view=casebook&amp;case=AX22</a:t>
            </a:r>
          </a:p>
          <a:p xmlns:a="http://schemas.openxmlformats.org/drawingml/2006/main">
            <a:r>
              <a:t>한계: 실증과 기대효과 소개 · 사고 예방의 인과성과 수치 미제시</a:t>
            </a:r>
          </a:p>
          <a:p xmlns:a="http://schemas.openxmlformats.org/drawingml/2006/main">
            <a:r>
              <a:t>실패 위험: 폐지·개정 전 문서 인용 / 질의응답을 안전 승인으로 오인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"AX22",</a:t>
            </a:r>
          </a:p>
          <a:p xmlns:a="http://schemas.openxmlformats.org/drawingml/2006/main">
            <a:r>
              <a:t>    "title": "도시철도 교통안전 GPT",</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"규정·매뉴얼 지식 지원",</a:t>
            </a:r>
          </a:p>
          <a:p xmlns:a="http://schemas.openxmlformats.org/drawingml/2006/main">
            <a:r>
              <a:t>    "period": "2023 실증",</a:t>
            </a:r>
          </a:p>
          <a:p xmlns:a="http://schemas.openxmlformats.org/drawingml/2006/main">
            <a:r>
              <a:t>    "sources": [</a:t>
            </a:r>
          </a:p>
          <a:p xmlns:a="http://schemas.openxmlformats.org/drawingml/2006/main">
            <a:r>
              <a:t>      "S-AX22"</a:t>
            </a:r>
          </a:p>
          <a:p xmlns:a="http://schemas.openxmlformats.org/drawingml/2006/main">
            <a:r>
              <a:t>    ],</a:t>
            </a:r>
          </a:p>
          <a:p xmlns:a="http://schemas.openxmlformats.org/drawingml/2006/main">
            <a:r>
              <a:t>    "keywords": [</a:t>
            </a:r>
          </a:p>
          <a:p xmlns:a="http://schemas.openxmlformats.org/drawingml/2006/main">
            <a:r>
              <a:t>      "규정",</a:t>
            </a:r>
          </a:p>
          <a:p xmlns:a="http://schemas.openxmlformats.org/drawingml/2006/main">
            <a:r>
              <a:t>      "매뉴얼 지식 지원"</a:t>
            </a:r>
          </a:p>
          <a:p xmlns:a="http://schemas.openxmlformats.org/drawingml/2006/main">
            <a:r>
              <a:t>    ],</a:t>
            </a:r>
          </a:p>
          <a:p xmlns:a="http://schemas.openxmlformats.org/drawingml/2006/main">
            <a:r>
              <a:t>    "fact": "안전 법령·사규·매뉴얼을 활용한 질의응답과 최신 근거 제공 서비스 실증",</a:t>
            </a:r>
          </a:p>
          <a:p xmlns:a="http://schemas.openxmlformats.org/drawingml/2006/main">
            <a:r>
              <a:t>    "limit": "실증과 기대효과 소개 · 사고 예방의 인과성과 수치 미제시",</a:t>
            </a:r>
          </a:p>
          <a:p xmlns:a="http://schemas.openxmlformats.org/drawingml/2006/main">
            <a:r>
              <a:t>    "flow": [</a:t>
            </a:r>
          </a:p>
          <a:p xmlns:a="http://schemas.openxmlformats.org/drawingml/2006/main">
            <a:r>
              <a:t>      "법령·사규·매뉴얼",</a:t>
            </a:r>
          </a:p>
          <a:p xmlns:a="http://schemas.openxmlformats.org/drawingml/2006/main">
            <a:r>
              <a:t>      "전처리·검색",</a:t>
            </a:r>
          </a:p>
          <a:p xmlns:a="http://schemas.openxmlformats.org/drawingml/2006/main">
            <a:r>
              <a:t>      "안전 Q&amp;A",</a:t>
            </a:r>
          </a:p>
          <a:p xmlns:a="http://schemas.openxmlformats.org/drawingml/2006/main">
            <a:r>
              <a:t>      "안전 담당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"문서 판본과 안전 직무별 근거 연결",</a:t>
            </a:r>
          </a:p>
          <a:p xmlns:a="http://schemas.openxmlformats.org/drawingml/2006/main">
            <a:r>
              <a:t>    "local": "TS 안전 직무별 규정·검사 기준 지식 분리",</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"규정 효력일·폐지 문서·업무별 평가셋",</a:t>
            </a:r>
          </a:p>
          <a:p xmlns:a="http://schemas.openxmlformats.org/drawingml/2006/main">
            <a:r>
              <a:t>    "test": "동일 질문의 개정 전후 근거·답변 일치 시험",</a:t>
            </a:r>
          </a:p>
          <a:p xmlns:a="http://schemas.openxmlformats.org/drawingml/2006/main">
            <a:r>
              <a:t>    "metric": "근거 정확도 / 검토시간",</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"ST-04"</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"AX22",</a:t>
            </a:r>
          </a:p>
          <a:p xmlns:a="http://schemas.openxmlformats.org/drawingml/2006/main">
            <a:r>
              <a:t>    "canonicalId": "AX22",</a:t>
            </a:r>
          </a:p>
          <a:p xmlns:a="http://schemas.openxmlformats.org/drawingml/2006/main">
            <a:r>
              <a:t>    "purpose": "도시철도 안전 규정의 근거형 질의응답",</a:t>
            </a:r>
          </a:p>
          <a:p xmlns:a="http://schemas.openxmlformats.org/drawingml/2006/main">
            <a:r>
              <a:t>    "users": "안전·현장 운영 담당자",</a:t>
            </a:r>
          </a:p>
          <a:p xmlns:a="http://schemas.openxmlformats.org/drawingml/2006/main">
            <a:r>
              <a:t>    "scope": [</a:t>
            </a:r>
          </a:p>
          <a:p xmlns:a="http://schemas.openxmlformats.org/drawingml/2006/main">
            <a:r>
              <a:t>      "법령·사규",</a:t>
            </a:r>
          </a:p>
          <a:p xmlns:a="http://schemas.openxmlformats.org/drawingml/2006/main">
            <a:r>
              <a:t>      "질의응답",</a:t>
            </a:r>
          </a:p>
          <a:p xmlns:a="http://schemas.openxmlformats.org/drawingml/2006/main">
            <a:r>
              <a:t>      "판본 확인"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"안전 담당 질의",</a:t>
            </a:r>
          </a:p>
          <a:p xmlns:a="http://schemas.openxmlformats.org/drawingml/2006/main">
            <a:r>
              <a:t>        "detail": "업무·설비·적용 시점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"법령·사규 / 질의응답 / 판본 확인",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"문서 검색·Q&amp;A",</a:t>
            </a:r>
          </a:p>
          <a:p xmlns:a="http://schemas.openxmlformats.org/drawingml/2006/main">
            <a:r>
              <a:t>        "detail": "규정 검색과 조문 근거형 응답",</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"안전 검토자",</a:t>
            </a:r>
          </a:p>
          <a:p xmlns:a="http://schemas.openxmlformats.org/drawingml/2006/main">
            <a:r>
              <a:t>        "detail": "현장 담당자가 출처를 확인한 후 적용",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"안전 규정·매뉴얼",</a:t>
            </a:r>
          </a:p>
          <a:p xmlns:a="http://schemas.openxmlformats.org/drawingml/2006/main">
            <a:r>
              <a:t>        "detail": "법령·사규·매뉴얼의 조문·개정일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"개정 후 구버전 인용과 충돌 답변 시험",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"법령·사규·매뉴얼",</a:t>
            </a:r>
          </a:p>
          <a:p xmlns:a="http://schemas.openxmlformats.org/drawingml/2006/main">
            <a:r>
              <a:t>        "input": "업무·설비·적용 시점 확인",</a:t>
            </a:r>
          </a:p>
          <a:p xmlns:a="http://schemas.openxmlformats.org/drawingml/2006/main">
            <a:r>
              <a:t>        "process": "법령·사규·매뉴얼의 조문·개정일 색인",</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"전처리·검색",</a:t>
            </a:r>
          </a:p>
          <a:p xmlns:a="http://schemas.openxmlformats.org/drawingml/2006/main">
            <a:r>
              <a:t>        "input": "질문",</a:t>
            </a:r>
          </a:p>
          <a:p xmlns:a="http://schemas.openxmlformats.org/drawingml/2006/main">
            <a:r>
              <a:t>        "process": "규정 검색과 조문 근거형 응답",</a:t>
            </a:r>
          </a:p>
          <a:p xmlns:a="http://schemas.openxmlformats.org/drawingml/2006/main">
            <a:r>
              <a:t>        "output": "관련 조문"</a:t>
            </a:r>
          </a:p>
          <a:p xmlns:a="http://schemas.openxmlformats.org/drawingml/2006/main">
            <a:r>
              <a:t>      },</a:t>
            </a:r>
          </a:p>
          <a:p xmlns:a="http://schemas.openxmlformats.org/drawingml/2006/main">
            <a:r>
              <a:t>      {</a:t>
            </a:r>
          </a:p>
          <a:p xmlns:a="http://schemas.openxmlformats.org/drawingml/2006/main">
            <a:r>
              <a:t>        "title": "안전 Q&amp;A",</a:t>
            </a:r>
          </a:p>
          <a:p xmlns:a="http://schemas.openxmlformats.org/drawingml/2006/main">
            <a:r>
              <a:t>        "input": "관련 조문",</a:t>
            </a:r>
          </a:p>
          <a:p xmlns:a="http://schemas.openxmlformats.org/drawingml/2006/main">
            <a:r>
              <a:t>        "process": "시행일·조문 위치·예외 조건 검증",</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"title": "안전 담당 검토",</a:t>
            </a:r>
          </a:p>
          <a:p xmlns:a="http://schemas.openxmlformats.org/drawingml/2006/main">
            <a:r>
              <a:t>        "input": "근거 답변",</a:t>
            </a:r>
          </a:p>
          <a:p xmlns:a="http://schemas.openxmlformats.org/drawingml/2006/main">
            <a:r>
              <a:t>        "process": "현장 담당자가 출처를 확인한 후 적용",</a:t>
            </a:r>
          </a:p>
          <a:p xmlns:a="http://schemas.openxmlformats.org/drawingml/2006/main">
            <a:r>
              <a:t>        "output": "현장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"현장 질문에 적용 시점의 안전 규정과 조문 제공",</a:t>
            </a:r>
          </a:p>
          <a:p xmlns:a="http://schemas.openxmlformats.org/drawingml/2006/main">
            <a:r>
              <a:t>      "exception": "폐지 규정·상위 법령과 사규 충돌·근거 부재",</a:t>
            </a:r>
          </a:p>
          <a:p xmlns:a="http://schemas.openxmlformats.org/drawingml/2006/main">
            <a:r>
              <a:t>      "evidence": "판본·조문 정답표와 충돌 경고·응답 보류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"안전·현장 운영 담당자",</a:t>
            </a:r>
          </a:p>
          <a:p xmlns:a="http://schemas.openxmlformats.org/drawingml/2006/main">
            <a:r>
              <a:t>          "processing": "업무·설비·적용 시점 확인",</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"안전 규정·매뉴얼",</a:t>
            </a:r>
          </a:p>
          <a:p xmlns:a="http://schemas.openxmlformats.org/drawingml/2006/main">
            <a:r>
              <a:t>          "processing": "법령·사규·매뉴얼의 조문·개정일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"규정 검색과 조문 근거형 응답",</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답변",</a:t>
            </a:r>
          </a:p>
          <a:p xmlns:a="http://schemas.openxmlformats.org/drawingml/2006/main">
            <a:r>
              <a:t>          "processing": "현장 담당자가 출처를 확인한 후 적용",</a:t>
            </a:r>
          </a:p>
          <a:p xmlns:a="http://schemas.openxmlformats.org/drawingml/2006/main">
            <a:r>
              <a:t>          "output": "현장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"개정 후 구버전 인용과 충돌 답변 시험",</a:t>
            </a:r>
          </a:p>
          <a:p xmlns:a="http://schemas.openxmlformats.org/drawingml/2006/main">
            <a:r>
              <a:t>          "output": "판본·조문 정답표와 충돌 경고·응답 보류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"개정 후 구버전 인용과 충돌 답변 시험",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"S-AX22",</a:t>
            </a:r>
          </a:p>
          <a:p xmlns:a="http://schemas.openxmlformats.org/drawingml/2006/main">
            <a:r>
              <a:t>        "title": "도시철도 교통안전 GPT · 공공AI 사례집 108–109쪽",</a:t>
            </a:r>
          </a:p>
          <a:p xmlns:a="http://schemas.openxmlformats.org/drawingml/2006/main">
            <a:r>
              <a:t>        "url": "https://bigdata.dongjak.go.kr/board/viewArticle?articleNo=954&amp;boardId=4",</a:t>
            </a:r>
          </a:p>
          <a:p xmlns:a="http://schemas.openxmlformats.org/drawingml/2006/main">
            <a:r>
              <a:t>        "published": "2023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"문서 판본과 안전 직무별 근거 연결",</a:t>
            </a:r>
          </a:p>
          <a:p xmlns:a="http://schemas.openxmlformats.org/drawingml/2006/main">
            <a:r>
              <a:t>    "local": "TS 안전 직무별 규정·검사 기준 지식 분리",</a:t>
            </a:r>
          </a:p>
          <a:p xmlns:a="http://schemas.openxmlformats.org/drawingml/2006/main">
            <a:r>
              <a:t>    "sourceDetail": null,</a:t>
            </a:r>
          </a:p>
          <a:p xmlns:a="http://schemas.openxmlformats.org/drawingml/2006/main">
            <a:r>
              <a:t>    "narrative": [</a:t>
            </a:r>
          </a:p>
          <a:p xmlns:a="http://schemas.openxmlformats.org/drawingml/2006/main">
            <a:r>
              <a:t>      "도시철도 안전 업무에서 법령·사규·매뉴얼을 함께 검색하는 질의응답 사례. 자료가 여러 위치와 판본으로 존재할 때 관련 조문을 찾는 작업의 지원.",</a:t>
            </a:r>
          </a:p>
          <a:p xmlns:a="http://schemas.openxmlformats.org/drawingml/2006/main">
            <a:r>
              <a:t>      "질의의 업무·설비·적용 시점을 바탕으로 유효 문서를 검색하고 조문 위치를 포함한 답변을 구성하는 재구성. 현장 담당자가 예외 조건과 시행일을 확인한 후 업무에 참고하는 흐름.",</a:t>
            </a:r>
          </a:p>
          <a:p xmlns:a="http://schemas.openxmlformats.org/drawingml/2006/main">
            <a:r>
              <a:t>      "CCK에서는 검색 답변과 안전 승인 권한을 분리하고 개정 전후 충돌 답변을 시험할 근거. 구판 회수, 조문 위치 일치, 예외 조건 누락과 검토시간을 TS 부서별로 측정할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"안전업무 질의",</a:t>
            </a:r>
          </a:p>
          <a:p xmlns:a="http://schemas.openxmlformats.org/drawingml/2006/main">
            <a:r>
              <a:t>          "layer": "이용 접점",</a:t>
            </a:r>
          </a:p>
          <a:p xmlns:a="http://schemas.openxmlformats.org/drawingml/2006/main">
            <a:r>
              <a:t>          "detail": "안전·현장 운영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"설비·적용시점",</a:t>
            </a:r>
          </a:p>
          <a:p xmlns:a="http://schemas.openxmlformats.org/drawingml/2006/main">
            <a:r>
              <a:t>          "layer": "업무 문맥",</a:t>
            </a:r>
          </a:p>
          <a:p xmlns:a="http://schemas.openxmlformats.org/drawingml/2006/main">
            <a:r>
              <a:t>          "detail": "업무·설비·적용 시점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조문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답변 생성",</a:t>
            </a:r>
          </a:p>
          <a:p xmlns:a="http://schemas.openxmlformats.org/drawingml/2006/main">
            <a:r>
              <a:t>          "layer": "핵심 처리",</a:t>
            </a:r>
          </a:p>
          <a:p xmlns:a="http://schemas.openxmlformats.org/drawingml/2006/main">
            <a:r>
              <a:t>          "detail": "규정 검색과 조문 근거형 응답",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"시행일·예외 대조",</a:t>
            </a:r>
          </a:p>
          <a:p xmlns:a="http://schemas.openxmlformats.org/drawingml/2006/main">
            <a:r>
              <a:t>          "layer": "결과 검증",</a:t>
            </a:r>
          </a:p>
          <a:p xmlns:a="http://schemas.openxmlformats.org/drawingml/2006/main">
            <a:r>
              <a:t>          "detail": "시행일·조문 위치·예외 조건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담당 검토",</a:t>
            </a:r>
          </a:p>
          <a:p xmlns:a="http://schemas.openxmlformats.org/drawingml/2006/main">
            <a:r>
              <a:t>          "layer": "사람 확인",</a:t>
            </a:r>
          </a:p>
          <a:p xmlns:a="http://schemas.openxmlformats.org/drawingml/2006/main">
            <a:r>
              <a:t>          "detail": "현장 질문에 적용 시점의 안전 규정과 조문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"안전업무 참고",</a:t>
            </a:r>
          </a:p>
          <a:p xmlns:a="http://schemas.openxmlformats.org/drawingml/2006/main">
            <a:r>
              <a:t>          "layer": "업무 연결",</a:t>
            </a:r>
          </a:p>
          <a:p xmlns:a="http://schemas.openxmlformats.org/drawingml/2006/main">
            <a:r>
              <a:t>          "detail": "현장 담당자가 출처를 확인한 후 적용",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"구판 인용 검사",</a:t>
            </a:r>
          </a:p>
          <a:p xmlns:a="http://schemas.openxmlformats.org/drawingml/2006/main">
            <a:r>
              <a:t>          "layer": "운영 관측",</a:t>
            </a:r>
          </a:p>
          <a:p xmlns:a="http://schemas.openxmlformats.org/drawingml/2006/main">
            <a:r>
              <a:t>          "detail": "개정 후 구버전 인용과 충돌 답변 시험",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"법령·사규·매뉴얼",</a:t>
            </a:r>
          </a:p>
          <a:p xmlns:a="http://schemas.openxmlformats.org/drawingml/2006/main">
            <a:r>
              <a:t>          "layer": "데이터 원천",</a:t>
            </a:r>
          </a:p>
          <a:p xmlns:a="http://schemas.openxmlformats.org/drawingml/2006/main">
            <a:r>
              <a:t>          "detail": "안전 규정·매뉴얼",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"조문·개정일 색인",</a:t>
            </a:r>
          </a:p>
          <a:p xmlns:a="http://schemas.openxmlformats.org/drawingml/2006/main">
            <a:r>
              <a:t>          "layer": "준비·갱신",</a:t>
            </a:r>
          </a:p>
          <a:p xmlns:a="http://schemas.openxmlformats.org/drawingml/2006/main">
            <a:r>
              <a:t>          "detail": "법령·사규·매뉴얼의 조문·개정일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"유효 문서·답변",</a:t>
            </a:r>
          </a:p>
          <a:p xmlns:a="http://schemas.openxmlformats.org/drawingml/2006/main">
            <a:r>
              <a:t>          "layer": "상태·지식 저장",</a:t>
            </a:r>
          </a:p>
          <a:p xmlns:a="http://schemas.openxmlformats.org/drawingml/2006/main">
            <a:r>
              <a:t>          "detail": "판본·조문 정답표와 충돌 경고·응답 보류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"안전 승인 경계",</a:t>
            </a:r>
          </a:p>
          <a:p xmlns:a="http://schemas.openxmlformats.org/drawingml/2006/main">
            <a:r>
              <a:t>          "layer": "권한·정책",</a:t>
            </a:r>
          </a:p>
          <a:p xmlns:a="http://schemas.openxmlformats.org/drawingml/2006/main">
            <a:r>
              <a:t>          "detail": "폐지 규정·상위 법령과 사규 충돌·근거 부재",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"법령·사규·매뉴얼 → 전처리·검색 → 안전 Q&amp;A → 안전 담당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"안전 규정·매뉴얼",</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"업무·설비·적용 시점 확인",</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"판본·조문 정답표와 충돌 경고·응답 보류 결과",</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조문",</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답변",</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"도시철도 안전 규정의 근거형 질의응답 / 법령·사규·질의응답·판본 확인",</a:t>
            </a:r>
          </a:p>
          <a:p xmlns:a="http://schemas.openxmlformats.org/drawingml/2006/main">
            <a:r>
              <a:t>        "extension": "TS 안전 직무별 규정·검사 기준 지식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규정·상위 법령과 사규 충돌·근거 부재",</a:t>
            </a:r>
          </a:p>
          <a:p xmlns:a="http://schemas.openxmlformats.org/drawingml/2006/main">
            <a:r>
              <a:t>        "hold": "시행일·조문 위치·예외 조건 검증",</a:t>
            </a:r>
          </a:p>
          <a:p xmlns:a="http://schemas.openxmlformats.org/drawingml/2006/main">
            <a:r>
              <a:t>        "recovery": "개정 후 구버전 인용과 충돌 답변 시험",</a:t>
            </a:r>
          </a:p>
          <a:p xmlns:a="http://schemas.openxmlformats.org/drawingml/2006/main">
            <a:r>
              <a:t>        "evidence": "판본·조문 정답표와 충돌 경고·응답 보류 결과"</a:t>
            </a:r>
          </a:p>
          <a:p xmlns:a="http://schemas.openxmlformats.org/drawingml/2006/main">
            <a:r>
              <a:t>      },</a:t>
            </a:r>
          </a:p>
          <a:p xmlns:a="http://schemas.openxmlformats.org/drawingml/2006/main">
            <a:r>
              <a:t>      "data": {</a:t>
            </a:r>
          </a:p>
          <a:p xmlns:a="http://schemas.openxmlformats.org/drawingml/2006/main">
            <a:r>
              <a:t>        "source": "안전 규정·매뉴얼",</a:t>
            </a:r>
          </a:p>
          <a:p xmlns:a="http://schemas.openxmlformats.org/drawingml/2006/main">
            <a:r>
              <a:t>        "prepare": "법령·사규·매뉴얼의 조문·개정일 색인",</a:t>
            </a:r>
          </a:p>
          <a:p xmlns:a="http://schemas.openxmlformats.org/drawingml/2006/main">
            <a:r>
              <a:t>        "output": "질문",</a:t>
            </a:r>
          </a:p>
          <a:p xmlns:a="http://schemas.openxmlformats.org/drawingml/2006/main">
            <a:r>
              <a:t>        "refresh": "개정 후 구버전 인용과 충돌 답변 시험"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"AX22",</a:t>
            </a:r>
          </a:p>
          <a:p xmlns:a="http://schemas.openxmlformats.org/drawingml/2006/main">
            <a:r>
              <a:t>    "success": [</a:t>
            </a:r>
          </a:p>
          <a:p xmlns:a="http://schemas.openxmlformats.org/drawingml/2006/main">
            <a:r>
              <a:t>      "법령·사규·매뉴얼의 통합 검색",</a:t>
            </a:r>
          </a:p>
          <a:p xmlns:a="http://schemas.openxmlformats.org/drawingml/2006/main">
            <a:r>
              <a:t>      "안전 담당자의 근거 검토"</a:t>
            </a:r>
          </a:p>
          <a:p xmlns:a="http://schemas.openxmlformats.org/drawingml/2006/main">
            <a:r>
              <a:t>    ],</a:t>
            </a:r>
          </a:p>
          <a:p xmlns:a="http://schemas.openxmlformats.org/drawingml/2006/main">
            <a:r>
              <a:t>    "risks": [</a:t>
            </a:r>
          </a:p>
          <a:p xmlns:a="http://schemas.openxmlformats.org/drawingml/2006/main">
            <a:r>
              <a:t>      "폐지·개정 전 문서 인용",</a:t>
            </a:r>
          </a:p>
          <a:p xmlns:a="http://schemas.openxmlformats.org/drawingml/2006/main">
            <a:r>
              <a:t>      "질의응답을 안전 승인으로 오인"</a:t>
            </a:r>
          </a:p>
          <a:p xmlns:a="http://schemas.openxmlformats.org/drawingml/2006/main">
            <a:r>
              <a:t>    ],</a:t>
            </a:r>
          </a:p>
          <a:p xmlns:a="http://schemas.openxmlformats.org/drawingml/2006/main">
            <a:r>
              <a:t>    "architecture": [</a:t>
            </a:r>
          </a:p>
          <a:p xmlns:a="http://schemas.openxmlformats.org/drawingml/2006/main">
            <a:r>
              <a:t>      "안전 담당 질의",</a:t>
            </a:r>
          </a:p>
          <a:p xmlns:a="http://schemas.openxmlformats.org/drawingml/2006/main">
            <a:r>
              <a:t>      "문서 검색·Q&amp;A",</a:t>
            </a:r>
          </a:p>
          <a:p xmlns:a="http://schemas.openxmlformats.org/drawingml/2006/main">
            <a:r>
              <a:t>      "안전 규정·매뉴얼",</a:t>
            </a:r>
          </a:p>
          <a:p xmlns:a="http://schemas.openxmlformats.org/drawingml/2006/main">
            <a:r>
              <a:t>      "안전 검토자"</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"관련 조문",</a:t>
            </a:r>
          </a:p>
          <a:p xmlns:a="http://schemas.openxmlformats.org/drawingml/2006/main">
            <a:r>
              <a:t>      "근거 답변",</a:t>
            </a:r>
          </a:p>
          <a:p xmlns:a="http://schemas.openxmlformats.org/drawingml/2006/main">
            <a:r>
              <a:t>      "현장 검토"</a:t>
            </a:r>
          </a:p>
          <a:p xmlns:a="http://schemas.openxmlformats.org/drawingml/2006/main">
            <a:r>
              <a:t>    ],</a:t>
            </a:r>
          </a:p>
          <a:p xmlns:a="http://schemas.openxmlformats.org/drawingml/2006/main">
            <a:r>
              <a:t>    "control": "시행일·조문 위치·예외 조건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도시철도 교통안전 GPT · 공공AI 사례집 108–109쪽 https://bigdata.dongjak.go.kr/board/viewArticle?articleNo=954&amp;boardId=4</a:t>
            </a:r>
          </a:p>
          <a:p xmlns:a="http://schemas.openxmlformats.org/drawingml/2006/main">
            <a:r>
              <a:t>홈페이지 https://heen1987-ops.github.io/TS-business-Plan-001/index.html?view=casebook&amp;case=AX22</a:t>
            </a:r>
          </a:p>
          <a:p xmlns:a="http://schemas.openxmlformats.org/drawingml/2006/main">
            <a:r>
              <a:t>성과 대조</a:t>
            </a:r>
          </a:p>
          <a:p xmlns:a="http://schemas.openxmlformats.org/drawingml/2006/main">
            <a:r>
              <a:t>{</a:t>
            </a:r>
          </a:p>
          <a:p xmlns:a="http://schemas.openxmlformats.org/drawingml/2006/main">
            <a:r>
              <a:t>  "caseId": "AX22",</a:t>
            </a:r>
          </a:p>
          <a:p xmlns:a="http://schemas.openxmlformats.org/drawingml/2006/main">
            <a:r>
              <a:t>  "asIs": "도시철도 안전 담당자가 법령·사규·매뉴얼의 최신 조항을 개별 검색",</a:t>
            </a:r>
          </a:p>
          <a:p xmlns:a="http://schemas.openxmlformats.org/drawingml/2006/main">
            <a:r>
              <a:t>  "toBe": "선정 문서를 검색해 근거가 연결된 안전 질의응답 제공",</a:t>
            </a:r>
          </a:p>
          <a:p xmlns:a="http://schemas.openxmlformats.org/drawingml/2006/main">
            <a:r>
              <a:t>  "expectedEffect": "규정 탐색시간 감소와 업무 판단의 근거 일치도 향상",</a:t>
            </a:r>
          </a:p>
          <a:p xmlns:a="http://schemas.openxmlformats.org/drawingml/2006/main">
            <a:r>
              <a:t>  "observed": "공공 사례집이 안전 법령·사규·매뉴얼 기반 GPT 서비스 실증을 소개",</a:t>
            </a:r>
          </a:p>
          <a:p xmlns:a="http://schemas.openxmlformats.org/drawingml/2006/main">
            <a:r>
              <a:t>  "verdict": "성과 미검증",</a:t>
            </a:r>
          </a:p>
          <a:p xmlns:a="http://schemas.openxmlformats.org/drawingml/2006/main">
            <a:r>
              <a:t>  "verdictReason": "실증 범위는 확인되나 최신 판본 정답률·현장 사용률·사고 감소 실측 부재",</a:t>
            </a:r>
          </a:p>
          <a:p xmlns:a="http://schemas.openxmlformats.org/drawingml/2006/main">
            <a:r>
              <a:t>  "limits": "선정 문서의 실증 사례. 안전 판단 자동 승인으로 해석 불가",</a:t>
            </a:r>
          </a:p>
          <a:p xmlns:a="http://schemas.openxmlformats.org/drawingml/2006/main">
            <a:r>
              <a:t>  "evidenceStage": "정부 실증 사례집",</a:t>
            </a:r>
          </a:p>
          <a:p xmlns:a="http://schemas.openxmlformats.org/drawingml/2006/main">
            <a:r>
              <a:t>  "sourceUrl": "https://bigdata.dongjak.go.kr/board/viewArticle?articleNo=954&amp;boardId=4"</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"AX22",</a:t>
            </a:r>
          </a:p>
          <a:p xmlns:a="http://schemas.openxmlformats.org/drawingml/2006/main">
            <a:r>
              <a:t>    "title": "도시철도 교통안전 GPT",</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"규정·매뉴얼 지식 지원",</a:t>
            </a:r>
          </a:p>
          <a:p xmlns:a="http://schemas.openxmlformats.org/drawingml/2006/main">
            <a:r>
              <a:t>    "period": "2023 실증",</a:t>
            </a:r>
          </a:p>
          <a:p xmlns:a="http://schemas.openxmlformats.org/drawingml/2006/main">
            <a:r>
              <a:t>    "sources": [</a:t>
            </a:r>
          </a:p>
          <a:p xmlns:a="http://schemas.openxmlformats.org/drawingml/2006/main">
            <a:r>
              <a:t>      "S-AX22"</a:t>
            </a:r>
          </a:p>
          <a:p xmlns:a="http://schemas.openxmlformats.org/drawingml/2006/main">
            <a:r>
              <a:t>    ],</a:t>
            </a:r>
          </a:p>
          <a:p xmlns:a="http://schemas.openxmlformats.org/drawingml/2006/main">
            <a:r>
              <a:t>    "keywords": [</a:t>
            </a:r>
          </a:p>
          <a:p xmlns:a="http://schemas.openxmlformats.org/drawingml/2006/main">
            <a:r>
              <a:t>      "규정",</a:t>
            </a:r>
          </a:p>
          <a:p xmlns:a="http://schemas.openxmlformats.org/drawingml/2006/main">
            <a:r>
              <a:t>      "매뉴얼 지식 지원"</a:t>
            </a:r>
          </a:p>
          <a:p xmlns:a="http://schemas.openxmlformats.org/drawingml/2006/main">
            <a:r>
              <a:t>    ],</a:t>
            </a:r>
          </a:p>
          <a:p xmlns:a="http://schemas.openxmlformats.org/drawingml/2006/main">
            <a:r>
              <a:t>    "fact": "안전 법령·사규·매뉴얼을 활용한 질의응답과 최신 근거 제공 서비스 실증",</a:t>
            </a:r>
          </a:p>
          <a:p xmlns:a="http://schemas.openxmlformats.org/drawingml/2006/main">
            <a:r>
              <a:t>    "limit": "실증과 기대효과 소개 · 사고 예방의 인과성과 수치 미제시",</a:t>
            </a:r>
          </a:p>
          <a:p xmlns:a="http://schemas.openxmlformats.org/drawingml/2006/main">
            <a:r>
              <a:t>    "flow": [</a:t>
            </a:r>
          </a:p>
          <a:p xmlns:a="http://schemas.openxmlformats.org/drawingml/2006/main">
            <a:r>
              <a:t>      "법령·사규·매뉴얼",</a:t>
            </a:r>
          </a:p>
          <a:p xmlns:a="http://schemas.openxmlformats.org/drawingml/2006/main">
            <a:r>
              <a:t>      "전처리·검색",</a:t>
            </a:r>
          </a:p>
          <a:p xmlns:a="http://schemas.openxmlformats.org/drawingml/2006/main">
            <a:r>
              <a:t>      "안전 Q&amp;A",</a:t>
            </a:r>
          </a:p>
          <a:p xmlns:a="http://schemas.openxmlformats.org/drawingml/2006/main">
            <a:r>
              <a:t>      "안전 담당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"문서 판본과 안전 직무별 근거 연결",</a:t>
            </a:r>
          </a:p>
          <a:p xmlns:a="http://schemas.openxmlformats.org/drawingml/2006/main">
            <a:r>
              <a:t>    "local": "TS 안전 직무별 규정·검사 기준 지식 분리",</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"규정 효력일·폐지 문서·업무별 평가셋",</a:t>
            </a:r>
          </a:p>
          <a:p xmlns:a="http://schemas.openxmlformats.org/drawingml/2006/main">
            <a:r>
              <a:t>    "test": "동일 질문의 개정 전후 근거·답변 일치 시험",</a:t>
            </a:r>
          </a:p>
          <a:p xmlns:a="http://schemas.openxmlformats.org/drawingml/2006/main">
            <a:r>
              <a:t>    "metric": "근거 정확도 / 검토시간",</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"ST-04"</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"AX22",</a:t>
            </a:r>
          </a:p>
          <a:p xmlns:a="http://schemas.openxmlformats.org/drawingml/2006/main">
            <a:r>
              <a:t>    "canonicalId": "AX22",</a:t>
            </a:r>
          </a:p>
          <a:p xmlns:a="http://schemas.openxmlformats.org/drawingml/2006/main">
            <a:r>
              <a:t>    "purpose": "도시철도 안전 규정의 근거형 질의응답",</a:t>
            </a:r>
          </a:p>
          <a:p xmlns:a="http://schemas.openxmlformats.org/drawingml/2006/main">
            <a:r>
              <a:t>    "users": "안전·현장 운영 담당자",</a:t>
            </a:r>
          </a:p>
          <a:p xmlns:a="http://schemas.openxmlformats.org/drawingml/2006/main">
            <a:r>
              <a:t>    "scope": [</a:t>
            </a:r>
          </a:p>
          <a:p xmlns:a="http://schemas.openxmlformats.org/drawingml/2006/main">
            <a:r>
              <a:t>      "법령·사규",</a:t>
            </a:r>
          </a:p>
          <a:p xmlns:a="http://schemas.openxmlformats.org/drawingml/2006/main">
            <a:r>
              <a:t>      "질의응답",</a:t>
            </a:r>
          </a:p>
          <a:p xmlns:a="http://schemas.openxmlformats.org/drawingml/2006/main">
            <a:r>
              <a:t>      "판본 확인"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"안전 담당 질의",</a:t>
            </a:r>
          </a:p>
          <a:p xmlns:a="http://schemas.openxmlformats.org/drawingml/2006/main">
            <a:r>
              <a:t>        "detail": "업무·설비·적용 시점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"법령·사규 / 질의응답 / 판본 확인",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"문서 검색·Q&amp;A",</a:t>
            </a:r>
          </a:p>
          <a:p xmlns:a="http://schemas.openxmlformats.org/drawingml/2006/main">
            <a:r>
              <a:t>        "detail": "규정 검색과 조문 근거형 응답",</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"안전 검토자",</a:t>
            </a:r>
          </a:p>
          <a:p xmlns:a="http://schemas.openxmlformats.org/drawingml/2006/main">
            <a:r>
              <a:t>        "detail": "현장 담당자가 출처를 확인한 후 적용",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"안전 규정·매뉴얼",</a:t>
            </a:r>
          </a:p>
          <a:p xmlns:a="http://schemas.openxmlformats.org/drawingml/2006/main">
            <a:r>
              <a:t>        "detail": "법령·사규·매뉴얼의 조문·개정일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"개정 후 구버전 인용과 충돌 답변 시험",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"법령·사규·매뉴얼",</a:t>
            </a:r>
          </a:p>
          <a:p xmlns:a="http://schemas.openxmlformats.org/drawingml/2006/main">
            <a:r>
              <a:t>        "input": "업무·설비·적용 시점 확인",</a:t>
            </a:r>
          </a:p>
          <a:p xmlns:a="http://schemas.openxmlformats.org/drawingml/2006/main">
            <a:r>
              <a:t>        "process": "법령·사규·매뉴얼의 조문·개정일 색인",</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"전처리·검색",</a:t>
            </a:r>
          </a:p>
          <a:p xmlns:a="http://schemas.openxmlformats.org/drawingml/2006/main">
            <a:r>
              <a:t>        "input": "질문",</a:t>
            </a:r>
          </a:p>
          <a:p xmlns:a="http://schemas.openxmlformats.org/drawingml/2006/main">
            <a:r>
              <a:t>        "process": "규정 검색과 조문 근거형 응답",</a:t>
            </a:r>
          </a:p>
          <a:p xmlns:a="http://schemas.openxmlformats.org/drawingml/2006/main">
            <a:r>
              <a:t>        "output": "관련 조문"</a:t>
            </a:r>
          </a:p>
          <a:p xmlns:a="http://schemas.openxmlformats.org/drawingml/2006/main">
            <a:r>
              <a:t>      },</a:t>
            </a:r>
          </a:p>
          <a:p xmlns:a="http://schemas.openxmlformats.org/drawingml/2006/main">
            <a:r>
              <a:t>      {</a:t>
            </a:r>
          </a:p>
          <a:p xmlns:a="http://schemas.openxmlformats.org/drawingml/2006/main">
            <a:r>
              <a:t>        "title": "안전 Q&amp;A",</a:t>
            </a:r>
          </a:p>
          <a:p xmlns:a="http://schemas.openxmlformats.org/drawingml/2006/main">
            <a:r>
              <a:t>        "input": "관련 조문",</a:t>
            </a:r>
          </a:p>
          <a:p xmlns:a="http://schemas.openxmlformats.org/drawingml/2006/main">
            <a:r>
              <a:t>        "process": "시행일·조문 위치·예외 조건 검증",</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"title": "안전 담당 검토",</a:t>
            </a:r>
          </a:p>
          <a:p xmlns:a="http://schemas.openxmlformats.org/drawingml/2006/main">
            <a:r>
              <a:t>        "input": "근거 답변",</a:t>
            </a:r>
          </a:p>
          <a:p xmlns:a="http://schemas.openxmlformats.org/drawingml/2006/main">
            <a:r>
              <a:t>        "process": "현장 담당자가 출처를 확인한 후 적용",</a:t>
            </a:r>
          </a:p>
          <a:p xmlns:a="http://schemas.openxmlformats.org/drawingml/2006/main">
            <a:r>
              <a:t>        "output": "현장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"현장 질문에 적용 시점의 안전 규정과 조문 제공",</a:t>
            </a:r>
          </a:p>
          <a:p xmlns:a="http://schemas.openxmlformats.org/drawingml/2006/main">
            <a:r>
              <a:t>      "exception": "폐지 규정·상위 법령과 사규 충돌·근거 부재",</a:t>
            </a:r>
          </a:p>
          <a:p xmlns:a="http://schemas.openxmlformats.org/drawingml/2006/main">
            <a:r>
              <a:t>      "evidence": "판본·조문 정답표와 충돌 경고·응답 보류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"안전·현장 운영 담당자",</a:t>
            </a:r>
          </a:p>
          <a:p xmlns:a="http://schemas.openxmlformats.org/drawingml/2006/main">
            <a:r>
              <a:t>          "processing": "업무·설비·적용 시점 확인",</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"안전 규정·매뉴얼",</a:t>
            </a:r>
          </a:p>
          <a:p xmlns:a="http://schemas.openxmlformats.org/drawingml/2006/main">
            <a:r>
              <a:t>          "processing": "법령·사규·매뉴얼의 조문·개정일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"규정 검색과 조문 근거형 응답",</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답변",</a:t>
            </a:r>
          </a:p>
          <a:p xmlns:a="http://schemas.openxmlformats.org/drawingml/2006/main">
            <a:r>
              <a:t>          "processing": "현장 담당자가 출처를 확인한 후 적용",</a:t>
            </a:r>
          </a:p>
          <a:p xmlns:a="http://schemas.openxmlformats.org/drawingml/2006/main">
            <a:r>
              <a:t>          "output": "현장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"개정 후 구버전 인용과 충돌 답변 시험",</a:t>
            </a:r>
          </a:p>
          <a:p xmlns:a="http://schemas.openxmlformats.org/drawingml/2006/main">
            <a:r>
              <a:t>          "output": "판본·조문 정답표와 충돌 경고·응답 보류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"개정 후 구버전 인용과 충돌 답변 시험",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"S-AX22",</a:t>
            </a:r>
          </a:p>
          <a:p xmlns:a="http://schemas.openxmlformats.org/drawingml/2006/main">
            <a:r>
              <a:t>        "title": "도시철도 교통안전 GPT · 공공AI 사례집 108–109쪽",</a:t>
            </a:r>
          </a:p>
          <a:p xmlns:a="http://schemas.openxmlformats.org/drawingml/2006/main">
            <a:r>
              <a:t>        "url": "https://bigdata.dongjak.go.kr/board/viewArticle?articleNo=954&amp;boardId=4",</a:t>
            </a:r>
          </a:p>
          <a:p xmlns:a="http://schemas.openxmlformats.org/drawingml/2006/main">
            <a:r>
              <a:t>        "published": "2023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"문서 판본과 안전 직무별 근거 연결",</a:t>
            </a:r>
          </a:p>
          <a:p xmlns:a="http://schemas.openxmlformats.org/drawingml/2006/main">
            <a:r>
              <a:t>    "local": "TS 안전 직무별 규정·검사 기준 지식 분리",</a:t>
            </a:r>
          </a:p>
          <a:p xmlns:a="http://schemas.openxmlformats.org/drawingml/2006/main">
            <a:r>
              <a:t>    "sourceDetail": null,</a:t>
            </a:r>
          </a:p>
          <a:p xmlns:a="http://schemas.openxmlformats.org/drawingml/2006/main">
            <a:r>
              <a:t>    "narrative": [</a:t>
            </a:r>
          </a:p>
          <a:p xmlns:a="http://schemas.openxmlformats.org/drawingml/2006/main">
            <a:r>
              <a:t>      "도시철도 안전 업무에서 법령·사규·매뉴얼을 함께 검색하는 질의응답 사례. 자료가 여러 위치와 판본으로 존재할 때 관련 조문을 찾는 작업의 지원.",</a:t>
            </a:r>
          </a:p>
          <a:p xmlns:a="http://schemas.openxmlformats.org/drawingml/2006/main">
            <a:r>
              <a:t>      "질의의 업무·설비·적용 시점을 바탕으로 유효 문서를 검색하고 조문 위치를 포함한 답변을 구성하는 재구성. 현장 담당자가 예외 조건과 시행일을 확인한 후 업무에 참고하는 흐름.",</a:t>
            </a:r>
          </a:p>
          <a:p xmlns:a="http://schemas.openxmlformats.org/drawingml/2006/main">
            <a:r>
              <a:t>      "CCK에서는 검색 답변과 안전 승인 권한을 분리하고 개정 전후 충돌 답변을 시험할 근거. 구판 회수, 조문 위치 일치, 예외 조건 누락과 검토시간을 TS 부서별로 측정할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"안전업무 질의",</a:t>
            </a:r>
          </a:p>
          <a:p xmlns:a="http://schemas.openxmlformats.org/drawingml/2006/main">
            <a:r>
              <a:t>          "layer": "이용 접점",</a:t>
            </a:r>
          </a:p>
          <a:p xmlns:a="http://schemas.openxmlformats.org/drawingml/2006/main">
            <a:r>
              <a:t>          "detail": "안전·현장 운영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"설비·적용시점",</a:t>
            </a:r>
          </a:p>
          <a:p xmlns:a="http://schemas.openxmlformats.org/drawingml/2006/main">
            <a:r>
              <a:t>          "layer": "업무 문맥",</a:t>
            </a:r>
          </a:p>
          <a:p xmlns:a="http://schemas.openxmlformats.org/drawingml/2006/main">
            <a:r>
              <a:t>          "detail": "업무·설비·적용 시점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조문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답변 생성",</a:t>
            </a:r>
          </a:p>
          <a:p xmlns:a="http://schemas.openxmlformats.org/drawingml/2006/main">
            <a:r>
              <a:t>          "layer": "핵심 처리",</a:t>
            </a:r>
          </a:p>
          <a:p xmlns:a="http://schemas.openxmlformats.org/drawingml/2006/main">
            <a:r>
              <a:t>          "detail": "규정 검색과 조문 근거형 응답",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"시행일·예외 대조",</a:t>
            </a:r>
          </a:p>
          <a:p xmlns:a="http://schemas.openxmlformats.org/drawingml/2006/main">
            <a:r>
              <a:t>          "layer": "결과 검증",</a:t>
            </a:r>
          </a:p>
          <a:p xmlns:a="http://schemas.openxmlformats.org/drawingml/2006/main">
            <a:r>
              <a:t>          "detail": "시행일·조문 위치·예외 조건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담당 검토",</a:t>
            </a:r>
          </a:p>
          <a:p xmlns:a="http://schemas.openxmlformats.org/drawingml/2006/main">
            <a:r>
              <a:t>          "layer": "사람 확인",</a:t>
            </a:r>
          </a:p>
          <a:p xmlns:a="http://schemas.openxmlformats.org/drawingml/2006/main">
            <a:r>
              <a:t>          "detail": "현장 질문에 적용 시점의 안전 규정과 조문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"안전업무 참고",</a:t>
            </a:r>
          </a:p>
          <a:p xmlns:a="http://schemas.openxmlformats.org/drawingml/2006/main">
            <a:r>
              <a:t>          "layer": "업무 연결",</a:t>
            </a:r>
          </a:p>
          <a:p xmlns:a="http://schemas.openxmlformats.org/drawingml/2006/main">
            <a:r>
              <a:t>          "detail": "현장 담당자가 출처를 확인한 후 적용",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"구판 인용 검사",</a:t>
            </a:r>
          </a:p>
          <a:p xmlns:a="http://schemas.openxmlformats.org/drawingml/2006/main">
            <a:r>
              <a:t>          "layer": "운영 관측",</a:t>
            </a:r>
          </a:p>
          <a:p xmlns:a="http://schemas.openxmlformats.org/drawingml/2006/main">
            <a:r>
              <a:t>          "detail": "개정 후 구버전 인용과 충돌 답변 시험",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"법령·사규·매뉴얼",</a:t>
            </a:r>
          </a:p>
          <a:p xmlns:a="http://schemas.openxmlformats.org/drawingml/2006/main">
            <a:r>
              <a:t>          "layer": "데이터 원천",</a:t>
            </a:r>
          </a:p>
          <a:p xmlns:a="http://schemas.openxmlformats.org/drawingml/2006/main">
            <a:r>
              <a:t>          "detail": "안전 규정·매뉴얼",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"조문·개정일 색인",</a:t>
            </a:r>
          </a:p>
          <a:p xmlns:a="http://schemas.openxmlformats.org/drawingml/2006/main">
            <a:r>
              <a:t>          "layer": "준비·갱신",</a:t>
            </a:r>
          </a:p>
          <a:p xmlns:a="http://schemas.openxmlformats.org/drawingml/2006/main">
            <a:r>
              <a:t>          "detail": "법령·사규·매뉴얼의 조문·개정일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"유효 문서·답변",</a:t>
            </a:r>
          </a:p>
          <a:p xmlns:a="http://schemas.openxmlformats.org/drawingml/2006/main">
            <a:r>
              <a:t>          "layer": "상태·지식 저장",</a:t>
            </a:r>
          </a:p>
          <a:p xmlns:a="http://schemas.openxmlformats.org/drawingml/2006/main">
            <a:r>
              <a:t>          "detail": "판본·조문 정답표와 충돌 경고·응답 보류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"안전 승인 경계",</a:t>
            </a:r>
          </a:p>
          <a:p xmlns:a="http://schemas.openxmlformats.org/drawingml/2006/main">
            <a:r>
              <a:t>          "layer": "권한·정책",</a:t>
            </a:r>
          </a:p>
          <a:p xmlns:a="http://schemas.openxmlformats.org/drawingml/2006/main">
            <a:r>
              <a:t>          "detail": "폐지 규정·상위 법령과 사규 충돌·근거 부재",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"법령·사규·매뉴얼 → 전처리·검색 → 안전 Q&amp;A → 안전 담당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"안전 규정·매뉴얼",</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"업무·설비·적용 시점 확인",</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"판본·조문 정답표와 충돌 경고·응답 보류 결과",</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조문",</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답변",</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"도시철도 안전 규정의 근거형 질의응답 / 법령·사규·질의응답·판본 확인",</a:t>
            </a:r>
          </a:p>
          <a:p xmlns:a="http://schemas.openxmlformats.org/drawingml/2006/main">
            <a:r>
              <a:t>        "extension": "TS 안전 직무별 규정·검사 기준 지식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규정·상위 법령과 사규 충돌·근거 부재",</a:t>
            </a:r>
          </a:p>
          <a:p xmlns:a="http://schemas.openxmlformats.org/drawingml/2006/main">
            <a:r>
              <a:t>        "hold": "시행일·조문 위치·예외 조건 검증",</a:t>
            </a:r>
          </a:p>
          <a:p xmlns:a="http://schemas.openxmlformats.org/drawingml/2006/main">
            <a:r>
              <a:t>        "recovery": "개정 후 구버전 인용과 충돌 답변 시험",</a:t>
            </a:r>
          </a:p>
          <a:p xmlns:a="http://schemas.openxmlformats.org/drawingml/2006/main">
            <a:r>
              <a:t>        "evidence": "판본·조문 정답표와 충돌 경고·응답 보류 결과"</a:t>
            </a:r>
          </a:p>
          <a:p xmlns:a="http://schemas.openxmlformats.org/drawingml/2006/main">
            <a:r>
              <a:t>      },</a:t>
            </a:r>
          </a:p>
          <a:p xmlns:a="http://schemas.openxmlformats.org/drawingml/2006/main">
            <a:r>
              <a:t>      "data": {</a:t>
            </a:r>
          </a:p>
          <a:p xmlns:a="http://schemas.openxmlformats.org/drawingml/2006/main">
            <a:r>
              <a:t>        "source": "안전 규정·매뉴얼",</a:t>
            </a:r>
          </a:p>
          <a:p xmlns:a="http://schemas.openxmlformats.org/drawingml/2006/main">
            <a:r>
              <a:t>        "prepare": "법령·사규·매뉴얼의 조문·개정일 색인",</a:t>
            </a:r>
          </a:p>
          <a:p xmlns:a="http://schemas.openxmlformats.org/drawingml/2006/main">
            <a:r>
              <a:t>        "output": "질문",</a:t>
            </a:r>
          </a:p>
          <a:p xmlns:a="http://schemas.openxmlformats.org/drawingml/2006/main">
            <a:r>
              <a:t>        "refresh": "개정 후 구버전 인용과 충돌 답변 시험"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"AX22",</a:t>
            </a:r>
          </a:p>
          <a:p xmlns:a="http://schemas.openxmlformats.org/drawingml/2006/main">
            <a:r>
              <a:t>    "success": [</a:t>
            </a:r>
          </a:p>
          <a:p xmlns:a="http://schemas.openxmlformats.org/drawingml/2006/main">
            <a:r>
              <a:t>      "법령·사규·매뉴얼의 통합 검색",</a:t>
            </a:r>
          </a:p>
          <a:p xmlns:a="http://schemas.openxmlformats.org/drawingml/2006/main">
            <a:r>
              <a:t>      "안전 담당자의 근거 검토"</a:t>
            </a:r>
          </a:p>
          <a:p xmlns:a="http://schemas.openxmlformats.org/drawingml/2006/main">
            <a:r>
              <a:t>    ],</a:t>
            </a:r>
          </a:p>
          <a:p xmlns:a="http://schemas.openxmlformats.org/drawingml/2006/main">
            <a:r>
              <a:t>    "risks": [</a:t>
            </a:r>
          </a:p>
          <a:p xmlns:a="http://schemas.openxmlformats.org/drawingml/2006/main">
            <a:r>
              <a:t>      "폐지·개정 전 문서 인용",</a:t>
            </a:r>
          </a:p>
          <a:p xmlns:a="http://schemas.openxmlformats.org/drawingml/2006/main">
            <a:r>
              <a:t>      "질의응답을 안전 승인으로 오인"</a:t>
            </a:r>
          </a:p>
          <a:p xmlns:a="http://schemas.openxmlformats.org/drawingml/2006/main">
            <a:r>
              <a:t>    ],</a:t>
            </a:r>
          </a:p>
          <a:p xmlns:a="http://schemas.openxmlformats.org/drawingml/2006/main">
            <a:r>
              <a:t>    "architecture": [</a:t>
            </a:r>
          </a:p>
          <a:p xmlns:a="http://schemas.openxmlformats.org/drawingml/2006/main">
            <a:r>
              <a:t>      "안전 담당 질의",</a:t>
            </a:r>
          </a:p>
          <a:p xmlns:a="http://schemas.openxmlformats.org/drawingml/2006/main">
            <a:r>
              <a:t>      "문서 검색·Q&amp;A",</a:t>
            </a:r>
          </a:p>
          <a:p xmlns:a="http://schemas.openxmlformats.org/drawingml/2006/main">
            <a:r>
              <a:t>      "안전 규정·매뉴얼",</a:t>
            </a:r>
          </a:p>
          <a:p xmlns:a="http://schemas.openxmlformats.org/drawingml/2006/main">
            <a:r>
              <a:t>      "안전 검토자"</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"관련 조문",</a:t>
            </a:r>
          </a:p>
          <a:p xmlns:a="http://schemas.openxmlformats.org/drawingml/2006/main">
            <a:r>
              <a:t>      "근거 답변",</a:t>
            </a:r>
          </a:p>
          <a:p xmlns:a="http://schemas.openxmlformats.org/drawingml/2006/main">
            <a:r>
              <a:t>      "현장 검토"</a:t>
            </a:r>
          </a:p>
          <a:p xmlns:a="http://schemas.openxmlformats.org/drawingml/2006/main">
            <a:r>
              <a:t>    ],</a:t>
            </a:r>
          </a:p>
          <a:p xmlns:a="http://schemas.openxmlformats.org/drawingml/2006/main">
            <a:r>
              <a:t>    "control": "시행일·조문 위치·예외 조건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도시철도 교통안전 GPT · 공공AI 사례집 108–109쪽 https://bigdata.dongjak.go.kr/board/viewArticle?articleNo=954&amp;boardId=4</a:t>
            </a:r>
          </a:p>
          <a:p xmlns:a="http://schemas.openxmlformats.org/drawingml/2006/main">
            <a:r>
              <a:t>홈페이지 https://heen1987-ops.github.io/TS-business-Plan-001/index.html?view=casebook&amp;case=AX22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"AX22",</a:t>
            </a:r>
          </a:p>
          <a:p xmlns:a="http://schemas.openxmlformats.org/drawingml/2006/main">
            <a:r>
              <a:t>    "title": "도시철도 교통안전 GPT",</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"규정·매뉴얼 지식 지원",</a:t>
            </a:r>
          </a:p>
          <a:p xmlns:a="http://schemas.openxmlformats.org/drawingml/2006/main">
            <a:r>
              <a:t>    "period": "2023 실증",</a:t>
            </a:r>
          </a:p>
          <a:p xmlns:a="http://schemas.openxmlformats.org/drawingml/2006/main">
            <a:r>
              <a:t>    "sources": [</a:t>
            </a:r>
          </a:p>
          <a:p xmlns:a="http://schemas.openxmlformats.org/drawingml/2006/main">
            <a:r>
              <a:t>      "S-AX22"</a:t>
            </a:r>
          </a:p>
          <a:p xmlns:a="http://schemas.openxmlformats.org/drawingml/2006/main">
            <a:r>
              <a:t>    ],</a:t>
            </a:r>
          </a:p>
          <a:p xmlns:a="http://schemas.openxmlformats.org/drawingml/2006/main">
            <a:r>
              <a:t>    "keywords": [</a:t>
            </a:r>
          </a:p>
          <a:p xmlns:a="http://schemas.openxmlformats.org/drawingml/2006/main">
            <a:r>
              <a:t>      "규정",</a:t>
            </a:r>
          </a:p>
          <a:p xmlns:a="http://schemas.openxmlformats.org/drawingml/2006/main">
            <a:r>
              <a:t>      "매뉴얼 지식 지원"</a:t>
            </a:r>
          </a:p>
          <a:p xmlns:a="http://schemas.openxmlformats.org/drawingml/2006/main">
            <a:r>
              <a:t>    ],</a:t>
            </a:r>
          </a:p>
          <a:p xmlns:a="http://schemas.openxmlformats.org/drawingml/2006/main">
            <a:r>
              <a:t>    "fact": "안전 법령·사규·매뉴얼을 활용한 질의응답과 최신 근거 제공 서비스 실증",</a:t>
            </a:r>
          </a:p>
          <a:p xmlns:a="http://schemas.openxmlformats.org/drawingml/2006/main">
            <a:r>
              <a:t>    "limit": "실증과 기대효과 소개 · 사고 예방의 인과성과 수치 미제시",</a:t>
            </a:r>
          </a:p>
          <a:p xmlns:a="http://schemas.openxmlformats.org/drawingml/2006/main">
            <a:r>
              <a:t>    "flow": [</a:t>
            </a:r>
          </a:p>
          <a:p xmlns:a="http://schemas.openxmlformats.org/drawingml/2006/main">
            <a:r>
              <a:t>      "법령·사규·매뉴얼",</a:t>
            </a:r>
          </a:p>
          <a:p xmlns:a="http://schemas.openxmlformats.org/drawingml/2006/main">
            <a:r>
              <a:t>      "전처리·검색",</a:t>
            </a:r>
          </a:p>
          <a:p xmlns:a="http://schemas.openxmlformats.org/drawingml/2006/main">
            <a:r>
              <a:t>      "안전 Q&amp;A",</a:t>
            </a:r>
          </a:p>
          <a:p xmlns:a="http://schemas.openxmlformats.org/drawingml/2006/main">
            <a:r>
              <a:t>      "안전 담당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"문서 판본과 안전 직무별 근거 연결",</a:t>
            </a:r>
          </a:p>
          <a:p xmlns:a="http://schemas.openxmlformats.org/drawingml/2006/main">
            <a:r>
              <a:t>    "local": "TS 안전 직무별 규정·검사 기준 지식 분리",</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"규정 효력일·폐지 문서·업무별 평가셋",</a:t>
            </a:r>
          </a:p>
          <a:p xmlns:a="http://schemas.openxmlformats.org/drawingml/2006/main">
            <a:r>
              <a:t>    "test": "동일 질문의 개정 전후 근거·답변 일치 시험",</a:t>
            </a:r>
          </a:p>
          <a:p xmlns:a="http://schemas.openxmlformats.org/drawingml/2006/main">
            <a:r>
              <a:t>    "metric": "근거 정확도 / 검토시간",</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"ST-04"</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"AX22",</a:t>
            </a:r>
          </a:p>
          <a:p xmlns:a="http://schemas.openxmlformats.org/drawingml/2006/main">
            <a:r>
              <a:t>    "canonicalId": "AX22",</a:t>
            </a:r>
          </a:p>
          <a:p xmlns:a="http://schemas.openxmlformats.org/drawingml/2006/main">
            <a:r>
              <a:t>    "purpose": "도시철도 안전 규정의 근거형 질의응답",</a:t>
            </a:r>
          </a:p>
          <a:p xmlns:a="http://schemas.openxmlformats.org/drawingml/2006/main">
            <a:r>
              <a:t>    "users": "안전·현장 운영 담당자",</a:t>
            </a:r>
          </a:p>
          <a:p xmlns:a="http://schemas.openxmlformats.org/drawingml/2006/main">
            <a:r>
              <a:t>    "scope": [</a:t>
            </a:r>
          </a:p>
          <a:p xmlns:a="http://schemas.openxmlformats.org/drawingml/2006/main">
            <a:r>
              <a:t>      "법령·사규",</a:t>
            </a:r>
          </a:p>
          <a:p xmlns:a="http://schemas.openxmlformats.org/drawingml/2006/main">
            <a:r>
              <a:t>      "질의응답",</a:t>
            </a:r>
          </a:p>
          <a:p xmlns:a="http://schemas.openxmlformats.org/drawingml/2006/main">
            <a:r>
              <a:t>      "판본 확인"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"안전 담당 질의",</a:t>
            </a:r>
          </a:p>
          <a:p xmlns:a="http://schemas.openxmlformats.org/drawingml/2006/main">
            <a:r>
              <a:t>        "detail": "업무·설비·적용 시점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"법령·사규 / 질의응답 / 판본 확인",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"문서 검색·Q&amp;A",</a:t>
            </a:r>
          </a:p>
          <a:p xmlns:a="http://schemas.openxmlformats.org/drawingml/2006/main">
            <a:r>
              <a:t>        "detail": "규정 검색과 조문 근거형 응답",</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"안전 검토자",</a:t>
            </a:r>
          </a:p>
          <a:p xmlns:a="http://schemas.openxmlformats.org/drawingml/2006/main">
            <a:r>
              <a:t>        "detail": "현장 담당자가 출처를 확인한 후 적용",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"안전 규정·매뉴얼",</a:t>
            </a:r>
          </a:p>
          <a:p xmlns:a="http://schemas.openxmlformats.org/drawingml/2006/main">
            <a:r>
              <a:t>        "detail": "법령·사규·매뉴얼의 조문·개정일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"개정 후 구버전 인용과 충돌 답변 시험",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"법령·사규·매뉴얼",</a:t>
            </a:r>
          </a:p>
          <a:p xmlns:a="http://schemas.openxmlformats.org/drawingml/2006/main">
            <a:r>
              <a:t>        "input": "업무·설비·적용 시점 확인",</a:t>
            </a:r>
          </a:p>
          <a:p xmlns:a="http://schemas.openxmlformats.org/drawingml/2006/main">
            <a:r>
              <a:t>        "process": "법령·사규·매뉴얼의 조문·개정일 색인",</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"전처리·검색",</a:t>
            </a:r>
          </a:p>
          <a:p xmlns:a="http://schemas.openxmlformats.org/drawingml/2006/main">
            <a:r>
              <a:t>        "input": "질문",</a:t>
            </a:r>
          </a:p>
          <a:p xmlns:a="http://schemas.openxmlformats.org/drawingml/2006/main">
            <a:r>
              <a:t>        "process": "규정 검색과 조문 근거형 응답",</a:t>
            </a:r>
          </a:p>
          <a:p xmlns:a="http://schemas.openxmlformats.org/drawingml/2006/main">
            <a:r>
              <a:t>        "output": "관련 조문"</a:t>
            </a:r>
          </a:p>
          <a:p xmlns:a="http://schemas.openxmlformats.org/drawingml/2006/main">
            <a:r>
              <a:t>      },</a:t>
            </a:r>
          </a:p>
          <a:p xmlns:a="http://schemas.openxmlformats.org/drawingml/2006/main">
            <a:r>
              <a:t>      {</a:t>
            </a:r>
          </a:p>
          <a:p xmlns:a="http://schemas.openxmlformats.org/drawingml/2006/main">
            <a:r>
              <a:t>        "title": "안전 Q&amp;A",</a:t>
            </a:r>
          </a:p>
          <a:p xmlns:a="http://schemas.openxmlformats.org/drawingml/2006/main">
            <a:r>
              <a:t>        "input": "관련 조문",</a:t>
            </a:r>
          </a:p>
          <a:p xmlns:a="http://schemas.openxmlformats.org/drawingml/2006/main">
            <a:r>
              <a:t>        "process": "시행일·조문 위치·예외 조건 검증",</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"title": "안전 담당 검토",</a:t>
            </a:r>
          </a:p>
          <a:p xmlns:a="http://schemas.openxmlformats.org/drawingml/2006/main">
            <a:r>
              <a:t>        "input": "근거 답변",</a:t>
            </a:r>
          </a:p>
          <a:p xmlns:a="http://schemas.openxmlformats.org/drawingml/2006/main">
            <a:r>
              <a:t>        "process": "현장 담당자가 출처를 확인한 후 적용",</a:t>
            </a:r>
          </a:p>
          <a:p xmlns:a="http://schemas.openxmlformats.org/drawingml/2006/main">
            <a:r>
              <a:t>        "output": "현장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"현장 질문에 적용 시점의 안전 규정과 조문 제공",</a:t>
            </a:r>
          </a:p>
          <a:p xmlns:a="http://schemas.openxmlformats.org/drawingml/2006/main">
            <a:r>
              <a:t>      "exception": "폐지 규정·상위 법령과 사규 충돌·근거 부재",</a:t>
            </a:r>
          </a:p>
          <a:p xmlns:a="http://schemas.openxmlformats.org/drawingml/2006/main">
            <a:r>
              <a:t>      "evidence": "판본·조문 정답표와 충돌 경고·응답 보류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"안전·현장 운영 담당자",</a:t>
            </a:r>
          </a:p>
          <a:p xmlns:a="http://schemas.openxmlformats.org/drawingml/2006/main">
            <a:r>
              <a:t>          "processing": "업무·설비·적용 시점 확인",</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"안전 규정·매뉴얼",</a:t>
            </a:r>
          </a:p>
          <a:p xmlns:a="http://schemas.openxmlformats.org/drawingml/2006/main">
            <a:r>
              <a:t>          "processing": "법령·사규·매뉴얼의 조문·개정일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"규정 검색과 조문 근거형 응답",</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답변",</a:t>
            </a:r>
          </a:p>
          <a:p xmlns:a="http://schemas.openxmlformats.org/drawingml/2006/main">
            <a:r>
              <a:t>          "processing": "현장 담당자가 출처를 확인한 후 적용",</a:t>
            </a:r>
          </a:p>
          <a:p xmlns:a="http://schemas.openxmlformats.org/drawingml/2006/main">
            <a:r>
              <a:t>          "output": "현장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"개정 후 구버전 인용과 충돌 답변 시험",</a:t>
            </a:r>
          </a:p>
          <a:p xmlns:a="http://schemas.openxmlformats.org/drawingml/2006/main">
            <a:r>
              <a:t>          "output": "판본·조문 정답표와 충돌 경고·응답 보류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"개정 후 구버전 인용과 충돌 답변 시험",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"S-AX22",</a:t>
            </a:r>
          </a:p>
          <a:p xmlns:a="http://schemas.openxmlformats.org/drawingml/2006/main">
            <a:r>
              <a:t>        "title": "도시철도 교통안전 GPT · 공공AI 사례집 108–109쪽",</a:t>
            </a:r>
          </a:p>
          <a:p xmlns:a="http://schemas.openxmlformats.org/drawingml/2006/main">
            <a:r>
              <a:t>        "url": "https://bigdata.dongjak.go.kr/board/viewArticle?articleNo=954&amp;boardId=4",</a:t>
            </a:r>
          </a:p>
          <a:p xmlns:a="http://schemas.openxmlformats.org/drawingml/2006/main">
            <a:r>
              <a:t>        "published": "2023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"문서 판본과 안전 직무별 근거 연결",</a:t>
            </a:r>
          </a:p>
          <a:p xmlns:a="http://schemas.openxmlformats.org/drawingml/2006/main">
            <a:r>
              <a:t>    "local": "TS 안전 직무별 규정·검사 기준 지식 분리",</a:t>
            </a:r>
          </a:p>
          <a:p xmlns:a="http://schemas.openxmlformats.org/drawingml/2006/main">
            <a:r>
              <a:t>    "sourceDetail": null,</a:t>
            </a:r>
          </a:p>
          <a:p xmlns:a="http://schemas.openxmlformats.org/drawingml/2006/main">
            <a:r>
              <a:t>    "narrative": [</a:t>
            </a:r>
          </a:p>
          <a:p xmlns:a="http://schemas.openxmlformats.org/drawingml/2006/main">
            <a:r>
              <a:t>      "도시철도 안전 업무에서 법령·사규·매뉴얼을 함께 검색하는 질의응답 사례. 자료가 여러 위치와 판본으로 존재할 때 관련 조문을 찾는 작업의 지원.",</a:t>
            </a:r>
          </a:p>
          <a:p xmlns:a="http://schemas.openxmlformats.org/drawingml/2006/main">
            <a:r>
              <a:t>      "질의의 업무·설비·적용 시점을 바탕으로 유효 문서를 검색하고 조문 위치를 포함한 답변을 구성하는 재구성. 현장 담당자가 예외 조건과 시행일을 확인한 후 업무에 참고하는 흐름.",</a:t>
            </a:r>
          </a:p>
          <a:p xmlns:a="http://schemas.openxmlformats.org/drawingml/2006/main">
            <a:r>
              <a:t>      "CCK에서는 검색 답변과 안전 승인 권한을 분리하고 개정 전후 충돌 답변을 시험할 근거. 구판 회수, 조문 위치 일치, 예외 조건 누락과 검토시간을 TS 부서별로 측정할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"안전업무 질의",</a:t>
            </a:r>
          </a:p>
          <a:p xmlns:a="http://schemas.openxmlformats.org/drawingml/2006/main">
            <a:r>
              <a:t>          "layer": "이용 접점",</a:t>
            </a:r>
          </a:p>
          <a:p xmlns:a="http://schemas.openxmlformats.org/drawingml/2006/main">
            <a:r>
              <a:t>          "detail": "안전·현장 운영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"설비·적용시점",</a:t>
            </a:r>
          </a:p>
          <a:p xmlns:a="http://schemas.openxmlformats.org/drawingml/2006/main">
            <a:r>
              <a:t>          "layer": "업무 문맥",</a:t>
            </a:r>
          </a:p>
          <a:p xmlns:a="http://schemas.openxmlformats.org/drawingml/2006/main">
            <a:r>
              <a:t>          "detail": "업무·설비·적용 시점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조문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답변 생성",</a:t>
            </a:r>
          </a:p>
          <a:p xmlns:a="http://schemas.openxmlformats.org/drawingml/2006/main">
            <a:r>
              <a:t>          "layer": "핵심 처리",</a:t>
            </a:r>
          </a:p>
          <a:p xmlns:a="http://schemas.openxmlformats.org/drawingml/2006/main">
            <a:r>
              <a:t>          "detail": "규정 검색과 조문 근거형 응답",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"시행일·예외 대조",</a:t>
            </a:r>
          </a:p>
          <a:p xmlns:a="http://schemas.openxmlformats.org/drawingml/2006/main">
            <a:r>
              <a:t>          "layer": "결과 검증",</a:t>
            </a:r>
          </a:p>
          <a:p xmlns:a="http://schemas.openxmlformats.org/drawingml/2006/main">
            <a:r>
              <a:t>          "detail": "시행일·조문 위치·예외 조건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담당 검토",</a:t>
            </a:r>
          </a:p>
          <a:p xmlns:a="http://schemas.openxmlformats.org/drawingml/2006/main">
            <a:r>
              <a:t>          "layer": "사람 확인",</a:t>
            </a:r>
          </a:p>
          <a:p xmlns:a="http://schemas.openxmlformats.org/drawingml/2006/main">
            <a:r>
              <a:t>          "detail": "현장 질문에 적용 시점의 안전 규정과 조문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"안전업무 참고",</a:t>
            </a:r>
          </a:p>
          <a:p xmlns:a="http://schemas.openxmlformats.org/drawingml/2006/main">
            <a:r>
              <a:t>          "layer": "업무 연결",</a:t>
            </a:r>
          </a:p>
          <a:p xmlns:a="http://schemas.openxmlformats.org/drawingml/2006/main">
            <a:r>
              <a:t>          "detail": "현장 담당자가 출처를 확인한 후 적용",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"구판 인용 검사",</a:t>
            </a:r>
          </a:p>
          <a:p xmlns:a="http://schemas.openxmlformats.org/drawingml/2006/main">
            <a:r>
              <a:t>          "layer": "운영 관측",</a:t>
            </a:r>
          </a:p>
          <a:p xmlns:a="http://schemas.openxmlformats.org/drawingml/2006/main">
            <a:r>
              <a:t>          "detail": "개정 후 구버전 인용과 충돌 답변 시험",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"법령·사규·매뉴얼",</a:t>
            </a:r>
          </a:p>
          <a:p xmlns:a="http://schemas.openxmlformats.org/drawingml/2006/main">
            <a:r>
              <a:t>          "layer": "데이터 원천",</a:t>
            </a:r>
          </a:p>
          <a:p xmlns:a="http://schemas.openxmlformats.org/drawingml/2006/main">
            <a:r>
              <a:t>          "detail": "안전 규정·매뉴얼",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"조문·개정일 색인",</a:t>
            </a:r>
          </a:p>
          <a:p xmlns:a="http://schemas.openxmlformats.org/drawingml/2006/main">
            <a:r>
              <a:t>          "layer": "준비·갱신",</a:t>
            </a:r>
          </a:p>
          <a:p xmlns:a="http://schemas.openxmlformats.org/drawingml/2006/main">
            <a:r>
              <a:t>          "detail": "법령·사규·매뉴얼의 조문·개정일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"유효 문서·답변",</a:t>
            </a:r>
          </a:p>
          <a:p xmlns:a="http://schemas.openxmlformats.org/drawingml/2006/main">
            <a:r>
              <a:t>          "layer": "상태·지식 저장",</a:t>
            </a:r>
          </a:p>
          <a:p xmlns:a="http://schemas.openxmlformats.org/drawingml/2006/main">
            <a:r>
              <a:t>          "detail": "판본·조문 정답표와 충돌 경고·응답 보류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"안전 승인 경계",</a:t>
            </a:r>
          </a:p>
          <a:p xmlns:a="http://schemas.openxmlformats.org/drawingml/2006/main">
            <a:r>
              <a:t>          "layer": "권한·정책",</a:t>
            </a:r>
          </a:p>
          <a:p xmlns:a="http://schemas.openxmlformats.org/drawingml/2006/main">
            <a:r>
              <a:t>          "detail": "폐지 규정·상위 법령과 사규 충돌·근거 부재",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"법령·사규·매뉴얼 → 전처리·검색 → 안전 Q&amp;A → 안전 담당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"안전 규정·매뉴얼",</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"업무·설비·적용 시점 확인",</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"판본·조문 정답표와 충돌 경고·응답 보류 결과",</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조문",</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답변",</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"도시철도 안전 규정의 근거형 질의응답 / 법령·사규·질의응답·판본 확인",</a:t>
            </a:r>
          </a:p>
          <a:p xmlns:a="http://schemas.openxmlformats.org/drawingml/2006/main">
            <a:r>
              <a:t>        "extension": "TS 안전 직무별 규정·검사 기준 지식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규정·상위 법령과 사규 충돌·근거 부재",</a:t>
            </a:r>
          </a:p>
          <a:p xmlns:a="http://schemas.openxmlformats.org/drawingml/2006/main">
            <a:r>
              <a:t>        "hold": "시행일·조문 위치·예외 조건 검증",</a:t>
            </a:r>
          </a:p>
          <a:p xmlns:a="http://schemas.openxmlformats.org/drawingml/2006/main">
            <a:r>
              <a:t>        "recovery": "개정 후 구버전 인용과 충돌 답변 시험",</a:t>
            </a:r>
          </a:p>
          <a:p xmlns:a="http://schemas.openxmlformats.org/drawingml/2006/main">
            <a:r>
              <a:t>        "evidence": "판본·조문 정답표와 충돌 경고·응답 보류 결과"</a:t>
            </a:r>
          </a:p>
          <a:p xmlns:a="http://schemas.openxmlformats.org/drawingml/2006/main">
            <a:r>
              <a:t>      },</a:t>
            </a:r>
          </a:p>
          <a:p xmlns:a="http://schemas.openxmlformats.org/drawingml/2006/main">
            <a:r>
              <a:t>      "data": {</a:t>
            </a:r>
          </a:p>
          <a:p xmlns:a="http://schemas.openxmlformats.org/drawingml/2006/main">
            <a:r>
              <a:t>        "source": "안전 규정·매뉴얼",</a:t>
            </a:r>
          </a:p>
          <a:p xmlns:a="http://schemas.openxmlformats.org/drawingml/2006/main">
            <a:r>
              <a:t>        "prepare": "법령·사규·매뉴얼의 조문·개정일 색인",</a:t>
            </a:r>
          </a:p>
          <a:p xmlns:a="http://schemas.openxmlformats.org/drawingml/2006/main">
            <a:r>
              <a:t>        "output": "질문",</a:t>
            </a:r>
          </a:p>
          <a:p xmlns:a="http://schemas.openxmlformats.org/drawingml/2006/main">
            <a:r>
              <a:t>        "refresh": "개정 후 구버전 인용과 충돌 답변 시험"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"AX22",</a:t>
            </a:r>
          </a:p>
          <a:p xmlns:a="http://schemas.openxmlformats.org/drawingml/2006/main">
            <a:r>
              <a:t>    "success": [</a:t>
            </a:r>
          </a:p>
          <a:p xmlns:a="http://schemas.openxmlformats.org/drawingml/2006/main">
            <a:r>
              <a:t>      "법령·사규·매뉴얼의 통합 검색",</a:t>
            </a:r>
          </a:p>
          <a:p xmlns:a="http://schemas.openxmlformats.org/drawingml/2006/main">
            <a:r>
              <a:t>      "안전 담당자의 근거 검토"</a:t>
            </a:r>
          </a:p>
          <a:p xmlns:a="http://schemas.openxmlformats.org/drawingml/2006/main">
            <a:r>
              <a:t>    ],</a:t>
            </a:r>
          </a:p>
          <a:p xmlns:a="http://schemas.openxmlformats.org/drawingml/2006/main">
            <a:r>
              <a:t>    "risks": [</a:t>
            </a:r>
          </a:p>
          <a:p xmlns:a="http://schemas.openxmlformats.org/drawingml/2006/main">
            <a:r>
              <a:t>      "폐지·개정 전 문서 인용",</a:t>
            </a:r>
          </a:p>
          <a:p xmlns:a="http://schemas.openxmlformats.org/drawingml/2006/main">
            <a:r>
              <a:t>      "질의응답을 안전 승인으로 오인"</a:t>
            </a:r>
          </a:p>
          <a:p xmlns:a="http://schemas.openxmlformats.org/drawingml/2006/main">
            <a:r>
              <a:t>    ],</a:t>
            </a:r>
          </a:p>
          <a:p xmlns:a="http://schemas.openxmlformats.org/drawingml/2006/main">
            <a:r>
              <a:t>    "architecture": [</a:t>
            </a:r>
          </a:p>
          <a:p xmlns:a="http://schemas.openxmlformats.org/drawingml/2006/main">
            <a:r>
              <a:t>      "안전 담당 질의",</a:t>
            </a:r>
          </a:p>
          <a:p xmlns:a="http://schemas.openxmlformats.org/drawingml/2006/main">
            <a:r>
              <a:t>      "문서 검색·Q&amp;A",</a:t>
            </a:r>
          </a:p>
          <a:p xmlns:a="http://schemas.openxmlformats.org/drawingml/2006/main">
            <a:r>
              <a:t>      "안전 규정·매뉴얼",</a:t>
            </a:r>
          </a:p>
          <a:p xmlns:a="http://schemas.openxmlformats.org/drawingml/2006/main">
            <a:r>
              <a:t>      "안전 검토자"</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"관련 조문",</a:t>
            </a:r>
          </a:p>
          <a:p xmlns:a="http://schemas.openxmlformats.org/drawingml/2006/main">
            <a:r>
              <a:t>      "근거 답변",</a:t>
            </a:r>
          </a:p>
          <a:p xmlns:a="http://schemas.openxmlformats.org/drawingml/2006/main">
            <a:r>
              <a:t>      "현장 검토"</a:t>
            </a:r>
          </a:p>
          <a:p xmlns:a="http://schemas.openxmlformats.org/drawingml/2006/main">
            <a:r>
              <a:t>    ],</a:t>
            </a:r>
          </a:p>
          <a:p xmlns:a="http://schemas.openxmlformats.org/drawingml/2006/main">
            <a:r>
              <a:t>    "control": "시행일·조문 위치·예외 조건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도시철도 교통안전 GPT · 공공AI 사례집 108–109쪽 https://bigdata.dongjak.go.kr/board/viewArticle?articleNo=954&amp;boardId=4</a:t>
            </a:r>
          </a:p>
          <a:p xmlns:a="http://schemas.openxmlformats.org/drawingml/2006/main">
            <a:r>
              <a:t>홈페이지 https://heen1987-ops.github.io/TS-business-Plan-001/index.html?view=casebook&amp;case=AX22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"AX22",</a:t>
            </a:r>
          </a:p>
          <a:p xmlns:a="http://schemas.openxmlformats.org/drawingml/2006/main">
            <a:r>
              <a:t>    "title": "도시철도 교통안전 GPT",</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"규정·매뉴얼 지식 지원",</a:t>
            </a:r>
          </a:p>
          <a:p xmlns:a="http://schemas.openxmlformats.org/drawingml/2006/main">
            <a:r>
              <a:t>    "period": "2023 실증",</a:t>
            </a:r>
          </a:p>
          <a:p xmlns:a="http://schemas.openxmlformats.org/drawingml/2006/main">
            <a:r>
              <a:t>    "sources": [</a:t>
            </a:r>
          </a:p>
          <a:p xmlns:a="http://schemas.openxmlformats.org/drawingml/2006/main">
            <a:r>
              <a:t>      "S-AX22"</a:t>
            </a:r>
          </a:p>
          <a:p xmlns:a="http://schemas.openxmlformats.org/drawingml/2006/main">
            <a:r>
              <a:t>    ],</a:t>
            </a:r>
          </a:p>
          <a:p xmlns:a="http://schemas.openxmlformats.org/drawingml/2006/main">
            <a:r>
              <a:t>    "keywords": [</a:t>
            </a:r>
          </a:p>
          <a:p xmlns:a="http://schemas.openxmlformats.org/drawingml/2006/main">
            <a:r>
              <a:t>      "규정",</a:t>
            </a:r>
          </a:p>
          <a:p xmlns:a="http://schemas.openxmlformats.org/drawingml/2006/main">
            <a:r>
              <a:t>      "매뉴얼 지식 지원"</a:t>
            </a:r>
          </a:p>
          <a:p xmlns:a="http://schemas.openxmlformats.org/drawingml/2006/main">
            <a:r>
              <a:t>    ],</a:t>
            </a:r>
          </a:p>
          <a:p xmlns:a="http://schemas.openxmlformats.org/drawingml/2006/main">
            <a:r>
              <a:t>    "fact": "안전 법령·사규·매뉴얼을 활용한 질의응답과 최신 근거 제공 서비스 실증",</a:t>
            </a:r>
          </a:p>
          <a:p xmlns:a="http://schemas.openxmlformats.org/drawingml/2006/main">
            <a:r>
              <a:t>    "limit": "실증과 기대효과 소개 · 사고 예방의 인과성과 수치 미제시",</a:t>
            </a:r>
          </a:p>
          <a:p xmlns:a="http://schemas.openxmlformats.org/drawingml/2006/main">
            <a:r>
              <a:t>    "flow": [</a:t>
            </a:r>
          </a:p>
          <a:p xmlns:a="http://schemas.openxmlformats.org/drawingml/2006/main">
            <a:r>
              <a:t>      "법령·사규·매뉴얼",</a:t>
            </a:r>
          </a:p>
          <a:p xmlns:a="http://schemas.openxmlformats.org/drawingml/2006/main">
            <a:r>
              <a:t>      "전처리·검색",</a:t>
            </a:r>
          </a:p>
          <a:p xmlns:a="http://schemas.openxmlformats.org/drawingml/2006/main">
            <a:r>
              <a:t>      "안전 Q&amp;A",</a:t>
            </a:r>
          </a:p>
          <a:p xmlns:a="http://schemas.openxmlformats.org/drawingml/2006/main">
            <a:r>
              <a:t>      "안전 담당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"문서 판본과 안전 직무별 근거 연결",</a:t>
            </a:r>
          </a:p>
          <a:p xmlns:a="http://schemas.openxmlformats.org/drawingml/2006/main">
            <a:r>
              <a:t>    "local": "TS 안전 직무별 규정·검사 기준 지식 분리",</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"규정 효력일·폐지 문서·업무별 평가셋",</a:t>
            </a:r>
          </a:p>
          <a:p xmlns:a="http://schemas.openxmlformats.org/drawingml/2006/main">
            <a:r>
              <a:t>    "test": "동일 질문의 개정 전후 근거·답변 일치 시험",</a:t>
            </a:r>
          </a:p>
          <a:p xmlns:a="http://schemas.openxmlformats.org/drawingml/2006/main">
            <a:r>
              <a:t>    "metric": "근거 정확도 / 검토시간",</a:t>
            </a:r>
          </a:p>
          <a:p xmlns:a="http://schemas.openxmlformats.org/drawingml/2006/main">
            <a:r>
              <a:t>    "strategies": [</a:t>
            </a:r>
          </a:p>
          <a:p xmlns:a="http://schemas.openxmlformats.org/drawingml/2006/main">
            <a:r>
              <a:t>      "ST-02",</a:t>
            </a:r>
          </a:p>
          <a:p xmlns:a="http://schemas.openxmlformats.org/drawingml/2006/main">
            <a:r>
              <a:t>      "ST-03",</a:t>
            </a:r>
          </a:p>
          <a:p xmlns:a="http://schemas.openxmlformats.org/drawingml/2006/main">
            <a:r>
              <a:t>      "ST-04"</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"AX22",</a:t>
            </a:r>
          </a:p>
          <a:p xmlns:a="http://schemas.openxmlformats.org/drawingml/2006/main">
            <a:r>
              <a:t>    "canonicalId": "AX22",</a:t>
            </a:r>
          </a:p>
          <a:p xmlns:a="http://schemas.openxmlformats.org/drawingml/2006/main">
            <a:r>
              <a:t>    "purpose": "도시철도 안전 규정의 근거형 질의응답",</a:t>
            </a:r>
          </a:p>
          <a:p xmlns:a="http://schemas.openxmlformats.org/drawingml/2006/main">
            <a:r>
              <a:t>    "users": "안전·현장 운영 담당자",</a:t>
            </a:r>
          </a:p>
          <a:p xmlns:a="http://schemas.openxmlformats.org/drawingml/2006/main">
            <a:r>
              <a:t>    "scope": [</a:t>
            </a:r>
          </a:p>
          <a:p xmlns:a="http://schemas.openxmlformats.org/drawingml/2006/main">
            <a:r>
              <a:t>      "법령·사규",</a:t>
            </a:r>
          </a:p>
          <a:p xmlns:a="http://schemas.openxmlformats.org/drawingml/2006/main">
            <a:r>
              <a:t>      "질의응답",</a:t>
            </a:r>
          </a:p>
          <a:p xmlns:a="http://schemas.openxmlformats.org/drawingml/2006/main">
            <a:r>
              <a:t>      "판본 확인"</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"안전 담당 질의",</a:t>
            </a:r>
          </a:p>
          <a:p xmlns:a="http://schemas.openxmlformats.org/drawingml/2006/main">
            <a:r>
              <a:t>        "detail": "업무·설비·적용 시점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"법령·사규 / 질의응답 / 판본 확인",</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"문서 검색·Q&amp;A",</a:t>
            </a:r>
          </a:p>
          <a:p xmlns:a="http://schemas.openxmlformats.org/drawingml/2006/main">
            <a:r>
              <a:t>        "detail": "규정 검색과 조문 근거형 응답",</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"안전 검토자",</a:t>
            </a:r>
          </a:p>
          <a:p xmlns:a="http://schemas.openxmlformats.org/drawingml/2006/main">
            <a:r>
              <a:t>        "detail": "현장 담당자가 출처를 확인한 후 적용",</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"안전 규정·매뉴얼",</a:t>
            </a:r>
          </a:p>
          <a:p xmlns:a="http://schemas.openxmlformats.org/drawingml/2006/main">
            <a:r>
              <a:t>        "detail": "법령·사규·매뉴얼의 조문·개정일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"개정 후 구버전 인용과 충돌 답변 시험",</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"법령·사규·매뉴얼",</a:t>
            </a:r>
          </a:p>
          <a:p xmlns:a="http://schemas.openxmlformats.org/drawingml/2006/main">
            <a:r>
              <a:t>        "input": "업무·설비·적용 시점 확인",</a:t>
            </a:r>
          </a:p>
          <a:p xmlns:a="http://schemas.openxmlformats.org/drawingml/2006/main">
            <a:r>
              <a:t>        "process": "법령·사규·매뉴얼의 조문·개정일 색인",</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"title": "전처리·검색",</a:t>
            </a:r>
          </a:p>
          <a:p xmlns:a="http://schemas.openxmlformats.org/drawingml/2006/main">
            <a:r>
              <a:t>        "input": "질문",</a:t>
            </a:r>
          </a:p>
          <a:p xmlns:a="http://schemas.openxmlformats.org/drawingml/2006/main">
            <a:r>
              <a:t>        "process": "규정 검색과 조문 근거형 응답",</a:t>
            </a:r>
          </a:p>
          <a:p xmlns:a="http://schemas.openxmlformats.org/drawingml/2006/main">
            <a:r>
              <a:t>        "output": "관련 조문"</a:t>
            </a:r>
          </a:p>
          <a:p xmlns:a="http://schemas.openxmlformats.org/drawingml/2006/main">
            <a:r>
              <a:t>      },</a:t>
            </a:r>
          </a:p>
          <a:p xmlns:a="http://schemas.openxmlformats.org/drawingml/2006/main">
            <a:r>
              <a:t>      {</a:t>
            </a:r>
          </a:p>
          <a:p xmlns:a="http://schemas.openxmlformats.org/drawingml/2006/main">
            <a:r>
              <a:t>        "title": "안전 Q&amp;A",</a:t>
            </a:r>
          </a:p>
          <a:p xmlns:a="http://schemas.openxmlformats.org/drawingml/2006/main">
            <a:r>
              <a:t>        "input": "관련 조문",</a:t>
            </a:r>
          </a:p>
          <a:p xmlns:a="http://schemas.openxmlformats.org/drawingml/2006/main">
            <a:r>
              <a:t>        "process": "시행일·조문 위치·예외 조건 검증",</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"title": "안전 담당 검토",</a:t>
            </a:r>
          </a:p>
          <a:p xmlns:a="http://schemas.openxmlformats.org/drawingml/2006/main">
            <a:r>
              <a:t>        "input": "근거 답변",</a:t>
            </a:r>
          </a:p>
          <a:p xmlns:a="http://schemas.openxmlformats.org/drawingml/2006/main">
            <a:r>
              <a:t>        "process": "현장 담당자가 출처를 확인한 후 적용",</a:t>
            </a:r>
          </a:p>
          <a:p xmlns:a="http://schemas.openxmlformats.org/drawingml/2006/main">
            <a:r>
              <a:t>        "output": "현장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"현장 질문에 적용 시점의 안전 규정과 조문 제공",</a:t>
            </a:r>
          </a:p>
          <a:p xmlns:a="http://schemas.openxmlformats.org/drawingml/2006/main">
            <a:r>
              <a:t>      "exception": "폐지 규정·상위 법령과 사규 충돌·근거 부재",</a:t>
            </a:r>
          </a:p>
          <a:p xmlns:a="http://schemas.openxmlformats.org/drawingml/2006/main">
            <a:r>
              <a:t>      "evidence": "판본·조문 정답표와 충돌 경고·응답 보류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"안전·현장 운영 담당자",</a:t>
            </a:r>
          </a:p>
          <a:p xmlns:a="http://schemas.openxmlformats.org/drawingml/2006/main">
            <a:r>
              <a:t>          "processing": "업무·설비·적용 시점 확인",</a:t>
            </a:r>
          </a:p>
          <a:p xmlns:a="http://schemas.openxmlformats.org/drawingml/2006/main">
            <a:r>
              <a:t>          "output": "질문"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"안전 규정·매뉴얼",</a:t>
            </a:r>
          </a:p>
          <a:p xmlns:a="http://schemas.openxmlformats.org/drawingml/2006/main">
            <a:r>
              <a:t>          "processing": "법령·사규·매뉴얼의 조문·개정일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"질문",</a:t>
            </a:r>
          </a:p>
          <a:p xmlns:a="http://schemas.openxmlformats.org/drawingml/2006/main">
            <a:r>
              <a:t>          "processing": "규정 검색과 조문 근거형 응답",</a:t>
            </a:r>
          </a:p>
          <a:p xmlns:a="http://schemas.openxmlformats.org/drawingml/2006/main">
            <a:r>
              <a:t>          "output": "근거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답변",</a:t>
            </a:r>
          </a:p>
          <a:p xmlns:a="http://schemas.openxmlformats.org/drawingml/2006/main">
            <a:r>
              <a:t>          "processing": "현장 담당자가 출처를 확인한 후 적용",</a:t>
            </a:r>
          </a:p>
          <a:p xmlns:a="http://schemas.openxmlformats.org/drawingml/2006/main">
            <a:r>
              <a:t>          "output": "현장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"개정 후 구버전 인용과 충돌 답변 시험",</a:t>
            </a:r>
          </a:p>
          <a:p xmlns:a="http://schemas.openxmlformats.org/drawingml/2006/main">
            <a:r>
              <a:t>          "output": "판본·조문 정답표와 충돌 경고·응답 보류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"개정 후 구버전 인용과 충돌 답변 시험",</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"S-AX22",</a:t>
            </a:r>
          </a:p>
          <a:p xmlns:a="http://schemas.openxmlformats.org/drawingml/2006/main">
            <a:r>
              <a:t>        "title": "도시철도 교통안전 GPT · 공공AI 사례집 108–109쪽",</a:t>
            </a:r>
          </a:p>
          <a:p xmlns:a="http://schemas.openxmlformats.org/drawingml/2006/main">
            <a:r>
              <a:t>        "url": "https://bigdata.dongjak.go.kr/board/viewArticle?articleNo=954&amp;boardId=4",</a:t>
            </a:r>
          </a:p>
          <a:p xmlns:a="http://schemas.openxmlformats.org/drawingml/2006/main">
            <a:r>
              <a:t>        "published": "2023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"문서 판본과 안전 직무별 근거 연결",</a:t>
            </a:r>
          </a:p>
          <a:p xmlns:a="http://schemas.openxmlformats.org/drawingml/2006/main">
            <a:r>
              <a:t>    "local": "TS 안전 직무별 규정·검사 기준 지식 분리",</a:t>
            </a:r>
          </a:p>
          <a:p xmlns:a="http://schemas.openxmlformats.org/drawingml/2006/main">
            <a:r>
              <a:t>    "sourceDetail": null,</a:t>
            </a:r>
          </a:p>
          <a:p xmlns:a="http://schemas.openxmlformats.org/drawingml/2006/main">
            <a:r>
              <a:t>    "narrative": [</a:t>
            </a:r>
          </a:p>
          <a:p xmlns:a="http://schemas.openxmlformats.org/drawingml/2006/main">
            <a:r>
              <a:t>      "도시철도 안전 업무에서 법령·사규·매뉴얼을 함께 검색하는 질의응답 사례. 자료가 여러 위치와 판본으로 존재할 때 관련 조문을 찾는 작업의 지원.",</a:t>
            </a:r>
          </a:p>
          <a:p xmlns:a="http://schemas.openxmlformats.org/drawingml/2006/main">
            <a:r>
              <a:t>      "질의의 업무·설비·적용 시점을 바탕으로 유효 문서를 검색하고 조문 위치를 포함한 답변을 구성하는 재구성. 현장 담당자가 예외 조건과 시행일을 확인한 후 업무에 참고하는 흐름.",</a:t>
            </a:r>
          </a:p>
          <a:p xmlns:a="http://schemas.openxmlformats.org/drawingml/2006/main">
            <a:r>
              <a:t>      "CCK에서는 검색 답변과 안전 승인 권한을 분리하고 개정 전후 충돌 답변을 시험할 근거. 구판 회수, 조문 위치 일치, 예외 조건 누락과 검토시간을 TS 부서별로 측정할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"안전업무 질의",</a:t>
            </a:r>
          </a:p>
          <a:p xmlns:a="http://schemas.openxmlformats.org/drawingml/2006/main">
            <a:r>
              <a:t>          "layer": "이용 접점",</a:t>
            </a:r>
          </a:p>
          <a:p xmlns:a="http://schemas.openxmlformats.org/drawingml/2006/main">
            <a:r>
              <a:t>          "detail": "안전·현장 운영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"설비·적용시점",</a:t>
            </a:r>
          </a:p>
          <a:p xmlns:a="http://schemas.openxmlformats.org/drawingml/2006/main">
            <a:r>
              <a:t>          "layer": "업무 문맥",</a:t>
            </a:r>
          </a:p>
          <a:p xmlns:a="http://schemas.openxmlformats.org/drawingml/2006/main">
            <a:r>
              <a:t>          "detail": "업무·설비·적용 시점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조문 검색",</a:t>
            </a:r>
          </a:p>
          <a:p xmlns:a="http://schemas.openxmlformats.org/drawingml/2006/main">
            <a:r>
              <a:t>          "layer": "자료 조회",</a:t>
            </a:r>
          </a:p>
          <a:p xmlns:a="http://schemas.openxmlformats.org/drawingml/2006/main">
            <a:r>
              <a:t>          "detail": "질문",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답변 생성",</a:t>
            </a:r>
          </a:p>
          <a:p xmlns:a="http://schemas.openxmlformats.org/drawingml/2006/main">
            <a:r>
              <a:t>          "layer": "핵심 처리",</a:t>
            </a:r>
          </a:p>
          <a:p xmlns:a="http://schemas.openxmlformats.org/drawingml/2006/main">
            <a:r>
              <a:t>          "detail": "규정 검색과 조문 근거형 응답",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"시행일·예외 대조",</a:t>
            </a:r>
          </a:p>
          <a:p xmlns:a="http://schemas.openxmlformats.org/drawingml/2006/main">
            <a:r>
              <a:t>          "layer": "결과 검증",</a:t>
            </a:r>
          </a:p>
          <a:p xmlns:a="http://schemas.openxmlformats.org/drawingml/2006/main">
            <a:r>
              <a:t>          "detail": "시행일·조문 위치·예외 조건 검증",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"현장 담당 검토",</a:t>
            </a:r>
          </a:p>
          <a:p xmlns:a="http://schemas.openxmlformats.org/drawingml/2006/main">
            <a:r>
              <a:t>          "layer": "사람 확인",</a:t>
            </a:r>
          </a:p>
          <a:p xmlns:a="http://schemas.openxmlformats.org/drawingml/2006/main">
            <a:r>
              <a:t>          "detail": "현장 질문에 적용 시점의 안전 규정과 조문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"안전업무 참고",</a:t>
            </a:r>
          </a:p>
          <a:p xmlns:a="http://schemas.openxmlformats.org/drawingml/2006/main">
            <a:r>
              <a:t>          "layer": "업무 연결",</a:t>
            </a:r>
          </a:p>
          <a:p xmlns:a="http://schemas.openxmlformats.org/drawingml/2006/main">
            <a:r>
              <a:t>          "detail": "현장 담당자가 출처를 확인한 후 적용",</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"구판 인용 검사",</a:t>
            </a:r>
          </a:p>
          <a:p xmlns:a="http://schemas.openxmlformats.org/drawingml/2006/main">
            <a:r>
              <a:t>          "layer": "운영 관측",</a:t>
            </a:r>
          </a:p>
          <a:p xmlns:a="http://schemas.openxmlformats.org/drawingml/2006/main">
            <a:r>
              <a:t>          "detail": "개정 후 구버전 인용과 충돌 답변 시험",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"법령·사규·매뉴얼",</a:t>
            </a:r>
          </a:p>
          <a:p xmlns:a="http://schemas.openxmlformats.org/drawingml/2006/main">
            <a:r>
              <a:t>          "layer": "데이터 원천",</a:t>
            </a:r>
          </a:p>
          <a:p xmlns:a="http://schemas.openxmlformats.org/drawingml/2006/main">
            <a:r>
              <a:t>          "detail": "안전 규정·매뉴얼",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"조문·개정일 색인",</a:t>
            </a:r>
          </a:p>
          <a:p xmlns:a="http://schemas.openxmlformats.org/drawingml/2006/main">
            <a:r>
              <a:t>          "layer": "준비·갱신",</a:t>
            </a:r>
          </a:p>
          <a:p xmlns:a="http://schemas.openxmlformats.org/drawingml/2006/main">
            <a:r>
              <a:t>          "detail": "법령·사규·매뉴얼의 조문·개정일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"유효 문서·답변",</a:t>
            </a:r>
          </a:p>
          <a:p xmlns:a="http://schemas.openxmlformats.org/drawingml/2006/main">
            <a:r>
              <a:t>          "layer": "상태·지식 저장",</a:t>
            </a:r>
          </a:p>
          <a:p xmlns:a="http://schemas.openxmlformats.org/drawingml/2006/main">
            <a:r>
              <a:t>          "detail": "판본·조문 정답표와 충돌 경고·응답 보류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"안전 승인 경계",</a:t>
            </a:r>
          </a:p>
          <a:p xmlns:a="http://schemas.openxmlformats.org/drawingml/2006/main">
            <a:r>
              <a:t>          "layer": "권한·정책",</a:t>
            </a:r>
          </a:p>
          <a:p xmlns:a="http://schemas.openxmlformats.org/drawingml/2006/main">
            <a:r>
              <a:t>          "detail": "폐지 규정·상위 법령과 사규 충돌·근거 부재",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"법령·사규·매뉴얼 → 전처리·검색 → 안전 Q&amp;A → 안전 담당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"안전 규정·매뉴얼",</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"업무·설비·적용 시점 확인",</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"판본·조문 정답표와 충돌 경고·응답 보류 결과",</a:t>
            </a:r>
          </a:p>
          <a:p xmlns:a="http://schemas.openxmlformats.org/drawingml/2006/main">
            <a:r>
              <a:t>          "check": "법령·사규·매뉴얼의 조문·개정일 색인"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조문",</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답변",</a:t>
            </a:r>
          </a:p>
          <a:p xmlns:a="http://schemas.openxmlformats.org/drawingml/2006/main">
            <a:r>
              <a:t>          "check": "판본·조문 정답표와 충돌 경고·응답 보류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"도시철도 안전 규정의 근거형 질의응답 / 법령·사규·질의응답·판본 확인",</a:t>
            </a:r>
          </a:p>
          <a:p xmlns:a="http://schemas.openxmlformats.org/drawingml/2006/main">
            <a:r>
              <a:t>        "extension": "TS 안전 직무별 규정·검사 기준 지식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"폐지 규정·상위 법령과 사규 충돌·근거 부재",</a:t>
            </a:r>
          </a:p>
          <a:p xmlns:a="http://schemas.openxmlformats.org/drawingml/2006/main">
            <a:r>
              <a:t>        "hold": "시행일·조문 위치·예외 조건 검증",</a:t>
            </a:r>
          </a:p>
          <a:p xmlns:a="http://schemas.openxmlformats.org/drawingml/2006/main">
            <a:r>
              <a:t>        "recovery": "개정 후 구버전 인용과 충돌 답변 시험",</a:t>
            </a:r>
          </a:p>
          <a:p xmlns:a="http://schemas.openxmlformats.org/drawingml/2006/main">
            <a:r>
              <a:t>        "evidence": "판본·조문 정답표와 충돌 경고·응답 보류 결과"</a:t>
            </a:r>
          </a:p>
          <a:p xmlns:a="http://schemas.openxmlformats.org/drawingml/2006/main">
            <a:r>
              <a:t>      },</a:t>
            </a:r>
          </a:p>
          <a:p xmlns:a="http://schemas.openxmlformats.org/drawingml/2006/main">
            <a:r>
              <a:t>      "data": {</a:t>
            </a:r>
          </a:p>
          <a:p xmlns:a="http://schemas.openxmlformats.org/drawingml/2006/main">
            <a:r>
              <a:t>        "source": "안전 규정·매뉴얼",</a:t>
            </a:r>
          </a:p>
          <a:p xmlns:a="http://schemas.openxmlformats.org/drawingml/2006/main">
            <a:r>
              <a:t>        "prepare": "법령·사규·매뉴얼의 조문·개정일 색인",</a:t>
            </a:r>
          </a:p>
          <a:p xmlns:a="http://schemas.openxmlformats.org/drawingml/2006/main">
            <a:r>
              <a:t>        "output": "질문",</a:t>
            </a:r>
          </a:p>
          <a:p xmlns:a="http://schemas.openxmlformats.org/drawingml/2006/main">
            <a:r>
              <a:t>        "refresh": "개정 후 구버전 인용과 충돌 답변 시험"</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"AX22",</a:t>
            </a:r>
          </a:p>
          <a:p xmlns:a="http://schemas.openxmlformats.org/drawingml/2006/main">
            <a:r>
              <a:t>    "success": [</a:t>
            </a:r>
          </a:p>
          <a:p xmlns:a="http://schemas.openxmlformats.org/drawingml/2006/main">
            <a:r>
              <a:t>      "법령·사규·매뉴얼의 통합 검색",</a:t>
            </a:r>
          </a:p>
          <a:p xmlns:a="http://schemas.openxmlformats.org/drawingml/2006/main">
            <a:r>
              <a:t>      "안전 담당자의 근거 검토"</a:t>
            </a:r>
          </a:p>
          <a:p xmlns:a="http://schemas.openxmlformats.org/drawingml/2006/main">
            <a:r>
              <a:t>    ],</a:t>
            </a:r>
          </a:p>
          <a:p xmlns:a="http://schemas.openxmlformats.org/drawingml/2006/main">
            <a:r>
              <a:t>    "risks": [</a:t>
            </a:r>
          </a:p>
          <a:p xmlns:a="http://schemas.openxmlformats.org/drawingml/2006/main">
            <a:r>
              <a:t>      "폐지·개정 전 문서 인용",</a:t>
            </a:r>
          </a:p>
          <a:p xmlns:a="http://schemas.openxmlformats.org/drawingml/2006/main">
            <a:r>
              <a:t>      "질의응답을 안전 승인으로 오인"</a:t>
            </a:r>
          </a:p>
          <a:p xmlns:a="http://schemas.openxmlformats.org/drawingml/2006/main">
            <a:r>
              <a:t>    ],</a:t>
            </a:r>
          </a:p>
          <a:p xmlns:a="http://schemas.openxmlformats.org/drawingml/2006/main">
            <a:r>
              <a:t>    "architecture": [</a:t>
            </a:r>
          </a:p>
          <a:p xmlns:a="http://schemas.openxmlformats.org/drawingml/2006/main">
            <a:r>
              <a:t>      "안전 담당 질의",</a:t>
            </a:r>
          </a:p>
          <a:p xmlns:a="http://schemas.openxmlformats.org/drawingml/2006/main">
            <a:r>
              <a:t>      "문서 검색·Q&amp;A",</a:t>
            </a:r>
          </a:p>
          <a:p xmlns:a="http://schemas.openxmlformats.org/drawingml/2006/main">
            <a:r>
              <a:t>      "안전 규정·매뉴얼",</a:t>
            </a:r>
          </a:p>
          <a:p xmlns:a="http://schemas.openxmlformats.org/drawingml/2006/main">
            <a:r>
              <a:t>      "안전 검토자"</a:t>
            </a:r>
          </a:p>
          <a:p xmlns:a="http://schemas.openxmlformats.org/drawingml/2006/main">
            <a:r>
              <a:t>    ],</a:t>
            </a:r>
          </a:p>
          <a:p xmlns:a="http://schemas.openxmlformats.org/drawingml/2006/main">
            <a:r>
              <a:t>    "transfers": [</a:t>
            </a:r>
          </a:p>
          <a:p xmlns:a="http://schemas.openxmlformats.org/drawingml/2006/main">
            <a:r>
              <a:t>      "질문",</a:t>
            </a:r>
          </a:p>
          <a:p xmlns:a="http://schemas.openxmlformats.org/drawingml/2006/main">
            <a:r>
              <a:t>      "관련 조문",</a:t>
            </a:r>
          </a:p>
          <a:p xmlns:a="http://schemas.openxmlformats.org/drawingml/2006/main">
            <a:r>
              <a:t>      "근거 답변",</a:t>
            </a:r>
          </a:p>
          <a:p xmlns:a="http://schemas.openxmlformats.org/drawingml/2006/main">
            <a:r>
              <a:t>      "현장 검토"</a:t>
            </a:r>
          </a:p>
          <a:p xmlns:a="http://schemas.openxmlformats.org/drawingml/2006/main">
            <a:r>
              <a:t>    ],</a:t>
            </a:r>
          </a:p>
          <a:p xmlns:a="http://schemas.openxmlformats.org/drawingml/2006/main">
            <a:r>
              <a:t>    "control": "시행일·조문 위치·예외 조건 검증",</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도시철도 교통안전 GPT · 공공AI 사례집 108–109쪽 https://bigdata.dongjak.go.kr/board/viewArticle?articleNo=954&amp;boardId=4</a:t>
            </a:r>
          </a:p>
          <a:p xmlns:a="http://schemas.openxmlformats.org/drawingml/2006/main">
            <a:r>
              <a:t>홈페이지 https://heen1987-ops.github.io/TS-business-Plan-001/index.html?view=casebook&amp;case=AX22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"AX23",</a:t>
            </a:r>
          </a:p>
          <a:p xmlns:a="http://schemas.openxmlformats.org/drawingml/2006/main">
            <a:r>
              <a:t>    "title": "경찰 AI 교통안전 시스템",</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"교통사고 위험 예측",</a:t>
            </a:r>
          </a:p>
          <a:p xmlns:a="http://schemas.openxmlformats.org/drawingml/2006/main">
            <a:r>
              <a:t>    "period": "2024 구축·실증",</a:t>
            </a:r>
          </a:p>
          <a:p xmlns:a="http://schemas.openxmlformats.org/drawingml/2006/main">
            <a:r>
              <a:t>    "sources": [</a:t>
            </a:r>
          </a:p>
          <a:p xmlns:a="http://schemas.openxmlformats.org/drawingml/2006/main">
            <a:r>
              <a:t>      "S-AX23"</a:t>
            </a:r>
          </a:p>
          <a:p xmlns:a="http://schemas.openxmlformats.org/drawingml/2006/main">
            <a:r>
              <a:t>    ],</a:t>
            </a:r>
          </a:p>
          <a:p xmlns:a="http://schemas.openxmlformats.org/drawingml/2006/main">
            <a:r>
              <a:t>    "keywords": [</a:t>
            </a:r>
          </a:p>
          <a:p xmlns:a="http://schemas.openxmlformats.org/drawingml/2006/main">
            <a:r>
              <a:t>      "교통사고 위험 예측"</a:t>
            </a:r>
          </a:p>
          <a:p xmlns:a="http://schemas.openxmlformats.org/drawingml/2006/main">
            <a:r>
              <a:t>    ],</a:t>
            </a:r>
          </a:p>
          <a:p xmlns:a="http://schemas.openxmlformats.org/drawingml/2006/main">
            <a:r>
              <a:t>    "fact": "교통사고·단속·시설·기상·교통량 데이터 기반 위험 예측과 지역 실증",</a:t>
            </a:r>
          </a:p>
          <a:p xmlns:a="http://schemas.openxmlformats.org/drawingml/2006/main">
            <a:r>
              <a:t>    "limit": "지역 실증 범위 · 전국 사고 감소 성과로 확대 불가",</a:t>
            </a:r>
          </a:p>
          <a:p xmlns:a="http://schemas.openxmlformats.org/drawingml/2006/main">
            <a:r>
              <a:t>    "flow": [</a:t>
            </a:r>
          </a:p>
          <a:p xmlns:a="http://schemas.openxmlformats.org/drawingml/2006/main">
            <a:r>
              <a:t>      "민관 교통 데이터",</a:t>
            </a:r>
          </a:p>
          <a:p xmlns:a="http://schemas.openxmlformats.org/drawingml/2006/main">
            <a:r>
              <a:t>      "전처리·MLOps",</a:t>
            </a:r>
          </a:p>
          <a:p xmlns:a="http://schemas.openxmlformats.org/drawingml/2006/main">
            <a:r>
              <a:t>      "사고 위험 예측",</a:t>
            </a:r>
          </a:p>
          <a:p xmlns:a="http://schemas.openxmlformats.org/drawingml/2006/main">
            <a:r>
              <a:t>      "지역 실증·현장 대응"</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"지역별 모델 평가와 예방 조치의 연결",</a:t>
            </a:r>
          </a:p>
          <a:p xmlns:a="http://schemas.openxmlformats.org/drawingml/2006/main">
            <a:r>
              <a:t>    "local": "TS 지역 안전 진단·개선 권고와 관할 매핑",</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"지역·도로·시점 정규화 및 개선 이력 연결",</a:t>
            </a:r>
          </a:p>
          <a:p xmlns:a="http://schemas.openxmlformats.org/drawingml/2006/main">
            <a:r>
              <a:t>    "test": "시간·지역 분리 검증과 데이터 누락 시험",</a:t>
            </a:r>
          </a:p>
          <a:p xmlns:a="http://schemas.openxmlformats.org/drawingml/2006/main">
            <a:r>
              <a:t>    "metric": "위험 탐지율 / 예방 조치 이행률",</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"ST-07"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"AX23",</a:t>
            </a:r>
          </a:p>
          <a:p xmlns:a="http://schemas.openxmlformats.org/drawingml/2006/main">
            <a:r>
              <a:t>    "canonicalId": "AX23",</a:t>
            </a:r>
          </a:p>
          <a:p xmlns:a="http://schemas.openxmlformats.org/drawingml/2006/main">
            <a:r>
              <a:t>    "purpose": "지역별 교통사고 위험 분석과 대응 지원",</a:t>
            </a:r>
          </a:p>
          <a:p xmlns:a="http://schemas.openxmlformats.org/drawingml/2006/main">
            <a:r>
              <a:t>    "users": "교통안전·단속·시설 담당",</a:t>
            </a:r>
          </a:p>
          <a:p xmlns:a="http://schemas.openxmlformats.org/drawingml/2006/main">
            <a:r>
              <a:t>    "scope": [</a:t>
            </a:r>
          </a:p>
          <a:p xmlns:a="http://schemas.openxmlformats.org/drawingml/2006/main">
            <a:r>
              <a:t>      "다종 데이터",</a:t>
            </a:r>
          </a:p>
          <a:p xmlns:a="http://schemas.openxmlformats.org/drawingml/2006/main">
            <a:r>
              <a:t>      "위험 예측",</a:t>
            </a:r>
          </a:p>
          <a:p xmlns:a="http://schemas.openxmlformats.org/drawingml/2006/main">
            <a:r>
              <a:t>      "지역 실증"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"민관 교통 데이터",</a:t>
            </a:r>
          </a:p>
          <a:p xmlns:a="http://schemas.openxmlformats.org/drawingml/2006/main">
            <a:r>
              <a:t>        "detail": "지역·기간·사고유형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"다종 데이터 / 위험 예측 / 지역 실증",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"전처리·MLOps",</a:t>
            </a:r>
          </a:p>
          <a:p xmlns:a="http://schemas.openxmlformats.org/drawingml/2006/main">
            <a:r>
              <a:t>        "detail": "사고·단속·시설·기상·교통량 결합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"교통안전 담당",</a:t>
            </a:r>
          </a:p>
          <a:p xmlns:a="http://schemas.openxmlformats.org/drawingml/2006/main">
            <a:r>
              <a:t>        "detail": "위험 후보를 단속·시설 개선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"지역별 위험 특징",</a:t>
            </a:r>
          </a:p>
          <a:p xmlns:a="http://schemas.openxmlformats.org/drawingml/2006/main">
            <a:r>
              <a:t>        "detail": "공간·시간 단위 정합화와 결측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"예측 오차·지역 편차·개입 후 지표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"민관 교통 데이터",</a:t>
            </a:r>
          </a:p>
          <a:p xmlns:a="http://schemas.openxmlformats.org/drawingml/2006/main">
            <a:r>
              <a:t>        "input": "지역·기간·사고유형 정의",</a:t>
            </a:r>
          </a:p>
          <a:p xmlns:a="http://schemas.openxmlformats.org/drawingml/2006/main">
            <a:r>
              <a:t>        "process": "공간·시간 단위 정합화와 결측 점검",</a:t>
            </a:r>
          </a:p>
          <a:p xmlns:a="http://schemas.openxmlformats.org/drawingml/2006/main">
            <a:r>
              <a:t>        "output": "관측 데이터"</a:t>
            </a:r>
          </a:p>
          <a:p xmlns:a="http://schemas.openxmlformats.org/drawingml/2006/main">
            <a:r>
              <a:t>      },</a:t>
            </a:r>
          </a:p>
          <a:p xmlns:a="http://schemas.openxmlformats.org/drawingml/2006/main">
            <a:r>
              <a:t>      {</a:t>
            </a:r>
          </a:p>
          <a:p xmlns:a="http://schemas.openxmlformats.org/drawingml/2006/main">
            <a:r>
              <a:t>        "title": "전처리·MLOps",</a:t>
            </a:r>
          </a:p>
          <a:p xmlns:a="http://schemas.openxmlformats.org/drawingml/2006/main">
            <a:r>
              <a:t>        "input": "관측 데이터",</a:t>
            </a:r>
          </a:p>
          <a:p xmlns:a="http://schemas.openxmlformats.org/drawingml/2006/main">
            <a:r>
              <a:t>        "process": "사고·단속·시설·기상·교통량 결합 분석",</a:t>
            </a:r>
          </a:p>
          <a:p xmlns:a="http://schemas.openxmlformats.org/drawingml/2006/main">
            <a:r>
              <a:t>        "output": "학습·평가 특징"</a:t>
            </a:r>
          </a:p>
          <a:p xmlns:a="http://schemas.openxmlformats.org/drawingml/2006/main">
            <a:r>
              <a:t>      },</a:t>
            </a:r>
          </a:p>
          <a:p xmlns:a="http://schemas.openxmlformats.org/drawingml/2006/main">
            <a:r>
              <a:t>      {</a:t>
            </a:r>
          </a:p>
          <a:p xmlns:a="http://schemas.openxmlformats.org/drawingml/2006/main">
            <a:r>
              <a:t>        "title": "사고 위험 예측",</a:t>
            </a:r>
          </a:p>
          <a:p xmlns:a="http://schemas.openxmlformats.org/drawingml/2006/main">
            <a:r>
              <a:t>        "input": "학습·평가 특징",</a:t>
            </a:r>
          </a:p>
          <a:p xmlns:a="http://schemas.openxmlformats.org/drawingml/2006/main">
            <a:r>
              <a:t>        "process": "시간·지역 분리 평가와 누수 차단",</a:t>
            </a:r>
          </a:p>
          <a:p xmlns:a="http://schemas.openxmlformats.org/drawingml/2006/main">
            <a:r>
              <a:t>        "output": "위험 순위"</a:t>
            </a:r>
          </a:p>
          <a:p xmlns:a="http://schemas.openxmlformats.org/drawingml/2006/main">
            <a:r>
              <a:t>      },</a:t>
            </a:r>
          </a:p>
          <a:p xmlns:a="http://schemas.openxmlformats.org/drawingml/2006/main">
            <a:r>
              <a:t>      {</a:t>
            </a:r>
          </a:p>
          <a:p xmlns:a="http://schemas.openxmlformats.org/drawingml/2006/main">
            <a:r>
              <a:t>        "title": "지역 실증·현장 대응",</a:t>
            </a:r>
          </a:p>
          <a:p xmlns:a="http://schemas.openxmlformats.org/drawingml/2006/main">
            <a:r>
              <a:t>        "input": "위험 순위",</a:t>
            </a:r>
          </a:p>
          <a:p xmlns:a="http://schemas.openxmlformats.org/drawingml/2006/main">
            <a:r>
              <a:t>        "process": "위험 후보를 단속·시설 개선 검토에 전달",</a:t>
            </a:r>
          </a:p>
          <a:p xmlns:a="http://schemas.openxmlformats.org/drawingml/2006/main">
            <a:r>
              <a:t>        "output": "현장 조치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지역·기간의 사고 위험을 분석하고 대응 후보 선정",</a:t>
            </a:r>
          </a:p>
          <a:p xmlns:a="http://schemas.openxmlformats.org/drawingml/2006/main">
            <a:r>
              <a:t>      "exception": "공간 코드 변경·기상 결측·학습 이후 자료 유입",</a:t>
            </a:r>
          </a:p>
          <a:p xmlns:a="http://schemas.openxmlformats.org/drawingml/2006/main">
            <a:r>
              <a:t>      "evidence": "시공간 분리 평가와 지역별 오차·대응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"교통안전·단속·시설 담당",</a:t>
            </a:r>
          </a:p>
          <a:p xmlns:a="http://schemas.openxmlformats.org/drawingml/2006/main">
            <a:r>
              <a:t>          "processing": "지역·기간·사고유형 정의",</a:t>
            </a:r>
          </a:p>
          <a:p xmlns:a="http://schemas.openxmlformats.org/drawingml/2006/main">
            <a:r>
              <a:t>          "output": "관측 데이터"</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"지역별 위험 특징",</a:t>
            </a:r>
          </a:p>
          <a:p xmlns:a="http://schemas.openxmlformats.org/drawingml/2006/main">
            <a:r>
              <a:t>          "processing": "공간·시간 단위 정합화와 결측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"관측 데이터",</a:t>
            </a:r>
          </a:p>
          <a:p xmlns:a="http://schemas.openxmlformats.org/drawingml/2006/main">
            <a:r>
              <a:t>          "processing": "사고·단속·시설·기상·교통량 결합 분석",</a:t>
            </a:r>
          </a:p>
          <a:p xmlns:a="http://schemas.openxmlformats.org/drawingml/2006/main">
            <a:r>
              <a:t>          "output": "위험 순위"</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 순위",</a:t>
            </a:r>
          </a:p>
          <a:p xmlns:a="http://schemas.openxmlformats.org/drawingml/2006/main">
            <a:r>
              <a:t>          "processing": "위험 후보를 단속·시설 개선 검토에 전달",</a:t>
            </a:r>
          </a:p>
          <a:p xmlns:a="http://schemas.openxmlformats.org/drawingml/2006/main">
            <a:r>
              <a:t>          "output": "현장 조치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"예측 오차·지역 편차·개입 후 지표 평가",</a:t>
            </a:r>
          </a:p>
          <a:p xmlns:a="http://schemas.openxmlformats.org/drawingml/2006/main">
            <a:r>
              <a:t>          "output": "시공간 분리 평가와 지역별 오차·대응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"예측 오차·지역 편차·개입 후 지표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"S-AX23",</a:t>
            </a:r>
          </a:p>
          <a:p xmlns:a="http://schemas.openxmlformats.org/drawingml/2006/main">
            <a:r>
              <a:t>        "title": "경찰 AI 교통안전 시스템 · 공공AI 사례집 110–111쪽",</a:t>
            </a:r>
          </a:p>
          <a:p xmlns:a="http://schemas.openxmlformats.org/drawingml/2006/main">
            <a:r>
              <a:t>        "url": "https://bigdata.dongjak.go.kr/board/viewArticle?articleNo=954&amp;boardId=4",</a:t>
            </a:r>
          </a:p>
          <a:p xmlns:a="http://schemas.openxmlformats.org/drawingml/2006/main">
            <a:r>
              <a:t>        "published": "2024 구축·실증",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"지역별 모델 평가와 예방 조치의 연결",</a:t>
            </a:r>
          </a:p>
          <a:p xmlns:a="http://schemas.openxmlformats.org/drawingml/2006/main">
            <a:r>
              <a:t>    "local": "TS 지역 안전 진단·개선 권고와 관할 매핑",</a:t>
            </a:r>
          </a:p>
          <a:p xmlns:a="http://schemas.openxmlformats.org/drawingml/2006/main">
            <a:r>
              <a:t>    "sourceDetail": null,</a:t>
            </a:r>
          </a:p>
          <a:p xmlns:a="http://schemas.openxmlformats.org/drawingml/2006/main">
            <a:r>
              <a:t>    "narrative": [</a:t>
            </a:r>
          </a:p>
          <a:p xmlns:a="http://schemas.openxmlformats.org/drawingml/2006/main">
            <a:r>
              <a:t>      "사고·단속·시설·기상·교통량을 결합해 지역별 교통 위험을 분석하는 사례. 다양한 원천의 시간·공간 단위를 맞추고 현장 실증으로 예측을 평가하는 유형.",</a:t>
            </a:r>
          </a:p>
          <a:p xmlns:a="http://schemas.openxmlformats.org/drawingml/2006/main">
            <a:r>
              <a:t>      "원천 자료를 정합화하고 결측·표본 편차를 검사한 뒤 학습·평가 특징을 구성하는 재구성. 위험 순위는 단속·시설 개선 담당자의 검토 자료로 전달하고 실제 개입 결과를 별도 기록.",</a:t>
            </a:r>
          </a:p>
          <a:p xmlns:a="http://schemas.openxmlformats.org/drawingml/2006/main">
            <a:r>
              <a:t>      "CCK 비교에서는 시간·지역 분리 평가로 데이터 누수를 막고 희귀 사고의 미탐을 별도로 확인. 예측 성능과 개입 후 사고 변화의 인과효과를 구분하고 관할 부서별 조치 이력을 연결할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"지역 위험 조회",</a:t>
            </a:r>
          </a:p>
          <a:p xmlns:a="http://schemas.openxmlformats.org/drawingml/2006/main">
            <a:r>
              <a:t>          "layer": "이용 접점",</a:t>
            </a:r>
          </a:p>
          <a:p xmlns:a="http://schemas.openxmlformats.org/drawingml/2006/main">
            <a:r>
              <a:t>          "detail": "교통안전·단속·시설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"지역·기간·유형",</a:t>
            </a:r>
          </a:p>
          <a:p xmlns:a="http://schemas.openxmlformats.org/drawingml/2006/main">
            <a:r>
              <a:t>          "layer": "업무 문맥",</a:t>
            </a:r>
          </a:p>
          <a:p xmlns:a="http://schemas.openxmlformats.org/drawingml/2006/main">
            <a:r>
              <a:t>          "detail": "지역·기간·사고유형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"교통 특징 조회",</a:t>
            </a:r>
          </a:p>
          <a:p xmlns:a="http://schemas.openxmlformats.org/drawingml/2006/main">
            <a:r>
              <a:t>          "layer": "자료 조회",</a:t>
            </a:r>
          </a:p>
          <a:p xmlns:a="http://schemas.openxmlformats.org/drawingml/2006/main">
            <a:r>
              <a:t>          "detail": "관측 데이터",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"위험 순위 예측",</a:t>
            </a:r>
          </a:p>
          <a:p xmlns:a="http://schemas.openxmlformats.org/drawingml/2006/main">
            <a:r>
              <a:t>          "layer": "핵심 처리",</a:t>
            </a:r>
          </a:p>
          <a:p xmlns:a="http://schemas.openxmlformats.org/drawingml/2006/main">
            <a:r>
              <a:t>          "detail": "사고·단속·시설·기상·교통량 결합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"누수·편향 검사",</a:t>
            </a:r>
          </a:p>
          <a:p xmlns:a="http://schemas.openxmlformats.org/drawingml/2006/main">
            <a:r>
              <a:t>          "layer": "결과 검증",</a:t>
            </a:r>
          </a:p>
          <a:p xmlns:a="http://schemas.openxmlformats.org/drawingml/2006/main">
            <a:r>
              <a:t>          "detail": "시간·지역 분리 평가와 누수 차단",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검토",</a:t>
            </a:r>
          </a:p>
          <a:p xmlns:a="http://schemas.openxmlformats.org/drawingml/2006/main">
            <a:r>
              <a:t>          "layer": "사람 확인",</a:t>
            </a:r>
          </a:p>
          <a:p xmlns:a="http://schemas.openxmlformats.org/drawingml/2006/main">
            <a:r>
              <a:t>          "detail": "같은 지역·기간의 사고 위험을 분석하고 대응 후보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"단속·시설 계획",</a:t>
            </a:r>
          </a:p>
          <a:p xmlns:a="http://schemas.openxmlformats.org/drawingml/2006/main">
            <a:r>
              <a:t>          "layer": "업무 연결",</a:t>
            </a:r>
          </a:p>
          <a:p xmlns:a="http://schemas.openxmlformats.org/drawingml/2006/main">
            <a:r>
              <a:t>          "detail": "위험 후보를 단속·시설 개선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"지역 실증 평가",</a:t>
            </a:r>
          </a:p>
          <a:p xmlns:a="http://schemas.openxmlformats.org/drawingml/2006/main">
            <a:r>
              <a:t>          "layer": "운영 관측",</a:t>
            </a:r>
          </a:p>
          <a:p xmlns:a="http://schemas.openxmlformats.org/drawingml/2006/main">
            <a:r>
              <a:t>          "detail": "예측 오차·지역 편차·개입 후 지표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"사고·기상·시설",</a:t>
            </a:r>
          </a:p>
          <a:p xmlns:a="http://schemas.openxmlformats.org/drawingml/2006/main">
            <a:r>
              <a:t>          "layer": "데이터 원천",</a:t>
            </a:r>
          </a:p>
          <a:p xmlns:a="http://schemas.openxmlformats.org/drawingml/2006/main">
            <a:r>
              <a:t>          "detail": "지역별 위험 특징",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"시공간·결측 정리",</a:t>
            </a:r>
          </a:p>
          <a:p xmlns:a="http://schemas.openxmlformats.org/drawingml/2006/main">
            <a:r>
              <a:t>          "layer": "준비·갱신",</a:t>
            </a:r>
          </a:p>
          <a:p xmlns:a="http://schemas.openxmlformats.org/drawingml/2006/main">
            <a:r>
              <a:t>          "detail": "공간·시간 단위 정합화와 결측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"특징·평가 자료",</a:t>
            </a:r>
          </a:p>
          <a:p xmlns:a="http://schemas.openxmlformats.org/drawingml/2006/main">
            <a:r>
              <a:t>          "layer": "상태·지식 저장",</a:t>
            </a:r>
          </a:p>
          <a:p xmlns:a="http://schemas.openxmlformats.org/drawingml/2006/main">
            <a:r>
              <a:t>          "detail": "시공간 분리 평가와 지역별 오차·대응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"기간·지역 분리",</a:t>
            </a:r>
          </a:p>
          <a:p xmlns:a="http://schemas.openxmlformats.org/drawingml/2006/main">
            <a:r>
              <a:t>          "layer": "권한·정책",</a:t>
            </a:r>
          </a:p>
          <a:p xmlns:a="http://schemas.openxmlformats.org/drawingml/2006/main">
            <a:r>
              <a:t>          "detail": "공간 코드 변경·기상 결측·학습 이후 자료 유입",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"민관 교통 데이터 → 전처리·MLOps → 사고 위험 예측 → 지역 실증·현장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"지역별 위험 특징",</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"학습·평가 특징",</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"위험 순위",</a:t>
            </a:r>
          </a:p>
          <a:p xmlns:a="http://schemas.openxmlformats.org/drawingml/2006/main">
            <a:r>
              <a:t>          "check": "시공간 분리 평가와 지역별 오차·대응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"위험 순위",</a:t>
            </a:r>
          </a:p>
          <a:p xmlns:a="http://schemas.openxmlformats.org/drawingml/2006/main">
            <a:r>
              <a:t>          "check": "시간·지역 분리 평가와 누수 차단"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"현장 조치 검토",</a:t>
            </a:r>
          </a:p>
          <a:p xmlns:a="http://schemas.openxmlformats.org/drawingml/2006/main">
            <a:r>
              <a:t>          "check": "시공간 분리 평가와 지역별 오차·대응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"지역별 교통사고 위험 분석과 대응 지원 / 다종 데이터·위험 예측·지역 실증",</a:t>
            </a:r>
          </a:p>
          <a:p xmlns:a="http://schemas.openxmlformats.org/drawingml/2006/main">
            <a:r>
              <a:t>        "extension": "TS 지역 안전 진단·개선 권고와 관할 매핑"</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"공간 코드 변경·기상 결측·학습 이후 자료 유입",</a:t>
            </a:r>
          </a:p>
          <a:p xmlns:a="http://schemas.openxmlformats.org/drawingml/2006/main">
            <a:r>
              <a:t>        "hold": "시간·지역 분리 평가와 누수 차단",</a:t>
            </a:r>
          </a:p>
          <a:p xmlns:a="http://schemas.openxmlformats.org/drawingml/2006/main">
            <a:r>
              <a:t>        "recovery": "예측 오차·지역 편차·개입 후 지표 평가",</a:t>
            </a:r>
          </a:p>
          <a:p xmlns:a="http://schemas.openxmlformats.org/drawingml/2006/main">
            <a:r>
              <a:t>        "evidence": "시공간 분리 평가와 지역별 오차·대응 기록"</a:t>
            </a:r>
          </a:p>
          <a:p xmlns:a="http://schemas.openxmlformats.org/drawingml/2006/main">
            <a:r>
              <a:t>      },</a:t>
            </a:r>
          </a:p>
          <a:p xmlns:a="http://schemas.openxmlformats.org/drawingml/2006/main">
            <a:r>
              <a:t>      "data": {</a:t>
            </a:r>
          </a:p>
          <a:p xmlns:a="http://schemas.openxmlformats.org/drawingml/2006/main">
            <a:r>
              <a:t>        "source": "지역별 위험 특징",</a:t>
            </a:r>
          </a:p>
          <a:p xmlns:a="http://schemas.openxmlformats.org/drawingml/2006/main">
            <a:r>
              <a:t>        "prepare": "공간·시간 단위 정합화와 결측 점검",</a:t>
            </a:r>
          </a:p>
          <a:p xmlns:a="http://schemas.openxmlformats.org/drawingml/2006/main">
            <a:r>
              <a:t>        "output": "관측 데이터",</a:t>
            </a:r>
          </a:p>
          <a:p xmlns:a="http://schemas.openxmlformats.org/drawingml/2006/main">
            <a:r>
              <a:t>        "refresh": "예측 오차·지역 편차·개입 후 지표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"AX23",</a:t>
            </a:r>
          </a:p>
          <a:p xmlns:a="http://schemas.openxmlformats.org/drawingml/2006/main">
            <a:r>
              <a:t>    "success": [</a:t>
            </a:r>
          </a:p>
          <a:p xmlns:a="http://schemas.openxmlformats.org/drawingml/2006/main">
            <a:r>
              <a:t>      "사고·시설·기상·교통량 결합",</a:t>
            </a:r>
          </a:p>
          <a:p xmlns:a="http://schemas.openxmlformats.org/drawingml/2006/main">
            <a:r>
              <a:t>      "지역 현장 실증으로 위험 검토"</a:t>
            </a:r>
          </a:p>
          <a:p xmlns:a="http://schemas.openxmlformats.org/drawingml/2006/main">
            <a:r>
              <a:t>    ],</a:t>
            </a:r>
          </a:p>
          <a:p xmlns:a="http://schemas.openxmlformats.org/drawingml/2006/main">
            <a:r>
              <a:t>    "risks": [</a:t>
            </a:r>
          </a:p>
          <a:p xmlns:a="http://schemas.openxmlformats.org/drawingml/2006/main">
            <a:r>
              <a:t>      "희귀 사고의 표본 불균형",</a:t>
            </a:r>
          </a:p>
          <a:p xmlns:a="http://schemas.openxmlformats.org/drawingml/2006/main">
            <a:r>
              <a:t>      "예측지표를 예방 효과로 환산"</a:t>
            </a:r>
          </a:p>
          <a:p xmlns:a="http://schemas.openxmlformats.org/drawingml/2006/main">
            <a:r>
              <a:t>    ],</a:t>
            </a:r>
          </a:p>
          <a:p xmlns:a="http://schemas.openxmlformats.org/drawingml/2006/main">
            <a:r>
              <a:t>    "architecture": [</a:t>
            </a:r>
          </a:p>
          <a:p xmlns:a="http://schemas.openxmlformats.org/drawingml/2006/main">
            <a:r>
              <a:t>      "민관 교통 데이터",</a:t>
            </a:r>
          </a:p>
          <a:p xmlns:a="http://schemas.openxmlformats.org/drawingml/2006/main">
            <a:r>
              <a:t>      "전처리·MLOps",</a:t>
            </a:r>
          </a:p>
          <a:p xmlns:a="http://schemas.openxmlformats.org/drawingml/2006/main">
            <a:r>
              <a:t>      "지역별 위험 특징",</a:t>
            </a:r>
          </a:p>
          <a:p xmlns:a="http://schemas.openxmlformats.org/drawingml/2006/main">
            <a:r>
              <a:t>      "교통안전 담당"</a:t>
            </a:r>
          </a:p>
          <a:p xmlns:a="http://schemas.openxmlformats.org/drawingml/2006/main">
            <a:r>
              <a:t>    ],</a:t>
            </a:r>
          </a:p>
          <a:p xmlns:a="http://schemas.openxmlformats.org/drawingml/2006/main">
            <a:r>
              <a:t>    "transfers": [</a:t>
            </a:r>
          </a:p>
          <a:p xmlns:a="http://schemas.openxmlformats.org/drawingml/2006/main">
            <a:r>
              <a:t>      "관측 데이터",</a:t>
            </a:r>
          </a:p>
          <a:p xmlns:a="http://schemas.openxmlformats.org/drawingml/2006/main">
            <a:r>
              <a:t>      "학습·평가 특징",</a:t>
            </a:r>
          </a:p>
          <a:p xmlns:a="http://schemas.openxmlformats.org/drawingml/2006/main">
            <a:r>
              <a:t>      "위험 순위",</a:t>
            </a:r>
          </a:p>
          <a:p xmlns:a="http://schemas.openxmlformats.org/drawingml/2006/main">
            <a:r>
              <a:t>      "현장 조치 검토"</a:t>
            </a:r>
          </a:p>
          <a:p xmlns:a="http://schemas.openxmlformats.org/drawingml/2006/main">
            <a:r>
              <a:t>    ],</a:t>
            </a:r>
          </a:p>
          <a:p xmlns:a="http://schemas.openxmlformats.org/drawingml/2006/main">
            <a:r>
              <a:t>    "control": "시간·지역 분리 평가와 누수 차단",</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경찰 AI 교통안전 시스템 · 공공AI 사례집 110–111쪽 https://bigdata.dongjak.go.kr/board/viewArticle?articleNo=954&amp;boardId=4</a:t>
            </a:r>
          </a:p>
          <a:p xmlns:a="http://schemas.openxmlformats.org/drawingml/2006/main">
            <a:r>
              <a:t>홈페이지 https://heen1987-ops.github.io/TS-business-Plan-001/index.html?view=casebook&amp;case=AX23</a:t>
            </a:r>
          </a:p>
          <a:p xmlns:a="http://schemas.openxmlformats.org/drawingml/2006/main">
            <a:r>
              <a:t>한계: 지역 실증 범위 · 전국 사고 감소 성과로 확대 불가</a:t>
            </a:r>
          </a:p>
          <a:p xmlns:a="http://schemas.openxmlformats.org/drawingml/2006/main">
            <a:r>
              <a:t>실패 위험: 희귀 사고의 표본 불균형 / 예측지표를 예방 효과로 환산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"AX23",</a:t>
            </a:r>
          </a:p>
          <a:p xmlns:a="http://schemas.openxmlformats.org/drawingml/2006/main">
            <a:r>
              <a:t>    "title": "경찰 AI 교통안전 시스템",</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"교통사고 위험 예측",</a:t>
            </a:r>
          </a:p>
          <a:p xmlns:a="http://schemas.openxmlformats.org/drawingml/2006/main">
            <a:r>
              <a:t>    "period": "2024 구축·실증",</a:t>
            </a:r>
          </a:p>
          <a:p xmlns:a="http://schemas.openxmlformats.org/drawingml/2006/main">
            <a:r>
              <a:t>    "sources": [</a:t>
            </a:r>
          </a:p>
          <a:p xmlns:a="http://schemas.openxmlformats.org/drawingml/2006/main">
            <a:r>
              <a:t>      "S-AX23"</a:t>
            </a:r>
          </a:p>
          <a:p xmlns:a="http://schemas.openxmlformats.org/drawingml/2006/main">
            <a:r>
              <a:t>    ],</a:t>
            </a:r>
          </a:p>
          <a:p xmlns:a="http://schemas.openxmlformats.org/drawingml/2006/main">
            <a:r>
              <a:t>    "keywords": [</a:t>
            </a:r>
          </a:p>
          <a:p xmlns:a="http://schemas.openxmlformats.org/drawingml/2006/main">
            <a:r>
              <a:t>      "교통사고 위험 예측"</a:t>
            </a:r>
          </a:p>
          <a:p xmlns:a="http://schemas.openxmlformats.org/drawingml/2006/main">
            <a:r>
              <a:t>    ],</a:t>
            </a:r>
          </a:p>
          <a:p xmlns:a="http://schemas.openxmlformats.org/drawingml/2006/main">
            <a:r>
              <a:t>    "fact": "교통사고·단속·시설·기상·교통량 데이터 기반 위험 예측과 지역 실증",</a:t>
            </a:r>
          </a:p>
          <a:p xmlns:a="http://schemas.openxmlformats.org/drawingml/2006/main">
            <a:r>
              <a:t>    "limit": "지역 실증 범위 · 전국 사고 감소 성과로 확대 불가",</a:t>
            </a:r>
          </a:p>
          <a:p xmlns:a="http://schemas.openxmlformats.org/drawingml/2006/main">
            <a:r>
              <a:t>    "flow": [</a:t>
            </a:r>
          </a:p>
          <a:p xmlns:a="http://schemas.openxmlformats.org/drawingml/2006/main">
            <a:r>
              <a:t>      "민관 교통 데이터",</a:t>
            </a:r>
          </a:p>
          <a:p xmlns:a="http://schemas.openxmlformats.org/drawingml/2006/main">
            <a:r>
              <a:t>      "전처리·MLOps",</a:t>
            </a:r>
          </a:p>
          <a:p xmlns:a="http://schemas.openxmlformats.org/drawingml/2006/main">
            <a:r>
              <a:t>      "사고 위험 예측",</a:t>
            </a:r>
          </a:p>
          <a:p xmlns:a="http://schemas.openxmlformats.org/drawingml/2006/main">
            <a:r>
              <a:t>      "지역 실증·현장 대응"</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"지역별 모델 평가와 예방 조치의 연결",</a:t>
            </a:r>
          </a:p>
          <a:p xmlns:a="http://schemas.openxmlformats.org/drawingml/2006/main">
            <a:r>
              <a:t>    "local": "TS 지역 안전 진단·개선 권고와 관할 매핑",</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"지역·도로·시점 정규화 및 개선 이력 연결",</a:t>
            </a:r>
          </a:p>
          <a:p xmlns:a="http://schemas.openxmlformats.org/drawingml/2006/main">
            <a:r>
              <a:t>    "test": "시간·지역 분리 검증과 데이터 누락 시험",</a:t>
            </a:r>
          </a:p>
          <a:p xmlns:a="http://schemas.openxmlformats.org/drawingml/2006/main">
            <a:r>
              <a:t>    "metric": "위험 탐지율 / 예방 조치 이행률",</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"ST-07"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"AX23",</a:t>
            </a:r>
          </a:p>
          <a:p xmlns:a="http://schemas.openxmlformats.org/drawingml/2006/main">
            <a:r>
              <a:t>    "canonicalId": "AX23",</a:t>
            </a:r>
          </a:p>
          <a:p xmlns:a="http://schemas.openxmlformats.org/drawingml/2006/main">
            <a:r>
              <a:t>    "purpose": "지역별 교통사고 위험 분석과 대응 지원",</a:t>
            </a:r>
          </a:p>
          <a:p xmlns:a="http://schemas.openxmlformats.org/drawingml/2006/main">
            <a:r>
              <a:t>    "users": "교통안전·단속·시설 담당",</a:t>
            </a:r>
          </a:p>
          <a:p xmlns:a="http://schemas.openxmlformats.org/drawingml/2006/main">
            <a:r>
              <a:t>    "scope": [</a:t>
            </a:r>
          </a:p>
          <a:p xmlns:a="http://schemas.openxmlformats.org/drawingml/2006/main">
            <a:r>
              <a:t>      "다종 데이터",</a:t>
            </a:r>
          </a:p>
          <a:p xmlns:a="http://schemas.openxmlformats.org/drawingml/2006/main">
            <a:r>
              <a:t>      "위험 예측",</a:t>
            </a:r>
          </a:p>
          <a:p xmlns:a="http://schemas.openxmlformats.org/drawingml/2006/main">
            <a:r>
              <a:t>      "지역 실증"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"민관 교통 데이터",</a:t>
            </a:r>
          </a:p>
          <a:p xmlns:a="http://schemas.openxmlformats.org/drawingml/2006/main">
            <a:r>
              <a:t>        "detail": "지역·기간·사고유형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"다종 데이터 / 위험 예측 / 지역 실증",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"전처리·MLOps",</a:t>
            </a:r>
          </a:p>
          <a:p xmlns:a="http://schemas.openxmlformats.org/drawingml/2006/main">
            <a:r>
              <a:t>        "detail": "사고·단속·시설·기상·교통량 결합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"교통안전 담당",</a:t>
            </a:r>
          </a:p>
          <a:p xmlns:a="http://schemas.openxmlformats.org/drawingml/2006/main">
            <a:r>
              <a:t>        "detail": "위험 후보를 단속·시설 개선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"지역별 위험 특징",</a:t>
            </a:r>
          </a:p>
          <a:p xmlns:a="http://schemas.openxmlformats.org/drawingml/2006/main">
            <a:r>
              <a:t>        "detail": "공간·시간 단위 정합화와 결측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"예측 오차·지역 편차·개입 후 지표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"민관 교통 데이터",</a:t>
            </a:r>
          </a:p>
          <a:p xmlns:a="http://schemas.openxmlformats.org/drawingml/2006/main">
            <a:r>
              <a:t>        "input": "지역·기간·사고유형 정의",</a:t>
            </a:r>
          </a:p>
          <a:p xmlns:a="http://schemas.openxmlformats.org/drawingml/2006/main">
            <a:r>
              <a:t>        "process": "공간·시간 단위 정합화와 결측 점검",</a:t>
            </a:r>
          </a:p>
          <a:p xmlns:a="http://schemas.openxmlformats.org/drawingml/2006/main">
            <a:r>
              <a:t>        "output": "관측 데이터"</a:t>
            </a:r>
          </a:p>
          <a:p xmlns:a="http://schemas.openxmlformats.org/drawingml/2006/main">
            <a:r>
              <a:t>      },</a:t>
            </a:r>
          </a:p>
          <a:p xmlns:a="http://schemas.openxmlformats.org/drawingml/2006/main">
            <a:r>
              <a:t>      {</a:t>
            </a:r>
          </a:p>
          <a:p xmlns:a="http://schemas.openxmlformats.org/drawingml/2006/main">
            <a:r>
              <a:t>        "title": "전처리·MLOps",</a:t>
            </a:r>
          </a:p>
          <a:p xmlns:a="http://schemas.openxmlformats.org/drawingml/2006/main">
            <a:r>
              <a:t>        "input": "관측 데이터",</a:t>
            </a:r>
          </a:p>
          <a:p xmlns:a="http://schemas.openxmlformats.org/drawingml/2006/main">
            <a:r>
              <a:t>        "process": "사고·단속·시설·기상·교통량 결합 분석",</a:t>
            </a:r>
          </a:p>
          <a:p xmlns:a="http://schemas.openxmlformats.org/drawingml/2006/main">
            <a:r>
              <a:t>        "output": "학습·평가 특징"</a:t>
            </a:r>
          </a:p>
          <a:p xmlns:a="http://schemas.openxmlformats.org/drawingml/2006/main">
            <a:r>
              <a:t>      },</a:t>
            </a:r>
          </a:p>
          <a:p xmlns:a="http://schemas.openxmlformats.org/drawingml/2006/main">
            <a:r>
              <a:t>      {</a:t>
            </a:r>
          </a:p>
          <a:p xmlns:a="http://schemas.openxmlformats.org/drawingml/2006/main">
            <a:r>
              <a:t>        "title": "사고 위험 예측",</a:t>
            </a:r>
          </a:p>
          <a:p xmlns:a="http://schemas.openxmlformats.org/drawingml/2006/main">
            <a:r>
              <a:t>        "input": "학습·평가 특징",</a:t>
            </a:r>
          </a:p>
          <a:p xmlns:a="http://schemas.openxmlformats.org/drawingml/2006/main">
            <a:r>
              <a:t>        "process": "시간·지역 분리 평가와 누수 차단",</a:t>
            </a:r>
          </a:p>
          <a:p xmlns:a="http://schemas.openxmlformats.org/drawingml/2006/main">
            <a:r>
              <a:t>        "output": "위험 순위"</a:t>
            </a:r>
          </a:p>
          <a:p xmlns:a="http://schemas.openxmlformats.org/drawingml/2006/main">
            <a:r>
              <a:t>      },</a:t>
            </a:r>
          </a:p>
          <a:p xmlns:a="http://schemas.openxmlformats.org/drawingml/2006/main">
            <a:r>
              <a:t>      {</a:t>
            </a:r>
          </a:p>
          <a:p xmlns:a="http://schemas.openxmlformats.org/drawingml/2006/main">
            <a:r>
              <a:t>        "title": "지역 실증·현장 대응",</a:t>
            </a:r>
          </a:p>
          <a:p xmlns:a="http://schemas.openxmlformats.org/drawingml/2006/main">
            <a:r>
              <a:t>        "input": "위험 순위",</a:t>
            </a:r>
          </a:p>
          <a:p xmlns:a="http://schemas.openxmlformats.org/drawingml/2006/main">
            <a:r>
              <a:t>        "process": "위험 후보를 단속·시설 개선 검토에 전달",</a:t>
            </a:r>
          </a:p>
          <a:p xmlns:a="http://schemas.openxmlformats.org/drawingml/2006/main">
            <a:r>
              <a:t>        "output": "현장 조치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지역·기간의 사고 위험을 분석하고 대응 후보 선정",</a:t>
            </a:r>
          </a:p>
          <a:p xmlns:a="http://schemas.openxmlformats.org/drawingml/2006/main">
            <a:r>
              <a:t>      "exception": "공간 코드 변경·기상 결측·학습 이후 자료 유입",</a:t>
            </a:r>
          </a:p>
          <a:p xmlns:a="http://schemas.openxmlformats.org/drawingml/2006/main">
            <a:r>
              <a:t>      "evidence": "시공간 분리 평가와 지역별 오차·대응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"교통안전·단속·시설 담당",</a:t>
            </a:r>
          </a:p>
          <a:p xmlns:a="http://schemas.openxmlformats.org/drawingml/2006/main">
            <a:r>
              <a:t>          "processing": "지역·기간·사고유형 정의",</a:t>
            </a:r>
          </a:p>
          <a:p xmlns:a="http://schemas.openxmlformats.org/drawingml/2006/main">
            <a:r>
              <a:t>          "output": "관측 데이터"</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"지역별 위험 특징",</a:t>
            </a:r>
          </a:p>
          <a:p xmlns:a="http://schemas.openxmlformats.org/drawingml/2006/main">
            <a:r>
              <a:t>          "processing": "공간·시간 단위 정합화와 결측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"관측 데이터",</a:t>
            </a:r>
          </a:p>
          <a:p xmlns:a="http://schemas.openxmlformats.org/drawingml/2006/main">
            <a:r>
              <a:t>          "processing": "사고·단속·시설·기상·교통량 결합 분석",</a:t>
            </a:r>
          </a:p>
          <a:p xmlns:a="http://schemas.openxmlformats.org/drawingml/2006/main">
            <a:r>
              <a:t>          "output": "위험 순위"</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 순위",</a:t>
            </a:r>
          </a:p>
          <a:p xmlns:a="http://schemas.openxmlformats.org/drawingml/2006/main">
            <a:r>
              <a:t>          "processing": "위험 후보를 단속·시설 개선 검토에 전달",</a:t>
            </a:r>
          </a:p>
          <a:p xmlns:a="http://schemas.openxmlformats.org/drawingml/2006/main">
            <a:r>
              <a:t>          "output": "현장 조치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"예측 오차·지역 편차·개입 후 지표 평가",</a:t>
            </a:r>
          </a:p>
          <a:p xmlns:a="http://schemas.openxmlformats.org/drawingml/2006/main">
            <a:r>
              <a:t>          "output": "시공간 분리 평가와 지역별 오차·대응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"예측 오차·지역 편차·개입 후 지표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"S-AX23",</a:t>
            </a:r>
          </a:p>
          <a:p xmlns:a="http://schemas.openxmlformats.org/drawingml/2006/main">
            <a:r>
              <a:t>        "title": "경찰 AI 교통안전 시스템 · 공공AI 사례집 110–111쪽",</a:t>
            </a:r>
          </a:p>
          <a:p xmlns:a="http://schemas.openxmlformats.org/drawingml/2006/main">
            <a:r>
              <a:t>        "url": "https://bigdata.dongjak.go.kr/board/viewArticle?articleNo=954&amp;boardId=4",</a:t>
            </a:r>
          </a:p>
          <a:p xmlns:a="http://schemas.openxmlformats.org/drawingml/2006/main">
            <a:r>
              <a:t>        "published": "2024 구축·실증",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"지역별 모델 평가와 예방 조치의 연결",</a:t>
            </a:r>
          </a:p>
          <a:p xmlns:a="http://schemas.openxmlformats.org/drawingml/2006/main">
            <a:r>
              <a:t>    "local": "TS 지역 안전 진단·개선 권고와 관할 매핑",</a:t>
            </a:r>
          </a:p>
          <a:p xmlns:a="http://schemas.openxmlformats.org/drawingml/2006/main">
            <a:r>
              <a:t>    "sourceDetail": null,</a:t>
            </a:r>
          </a:p>
          <a:p xmlns:a="http://schemas.openxmlformats.org/drawingml/2006/main">
            <a:r>
              <a:t>    "narrative": [</a:t>
            </a:r>
          </a:p>
          <a:p xmlns:a="http://schemas.openxmlformats.org/drawingml/2006/main">
            <a:r>
              <a:t>      "사고·단속·시설·기상·교통량을 결합해 지역별 교통 위험을 분석하는 사례. 다양한 원천의 시간·공간 단위를 맞추고 현장 실증으로 예측을 평가하는 유형.",</a:t>
            </a:r>
          </a:p>
          <a:p xmlns:a="http://schemas.openxmlformats.org/drawingml/2006/main">
            <a:r>
              <a:t>      "원천 자료를 정합화하고 결측·표본 편차를 검사한 뒤 학습·평가 특징을 구성하는 재구성. 위험 순위는 단속·시설 개선 담당자의 검토 자료로 전달하고 실제 개입 결과를 별도 기록.",</a:t>
            </a:r>
          </a:p>
          <a:p xmlns:a="http://schemas.openxmlformats.org/drawingml/2006/main">
            <a:r>
              <a:t>      "CCK 비교에서는 시간·지역 분리 평가로 데이터 누수를 막고 희귀 사고의 미탐을 별도로 확인. 예측 성능과 개입 후 사고 변화의 인과효과를 구분하고 관할 부서별 조치 이력을 연결할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"지역 위험 조회",</a:t>
            </a:r>
          </a:p>
          <a:p xmlns:a="http://schemas.openxmlformats.org/drawingml/2006/main">
            <a:r>
              <a:t>          "layer": "이용 접점",</a:t>
            </a:r>
          </a:p>
          <a:p xmlns:a="http://schemas.openxmlformats.org/drawingml/2006/main">
            <a:r>
              <a:t>          "detail": "교통안전·단속·시설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"지역·기간·유형",</a:t>
            </a:r>
          </a:p>
          <a:p xmlns:a="http://schemas.openxmlformats.org/drawingml/2006/main">
            <a:r>
              <a:t>          "layer": "업무 문맥",</a:t>
            </a:r>
          </a:p>
          <a:p xmlns:a="http://schemas.openxmlformats.org/drawingml/2006/main">
            <a:r>
              <a:t>          "detail": "지역·기간·사고유형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"교통 특징 조회",</a:t>
            </a:r>
          </a:p>
          <a:p xmlns:a="http://schemas.openxmlformats.org/drawingml/2006/main">
            <a:r>
              <a:t>          "layer": "자료 조회",</a:t>
            </a:r>
          </a:p>
          <a:p xmlns:a="http://schemas.openxmlformats.org/drawingml/2006/main">
            <a:r>
              <a:t>          "detail": "관측 데이터",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"위험 순위 예측",</a:t>
            </a:r>
          </a:p>
          <a:p xmlns:a="http://schemas.openxmlformats.org/drawingml/2006/main">
            <a:r>
              <a:t>          "layer": "핵심 처리",</a:t>
            </a:r>
          </a:p>
          <a:p xmlns:a="http://schemas.openxmlformats.org/drawingml/2006/main">
            <a:r>
              <a:t>          "detail": "사고·단속·시설·기상·교통량 결합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"누수·편향 검사",</a:t>
            </a:r>
          </a:p>
          <a:p xmlns:a="http://schemas.openxmlformats.org/drawingml/2006/main">
            <a:r>
              <a:t>          "layer": "결과 검증",</a:t>
            </a:r>
          </a:p>
          <a:p xmlns:a="http://schemas.openxmlformats.org/drawingml/2006/main">
            <a:r>
              <a:t>          "detail": "시간·지역 분리 평가와 누수 차단",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검토",</a:t>
            </a:r>
          </a:p>
          <a:p xmlns:a="http://schemas.openxmlformats.org/drawingml/2006/main">
            <a:r>
              <a:t>          "layer": "사람 확인",</a:t>
            </a:r>
          </a:p>
          <a:p xmlns:a="http://schemas.openxmlformats.org/drawingml/2006/main">
            <a:r>
              <a:t>          "detail": "같은 지역·기간의 사고 위험을 분석하고 대응 후보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"단속·시설 계획",</a:t>
            </a:r>
          </a:p>
          <a:p xmlns:a="http://schemas.openxmlformats.org/drawingml/2006/main">
            <a:r>
              <a:t>          "layer": "업무 연결",</a:t>
            </a:r>
          </a:p>
          <a:p xmlns:a="http://schemas.openxmlformats.org/drawingml/2006/main">
            <a:r>
              <a:t>          "detail": "위험 후보를 단속·시설 개선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"지역 실증 평가",</a:t>
            </a:r>
          </a:p>
          <a:p xmlns:a="http://schemas.openxmlformats.org/drawingml/2006/main">
            <a:r>
              <a:t>          "layer": "운영 관측",</a:t>
            </a:r>
          </a:p>
          <a:p xmlns:a="http://schemas.openxmlformats.org/drawingml/2006/main">
            <a:r>
              <a:t>          "detail": "예측 오차·지역 편차·개입 후 지표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"사고·기상·시설",</a:t>
            </a:r>
          </a:p>
          <a:p xmlns:a="http://schemas.openxmlformats.org/drawingml/2006/main">
            <a:r>
              <a:t>          "layer": "데이터 원천",</a:t>
            </a:r>
          </a:p>
          <a:p xmlns:a="http://schemas.openxmlformats.org/drawingml/2006/main">
            <a:r>
              <a:t>          "detail": "지역별 위험 특징",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"시공간·결측 정리",</a:t>
            </a:r>
          </a:p>
          <a:p xmlns:a="http://schemas.openxmlformats.org/drawingml/2006/main">
            <a:r>
              <a:t>          "layer": "준비·갱신",</a:t>
            </a:r>
          </a:p>
          <a:p xmlns:a="http://schemas.openxmlformats.org/drawingml/2006/main">
            <a:r>
              <a:t>          "detail": "공간·시간 단위 정합화와 결측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"특징·평가 자료",</a:t>
            </a:r>
          </a:p>
          <a:p xmlns:a="http://schemas.openxmlformats.org/drawingml/2006/main">
            <a:r>
              <a:t>          "layer": "상태·지식 저장",</a:t>
            </a:r>
          </a:p>
          <a:p xmlns:a="http://schemas.openxmlformats.org/drawingml/2006/main">
            <a:r>
              <a:t>          "detail": "시공간 분리 평가와 지역별 오차·대응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"기간·지역 분리",</a:t>
            </a:r>
          </a:p>
          <a:p xmlns:a="http://schemas.openxmlformats.org/drawingml/2006/main">
            <a:r>
              <a:t>          "layer": "권한·정책",</a:t>
            </a:r>
          </a:p>
          <a:p xmlns:a="http://schemas.openxmlformats.org/drawingml/2006/main">
            <a:r>
              <a:t>          "detail": "공간 코드 변경·기상 결측·학습 이후 자료 유입",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"민관 교통 데이터 → 전처리·MLOps → 사고 위험 예측 → 지역 실증·현장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"지역별 위험 특징",</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"학습·평가 특징",</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"위험 순위",</a:t>
            </a:r>
          </a:p>
          <a:p xmlns:a="http://schemas.openxmlformats.org/drawingml/2006/main">
            <a:r>
              <a:t>          "check": "시공간 분리 평가와 지역별 오차·대응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"위험 순위",</a:t>
            </a:r>
          </a:p>
          <a:p xmlns:a="http://schemas.openxmlformats.org/drawingml/2006/main">
            <a:r>
              <a:t>          "check": "시간·지역 분리 평가와 누수 차단"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"현장 조치 검토",</a:t>
            </a:r>
          </a:p>
          <a:p xmlns:a="http://schemas.openxmlformats.org/drawingml/2006/main">
            <a:r>
              <a:t>          "check": "시공간 분리 평가와 지역별 오차·대응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"지역별 교통사고 위험 분석과 대응 지원 / 다종 데이터·위험 예측·지역 실증",</a:t>
            </a:r>
          </a:p>
          <a:p xmlns:a="http://schemas.openxmlformats.org/drawingml/2006/main">
            <a:r>
              <a:t>        "extension": "TS 지역 안전 진단·개선 권고와 관할 매핑"</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"공간 코드 변경·기상 결측·학습 이후 자료 유입",</a:t>
            </a:r>
          </a:p>
          <a:p xmlns:a="http://schemas.openxmlformats.org/drawingml/2006/main">
            <a:r>
              <a:t>        "hold": "시간·지역 분리 평가와 누수 차단",</a:t>
            </a:r>
          </a:p>
          <a:p xmlns:a="http://schemas.openxmlformats.org/drawingml/2006/main">
            <a:r>
              <a:t>        "recovery": "예측 오차·지역 편차·개입 후 지표 평가",</a:t>
            </a:r>
          </a:p>
          <a:p xmlns:a="http://schemas.openxmlformats.org/drawingml/2006/main">
            <a:r>
              <a:t>        "evidence": "시공간 분리 평가와 지역별 오차·대응 기록"</a:t>
            </a:r>
          </a:p>
          <a:p xmlns:a="http://schemas.openxmlformats.org/drawingml/2006/main">
            <a:r>
              <a:t>      },</a:t>
            </a:r>
          </a:p>
          <a:p xmlns:a="http://schemas.openxmlformats.org/drawingml/2006/main">
            <a:r>
              <a:t>      "data": {</a:t>
            </a:r>
          </a:p>
          <a:p xmlns:a="http://schemas.openxmlformats.org/drawingml/2006/main">
            <a:r>
              <a:t>        "source": "지역별 위험 특징",</a:t>
            </a:r>
          </a:p>
          <a:p xmlns:a="http://schemas.openxmlformats.org/drawingml/2006/main">
            <a:r>
              <a:t>        "prepare": "공간·시간 단위 정합화와 결측 점검",</a:t>
            </a:r>
          </a:p>
          <a:p xmlns:a="http://schemas.openxmlformats.org/drawingml/2006/main">
            <a:r>
              <a:t>        "output": "관측 데이터",</a:t>
            </a:r>
          </a:p>
          <a:p xmlns:a="http://schemas.openxmlformats.org/drawingml/2006/main">
            <a:r>
              <a:t>        "refresh": "예측 오차·지역 편차·개입 후 지표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"AX23",</a:t>
            </a:r>
          </a:p>
          <a:p xmlns:a="http://schemas.openxmlformats.org/drawingml/2006/main">
            <a:r>
              <a:t>    "success": [</a:t>
            </a:r>
          </a:p>
          <a:p xmlns:a="http://schemas.openxmlformats.org/drawingml/2006/main">
            <a:r>
              <a:t>      "사고·시설·기상·교통량 결합",</a:t>
            </a:r>
          </a:p>
          <a:p xmlns:a="http://schemas.openxmlformats.org/drawingml/2006/main">
            <a:r>
              <a:t>      "지역 현장 실증으로 위험 검토"</a:t>
            </a:r>
          </a:p>
          <a:p xmlns:a="http://schemas.openxmlformats.org/drawingml/2006/main">
            <a:r>
              <a:t>    ],</a:t>
            </a:r>
          </a:p>
          <a:p xmlns:a="http://schemas.openxmlformats.org/drawingml/2006/main">
            <a:r>
              <a:t>    "risks": [</a:t>
            </a:r>
          </a:p>
          <a:p xmlns:a="http://schemas.openxmlformats.org/drawingml/2006/main">
            <a:r>
              <a:t>      "희귀 사고의 표본 불균형",</a:t>
            </a:r>
          </a:p>
          <a:p xmlns:a="http://schemas.openxmlformats.org/drawingml/2006/main">
            <a:r>
              <a:t>      "예측지표를 예방 효과로 환산"</a:t>
            </a:r>
          </a:p>
          <a:p xmlns:a="http://schemas.openxmlformats.org/drawingml/2006/main">
            <a:r>
              <a:t>    ],</a:t>
            </a:r>
          </a:p>
          <a:p xmlns:a="http://schemas.openxmlformats.org/drawingml/2006/main">
            <a:r>
              <a:t>    "architecture": [</a:t>
            </a:r>
          </a:p>
          <a:p xmlns:a="http://schemas.openxmlformats.org/drawingml/2006/main">
            <a:r>
              <a:t>      "민관 교통 데이터",</a:t>
            </a:r>
          </a:p>
          <a:p xmlns:a="http://schemas.openxmlformats.org/drawingml/2006/main">
            <a:r>
              <a:t>      "전처리·MLOps",</a:t>
            </a:r>
          </a:p>
          <a:p xmlns:a="http://schemas.openxmlformats.org/drawingml/2006/main">
            <a:r>
              <a:t>      "지역별 위험 특징",</a:t>
            </a:r>
          </a:p>
          <a:p xmlns:a="http://schemas.openxmlformats.org/drawingml/2006/main">
            <a:r>
              <a:t>      "교통안전 담당"</a:t>
            </a:r>
          </a:p>
          <a:p xmlns:a="http://schemas.openxmlformats.org/drawingml/2006/main">
            <a:r>
              <a:t>    ],</a:t>
            </a:r>
          </a:p>
          <a:p xmlns:a="http://schemas.openxmlformats.org/drawingml/2006/main">
            <a:r>
              <a:t>    "transfers": [</a:t>
            </a:r>
          </a:p>
          <a:p xmlns:a="http://schemas.openxmlformats.org/drawingml/2006/main">
            <a:r>
              <a:t>      "관측 데이터",</a:t>
            </a:r>
          </a:p>
          <a:p xmlns:a="http://schemas.openxmlformats.org/drawingml/2006/main">
            <a:r>
              <a:t>      "학습·평가 특징",</a:t>
            </a:r>
          </a:p>
          <a:p xmlns:a="http://schemas.openxmlformats.org/drawingml/2006/main">
            <a:r>
              <a:t>      "위험 순위",</a:t>
            </a:r>
          </a:p>
          <a:p xmlns:a="http://schemas.openxmlformats.org/drawingml/2006/main">
            <a:r>
              <a:t>      "현장 조치 검토"</a:t>
            </a:r>
          </a:p>
          <a:p xmlns:a="http://schemas.openxmlformats.org/drawingml/2006/main">
            <a:r>
              <a:t>    ],</a:t>
            </a:r>
          </a:p>
          <a:p xmlns:a="http://schemas.openxmlformats.org/drawingml/2006/main">
            <a:r>
              <a:t>    "control": "시간·지역 분리 평가와 누수 차단",</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경찰 AI 교통안전 시스템 · 공공AI 사례집 110–111쪽 https://bigdata.dongjak.go.kr/board/viewArticle?articleNo=954&amp;boardId=4</a:t>
            </a:r>
          </a:p>
          <a:p xmlns:a="http://schemas.openxmlformats.org/drawingml/2006/main">
            <a:r>
              <a:t>홈페이지 https://heen1987-ops.github.io/TS-business-Plan-001/index.html?view=casebook&amp;case=AX23</a:t>
            </a:r>
          </a:p>
          <a:p xmlns:a="http://schemas.openxmlformats.org/drawingml/2006/main">
            <a:r>
              <a:t>성과 대조</a:t>
            </a:r>
          </a:p>
          <a:p xmlns:a="http://schemas.openxmlformats.org/drawingml/2006/main">
            <a:r>
              <a:t>{</a:t>
            </a:r>
          </a:p>
          <a:p xmlns:a="http://schemas.openxmlformats.org/drawingml/2006/main">
            <a:r>
              <a:t>  "caseId": "AX23",</a:t>
            </a:r>
          </a:p>
          <a:p xmlns:a="http://schemas.openxmlformats.org/drawingml/2006/main">
            <a:r>
              <a:t>  "asIs": "교통사고·단속·시설·기상 자료가 분산되어 지역별 위험 예측·단속 계획에 재가공 필요",</a:t>
            </a:r>
          </a:p>
          <a:p xmlns:a="http://schemas.openxmlformats.org/drawingml/2006/main">
            <a:r>
              <a:t>  "toBe": "민관 자료를 통합해 사고 위험도를 예측하고 지역 현장조치에 연결",</a:t>
            </a:r>
          </a:p>
          <a:p xmlns:a="http://schemas.openxmlformats.org/drawingml/2006/main">
            <a:r>
              <a:t>  "expectedEffect": "사고 고위험지점의 선제 관리와 점검 자원 배분 개선",</a:t>
            </a:r>
          </a:p>
          <a:p xmlns:a="http://schemas.openxmlformats.org/drawingml/2006/main">
            <a:r>
              <a:t>  "observed": "공공 사례집이 AI 교통안전 시스템 구축과 지역 실증을 소개",</a:t>
            </a:r>
          </a:p>
          <a:p xmlns:a="http://schemas.openxmlformats.org/drawingml/2006/main">
            <a:r>
              <a:t>  "verdict": "성과 미검증",</a:t>
            </a:r>
          </a:p>
          <a:p xmlns:a="http://schemas.openxmlformats.org/drawingml/2006/main">
            <a:r>
              <a:t>  "verdictReason": "지역 실증 사실과 전국 사고 감소의 실측·인과평가는 별개",</a:t>
            </a:r>
          </a:p>
          <a:p xmlns:a="http://schemas.openxmlformats.org/drawingml/2006/main">
            <a:r>
              <a:t>  "limits": "공공 사례집 요약 기준. 예측 성능·조치 효과의 원 평가표 미확인",</a:t>
            </a:r>
          </a:p>
          <a:p xmlns:a="http://schemas.openxmlformats.org/drawingml/2006/main">
            <a:r>
              <a:t>  "evidenceStage": "정부 지역 실증 사례집",</a:t>
            </a:r>
          </a:p>
          <a:p xmlns:a="http://schemas.openxmlformats.org/drawingml/2006/main">
            <a:r>
              <a:t>  "sourceUrl": "https://bigdata.dongjak.go.kr/board/viewArticle?articleNo=954&amp;boardId=4"</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"AX23",</a:t>
            </a:r>
          </a:p>
          <a:p xmlns:a="http://schemas.openxmlformats.org/drawingml/2006/main">
            <a:r>
              <a:t>    "title": "경찰 AI 교통안전 시스템",</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"교통사고 위험 예측",</a:t>
            </a:r>
          </a:p>
          <a:p xmlns:a="http://schemas.openxmlformats.org/drawingml/2006/main">
            <a:r>
              <a:t>    "period": "2024 구축·실증",</a:t>
            </a:r>
          </a:p>
          <a:p xmlns:a="http://schemas.openxmlformats.org/drawingml/2006/main">
            <a:r>
              <a:t>    "sources": [</a:t>
            </a:r>
          </a:p>
          <a:p xmlns:a="http://schemas.openxmlformats.org/drawingml/2006/main">
            <a:r>
              <a:t>      "S-AX23"</a:t>
            </a:r>
          </a:p>
          <a:p xmlns:a="http://schemas.openxmlformats.org/drawingml/2006/main">
            <a:r>
              <a:t>    ],</a:t>
            </a:r>
          </a:p>
          <a:p xmlns:a="http://schemas.openxmlformats.org/drawingml/2006/main">
            <a:r>
              <a:t>    "keywords": [</a:t>
            </a:r>
          </a:p>
          <a:p xmlns:a="http://schemas.openxmlformats.org/drawingml/2006/main">
            <a:r>
              <a:t>      "교통사고 위험 예측"</a:t>
            </a:r>
          </a:p>
          <a:p xmlns:a="http://schemas.openxmlformats.org/drawingml/2006/main">
            <a:r>
              <a:t>    ],</a:t>
            </a:r>
          </a:p>
          <a:p xmlns:a="http://schemas.openxmlformats.org/drawingml/2006/main">
            <a:r>
              <a:t>    "fact": "교통사고·단속·시설·기상·교통량 데이터 기반 위험 예측과 지역 실증",</a:t>
            </a:r>
          </a:p>
          <a:p xmlns:a="http://schemas.openxmlformats.org/drawingml/2006/main">
            <a:r>
              <a:t>    "limit": "지역 실증 범위 · 전국 사고 감소 성과로 확대 불가",</a:t>
            </a:r>
          </a:p>
          <a:p xmlns:a="http://schemas.openxmlformats.org/drawingml/2006/main">
            <a:r>
              <a:t>    "flow": [</a:t>
            </a:r>
          </a:p>
          <a:p xmlns:a="http://schemas.openxmlformats.org/drawingml/2006/main">
            <a:r>
              <a:t>      "민관 교통 데이터",</a:t>
            </a:r>
          </a:p>
          <a:p xmlns:a="http://schemas.openxmlformats.org/drawingml/2006/main">
            <a:r>
              <a:t>      "전처리·MLOps",</a:t>
            </a:r>
          </a:p>
          <a:p xmlns:a="http://schemas.openxmlformats.org/drawingml/2006/main">
            <a:r>
              <a:t>      "사고 위험 예측",</a:t>
            </a:r>
          </a:p>
          <a:p xmlns:a="http://schemas.openxmlformats.org/drawingml/2006/main">
            <a:r>
              <a:t>      "지역 실증·현장 대응"</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"지역별 모델 평가와 예방 조치의 연결",</a:t>
            </a:r>
          </a:p>
          <a:p xmlns:a="http://schemas.openxmlformats.org/drawingml/2006/main">
            <a:r>
              <a:t>    "local": "TS 지역 안전 진단·개선 권고와 관할 매핑",</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"지역·도로·시점 정규화 및 개선 이력 연결",</a:t>
            </a:r>
          </a:p>
          <a:p xmlns:a="http://schemas.openxmlformats.org/drawingml/2006/main">
            <a:r>
              <a:t>    "test": "시간·지역 분리 검증과 데이터 누락 시험",</a:t>
            </a:r>
          </a:p>
          <a:p xmlns:a="http://schemas.openxmlformats.org/drawingml/2006/main">
            <a:r>
              <a:t>    "metric": "위험 탐지율 / 예방 조치 이행률",</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"ST-07"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"AX23",</a:t>
            </a:r>
          </a:p>
          <a:p xmlns:a="http://schemas.openxmlformats.org/drawingml/2006/main">
            <a:r>
              <a:t>    "canonicalId": "AX23",</a:t>
            </a:r>
          </a:p>
          <a:p xmlns:a="http://schemas.openxmlformats.org/drawingml/2006/main">
            <a:r>
              <a:t>    "purpose": "지역별 교통사고 위험 분석과 대응 지원",</a:t>
            </a:r>
          </a:p>
          <a:p xmlns:a="http://schemas.openxmlformats.org/drawingml/2006/main">
            <a:r>
              <a:t>    "users": "교통안전·단속·시설 담당",</a:t>
            </a:r>
          </a:p>
          <a:p xmlns:a="http://schemas.openxmlformats.org/drawingml/2006/main">
            <a:r>
              <a:t>    "scope": [</a:t>
            </a:r>
          </a:p>
          <a:p xmlns:a="http://schemas.openxmlformats.org/drawingml/2006/main">
            <a:r>
              <a:t>      "다종 데이터",</a:t>
            </a:r>
          </a:p>
          <a:p xmlns:a="http://schemas.openxmlformats.org/drawingml/2006/main">
            <a:r>
              <a:t>      "위험 예측",</a:t>
            </a:r>
          </a:p>
          <a:p xmlns:a="http://schemas.openxmlformats.org/drawingml/2006/main">
            <a:r>
              <a:t>      "지역 실증"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"민관 교통 데이터",</a:t>
            </a:r>
          </a:p>
          <a:p xmlns:a="http://schemas.openxmlformats.org/drawingml/2006/main">
            <a:r>
              <a:t>        "detail": "지역·기간·사고유형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"다종 데이터 / 위험 예측 / 지역 실증",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"전처리·MLOps",</a:t>
            </a:r>
          </a:p>
          <a:p xmlns:a="http://schemas.openxmlformats.org/drawingml/2006/main">
            <a:r>
              <a:t>        "detail": "사고·단속·시설·기상·교통량 결합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"교통안전 담당",</a:t>
            </a:r>
          </a:p>
          <a:p xmlns:a="http://schemas.openxmlformats.org/drawingml/2006/main">
            <a:r>
              <a:t>        "detail": "위험 후보를 단속·시설 개선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"지역별 위험 특징",</a:t>
            </a:r>
          </a:p>
          <a:p xmlns:a="http://schemas.openxmlformats.org/drawingml/2006/main">
            <a:r>
              <a:t>        "detail": "공간·시간 단위 정합화와 결측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"예측 오차·지역 편차·개입 후 지표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"민관 교통 데이터",</a:t>
            </a:r>
          </a:p>
          <a:p xmlns:a="http://schemas.openxmlformats.org/drawingml/2006/main">
            <a:r>
              <a:t>        "input": "지역·기간·사고유형 정의",</a:t>
            </a:r>
          </a:p>
          <a:p xmlns:a="http://schemas.openxmlformats.org/drawingml/2006/main">
            <a:r>
              <a:t>        "process": "공간·시간 단위 정합화와 결측 점검",</a:t>
            </a:r>
          </a:p>
          <a:p xmlns:a="http://schemas.openxmlformats.org/drawingml/2006/main">
            <a:r>
              <a:t>        "output": "관측 데이터"</a:t>
            </a:r>
          </a:p>
          <a:p xmlns:a="http://schemas.openxmlformats.org/drawingml/2006/main">
            <a:r>
              <a:t>      },</a:t>
            </a:r>
          </a:p>
          <a:p xmlns:a="http://schemas.openxmlformats.org/drawingml/2006/main">
            <a:r>
              <a:t>      {</a:t>
            </a:r>
          </a:p>
          <a:p xmlns:a="http://schemas.openxmlformats.org/drawingml/2006/main">
            <a:r>
              <a:t>        "title": "전처리·MLOps",</a:t>
            </a:r>
          </a:p>
          <a:p xmlns:a="http://schemas.openxmlformats.org/drawingml/2006/main">
            <a:r>
              <a:t>        "input": "관측 데이터",</a:t>
            </a:r>
          </a:p>
          <a:p xmlns:a="http://schemas.openxmlformats.org/drawingml/2006/main">
            <a:r>
              <a:t>        "process": "사고·단속·시설·기상·교통량 결합 분석",</a:t>
            </a:r>
          </a:p>
          <a:p xmlns:a="http://schemas.openxmlformats.org/drawingml/2006/main">
            <a:r>
              <a:t>        "output": "학습·평가 특징"</a:t>
            </a:r>
          </a:p>
          <a:p xmlns:a="http://schemas.openxmlformats.org/drawingml/2006/main">
            <a:r>
              <a:t>      },</a:t>
            </a:r>
          </a:p>
          <a:p xmlns:a="http://schemas.openxmlformats.org/drawingml/2006/main">
            <a:r>
              <a:t>      {</a:t>
            </a:r>
          </a:p>
          <a:p xmlns:a="http://schemas.openxmlformats.org/drawingml/2006/main">
            <a:r>
              <a:t>        "title": "사고 위험 예측",</a:t>
            </a:r>
          </a:p>
          <a:p xmlns:a="http://schemas.openxmlformats.org/drawingml/2006/main">
            <a:r>
              <a:t>        "input": "학습·평가 특징",</a:t>
            </a:r>
          </a:p>
          <a:p xmlns:a="http://schemas.openxmlformats.org/drawingml/2006/main">
            <a:r>
              <a:t>        "process": "시간·지역 분리 평가와 누수 차단",</a:t>
            </a:r>
          </a:p>
          <a:p xmlns:a="http://schemas.openxmlformats.org/drawingml/2006/main">
            <a:r>
              <a:t>        "output": "위험 순위"</a:t>
            </a:r>
          </a:p>
          <a:p xmlns:a="http://schemas.openxmlformats.org/drawingml/2006/main">
            <a:r>
              <a:t>      },</a:t>
            </a:r>
          </a:p>
          <a:p xmlns:a="http://schemas.openxmlformats.org/drawingml/2006/main">
            <a:r>
              <a:t>      {</a:t>
            </a:r>
          </a:p>
          <a:p xmlns:a="http://schemas.openxmlformats.org/drawingml/2006/main">
            <a:r>
              <a:t>        "title": "지역 실증·현장 대응",</a:t>
            </a:r>
          </a:p>
          <a:p xmlns:a="http://schemas.openxmlformats.org/drawingml/2006/main">
            <a:r>
              <a:t>        "input": "위험 순위",</a:t>
            </a:r>
          </a:p>
          <a:p xmlns:a="http://schemas.openxmlformats.org/drawingml/2006/main">
            <a:r>
              <a:t>        "process": "위험 후보를 단속·시설 개선 검토에 전달",</a:t>
            </a:r>
          </a:p>
          <a:p xmlns:a="http://schemas.openxmlformats.org/drawingml/2006/main">
            <a:r>
              <a:t>        "output": "현장 조치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지역·기간의 사고 위험을 분석하고 대응 후보 선정",</a:t>
            </a:r>
          </a:p>
          <a:p xmlns:a="http://schemas.openxmlformats.org/drawingml/2006/main">
            <a:r>
              <a:t>      "exception": "공간 코드 변경·기상 결측·학습 이후 자료 유입",</a:t>
            </a:r>
          </a:p>
          <a:p xmlns:a="http://schemas.openxmlformats.org/drawingml/2006/main">
            <a:r>
              <a:t>      "evidence": "시공간 분리 평가와 지역별 오차·대응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"교통안전·단속·시설 담당",</a:t>
            </a:r>
          </a:p>
          <a:p xmlns:a="http://schemas.openxmlformats.org/drawingml/2006/main">
            <a:r>
              <a:t>          "processing": "지역·기간·사고유형 정의",</a:t>
            </a:r>
          </a:p>
          <a:p xmlns:a="http://schemas.openxmlformats.org/drawingml/2006/main">
            <a:r>
              <a:t>          "output": "관측 데이터"</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"지역별 위험 특징",</a:t>
            </a:r>
          </a:p>
          <a:p xmlns:a="http://schemas.openxmlformats.org/drawingml/2006/main">
            <a:r>
              <a:t>          "processing": "공간·시간 단위 정합화와 결측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"관측 데이터",</a:t>
            </a:r>
          </a:p>
          <a:p xmlns:a="http://schemas.openxmlformats.org/drawingml/2006/main">
            <a:r>
              <a:t>          "processing": "사고·단속·시설·기상·교통량 결합 분석",</a:t>
            </a:r>
          </a:p>
          <a:p xmlns:a="http://schemas.openxmlformats.org/drawingml/2006/main">
            <a:r>
              <a:t>          "output": "위험 순위"</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 순위",</a:t>
            </a:r>
          </a:p>
          <a:p xmlns:a="http://schemas.openxmlformats.org/drawingml/2006/main">
            <a:r>
              <a:t>          "processing": "위험 후보를 단속·시설 개선 검토에 전달",</a:t>
            </a:r>
          </a:p>
          <a:p xmlns:a="http://schemas.openxmlformats.org/drawingml/2006/main">
            <a:r>
              <a:t>          "output": "현장 조치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"예측 오차·지역 편차·개입 후 지표 평가",</a:t>
            </a:r>
          </a:p>
          <a:p xmlns:a="http://schemas.openxmlformats.org/drawingml/2006/main">
            <a:r>
              <a:t>          "output": "시공간 분리 평가와 지역별 오차·대응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"예측 오차·지역 편차·개입 후 지표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"S-AX23",</a:t>
            </a:r>
          </a:p>
          <a:p xmlns:a="http://schemas.openxmlformats.org/drawingml/2006/main">
            <a:r>
              <a:t>        "title": "경찰 AI 교통안전 시스템 · 공공AI 사례집 110–111쪽",</a:t>
            </a:r>
          </a:p>
          <a:p xmlns:a="http://schemas.openxmlformats.org/drawingml/2006/main">
            <a:r>
              <a:t>        "url": "https://bigdata.dongjak.go.kr/board/viewArticle?articleNo=954&amp;boardId=4",</a:t>
            </a:r>
          </a:p>
          <a:p xmlns:a="http://schemas.openxmlformats.org/drawingml/2006/main">
            <a:r>
              <a:t>        "published": "2024 구축·실증",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"지역별 모델 평가와 예방 조치의 연결",</a:t>
            </a:r>
          </a:p>
          <a:p xmlns:a="http://schemas.openxmlformats.org/drawingml/2006/main">
            <a:r>
              <a:t>    "local": "TS 지역 안전 진단·개선 권고와 관할 매핑",</a:t>
            </a:r>
          </a:p>
          <a:p xmlns:a="http://schemas.openxmlformats.org/drawingml/2006/main">
            <a:r>
              <a:t>    "sourceDetail": null,</a:t>
            </a:r>
          </a:p>
          <a:p xmlns:a="http://schemas.openxmlformats.org/drawingml/2006/main">
            <a:r>
              <a:t>    "narrative": [</a:t>
            </a:r>
          </a:p>
          <a:p xmlns:a="http://schemas.openxmlformats.org/drawingml/2006/main">
            <a:r>
              <a:t>      "사고·단속·시설·기상·교통량을 결합해 지역별 교통 위험을 분석하는 사례. 다양한 원천의 시간·공간 단위를 맞추고 현장 실증으로 예측을 평가하는 유형.",</a:t>
            </a:r>
          </a:p>
          <a:p xmlns:a="http://schemas.openxmlformats.org/drawingml/2006/main">
            <a:r>
              <a:t>      "원천 자료를 정합화하고 결측·표본 편차를 검사한 뒤 학습·평가 특징을 구성하는 재구성. 위험 순위는 단속·시설 개선 담당자의 검토 자료로 전달하고 실제 개입 결과를 별도 기록.",</a:t>
            </a:r>
          </a:p>
          <a:p xmlns:a="http://schemas.openxmlformats.org/drawingml/2006/main">
            <a:r>
              <a:t>      "CCK 비교에서는 시간·지역 분리 평가로 데이터 누수를 막고 희귀 사고의 미탐을 별도로 확인. 예측 성능과 개입 후 사고 변화의 인과효과를 구분하고 관할 부서별 조치 이력을 연결할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"지역 위험 조회",</a:t>
            </a:r>
          </a:p>
          <a:p xmlns:a="http://schemas.openxmlformats.org/drawingml/2006/main">
            <a:r>
              <a:t>          "layer": "이용 접점",</a:t>
            </a:r>
          </a:p>
          <a:p xmlns:a="http://schemas.openxmlformats.org/drawingml/2006/main">
            <a:r>
              <a:t>          "detail": "교통안전·단속·시설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"지역·기간·유형",</a:t>
            </a:r>
          </a:p>
          <a:p xmlns:a="http://schemas.openxmlformats.org/drawingml/2006/main">
            <a:r>
              <a:t>          "layer": "업무 문맥",</a:t>
            </a:r>
          </a:p>
          <a:p xmlns:a="http://schemas.openxmlformats.org/drawingml/2006/main">
            <a:r>
              <a:t>          "detail": "지역·기간·사고유형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"교통 특징 조회",</a:t>
            </a:r>
          </a:p>
          <a:p xmlns:a="http://schemas.openxmlformats.org/drawingml/2006/main">
            <a:r>
              <a:t>          "layer": "자료 조회",</a:t>
            </a:r>
          </a:p>
          <a:p xmlns:a="http://schemas.openxmlformats.org/drawingml/2006/main">
            <a:r>
              <a:t>          "detail": "관측 데이터",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"위험 순위 예측",</a:t>
            </a:r>
          </a:p>
          <a:p xmlns:a="http://schemas.openxmlformats.org/drawingml/2006/main">
            <a:r>
              <a:t>          "layer": "핵심 처리",</a:t>
            </a:r>
          </a:p>
          <a:p xmlns:a="http://schemas.openxmlformats.org/drawingml/2006/main">
            <a:r>
              <a:t>          "detail": "사고·단속·시설·기상·교통량 결합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"누수·편향 검사",</a:t>
            </a:r>
          </a:p>
          <a:p xmlns:a="http://schemas.openxmlformats.org/drawingml/2006/main">
            <a:r>
              <a:t>          "layer": "결과 검증",</a:t>
            </a:r>
          </a:p>
          <a:p xmlns:a="http://schemas.openxmlformats.org/drawingml/2006/main">
            <a:r>
              <a:t>          "detail": "시간·지역 분리 평가와 누수 차단",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검토",</a:t>
            </a:r>
          </a:p>
          <a:p xmlns:a="http://schemas.openxmlformats.org/drawingml/2006/main">
            <a:r>
              <a:t>          "layer": "사람 확인",</a:t>
            </a:r>
          </a:p>
          <a:p xmlns:a="http://schemas.openxmlformats.org/drawingml/2006/main">
            <a:r>
              <a:t>          "detail": "같은 지역·기간의 사고 위험을 분석하고 대응 후보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"단속·시설 계획",</a:t>
            </a:r>
          </a:p>
          <a:p xmlns:a="http://schemas.openxmlformats.org/drawingml/2006/main">
            <a:r>
              <a:t>          "layer": "업무 연결",</a:t>
            </a:r>
          </a:p>
          <a:p xmlns:a="http://schemas.openxmlformats.org/drawingml/2006/main">
            <a:r>
              <a:t>          "detail": "위험 후보를 단속·시설 개선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"지역 실증 평가",</a:t>
            </a:r>
          </a:p>
          <a:p xmlns:a="http://schemas.openxmlformats.org/drawingml/2006/main">
            <a:r>
              <a:t>          "layer": "운영 관측",</a:t>
            </a:r>
          </a:p>
          <a:p xmlns:a="http://schemas.openxmlformats.org/drawingml/2006/main">
            <a:r>
              <a:t>          "detail": "예측 오차·지역 편차·개입 후 지표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"사고·기상·시설",</a:t>
            </a:r>
          </a:p>
          <a:p xmlns:a="http://schemas.openxmlformats.org/drawingml/2006/main">
            <a:r>
              <a:t>          "layer": "데이터 원천",</a:t>
            </a:r>
          </a:p>
          <a:p xmlns:a="http://schemas.openxmlformats.org/drawingml/2006/main">
            <a:r>
              <a:t>          "detail": "지역별 위험 특징",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"시공간·결측 정리",</a:t>
            </a:r>
          </a:p>
          <a:p xmlns:a="http://schemas.openxmlformats.org/drawingml/2006/main">
            <a:r>
              <a:t>          "layer": "준비·갱신",</a:t>
            </a:r>
          </a:p>
          <a:p xmlns:a="http://schemas.openxmlformats.org/drawingml/2006/main">
            <a:r>
              <a:t>          "detail": "공간·시간 단위 정합화와 결측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"특징·평가 자료",</a:t>
            </a:r>
          </a:p>
          <a:p xmlns:a="http://schemas.openxmlformats.org/drawingml/2006/main">
            <a:r>
              <a:t>          "layer": "상태·지식 저장",</a:t>
            </a:r>
          </a:p>
          <a:p xmlns:a="http://schemas.openxmlformats.org/drawingml/2006/main">
            <a:r>
              <a:t>          "detail": "시공간 분리 평가와 지역별 오차·대응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"기간·지역 분리",</a:t>
            </a:r>
          </a:p>
          <a:p xmlns:a="http://schemas.openxmlformats.org/drawingml/2006/main">
            <a:r>
              <a:t>          "layer": "권한·정책",</a:t>
            </a:r>
          </a:p>
          <a:p xmlns:a="http://schemas.openxmlformats.org/drawingml/2006/main">
            <a:r>
              <a:t>          "detail": "공간 코드 변경·기상 결측·학습 이후 자료 유입",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"민관 교통 데이터 → 전처리·MLOps → 사고 위험 예측 → 지역 실증·현장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"지역별 위험 특징",</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"학습·평가 특징",</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"위험 순위",</a:t>
            </a:r>
          </a:p>
          <a:p xmlns:a="http://schemas.openxmlformats.org/drawingml/2006/main">
            <a:r>
              <a:t>          "check": "시공간 분리 평가와 지역별 오차·대응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"위험 순위",</a:t>
            </a:r>
          </a:p>
          <a:p xmlns:a="http://schemas.openxmlformats.org/drawingml/2006/main">
            <a:r>
              <a:t>          "check": "시간·지역 분리 평가와 누수 차단"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"현장 조치 검토",</a:t>
            </a:r>
          </a:p>
          <a:p xmlns:a="http://schemas.openxmlformats.org/drawingml/2006/main">
            <a:r>
              <a:t>          "check": "시공간 분리 평가와 지역별 오차·대응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"지역별 교통사고 위험 분석과 대응 지원 / 다종 데이터·위험 예측·지역 실증",</a:t>
            </a:r>
          </a:p>
          <a:p xmlns:a="http://schemas.openxmlformats.org/drawingml/2006/main">
            <a:r>
              <a:t>        "extension": "TS 지역 안전 진단·개선 권고와 관할 매핑"</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"공간 코드 변경·기상 결측·학습 이후 자료 유입",</a:t>
            </a:r>
          </a:p>
          <a:p xmlns:a="http://schemas.openxmlformats.org/drawingml/2006/main">
            <a:r>
              <a:t>        "hold": "시간·지역 분리 평가와 누수 차단",</a:t>
            </a:r>
          </a:p>
          <a:p xmlns:a="http://schemas.openxmlformats.org/drawingml/2006/main">
            <a:r>
              <a:t>        "recovery": "예측 오차·지역 편차·개입 후 지표 평가",</a:t>
            </a:r>
          </a:p>
          <a:p xmlns:a="http://schemas.openxmlformats.org/drawingml/2006/main">
            <a:r>
              <a:t>        "evidence": "시공간 분리 평가와 지역별 오차·대응 기록"</a:t>
            </a:r>
          </a:p>
          <a:p xmlns:a="http://schemas.openxmlformats.org/drawingml/2006/main">
            <a:r>
              <a:t>      },</a:t>
            </a:r>
          </a:p>
          <a:p xmlns:a="http://schemas.openxmlformats.org/drawingml/2006/main">
            <a:r>
              <a:t>      "data": {</a:t>
            </a:r>
          </a:p>
          <a:p xmlns:a="http://schemas.openxmlformats.org/drawingml/2006/main">
            <a:r>
              <a:t>        "source": "지역별 위험 특징",</a:t>
            </a:r>
          </a:p>
          <a:p xmlns:a="http://schemas.openxmlformats.org/drawingml/2006/main">
            <a:r>
              <a:t>        "prepare": "공간·시간 단위 정합화와 결측 점검",</a:t>
            </a:r>
          </a:p>
          <a:p xmlns:a="http://schemas.openxmlformats.org/drawingml/2006/main">
            <a:r>
              <a:t>        "output": "관측 데이터",</a:t>
            </a:r>
          </a:p>
          <a:p xmlns:a="http://schemas.openxmlformats.org/drawingml/2006/main">
            <a:r>
              <a:t>        "refresh": "예측 오차·지역 편차·개입 후 지표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"AX23",</a:t>
            </a:r>
          </a:p>
          <a:p xmlns:a="http://schemas.openxmlformats.org/drawingml/2006/main">
            <a:r>
              <a:t>    "success": [</a:t>
            </a:r>
          </a:p>
          <a:p xmlns:a="http://schemas.openxmlformats.org/drawingml/2006/main">
            <a:r>
              <a:t>      "사고·시설·기상·교통량 결합",</a:t>
            </a:r>
          </a:p>
          <a:p xmlns:a="http://schemas.openxmlformats.org/drawingml/2006/main">
            <a:r>
              <a:t>      "지역 현장 실증으로 위험 검토"</a:t>
            </a:r>
          </a:p>
          <a:p xmlns:a="http://schemas.openxmlformats.org/drawingml/2006/main">
            <a:r>
              <a:t>    ],</a:t>
            </a:r>
          </a:p>
          <a:p xmlns:a="http://schemas.openxmlformats.org/drawingml/2006/main">
            <a:r>
              <a:t>    "risks": [</a:t>
            </a:r>
          </a:p>
          <a:p xmlns:a="http://schemas.openxmlformats.org/drawingml/2006/main">
            <a:r>
              <a:t>      "희귀 사고의 표본 불균형",</a:t>
            </a:r>
          </a:p>
          <a:p xmlns:a="http://schemas.openxmlformats.org/drawingml/2006/main">
            <a:r>
              <a:t>      "예측지표를 예방 효과로 환산"</a:t>
            </a:r>
          </a:p>
          <a:p xmlns:a="http://schemas.openxmlformats.org/drawingml/2006/main">
            <a:r>
              <a:t>    ],</a:t>
            </a:r>
          </a:p>
          <a:p xmlns:a="http://schemas.openxmlformats.org/drawingml/2006/main">
            <a:r>
              <a:t>    "architecture": [</a:t>
            </a:r>
          </a:p>
          <a:p xmlns:a="http://schemas.openxmlformats.org/drawingml/2006/main">
            <a:r>
              <a:t>      "민관 교통 데이터",</a:t>
            </a:r>
          </a:p>
          <a:p xmlns:a="http://schemas.openxmlformats.org/drawingml/2006/main">
            <a:r>
              <a:t>      "전처리·MLOps",</a:t>
            </a:r>
          </a:p>
          <a:p xmlns:a="http://schemas.openxmlformats.org/drawingml/2006/main">
            <a:r>
              <a:t>      "지역별 위험 특징",</a:t>
            </a:r>
          </a:p>
          <a:p xmlns:a="http://schemas.openxmlformats.org/drawingml/2006/main">
            <a:r>
              <a:t>      "교통안전 담당"</a:t>
            </a:r>
          </a:p>
          <a:p xmlns:a="http://schemas.openxmlformats.org/drawingml/2006/main">
            <a:r>
              <a:t>    ],</a:t>
            </a:r>
          </a:p>
          <a:p xmlns:a="http://schemas.openxmlformats.org/drawingml/2006/main">
            <a:r>
              <a:t>    "transfers": [</a:t>
            </a:r>
          </a:p>
          <a:p xmlns:a="http://schemas.openxmlformats.org/drawingml/2006/main">
            <a:r>
              <a:t>      "관측 데이터",</a:t>
            </a:r>
          </a:p>
          <a:p xmlns:a="http://schemas.openxmlformats.org/drawingml/2006/main">
            <a:r>
              <a:t>      "학습·평가 특징",</a:t>
            </a:r>
          </a:p>
          <a:p xmlns:a="http://schemas.openxmlformats.org/drawingml/2006/main">
            <a:r>
              <a:t>      "위험 순위",</a:t>
            </a:r>
          </a:p>
          <a:p xmlns:a="http://schemas.openxmlformats.org/drawingml/2006/main">
            <a:r>
              <a:t>      "현장 조치 검토"</a:t>
            </a:r>
          </a:p>
          <a:p xmlns:a="http://schemas.openxmlformats.org/drawingml/2006/main">
            <a:r>
              <a:t>    ],</a:t>
            </a:r>
          </a:p>
          <a:p xmlns:a="http://schemas.openxmlformats.org/drawingml/2006/main">
            <a:r>
              <a:t>    "control": "시간·지역 분리 평가와 누수 차단",</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경찰 AI 교통안전 시스템 · 공공AI 사례집 110–111쪽 https://bigdata.dongjak.go.kr/board/viewArticle?articleNo=954&amp;boardId=4</a:t>
            </a:r>
          </a:p>
          <a:p xmlns:a="http://schemas.openxmlformats.org/drawingml/2006/main">
            <a:r>
              <a:t>홈페이지 https://heen1987-ops.github.io/TS-business-Plan-001/index.html?view=casebook&amp;case=AX23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"AX23",</a:t>
            </a:r>
          </a:p>
          <a:p xmlns:a="http://schemas.openxmlformats.org/drawingml/2006/main">
            <a:r>
              <a:t>    "title": "경찰 AI 교통안전 시스템",</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"교통사고 위험 예측",</a:t>
            </a:r>
          </a:p>
          <a:p xmlns:a="http://schemas.openxmlformats.org/drawingml/2006/main">
            <a:r>
              <a:t>    "period": "2024 구축·실증",</a:t>
            </a:r>
          </a:p>
          <a:p xmlns:a="http://schemas.openxmlformats.org/drawingml/2006/main">
            <a:r>
              <a:t>    "sources": [</a:t>
            </a:r>
          </a:p>
          <a:p xmlns:a="http://schemas.openxmlformats.org/drawingml/2006/main">
            <a:r>
              <a:t>      "S-AX23"</a:t>
            </a:r>
          </a:p>
          <a:p xmlns:a="http://schemas.openxmlformats.org/drawingml/2006/main">
            <a:r>
              <a:t>    ],</a:t>
            </a:r>
          </a:p>
          <a:p xmlns:a="http://schemas.openxmlformats.org/drawingml/2006/main">
            <a:r>
              <a:t>    "keywords": [</a:t>
            </a:r>
          </a:p>
          <a:p xmlns:a="http://schemas.openxmlformats.org/drawingml/2006/main">
            <a:r>
              <a:t>      "교통사고 위험 예측"</a:t>
            </a:r>
          </a:p>
          <a:p xmlns:a="http://schemas.openxmlformats.org/drawingml/2006/main">
            <a:r>
              <a:t>    ],</a:t>
            </a:r>
          </a:p>
          <a:p xmlns:a="http://schemas.openxmlformats.org/drawingml/2006/main">
            <a:r>
              <a:t>    "fact": "교통사고·단속·시설·기상·교통량 데이터 기반 위험 예측과 지역 실증",</a:t>
            </a:r>
          </a:p>
          <a:p xmlns:a="http://schemas.openxmlformats.org/drawingml/2006/main">
            <a:r>
              <a:t>    "limit": "지역 실증 범위 · 전국 사고 감소 성과로 확대 불가",</a:t>
            </a:r>
          </a:p>
          <a:p xmlns:a="http://schemas.openxmlformats.org/drawingml/2006/main">
            <a:r>
              <a:t>    "flow": [</a:t>
            </a:r>
          </a:p>
          <a:p xmlns:a="http://schemas.openxmlformats.org/drawingml/2006/main">
            <a:r>
              <a:t>      "민관 교통 데이터",</a:t>
            </a:r>
          </a:p>
          <a:p xmlns:a="http://schemas.openxmlformats.org/drawingml/2006/main">
            <a:r>
              <a:t>      "전처리·MLOps",</a:t>
            </a:r>
          </a:p>
          <a:p xmlns:a="http://schemas.openxmlformats.org/drawingml/2006/main">
            <a:r>
              <a:t>      "사고 위험 예측",</a:t>
            </a:r>
          </a:p>
          <a:p xmlns:a="http://schemas.openxmlformats.org/drawingml/2006/main">
            <a:r>
              <a:t>      "지역 실증·현장 대응"</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"지역별 모델 평가와 예방 조치의 연결",</a:t>
            </a:r>
          </a:p>
          <a:p xmlns:a="http://schemas.openxmlformats.org/drawingml/2006/main">
            <a:r>
              <a:t>    "local": "TS 지역 안전 진단·개선 권고와 관할 매핑",</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"지역·도로·시점 정규화 및 개선 이력 연결",</a:t>
            </a:r>
          </a:p>
          <a:p xmlns:a="http://schemas.openxmlformats.org/drawingml/2006/main">
            <a:r>
              <a:t>    "test": "시간·지역 분리 검증과 데이터 누락 시험",</a:t>
            </a:r>
          </a:p>
          <a:p xmlns:a="http://schemas.openxmlformats.org/drawingml/2006/main">
            <a:r>
              <a:t>    "metric": "위험 탐지율 / 예방 조치 이행률",</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"ST-07"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"AX23",</a:t>
            </a:r>
          </a:p>
          <a:p xmlns:a="http://schemas.openxmlformats.org/drawingml/2006/main">
            <a:r>
              <a:t>    "canonicalId": "AX23",</a:t>
            </a:r>
          </a:p>
          <a:p xmlns:a="http://schemas.openxmlformats.org/drawingml/2006/main">
            <a:r>
              <a:t>    "purpose": "지역별 교통사고 위험 분석과 대응 지원",</a:t>
            </a:r>
          </a:p>
          <a:p xmlns:a="http://schemas.openxmlformats.org/drawingml/2006/main">
            <a:r>
              <a:t>    "users": "교통안전·단속·시설 담당",</a:t>
            </a:r>
          </a:p>
          <a:p xmlns:a="http://schemas.openxmlformats.org/drawingml/2006/main">
            <a:r>
              <a:t>    "scope": [</a:t>
            </a:r>
          </a:p>
          <a:p xmlns:a="http://schemas.openxmlformats.org/drawingml/2006/main">
            <a:r>
              <a:t>      "다종 데이터",</a:t>
            </a:r>
          </a:p>
          <a:p xmlns:a="http://schemas.openxmlformats.org/drawingml/2006/main">
            <a:r>
              <a:t>      "위험 예측",</a:t>
            </a:r>
          </a:p>
          <a:p xmlns:a="http://schemas.openxmlformats.org/drawingml/2006/main">
            <a:r>
              <a:t>      "지역 실증"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"민관 교통 데이터",</a:t>
            </a:r>
          </a:p>
          <a:p xmlns:a="http://schemas.openxmlformats.org/drawingml/2006/main">
            <a:r>
              <a:t>        "detail": "지역·기간·사고유형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"다종 데이터 / 위험 예측 / 지역 실증",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"전처리·MLOps",</a:t>
            </a:r>
          </a:p>
          <a:p xmlns:a="http://schemas.openxmlformats.org/drawingml/2006/main">
            <a:r>
              <a:t>        "detail": "사고·단속·시설·기상·교통량 결합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"교통안전 담당",</a:t>
            </a:r>
          </a:p>
          <a:p xmlns:a="http://schemas.openxmlformats.org/drawingml/2006/main">
            <a:r>
              <a:t>        "detail": "위험 후보를 단속·시설 개선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"지역별 위험 특징",</a:t>
            </a:r>
          </a:p>
          <a:p xmlns:a="http://schemas.openxmlformats.org/drawingml/2006/main">
            <a:r>
              <a:t>        "detail": "공간·시간 단위 정합화와 결측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"예측 오차·지역 편차·개입 후 지표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"민관 교통 데이터",</a:t>
            </a:r>
          </a:p>
          <a:p xmlns:a="http://schemas.openxmlformats.org/drawingml/2006/main">
            <a:r>
              <a:t>        "input": "지역·기간·사고유형 정의",</a:t>
            </a:r>
          </a:p>
          <a:p xmlns:a="http://schemas.openxmlformats.org/drawingml/2006/main">
            <a:r>
              <a:t>        "process": "공간·시간 단위 정합화와 결측 점검",</a:t>
            </a:r>
          </a:p>
          <a:p xmlns:a="http://schemas.openxmlformats.org/drawingml/2006/main">
            <a:r>
              <a:t>        "output": "관측 데이터"</a:t>
            </a:r>
          </a:p>
          <a:p xmlns:a="http://schemas.openxmlformats.org/drawingml/2006/main">
            <a:r>
              <a:t>      },</a:t>
            </a:r>
          </a:p>
          <a:p xmlns:a="http://schemas.openxmlformats.org/drawingml/2006/main">
            <a:r>
              <a:t>      {</a:t>
            </a:r>
          </a:p>
          <a:p xmlns:a="http://schemas.openxmlformats.org/drawingml/2006/main">
            <a:r>
              <a:t>        "title": "전처리·MLOps",</a:t>
            </a:r>
          </a:p>
          <a:p xmlns:a="http://schemas.openxmlformats.org/drawingml/2006/main">
            <a:r>
              <a:t>        "input": "관측 데이터",</a:t>
            </a:r>
          </a:p>
          <a:p xmlns:a="http://schemas.openxmlformats.org/drawingml/2006/main">
            <a:r>
              <a:t>        "process": "사고·단속·시설·기상·교통량 결합 분석",</a:t>
            </a:r>
          </a:p>
          <a:p xmlns:a="http://schemas.openxmlformats.org/drawingml/2006/main">
            <a:r>
              <a:t>        "output": "학습·평가 특징"</a:t>
            </a:r>
          </a:p>
          <a:p xmlns:a="http://schemas.openxmlformats.org/drawingml/2006/main">
            <a:r>
              <a:t>      },</a:t>
            </a:r>
          </a:p>
          <a:p xmlns:a="http://schemas.openxmlformats.org/drawingml/2006/main">
            <a:r>
              <a:t>      {</a:t>
            </a:r>
          </a:p>
          <a:p xmlns:a="http://schemas.openxmlformats.org/drawingml/2006/main">
            <a:r>
              <a:t>        "title": "사고 위험 예측",</a:t>
            </a:r>
          </a:p>
          <a:p xmlns:a="http://schemas.openxmlformats.org/drawingml/2006/main">
            <a:r>
              <a:t>        "input": "학습·평가 특징",</a:t>
            </a:r>
          </a:p>
          <a:p xmlns:a="http://schemas.openxmlformats.org/drawingml/2006/main">
            <a:r>
              <a:t>        "process": "시간·지역 분리 평가와 누수 차단",</a:t>
            </a:r>
          </a:p>
          <a:p xmlns:a="http://schemas.openxmlformats.org/drawingml/2006/main">
            <a:r>
              <a:t>        "output": "위험 순위"</a:t>
            </a:r>
          </a:p>
          <a:p xmlns:a="http://schemas.openxmlformats.org/drawingml/2006/main">
            <a:r>
              <a:t>      },</a:t>
            </a:r>
          </a:p>
          <a:p xmlns:a="http://schemas.openxmlformats.org/drawingml/2006/main">
            <a:r>
              <a:t>      {</a:t>
            </a:r>
          </a:p>
          <a:p xmlns:a="http://schemas.openxmlformats.org/drawingml/2006/main">
            <a:r>
              <a:t>        "title": "지역 실증·현장 대응",</a:t>
            </a:r>
          </a:p>
          <a:p xmlns:a="http://schemas.openxmlformats.org/drawingml/2006/main">
            <a:r>
              <a:t>        "input": "위험 순위",</a:t>
            </a:r>
          </a:p>
          <a:p xmlns:a="http://schemas.openxmlformats.org/drawingml/2006/main">
            <a:r>
              <a:t>        "process": "위험 후보를 단속·시설 개선 검토에 전달",</a:t>
            </a:r>
          </a:p>
          <a:p xmlns:a="http://schemas.openxmlformats.org/drawingml/2006/main">
            <a:r>
              <a:t>        "output": "현장 조치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지역·기간의 사고 위험을 분석하고 대응 후보 선정",</a:t>
            </a:r>
          </a:p>
          <a:p xmlns:a="http://schemas.openxmlformats.org/drawingml/2006/main">
            <a:r>
              <a:t>      "exception": "공간 코드 변경·기상 결측·학습 이후 자료 유입",</a:t>
            </a:r>
          </a:p>
          <a:p xmlns:a="http://schemas.openxmlformats.org/drawingml/2006/main">
            <a:r>
              <a:t>      "evidence": "시공간 분리 평가와 지역별 오차·대응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"교통안전·단속·시설 담당",</a:t>
            </a:r>
          </a:p>
          <a:p xmlns:a="http://schemas.openxmlformats.org/drawingml/2006/main">
            <a:r>
              <a:t>          "processing": "지역·기간·사고유형 정의",</a:t>
            </a:r>
          </a:p>
          <a:p xmlns:a="http://schemas.openxmlformats.org/drawingml/2006/main">
            <a:r>
              <a:t>          "output": "관측 데이터"</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"지역별 위험 특징",</a:t>
            </a:r>
          </a:p>
          <a:p xmlns:a="http://schemas.openxmlformats.org/drawingml/2006/main">
            <a:r>
              <a:t>          "processing": "공간·시간 단위 정합화와 결측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"관측 데이터",</a:t>
            </a:r>
          </a:p>
          <a:p xmlns:a="http://schemas.openxmlformats.org/drawingml/2006/main">
            <a:r>
              <a:t>          "processing": "사고·단속·시설·기상·교통량 결합 분석",</a:t>
            </a:r>
          </a:p>
          <a:p xmlns:a="http://schemas.openxmlformats.org/drawingml/2006/main">
            <a:r>
              <a:t>          "output": "위험 순위"</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 순위",</a:t>
            </a:r>
          </a:p>
          <a:p xmlns:a="http://schemas.openxmlformats.org/drawingml/2006/main">
            <a:r>
              <a:t>          "processing": "위험 후보를 단속·시설 개선 검토에 전달",</a:t>
            </a:r>
          </a:p>
          <a:p xmlns:a="http://schemas.openxmlformats.org/drawingml/2006/main">
            <a:r>
              <a:t>          "output": "현장 조치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"예측 오차·지역 편차·개입 후 지표 평가",</a:t>
            </a:r>
          </a:p>
          <a:p xmlns:a="http://schemas.openxmlformats.org/drawingml/2006/main">
            <a:r>
              <a:t>          "output": "시공간 분리 평가와 지역별 오차·대응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"예측 오차·지역 편차·개입 후 지표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"S-AX23",</a:t>
            </a:r>
          </a:p>
          <a:p xmlns:a="http://schemas.openxmlformats.org/drawingml/2006/main">
            <a:r>
              <a:t>        "title": "경찰 AI 교통안전 시스템 · 공공AI 사례집 110–111쪽",</a:t>
            </a:r>
          </a:p>
          <a:p xmlns:a="http://schemas.openxmlformats.org/drawingml/2006/main">
            <a:r>
              <a:t>        "url": "https://bigdata.dongjak.go.kr/board/viewArticle?articleNo=954&amp;boardId=4",</a:t>
            </a:r>
          </a:p>
          <a:p xmlns:a="http://schemas.openxmlformats.org/drawingml/2006/main">
            <a:r>
              <a:t>        "published": "2024 구축·실증",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"지역별 모델 평가와 예방 조치의 연결",</a:t>
            </a:r>
          </a:p>
          <a:p xmlns:a="http://schemas.openxmlformats.org/drawingml/2006/main">
            <a:r>
              <a:t>    "local": "TS 지역 안전 진단·개선 권고와 관할 매핑",</a:t>
            </a:r>
          </a:p>
          <a:p xmlns:a="http://schemas.openxmlformats.org/drawingml/2006/main">
            <a:r>
              <a:t>    "sourceDetail": null,</a:t>
            </a:r>
          </a:p>
          <a:p xmlns:a="http://schemas.openxmlformats.org/drawingml/2006/main">
            <a:r>
              <a:t>    "narrative": [</a:t>
            </a:r>
          </a:p>
          <a:p xmlns:a="http://schemas.openxmlformats.org/drawingml/2006/main">
            <a:r>
              <a:t>      "사고·단속·시설·기상·교통량을 결합해 지역별 교통 위험을 분석하는 사례. 다양한 원천의 시간·공간 단위를 맞추고 현장 실증으로 예측을 평가하는 유형.",</a:t>
            </a:r>
          </a:p>
          <a:p xmlns:a="http://schemas.openxmlformats.org/drawingml/2006/main">
            <a:r>
              <a:t>      "원천 자료를 정합화하고 결측·표본 편차를 검사한 뒤 학습·평가 특징을 구성하는 재구성. 위험 순위는 단속·시설 개선 담당자의 검토 자료로 전달하고 실제 개입 결과를 별도 기록.",</a:t>
            </a:r>
          </a:p>
          <a:p xmlns:a="http://schemas.openxmlformats.org/drawingml/2006/main">
            <a:r>
              <a:t>      "CCK 비교에서는 시간·지역 분리 평가로 데이터 누수를 막고 희귀 사고의 미탐을 별도로 확인. 예측 성능과 개입 후 사고 변화의 인과효과를 구분하고 관할 부서별 조치 이력을 연결할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"지역 위험 조회",</a:t>
            </a:r>
          </a:p>
          <a:p xmlns:a="http://schemas.openxmlformats.org/drawingml/2006/main">
            <a:r>
              <a:t>          "layer": "이용 접점",</a:t>
            </a:r>
          </a:p>
          <a:p xmlns:a="http://schemas.openxmlformats.org/drawingml/2006/main">
            <a:r>
              <a:t>          "detail": "교통안전·단속·시설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"지역·기간·유형",</a:t>
            </a:r>
          </a:p>
          <a:p xmlns:a="http://schemas.openxmlformats.org/drawingml/2006/main">
            <a:r>
              <a:t>          "layer": "업무 문맥",</a:t>
            </a:r>
          </a:p>
          <a:p xmlns:a="http://schemas.openxmlformats.org/drawingml/2006/main">
            <a:r>
              <a:t>          "detail": "지역·기간·사고유형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"교통 특징 조회",</a:t>
            </a:r>
          </a:p>
          <a:p xmlns:a="http://schemas.openxmlformats.org/drawingml/2006/main">
            <a:r>
              <a:t>          "layer": "자료 조회",</a:t>
            </a:r>
          </a:p>
          <a:p xmlns:a="http://schemas.openxmlformats.org/drawingml/2006/main">
            <a:r>
              <a:t>          "detail": "관측 데이터",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"위험 순위 예측",</a:t>
            </a:r>
          </a:p>
          <a:p xmlns:a="http://schemas.openxmlformats.org/drawingml/2006/main">
            <a:r>
              <a:t>          "layer": "핵심 처리",</a:t>
            </a:r>
          </a:p>
          <a:p xmlns:a="http://schemas.openxmlformats.org/drawingml/2006/main">
            <a:r>
              <a:t>          "detail": "사고·단속·시설·기상·교통량 결합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"누수·편향 검사",</a:t>
            </a:r>
          </a:p>
          <a:p xmlns:a="http://schemas.openxmlformats.org/drawingml/2006/main">
            <a:r>
              <a:t>          "layer": "결과 검증",</a:t>
            </a:r>
          </a:p>
          <a:p xmlns:a="http://schemas.openxmlformats.org/drawingml/2006/main">
            <a:r>
              <a:t>          "detail": "시간·지역 분리 평가와 누수 차단",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검토",</a:t>
            </a:r>
          </a:p>
          <a:p xmlns:a="http://schemas.openxmlformats.org/drawingml/2006/main">
            <a:r>
              <a:t>          "layer": "사람 확인",</a:t>
            </a:r>
          </a:p>
          <a:p xmlns:a="http://schemas.openxmlformats.org/drawingml/2006/main">
            <a:r>
              <a:t>          "detail": "같은 지역·기간의 사고 위험을 분석하고 대응 후보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"단속·시설 계획",</a:t>
            </a:r>
          </a:p>
          <a:p xmlns:a="http://schemas.openxmlformats.org/drawingml/2006/main">
            <a:r>
              <a:t>          "layer": "업무 연결",</a:t>
            </a:r>
          </a:p>
          <a:p xmlns:a="http://schemas.openxmlformats.org/drawingml/2006/main">
            <a:r>
              <a:t>          "detail": "위험 후보를 단속·시설 개선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"지역 실증 평가",</a:t>
            </a:r>
          </a:p>
          <a:p xmlns:a="http://schemas.openxmlformats.org/drawingml/2006/main">
            <a:r>
              <a:t>          "layer": "운영 관측",</a:t>
            </a:r>
          </a:p>
          <a:p xmlns:a="http://schemas.openxmlformats.org/drawingml/2006/main">
            <a:r>
              <a:t>          "detail": "예측 오차·지역 편차·개입 후 지표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"사고·기상·시설",</a:t>
            </a:r>
          </a:p>
          <a:p xmlns:a="http://schemas.openxmlformats.org/drawingml/2006/main">
            <a:r>
              <a:t>          "layer": "데이터 원천",</a:t>
            </a:r>
          </a:p>
          <a:p xmlns:a="http://schemas.openxmlformats.org/drawingml/2006/main">
            <a:r>
              <a:t>          "detail": "지역별 위험 특징",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"시공간·결측 정리",</a:t>
            </a:r>
          </a:p>
          <a:p xmlns:a="http://schemas.openxmlformats.org/drawingml/2006/main">
            <a:r>
              <a:t>          "layer": "준비·갱신",</a:t>
            </a:r>
          </a:p>
          <a:p xmlns:a="http://schemas.openxmlformats.org/drawingml/2006/main">
            <a:r>
              <a:t>          "detail": "공간·시간 단위 정합화와 결측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"특징·평가 자료",</a:t>
            </a:r>
          </a:p>
          <a:p xmlns:a="http://schemas.openxmlformats.org/drawingml/2006/main">
            <a:r>
              <a:t>          "layer": "상태·지식 저장",</a:t>
            </a:r>
          </a:p>
          <a:p xmlns:a="http://schemas.openxmlformats.org/drawingml/2006/main">
            <a:r>
              <a:t>          "detail": "시공간 분리 평가와 지역별 오차·대응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"기간·지역 분리",</a:t>
            </a:r>
          </a:p>
          <a:p xmlns:a="http://schemas.openxmlformats.org/drawingml/2006/main">
            <a:r>
              <a:t>          "layer": "권한·정책",</a:t>
            </a:r>
          </a:p>
          <a:p xmlns:a="http://schemas.openxmlformats.org/drawingml/2006/main">
            <a:r>
              <a:t>          "detail": "공간 코드 변경·기상 결측·학습 이후 자료 유입",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"민관 교통 데이터 → 전처리·MLOps → 사고 위험 예측 → 지역 실증·현장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"지역별 위험 특징",</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"학습·평가 특징",</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"위험 순위",</a:t>
            </a:r>
          </a:p>
          <a:p xmlns:a="http://schemas.openxmlformats.org/drawingml/2006/main">
            <a:r>
              <a:t>          "check": "시공간 분리 평가와 지역별 오차·대응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"위험 순위",</a:t>
            </a:r>
          </a:p>
          <a:p xmlns:a="http://schemas.openxmlformats.org/drawingml/2006/main">
            <a:r>
              <a:t>          "check": "시간·지역 분리 평가와 누수 차단"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"현장 조치 검토",</a:t>
            </a:r>
          </a:p>
          <a:p xmlns:a="http://schemas.openxmlformats.org/drawingml/2006/main">
            <a:r>
              <a:t>          "check": "시공간 분리 평가와 지역별 오차·대응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"지역별 교통사고 위험 분석과 대응 지원 / 다종 데이터·위험 예측·지역 실증",</a:t>
            </a:r>
          </a:p>
          <a:p xmlns:a="http://schemas.openxmlformats.org/drawingml/2006/main">
            <a:r>
              <a:t>        "extension": "TS 지역 안전 진단·개선 권고와 관할 매핑"</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"공간 코드 변경·기상 결측·학습 이후 자료 유입",</a:t>
            </a:r>
          </a:p>
          <a:p xmlns:a="http://schemas.openxmlformats.org/drawingml/2006/main">
            <a:r>
              <a:t>        "hold": "시간·지역 분리 평가와 누수 차단",</a:t>
            </a:r>
          </a:p>
          <a:p xmlns:a="http://schemas.openxmlformats.org/drawingml/2006/main">
            <a:r>
              <a:t>        "recovery": "예측 오차·지역 편차·개입 후 지표 평가",</a:t>
            </a:r>
          </a:p>
          <a:p xmlns:a="http://schemas.openxmlformats.org/drawingml/2006/main">
            <a:r>
              <a:t>        "evidence": "시공간 분리 평가와 지역별 오차·대응 기록"</a:t>
            </a:r>
          </a:p>
          <a:p xmlns:a="http://schemas.openxmlformats.org/drawingml/2006/main">
            <a:r>
              <a:t>      },</a:t>
            </a:r>
          </a:p>
          <a:p xmlns:a="http://schemas.openxmlformats.org/drawingml/2006/main">
            <a:r>
              <a:t>      "data": {</a:t>
            </a:r>
          </a:p>
          <a:p xmlns:a="http://schemas.openxmlformats.org/drawingml/2006/main">
            <a:r>
              <a:t>        "source": "지역별 위험 특징",</a:t>
            </a:r>
          </a:p>
          <a:p xmlns:a="http://schemas.openxmlformats.org/drawingml/2006/main">
            <a:r>
              <a:t>        "prepare": "공간·시간 단위 정합화와 결측 점검",</a:t>
            </a:r>
          </a:p>
          <a:p xmlns:a="http://schemas.openxmlformats.org/drawingml/2006/main">
            <a:r>
              <a:t>        "output": "관측 데이터",</a:t>
            </a:r>
          </a:p>
          <a:p xmlns:a="http://schemas.openxmlformats.org/drawingml/2006/main">
            <a:r>
              <a:t>        "refresh": "예측 오차·지역 편차·개입 후 지표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"AX23",</a:t>
            </a:r>
          </a:p>
          <a:p xmlns:a="http://schemas.openxmlformats.org/drawingml/2006/main">
            <a:r>
              <a:t>    "success": [</a:t>
            </a:r>
          </a:p>
          <a:p xmlns:a="http://schemas.openxmlformats.org/drawingml/2006/main">
            <a:r>
              <a:t>      "사고·시설·기상·교통량 결합",</a:t>
            </a:r>
          </a:p>
          <a:p xmlns:a="http://schemas.openxmlformats.org/drawingml/2006/main">
            <a:r>
              <a:t>      "지역 현장 실증으로 위험 검토"</a:t>
            </a:r>
          </a:p>
          <a:p xmlns:a="http://schemas.openxmlformats.org/drawingml/2006/main">
            <a:r>
              <a:t>    ],</a:t>
            </a:r>
          </a:p>
          <a:p xmlns:a="http://schemas.openxmlformats.org/drawingml/2006/main">
            <a:r>
              <a:t>    "risks": [</a:t>
            </a:r>
          </a:p>
          <a:p xmlns:a="http://schemas.openxmlformats.org/drawingml/2006/main">
            <a:r>
              <a:t>      "희귀 사고의 표본 불균형",</a:t>
            </a:r>
          </a:p>
          <a:p xmlns:a="http://schemas.openxmlformats.org/drawingml/2006/main">
            <a:r>
              <a:t>      "예측지표를 예방 효과로 환산"</a:t>
            </a:r>
          </a:p>
          <a:p xmlns:a="http://schemas.openxmlformats.org/drawingml/2006/main">
            <a:r>
              <a:t>    ],</a:t>
            </a:r>
          </a:p>
          <a:p xmlns:a="http://schemas.openxmlformats.org/drawingml/2006/main">
            <a:r>
              <a:t>    "architecture": [</a:t>
            </a:r>
          </a:p>
          <a:p xmlns:a="http://schemas.openxmlformats.org/drawingml/2006/main">
            <a:r>
              <a:t>      "민관 교통 데이터",</a:t>
            </a:r>
          </a:p>
          <a:p xmlns:a="http://schemas.openxmlformats.org/drawingml/2006/main">
            <a:r>
              <a:t>      "전처리·MLOps",</a:t>
            </a:r>
          </a:p>
          <a:p xmlns:a="http://schemas.openxmlformats.org/drawingml/2006/main">
            <a:r>
              <a:t>      "지역별 위험 특징",</a:t>
            </a:r>
          </a:p>
          <a:p xmlns:a="http://schemas.openxmlformats.org/drawingml/2006/main">
            <a:r>
              <a:t>      "교통안전 담당"</a:t>
            </a:r>
          </a:p>
          <a:p xmlns:a="http://schemas.openxmlformats.org/drawingml/2006/main">
            <a:r>
              <a:t>    ],</a:t>
            </a:r>
          </a:p>
          <a:p xmlns:a="http://schemas.openxmlformats.org/drawingml/2006/main">
            <a:r>
              <a:t>    "transfers": [</a:t>
            </a:r>
          </a:p>
          <a:p xmlns:a="http://schemas.openxmlformats.org/drawingml/2006/main">
            <a:r>
              <a:t>      "관측 데이터",</a:t>
            </a:r>
          </a:p>
          <a:p xmlns:a="http://schemas.openxmlformats.org/drawingml/2006/main">
            <a:r>
              <a:t>      "학습·평가 특징",</a:t>
            </a:r>
          </a:p>
          <a:p xmlns:a="http://schemas.openxmlformats.org/drawingml/2006/main">
            <a:r>
              <a:t>      "위험 순위",</a:t>
            </a:r>
          </a:p>
          <a:p xmlns:a="http://schemas.openxmlformats.org/drawingml/2006/main">
            <a:r>
              <a:t>      "현장 조치 검토"</a:t>
            </a:r>
          </a:p>
          <a:p xmlns:a="http://schemas.openxmlformats.org/drawingml/2006/main">
            <a:r>
              <a:t>    ],</a:t>
            </a:r>
          </a:p>
          <a:p xmlns:a="http://schemas.openxmlformats.org/drawingml/2006/main">
            <a:r>
              <a:t>    "control": "시간·지역 분리 평가와 누수 차단",</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경찰 AI 교통안전 시스템 · 공공AI 사례집 110–111쪽 https://bigdata.dongjak.go.kr/board/viewArticle?articleNo=954&amp;boardId=4</a:t>
            </a:r>
          </a:p>
          <a:p xmlns:a="http://schemas.openxmlformats.org/drawingml/2006/main">
            <a:r>
              <a:t>홈페이지 https://heen1987-ops.github.io/TS-business-Plan-001/index.html?view=casebook&amp;case=AX23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"AX23",</a:t>
            </a:r>
          </a:p>
          <a:p xmlns:a="http://schemas.openxmlformats.org/drawingml/2006/main">
            <a:r>
              <a:t>    "title": "경찰 AI 교통안전 시스템",</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"교통사고 위험 예측",</a:t>
            </a:r>
          </a:p>
          <a:p xmlns:a="http://schemas.openxmlformats.org/drawingml/2006/main">
            <a:r>
              <a:t>    "period": "2024 구축·실증",</a:t>
            </a:r>
          </a:p>
          <a:p xmlns:a="http://schemas.openxmlformats.org/drawingml/2006/main">
            <a:r>
              <a:t>    "sources": [</a:t>
            </a:r>
          </a:p>
          <a:p xmlns:a="http://schemas.openxmlformats.org/drawingml/2006/main">
            <a:r>
              <a:t>      "S-AX23"</a:t>
            </a:r>
          </a:p>
          <a:p xmlns:a="http://schemas.openxmlformats.org/drawingml/2006/main">
            <a:r>
              <a:t>    ],</a:t>
            </a:r>
          </a:p>
          <a:p xmlns:a="http://schemas.openxmlformats.org/drawingml/2006/main">
            <a:r>
              <a:t>    "keywords": [</a:t>
            </a:r>
          </a:p>
          <a:p xmlns:a="http://schemas.openxmlformats.org/drawingml/2006/main">
            <a:r>
              <a:t>      "교통사고 위험 예측"</a:t>
            </a:r>
          </a:p>
          <a:p xmlns:a="http://schemas.openxmlformats.org/drawingml/2006/main">
            <a:r>
              <a:t>    ],</a:t>
            </a:r>
          </a:p>
          <a:p xmlns:a="http://schemas.openxmlformats.org/drawingml/2006/main">
            <a:r>
              <a:t>    "fact": "교통사고·단속·시설·기상·교통량 데이터 기반 위험 예측과 지역 실증",</a:t>
            </a:r>
          </a:p>
          <a:p xmlns:a="http://schemas.openxmlformats.org/drawingml/2006/main">
            <a:r>
              <a:t>    "limit": "지역 실증 범위 · 전국 사고 감소 성과로 확대 불가",</a:t>
            </a:r>
          </a:p>
          <a:p xmlns:a="http://schemas.openxmlformats.org/drawingml/2006/main">
            <a:r>
              <a:t>    "flow": [</a:t>
            </a:r>
          </a:p>
          <a:p xmlns:a="http://schemas.openxmlformats.org/drawingml/2006/main">
            <a:r>
              <a:t>      "민관 교통 데이터",</a:t>
            </a:r>
          </a:p>
          <a:p xmlns:a="http://schemas.openxmlformats.org/drawingml/2006/main">
            <a:r>
              <a:t>      "전처리·MLOps",</a:t>
            </a:r>
          </a:p>
          <a:p xmlns:a="http://schemas.openxmlformats.org/drawingml/2006/main">
            <a:r>
              <a:t>      "사고 위험 예측",</a:t>
            </a:r>
          </a:p>
          <a:p xmlns:a="http://schemas.openxmlformats.org/drawingml/2006/main">
            <a:r>
              <a:t>      "지역 실증·현장 대응"</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"지역별 모델 평가와 예방 조치의 연결",</a:t>
            </a:r>
          </a:p>
          <a:p xmlns:a="http://schemas.openxmlformats.org/drawingml/2006/main">
            <a:r>
              <a:t>    "local": "TS 지역 안전 진단·개선 권고와 관할 매핑",</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"지역·도로·시점 정규화 및 개선 이력 연결",</a:t>
            </a:r>
          </a:p>
          <a:p xmlns:a="http://schemas.openxmlformats.org/drawingml/2006/main">
            <a:r>
              <a:t>    "test": "시간·지역 분리 검증과 데이터 누락 시험",</a:t>
            </a:r>
          </a:p>
          <a:p xmlns:a="http://schemas.openxmlformats.org/drawingml/2006/main">
            <a:r>
              <a:t>    "metric": "위험 탐지율 / 예방 조치 이행률",</a:t>
            </a:r>
          </a:p>
          <a:p xmlns:a="http://schemas.openxmlformats.org/drawingml/2006/main">
            <a:r>
              <a:t>    "strategies": [</a:t>
            </a:r>
          </a:p>
          <a:p xmlns:a="http://schemas.openxmlformats.org/drawingml/2006/main">
            <a:r>
              <a:t>      "ST-01",</a:t>
            </a:r>
          </a:p>
          <a:p xmlns:a="http://schemas.openxmlformats.org/drawingml/2006/main">
            <a:r>
              <a:t>      "ST-03",</a:t>
            </a:r>
          </a:p>
          <a:p xmlns:a="http://schemas.openxmlformats.org/drawingml/2006/main">
            <a:r>
              <a:t>      "ST-07"</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"AX23",</a:t>
            </a:r>
          </a:p>
          <a:p xmlns:a="http://schemas.openxmlformats.org/drawingml/2006/main">
            <a:r>
              <a:t>    "canonicalId": "AX23",</a:t>
            </a:r>
          </a:p>
          <a:p xmlns:a="http://schemas.openxmlformats.org/drawingml/2006/main">
            <a:r>
              <a:t>    "purpose": "지역별 교통사고 위험 분석과 대응 지원",</a:t>
            </a:r>
          </a:p>
          <a:p xmlns:a="http://schemas.openxmlformats.org/drawingml/2006/main">
            <a:r>
              <a:t>    "users": "교통안전·단속·시설 담당",</a:t>
            </a:r>
          </a:p>
          <a:p xmlns:a="http://schemas.openxmlformats.org/drawingml/2006/main">
            <a:r>
              <a:t>    "scope": [</a:t>
            </a:r>
          </a:p>
          <a:p xmlns:a="http://schemas.openxmlformats.org/drawingml/2006/main">
            <a:r>
              <a:t>      "다종 데이터",</a:t>
            </a:r>
          </a:p>
          <a:p xmlns:a="http://schemas.openxmlformats.org/drawingml/2006/main">
            <a:r>
              <a:t>      "위험 예측",</a:t>
            </a:r>
          </a:p>
          <a:p xmlns:a="http://schemas.openxmlformats.org/drawingml/2006/main">
            <a:r>
              <a:t>      "지역 실증"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"민관 교통 데이터",</a:t>
            </a:r>
          </a:p>
          <a:p xmlns:a="http://schemas.openxmlformats.org/drawingml/2006/main">
            <a:r>
              <a:t>        "detail": "지역·기간·사고유형 정의",</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"다종 데이터 / 위험 예측 / 지역 실증",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"전처리·MLOps",</a:t>
            </a:r>
          </a:p>
          <a:p xmlns:a="http://schemas.openxmlformats.org/drawingml/2006/main">
            <a:r>
              <a:t>        "detail": "사고·단속·시설·기상·교통량 결합 분석",</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"교통안전 담당",</a:t>
            </a:r>
          </a:p>
          <a:p xmlns:a="http://schemas.openxmlformats.org/drawingml/2006/main">
            <a:r>
              <a:t>        "detail": "위험 후보를 단속·시설 개선 검토에 전달",</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"지역별 위험 특징",</a:t>
            </a:r>
          </a:p>
          <a:p xmlns:a="http://schemas.openxmlformats.org/drawingml/2006/main">
            <a:r>
              <a:t>        "detail": "공간·시간 단위 정합화와 결측 점검",</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"예측 오차·지역 편차·개입 후 지표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"민관 교통 데이터",</a:t>
            </a:r>
          </a:p>
          <a:p xmlns:a="http://schemas.openxmlformats.org/drawingml/2006/main">
            <a:r>
              <a:t>        "input": "지역·기간·사고유형 정의",</a:t>
            </a:r>
          </a:p>
          <a:p xmlns:a="http://schemas.openxmlformats.org/drawingml/2006/main">
            <a:r>
              <a:t>        "process": "공간·시간 단위 정합화와 결측 점검",</a:t>
            </a:r>
          </a:p>
          <a:p xmlns:a="http://schemas.openxmlformats.org/drawingml/2006/main">
            <a:r>
              <a:t>        "output": "관측 데이터"</a:t>
            </a:r>
          </a:p>
          <a:p xmlns:a="http://schemas.openxmlformats.org/drawingml/2006/main">
            <a:r>
              <a:t>      },</a:t>
            </a:r>
          </a:p>
          <a:p xmlns:a="http://schemas.openxmlformats.org/drawingml/2006/main">
            <a:r>
              <a:t>      {</a:t>
            </a:r>
          </a:p>
          <a:p xmlns:a="http://schemas.openxmlformats.org/drawingml/2006/main">
            <a:r>
              <a:t>        "title": "전처리·MLOps",</a:t>
            </a:r>
          </a:p>
          <a:p xmlns:a="http://schemas.openxmlformats.org/drawingml/2006/main">
            <a:r>
              <a:t>        "input": "관측 데이터",</a:t>
            </a:r>
          </a:p>
          <a:p xmlns:a="http://schemas.openxmlformats.org/drawingml/2006/main">
            <a:r>
              <a:t>        "process": "사고·단속·시설·기상·교통량 결합 분석",</a:t>
            </a:r>
          </a:p>
          <a:p xmlns:a="http://schemas.openxmlformats.org/drawingml/2006/main">
            <a:r>
              <a:t>        "output": "학습·평가 특징"</a:t>
            </a:r>
          </a:p>
          <a:p xmlns:a="http://schemas.openxmlformats.org/drawingml/2006/main">
            <a:r>
              <a:t>      },</a:t>
            </a:r>
          </a:p>
          <a:p xmlns:a="http://schemas.openxmlformats.org/drawingml/2006/main">
            <a:r>
              <a:t>      {</a:t>
            </a:r>
          </a:p>
          <a:p xmlns:a="http://schemas.openxmlformats.org/drawingml/2006/main">
            <a:r>
              <a:t>        "title": "사고 위험 예측",</a:t>
            </a:r>
          </a:p>
          <a:p xmlns:a="http://schemas.openxmlformats.org/drawingml/2006/main">
            <a:r>
              <a:t>        "input": "학습·평가 특징",</a:t>
            </a:r>
          </a:p>
          <a:p xmlns:a="http://schemas.openxmlformats.org/drawingml/2006/main">
            <a:r>
              <a:t>        "process": "시간·지역 분리 평가와 누수 차단",</a:t>
            </a:r>
          </a:p>
          <a:p xmlns:a="http://schemas.openxmlformats.org/drawingml/2006/main">
            <a:r>
              <a:t>        "output": "위험 순위"</a:t>
            </a:r>
          </a:p>
          <a:p xmlns:a="http://schemas.openxmlformats.org/drawingml/2006/main">
            <a:r>
              <a:t>      },</a:t>
            </a:r>
          </a:p>
          <a:p xmlns:a="http://schemas.openxmlformats.org/drawingml/2006/main">
            <a:r>
              <a:t>      {</a:t>
            </a:r>
          </a:p>
          <a:p xmlns:a="http://schemas.openxmlformats.org/drawingml/2006/main">
            <a:r>
              <a:t>        "title": "지역 실증·현장 대응",</a:t>
            </a:r>
          </a:p>
          <a:p xmlns:a="http://schemas.openxmlformats.org/drawingml/2006/main">
            <a:r>
              <a:t>        "input": "위험 순위",</a:t>
            </a:r>
          </a:p>
          <a:p xmlns:a="http://schemas.openxmlformats.org/drawingml/2006/main">
            <a:r>
              <a:t>        "process": "위험 후보를 단속·시설 개선 검토에 전달",</a:t>
            </a:r>
          </a:p>
          <a:p xmlns:a="http://schemas.openxmlformats.org/drawingml/2006/main">
            <a:r>
              <a:t>        "output": "현장 조치 검토"</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"같은 지역·기간의 사고 위험을 분석하고 대응 후보 선정",</a:t>
            </a:r>
          </a:p>
          <a:p xmlns:a="http://schemas.openxmlformats.org/drawingml/2006/main">
            <a:r>
              <a:t>      "exception": "공간 코드 변경·기상 결측·학습 이후 자료 유입",</a:t>
            </a:r>
          </a:p>
          <a:p xmlns:a="http://schemas.openxmlformats.org/drawingml/2006/main">
            <a:r>
              <a:t>      "evidence": "시공간 분리 평가와 지역별 오차·대응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"교통안전·단속·시설 담당",</a:t>
            </a:r>
          </a:p>
          <a:p xmlns:a="http://schemas.openxmlformats.org/drawingml/2006/main">
            <a:r>
              <a:t>          "processing": "지역·기간·사고유형 정의",</a:t>
            </a:r>
          </a:p>
          <a:p xmlns:a="http://schemas.openxmlformats.org/drawingml/2006/main">
            <a:r>
              <a:t>          "output": "관측 데이터"</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"지역별 위험 특징",</a:t>
            </a:r>
          </a:p>
          <a:p xmlns:a="http://schemas.openxmlformats.org/drawingml/2006/main">
            <a:r>
              <a:t>          "processing": "공간·시간 단위 정합화와 결측 점검",</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"관측 데이터",</a:t>
            </a:r>
          </a:p>
          <a:p xmlns:a="http://schemas.openxmlformats.org/drawingml/2006/main">
            <a:r>
              <a:t>          "processing": "사고·단속·시설·기상·교통량 결합 분석",</a:t>
            </a:r>
          </a:p>
          <a:p xmlns:a="http://schemas.openxmlformats.org/drawingml/2006/main">
            <a:r>
              <a:t>          "output": "위험 순위"</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"위험 순위",</a:t>
            </a:r>
          </a:p>
          <a:p xmlns:a="http://schemas.openxmlformats.org/drawingml/2006/main">
            <a:r>
              <a:t>          "processing": "위험 후보를 단속·시설 개선 검토에 전달",</a:t>
            </a:r>
          </a:p>
          <a:p xmlns:a="http://schemas.openxmlformats.org/drawingml/2006/main">
            <a:r>
              <a:t>          "output": "현장 조치 검토"</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"예측 오차·지역 편차·개입 후 지표 평가",</a:t>
            </a:r>
          </a:p>
          <a:p xmlns:a="http://schemas.openxmlformats.org/drawingml/2006/main">
            <a:r>
              <a:t>          "output": "시공간 분리 평가와 지역별 오차·대응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"예측 오차·지역 편차·개입 후 지표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"S-AX23",</a:t>
            </a:r>
          </a:p>
          <a:p xmlns:a="http://schemas.openxmlformats.org/drawingml/2006/main">
            <a:r>
              <a:t>        "title": "경찰 AI 교통안전 시스템 · 공공AI 사례집 110–111쪽",</a:t>
            </a:r>
          </a:p>
          <a:p xmlns:a="http://schemas.openxmlformats.org/drawingml/2006/main">
            <a:r>
              <a:t>        "url": "https://bigdata.dongjak.go.kr/board/viewArticle?articleNo=954&amp;boardId=4",</a:t>
            </a:r>
          </a:p>
          <a:p xmlns:a="http://schemas.openxmlformats.org/drawingml/2006/main">
            <a:r>
              <a:t>        "published": "2024 구축·실증",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"지역별 모델 평가와 예방 조치의 연결",</a:t>
            </a:r>
          </a:p>
          <a:p xmlns:a="http://schemas.openxmlformats.org/drawingml/2006/main">
            <a:r>
              <a:t>    "local": "TS 지역 안전 진단·개선 권고와 관할 매핑",</a:t>
            </a:r>
          </a:p>
          <a:p xmlns:a="http://schemas.openxmlformats.org/drawingml/2006/main">
            <a:r>
              <a:t>    "sourceDetail": null,</a:t>
            </a:r>
          </a:p>
          <a:p xmlns:a="http://schemas.openxmlformats.org/drawingml/2006/main">
            <a:r>
              <a:t>    "narrative": [</a:t>
            </a:r>
          </a:p>
          <a:p xmlns:a="http://schemas.openxmlformats.org/drawingml/2006/main">
            <a:r>
              <a:t>      "사고·단속·시설·기상·교통량을 결합해 지역별 교통 위험을 분석하는 사례. 다양한 원천의 시간·공간 단위를 맞추고 현장 실증으로 예측을 평가하는 유형.",</a:t>
            </a:r>
          </a:p>
          <a:p xmlns:a="http://schemas.openxmlformats.org/drawingml/2006/main">
            <a:r>
              <a:t>      "원천 자료를 정합화하고 결측·표본 편차를 검사한 뒤 학습·평가 특징을 구성하는 재구성. 위험 순위는 단속·시설 개선 담당자의 검토 자료로 전달하고 실제 개입 결과를 별도 기록.",</a:t>
            </a:r>
          </a:p>
          <a:p xmlns:a="http://schemas.openxmlformats.org/drawingml/2006/main">
            <a:r>
              <a:t>      "CCK 비교에서는 시간·지역 분리 평가로 데이터 누수를 막고 희귀 사고의 미탐을 별도로 확인. 예측 성능과 개입 후 사고 변화의 인과효과를 구분하고 관할 부서별 조치 이력을 연결할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"지역 위험 조회",</a:t>
            </a:r>
          </a:p>
          <a:p xmlns:a="http://schemas.openxmlformats.org/drawingml/2006/main">
            <a:r>
              <a:t>          "layer": "이용 접점",</a:t>
            </a:r>
          </a:p>
          <a:p xmlns:a="http://schemas.openxmlformats.org/drawingml/2006/main">
            <a:r>
              <a:t>          "detail": "교통안전·단속·시설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"지역·기간·유형",</a:t>
            </a:r>
          </a:p>
          <a:p xmlns:a="http://schemas.openxmlformats.org/drawingml/2006/main">
            <a:r>
              <a:t>          "layer": "업무 문맥",</a:t>
            </a:r>
          </a:p>
          <a:p xmlns:a="http://schemas.openxmlformats.org/drawingml/2006/main">
            <a:r>
              <a:t>          "detail": "지역·기간·사고유형 정의",</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"교통 특징 조회",</a:t>
            </a:r>
          </a:p>
          <a:p xmlns:a="http://schemas.openxmlformats.org/drawingml/2006/main">
            <a:r>
              <a:t>          "layer": "자료 조회",</a:t>
            </a:r>
          </a:p>
          <a:p xmlns:a="http://schemas.openxmlformats.org/drawingml/2006/main">
            <a:r>
              <a:t>          "detail": "관측 데이터",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"위험 순위 예측",</a:t>
            </a:r>
          </a:p>
          <a:p xmlns:a="http://schemas.openxmlformats.org/drawingml/2006/main">
            <a:r>
              <a:t>          "layer": "핵심 처리",</a:t>
            </a:r>
          </a:p>
          <a:p xmlns:a="http://schemas.openxmlformats.org/drawingml/2006/main">
            <a:r>
              <a:t>          "detail": "사고·단속·시설·기상·교통량 결합 분석",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"누수·편향 검사",</a:t>
            </a:r>
          </a:p>
          <a:p xmlns:a="http://schemas.openxmlformats.org/drawingml/2006/main">
            <a:r>
              <a:t>          "layer": "결과 검증",</a:t>
            </a:r>
          </a:p>
          <a:p xmlns:a="http://schemas.openxmlformats.org/drawingml/2006/main">
            <a:r>
              <a:t>          "detail": "시간·지역 분리 평가와 누수 차단",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"안전 담당 검토",</a:t>
            </a:r>
          </a:p>
          <a:p xmlns:a="http://schemas.openxmlformats.org/drawingml/2006/main">
            <a:r>
              <a:t>          "layer": "사람 확인",</a:t>
            </a:r>
          </a:p>
          <a:p xmlns:a="http://schemas.openxmlformats.org/drawingml/2006/main">
            <a:r>
              <a:t>          "detail": "같은 지역·기간의 사고 위험을 분석하고 대응 후보 선정",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"단속·시설 계획",</a:t>
            </a:r>
          </a:p>
          <a:p xmlns:a="http://schemas.openxmlformats.org/drawingml/2006/main">
            <a:r>
              <a:t>          "layer": "업무 연결",</a:t>
            </a:r>
          </a:p>
          <a:p xmlns:a="http://schemas.openxmlformats.org/drawingml/2006/main">
            <a:r>
              <a:t>          "detail": "위험 후보를 단속·시설 개선 검토에 전달",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"지역 실증 평가",</a:t>
            </a:r>
          </a:p>
          <a:p xmlns:a="http://schemas.openxmlformats.org/drawingml/2006/main">
            <a:r>
              <a:t>          "layer": "운영 관측",</a:t>
            </a:r>
          </a:p>
          <a:p xmlns:a="http://schemas.openxmlformats.org/drawingml/2006/main">
            <a:r>
              <a:t>          "detail": "예측 오차·지역 편차·개입 후 지표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"사고·기상·시설",</a:t>
            </a:r>
          </a:p>
          <a:p xmlns:a="http://schemas.openxmlformats.org/drawingml/2006/main">
            <a:r>
              <a:t>          "layer": "데이터 원천",</a:t>
            </a:r>
          </a:p>
          <a:p xmlns:a="http://schemas.openxmlformats.org/drawingml/2006/main">
            <a:r>
              <a:t>          "detail": "지역별 위험 특징",</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"시공간·결측 정리",</a:t>
            </a:r>
          </a:p>
          <a:p xmlns:a="http://schemas.openxmlformats.org/drawingml/2006/main">
            <a:r>
              <a:t>          "layer": "준비·갱신",</a:t>
            </a:r>
          </a:p>
          <a:p xmlns:a="http://schemas.openxmlformats.org/drawingml/2006/main">
            <a:r>
              <a:t>          "detail": "공간·시간 단위 정합화와 결측 점검",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"특징·평가 자료",</a:t>
            </a:r>
          </a:p>
          <a:p xmlns:a="http://schemas.openxmlformats.org/drawingml/2006/main">
            <a:r>
              <a:t>          "layer": "상태·지식 저장",</a:t>
            </a:r>
          </a:p>
          <a:p xmlns:a="http://schemas.openxmlformats.org/drawingml/2006/main">
            <a:r>
              <a:t>          "detail": "시공간 분리 평가와 지역별 오차·대응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"기간·지역 분리",</a:t>
            </a:r>
          </a:p>
          <a:p xmlns:a="http://schemas.openxmlformats.org/drawingml/2006/main">
            <a:r>
              <a:t>          "layer": "권한·정책",</a:t>
            </a:r>
          </a:p>
          <a:p xmlns:a="http://schemas.openxmlformats.org/drawingml/2006/main">
            <a:r>
              <a:t>          "detail": "공간 코드 변경·기상 결측·학습 이후 자료 유입",</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"analytics",</a:t>
            </a:r>
          </a:p>
          <a:p xmlns:a="http://schemas.openxmlformats.org/drawingml/2006/main">
            <a:r>
              <a:t>        "label": "복수 자료 결합·분석·검토·평가",</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"C03",</a:t>
            </a:r>
          </a:p>
          <a:p xmlns:a="http://schemas.openxmlformats.org/drawingml/2006/main">
            <a:r>
              <a:t>            "C10"</a:t>
            </a:r>
          </a:p>
          <a:p xmlns:a="http://schemas.openxmlformats.org/drawingml/2006/main">
            <a:r>
              <a:t>          ],</a:t>
            </a:r>
          </a:p>
          <a:p xmlns:a="http://schemas.openxmlformats.org/drawingml/2006/main">
            <a:r>
              <a:t>          [</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"관측 자료"</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"C10",</a:t>
            </a:r>
          </a:p>
          <a:p xmlns:a="http://schemas.openxmlformats.org/drawingml/2006/main">
            <a:r>
              <a:t>            "kind": "data",</a:t>
            </a:r>
          </a:p>
          <a:p xmlns:a="http://schemas.openxmlformats.org/drawingml/2006/main">
            <a:r>
              <a:t>            "mode": "비교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"정합화 특징"</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"예측·분류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"control",</a:t>
            </a:r>
          </a:p>
          <a:p xmlns:a="http://schemas.openxmlformats.org/drawingml/2006/main">
            <a:r>
              <a:t>            "mode": "오차·편향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"계획·의견"</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"적용 결과"</a:t>
            </a:r>
          </a:p>
          <a:p xmlns:a="http://schemas.openxmlformats.org/drawingml/2006/main">
            <a:r>
              <a:t>          },</a:t>
            </a:r>
          </a:p>
          <a:p xmlns:a="http://schemas.openxmlformats.org/drawingml/2006/main">
            <a:r>
              <a:t>          {</a:t>
            </a:r>
          </a:p>
          <a:p xmlns:a="http://schemas.openxmlformats.org/drawingml/2006/main">
            <a:r>
              <a:t>            "from": "C08",</a:t>
            </a:r>
          </a:p>
          <a:p xmlns:a="http://schemas.openxmlformats.org/drawingml/2006/main">
            <a:r>
              <a:t>            "to": "C10",</a:t>
            </a:r>
          </a:p>
          <a:p xmlns:a="http://schemas.openxmlformats.org/drawingml/2006/main">
            <a:r>
              <a:t>            "kind": "feedback",</a:t>
            </a:r>
          </a:p>
          <a:p xmlns:a="http://schemas.openxmlformats.org/drawingml/2006/main">
            <a:r>
              <a:t>            "mode": "다음 평가"</a:t>
            </a:r>
          </a:p>
          <a:p xmlns:a="http://schemas.openxmlformats.org/drawingml/2006/main">
            <a:r>
              <a:t>          }</a:t>
            </a:r>
          </a:p>
          <a:p xmlns:a="http://schemas.openxmlformats.org/drawingml/2006/main">
            <a:r>
              <a:t>        ],</a:t>
            </a:r>
          </a:p>
          <a:p xmlns:a="http://schemas.openxmlformats.org/drawingml/2006/main">
            <a:r>
              <a:t>        "summary": "민관 교통 데이터 → 전처리·MLOps → 사고 위험 예측 → 지역 실증·현장 대응"</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"관측 자료",</a:t>
            </a:r>
          </a:p>
          <a:p xmlns:a="http://schemas.openxmlformats.org/drawingml/2006/main">
            <a:r>
              <a:t>          "payload": "지역별 위험 특징",</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"C03",</a:t>
            </a:r>
          </a:p>
          <a:p xmlns:a="http://schemas.openxmlformats.org/drawingml/2006/main">
            <a:r>
              <a:t>          "to": "C10",</a:t>
            </a:r>
          </a:p>
          <a:p xmlns:a="http://schemas.openxmlformats.org/drawingml/2006/main">
            <a:r>
              <a:t>          "mode": "비교 자료",</a:t>
            </a:r>
          </a:p>
          <a:p xmlns:a="http://schemas.openxmlformats.org/drawingml/2006/main">
            <a:r>
              <a:t>          "payload": "학습·평가 특징",</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"C10",</a:t>
            </a:r>
          </a:p>
          <a:p xmlns:a="http://schemas.openxmlformats.org/drawingml/2006/main">
            <a:r>
              <a:t>          "to": "C04",</a:t>
            </a:r>
          </a:p>
          <a:p xmlns:a="http://schemas.openxmlformats.org/drawingml/2006/main">
            <a:r>
              <a:t>          "mode": "정합화 특징",</a:t>
            </a:r>
          </a:p>
          <a:p xmlns:a="http://schemas.openxmlformats.org/drawingml/2006/main">
            <a:r>
              <a:t>          "payload": "처리에 사용할 자료·출처·문맥",</a:t>
            </a:r>
          </a:p>
          <a:p xmlns:a="http://schemas.openxmlformats.org/drawingml/2006/main">
            <a:r>
              <a:t>          "check": "공간·시간 단위 정합화와 결측 점검"</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"C04",</a:t>
            </a:r>
          </a:p>
          <a:p xmlns:a="http://schemas.openxmlformats.org/drawingml/2006/main">
            <a:r>
              <a:t>          "to": "C05",</a:t>
            </a:r>
          </a:p>
          <a:p xmlns:a="http://schemas.openxmlformats.org/drawingml/2006/main">
            <a:r>
              <a:t>          "mode": "예측·분류 결과",</a:t>
            </a:r>
          </a:p>
          <a:p xmlns:a="http://schemas.openxmlformats.org/drawingml/2006/main">
            <a:r>
              <a:t>          "payload": "위험 순위",</a:t>
            </a:r>
          </a:p>
          <a:p xmlns:a="http://schemas.openxmlformats.org/drawingml/2006/main">
            <a:r>
              <a:t>          "check": "시공간 분리 평가와 지역별 오차·대응 기록"</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"오차·편향 확인",</a:t>
            </a:r>
          </a:p>
          <a:p xmlns:a="http://schemas.openxmlformats.org/drawingml/2006/main">
            <a:r>
              <a:t>          "payload": "위험 순위",</a:t>
            </a:r>
          </a:p>
          <a:p xmlns:a="http://schemas.openxmlformats.org/drawingml/2006/main">
            <a:r>
              <a:t>          "check": "시간·지역 분리 평가와 누수 차단"</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"C07",</a:t>
            </a:r>
          </a:p>
          <a:p xmlns:a="http://schemas.openxmlformats.org/drawingml/2006/main">
            <a:r>
              <a:t>          "to": "C08",</a:t>
            </a:r>
          </a:p>
          <a:p xmlns:a="http://schemas.openxmlformats.org/drawingml/2006/main">
            <a:r>
              <a:t>          "mode": "적용 결과",</a:t>
            </a:r>
          </a:p>
          <a:p xmlns:a="http://schemas.openxmlformats.org/drawingml/2006/main">
            <a:r>
              <a:t>          "payload": "현장 조치 검토",</a:t>
            </a:r>
          </a:p>
          <a:p xmlns:a="http://schemas.openxmlformats.org/drawingml/2006/main">
            <a:r>
              <a:t>          "check": "시공간 분리 평가와 지역별 오차·대응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7,</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"지역별 교통사고 위험 분석과 대응 지원 / 다종 데이터·위험 예측·지역 실증",</a:t>
            </a:r>
          </a:p>
          <a:p xmlns:a="http://schemas.openxmlformats.org/drawingml/2006/main">
            <a:r>
              <a:t>        "extension": "TS 지역 안전 진단·개선 권고와 관할 매핑"</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"공간 코드 변경·기상 결측·학습 이후 자료 유입",</a:t>
            </a:r>
          </a:p>
          <a:p xmlns:a="http://schemas.openxmlformats.org/drawingml/2006/main">
            <a:r>
              <a:t>        "hold": "시간·지역 분리 평가와 누수 차단",</a:t>
            </a:r>
          </a:p>
          <a:p xmlns:a="http://schemas.openxmlformats.org/drawingml/2006/main">
            <a:r>
              <a:t>        "recovery": "예측 오차·지역 편차·개입 후 지표 평가",</a:t>
            </a:r>
          </a:p>
          <a:p xmlns:a="http://schemas.openxmlformats.org/drawingml/2006/main">
            <a:r>
              <a:t>        "evidence": "시공간 분리 평가와 지역별 오차·대응 기록"</a:t>
            </a:r>
          </a:p>
          <a:p xmlns:a="http://schemas.openxmlformats.org/drawingml/2006/main">
            <a:r>
              <a:t>      },</a:t>
            </a:r>
          </a:p>
          <a:p xmlns:a="http://schemas.openxmlformats.org/drawingml/2006/main">
            <a:r>
              <a:t>      "data": {</a:t>
            </a:r>
          </a:p>
          <a:p xmlns:a="http://schemas.openxmlformats.org/drawingml/2006/main">
            <a:r>
              <a:t>        "source": "지역별 위험 특징",</a:t>
            </a:r>
          </a:p>
          <a:p xmlns:a="http://schemas.openxmlformats.org/drawingml/2006/main">
            <a:r>
              <a:t>        "prepare": "공간·시간 단위 정합화와 결측 점검",</a:t>
            </a:r>
          </a:p>
          <a:p xmlns:a="http://schemas.openxmlformats.org/drawingml/2006/main">
            <a:r>
              <a:t>        "output": "관측 데이터",</a:t>
            </a:r>
          </a:p>
          <a:p xmlns:a="http://schemas.openxmlformats.org/drawingml/2006/main">
            <a:r>
              <a:t>        "refresh": "예측 오차·지역 편차·개입 후 지표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"AX23",</a:t>
            </a:r>
          </a:p>
          <a:p xmlns:a="http://schemas.openxmlformats.org/drawingml/2006/main">
            <a:r>
              <a:t>    "success": [</a:t>
            </a:r>
          </a:p>
          <a:p xmlns:a="http://schemas.openxmlformats.org/drawingml/2006/main">
            <a:r>
              <a:t>      "사고·시설·기상·교통량 결합",</a:t>
            </a:r>
          </a:p>
          <a:p xmlns:a="http://schemas.openxmlformats.org/drawingml/2006/main">
            <a:r>
              <a:t>      "지역 현장 실증으로 위험 검토"</a:t>
            </a:r>
          </a:p>
          <a:p xmlns:a="http://schemas.openxmlformats.org/drawingml/2006/main">
            <a:r>
              <a:t>    ],</a:t>
            </a:r>
          </a:p>
          <a:p xmlns:a="http://schemas.openxmlformats.org/drawingml/2006/main">
            <a:r>
              <a:t>    "risks": [</a:t>
            </a:r>
          </a:p>
          <a:p xmlns:a="http://schemas.openxmlformats.org/drawingml/2006/main">
            <a:r>
              <a:t>      "희귀 사고의 표본 불균형",</a:t>
            </a:r>
          </a:p>
          <a:p xmlns:a="http://schemas.openxmlformats.org/drawingml/2006/main">
            <a:r>
              <a:t>      "예측지표를 예방 효과로 환산"</a:t>
            </a:r>
          </a:p>
          <a:p xmlns:a="http://schemas.openxmlformats.org/drawingml/2006/main">
            <a:r>
              <a:t>    ],</a:t>
            </a:r>
          </a:p>
          <a:p xmlns:a="http://schemas.openxmlformats.org/drawingml/2006/main">
            <a:r>
              <a:t>    "architecture": [</a:t>
            </a:r>
          </a:p>
          <a:p xmlns:a="http://schemas.openxmlformats.org/drawingml/2006/main">
            <a:r>
              <a:t>      "민관 교통 데이터",</a:t>
            </a:r>
          </a:p>
          <a:p xmlns:a="http://schemas.openxmlformats.org/drawingml/2006/main">
            <a:r>
              <a:t>      "전처리·MLOps",</a:t>
            </a:r>
          </a:p>
          <a:p xmlns:a="http://schemas.openxmlformats.org/drawingml/2006/main">
            <a:r>
              <a:t>      "지역별 위험 특징",</a:t>
            </a:r>
          </a:p>
          <a:p xmlns:a="http://schemas.openxmlformats.org/drawingml/2006/main">
            <a:r>
              <a:t>      "교통안전 담당"</a:t>
            </a:r>
          </a:p>
          <a:p xmlns:a="http://schemas.openxmlformats.org/drawingml/2006/main">
            <a:r>
              <a:t>    ],</a:t>
            </a:r>
          </a:p>
          <a:p xmlns:a="http://schemas.openxmlformats.org/drawingml/2006/main">
            <a:r>
              <a:t>    "transfers": [</a:t>
            </a:r>
          </a:p>
          <a:p xmlns:a="http://schemas.openxmlformats.org/drawingml/2006/main">
            <a:r>
              <a:t>      "관측 데이터",</a:t>
            </a:r>
          </a:p>
          <a:p xmlns:a="http://schemas.openxmlformats.org/drawingml/2006/main">
            <a:r>
              <a:t>      "학습·평가 특징",</a:t>
            </a:r>
          </a:p>
          <a:p xmlns:a="http://schemas.openxmlformats.org/drawingml/2006/main">
            <a:r>
              <a:t>      "위험 순위",</a:t>
            </a:r>
          </a:p>
          <a:p xmlns:a="http://schemas.openxmlformats.org/drawingml/2006/main">
            <a:r>
              <a:t>      "현장 조치 검토"</a:t>
            </a:r>
          </a:p>
          <a:p xmlns:a="http://schemas.openxmlformats.org/drawingml/2006/main">
            <a:r>
              <a:t>    ],</a:t>
            </a:r>
          </a:p>
          <a:p xmlns:a="http://schemas.openxmlformats.org/drawingml/2006/main">
            <a:r>
              <a:t>    "control": "시간·지역 분리 평가와 누수 차단",</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경찰 AI 교통안전 시스템 · 공공AI 사례집 110–111쪽 https://bigdata.dongjak.go.kr/board/viewArticle?articleNo=954&amp;boardId=4</a:t>
            </a:r>
          </a:p>
          <a:p xmlns:a="http://schemas.openxmlformats.org/drawingml/2006/main">
            <a:r>
              <a:t>홈페이지 https://heen1987-ops.github.io/TS-business-Plan-001/index.html?view=casebook&amp;case=AX23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"AX24",</a:t>
            </a:r>
          </a:p>
          <a:p xmlns:a="http://schemas.openxmlformats.org/drawingml/2006/main">
            <a:r>
              <a:t>    "title": "국가 R&amp;D 사업비 Risk 지원",</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"규정·증빙 기반 사업관리",</a:t>
            </a:r>
          </a:p>
          <a:p xmlns:a="http://schemas.openxmlformats.org/drawingml/2006/main">
            <a:r>
              <a:t>    "period": "2024 개발 사례",</a:t>
            </a:r>
          </a:p>
          <a:p xmlns:a="http://schemas.openxmlformats.org/drawingml/2006/main">
            <a:r>
              <a:t>    "sources": [</a:t>
            </a:r>
          </a:p>
          <a:p xmlns:a="http://schemas.openxmlformats.org/drawingml/2006/main">
            <a:r>
              <a:t>      "S-AX24"</a:t>
            </a:r>
          </a:p>
          <a:p xmlns:a="http://schemas.openxmlformats.org/drawingml/2006/main">
            <a:r>
              <a:t>    ],</a:t>
            </a:r>
          </a:p>
          <a:p xmlns:a="http://schemas.openxmlformats.org/drawingml/2006/main">
            <a:r>
              <a:t>    "keywords": [</a:t>
            </a:r>
          </a:p>
          <a:p xmlns:a="http://schemas.openxmlformats.org/drawingml/2006/main">
            <a:r>
              <a:t>      "규정",</a:t>
            </a:r>
          </a:p>
          <a:p xmlns:a="http://schemas.openxmlformats.org/drawingml/2006/main">
            <a:r>
              <a:t>      "증빙 기반 사업관리"</a:t>
            </a:r>
          </a:p>
          <a:p xmlns:a="http://schemas.openxmlformats.org/drawingml/2006/main">
            <a:r>
              <a:t>    ],</a:t>
            </a:r>
          </a:p>
          <a:p xmlns:a="http://schemas.openxmlformats.org/drawingml/2006/main">
            <a:r>
              <a:t>    "fact": "R&amp;D 법규·부처 지침 상담과 집행 데이터 수집·서식 생성을 결합한 솔루션 개발",</a:t>
            </a:r>
          </a:p>
          <a:p xmlns:a="http://schemas.openxmlformats.org/drawingml/2006/main">
            <a:r>
              <a:t>    "limit": "성과 항목이 기대효과 중심 · 행정 부담 감소 실측 별도",</a:t>
            </a:r>
          </a:p>
          <a:p xmlns:a="http://schemas.openxmlformats.org/drawingml/2006/main">
            <a:r>
              <a:t>    "flow": [</a:t>
            </a:r>
          </a:p>
          <a:p xmlns:a="http://schemas.openxmlformats.org/drawingml/2006/main">
            <a:r>
              <a:t>      "부처 지침·집행자료",</a:t>
            </a:r>
          </a:p>
          <a:p xmlns:a="http://schemas.openxmlformats.org/drawingml/2006/main">
            <a:r>
              <a:t>      "규정 질의",</a:t>
            </a:r>
          </a:p>
          <a:p xmlns:a="http://schemas.openxmlformats.org/drawingml/2006/main">
            <a:r>
              <a:t>      "서식·증빙 정리",</a:t>
            </a:r>
          </a:p>
          <a:p xmlns:a="http://schemas.openxmlformats.org/drawingml/2006/main">
            <a:r>
              <a:t>      "연구자·기관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"부처별 지침·증빙·검토 책임의 연결",</a:t>
            </a:r>
          </a:p>
          <a:p xmlns:a="http://schemas.openxmlformats.org/drawingml/2006/main">
            <a:r>
              <a:t>    "local": "민간 AI PMS와 TS 기관 내부 업무를 역할별 분리",</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"부처·사업·계약 판본·증빙 요구 매핑",</a:t>
            </a:r>
          </a:p>
          <a:p xmlns:a="http://schemas.openxmlformats.org/drawingml/2006/main">
            <a:r>
              <a:t>    "test": "유효 규정·증빙 누락·목적 외 자료 차단 시험",</a:t>
            </a:r>
          </a:p>
          <a:p xmlns:a="http://schemas.openxmlformats.org/drawingml/2006/main">
            <a:r>
              <a:t>    "metric": "보완 왕복 횟수 / 검토 소요시간",</a:t>
            </a:r>
          </a:p>
          <a:p xmlns:a="http://schemas.openxmlformats.org/drawingml/2006/main">
            <a:r>
              <a:t>    "strategies": [</a:t>
            </a:r>
          </a:p>
          <a:p xmlns:a="http://schemas.openxmlformats.org/drawingml/2006/main">
            <a:r>
              <a:t>      "ST-09",</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"AX24",</a:t>
            </a:r>
          </a:p>
          <a:p xmlns:a="http://schemas.openxmlformats.org/drawingml/2006/main">
            <a:r>
              <a:t>    "canonicalId": "AX24",</a:t>
            </a:r>
          </a:p>
          <a:p xmlns:a="http://schemas.openxmlformats.org/drawingml/2006/main">
            <a:r>
              <a:t>    "purpose": "R&amp;D 사업비 문의와 증빙 정리 지원",</a:t>
            </a:r>
          </a:p>
          <a:p xmlns:a="http://schemas.openxmlformats.org/drawingml/2006/main">
            <a:r>
              <a:t>    "users": "과제 수행자·연구관리 담당",</a:t>
            </a:r>
          </a:p>
          <a:p xmlns:a="http://schemas.openxmlformats.org/drawingml/2006/main">
            <a:r>
              <a:t>    "scope": [</a:t>
            </a:r>
          </a:p>
          <a:p xmlns:a="http://schemas.openxmlformats.org/drawingml/2006/main">
            <a:r>
              <a:t>      "규정 상담",</a:t>
            </a:r>
          </a:p>
          <a:p xmlns:a="http://schemas.openxmlformats.org/drawingml/2006/main">
            <a:r>
              <a:t>      "집행자료",</a:t>
            </a:r>
          </a:p>
          <a:p xmlns:a="http://schemas.openxmlformats.org/drawingml/2006/main">
            <a:r>
              <a:t>      "서식 생성"</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"연구비 집행 자료",</a:t>
            </a:r>
          </a:p>
          <a:p xmlns:a="http://schemas.openxmlformats.org/drawingml/2006/main">
            <a:r>
              <a:t>        "detail": "부처·사업·협약기간·집행항목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"규정 상담 / 집행자료 / 서식 생성",</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"규정 검색·서식 구성",</a:t>
            </a:r>
          </a:p>
          <a:p xmlns:a="http://schemas.openxmlformats.org/drawingml/2006/main">
            <a:r>
              <a:t>        "detail": "규정 검색과 집행 항목의 조건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"연구자·기관 검토자",</a:t>
            </a:r>
          </a:p>
          <a:p xmlns:a="http://schemas.openxmlformats.org/drawingml/2006/main">
            <a:r>
              <a:t>        "detail": "근거·누락 항목·서식 초안의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"지침·증빙 기록",</a:t>
            </a:r>
          </a:p>
          <a:p xmlns:a="http://schemas.openxmlformats.org/drawingml/2006/main">
            <a:r>
              <a:t>        "detail": "법규·부처 지침·거래증빙의 판본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"오분류·증빙 누락과 검토 결과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"부처 지침·집행자료",</a:t>
            </a:r>
          </a:p>
          <a:p xmlns:a="http://schemas.openxmlformats.org/drawingml/2006/main">
            <a:r>
              <a:t>        "input": "부처·사업·협약기간·집행항목 확인",</a:t>
            </a:r>
          </a:p>
          <a:p xmlns:a="http://schemas.openxmlformats.org/drawingml/2006/main">
            <a:r>
              <a:t>        "process": "법규·부처 지침·거래증빙의 판본 연결",</a:t>
            </a:r>
          </a:p>
          <a:p xmlns:a="http://schemas.openxmlformats.org/drawingml/2006/main">
            <a:r>
              <a:t>        "output": "집행 내역"</a:t>
            </a:r>
          </a:p>
          <a:p xmlns:a="http://schemas.openxmlformats.org/drawingml/2006/main">
            <a:r>
              <a:t>      },</a:t>
            </a:r>
          </a:p>
          <a:p xmlns:a="http://schemas.openxmlformats.org/drawingml/2006/main">
            <a:r>
              <a:t>      {</a:t>
            </a:r>
          </a:p>
          <a:p xmlns:a="http://schemas.openxmlformats.org/drawingml/2006/main">
            <a:r>
              <a:t>        "title": "규정 질의",</a:t>
            </a:r>
          </a:p>
          <a:p xmlns:a="http://schemas.openxmlformats.org/drawingml/2006/main">
            <a:r>
              <a:t>        "input": "집행 내역",</a:t>
            </a:r>
          </a:p>
          <a:p xmlns:a="http://schemas.openxmlformats.org/drawingml/2006/main">
            <a:r>
              <a:t>        "process": "규정 검색과 집행 항목의 조건 비교",</a:t>
            </a:r>
          </a:p>
          <a:p xmlns:a="http://schemas.openxmlformats.org/drawingml/2006/main">
            <a:r>
              <a:t>        "output": "적용 규정"</a:t>
            </a:r>
          </a:p>
          <a:p xmlns:a="http://schemas.openxmlformats.org/drawingml/2006/main">
            <a:r>
              <a:t>      },</a:t>
            </a:r>
          </a:p>
          <a:p xmlns:a="http://schemas.openxmlformats.org/drawingml/2006/main">
            <a:r>
              <a:t>      {</a:t>
            </a:r>
          </a:p>
          <a:p xmlns:a="http://schemas.openxmlformats.org/drawingml/2006/main">
            <a:r>
              <a:t>        "title": "서식·증빙 정리",</a:t>
            </a:r>
          </a:p>
          <a:p xmlns:a="http://schemas.openxmlformats.org/drawingml/2006/main">
            <a:r>
              <a:t>        "input": "적용 규정",</a:t>
            </a:r>
          </a:p>
          <a:p xmlns:a="http://schemas.openxmlformats.org/drawingml/2006/main">
            <a:r>
              <a:t>        "process": "사업·판본별 의무와 예외 대사",</a:t>
            </a:r>
          </a:p>
          <a:p xmlns:a="http://schemas.openxmlformats.org/drawingml/2006/main">
            <a:r>
              <a:t>        "output": "서식·증빙 목록"</a:t>
            </a:r>
          </a:p>
          <a:p xmlns:a="http://schemas.openxmlformats.org/drawingml/2006/main">
            <a:r>
              <a:t>      },</a:t>
            </a:r>
          </a:p>
          <a:p xmlns:a="http://schemas.openxmlformats.org/drawingml/2006/main">
            <a:r>
              <a:t>      {</a:t>
            </a:r>
          </a:p>
          <a:p xmlns:a="http://schemas.openxmlformats.org/drawingml/2006/main">
            <a:r>
              <a:t>        "title": "연구자·기관 검토",</a:t>
            </a:r>
          </a:p>
          <a:p xmlns:a="http://schemas.openxmlformats.org/drawingml/2006/main">
            <a:r>
              <a:t>        "input": "서식·증빙 목록",</a:t>
            </a:r>
          </a:p>
          <a:p xmlns:a="http://schemas.openxmlformats.org/drawingml/2006/main">
            <a:r>
              <a:t>        "process": "근거·누락 항목·서식 초안의 담당자 검토",</a:t>
            </a:r>
          </a:p>
          <a:p xmlns:a="http://schemas.openxmlformats.org/drawingml/2006/main">
            <a:r>
              <a:t>        "output": "보완·검토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"부처·사업·협약기간에 맞는 집행 조건과 증빙 확인",</a:t>
            </a:r>
          </a:p>
          <a:p xmlns:a="http://schemas.openxmlformats.org/drawingml/2006/main">
            <a:r>
              <a:t>      "exception": "다른 부처 지침·기간 외 거래·중복 집행 증빙",</a:t>
            </a:r>
          </a:p>
          <a:p xmlns:a="http://schemas.openxmlformats.org/drawingml/2006/main">
            <a:r>
              <a:t>      "evidence": "요건·거래·증빙·검토자 연결표와 누락 검출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"과제 수행자·연구관리 담당",</a:t>
            </a:r>
          </a:p>
          <a:p xmlns:a="http://schemas.openxmlformats.org/drawingml/2006/main">
            <a:r>
              <a:t>          "processing": "부처·사업·협약기간·집행항목 확인",</a:t>
            </a:r>
          </a:p>
          <a:p xmlns:a="http://schemas.openxmlformats.org/drawingml/2006/main">
            <a:r>
              <a:t>          "output": "집행 내역"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"지침·증빙 기록",</a:t>
            </a:r>
          </a:p>
          <a:p xmlns:a="http://schemas.openxmlformats.org/drawingml/2006/main">
            <a:r>
              <a:t>          "processing": "법규·부처 지침·거래증빙의 판본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"집행 내역",</a:t>
            </a:r>
          </a:p>
          <a:p xmlns:a="http://schemas.openxmlformats.org/drawingml/2006/main">
            <a:r>
              <a:t>          "processing": "규정 검색과 집행 항목의 조건 비교",</a:t>
            </a:r>
          </a:p>
          <a:p xmlns:a="http://schemas.openxmlformats.org/drawingml/2006/main">
            <a:r>
              <a:t>          "output": "서식·증빙 목록"</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"서식·증빙 목록",</a:t>
            </a:r>
          </a:p>
          <a:p xmlns:a="http://schemas.openxmlformats.org/drawingml/2006/main">
            <a:r>
              <a:t>          "processing": "근거·누락 항목·서식 초안의 담당자 검토",</a:t>
            </a:r>
          </a:p>
          <a:p xmlns:a="http://schemas.openxmlformats.org/drawingml/2006/main">
            <a:r>
              <a:t>          "output": "보완·검토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"오분류·증빙 누락과 검토 결과 추적",</a:t>
            </a:r>
          </a:p>
          <a:p xmlns:a="http://schemas.openxmlformats.org/drawingml/2006/main">
            <a:r>
              <a:t>          "output": "요건·거래·증빙·검토자 연결표와 누락 검출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"오분류·증빙 누락과 검토 결과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"S-AX24",</a:t>
            </a:r>
          </a:p>
          <a:p xmlns:a="http://schemas.openxmlformats.org/drawingml/2006/main">
            <a:r>
              <a:t>        "title": "국가 R&amp;D 사업비 Risk 지원 · 공공AI 사례집 193–194쪽",</a:t>
            </a:r>
          </a:p>
          <a:p xmlns:a="http://schemas.openxmlformats.org/drawingml/2006/main">
            <a:r>
              <a:t>        "url": "https://bigdata.dongjak.go.kr/board/viewArticle?articleNo=954&amp;boardId=4",</a:t>
            </a:r>
          </a:p>
          <a:p xmlns:a="http://schemas.openxmlformats.org/drawingml/2006/main">
            <a:r>
              <a:t>        "published": "2024 개발 사례",</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"부처별 지침·증빙·검토 책임의 연결",</a:t>
            </a:r>
          </a:p>
          <a:p xmlns:a="http://schemas.openxmlformats.org/drawingml/2006/main">
            <a:r>
              <a:t>    "local": "민간 AI PMS와 TS 기관 내부 업무를 역할별 분리",</a:t>
            </a:r>
          </a:p>
          <a:p xmlns:a="http://schemas.openxmlformats.org/drawingml/2006/main">
            <a:r>
              <a:t>    "sourceDetail": null,</a:t>
            </a:r>
          </a:p>
          <a:p xmlns:a="http://schemas.openxmlformats.org/drawingml/2006/main">
            <a:r>
              <a:t>    "narrative": [</a:t>
            </a:r>
          </a:p>
          <a:p xmlns:a="http://schemas.openxmlformats.org/drawingml/2006/main">
            <a:r>
              <a:t>      "연구비 집행 자료와 부처·사업별 지침을 연결해 상담·증빙·서식 작성을 지원하는 사례. 같은 지출 항목도 사업·협약연도에 따라 적용 기준이 다른 업무.",</a:t>
            </a:r>
          </a:p>
          <a:p xmlns:a="http://schemas.openxmlformats.org/drawingml/2006/main">
            <a:r>
              <a:t>      "부처·사업·협약기간·집행항목을 먼저 식별하고 해당 판본의 규정과 거래증빙을 대조하는 재구성. 누락 서류·예외 조건·서식 초안을 담당 검토자에게 전달하는 흐름.",</a:t>
            </a:r>
          </a:p>
          <a:p xmlns:a="http://schemas.openxmlformats.org/drawingml/2006/main">
            <a:r>
              <a:t>      "CCK AI PMS에 적용할 경우 지침 검색·양식 재사용과 적정 집행 판단을 분리. 사업 변경·연차 차이·증빙 누락 시험을 수행하고 요구사항·검수·제출 증빙의 추적에 연결할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"연구비 질의",</a:t>
            </a:r>
          </a:p>
          <a:p xmlns:a="http://schemas.openxmlformats.org/drawingml/2006/main">
            <a:r>
              <a:t>          "layer": "이용 접점",</a:t>
            </a:r>
          </a:p>
          <a:p xmlns:a="http://schemas.openxmlformats.org/drawingml/2006/main">
            <a:r>
              <a:t>          "detail": "과제 수행자·연구관리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"사업·협약·항목",</a:t>
            </a:r>
          </a:p>
          <a:p xmlns:a="http://schemas.openxmlformats.org/drawingml/2006/main">
            <a:r>
              <a:t>          "layer": "업무 문맥",</a:t>
            </a:r>
          </a:p>
          <a:p xmlns:a="http://schemas.openxmlformats.org/drawingml/2006/main">
            <a:r>
              <a:t>          "detail": "부처·사업·협약기간·집행항목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"규정·증빙 조회",</a:t>
            </a:r>
          </a:p>
          <a:p xmlns:a="http://schemas.openxmlformats.org/drawingml/2006/main">
            <a:r>
              <a:t>          "layer": "자료 조회",</a:t>
            </a:r>
          </a:p>
          <a:p xmlns:a="http://schemas.openxmlformats.org/drawingml/2006/main">
            <a:r>
              <a:t>          "detail": "집행 내역",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"조건 비교·서식",</a:t>
            </a:r>
          </a:p>
          <a:p xmlns:a="http://schemas.openxmlformats.org/drawingml/2006/main">
            <a:r>
              <a:t>          "layer": "핵심 처리",</a:t>
            </a:r>
          </a:p>
          <a:p xmlns:a="http://schemas.openxmlformats.org/drawingml/2006/main">
            <a:r>
              <a:t>          "detail": "규정 검색과 집행 항목의 조건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"판본·누락 검사",</a:t>
            </a:r>
          </a:p>
          <a:p xmlns:a="http://schemas.openxmlformats.org/drawingml/2006/main">
            <a:r>
              <a:t>          "layer": "결과 검증",</a:t>
            </a:r>
          </a:p>
          <a:p xmlns:a="http://schemas.openxmlformats.org/drawingml/2006/main">
            <a:r>
              <a:t>          "detail": "사업·판본별 의무와 예외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"기관 검토자 확인",</a:t>
            </a:r>
          </a:p>
          <a:p xmlns:a="http://schemas.openxmlformats.org/drawingml/2006/main">
            <a:r>
              <a:t>          "layer": "사람 확인",</a:t>
            </a:r>
          </a:p>
          <a:p xmlns:a="http://schemas.openxmlformats.org/drawingml/2006/main">
            <a:r>
              <a:t>          "detail": "부처·사업·협약기간에 맞는 집행 조건과 증빙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"보완·집행 검토",</a:t>
            </a:r>
          </a:p>
          <a:p xmlns:a="http://schemas.openxmlformats.org/drawingml/2006/main">
            <a:r>
              <a:t>          "layer": "업무 연결",</a:t>
            </a:r>
          </a:p>
          <a:p xmlns:a="http://schemas.openxmlformats.org/drawingml/2006/main">
            <a:r>
              <a:t>          "detail": "근거·누락 항목·서식 초안의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"오분류 추적",</a:t>
            </a:r>
          </a:p>
          <a:p xmlns:a="http://schemas.openxmlformats.org/drawingml/2006/main">
            <a:r>
              <a:t>          "layer": "운영 관측",</a:t>
            </a:r>
          </a:p>
          <a:p xmlns:a="http://schemas.openxmlformats.org/drawingml/2006/main">
            <a:r>
              <a:t>          "detail": "오분류·증빙 누락과 검토 결과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"지침·거래 증빙",</a:t>
            </a:r>
          </a:p>
          <a:p xmlns:a="http://schemas.openxmlformats.org/drawingml/2006/main">
            <a:r>
              <a:t>          "layer": "데이터 원천",</a:t>
            </a:r>
          </a:p>
          <a:p xmlns:a="http://schemas.openxmlformats.org/drawingml/2006/main">
            <a:r>
              <a:t>          "detail": "지침·증빙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"판본·항목 연결",</a:t>
            </a:r>
          </a:p>
          <a:p xmlns:a="http://schemas.openxmlformats.org/drawingml/2006/main">
            <a:r>
              <a:t>          "layer": "준비·갱신",</a:t>
            </a:r>
          </a:p>
          <a:p xmlns:a="http://schemas.openxmlformats.org/drawingml/2006/main">
            <a:r>
              <a:t>          "detail": "법규·부처 지침·거래증빙의 판본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"집행·근거 기록",</a:t>
            </a:r>
          </a:p>
          <a:p xmlns:a="http://schemas.openxmlformats.org/drawingml/2006/main">
            <a:r>
              <a:t>          "layer": "상태·지식 저장",</a:t>
            </a:r>
          </a:p>
          <a:p xmlns:a="http://schemas.openxmlformats.org/drawingml/2006/main">
            <a:r>
              <a:t>          "detail": "요건·거래·증빙·검토자 연결표와 누락 검출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"사업별 집행 기준",</a:t>
            </a:r>
          </a:p>
          <a:p xmlns:a="http://schemas.openxmlformats.org/drawingml/2006/main">
            <a:r>
              <a:t>          "layer": "권한·정책",</a:t>
            </a:r>
          </a:p>
          <a:p xmlns:a="http://schemas.openxmlformats.org/drawingml/2006/main">
            <a:r>
              <a:t>          "detail": "다른 부처 지침·기간 외 거래·중복 집행 증빙",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"부처 지침·집행자료 → 규정 질의 → 서식·증빙 정리 → 연구자·기관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"지침·증빙 기록",</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"서식·증빙 목록",</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"적용 규정",</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"서식·증빙 목록",</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"보완·검토 결과",</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"R&amp;D 사업비 문의와 증빙 정리 지원 / 규정 상담·집행자료·서식 생성",</a:t>
            </a:r>
          </a:p>
          <a:p xmlns:a="http://schemas.openxmlformats.org/drawingml/2006/main">
            <a:r>
              <a:t>        "extension": "민간 AI PMS와 TS 기관 내부 업무를 역할별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부처 지침·기간 외 거래·중복 집행 증빙",</a:t>
            </a:r>
          </a:p>
          <a:p xmlns:a="http://schemas.openxmlformats.org/drawingml/2006/main">
            <a:r>
              <a:t>        "hold": "사업·판본별 의무와 예외 대사",</a:t>
            </a:r>
          </a:p>
          <a:p xmlns:a="http://schemas.openxmlformats.org/drawingml/2006/main">
            <a:r>
              <a:t>        "recovery": "오분류·증빙 누락과 검토 결과 추적",</a:t>
            </a:r>
          </a:p>
          <a:p xmlns:a="http://schemas.openxmlformats.org/drawingml/2006/main">
            <a:r>
              <a:t>        "evidence": "요건·거래·증빙·검토자 연결표와 누락 검출 결과"</a:t>
            </a:r>
          </a:p>
          <a:p xmlns:a="http://schemas.openxmlformats.org/drawingml/2006/main">
            <a:r>
              <a:t>      },</a:t>
            </a:r>
          </a:p>
          <a:p xmlns:a="http://schemas.openxmlformats.org/drawingml/2006/main">
            <a:r>
              <a:t>      "data": {</a:t>
            </a:r>
          </a:p>
          <a:p xmlns:a="http://schemas.openxmlformats.org/drawingml/2006/main">
            <a:r>
              <a:t>        "source": "지침·증빙 기록",</a:t>
            </a:r>
          </a:p>
          <a:p xmlns:a="http://schemas.openxmlformats.org/drawingml/2006/main">
            <a:r>
              <a:t>        "prepare": "법규·부처 지침·거래증빙의 판본 연결",</a:t>
            </a:r>
          </a:p>
          <a:p xmlns:a="http://schemas.openxmlformats.org/drawingml/2006/main">
            <a:r>
              <a:t>        "output": "집행 내역",</a:t>
            </a:r>
          </a:p>
          <a:p xmlns:a="http://schemas.openxmlformats.org/drawingml/2006/main">
            <a:r>
              <a:t>        "refresh": "오분류·증빙 누락과 검토 결과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"AX24",</a:t>
            </a:r>
          </a:p>
          <a:p xmlns:a="http://schemas.openxmlformats.org/drawingml/2006/main">
            <a:r>
              <a:t>    "success": [</a:t>
            </a:r>
          </a:p>
          <a:p xmlns:a="http://schemas.openxmlformats.org/drawingml/2006/main">
            <a:r>
              <a:t>      "부처 지침과 집행 자료 연결",</a:t>
            </a:r>
          </a:p>
          <a:p xmlns:a="http://schemas.openxmlformats.org/drawingml/2006/main">
            <a:r>
              <a:t>      "서식·증빙을 검토 과정에 결합"</a:t>
            </a:r>
          </a:p>
          <a:p xmlns:a="http://schemas.openxmlformats.org/drawingml/2006/main">
            <a:r>
              <a:t>    ],</a:t>
            </a:r>
          </a:p>
          <a:p xmlns:a="http://schemas.openxmlformats.org/drawingml/2006/main">
            <a:r>
              <a:t>    "risks": [</a:t>
            </a:r>
          </a:p>
          <a:p xmlns:a="http://schemas.openxmlformats.org/drawingml/2006/main">
            <a:r>
              <a:t>      "부처·연차별 집행기준 혼용",</a:t>
            </a:r>
          </a:p>
          <a:p xmlns:a="http://schemas.openxmlformats.org/drawingml/2006/main">
            <a:r>
              <a:t>      "서식 생성과 적정 집행 판정의 혼동"</a:t>
            </a:r>
          </a:p>
          <a:p xmlns:a="http://schemas.openxmlformats.org/drawingml/2006/main">
            <a:r>
              <a:t>    ],</a:t>
            </a:r>
          </a:p>
          <a:p xmlns:a="http://schemas.openxmlformats.org/drawingml/2006/main">
            <a:r>
              <a:t>    "architecture": [</a:t>
            </a:r>
          </a:p>
          <a:p xmlns:a="http://schemas.openxmlformats.org/drawingml/2006/main">
            <a:r>
              <a:t>      "연구비 집행 자료",</a:t>
            </a:r>
          </a:p>
          <a:p xmlns:a="http://schemas.openxmlformats.org/drawingml/2006/main">
            <a:r>
              <a:t>      "규정 검색·서식 구성",</a:t>
            </a:r>
          </a:p>
          <a:p xmlns:a="http://schemas.openxmlformats.org/drawingml/2006/main">
            <a:r>
              <a:t>      "지침·증빙 기록",</a:t>
            </a:r>
          </a:p>
          <a:p xmlns:a="http://schemas.openxmlformats.org/drawingml/2006/main">
            <a:r>
              <a:t>      "연구자·기관 검토자"</a:t>
            </a:r>
          </a:p>
          <a:p xmlns:a="http://schemas.openxmlformats.org/drawingml/2006/main">
            <a:r>
              <a:t>    ],</a:t>
            </a:r>
          </a:p>
          <a:p xmlns:a="http://schemas.openxmlformats.org/drawingml/2006/main">
            <a:r>
              <a:t>    "transfers": [</a:t>
            </a:r>
          </a:p>
          <a:p xmlns:a="http://schemas.openxmlformats.org/drawingml/2006/main">
            <a:r>
              <a:t>      "집행 내역",</a:t>
            </a:r>
          </a:p>
          <a:p xmlns:a="http://schemas.openxmlformats.org/drawingml/2006/main">
            <a:r>
              <a:t>      "적용 규정",</a:t>
            </a:r>
          </a:p>
          <a:p xmlns:a="http://schemas.openxmlformats.org/drawingml/2006/main">
            <a:r>
              <a:t>      "서식·증빙 목록",</a:t>
            </a:r>
          </a:p>
          <a:p xmlns:a="http://schemas.openxmlformats.org/drawingml/2006/main">
            <a:r>
              <a:t>      "보완·검토 결과"</a:t>
            </a:r>
          </a:p>
          <a:p xmlns:a="http://schemas.openxmlformats.org/drawingml/2006/main">
            <a:r>
              <a:t>    ],</a:t>
            </a:r>
          </a:p>
          <a:p xmlns:a="http://schemas.openxmlformats.org/drawingml/2006/main">
            <a:r>
              <a:t>    "control": "사업·판본별 의무와 예외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국가 R&amp;D 사업비 Risk 지원 · 공공AI 사례집 193–194쪽 https://bigdata.dongjak.go.kr/board/viewArticle?articleNo=954&amp;boardId=4</a:t>
            </a:r>
          </a:p>
          <a:p xmlns:a="http://schemas.openxmlformats.org/drawingml/2006/main">
            <a:r>
              <a:t>홈페이지 https://heen1987-ops.github.io/TS-business-Plan-001/index.html?view=casebook&amp;case=AX24</a:t>
            </a:r>
          </a:p>
          <a:p xmlns:a="http://schemas.openxmlformats.org/drawingml/2006/main">
            <a:r>
              <a:t>한계: 성과 항목이 기대효과 중심 · 행정 부담 감소 실측 별도</a:t>
            </a:r>
          </a:p>
          <a:p xmlns:a="http://schemas.openxmlformats.org/drawingml/2006/main">
            <a:r>
              <a:t>실패 위험: 부처·연차별 집행기준 혼용 / 서식 생성과 적정 집행 판정의 혼동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"AX24",</a:t>
            </a:r>
          </a:p>
          <a:p xmlns:a="http://schemas.openxmlformats.org/drawingml/2006/main">
            <a:r>
              <a:t>    "title": "국가 R&amp;D 사업비 Risk 지원",</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"규정·증빙 기반 사업관리",</a:t>
            </a:r>
          </a:p>
          <a:p xmlns:a="http://schemas.openxmlformats.org/drawingml/2006/main">
            <a:r>
              <a:t>    "period": "2024 개발 사례",</a:t>
            </a:r>
          </a:p>
          <a:p xmlns:a="http://schemas.openxmlformats.org/drawingml/2006/main">
            <a:r>
              <a:t>    "sources": [</a:t>
            </a:r>
          </a:p>
          <a:p xmlns:a="http://schemas.openxmlformats.org/drawingml/2006/main">
            <a:r>
              <a:t>      "S-AX24"</a:t>
            </a:r>
          </a:p>
          <a:p xmlns:a="http://schemas.openxmlformats.org/drawingml/2006/main">
            <a:r>
              <a:t>    ],</a:t>
            </a:r>
          </a:p>
          <a:p xmlns:a="http://schemas.openxmlformats.org/drawingml/2006/main">
            <a:r>
              <a:t>    "keywords": [</a:t>
            </a:r>
          </a:p>
          <a:p xmlns:a="http://schemas.openxmlformats.org/drawingml/2006/main">
            <a:r>
              <a:t>      "규정",</a:t>
            </a:r>
          </a:p>
          <a:p xmlns:a="http://schemas.openxmlformats.org/drawingml/2006/main">
            <a:r>
              <a:t>      "증빙 기반 사업관리"</a:t>
            </a:r>
          </a:p>
          <a:p xmlns:a="http://schemas.openxmlformats.org/drawingml/2006/main">
            <a:r>
              <a:t>    ],</a:t>
            </a:r>
          </a:p>
          <a:p xmlns:a="http://schemas.openxmlformats.org/drawingml/2006/main">
            <a:r>
              <a:t>    "fact": "R&amp;D 법규·부처 지침 상담과 집행 데이터 수집·서식 생성을 결합한 솔루션 개발",</a:t>
            </a:r>
          </a:p>
          <a:p xmlns:a="http://schemas.openxmlformats.org/drawingml/2006/main">
            <a:r>
              <a:t>    "limit": "성과 항목이 기대효과 중심 · 행정 부담 감소 실측 별도",</a:t>
            </a:r>
          </a:p>
          <a:p xmlns:a="http://schemas.openxmlformats.org/drawingml/2006/main">
            <a:r>
              <a:t>    "flow": [</a:t>
            </a:r>
          </a:p>
          <a:p xmlns:a="http://schemas.openxmlformats.org/drawingml/2006/main">
            <a:r>
              <a:t>      "부처 지침·집행자료",</a:t>
            </a:r>
          </a:p>
          <a:p xmlns:a="http://schemas.openxmlformats.org/drawingml/2006/main">
            <a:r>
              <a:t>      "규정 질의",</a:t>
            </a:r>
          </a:p>
          <a:p xmlns:a="http://schemas.openxmlformats.org/drawingml/2006/main">
            <a:r>
              <a:t>      "서식·증빙 정리",</a:t>
            </a:r>
          </a:p>
          <a:p xmlns:a="http://schemas.openxmlformats.org/drawingml/2006/main">
            <a:r>
              <a:t>      "연구자·기관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"부처별 지침·증빙·검토 책임의 연결",</a:t>
            </a:r>
          </a:p>
          <a:p xmlns:a="http://schemas.openxmlformats.org/drawingml/2006/main">
            <a:r>
              <a:t>    "local": "민간 AI PMS와 TS 기관 내부 업무를 역할별 분리",</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"부처·사업·계약 판본·증빙 요구 매핑",</a:t>
            </a:r>
          </a:p>
          <a:p xmlns:a="http://schemas.openxmlformats.org/drawingml/2006/main">
            <a:r>
              <a:t>    "test": "유효 규정·증빙 누락·목적 외 자료 차단 시험",</a:t>
            </a:r>
          </a:p>
          <a:p xmlns:a="http://schemas.openxmlformats.org/drawingml/2006/main">
            <a:r>
              <a:t>    "metric": "보완 왕복 횟수 / 검토 소요시간",</a:t>
            </a:r>
          </a:p>
          <a:p xmlns:a="http://schemas.openxmlformats.org/drawingml/2006/main">
            <a:r>
              <a:t>    "strategies": [</a:t>
            </a:r>
          </a:p>
          <a:p xmlns:a="http://schemas.openxmlformats.org/drawingml/2006/main">
            <a:r>
              <a:t>      "ST-09",</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"AX24",</a:t>
            </a:r>
          </a:p>
          <a:p xmlns:a="http://schemas.openxmlformats.org/drawingml/2006/main">
            <a:r>
              <a:t>    "canonicalId": "AX24",</a:t>
            </a:r>
          </a:p>
          <a:p xmlns:a="http://schemas.openxmlformats.org/drawingml/2006/main">
            <a:r>
              <a:t>    "purpose": "R&amp;D 사업비 문의와 증빙 정리 지원",</a:t>
            </a:r>
          </a:p>
          <a:p xmlns:a="http://schemas.openxmlformats.org/drawingml/2006/main">
            <a:r>
              <a:t>    "users": "과제 수행자·연구관리 담당",</a:t>
            </a:r>
          </a:p>
          <a:p xmlns:a="http://schemas.openxmlformats.org/drawingml/2006/main">
            <a:r>
              <a:t>    "scope": [</a:t>
            </a:r>
          </a:p>
          <a:p xmlns:a="http://schemas.openxmlformats.org/drawingml/2006/main">
            <a:r>
              <a:t>      "규정 상담",</a:t>
            </a:r>
          </a:p>
          <a:p xmlns:a="http://schemas.openxmlformats.org/drawingml/2006/main">
            <a:r>
              <a:t>      "집행자료",</a:t>
            </a:r>
          </a:p>
          <a:p xmlns:a="http://schemas.openxmlformats.org/drawingml/2006/main">
            <a:r>
              <a:t>      "서식 생성"</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"연구비 집행 자료",</a:t>
            </a:r>
          </a:p>
          <a:p xmlns:a="http://schemas.openxmlformats.org/drawingml/2006/main">
            <a:r>
              <a:t>        "detail": "부처·사업·협약기간·집행항목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"규정 상담 / 집행자료 / 서식 생성",</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"규정 검색·서식 구성",</a:t>
            </a:r>
          </a:p>
          <a:p xmlns:a="http://schemas.openxmlformats.org/drawingml/2006/main">
            <a:r>
              <a:t>        "detail": "규정 검색과 집행 항목의 조건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"연구자·기관 검토자",</a:t>
            </a:r>
          </a:p>
          <a:p xmlns:a="http://schemas.openxmlformats.org/drawingml/2006/main">
            <a:r>
              <a:t>        "detail": "근거·누락 항목·서식 초안의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"지침·증빙 기록",</a:t>
            </a:r>
          </a:p>
          <a:p xmlns:a="http://schemas.openxmlformats.org/drawingml/2006/main">
            <a:r>
              <a:t>        "detail": "법규·부처 지침·거래증빙의 판본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"오분류·증빙 누락과 검토 결과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"부처 지침·집행자료",</a:t>
            </a:r>
          </a:p>
          <a:p xmlns:a="http://schemas.openxmlformats.org/drawingml/2006/main">
            <a:r>
              <a:t>        "input": "부처·사업·협약기간·집행항목 확인",</a:t>
            </a:r>
          </a:p>
          <a:p xmlns:a="http://schemas.openxmlformats.org/drawingml/2006/main">
            <a:r>
              <a:t>        "process": "법규·부처 지침·거래증빙의 판본 연결",</a:t>
            </a:r>
          </a:p>
          <a:p xmlns:a="http://schemas.openxmlformats.org/drawingml/2006/main">
            <a:r>
              <a:t>        "output": "집행 내역"</a:t>
            </a:r>
          </a:p>
          <a:p xmlns:a="http://schemas.openxmlformats.org/drawingml/2006/main">
            <a:r>
              <a:t>      },</a:t>
            </a:r>
          </a:p>
          <a:p xmlns:a="http://schemas.openxmlformats.org/drawingml/2006/main">
            <a:r>
              <a:t>      {</a:t>
            </a:r>
          </a:p>
          <a:p xmlns:a="http://schemas.openxmlformats.org/drawingml/2006/main">
            <a:r>
              <a:t>        "title": "규정 질의",</a:t>
            </a:r>
          </a:p>
          <a:p xmlns:a="http://schemas.openxmlformats.org/drawingml/2006/main">
            <a:r>
              <a:t>        "input": "집행 내역",</a:t>
            </a:r>
          </a:p>
          <a:p xmlns:a="http://schemas.openxmlformats.org/drawingml/2006/main">
            <a:r>
              <a:t>        "process": "규정 검색과 집행 항목의 조건 비교",</a:t>
            </a:r>
          </a:p>
          <a:p xmlns:a="http://schemas.openxmlformats.org/drawingml/2006/main">
            <a:r>
              <a:t>        "output": "적용 규정"</a:t>
            </a:r>
          </a:p>
          <a:p xmlns:a="http://schemas.openxmlformats.org/drawingml/2006/main">
            <a:r>
              <a:t>      },</a:t>
            </a:r>
          </a:p>
          <a:p xmlns:a="http://schemas.openxmlformats.org/drawingml/2006/main">
            <a:r>
              <a:t>      {</a:t>
            </a:r>
          </a:p>
          <a:p xmlns:a="http://schemas.openxmlformats.org/drawingml/2006/main">
            <a:r>
              <a:t>        "title": "서식·증빙 정리",</a:t>
            </a:r>
          </a:p>
          <a:p xmlns:a="http://schemas.openxmlformats.org/drawingml/2006/main">
            <a:r>
              <a:t>        "input": "적용 규정",</a:t>
            </a:r>
          </a:p>
          <a:p xmlns:a="http://schemas.openxmlformats.org/drawingml/2006/main">
            <a:r>
              <a:t>        "process": "사업·판본별 의무와 예외 대사",</a:t>
            </a:r>
          </a:p>
          <a:p xmlns:a="http://schemas.openxmlformats.org/drawingml/2006/main">
            <a:r>
              <a:t>        "output": "서식·증빙 목록"</a:t>
            </a:r>
          </a:p>
          <a:p xmlns:a="http://schemas.openxmlformats.org/drawingml/2006/main">
            <a:r>
              <a:t>      },</a:t>
            </a:r>
          </a:p>
          <a:p xmlns:a="http://schemas.openxmlformats.org/drawingml/2006/main">
            <a:r>
              <a:t>      {</a:t>
            </a:r>
          </a:p>
          <a:p xmlns:a="http://schemas.openxmlformats.org/drawingml/2006/main">
            <a:r>
              <a:t>        "title": "연구자·기관 검토",</a:t>
            </a:r>
          </a:p>
          <a:p xmlns:a="http://schemas.openxmlformats.org/drawingml/2006/main">
            <a:r>
              <a:t>        "input": "서식·증빙 목록",</a:t>
            </a:r>
          </a:p>
          <a:p xmlns:a="http://schemas.openxmlformats.org/drawingml/2006/main">
            <a:r>
              <a:t>        "process": "근거·누락 항목·서식 초안의 담당자 검토",</a:t>
            </a:r>
          </a:p>
          <a:p xmlns:a="http://schemas.openxmlformats.org/drawingml/2006/main">
            <a:r>
              <a:t>        "output": "보완·검토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"부처·사업·협약기간에 맞는 집행 조건과 증빙 확인",</a:t>
            </a:r>
          </a:p>
          <a:p xmlns:a="http://schemas.openxmlformats.org/drawingml/2006/main">
            <a:r>
              <a:t>      "exception": "다른 부처 지침·기간 외 거래·중복 집행 증빙",</a:t>
            </a:r>
          </a:p>
          <a:p xmlns:a="http://schemas.openxmlformats.org/drawingml/2006/main">
            <a:r>
              <a:t>      "evidence": "요건·거래·증빙·검토자 연결표와 누락 검출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"과제 수행자·연구관리 담당",</a:t>
            </a:r>
          </a:p>
          <a:p xmlns:a="http://schemas.openxmlformats.org/drawingml/2006/main">
            <a:r>
              <a:t>          "processing": "부처·사업·협약기간·집행항목 확인",</a:t>
            </a:r>
          </a:p>
          <a:p xmlns:a="http://schemas.openxmlformats.org/drawingml/2006/main">
            <a:r>
              <a:t>          "output": "집행 내역"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"지침·증빙 기록",</a:t>
            </a:r>
          </a:p>
          <a:p xmlns:a="http://schemas.openxmlformats.org/drawingml/2006/main">
            <a:r>
              <a:t>          "processing": "법규·부처 지침·거래증빙의 판본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"집행 내역",</a:t>
            </a:r>
          </a:p>
          <a:p xmlns:a="http://schemas.openxmlformats.org/drawingml/2006/main">
            <a:r>
              <a:t>          "processing": "규정 검색과 집행 항목의 조건 비교",</a:t>
            </a:r>
          </a:p>
          <a:p xmlns:a="http://schemas.openxmlformats.org/drawingml/2006/main">
            <a:r>
              <a:t>          "output": "서식·증빙 목록"</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"서식·증빙 목록",</a:t>
            </a:r>
          </a:p>
          <a:p xmlns:a="http://schemas.openxmlformats.org/drawingml/2006/main">
            <a:r>
              <a:t>          "processing": "근거·누락 항목·서식 초안의 담당자 검토",</a:t>
            </a:r>
          </a:p>
          <a:p xmlns:a="http://schemas.openxmlformats.org/drawingml/2006/main">
            <a:r>
              <a:t>          "output": "보완·검토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"오분류·증빙 누락과 검토 결과 추적",</a:t>
            </a:r>
          </a:p>
          <a:p xmlns:a="http://schemas.openxmlformats.org/drawingml/2006/main">
            <a:r>
              <a:t>          "output": "요건·거래·증빙·검토자 연결표와 누락 검출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"오분류·증빙 누락과 검토 결과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"S-AX24",</a:t>
            </a:r>
          </a:p>
          <a:p xmlns:a="http://schemas.openxmlformats.org/drawingml/2006/main">
            <a:r>
              <a:t>        "title": "국가 R&amp;D 사업비 Risk 지원 · 공공AI 사례집 193–194쪽",</a:t>
            </a:r>
          </a:p>
          <a:p xmlns:a="http://schemas.openxmlformats.org/drawingml/2006/main">
            <a:r>
              <a:t>        "url": "https://bigdata.dongjak.go.kr/board/viewArticle?articleNo=954&amp;boardId=4",</a:t>
            </a:r>
          </a:p>
          <a:p xmlns:a="http://schemas.openxmlformats.org/drawingml/2006/main">
            <a:r>
              <a:t>        "published": "2024 개발 사례",</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"부처별 지침·증빙·검토 책임의 연결",</a:t>
            </a:r>
          </a:p>
          <a:p xmlns:a="http://schemas.openxmlformats.org/drawingml/2006/main">
            <a:r>
              <a:t>    "local": "민간 AI PMS와 TS 기관 내부 업무를 역할별 분리",</a:t>
            </a:r>
          </a:p>
          <a:p xmlns:a="http://schemas.openxmlformats.org/drawingml/2006/main">
            <a:r>
              <a:t>    "sourceDetail": null,</a:t>
            </a:r>
          </a:p>
          <a:p xmlns:a="http://schemas.openxmlformats.org/drawingml/2006/main">
            <a:r>
              <a:t>    "narrative": [</a:t>
            </a:r>
          </a:p>
          <a:p xmlns:a="http://schemas.openxmlformats.org/drawingml/2006/main">
            <a:r>
              <a:t>      "연구비 집행 자료와 부처·사업별 지침을 연결해 상담·증빙·서식 작성을 지원하는 사례. 같은 지출 항목도 사업·협약연도에 따라 적용 기준이 다른 업무.",</a:t>
            </a:r>
          </a:p>
          <a:p xmlns:a="http://schemas.openxmlformats.org/drawingml/2006/main">
            <a:r>
              <a:t>      "부처·사업·협약기간·집행항목을 먼저 식별하고 해당 판본의 규정과 거래증빙을 대조하는 재구성. 누락 서류·예외 조건·서식 초안을 담당 검토자에게 전달하는 흐름.",</a:t>
            </a:r>
          </a:p>
          <a:p xmlns:a="http://schemas.openxmlformats.org/drawingml/2006/main">
            <a:r>
              <a:t>      "CCK AI PMS에 적용할 경우 지침 검색·양식 재사용과 적정 집행 판단을 분리. 사업 변경·연차 차이·증빙 누락 시험을 수행하고 요구사항·검수·제출 증빙의 추적에 연결할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"연구비 질의",</a:t>
            </a:r>
          </a:p>
          <a:p xmlns:a="http://schemas.openxmlformats.org/drawingml/2006/main">
            <a:r>
              <a:t>          "layer": "이용 접점",</a:t>
            </a:r>
          </a:p>
          <a:p xmlns:a="http://schemas.openxmlformats.org/drawingml/2006/main">
            <a:r>
              <a:t>          "detail": "과제 수행자·연구관리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"사업·협약·항목",</a:t>
            </a:r>
          </a:p>
          <a:p xmlns:a="http://schemas.openxmlformats.org/drawingml/2006/main">
            <a:r>
              <a:t>          "layer": "업무 문맥",</a:t>
            </a:r>
          </a:p>
          <a:p xmlns:a="http://schemas.openxmlformats.org/drawingml/2006/main">
            <a:r>
              <a:t>          "detail": "부처·사업·협약기간·집행항목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"규정·증빙 조회",</a:t>
            </a:r>
          </a:p>
          <a:p xmlns:a="http://schemas.openxmlformats.org/drawingml/2006/main">
            <a:r>
              <a:t>          "layer": "자료 조회",</a:t>
            </a:r>
          </a:p>
          <a:p xmlns:a="http://schemas.openxmlformats.org/drawingml/2006/main">
            <a:r>
              <a:t>          "detail": "집행 내역",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"조건 비교·서식",</a:t>
            </a:r>
          </a:p>
          <a:p xmlns:a="http://schemas.openxmlformats.org/drawingml/2006/main">
            <a:r>
              <a:t>          "layer": "핵심 처리",</a:t>
            </a:r>
          </a:p>
          <a:p xmlns:a="http://schemas.openxmlformats.org/drawingml/2006/main">
            <a:r>
              <a:t>          "detail": "규정 검색과 집행 항목의 조건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"판본·누락 검사",</a:t>
            </a:r>
          </a:p>
          <a:p xmlns:a="http://schemas.openxmlformats.org/drawingml/2006/main">
            <a:r>
              <a:t>          "layer": "결과 검증",</a:t>
            </a:r>
          </a:p>
          <a:p xmlns:a="http://schemas.openxmlformats.org/drawingml/2006/main">
            <a:r>
              <a:t>          "detail": "사업·판본별 의무와 예외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"기관 검토자 확인",</a:t>
            </a:r>
          </a:p>
          <a:p xmlns:a="http://schemas.openxmlformats.org/drawingml/2006/main">
            <a:r>
              <a:t>          "layer": "사람 확인",</a:t>
            </a:r>
          </a:p>
          <a:p xmlns:a="http://schemas.openxmlformats.org/drawingml/2006/main">
            <a:r>
              <a:t>          "detail": "부처·사업·협약기간에 맞는 집행 조건과 증빙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"보완·집행 검토",</a:t>
            </a:r>
          </a:p>
          <a:p xmlns:a="http://schemas.openxmlformats.org/drawingml/2006/main">
            <a:r>
              <a:t>          "layer": "업무 연결",</a:t>
            </a:r>
          </a:p>
          <a:p xmlns:a="http://schemas.openxmlformats.org/drawingml/2006/main">
            <a:r>
              <a:t>          "detail": "근거·누락 항목·서식 초안의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"오분류 추적",</a:t>
            </a:r>
          </a:p>
          <a:p xmlns:a="http://schemas.openxmlformats.org/drawingml/2006/main">
            <a:r>
              <a:t>          "layer": "운영 관측",</a:t>
            </a:r>
          </a:p>
          <a:p xmlns:a="http://schemas.openxmlformats.org/drawingml/2006/main">
            <a:r>
              <a:t>          "detail": "오분류·증빙 누락과 검토 결과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"지침·거래 증빙",</a:t>
            </a:r>
          </a:p>
          <a:p xmlns:a="http://schemas.openxmlformats.org/drawingml/2006/main">
            <a:r>
              <a:t>          "layer": "데이터 원천",</a:t>
            </a:r>
          </a:p>
          <a:p xmlns:a="http://schemas.openxmlformats.org/drawingml/2006/main">
            <a:r>
              <a:t>          "detail": "지침·증빙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"판본·항목 연결",</a:t>
            </a:r>
          </a:p>
          <a:p xmlns:a="http://schemas.openxmlformats.org/drawingml/2006/main">
            <a:r>
              <a:t>          "layer": "준비·갱신",</a:t>
            </a:r>
          </a:p>
          <a:p xmlns:a="http://schemas.openxmlformats.org/drawingml/2006/main">
            <a:r>
              <a:t>          "detail": "법규·부처 지침·거래증빙의 판본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"집행·근거 기록",</a:t>
            </a:r>
          </a:p>
          <a:p xmlns:a="http://schemas.openxmlformats.org/drawingml/2006/main">
            <a:r>
              <a:t>          "layer": "상태·지식 저장",</a:t>
            </a:r>
          </a:p>
          <a:p xmlns:a="http://schemas.openxmlformats.org/drawingml/2006/main">
            <a:r>
              <a:t>          "detail": "요건·거래·증빙·검토자 연결표와 누락 검출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"사업별 집행 기준",</a:t>
            </a:r>
          </a:p>
          <a:p xmlns:a="http://schemas.openxmlformats.org/drawingml/2006/main">
            <a:r>
              <a:t>          "layer": "권한·정책",</a:t>
            </a:r>
          </a:p>
          <a:p xmlns:a="http://schemas.openxmlformats.org/drawingml/2006/main">
            <a:r>
              <a:t>          "detail": "다른 부처 지침·기간 외 거래·중복 집행 증빙",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"부처 지침·집행자료 → 규정 질의 → 서식·증빙 정리 → 연구자·기관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"지침·증빙 기록",</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"서식·증빙 목록",</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"적용 규정",</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"서식·증빙 목록",</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"보완·검토 결과",</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"R&amp;D 사업비 문의와 증빙 정리 지원 / 규정 상담·집행자료·서식 생성",</a:t>
            </a:r>
          </a:p>
          <a:p xmlns:a="http://schemas.openxmlformats.org/drawingml/2006/main">
            <a:r>
              <a:t>        "extension": "민간 AI PMS와 TS 기관 내부 업무를 역할별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부처 지침·기간 외 거래·중복 집행 증빙",</a:t>
            </a:r>
          </a:p>
          <a:p xmlns:a="http://schemas.openxmlformats.org/drawingml/2006/main">
            <a:r>
              <a:t>        "hold": "사업·판본별 의무와 예외 대사",</a:t>
            </a:r>
          </a:p>
          <a:p xmlns:a="http://schemas.openxmlformats.org/drawingml/2006/main">
            <a:r>
              <a:t>        "recovery": "오분류·증빙 누락과 검토 결과 추적",</a:t>
            </a:r>
          </a:p>
          <a:p xmlns:a="http://schemas.openxmlformats.org/drawingml/2006/main">
            <a:r>
              <a:t>        "evidence": "요건·거래·증빙·검토자 연결표와 누락 검출 결과"</a:t>
            </a:r>
          </a:p>
          <a:p xmlns:a="http://schemas.openxmlformats.org/drawingml/2006/main">
            <a:r>
              <a:t>      },</a:t>
            </a:r>
          </a:p>
          <a:p xmlns:a="http://schemas.openxmlformats.org/drawingml/2006/main">
            <a:r>
              <a:t>      "data": {</a:t>
            </a:r>
          </a:p>
          <a:p xmlns:a="http://schemas.openxmlformats.org/drawingml/2006/main">
            <a:r>
              <a:t>        "source": "지침·증빙 기록",</a:t>
            </a:r>
          </a:p>
          <a:p xmlns:a="http://schemas.openxmlformats.org/drawingml/2006/main">
            <a:r>
              <a:t>        "prepare": "법규·부처 지침·거래증빙의 판본 연결",</a:t>
            </a:r>
          </a:p>
          <a:p xmlns:a="http://schemas.openxmlformats.org/drawingml/2006/main">
            <a:r>
              <a:t>        "output": "집행 내역",</a:t>
            </a:r>
          </a:p>
          <a:p xmlns:a="http://schemas.openxmlformats.org/drawingml/2006/main">
            <a:r>
              <a:t>        "refresh": "오분류·증빙 누락과 검토 결과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"AX24",</a:t>
            </a:r>
          </a:p>
          <a:p xmlns:a="http://schemas.openxmlformats.org/drawingml/2006/main">
            <a:r>
              <a:t>    "success": [</a:t>
            </a:r>
          </a:p>
          <a:p xmlns:a="http://schemas.openxmlformats.org/drawingml/2006/main">
            <a:r>
              <a:t>      "부처 지침과 집행 자료 연결",</a:t>
            </a:r>
          </a:p>
          <a:p xmlns:a="http://schemas.openxmlformats.org/drawingml/2006/main">
            <a:r>
              <a:t>      "서식·증빙을 검토 과정에 결합"</a:t>
            </a:r>
          </a:p>
          <a:p xmlns:a="http://schemas.openxmlformats.org/drawingml/2006/main">
            <a:r>
              <a:t>    ],</a:t>
            </a:r>
          </a:p>
          <a:p xmlns:a="http://schemas.openxmlformats.org/drawingml/2006/main">
            <a:r>
              <a:t>    "risks": [</a:t>
            </a:r>
          </a:p>
          <a:p xmlns:a="http://schemas.openxmlformats.org/drawingml/2006/main">
            <a:r>
              <a:t>      "부처·연차별 집행기준 혼용",</a:t>
            </a:r>
          </a:p>
          <a:p xmlns:a="http://schemas.openxmlformats.org/drawingml/2006/main">
            <a:r>
              <a:t>      "서식 생성과 적정 집행 판정의 혼동"</a:t>
            </a:r>
          </a:p>
          <a:p xmlns:a="http://schemas.openxmlformats.org/drawingml/2006/main">
            <a:r>
              <a:t>    ],</a:t>
            </a:r>
          </a:p>
          <a:p xmlns:a="http://schemas.openxmlformats.org/drawingml/2006/main">
            <a:r>
              <a:t>    "architecture": [</a:t>
            </a:r>
          </a:p>
          <a:p xmlns:a="http://schemas.openxmlformats.org/drawingml/2006/main">
            <a:r>
              <a:t>      "연구비 집행 자료",</a:t>
            </a:r>
          </a:p>
          <a:p xmlns:a="http://schemas.openxmlformats.org/drawingml/2006/main">
            <a:r>
              <a:t>      "규정 검색·서식 구성",</a:t>
            </a:r>
          </a:p>
          <a:p xmlns:a="http://schemas.openxmlformats.org/drawingml/2006/main">
            <a:r>
              <a:t>      "지침·증빙 기록",</a:t>
            </a:r>
          </a:p>
          <a:p xmlns:a="http://schemas.openxmlformats.org/drawingml/2006/main">
            <a:r>
              <a:t>      "연구자·기관 검토자"</a:t>
            </a:r>
          </a:p>
          <a:p xmlns:a="http://schemas.openxmlformats.org/drawingml/2006/main">
            <a:r>
              <a:t>    ],</a:t>
            </a:r>
          </a:p>
          <a:p xmlns:a="http://schemas.openxmlformats.org/drawingml/2006/main">
            <a:r>
              <a:t>    "transfers": [</a:t>
            </a:r>
          </a:p>
          <a:p xmlns:a="http://schemas.openxmlformats.org/drawingml/2006/main">
            <a:r>
              <a:t>      "집행 내역",</a:t>
            </a:r>
          </a:p>
          <a:p xmlns:a="http://schemas.openxmlformats.org/drawingml/2006/main">
            <a:r>
              <a:t>      "적용 규정",</a:t>
            </a:r>
          </a:p>
          <a:p xmlns:a="http://schemas.openxmlformats.org/drawingml/2006/main">
            <a:r>
              <a:t>      "서식·증빙 목록",</a:t>
            </a:r>
          </a:p>
          <a:p xmlns:a="http://schemas.openxmlformats.org/drawingml/2006/main">
            <a:r>
              <a:t>      "보완·검토 결과"</a:t>
            </a:r>
          </a:p>
          <a:p xmlns:a="http://schemas.openxmlformats.org/drawingml/2006/main">
            <a:r>
              <a:t>    ],</a:t>
            </a:r>
          </a:p>
          <a:p xmlns:a="http://schemas.openxmlformats.org/drawingml/2006/main">
            <a:r>
              <a:t>    "control": "사업·판본별 의무와 예외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국가 R&amp;D 사업비 Risk 지원 · 공공AI 사례집 193–194쪽 https://bigdata.dongjak.go.kr/board/viewArticle?articleNo=954&amp;boardId=4</a:t>
            </a:r>
          </a:p>
          <a:p xmlns:a="http://schemas.openxmlformats.org/drawingml/2006/main">
            <a:r>
              <a:t>홈페이지 https://heen1987-ops.github.io/TS-business-Plan-001/index.html?view=casebook&amp;case=AX24</a:t>
            </a:r>
          </a:p>
          <a:p xmlns:a="http://schemas.openxmlformats.org/drawingml/2006/main">
            <a:r>
              <a:t>성과 대조</a:t>
            </a:r>
          </a:p>
          <a:p xmlns:a="http://schemas.openxmlformats.org/drawingml/2006/main">
            <a:r>
              <a:t>{</a:t>
            </a:r>
          </a:p>
          <a:p xmlns:a="http://schemas.openxmlformats.org/drawingml/2006/main">
            <a:r>
              <a:t>  "caseId": "AX24",</a:t>
            </a:r>
          </a:p>
          <a:p xmlns:a="http://schemas.openxmlformats.org/drawingml/2006/main">
            <a:r>
              <a:t>  "asIs": "연구기관이 부처별 R&amp;D 규정·협약 조건·집행증빙을 대조하며 서식을 수작업 작성",</a:t>
            </a:r>
          </a:p>
          <a:p xmlns:a="http://schemas.openxmlformats.org/drawingml/2006/main">
            <a:r>
              <a:t>  "toBe": "규정 질의, 지출자료 수집, 위험 표시와 서식 초안 작성을 한 흐름으로 지원",</a:t>
            </a:r>
          </a:p>
          <a:p xmlns:a="http://schemas.openxmlformats.org/drawingml/2006/main">
            <a:r>
              <a:t>  "expectedEffect": "집행 오류·보완 요구 및 정산 준비 시간 감소",</a:t>
            </a:r>
          </a:p>
          <a:p xmlns:a="http://schemas.openxmlformats.org/drawingml/2006/main">
            <a:r>
              <a:t>  "observed": "공공 사례집이 R&amp;D 사업비 Risk 지원 솔루션 개발과 지원 기능을 설명",</a:t>
            </a:r>
          </a:p>
          <a:p xmlns:a="http://schemas.openxmlformats.org/drawingml/2006/main">
            <a:r>
              <a:t>  "verdict": "성과 미검증",</a:t>
            </a:r>
          </a:p>
          <a:p xmlns:a="http://schemas.openxmlformats.org/drawingml/2006/main">
            <a:r>
              <a:t>  "verdictReason": "기능 설명과 기대효과만으로 실제 부적정 집행 감소·행정시간 절감 확인 불가",</a:t>
            </a:r>
          </a:p>
          <a:p xmlns:a="http://schemas.openxmlformats.org/drawingml/2006/main">
            <a:r>
              <a:t>  "limits": "사업·부처·협약별 규정 차이. 개발 범위와 운영 성과의 구분 필요",</a:t>
            </a:r>
          </a:p>
          <a:p xmlns:a="http://schemas.openxmlformats.org/drawingml/2006/main">
            <a:r>
              <a:t>  "evidenceStage": "정부 개발 사례집·성과 미측정",</a:t>
            </a:r>
          </a:p>
          <a:p xmlns:a="http://schemas.openxmlformats.org/drawingml/2006/main">
            <a:r>
              <a:t>  "sourceUrl": "https://bigdata.dongjak.go.kr/board/viewArticle?articleNo=954&amp;boardId=4"</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"AX24",</a:t>
            </a:r>
          </a:p>
          <a:p xmlns:a="http://schemas.openxmlformats.org/drawingml/2006/main">
            <a:r>
              <a:t>    "title": "국가 R&amp;D 사업비 Risk 지원",</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"규정·증빙 기반 사업관리",</a:t>
            </a:r>
          </a:p>
          <a:p xmlns:a="http://schemas.openxmlformats.org/drawingml/2006/main">
            <a:r>
              <a:t>    "period": "2024 개발 사례",</a:t>
            </a:r>
          </a:p>
          <a:p xmlns:a="http://schemas.openxmlformats.org/drawingml/2006/main">
            <a:r>
              <a:t>    "sources": [</a:t>
            </a:r>
          </a:p>
          <a:p xmlns:a="http://schemas.openxmlformats.org/drawingml/2006/main">
            <a:r>
              <a:t>      "S-AX24"</a:t>
            </a:r>
          </a:p>
          <a:p xmlns:a="http://schemas.openxmlformats.org/drawingml/2006/main">
            <a:r>
              <a:t>    ],</a:t>
            </a:r>
          </a:p>
          <a:p xmlns:a="http://schemas.openxmlformats.org/drawingml/2006/main">
            <a:r>
              <a:t>    "keywords": [</a:t>
            </a:r>
          </a:p>
          <a:p xmlns:a="http://schemas.openxmlformats.org/drawingml/2006/main">
            <a:r>
              <a:t>      "규정",</a:t>
            </a:r>
          </a:p>
          <a:p xmlns:a="http://schemas.openxmlformats.org/drawingml/2006/main">
            <a:r>
              <a:t>      "증빙 기반 사업관리"</a:t>
            </a:r>
          </a:p>
          <a:p xmlns:a="http://schemas.openxmlformats.org/drawingml/2006/main">
            <a:r>
              <a:t>    ],</a:t>
            </a:r>
          </a:p>
          <a:p xmlns:a="http://schemas.openxmlformats.org/drawingml/2006/main">
            <a:r>
              <a:t>    "fact": "R&amp;D 법규·부처 지침 상담과 집행 데이터 수집·서식 생성을 결합한 솔루션 개발",</a:t>
            </a:r>
          </a:p>
          <a:p xmlns:a="http://schemas.openxmlformats.org/drawingml/2006/main">
            <a:r>
              <a:t>    "limit": "성과 항목이 기대효과 중심 · 행정 부담 감소 실측 별도",</a:t>
            </a:r>
          </a:p>
          <a:p xmlns:a="http://schemas.openxmlformats.org/drawingml/2006/main">
            <a:r>
              <a:t>    "flow": [</a:t>
            </a:r>
          </a:p>
          <a:p xmlns:a="http://schemas.openxmlformats.org/drawingml/2006/main">
            <a:r>
              <a:t>      "부처 지침·집행자료",</a:t>
            </a:r>
          </a:p>
          <a:p xmlns:a="http://schemas.openxmlformats.org/drawingml/2006/main">
            <a:r>
              <a:t>      "규정 질의",</a:t>
            </a:r>
          </a:p>
          <a:p xmlns:a="http://schemas.openxmlformats.org/drawingml/2006/main">
            <a:r>
              <a:t>      "서식·증빙 정리",</a:t>
            </a:r>
          </a:p>
          <a:p xmlns:a="http://schemas.openxmlformats.org/drawingml/2006/main">
            <a:r>
              <a:t>      "연구자·기관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"부처별 지침·증빙·검토 책임의 연결",</a:t>
            </a:r>
          </a:p>
          <a:p xmlns:a="http://schemas.openxmlformats.org/drawingml/2006/main">
            <a:r>
              <a:t>    "local": "민간 AI PMS와 TS 기관 내부 업무를 역할별 분리",</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"부처·사업·계약 판본·증빙 요구 매핑",</a:t>
            </a:r>
          </a:p>
          <a:p xmlns:a="http://schemas.openxmlformats.org/drawingml/2006/main">
            <a:r>
              <a:t>    "test": "유효 규정·증빙 누락·목적 외 자료 차단 시험",</a:t>
            </a:r>
          </a:p>
          <a:p xmlns:a="http://schemas.openxmlformats.org/drawingml/2006/main">
            <a:r>
              <a:t>    "metric": "보완 왕복 횟수 / 검토 소요시간",</a:t>
            </a:r>
          </a:p>
          <a:p xmlns:a="http://schemas.openxmlformats.org/drawingml/2006/main">
            <a:r>
              <a:t>    "strategies": [</a:t>
            </a:r>
          </a:p>
          <a:p xmlns:a="http://schemas.openxmlformats.org/drawingml/2006/main">
            <a:r>
              <a:t>      "ST-09",</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"AX24",</a:t>
            </a:r>
          </a:p>
          <a:p xmlns:a="http://schemas.openxmlformats.org/drawingml/2006/main">
            <a:r>
              <a:t>    "canonicalId": "AX24",</a:t>
            </a:r>
          </a:p>
          <a:p xmlns:a="http://schemas.openxmlformats.org/drawingml/2006/main">
            <a:r>
              <a:t>    "purpose": "R&amp;D 사업비 문의와 증빙 정리 지원",</a:t>
            </a:r>
          </a:p>
          <a:p xmlns:a="http://schemas.openxmlformats.org/drawingml/2006/main">
            <a:r>
              <a:t>    "users": "과제 수행자·연구관리 담당",</a:t>
            </a:r>
          </a:p>
          <a:p xmlns:a="http://schemas.openxmlformats.org/drawingml/2006/main">
            <a:r>
              <a:t>    "scope": [</a:t>
            </a:r>
          </a:p>
          <a:p xmlns:a="http://schemas.openxmlformats.org/drawingml/2006/main">
            <a:r>
              <a:t>      "규정 상담",</a:t>
            </a:r>
          </a:p>
          <a:p xmlns:a="http://schemas.openxmlformats.org/drawingml/2006/main">
            <a:r>
              <a:t>      "집행자료",</a:t>
            </a:r>
          </a:p>
          <a:p xmlns:a="http://schemas.openxmlformats.org/drawingml/2006/main">
            <a:r>
              <a:t>      "서식 생성"</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"연구비 집행 자료",</a:t>
            </a:r>
          </a:p>
          <a:p xmlns:a="http://schemas.openxmlformats.org/drawingml/2006/main">
            <a:r>
              <a:t>        "detail": "부처·사업·협약기간·집행항목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"규정 상담 / 집행자료 / 서식 생성",</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"규정 검색·서식 구성",</a:t>
            </a:r>
          </a:p>
          <a:p xmlns:a="http://schemas.openxmlformats.org/drawingml/2006/main">
            <a:r>
              <a:t>        "detail": "규정 검색과 집행 항목의 조건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"연구자·기관 검토자",</a:t>
            </a:r>
          </a:p>
          <a:p xmlns:a="http://schemas.openxmlformats.org/drawingml/2006/main">
            <a:r>
              <a:t>        "detail": "근거·누락 항목·서식 초안의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"지침·증빙 기록",</a:t>
            </a:r>
          </a:p>
          <a:p xmlns:a="http://schemas.openxmlformats.org/drawingml/2006/main">
            <a:r>
              <a:t>        "detail": "법규·부처 지침·거래증빙의 판본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"오분류·증빙 누락과 검토 결과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"부처 지침·집행자료",</a:t>
            </a:r>
          </a:p>
          <a:p xmlns:a="http://schemas.openxmlformats.org/drawingml/2006/main">
            <a:r>
              <a:t>        "input": "부처·사업·협약기간·집행항목 확인",</a:t>
            </a:r>
          </a:p>
          <a:p xmlns:a="http://schemas.openxmlformats.org/drawingml/2006/main">
            <a:r>
              <a:t>        "process": "법규·부처 지침·거래증빙의 판본 연결",</a:t>
            </a:r>
          </a:p>
          <a:p xmlns:a="http://schemas.openxmlformats.org/drawingml/2006/main">
            <a:r>
              <a:t>        "output": "집행 내역"</a:t>
            </a:r>
          </a:p>
          <a:p xmlns:a="http://schemas.openxmlformats.org/drawingml/2006/main">
            <a:r>
              <a:t>      },</a:t>
            </a:r>
          </a:p>
          <a:p xmlns:a="http://schemas.openxmlformats.org/drawingml/2006/main">
            <a:r>
              <a:t>      {</a:t>
            </a:r>
          </a:p>
          <a:p xmlns:a="http://schemas.openxmlformats.org/drawingml/2006/main">
            <a:r>
              <a:t>        "title": "규정 질의",</a:t>
            </a:r>
          </a:p>
          <a:p xmlns:a="http://schemas.openxmlformats.org/drawingml/2006/main">
            <a:r>
              <a:t>        "input": "집행 내역",</a:t>
            </a:r>
          </a:p>
          <a:p xmlns:a="http://schemas.openxmlformats.org/drawingml/2006/main">
            <a:r>
              <a:t>        "process": "규정 검색과 집행 항목의 조건 비교",</a:t>
            </a:r>
          </a:p>
          <a:p xmlns:a="http://schemas.openxmlformats.org/drawingml/2006/main">
            <a:r>
              <a:t>        "output": "적용 규정"</a:t>
            </a:r>
          </a:p>
          <a:p xmlns:a="http://schemas.openxmlformats.org/drawingml/2006/main">
            <a:r>
              <a:t>      },</a:t>
            </a:r>
          </a:p>
          <a:p xmlns:a="http://schemas.openxmlformats.org/drawingml/2006/main">
            <a:r>
              <a:t>      {</a:t>
            </a:r>
          </a:p>
          <a:p xmlns:a="http://schemas.openxmlformats.org/drawingml/2006/main">
            <a:r>
              <a:t>        "title": "서식·증빙 정리",</a:t>
            </a:r>
          </a:p>
          <a:p xmlns:a="http://schemas.openxmlformats.org/drawingml/2006/main">
            <a:r>
              <a:t>        "input": "적용 규정",</a:t>
            </a:r>
          </a:p>
          <a:p xmlns:a="http://schemas.openxmlformats.org/drawingml/2006/main">
            <a:r>
              <a:t>        "process": "사업·판본별 의무와 예외 대사",</a:t>
            </a:r>
          </a:p>
          <a:p xmlns:a="http://schemas.openxmlformats.org/drawingml/2006/main">
            <a:r>
              <a:t>        "output": "서식·증빙 목록"</a:t>
            </a:r>
          </a:p>
          <a:p xmlns:a="http://schemas.openxmlformats.org/drawingml/2006/main">
            <a:r>
              <a:t>      },</a:t>
            </a:r>
          </a:p>
          <a:p xmlns:a="http://schemas.openxmlformats.org/drawingml/2006/main">
            <a:r>
              <a:t>      {</a:t>
            </a:r>
          </a:p>
          <a:p xmlns:a="http://schemas.openxmlformats.org/drawingml/2006/main">
            <a:r>
              <a:t>        "title": "연구자·기관 검토",</a:t>
            </a:r>
          </a:p>
          <a:p xmlns:a="http://schemas.openxmlformats.org/drawingml/2006/main">
            <a:r>
              <a:t>        "input": "서식·증빙 목록",</a:t>
            </a:r>
          </a:p>
          <a:p xmlns:a="http://schemas.openxmlformats.org/drawingml/2006/main">
            <a:r>
              <a:t>        "process": "근거·누락 항목·서식 초안의 담당자 검토",</a:t>
            </a:r>
          </a:p>
          <a:p xmlns:a="http://schemas.openxmlformats.org/drawingml/2006/main">
            <a:r>
              <a:t>        "output": "보완·검토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"부처·사업·협약기간에 맞는 집행 조건과 증빙 확인",</a:t>
            </a:r>
          </a:p>
          <a:p xmlns:a="http://schemas.openxmlformats.org/drawingml/2006/main">
            <a:r>
              <a:t>      "exception": "다른 부처 지침·기간 외 거래·중복 집행 증빙",</a:t>
            </a:r>
          </a:p>
          <a:p xmlns:a="http://schemas.openxmlformats.org/drawingml/2006/main">
            <a:r>
              <a:t>      "evidence": "요건·거래·증빙·검토자 연결표와 누락 검출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"과제 수행자·연구관리 담당",</a:t>
            </a:r>
          </a:p>
          <a:p xmlns:a="http://schemas.openxmlformats.org/drawingml/2006/main">
            <a:r>
              <a:t>          "processing": "부처·사업·협약기간·집행항목 확인",</a:t>
            </a:r>
          </a:p>
          <a:p xmlns:a="http://schemas.openxmlformats.org/drawingml/2006/main">
            <a:r>
              <a:t>          "output": "집행 내역"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"지침·증빙 기록",</a:t>
            </a:r>
          </a:p>
          <a:p xmlns:a="http://schemas.openxmlformats.org/drawingml/2006/main">
            <a:r>
              <a:t>          "processing": "법규·부처 지침·거래증빙의 판본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"집행 내역",</a:t>
            </a:r>
          </a:p>
          <a:p xmlns:a="http://schemas.openxmlformats.org/drawingml/2006/main">
            <a:r>
              <a:t>          "processing": "규정 검색과 집행 항목의 조건 비교",</a:t>
            </a:r>
          </a:p>
          <a:p xmlns:a="http://schemas.openxmlformats.org/drawingml/2006/main">
            <a:r>
              <a:t>          "output": "서식·증빙 목록"</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"서식·증빙 목록",</a:t>
            </a:r>
          </a:p>
          <a:p xmlns:a="http://schemas.openxmlformats.org/drawingml/2006/main">
            <a:r>
              <a:t>          "processing": "근거·누락 항목·서식 초안의 담당자 검토",</a:t>
            </a:r>
          </a:p>
          <a:p xmlns:a="http://schemas.openxmlformats.org/drawingml/2006/main">
            <a:r>
              <a:t>          "output": "보완·검토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"오분류·증빙 누락과 검토 결과 추적",</a:t>
            </a:r>
          </a:p>
          <a:p xmlns:a="http://schemas.openxmlformats.org/drawingml/2006/main">
            <a:r>
              <a:t>          "output": "요건·거래·증빙·검토자 연결표와 누락 검출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"오분류·증빙 누락과 검토 결과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"S-AX24",</a:t>
            </a:r>
          </a:p>
          <a:p xmlns:a="http://schemas.openxmlformats.org/drawingml/2006/main">
            <a:r>
              <a:t>        "title": "국가 R&amp;D 사업비 Risk 지원 · 공공AI 사례집 193–194쪽",</a:t>
            </a:r>
          </a:p>
          <a:p xmlns:a="http://schemas.openxmlformats.org/drawingml/2006/main">
            <a:r>
              <a:t>        "url": "https://bigdata.dongjak.go.kr/board/viewArticle?articleNo=954&amp;boardId=4",</a:t>
            </a:r>
          </a:p>
          <a:p xmlns:a="http://schemas.openxmlformats.org/drawingml/2006/main">
            <a:r>
              <a:t>        "published": "2024 개발 사례",</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"부처별 지침·증빙·검토 책임의 연결",</a:t>
            </a:r>
          </a:p>
          <a:p xmlns:a="http://schemas.openxmlformats.org/drawingml/2006/main">
            <a:r>
              <a:t>    "local": "민간 AI PMS와 TS 기관 내부 업무를 역할별 분리",</a:t>
            </a:r>
          </a:p>
          <a:p xmlns:a="http://schemas.openxmlformats.org/drawingml/2006/main">
            <a:r>
              <a:t>    "sourceDetail": null,</a:t>
            </a:r>
          </a:p>
          <a:p xmlns:a="http://schemas.openxmlformats.org/drawingml/2006/main">
            <a:r>
              <a:t>    "narrative": [</a:t>
            </a:r>
          </a:p>
          <a:p xmlns:a="http://schemas.openxmlformats.org/drawingml/2006/main">
            <a:r>
              <a:t>      "연구비 집행 자료와 부처·사업별 지침을 연결해 상담·증빙·서식 작성을 지원하는 사례. 같은 지출 항목도 사업·협약연도에 따라 적용 기준이 다른 업무.",</a:t>
            </a:r>
          </a:p>
          <a:p xmlns:a="http://schemas.openxmlformats.org/drawingml/2006/main">
            <a:r>
              <a:t>      "부처·사업·협약기간·집행항목을 먼저 식별하고 해당 판본의 규정과 거래증빙을 대조하는 재구성. 누락 서류·예외 조건·서식 초안을 담당 검토자에게 전달하는 흐름.",</a:t>
            </a:r>
          </a:p>
          <a:p xmlns:a="http://schemas.openxmlformats.org/drawingml/2006/main">
            <a:r>
              <a:t>      "CCK AI PMS에 적용할 경우 지침 검색·양식 재사용과 적정 집행 판단을 분리. 사업 변경·연차 차이·증빙 누락 시험을 수행하고 요구사항·검수·제출 증빙의 추적에 연결할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"연구비 질의",</a:t>
            </a:r>
          </a:p>
          <a:p xmlns:a="http://schemas.openxmlformats.org/drawingml/2006/main">
            <a:r>
              <a:t>          "layer": "이용 접점",</a:t>
            </a:r>
          </a:p>
          <a:p xmlns:a="http://schemas.openxmlformats.org/drawingml/2006/main">
            <a:r>
              <a:t>          "detail": "과제 수행자·연구관리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"사업·협약·항목",</a:t>
            </a:r>
          </a:p>
          <a:p xmlns:a="http://schemas.openxmlformats.org/drawingml/2006/main">
            <a:r>
              <a:t>          "layer": "업무 문맥",</a:t>
            </a:r>
          </a:p>
          <a:p xmlns:a="http://schemas.openxmlformats.org/drawingml/2006/main">
            <a:r>
              <a:t>          "detail": "부처·사업·협약기간·집행항목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"규정·증빙 조회",</a:t>
            </a:r>
          </a:p>
          <a:p xmlns:a="http://schemas.openxmlformats.org/drawingml/2006/main">
            <a:r>
              <a:t>          "layer": "자료 조회",</a:t>
            </a:r>
          </a:p>
          <a:p xmlns:a="http://schemas.openxmlformats.org/drawingml/2006/main">
            <a:r>
              <a:t>          "detail": "집행 내역",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"조건 비교·서식",</a:t>
            </a:r>
          </a:p>
          <a:p xmlns:a="http://schemas.openxmlformats.org/drawingml/2006/main">
            <a:r>
              <a:t>          "layer": "핵심 처리",</a:t>
            </a:r>
          </a:p>
          <a:p xmlns:a="http://schemas.openxmlformats.org/drawingml/2006/main">
            <a:r>
              <a:t>          "detail": "규정 검색과 집행 항목의 조건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"판본·누락 검사",</a:t>
            </a:r>
          </a:p>
          <a:p xmlns:a="http://schemas.openxmlformats.org/drawingml/2006/main">
            <a:r>
              <a:t>          "layer": "결과 검증",</a:t>
            </a:r>
          </a:p>
          <a:p xmlns:a="http://schemas.openxmlformats.org/drawingml/2006/main">
            <a:r>
              <a:t>          "detail": "사업·판본별 의무와 예외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"기관 검토자 확인",</a:t>
            </a:r>
          </a:p>
          <a:p xmlns:a="http://schemas.openxmlformats.org/drawingml/2006/main">
            <a:r>
              <a:t>          "layer": "사람 확인",</a:t>
            </a:r>
          </a:p>
          <a:p xmlns:a="http://schemas.openxmlformats.org/drawingml/2006/main">
            <a:r>
              <a:t>          "detail": "부처·사업·협약기간에 맞는 집행 조건과 증빙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"보완·집행 검토",</a:t>
            </a:r>
          </a:p>
          <a:p xmlns:a="http://schemas.openxmlformats.org/drawingml/2006/main">
            <a:r>
              <a:t>          "layer": "업무 연결",</a:t>
            </a:r>
          </a:p>
          <a:p xmlns:a="http://schemas.openxmlformats.org/drawingml/2006/main">
            <a:r>
              <a:t>          "detail": "근거·누락 항목·서식 초안의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"오분류 추적",</a:t>
            </a:r>
          </a:p>
          <a:p xmlns:a="http://schemas.openxmlformats.org/drawingml/2006/main">
            <a:r>
              <a:t>          "layer": "운영 관측",</a:t>
            </a:r>
          </a:p>
          <a:p xmlns:a="http://schemas.openxmlformats.org/drawingml/2006/main">
            <a:r>
              <a:t>          "detail": "오분류·증빙 누락과 검토 결과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"지침·거래 증빙",</a:t>
            </a:r>
          </a:p>
          <a:p xmlns:a="http://schemas.openxmlformats.org/drawingml/2006/main">
            <a:r>
              <a:t>          "layer": "데이터 원천",</a:t>
            </a:r>
          </a:p>
          <a:p xmlns:a="http://schemas.openxmlformats.org/drawingml/2006/main">
            <a:r>
              <a:t>          "detail": "지침·증빙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"판본·항목 연결",</a:t>
            </a:r>
          </a:p>
          <a:p xmlns:a="http://schemas.openxmlformats.org/drawingml/2006/main">
            <a:r>
              <a:t>          "layer": "준비·갱신",</a:t>
            </a:r>
          </a:p>
          <a:p xmlns:a="http://schemas.openxmlformats.org/drawingml/2006/main">
            <a:r>
              <a:t>          "detail": "법규·부처 지침·거래증빙의 판본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"집행·근거 기록",</a:t>
            </a:r>
          </a:p>
          <a:p xmlns:a="http://schemas.openxmlformats.org/drawingml/2006/main">
            <a:r>
              <a:t>          "layer": "상태·지식 저장",</a:t>
            </a:r>
          </a:p>
          <a:p xmlns:a="http://schemas.openxmlformats.org/drawingml/2006/main">
            <a:r>
              <a:t>          "detail": "요건·거래·증빙·검토자 연결표와 누락 검출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"사업별 집행 기준",</a:t>
            </a:r>
          </a:p>
          <a:p xmlns:a="http://schemas.openxmlformats.org/drawingml/2006/main">
            <a:r>
              <a:t>          "layer": "권한·정책",</a:t>
            </a:r>
          </a:p>
          <a:p xmlns:a="http://schemas.openxmlformats.org/drawingml/2006/main">
            <a:r>
              <a:t>          "detail": "다른 부처 지침·기간 외 거래·중복 집행 증빙",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"부처 지침·집행자료 → 규정 질의 → 서식·증빙 정리 → 연구자·기관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"지침·증빙 기록",</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"서식·증빙 목록",</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"적용 규정",</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"서식·증빙 목록",</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"보완·검토 결과",</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"R&amp;D 사업비 문의와 증빙 정리 지원 / 규정 상담·집행자료·서식 생성",</a:t>
            </a:r>
          </a:p>
          <a:p xmlns:a="http://schemas.openxmlformats.org/drawingml/2006/main">
            <a:r>
              <a:t>        "extension": "민간 AI PMS와 TS 기관 내부 업무를 역할별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부처 지침·기간 외 거래·중복 집행 증빙",</a:t>
            </a:r>
          </a:p>
          <a:p xmlns:a="http://schemas.openxmlformats.org/drawingml/2006/main">
            <a:r>
              <a:t>        "hold": "사업·판본별 의무와 예외 대사",</a:t>
            </a:r>
          </a:p>
          <a:p xmlns:a="http://schemas.openxmlformats.org/drawingml/2006/main">
            <a:r>
              <a:t>        "recovery": "오분류·증빙 누락과 검토 결과 추적",</a:t>
            </a:r>
          </a:p>
          <a:p xmlns:a="http://schemas.openxmlformats.org/drawingml/2006/main">
            <a:r>
              <a:t>        "evidence": "요건·거래·증빙·검토자 연결표와 누락 검출 결과"</a:t>
            </a:r>
          </a:p>
          <a:p xmlns:a="http://schemas.openxmlformats.org/drawingml/2006/main">
            <a:r>
              <a:t>      },</a:t>
            </a:r>
          </a:p>
          <a:p xmlns:a="http://schemas.openxmlformats.org/drawingml/2006/main">
            <a:r>
              <a:t>      "data": {</a:t>
            </a:r>
          </a:p>
          <a:p xmlns:a="http://schemas.openxmlformats.org/drawingml/2006/main">
            <a:r>
              <a:t>        "source": "지침·증빙 기록",</a:t>
            </a:r>
          </a:p>
          <a:p xmlns:a="http://schemas.openxmlformats.org/drawingml/2006/main">
            <a:r>
              <a:t>        "prepare": "법규·부처 지침·거래증빙의 판본 연결",</a:t>
            </a:r>
          </a:p>
          <a:p xmlns:a="http://schemas.openxmlformats.org/drawingml/2006/main">
            <a:r>
              <a:t>        "output": "집행 내역",</a:t>
            </a:r>
          </a:p>
          <a:p xmlns:a="http://schemas.openxmlformats.org/drawingml/2006/main">
            <a:r>
              <a:t>        "refresh": "오분류·증빙 누락과 검토 결과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"AX24",</a:t>
            </a:r>
          </a:p>
          <a:p xmlns:a="http://schemas.openxmlformats.org/drawingml/2006/main">
            <a:r>
              <a:t>    "success": [</a:t>
            </a:r>
          </a:p>
          <a:p xmlns:a="http://schemas.openxmlformats.org/drawingml/2006/main">
            <a:r>
              <a:t>      "부처 지침과 집행 자료 연결",</a:t>
            </a:r>
          </a:p>
          <a:p xmlns:a="http://schemas.openxmlformats.org/drawingml/2006/main">
            <a:r>
              <a:t>      "서식·증빙을 검토 과정에 결합"</a:t>
            </a:r>
          </a:p>
          <a:p xmlns:a="http://schemas.openxmlformats.org/drawingml/2006/main">
            <a:r>
              <a:t>    ],</a:t>
            </a:r>
          </a:p>
          <a:p xmlns:a="http://schemas.openxmlformats.org/drawingml/2006/main">
            <a:r>
              <a:t>    "risks": [</a:t>
            </a:r>
          </a:p>
          <a:p xmlns:a="http://schemas.openxmlformats.org/drawingml/2006/main">
            <a:r>
              <a:t>      "부처·연차별 집행기준 혼용",</a:t>
            </a:r>
          </a:p>
          <a:p xmlns:a="http://schemas.openxmlformats.org/drawingml/2006/main">
            <a:r>
              <a:t>      "서식 생성과 적정 집행 판정의 혼동"</a:t>
            </a:r>
          </a:p>
          <a:p xmlns:a="http://schemas.openxmlformats.org/drawingml/2006/main">
            <a:r>
              <a:t>    ],</a:t>
            </a:r>
          </a:p>
          <a:p xmlns:a="http://schemas.openxmlformats.org/drawingml/2006/main">
            <a:r>
              <a:t>    "architecture": [</a:t>
            </a:r>
          </a:p>
          <a:p xmlns:a="http://schemas.openxmlformats.org/drawingml/2006/main">
            <a:r>
              <a:t>      "연구비 집행 자료",</a:t>
            </a:r>
          </a:p>
          <a:p xmlns:a="http://schemas.openxmlformats.org/drawingml/2006/main">
            <a:r>
              <a:t>      "규정 검색·서식 구성",</a:t>
            </a:r>
          </a:p>
          <a:p xmlns:a="http://schemas.openxmlformats.org/drawingml/2006/main">
            <a:r>
              <a:t>      "지침·증빙 기록",</a:t>
            </a:r>
          </a:p>
          <a:p xmlns:a="http://schemas.openxmlformats.org/drawingml/2006/main">
            <a:r>
              <a:t>      "연구자·기관 검토자"</a:t>
            </a:r>
          </a:p>
          <a:p xmlns:a="http://schemas.openxmlformats.org/drawingml/2006/main">
            <a:r>
              <a:t>    ],</a:t>
            </a:r>
          </a:p>
          <a:p xmlns:a="http://schemas.openxmlformats.org/drawingml/2006/main">
            <a:r>
              <a:t>    "transfers": [</a:t>
            </a:r>
          </a:p>
          <a:p xmlns:a="http://schemas.openxmlformats.org/drawingml/2006/main">
            <a:r>
              <a:t>      "집행 내역",</a:t>
            </a:r>
          </a:p>
          <a:p xmlns:a="http://schemas.openxmlformats.org/drawingml/2006/main">
            <a:r>
              <a:t>      "적용 규정",</a:t>
            </a:r>
          </a:p>
          <a:p xmlns:a="http://schemas.openxmlformats.org/drawingml/2006/main">
            <a:r>
              <a:t>      "서식·증빙 목록",</a:t>
            </a:r>
          </a:p>
          <a:p xmlns:a="http://schemas.openxmlformats.org/drawingml/2006/main">
            <a:r>
              <a:t>      "보완·검토 결과"</a:t>
            </a:r>
          </a:p>
          <a:p xmlns:a="http://schemas.openxmlformats.org/drawingml/2006/main">
            <a:r>
              <a:t>    ],</a:t>
            </a:r>
          </a:p>
          <a:p xmlns:a="http://schemas.openxmlformats.org/drawingml/2006/main">
            <a:r>
              <a:t>    "control": "사업·판본별 의무와 예외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국가 R&amp;D 사업비 Risk 지원 · 공공AI 사례집 193–194쪽 https://bigdata.dongjak.go.kr/board/viewArticle?articleNo=954&amp;boardId=4</a:t>
            </a:r>
          </a:p>
          <a:p xmlns:a="http://schemas.openxmlformats.org/drawingml/2006/main">
            <a:r>
              <a:t>홈페이지 https://heen1987-ops.github.io/TS-business-Plan-001/index.html?view=casebook&amp;case=AX24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"AX24",</a:t>
            </a:r>
          </a:p>
          <a:p xmlns:a="http://schemas.openxmlformats.org/drawingml/2006/main">
            <a:r>
              <a:t>    "title": "국가 R&amp;D 사업비 Risk 지원",</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"규정·증빙 기반 사업관리",</a:t>
            </a:r>
          </a:p>
          <a:p xmlns:a="http://schemas.openxmlformats.org/drawingml/2006/main">
            <a:r>
              <a:t>    "period": "2024 개발 사례",</a:t>
            </a:r>
          </a:p>
          <a:p xmlns:a="http://schemas.openxmlformats.org/drawingml/2006/main">
            <a:r>
              <a:t>    "sources": [</a:t>
            </a:r>
          </a:p>
          <a:p xmlns:a="http://schemas.openxmlformats.org/drawingml/2006/main">
            <a:r>
              <a:t>      "S-AX24"</a:t>
            </a:r>
          </a:p>
          <a:p xmlns:a="http://schemas.openxmlformats.org/drawingml/2006/main">
            <a:r>
              <a:t>    ],</a:t>
            </a:r>
          </a:p>
          <a:p xmlns:a="http://schemas.openxmlformats.org/drawingml/2006/main">
            <a:r>
              <a:t>    "keywords": [</a:t>
            </a:r>
          </a:p>
          <a:p xmlns:a="http://schemas.openxmlformats.org/drawingml/2006/main">
            <a:r>
              <a:t>      "규정",</a:t>
            </a:r>
          </a:p>
          <a:p xmlns:a="http://schemas.openxmlformats.org/drawingml/2006/main">
            <a:r>
              <a:t>      "증빙 기반 사업관리"</a:t>
            </a:r>
          </a:p>
          <a:p xmlns:a="http://schemas.openxmlformats.org/drawingml/2006/main">
            <a:r>
              <a:t>    ],</a:t>
            </a:r>
          </a:p>
          <a:p xmlns:a="http://schemas.openxmlformats.org/drawingml/2006/main">
            <a:r>
              <a:t>    "fact": "R&amp;D 법규·부처 지침 상담과 집행 데이터 수집·서식 생성을 결합한 솔루션 개발",</a:t>
            </a:r>
          </a:p>
          <a:p xmlns:a="http://schemas.openxmlformats.org/drawingml/2006/main">
            <a:r>
              <a:t>    "limit": "성과 항목이 기대효과 중심 · 행정 부담 감소 실측 별도",</a:t>
            </a:r>
          </a:p>
          <a:p xmlns:a="http://schemas.openxmlformats.org/drawingml/2006/main">
            <a:r>
              <a:t>    "flow": [</a:t>
            </a:r>
          </a:p>
          <a:p xmlns:a="http://schemas.openxmlformats.org/drawingml/2006/main">
            <a:r>
              <a:t>      "부처 지침·집행자료",</a:t>
            </a:r>
          </a:p>
          <a:p xmlns:a="http://schemas.openxmlformats.org/drawingml/2006/main">
            <a:r>
              <a:t>      "규정 질의",</a:t>
            </a:r>
          </a:p>
          <a:p xmlns:a="http://schemas.openxmlformats.org/drawingml/2006/main">
            <a:r>
              <a:t>      "서식·증빙 정리",</a:t>
            </a:r>
          </a:p>
          <a:p xmlns:a="http://schemas.openxmlformats.org/drawingml/2006/main">
            <a:r>
              <a:t>      "연구자·기관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"부처별 지침·증빙·검토 책임의 연결",</a:t>
            </a:r>
          </a:p>
          <a:p xmlns:a="http://schemas.openxmlformats.org/drawingml/2006/main">
            <a:r>
              <a:t>    "local": "민간 AI PMS와 TS 기관 내부 업무를 역할별 분리",</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"부처·사업·계약 판본·증빙 요구 매핑",</a:t>
            </a:r>
          </a:p>
          <a:p xmlns:a="http://schemas.openxmlformats.org/drawingml/2006/main">
            <a:r>
              <a:t>    "test": "유효 규정·증빙 누락·목적 외 자료 차단 시험",</a:t>
            </a:r>
          </a:p>
          <a:p xmlns:a="http://schemas.openxmlformats.org/drawingml/2006/main">
            <a:r>
              <a:t>    "metric": "보완 왕복 횟수 / 검토 소요시간",</a:t>
            </a:r>
          </a:p>
          <a:p xmlns:a="http://schemas.openxmlformats.org/drawingml/2006/main">
            <a:r>
              <a:t>    "strategies": [</a:t>
            </a:r>
          </a:p>
          <a:p xmlns:a="http://schemas.openxmlformats.org/drawingml/2006/main">
            <a:r>
              <a:t>      "ST-09",</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"AX24",</a:t>
            </a:r>
          </a:p>
          <a:p xmlns:a="http://schemas.openxmlformats.org/drawingml/2006/main">
            <a:r>
              <a:t>    "canonicalId": "AX24",</a:t>
            </a:r>
          </a:p>
          <a:p xmlns:a="http://schemas.openxmlformats.org/drawingml/2006/main">
            <a:r>
              <a:t>    "purpose": "R&amp;D 사업비 문의와 증빙 정리 지원",</a:t>
            </a:r>
          </a:p>
          <a:p xmlns:a="http://schemas.openxmlformats.org/drawingml/2006/main">
            <a:r>
              <a:t>    "users": "과제 수행자·연구관리 담당",</a:t>
            </a:r>
          </a:p>
          <a:p xmlns:a="http://schemas.openxmlformats.org/drawingml/2006/main">
            <a:r>
              <a:t>    "scope": [</a:t>
            </a:r>
          </a:p>
          <a:p xmlns:a="http://schemas.openxmlformats.org/drawingml/2006/main">
            <a:r>
              <a:t>      "규정 상담",</a:t>
            </a:r>
          </a:p>
          <a:p xmlns:a="http://schemas.openxmlformats.org/drawingml/2006/main">
            <a:r>
              <a:t>      "집행자료",</a:t>
            </a:r>
          </a:p>
          <a:p xmlns:a="http://schemas.openxmlformats.org/drawingml/2006/main">
            <a:r>
              <a:t>      "서식 생성"</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"연구비 집행 자료",</a:t>
            </a:r>
          </a:p>
          <a:p xmlns:a="http://schemas.openxmlformats.org/drawingml/2006/main">
            <a:r>
              <a:t>        "detail": "부처·사업·협약기간·집행항목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"규정 상담 / 집행자료 / 서식 생성",</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"규정 검색·서식 구성",</a:t>
            </a:r>
          </a:p>
          <a:p xmlns:a="http://schemas.openxmlformats.org/drawingml/2006/main">
            <a:r>
              <a:t>        "detail": "규정 검색과 집행 항목의 조건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"연구자·기관 검토자",</a:t>
            </a:r>
          </a:p>
          <a:p xmlns:a="http://schemas.openxmlformats.org/drawingml/2006/main">
            <a:r>
              <a:t>        "detail": "근거·누락 항목·서식 초안의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"지침·증빙 기록",</a:t>
            </a:r>
          </a:p>
          <a:p xmlns:a="http://schemas.openxmlformats.org/drawingml/2006/main">
            <a:r>
              <a:t>        "detail": "법규·부처 지침·거래증빙의 판본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"오분류·증빙 누락과 검토 결과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"부처 지침·집행자료",</a:t>
            </a:r>
          </a:p>
          <a:p xmlns:a="http://schemas.openxmlformats.org/drawingml/2006/main">
            <a:r>
              <a:t>        "input": "부처·사업·협약기간·집행항목 확인",</a:t>
            </a:r>
          </a:p>
          <a:p xmlns:a="http://schemas.openxmlformats.org/drawingml/2006/main">
            <a:r>
              <a:t>        "process": "법규·부처 지침·거래증빙의 판본 연결",</a:t>
            </a:r>
          </a:p>
          <a:p xmlns:a="http://schemas.openxmlformats.org/drawingml/2006/main">
            <a:r>
              <a:t>        "output": "집행 내역"</a:t>
            </a:r>
          </a:p>
          <a:p xmlns:a="http://schemas.openxmlformats.org/drawingml/2006/main">
            <a:r>
              <a:t>      },</a:t>
            </a:r>
          </a:p>
          <a:p xmlns:a="http://schemas.openxmlformats.org/drawingml/2006/main">
            <a:r>
              <a:t>      {</a:t>
            </a:r>
          </a:p>
          <a:p xmlns:a="http://schemas.openxmlformats.org/drawingml/2006/main">
            <a:r>
              <a:t>        "title": "규정 질의",</a:t>
            </a:r>
          </a:p>
          <a:p xmlns:a="http://schemas.openxmlformats.org/drawingml/2006/main">
            <a:r>
              <a:t>        "input": "집행 내역",</a:t>
            </a:r>
          </a:p>
          <a:p xmlns:a="http://schemas.openxmlformats.org/drawingml/2006/main">
            <a:r>
              <a:t>        "process": "규정 검색과 집행 항목의 조건 비교",</a:t>
            </a:r>
          </a:p>
          <a:p xmlns:a="http://schemas.openxmlformats.org/drawingml/2006/main">
            <a:r>
              <a:t>        "output": "적용 규정"</a:t>
            </a:r>
          </a:p>
          <a:p xmlns:a="http://schemas.openxmlformats.org/drawingml/2006/main">
            <a:r>
              <a:t>      },</a:t>
            </a:r>
          </a:p>
          <a:p xmlns:a="http://schemas.openxmlformats.org/drawingml/2006/main">
            <a:r>
              <a:t>      {</a:t>
            </a:r>
          </a:p>
          <a:p xmlns:a="http://schemas.openxmlformats.org/drawingml/2006/main">
            <a:r>
              <a:t>        "title": "서식·증빙 정리",</a:t>
            </a:r>
          </a:p>
          <a:p xmlns:a="http://schemas.openxmlformats.org/drawingml/2006/main">
            <a:r>
              <a:t>        "input": "적용 규정",</a:t>
            </a:r>
          </a:p>
          <a:p xmlns:a="http://schemas.openxmlformats.org/drawingml/2006/main">
            <a:r>
              <a:t>        "process": "사업·판본별 의무와 예외 대사",</a:t>
            </a:r>
          </a:p>
          <a:p xmlns:a="http://schemas.openxmlformats.org/drawingml/2006/main">
            <a:r>
              <a:t>        "output": "서식·증빙 목록"</a:t>
            </a:r>
          </a:p>
          <a:p xmlns:a="http://schemas.openxmlformats.org/drawingml/2006/main">
            <a:r>
              <a:t>      },</a:t>
            </a:r>
          </a:p>
          <a:p xmlns:a="http://schemas.openxmlformats.org/drawingml/2006/main">
            <a:r>
              <a:t>      {</a:t>
            </a:r>
          </a:p>
          <a:p xmlns:a="http://schemas.openxmlformats.org/drawingml/2006/main">
            <a:r>
              <a:t>        "title": "연구자·기관 검토",</a:t>
            </a:r>
          </a:p>
          <a:p xmlns:a="http://schemas.openxmlformats.org/drawingml/2006/main">
            <a:r>
              <a:t>        "input": "서식·증빙 목록",</a:t>
            </a:r>
          </a:p>
          <a:p xmlns:a="http://schemas.openxmlformats.org/drawingml/2006/main">
            <a:r>
              <a:t>        "process": "근거·누락 항목·서식 초안의 담당자 검토",</a:t>
            </a:r>
          </a:p>
          <a:p xmlns:a="http://schemas.openxmlformats.org/drawingml/2006/main">
            <a:r>
              <a:t>        "output": "보완·검토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"부처·사업·협약기간에 맞는 집행 조건과 증빙 확인",</a:t>
            </a:r>
          </a:p>
          <a:p xmlns:a="http://schemas.openxmlformats.org/drawingml/2006/main">
            <a:r>
              <a:t>      "exception": "다른 부처 지침·기간 외 거래·중복 집행 증빙",</a:t>
            </a:r>
          </a:p>
          <a:p xmlns:a="http://schemas.openxmlformats.org/drawingml/2006/main">
            <a:r>
              <a:t>      "evidence": "요건·거래·증빙·검토자 연결표와 누락 검출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"과제 수행자·연구관리 담당",</a:t>
            </a:r>
          </a:p>
          <a:p xmlns:a="http://schemas.openxmlformats.org/drawingml/2006/main">
            <a:r>
              <a:t>          "processing": "부처·사업·협약기간·집행항목 확인",</a:t>
            </a:r>
          </a:p>
          <a:p xmlns:a="http://schemas.openxmlformats.org/drawingml/2006/main">
            <a:r>
              <a:t>          "output": "집행 내역"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"지침·증빙 기록",</a:t>
            </a:r>
          </a:p>
          <a:p xmlns:a="http://schemas.openxmlformats.org/drawingml/2006/main">
            <a:r>
              <a:t>          "processing": "법규·부처 지침·거래증빙의 판본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"집행 내역",</a:t>
            </a:r>
          </a:p>
          <a:p xmlns:a="http://schemas.openxmlformats.org/drawingml/2006/main">
            <a:r>
              <a:t>          "processing": "규정 검색과 집행 항목의 조건 비교",</a:t>
            </a:r>
          </a:p>
          <a:p xmlns:a="http://schemas.openxmlformats.org/drawingml/2006/main">
            <a:r>
              <a:t>          "output": "서식·증빙 목록"</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"서식·증빙 목록",</a:t>
            </a:r>
          </a:p>
          <a:p xmlns:a="http://schemas.openxmlformats.org/drawingml/2006/main">
            <a:r>
              <a:t>          "processing": "근거·누락 항목·서식 초안의 담당자 검토",</a:t>
            </a:r>
          </a:p>
          <a:p xmlns:a="http://schemas.openxmlformats.org/drawingml/2006/main">
            <a:r>
              <a:t>          "output": "보완·검토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"오분류·증빙 누락과 검토 결과 추적",</a:t>
            </a:r>
          </a:p>
          <a:p xmlns:a="http://schemas.openxmlformats.org/drawingml/2006/main">
            <a:r>
              <a:t>          "output": "요건·거래·증빙·검토자 연결표와 누락 검출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"오분류·증빙 누락과 검토 결과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"S-AX24",</a:t>
            </a:r>
          </a:p>
          <a:p xmlns:a="http://schemas.openxmlformats.org/drawingml/2006/main">
            <a:r>
              <a:t>        "title": "국가 R&amp;D 사업비 Risk 지원 · 공공AI 사례집 193–194쪽",</a:t>
            </a:r>
          </a:p>
          <a:p xmlns:a="http://schemas.openxmlformats.org/drawingml/2006/main">
            <a:r>
              <a:t>        "url": "https://bigdata.dongjak.go.kr/board/viewArticle?articleNo=954&amp;boardId=4",</a:t>
            </a:r>
          </a:p>
          <a:p xmlns:a="http://schemas.openxmlformats.org/drawingml/2006/main">
            <a:r>
              <a:t>        "published": "2024 개발 사례",</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"부처별 지침·증빙·검토 책임의 연결",</a:t>
            </a:r>
          </a:p>
          <a:p xmlns:a="http://schemas.openxmlformats.org/drawingml/2006/main">
            <a:r>
              <a:t>    "local": "민간 AI PMS와 TS 기관 내부 업무를 역할별 분리",</a:t>
            </a:r>
          </a:p>
          <a:p xmlns:a="http://schemas.openxmlformats.org/drawingml/2006/main">
            <a:r>
              <a:t>    "sourceDetail": null,</a:t>
            </a:r>
          </a:p>
          <a:p xmlns:a="http://schemas.openxmlformats.org/drawingml/2006/main">
            <a:r>
              <a:t>    "narrative": [</a:t>
            </a:r>
          </a:p>
          <a:p xmlns:a="http://schemas.openxmlformats.org/drawingml/2006/main">
            <a:r>
              <a:t>      "연구비 집행 자료와 부처·사업별 지침을 연결해 상담·증빙·서식 작성을 지원하는 사례. 같은 지출 항목도 사업·협약연도에 따라 적용 기준이 다른 업무.",</a:t>
            </a:r>
          </a:p>
          <a:p xmlns:a="http://schemas.openxmlformats.org/drawingml/2006/main">
            <a:r>
              <a:t>      "부처·사업·협약기간·집행항목을 먼저 식별하고 해당 판본의 규정과 거래증빙을 대조하는 재구성. 누락 서류·예외 조건·서식 초안을 담당 검토자에게 전달하는 흐름.",</a:t>
            </a:r>
          </a:p>
          <a:p xmlns:a="http://schemas.openxmlformats.org/drawingml/2006/main">
            <a:r>
              <a:t>      "CCK AI PMS에 적용할 경우 지침 검색·양식 재사용과 적정 집행 판단을 분리. 사업 변경·연차 차이·증빙 누락 시험을 수행하고 요구사항·검수·제출 증빙의 추적에 연결할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"연구비 질의",</a:t>
            </a:r>
          </a:p>
          <a:p xmlns:a="http://schemas.openxmlformats.org/drawingml/2006/main">
            <a:r>
              <a:t>          "layer": "이용 접점",</a:t>
            </a:r>
          </a:p>
          <a:p xmlns:a="http://schemas.openxmlformats.org/drawingml/2006/main">
            <a:r>
              <a:t>          "detail": "과제 수행자·연구관리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"사업·협약·항목",</a:t>
            </a:r>
          </a:p>
          <a:p xmlns:a="http://schemas.openxmlformats.org/drawingml/2006/main">
            <a:r>
              <a:t>          "layer": "업무 문맥",</a:t>
            </a:r>
          </a:p>
          <a:p xmlns:a="http://schemas.openxmlformats.org/drawingml/2006/main">
            <a:r>
              <a:t>          "detail": "부처·사업·협약기간·집행항목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"규정·증빙 조회",</a:t>
            </a:r>
          </a:p>
          <a:p xmlns:a="http://schemas.openxmlformats.org/drawingml/2006/main">
            <a:r>
              <a:t>          "layer": "자료 조회",</a:t>
            </a:r>
          </a:p>
          <a:p xmlns:a="http://schemas.openxmlformats.org/drawingml/2006/main">
            <a:r>
              <a:t>          "detail": "집행 내역",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"조건 비교·서식",</a:t>
            </a:r>
          </a:p>
          <a:p xmlns:a="http://schemas.openxmlformats.org/drawingml/2006/main">
            <a:r>
              <a:t>          "layer": "핵심 처리",</a:t>
            </a:r>
          </a:p>
          <a:p xmlns:a="http://schemas.openxmlformats.org/drawingml/2006/main">
            <a:r>
              <a:t>          "detail": "규정 검색과 집행 항목의 조건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"판본·누락 검사",</a:t>
            </a:r>
          </a:p>
          <a:p xmlns:a="http://schemas.openxmlformats.org/drawingml/2006/main">
            <a:r>
              <a:t>          "layer": "결과 검증",</a:t>
            </a:r>
          </a:p>
          <a:p xmlns:a="http://schemas.openxmlformats.org/drawingml/2006/main">
            <a:r>
              <a:t>          "detail": "사업·판본별 의무와 예외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"기관 검토자 확인",</a:t>
            </a:r>
          </a:p>
          <a:p xmlns:a="http://schemas.openxmlformats.org/drawingml/2006/main">
            <a:r>
              <a:t>          "layer": "사람 확인",</a:t>
            </a:r>
          </a:p>
          <a:p xmlns:a="http://schemas.openxmlformats.org/drawingml/2006/main">
            <a:r>
              <a:t>          "detail": "부처·사업·협약기간에 맞는 집행 조건과 증빙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"보완·집행 검토",</a:t>
            </a:r>
          </a:p>
          <a:p xmlns:a="http://schemas.openxmlformats.org/drawingml/2006/main">
            <a:r>
              <a:t>          "layer": "업무 연결",</a:t>
            </a:r>
          </a:p>
          <a:p xmlns:a="http://schemas.openxmlformats.org/drawingml/2006/main">
            <a:r>
              <a:t>          "detail": "근거·누락 항목·서식 초안의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"오분류 추적",</a:t>
            </a:r>
          </a:p>
          <a:p xmlns:a="http://schemas.openxmlformats.org/drawingml/2006/main">
            <a:r>
              <a:t>          "layer": "운영 관측",</a:t>
            </a:r>
          </a:p>
          <a:p xmlns:a="http://schemas.openxmlformats.org/drawingml/2006/main">
            <a:r>
              <a:t>          "detail": "오분류·증빙 누락과 검토 결과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"지침·거래 증빙",</a:t>
            </a:r>
          </a:p>
          <a:p xmlns:a="http://schemas.openxmlformats.org/drawingml/2006/main">
            <a:r>
              <a:t>          "layer": "데이터 원천",</a:t>
            </a:r>
          </a:p>
          <a:p xmlns:a="http://schemas.openxmlformats.org/drawingml/2006/main">
            <a:r>
              <a:t>          "detail": "지침·증빙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"판본·항목 연결",</a:t>
            </a:r>
          </a:p>
          <a:p xmlns:a="http://schemas.openxmlformats.org/drawingml/2006/main">
            <a:r>
              <a:t>          "layer": "준비·갱신",</a:t>
            </a:r>
          </a:p>
          <a:p xmlns:a="http://schemas.openxmlformats.org/drawingml/2006/main">
            <a:r>
              <a:t>          "detail": "법규·부처 지침·거래증빙의 판본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"집행·근거 기록",</a:t>
            </a:r>
          </a:p>
          <a:p xmlns:a="http://schemas.openxmlformats.org/drawingml/2006/main">
            <a:r>
              <a:t>          "layer": "상태·지식 저장",</a:t>
            </a:r>
          </a:p>
          <a:p xmlns:a="http://schemas.openxmlformats.org/drawingml/2006/main">
            <a:r>
              <a:t>          "detail": "요건·거래·증빙·검토자 연결표와 누락 검출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"사업별 집행 기준",</a:t>
            </a:r>
          </a:p>
          <a:p xmlns:a="http://schemas.openxmlformats.org/drawingml/2006/main">
            <a:r>
              <a:t>          "layer": "권한·정책",</a:t>
            </a:r>
          </a:p>
          <a:p xmlns:a="http://schemas.openxmlformats.org/drawingml/2006/main">
            <a:r>
              <a:t>          "detail": "다른 부처 지침·기간 외 거래·중복 집행 증빙",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"부처 지침·집행자료 → 규정 질의 → 서식·증빙 정리 → 연구자·기관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"지침·증빙 기록",</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"서식·증빙 목록",</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"적용 규정",</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"서식·증빙 목록",</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"보완·검토 결과",</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"R&amp;D 사업비 문의와 증빙 정리 지원 / 규정 상담·집행자료·서식 생성",</a:t>
            </a:r>
          </a:p>
          <a:p xmlns:a="http://schemas.openxmlformats.org/drawingml/2006/main">
            <a:r>
              <a:t>        "extension": "민간 AI PMS와 TS 기관 내부 업무를 역할별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부처 지침·기간 외 거래·중복 집행 증빙",</a:t>
            </a:r>
          </a:p>
          <a:p xmlns:a="http://schemas.openxmlformats.org/drawingml/2006/main">
            <a:r>
              <a:t>        "hold": "사업·판본별 의무와 예외 대사",</a:t>
            </a:r>
          </a:p>
          <a:p xmlns:a="http://schemas.openxmlformats.org/drawingml/2006/main">
            <a:r>
              <a:t>        "recovery": "오분류·증빙 누락과 검토 결과 추적",</a:t>
            </a:r>
          </a:p>
          <a:p xmlns:a="http://schemas.openxmlformats.org/drawingml/2006/main">
            <a:r>
              <a:t>        "evidence": "요건·거래·증빙·검토자 연결표와 누락 검출 결과"</a:t>
            </a:r>
          </a:p>
          <a:p xmlns:a="http://schemas.openxmlformats.org/drawingml/2006/main">
            <a:r>
              <a:t>      },</a:t>
            </a:r>
          </a:p>
          <a:p xmlns:a="http://schemas.openxmlformats.org/drawingml/2006/main">
            <a:r>
              <a:t>      "data": {</a:t>
            </a:r>
          </a:p>
          <a:p xmlns:a="http://schemas.openxmlformats.org/drawingml/2006/main">
            <a:r>
              <a:t>        "source": "지침·증빙 기록",</a:t>
            </a:r>
          </a:p>
          <a:p xmlns:a="http://schemas.openxmlformats.org/drawingml/2006/main">
            <a:r>
              <a:t>        "prepare": "법규·부처 지침·거래증빙의 판본 연결",</a:t>
            </a:r>
          </a:p>
          <a:p xmlns:a="http://schemas.openxmlformats.org/drawingml/2006/main">
            <a:r>
              <a:t>        "output": "집행 내역",</a:t>
            </a:r>
          </a:p>
          <a:p xmlns:a="http://schemas.openxmlformats.org/drawingml/2006/main">
            <a:r>
              <a:t>        "refresh": "오분류·증빙 누락과 검토 결과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"AX24",</a:t>
            </a:r>
          </a:p>
          <a:p xmlns:a="http://schemas.openxmlformats.org/drawingml/2006/main">
            <a:r>
              <a:t>    "success": [</a:t>
            </a:r>
          </a:p>
          <a:p xmlns:a="http://schemas.openxmlformats.org/drawingml/2006/main">
            <a:r>
              <a:t>      "부처 지침과 집행 자료 연결",</a:t>
            </a:r>
          </a:p>
          <a:p xmlns:a="http://schemas.openxmlformats.org/drawingml/2006/main">
            <a:r>
              <a:t>      "서식·증빙을 검토 과정에 결합"</a:t>
            </a:r>
          </a:p>
          <a:p xmlns:a="http://schemas.openxmlformats.org/drawingml/2006/main">
            <a:r>
              <a:t>    ],</a:t>
            </a:r>
          </a:p>
          <a:p xmlns:a="http://schemas.openxmlformats.org/drawingml/2006/main">
            <a:r>
              <a:t>    "risks": [</a:t>
            </a:r>
          </a:p>
          <a:p xmlns:a="http://schemas.openxmlformats.org/drawingml/2006/main">
            <a:r>
              <a:t>      "부처·연차별 집행기준 혼용",</a:t>
            </a:r>
          </a:p>
          <a:p xmlns:a="http://schemas.openxmlformats.org/drawingml/2006/main">
            <a:r>
              <a:t>      "서식 생성과 적정 집행 판정의 혼동"</a:t>
            </a:r>
          </a:p>
          <a:p xmlns:a="http://schemas.openxmlformats.org/drawingml/2006/main">
            <a:r>
              <a:t>    ],</a:t>
            </a:r>
          </a:p>
          <a:p xmlns:a="http://schemas.openxmlformats.org/drawingml/2006/main">
            <a:r>
              <a:t>    "architecture": [</a:t>
            </a:r>
          </a:p>
          <a:p xmlns:a="http://schemas.openxmlformats.org/drawingml/2006/main">
            <a:r>
              <a:t>      "연구비 집행 자료",</a:t>
            </a:r>
          </a:p>
          <a:p xmlns:a="http://schemas.openxmlformats.org/drawingml/2006/main">
            <a:r>
              <a:t>      "규정 검색·서식 구성",</a:t>
            </a:r>
          </a:p>
          <a:p xmlns:a="http://schemas.openxmlformats.org/drawingml/2006/main">
            <a:r>
              <a:t>      "지침·증빙 기록",</a:t>
            </a:r>
          </a:p>
          <a:p xmlns:a="http://schemas.openxmlformats.org/drawingml/2006/main">
            <a:r>
              <a:t>      "연구자·기관 검토자"</a:t>
            </a:r>
          </a:p>
          <a:p xmlns:a="http://schemas.openxmlformats.org/drawingml/2006/main">
            <a:r>
              <a:t>    ],</a:t>
            </a:r>
          </a:p>
          <a:p xmlns:a="http://schemas.openxmlformats.org/drawingml/2006/main">
            <a:r>
              <a:t>    "transfers": [</a:t>
            </a:r>
          </a:p>
          <a:p xmlns:a="http://schemas.openxmlformats.org/drawingml/2006/main">
            <a:r>
              <a:t>      "집행 내역",</a:t>
            </a:r>
          </a:p>
          <a:p xmlns:a="http://schemas.openxmlformats.org/drawingml/2006/main">
            <a:r>
              <a:t>      "적용 규정",</a:t>
            </a:r>
          </a:p>
          <a:p xmlns:a="http://schemas.openxmlformats.org/drawingml/2006/main">
            <a:r>
              <a:t>      "서식·증빙 목록",</a:t>
            </a:r>
          </a:p>
          <a:p xmlns:a="http://schemas.openxmlformats.org/drawingml/2006/main">
            <a:r>
              <a:t>      "보완·검토 결과"</a:t>
            </a:r>
          </a:p>
          <a:p xmlns:a="http://schemas.openxmlformats.org/drawingml/2006/main">
            <a:r>
              <a:t>    ],</a:t>
            </a:r>
          </a:p>
          <a:p xmlns:a="http://schemas.openxmlformats.org/drawingml/2006/main">
            <a:r>
              <a:t>    "control": "사업·판본별 의무와 예외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국가 R&amp;D 사업비 Risk 지원 · 공공AI 사례집 193–194쪽 https://bigdata.dongjak.go.kr/board/viewArticle?articleNo=954&amp;boardId=4</a:t>
            </a:r>
          </a:p>
          <a:p xmlns:a="http://schemas.openxmlformats.org/drawingml/2006/main">
            <a:r>
              <a:t>홈페이지 https://heen1987-ops.github.io/TS-business-Plan-001/index.html?view=casebook&amp;case=AX24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"AX24",</a:t>
            </a:r>
          </a:p>
          <a:p xmlns:a="http://schemas.openxmlformats.org/drawingml/2006/main">
            <a:r>
              <a:t>    "title": "국가 R&amp;D 사업비 Risk 지원",</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"규정·증빙 기반 사업관리",</a:t>
            </a:r>
          </a:p>
          <a:p xmlns:a="http://schemas.openxmlformats.org/drawingml/2006/main">
            <a:r>
              <a:t>    "period": "2024 개발 사례",</a:t>
            </a:r>
          </a:p>
          <a:p xmlns:a="http://schemas.openxmlformats.org/drawingml/2006/main">
            <a:r>
              <a:t>    "sources": [</a:t>
            </a:r>
          </a:p>
          <a:p xmlns:a="http://schemas.openxmlformats.org/drawingml/2006/main">
            <a:r>
              <a:t>      "S-AX24"</a:t>
            </a:r>
          </a:p>
          <a:p xmlns:a="http://schemas.openxmlformats.org/drawingml/2006/main">
            <a:r>
              <a:t>    ],</a:t>
            </a:r>
          </a:p>
          <a:p xmlns:a="http://schemas.openxmlformats.org/drawingml/2006/main">
            <a:r>
              <a:t>    "keywords": [</a:t>
            </a:r>
          </a:p>
          <a:p xmlns:a="http://schemas.openxmlformats.org/drawingml/2006/main">
            <a:r>
              <a:t>      "규정",</a:t>
            </a:r>
          </a:p>
          <a:p xmlns:a="http://schemas.openxmlformats.org/drawingml/2006/main">
            <a:r>
              <a:t>      "증빙 기반 사업관리"</a:t>
            </a:r>
          </a:p>
          <a:p xmlns:a="http://schemas.openxmlformats.org/drawingml/2006/main">
            <a:r>
              <a:t>    ],</a:t>
            </a:r>
          </a:p>
          <a:p xmlns:a="http://schemas.openxmlformats.org/drawingml/2006/main">
            <a:r>
              <a:t>    "fact": "R&amp;D 법규·부처 지침 상담과 집행 데이터 수집·서식 생성을 결합한 솔루션 개발",</a:t>
            </a:r>
          </a:p>
          <a:p xmlns:a="http://schemas.openxmlformats.org/drawingml/2006/main">
            <a:r>
              <a:t>    "limit": "성과 항목이 기대효과 중심 · 행정 부담 감소 실측 별도",</a:t>
            </a:r>
          </a:p>
          <a:p xmlns:a="http://schemas.openxmlformats.org/drawingml/2006/main">
            <a:r>
              <a:t>    "flow": [</a:t>
            </a:r>
          </a:p>
          <a:p xmlns:a="http://schemas.openxmlformats.org/drawingml/2006/main">
            <a:r>
              <a:t>      "부처 지침·집행자료",</a:t>
            </a:r>
          </a:p>
          <a:p xmlns:a="http://schemas.openxmlformats.org/drawingml/2006/main">
            <a:r>
              <a:t>      "규정 질의",</a:t>
            </a:r>
          </a:p>
          <a:p xmlns:a="http://schemas.openxmlformats.org/drawingml/2006/main">
            <a:r>
              <a:t>      "서식·증빙 정리",</a:t>
            </a:r>
          </a:p>
          <a:p xmlns:a="http://schemas.openxmlformats.org/drawingml/2006/main">
            <a:r>
              <a:t>      "연구자·기관 검토"</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"부처별 지침·증빙·검토 책임의 연결",</a:t>
            </a:r>
          </a:p>
          <a:p xmlns:a="http://schemas.openxmlformats.org/drawingml/2006/main">
            <a:r>
              <a:t>    "local": "민간 AI PMS와 TS 기관 내부 업무를 역할별 분리",</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"부처·사업·계약 판본·증빙 요구 매핑",</a:t>
            </a:r>
          </a:p>
          <a:p xmlns:a="http://schemas.openxmlformats.org/drawingml/2006/main">
            <a:r>
              <a:t>    "test": "유효 규정·증빙 누락·목적 외 자료 차단 시험",</a:t>
            </a:r>
          </a:p>
          <a:p xmlns:a="http://schemas.openxmlformats.org/drawingml/2006/main">
            <a:r>
              <a:t>    "metric": "보완 왕복 횟수 / 검토 소요시간",</a:t>
            </a:r>
          </a:p>
          <a:p xmlns:a="http://schemas.openxmlformats.org/drawingml/2006/main">
            <a:r>
              <a:t>    "strategies": [</a:t>
            </a:r>
          </a:p>
          <a:p xmlns:a="http://schemas.openxmlformats.org/drawingml/2006/main">
            <a:r>
              <a:t>      "ST-09",</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"AX24",</a:t>
            </a:r>
          </a:p>
          <a:p xmlns:a="http://schemas.openxmlformats.org/drawingml/2006/main">
            <a:r>
              <a:t>    "canonicalId": "AX24",</a:t>
            </a:r>
          </a:p>
          <a:p xmlns:a="http://schemas.openxmlformats.org/drawingml/2006/main">
            <a:r>
              <a:t>    "purpose": "R&amp;D 사업비 문의와 증빙 정리 지원",</a:t>
            </a:r>
          </a:p>
          <a:p xmlns:a="http://schemas.openxmlformats.org/drawingml/2006/main">
            <a:r>
              <a:t>    "users": "과제 수행자·연구관리 담당",</a:t>
            </a:r>
          </a:p>
          <a:p xmlns:a="http://schemas.openxmlformats.org/drawingml/2006/main">
            <a:r>
              <a:t>    "scope": [</a:t>
            </a:r>
          </a:p>
          <a:p xmlns:a="http://schemas.openxmlformats.org/drawingml/2006/main">
            <a:r>
              <a:t>      "규정 상담",</a:t>
            </a:r>
          </a:p>
          <a:p xmlns:a="http://schemas.openxmlformats.org/drawingml/2006/main">
            <a:r>
              <a:t>      "집행자료",</a:t>
            </a:r>
          </a:p>
          <a:p xmlns:a="http://schemas.openxmlformats.org/drawingml/2006/main">
            <a:r>
              <a:t>      "서식 생성"</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"연구비 집행 자료",</a:t>
            </a:r>
          </a:p>
          <a:p xmlns:a="http://schemas.openxmlformats.org/drawingml/2006/main">
            <a:r>
              <a:t>        "detail": "부처·사업·협약기간·집행항목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"규정 상담 / 집행자료 / 서식 생성",</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"규정 검색·서식 구성",</a:t>
            </a:r>
          </a:p>
          <a:p xmlns:a="http://schemas.openxmlformats.org/drawingml/2006/main">
            <a:r>
              <a:t>        "detail": "규정 검색과 집행 항목의 조건 비교",</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"연구자·기관 검토자",</a:t>
            </a:r>
          </a:p>
          <a:p xmlns:a="http://schemas.openxmlformats.org/drawingml/2006/main">
            <a:r>
              <a:t>        "detail": "근거·누락 항목·서식 초안의 담당자 검토",</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"지침·증빙 기록",</a:t>
            </a:r>
          </a:p>
          <a:p xmlns:a="http://schemas.openxmlformats.org/drawingml/2006/main">
            <a:r>
              <a:t>        "detail": "법규·부처 지침·거래증빙의 판본 연결",</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"오분류·증빙 누락과 검토 결과 추적",</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"부처 지침·집행자료",</a:t>
            </a:r>
          </a:p>
          <a:p xmlns:a="http://schemas.openxmlformats.org/drawingml/2006/main">
            <a:r>
              <a:t>        "input": "부처·사업·협약기간·집행항목 확인",</a:t>
            </a:r>
          </a:p>
          <a:p xmlns:a="http://schemas.openxmlformats.org/drawingml/2006/main">
            <a:r>
              <a:t>        "process": "법규·부처 지침·거래증빙의 판본 연결",</a:t>
            </a:r>
          </a:p>
          <a:p xmlns:a="http://schemas.openxmlformats.org/drawingml/2006/main">
            <a:r>
              <a:t>        "output": "집행 내역"</a:t>
            </a:r>
          </a:p>
          <a:p xmlns:a="http://schemas.openxmlformats.org/drawingml/2006/main">
            <a:r>
              <a:t>      },</a:t>
            </a:r>
          </a:p>
          <a:p xmlns:a="http://schemas.openxmlformats.org/drawingml/2006/main">
            <a:r>
              <a:t>      {</a:t>
            </a:r>
          </a:p>
          <a:p xmlns:a="http://schemas.openxmlformats.org/drawingml/2006/main">
            <a:r>
              <a:t>        "title": "규정 질의",</a:t>
            </a:r>
          </a:p>
          <a:p xmlns:a="http://schemas.openxmlformats.org/drawingml/2006/main">
            <a:r>
              <a:t>        "input": "집행 내역",</a:t>
            </a:r>
          </a:p>
          <a:p xmlns:a="http://schemas.openxmlformats.org/drawingml/2006/main">
            <a:r>
              <a:t>        "process": "규정 검색과 집행 항목의 조건 비교",</a:t>
            </a:r>
          </a:p>
          <a:p xmlns:a="http://schemas.openxmlformats.org/drawingml/2006/main">
            <a:r>
              <a:t>        "output": "적용 규정"</a:t>
            </a:r>
          </a:p>
          <a:p xmlns:a="http://schemas.openxmlformats.org/drawingml/2006/main">
            <a:r>
              <a:t>      },</a:t>
            </a:r>
          </a:p>
          <a:p xmlns:a="http://schemas.openxmlformats.org/drawingml/2006/main">
            <a:r>
              <a:t>      {</a:t>
            </a:r>
          </a:p>
          <a:p xmlns:a="http://schemas.openxmlformats.org/drawingml/2006/main">
            <a:r>
              <a:t>        "title": "서식·증빙 정리",</a:t>
            </a:r>
          </a:p>
          <a:p xmlns:a="http://schemas.openxmlformats.org/drawingml/2006/main">
            <a:r>
              <a:t>        "input": "적용 규정",</a:t>
            </a:r>
          </a:p>
          <a:p xmlns:a="http://schemas.openxmlformats.org/drawingml/2006/main">
            <a:r>
              <a:t>        "process": "사업·판본별 의무와 예외 대사",</a:t>
            </a:r>
          </a:p>
          <a:p xmlns:a="http://schemas.openxmlformats.org/drawingml/2006/main">
            <a:r>
              <a:t>        "output": "서식·증빙 목록"</a:t>
            </a:r>
          </a:p>
          <a:p xmlns:a="http://schemas.openxmlformats.org/drawingml/2006/main">
            <a:r>
              <a:t>      },</a:t>
            </a:r>
          </a:p>
          <a:p xmlns:a="http://schemas.openxmlformats.org/drawingml/2006/main">
            <a:r>
              <a:t>      {</a:t>
            </a:r>
          </a:p>
          <a:p xmlns:a="http://schemas.openxmlformats.org/drawingml/2006/main">
            <a:r>
              <a:t>        "title": "연구자·기관 검토",</a:t>
            </a:r>
          </a:p>
          <a:p xmlns:a="http://schemas.openxmlformats.org/drawingml/2006/main">
            <a:r>
              <a:t>        "input": "서식·증빙 목록",</a:t>
            </a:r>
          </a:p>
          <a:p xmlns:a="http://schemas.openxmlformats.org/drawingml/2006/main">
            <a:r>
              <a:t>        "process": "근거·누락 항목·서식 초안의 담당자 검토",</a:t>
            </a:r>
          </a:p>
          <a:p xmlns:a="http://schemas.openxmlformats.org/drawingml/2006/main">
            <a:r>
              <a:t>        "output": "보완·검토 결과"</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"부처·사업·협약기간에 맞는 집행 조건과 증빙 확인",</a:t>
            </a:r>
          </a:p>
          <a:p xmlns:a="http://schemas.openxmlformats.org/drawingml/2006/main">
            <a:r>
              <a:t>      "exception": "다른 부처 지침·기간 외 거래·중복 집행 증빙",</a:t>
            </a:r>
          </a:p>
          <a:p xmlns:a="http://schemas.openxmlformats.org/drawingml/2006/main">
            <a:r>
              <a:t>      "evidence": "요건·거래·증빙·검토자 연결표와 누락 검출 결과",</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"과제 수행자·연구관리 담당",</a:t>
            </a:r>
          </a:p>
          <a:p xmlns:a="http://schemas.openxmlformats.org/drawingml/2006/main">
            <a:r>
              <a:t>          "processing": "부처·사업·협약기간·집행항목 확인",</a:t>
            </a:r>
          </a:p>
          <a:p xmlns:a="http://schemas.openxmlformats.org/drawingml/2006/main">
            <a:r>
              <a:t>          "output": "집행 내역"</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"지침·증빙 기록",</a:t>
            </a:r>
          </a:p>
          <a:p xmlns:a="http://schemas.openxmlformats.org/drawingml/2006/main">
            <a:r>
              <a:t>          "processing": "법규·부처 지침·거래증빙의 판본 연결",</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"집행 내역",</a:t>
            </a:r>
          </a:p>
          <a:p xmlns:a="http://schemas.openxmlformats.org/drawingml/2006/main">
            <a:r>
              <a:t>          "processing": "규정 검색과 집행 항목의 조건 비교",</a:t>
            </a:r>
          </a:p>
          <a:p xmlns:a="http://schemas.openxmlformats.org/drawingml/2006/main">
            <a:r>
              <a:t>          "output": "서식·증빙 목록"</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"서식·증빙 목록",</a:t>
            </a:r>
          </a:p>
          <a:p xmlns:a="http://schemas.openxmlformats.org/drawingml/2006/main">
            <a:r>
              <a:t>          "processing": "근거·누락 항목·서식 초안의 담당자 검토",</a:t>
            </a:r>
          </a:p>
          <a:p xmlns:a="http://schemas.openxmlformats.org/drawingml/2006/main">
            <a:r>
              <a:t>          "output": "보완·검토 결과"</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"오분류·증빙 누락과 검토 결과 추적",</a:t>
            </a:r>
          </a:p>
          <a:p xmlns:a="http://schemas.openxmlformats.org/drawingml/2006/main">
            <a:r>
              <a:t>          "output": "요건·거래·증빙·검토자 연결표와 누락 검출 결과"</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"오분류·증빙 누락과 검토 결과 추적",</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"S-AX24",</a:t>
            </a:r>
          </a:p>
          <a:p xmlns:a="http://schemas.openxmlformats.org/drawingml/2006/main">
            <a:r>
              <a:t>        "title": "국가 R&amp;D 사업비 Risk 지원 · 공공AI 사례집 193–194쪽",</a:t>
            </a:r>
          </a:p>
          <a:p xmlns:a="http://schemas.openxmlformats.org/drawingml/2006/main">
            <a:r>
              <a:t>        "url": "https://bigdata.dongjak.go.kr/board/viewArticle?articleNo=954&amp;boardId=4",</a:t>
            </a:r>
          </a:p>
          <a:p xmlns:a="http://schemas.openxmlformats.org/drawingml/2006/main">
            <a:r>
              <a:t>        "published": "2024 개발 사례",</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"부처별 지침·증빙·검토 책임의 연결",</a:t>
            </a:r>
          </a:p>
          <a:p xmlns:a="http://schemas.openxmlformats.org/drawingml/2006/main">
            <a:r>
              <a:t>    "local": "민간 AI PMS와 TS 기관 내부 업무를 역할별 분리",</a:t>
            </a:r>
          </a:p>
          <a:p xmlns:a="http://schemas.openxmlformats.org/drawingml/2006/main">
            <a:r>
              <a:t>    "sourceDetail": null,</a:t>
            </a:r>
          </a:p>
          <a:p xmlns:a="http://schemas.openxmlformats.org/drawingml/2006/main">
            <a:r>
              <a:t>    "narrative": [</a:t>
            </a:r>
          </a:p>
          <a:p xmlns:a="http://schemas.openxmlformats.org/drawingml/2006/main">
            <a:r>
              <a:t>      "연구비 집행 자료와 부처·사업별 지침을 연결해 상담·증빙·서식 작성을 지원하는 사례. 같은 지출 항목도 사업·협약연도에 따라 적용 기준이 다른 업무.",</a:t>
            </a:r>
          </a:p>
          <a:p xmlns:a="http://schemas.openxmlformats.org/drawingml/2006/main">
            <a:r>
              <a:t>      "부처·사업·협약기간·집행항목을 먼저 식별하고 해당 판본의 규정과 거래증빙을 대조하는 재구성. 누락 서류·예외 조건·서식 초안을 담당 검토자에게 전달하는 흐름.",</a:t>
            </a:r>
          </a:p>
          <a:p xmlns:a="http://schemas.openxmlformats.org/drawingml/2006/main">
            <a:r>
              <a:t>      "CCK AI PMS에 적용할 경우 지침 검색·양식 재사용과 적정 집행 판단을 분리. 사업 변경·연차 차이·증빙 누락 시험을 수행하고 요구사항·검수·제출 증빙의 추적에 연결할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"연구비 질의",</a:t>
            </a:r>
          </a:p>
          <a:p xmlns:a="http://schemas.openxmlformats.org/drawingml/2006/main">
            <a:r>
              <a:t>          "layer": "이용 접점",</a:t>
            </a:r>
          </a:p>
          <a:p xmlns:a="http://schemas.openxmlformats.org/drawingml/2006/main">
            <a:r>
              <a:t>          "detail": "과제 수행자·연구관리 담당",</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"사업·협약·항목",</a:t>
            </a:r>
          </a:p>
          <a:p xmlns:a="http://schemas.openxmlformats.org/drawingml/2006/main">
            <a:r>
              <a:t>          "layer": "업무 문맥",</a:t>
            </a:r>
          </a:p>
          <a:p xmlns:a="http://schemas.openxmlformats.org/drawingml/2006/main">
            <a:r>
              <a:t>          "detail": "부처·사업·협약기간·집행항목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"규정·증빙 조회",</a:t>
            </a:r>
          </a:p>
          <a:p xmlns:a="http://schemas.openxmlformats.org/drawingml/2006/main">
            <a:r>
              <a:t>          "layer": "자료 조회",</a:t>
            </a:r>
          </a:p>
          <a:p xmlns:a="http://schemas.openxmlformats.org/drawingml/2006/main">
            <a:r>
              <a:t>          "detail": "집행 내역",</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"조건 비교·서식",</a:t>
            </a:r>
          </a:p>
          <a:p xmlns:a="http://schemas.openxmlformats.org/drawingml/2006/main">
            <a:r>
              <a:t>          "layer": "핵심 처리",</a:t>
            </a:r>
          </a:p>
          <a:p xmlns:a="http://schemas.openxmlformats.org/drawingml/2006/main">
            <a:r>
              <a:t>          "detail": "규정 검색과 집행 항목의 조건 비교",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"판본·누락 검사",</a:t>
            </a:r>
          </a:p>
          <a:p xmlns:a="http://schemas.openxmlformats.org/drawingml/2006/main">
            <a:r>
              <a:t>          "layer": "결과 검증",</a:t>
            </a:r>
          </a:p>
          <a:p xmlns:a="http://schemas.openxmlformats.org/drawingml/2006/main">
            <a:r>
              <a:t>          "detail": "사업·판본별 의무와 예외 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"기관 검토자 확인",</a:t>
            </a:r>
          </a:p>
          <a:p xmlns:a="http://schemas.openxmlformats.org/drawingml/2006/main">
            <a:r>
              <a:t>          "layer": "사람 확인",</a:t>
            </a:r>
          </a:p>
          <a:p xmlns:a="http://schemas.openxmlformats.org/drawingml/2006/main">
            <a:r>
              <a:t>          "detail": "부처·사업·협약기간에 맞는 집행 조건과 증빙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"보완·집행 검토",</a:t>
            </a:r>
          </a:p>
          <a:p xmlns:a="http://schemas.openxmlformats.org/drawingml/2006/main">
            <a:r>
              <a:t>          "layer": "업무 연결",</a:t>
            </a:r>
          </a:p>
          <a:p xmlns:a="http://schemas.openxmlformats.org/drawingml/2006/main">
            <a:r>
              <a:t>          "detail": "근거·누락 항목·서식 초안의 담당자 검토",</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"오분류 추적",</a:t>
            </a:r>
          </a:p>
          <a:p xmlns:a="http://schemas.openxmlformats.org/drawingml/2006/main">
            <a:r>
              <a:t>          "layer": "운영 관측",</a:t>
            </a:r>
          </a:p>
          <a:p xmlns:a="http://schemas.openxmlformats.org/drawingml/2006/main">
            <a:r>
              <a:t>          "detail": "오분류·증빙 누락과 검토 결과 추적",</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"지침·거래 증빙",</a:t>
            </a:r>
          </a:p>
          <a:p xmlns:a="http://schemas.openxmlformats.org/drawingml/2006/main">
            <a:r>
              <a:t>          "layer": "데이터 원천",</a:t>
            </a:r>
          </a:p>
          <a:p xmlns:a="http://schemas.openxmlformats.org/drawingml/2006/main">
            <a:r>
              <a:t>          "detail": "지침·증빙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"판본·항목 연결",</a:t>
            </a:r>
          </a:p>
          <a:p xmlns:a="http://schemas.openxmlformats.org/drawingml/2006/main">
            <a:r>
              <a:t>          "layer": "준비·갱신",</a:t>
            </a:r>
          </a:p>
          <a:p xmlns:a="http://schemas.openxmlformats.org/drawingml/2006/main">
            <a:r>
              <a:t>          "detail": "법규·부처 지침·거래증빙의 판본 연결",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"집행·근거 기록",</a:t>
            </a:r>
          </a:p>
          <a:p xmlns:a="http://schemas.openxmlformats.org/drawingml/2006/main">
            <a:r>
              <a:t>          "layer": "상태·지식 저장",</a:t>
            </a:r>
          </a:p>
          <a:p xmlns:a="http://schemas.openxmlformats.org/drawingml/2006/main">
            <a:r>
              <a:t>          "detail": "요건·거래·증빙·검토자 연결표와 누락 검출 결과",</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"사업별 집행 기준",</a:t>
            </a:r>
          </a:p>
          <a:p xmlns:a="http://schemas.openxmlformats.org/drawingml/2006/main">
            <a:r>
              <a:t>          "layer": "권한·정책",</a:t>
            </a:r>
          </a:p>
          <a:p xmlns:a="http://schemas.openxmlformats.org/drawingml/2006/main">
            <a:r>
              <a:t>          "detail": "다른 부처 지침·기간 외 거래·중복 집행 증빙",</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"부처 지침·집행자료 → 규정 질의 → 서식·증빙 정리 → 연구자·기관 검토"</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"지침·증빙 기록",</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"서식·증빙 목록",</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"적용 규정",</a:t>
            </a:r>
          </a:p>
          <a:p xmlns:a="http://schemas.openxmlformats.org/drawingml/2006/main">
            <a:r>
              <a:t>          "check": "법규·부처 지침·거래증빙의 판본 연결"</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"서식·증빙 목록",</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"보완·검토 결과",</a:t>
            </a:r>
          </a:p>
          <a:p xmlns:a="http://schemas.openxmlformats.org/drawingml/2006/main">
            <a:r>
              <a:t>          "check": "요건·거래·증빙·검토자 연결표와 누락 검출 결과"</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"R&amp;D 사업비 문의와 증빙 정리 지원 / 규정 상담·집행자료·서식 생성",</a:t>
            </a:r>
          </a:p>
          <a:p xmlns:a="http://schemas.openxmlformats.org/drawingml/2006/main">
            <a:r>
              <a:t>        "extension": "민간 AI PMS와 TS 기관 내부 업무를 역할별 분리"</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"다른 부처 지침·기간 외 거래·중복 집행 증빙",</a:t>
            </a:r>
          </a:p>
          <a:p xmlns:a="http://schemas.openxmlformats.org/drawingml/2006/main">
            <a:r>
              <a:t>        "hold": "사업·판본별 의무와 예외 대사",</a:t>
            </a:r>
          </a:p>
          <a:p xmlns:a="http://schemas.openxmlformats.org/drawingml/2006/main">
            <a:r>
              <a:t>        "recovery": "오분류·증빙 누락과 검토 결과 추적",</a:t>
            </a:r>
          </a:p>
          <a:p xmlns:a="http://schemas.openxmlformats.org/drawingml/2006/main">
            <a:r>
              <a:t>        "evidence": "요건·거래·증빙·검토자 연결표와 누락 검출 결과"</a:t>
            </a:r>
          </a:p>
          <a:p xmlns:a="http://schemas.openxmlformats.org/drawingml/2006/main">
            <a:r>
              <a:t>      },</a:t>
            </a:r>
          </a:p>
          <a:p xmlns:a="http://schemas.openxmlformats.org/drawingml/2006/main">
            <a:r>
              <a:t>      "data": {</a:t>
            </a:r>
          </a:p>
          <a:p xmlns:a="http://schemas.openxmlformats.org/drawingml/2006/main">
            <a:r>
              <a:t>        "source": "지침·증빙 기록",</a:t>
            </a:r>
          </a:p>
          <a:p xmlns:a="http://schemas.openxmlformats.org/drawingml/2006/main">
            <a:r>
              <a:t>        "prepare": "법규·부처 지침·거래증빙의 판본 연결",</a:t>
            </a:r>
          </a:p>
          <a:p xmlns:a="http://schemas.openxmlformats.org/drawingml/2006/main">
            <a:r>
              <a:t>        "output": "집행 내역",</a:t>
            </a:r>
          </a:p>
          <a:p xmlns:a="http://schemas.openxmlformats.org/drawingml/2006/main">
            <a:r>
              <a:t>        "refresh": "오분류·증빙 누락과 검토 결과 추적"</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"AX24",</a:t>
            </a:r>
          </a:p>
          <a:p xmlns:a="http://schemas.openxmlformats.org/drawingml/2006/main">
            <a:r>
              <a:t>    "success": [</a:t>
            </a:r>
          </a:p>
          <a:p xmlns:a="http://schemas.openxmlformats.org/drawingml/2006/main">
            <a:r>
              <a:t>      "부처 지침과 집행 자료 연결",</a:t>
            </a:r>
          </a:p>
          <a:p xmlns:a="http://schemas.openxmlformats.org/drawingml/2006/main">
            <a:r>
              <a:t>      "서식·증빙을 검토 과정에 결합"</a:t>
            </a:r>
          </a:p>
          <a:p xmlns:a="http://schemas.openxmlformats.org/drawingml/2006/main">
            <a:r>
              <a:t>    ],</a:t>
            </a:r>
          </a:p>
          <a:p xmlns:a="http://schemas.openxmlformats.org/drawingml/2006/main">
            <a:r>
              <a:t>    "risks": [</a:t>
            </a:r>
          </a:p>
          <a:p xmlns:a="http://schemas.openxmlformats.org/drawingml/2006/main">
            <a:r>
              <a:t>      "부처·연차별 집행기준 혼용",</a:t>
            </a:r>
          </a:p>
          <a:p xmlns:a="http://schemas.openxmlformats.org/drawingml/2006/main">
            <a:r>
              <a:t>      "서식 생성과 적정 집행 판정의 혼동"</a:t>
            </a:r>
          </a:p>
          <a:p xmlns:a="http://schemas.openxmlformats.org/drawingml/2006/main">
            <a:r>
              <a:t>    ],</a:t>
            </a:r>
          </a:p>
          <a:p xmlns:a="http://schemas.openxmlformats.org/drawingml/2006/main">
            <a:r>
              <a:t>    "architecture": [</a:t>
            </a:r>
          </a:p>
          <a:p xmlns:a="http://schemas.openxmlformats.org/drawingml/2006/main">
            <a:r>
              <a:t>      "연구비 집행 자료",</a:t>
            </a:r>
          </a:p>
          <a:p xmlns:a="http://schemas.openxmlformats.org/drawingml/2006/main">
            <a:r>
              <a:t>      "규정 검색·서식 구성",</a:t>
            </a:r>
          </a:p>
          <a:p xmlns:a="http://schemas.openxmlformats.org/drawingml/2006/main">
            <a:r>
              <a:t>      "지침·증빙 기록",</a:t>
            </a:r>
          </a:p>
          <a:p xmlns:a="http://schemas.openxmlformats.org/drawingml/2006/main">
            <a:r>
              <a:t>      "연구자·기관 검토자"</a:t>
            </a:r>
          </a:p>
          <a:p xmlns:a="http://schemas.openxmlformats.org/drawingml/2006/main">
            <a:r>
              <a:t>    ],</a:t>
            </a:r>
          </a:p>
          <a:p xmlns:a="http://schemas.openxmlformats.org/drawingml/2006/main">
            <a:r>
              <a:t>    "transfers": [</a:t>
            </a:r>
          </a:p>
          <a:p xmlns:a="http://schemas.openxmlformats.org/drawingml/2006/main">
            <a:r>
              <a:t>      "집행 내역",</a:t>
            </a:r>
          </a:p>
          <a:p xmlns:a="http://schemas.openxmlformats.org/drawingml/2006/main">
            <a:r>
              <a:t>      "적용 규정",</a:t>
            </a:r>
          </a:p>
          <a:p xmlns:a="http://schemas.openxmlformats.org/drawingml/2006/main">
            <a:r>
              <a:t>      "서식·증빙 목록",</a:t>
            </a:r>
          </a:p>
          <a:p xmlns:a="http://schemas.openxmlformats.org/drawingml/2006/main">
            <a:r>
              <a:t>      "보완·검토 결과"</a:t>
            </a:r>
          </a:p>
          <a:p xmlns:a="http://schemas.openxmlformats.org/drawingml/2006/main">
            <a:r>
              <a:t>    ],</a:t>
            </a:r>
          </a:p>
          <a:p xmlns:a="http://schemas.openxmlformats.org/drawingml/2006/main">
            <a:r>
              <a:t>    "control": "사업·판본별 의무와 예외 대사",</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국가 R&amp;D 사업비 Risk 지원 · 공공AI 사례집 193–194쪽 https://bigdata.dongjak.go.kr/board/viewArticle?articleNo=954&amp;boardId=4</a:t>
            </a:r>
          </a:p>
          <a:p xmlns:a="http://schemas.openxmlformats.org/drawingml/2006/main">
            <a:r>
              <a:t>홈페이지 https://heen1987-ops.github.io/TS-business-Plan-001/index.html?view=casebook&amp;case=AX24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"AX25",</a:t>
            </a:r>
          </a:p>
          <a:p xmlns:a="http://schemas.openxmlformats.org/drawingml/2006/main">
            <a:r>
              <a:t>    "title": "조달청 e-제안요청 도움",</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"RFP 초안 작성 지원",</a:t>
            </a:r>
          </a:p>
          <a:p xmlns:a="http://schemas.openxmlformats.org/drawingml/2006/main">
            <a:r>
              <a:t>    "period": "2023 PoC / 2024 고도화",</a:t>
            </a:r>
          </a:p>
          <a:p xmlns:a="http://schemas.openxmlformats.org/drawingml/2006/main">
            <a:r>
              <a:t>    "sources": [</a:t>
            </a:r>
          </a:p>
          <a:p xmlns:a="http://schemas.openxmlformats.org/drawingml/2006/main">
            <a:r>
              <a:t>      "S-AX25"</a:t>
            </a:r>
          </a:p>
          <a:p xmlns:a="http://schemas.openxmlformats.org/drawingml/2006/main">
            <a:r>
              <a:t>    ],</a:t>
            </a:r>
          </a:p>
          <a:p xmlns:a="http://schemas.openxmlformats.org/drawingml/2006/main">
            <a:r>
              <a:t>    "keywords": [</a:t>
            </a:r>
          </a:p>
          <a:p xmlns:a="http://schemas.openxmlformats.org/drawingml/2006/main">
            <a:r>
              <a:t>      "RFP 초안 작성 지원"</a:t>
            </a:r>
          </a:p>
          <a:p xmlns:a="http://schemas.openxmlformats.org/drawingml/2006/main">
            <a:r>
              <a:t>    ],</a:t>
            </a:r>
          </a:p>
          <a:p xmlns:a="http://schemas.openxmlformats.org/drawingml/2006/main">
            <a:r>
              <a:t>    "fact": "제안요청서 목차별 초안 생성과 키워드 추출·사용자 검증을 결합한 실증 고도화",</a:t>
            </a:r>
          </a:p>
          <a:p xmlns:a="http://schemas.openxmlformats.org/drawingml/2006/main">
            <a:r>
              <a:t>    "limit": "작성 지원 범위 · 요구사항·예산의 자동 승인과 구분",</a:t>
            </a:r>
          </a:p>
          <a:p xmlns:a="http://schemas.openxmlformats.org/drawingml/2006/main">
            <a:r>
              <a:t>    "flow": [</a:t>
            </a:r>
          </a:p>
          <a:p xmlns:a="http://schemas.openxmlformats.org/drawingml/2006/main">
            <a:r>
              <a:t>      "기존 RFP",</a:t>
            </a:r>
          </a:p>
          <a:p xmlns:a="http://schemas.openxmlformats.org/drawingml/2006/main">
            <a:r>
              <a:t>      "목차·키워드 추출",</a:t>
            </a:r>
          </a:p>
          <a:p xmlns:a="http://schemas.openxmlformats.org/drawingml/2006/main">
            <a:r>
              <a:t>      "담당자 검증",</a:t>
            </a:r>
          </a:p>
          <a:p xmlns:a="http://schemas.openxmlformats.org/drawingml/2006/main">
            <a:r>
              <a:t>      "초안 구성"</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"추출 근거 검증을 초안 작성 앞단에 배치",</a:t>
            </a:r>
          </a:p>
          <a:p xmlns:a="http://schemas.openxmlformats.org/drawingml/2006/main">
            <a:r>
              <a:t>    "local": "TS 고도화의 재사용·추가 개발·검수 추적 지원",</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"요구ID·원문·산출물·검수의 누락 검사",</a:t>
            </a:r>
          </a:p>
          <a:p xmlns:a="http://schemas.openxmlformats.org/drawingml/2006/main">
            <a:r>
              <a:t>    "test": "누락·중복·상충 요구 및 근거 없는 성능 목표 탐지",</a:t>
            </a:r>
          </a:p>
          <a:p xmlns:a="http://schemas.openxmlformats.org/drawingml/2006/main">
            <a:r>
              <a:t>    "metric": "작성·보완 시간 / 추적 누락률",</a:t>
            </a:r>
          </a:p>
          <a:p xmlns:a="http://schemas.openxmlformats.org/drawingml/2006/main">
            <a:r>
              <a:t>    "strategies": [</a:t>
            </a:r>
          </a:p>
          <a:p xmlns:a="http://schemas.openxmlformats.org/drawingml/2006/main">
            <a:r>
              <a:t>      "ST-04",</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"AX25",</a:t>
            </a:r>
          </a:p>
          <a:p xmlns:a="http://schemas.openxmlformats.org/drawingml/2006/main">
            <a:r>
              <a:t>    "canonicalId": "AX25",</a:t>
            </a:r>
          </a:p>
          <a:p xmlns:a="http://schemas.openxmlformats.org/drawingml/2006/main">
            <a:r>
              <a:t>    "purpose": "공공 정보화사업 제안요청서 작성 지원",</a:t>
            </a:r>
          </a:p>
          <a:p xmlns:a="http://schemas.openxmlformats.org/drawingml/2006/main">
            <a:r>
              <a:t>    "users": "발주·사업관리 담당자",</a:t>
            </a:r>
          </a:p>
          <a:p xmlns:a="http://schemas.openxmlformats.org/drawingml/2006/main">
            <a:r>
              <a:t>    "scope": [</a:t>
            </a:r>
          </a:p>
          <a:p xmlns:a="http://schemas.openxmlformats.org/drawingml/2006/main">
            <a:r>
              <a:t>      "목차 구성",</a:t>
            </a:r>
          </a:p>
          <a:p xmlns:a="http://schemas.openxmlformats.org/drawingml/2006/main">
            <a:r>
              <a:t>      "요구 초안",</a:t>
            </a:r>
          </a:p>
          <a:p xmlns:a="http://schemas.openxmlformats.org/drawingml/2006/main">
            <a:r>
              <a:t>      "사용자 검증"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"기존 RFP·수요",</a:t>
            </a:r>
          </a:p>
          <a:p xmlns:a="http://schemas.openxmlformats.org/drawingml/2006/main">
            <a:r>
              <a:t>        "detail": "사업 목적·범위·기존 시스템 입력",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"목차 구성 / 요구 초안 / 사용자 검증",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"목차·키워드 분석",</a:t>
            </a:r>
          </a:p>
          <a:p xmlns:a="http://schemas.openxmlformats.org/drawingml/2006/main">
            <a:r>
              <a:t>        "detail": "키워드 추출과 목차별 요구사항 초안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"발주 담당자",</a:t>
            </a:r>
          </a:p>
          <a:p xmlns:a="http://schemas.openxmlformats.org/drawingml/2006/main">
            <a:r>
              <a:t>        "detail": "담당자가 범위·중복·검수 가능성을 확인",</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"요구·검수 자료",</a:t>
            </a:r>
          </a:p>
          <a:p xmlns:a="http://schemas.openxmlformats.org/drawingml/2006/main">
            <a:r>
              <a:t>        "detail": "관련 지침·양식·기존 요구사항의 출처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"수정 이력과 요구사항·검수 연결 누락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"기존 RFP",</a:t>
            </a:r>
          </a:p>
          <a:p xmlns:a="http://schemas.openxmlformats.org/drawingml/2006/main">
            <a:r>
              <a:t>        "input": "사업 목적·범위·기존 시스템 입력",</a:t>
            </a:r>
          </a:p>
          <a:p xmlns:a="http://schemas.openxmlformats.org/drawingml/2006/main">
            <a:r>
              <a:t>        "process": "관련 지침·양식·기존 요구사항의 출처 관리",</a:t>
            </a:r>
          </a:p>
          <a:p xmlns:a="http://schemas.openxmlformats.org/drawingml/2006/main">
            <a:r>
              <a:t>        "output": "기존 문서"</a:t>
            </a:r>
          </a:p>
          <a:p xmlns:a="http://schemas.openxmlformats.org/drawingml/2006/main">
            <a:r>
              <a:t>      },</a:t>
            </a:r>
          </a:p>
          <a:p xmlns:a="http://schemas.openxmlformats.org/drawingml/2006/main">
            <a:r>
              <a:t>      {</a:t>
            </a:r>
          </a:p>
          <a:p xmlns:a="http://schemas.openxmlformats.org/drawingml/2006/main">
            <a:r>
              <a:t>        "title": "목차·키워드 추출",</a:t>
            </a:r>
          </a:p>
          <a:p xmlns:a="http://schemas.openxmlformats.org/drawingml/2006/main">
            <a:r>
              <a:t>        "input": "기존 문서",</a:t>
            </a:r>
          </a:p>
          <a:p xmlns:a="http://schemas.openxmlformats.org/drawingml/2006/main">
            <a:r>
              <a:t>        "process": "키워드 추출과 목차별 요구사항 초안 생성",</a:t>
            </a:r>
          </a:p>
          <a:p xmlns:a="http://schemas.openxmlformats.org/drawingml/2006/main">
            <a:r>
              <a:t>        "output": "요구 후보"</a:t>
            </a:r>
          </a:p>
          <a:p xmlns:a="http://schemas.openxmlformats.org/drawingml/2006/main">
            <a:r>
              <a:t>      },</a:t>
            </a:r>
          </a:p>
          <a:p xmlns:a="http://schemas.openxmlformats.org/drawingml/2006/main">
            <a:r>
              <a:t>      {</a:t>
            </a:r>
          </a:p>
          <a:p xmlns:a="http://schemas.openxmlformats.org/drawingml/2006/main">
            <a:r>
              <a:t>        "title": "담당자 검증",</a:t>
            </a:r>
          </a:p>
          <a:p xmlns:a="http://schemas.openxmlformats.org/drawingml/2006/main">
            <a:r>
              <a:t>        "input": "요구 후보",</a:t>
            </a:r>
          </a:p>
          <a:p xmlns:a="http://schemas.openxmlformats.org/drawingml/2006/main">
            <a:r>
              <a:t>        "process": "사업 범위·기존 의무·검수 연결 확인",</a:t>
            </a:r>
          </a:p>
          <a:p xmlns:a="http://schemas.openxmlformats.org/drawingml/2006/main">
            <a:r>
              <a:t>        "output": "검증된 목차"</a:t>
            </a:r>
          </a:p>
          <a:p xmlns:a="http://schemas.openxmlformats.org/drawingml/2006/main">
            <a:r>
              <a:t>      },</a:t>
            </a:r>
          </a:p>
          <a:p xmlns:a="http://schemas.openxmlformats.org/drawingml/2006/main">
            <a:r>
              <a:t>      {</a:t>
            </a:r>
          </a:p>
          <a:p xmlns:a="http://schemas.openxmlformats.org/drawingml/2006/main">
            <a:r>
              <a:t>        "title": "초안 구성",</a:t>
            </a:r>
          </a:p>
          <a:p xmlns:a="http://schemas.openxmlformats.org/drawingml/2006/main">
            <a:r>
              <a:t>        "input": "검증된 목차",</a:t>
            </a:r>
          </a:p>
          <a:p xmlns:a="http://schemas.openxmlformats.org/drawingml/2006/main">
            <a:r>
              <a:t>        "process": "담당자가 범위·중복·검수 가능성을 확인",</a:t>
            </a:r>
          </a:p>
          <a:p xmlns:a="http://schemas.openxmlformats.org/drawingml/2006/main">
            <a:r>
              <a:t>        "output": "RFP 초안"</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 범위에 맞는 RFP 요구와 검수 초안 구성",</a:t>
            </a:r>
          </a:p>
          <a:p xmlns:a="http://schemas.openxmlformats.org/drawingml/2006/main">
            <a:r>
              <a:t>      "exception": "기존 계약 중복·수치 근거 부재·검수 불가능 요구",</a:t>
            </a:r>
          </a:p>
          <a:p xmlns:a="http://schemas.openxmlformats.org/drawingml/2006/main">
            <a:r>
              <a:t>      "evidence": "요구사항별 범위·출처·검수 연결 및 담당자 수정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"발주·사업관리 담당자",</a:t>
            </a:r>
          </a:p>
          <a:p xmlns:a="http://schemas.openxmlformats.org/drawingml/2006/main">
            <a:r>
              <a:t>          "processing": "사업 목적·범위·기존 시스템 입력",</a:t>
            </a:r>
          </a:p>
          <a:p xmlns:a="http://schemas.openxmlformats.org/drawingml/2006/main">
            <a:r>
              <a:t>          "output": "기존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"요구·검수 자료",</a:t>
            </a:r>
          </a:p>
          <a:p xmlns:a="http://schemas.openxmlformats.org/drawingml/2006/main">
            <a:r>
              <a:t>          "processing": "관련 지침·양식·기존 요구사항의 출처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"기존 문서",</a:t>
            </a:r>
          </a:p>
          <a:p xmlns:a="http://schemas.openxmlformats.org/drawingml/2006/main">
            <a:r>
              <a:t>          "processing": "키워드 추출과 목차별 요구사항 초안 생성",</a:t>
            </a:r>
          </a:p>
          <a:p xmlns:a="http://schemas.openxmlformats.org/drawingml/2006/main">
            <a:r>
              <a:t>          "output": "검증된 목차"</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"검증된 목차",</a:t>
            </a:r>
          </a:p>
          <a:p xmlns:a="http://schemas.openxmlformats.org/drawingml/2006/main">
            <a:r>
              <a:t>          "processing": "담당자가 범위·중복·검수 가능성을 확인",</a:t>
            </a:r>
          </a:p>
          <a:p xmlns:a="http://schemas.openxmlformats.org/drawingml/2006/main">
            <a:r>
              <a:t>          "output": "RFP 초안"</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"수정 이력과 요구사항·검수 연결 누락 검사",</a:t>
            </a:r>
          </a:p>
          <a:p xmlns:a="http://schemas.openxmlformats.org/drawingml/2006/main">
            <a:r>
              <a:t>          "output":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"수정 이력과 요구사항·검수 연결 누락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"S-AX25",</a:t>
            </a:r>
          </a:p>
          <a:p xmlns:a="http://schemas.openxmlformats.org/drawingml/2006/main">
            <a:r>
              <a:t>        "title": "조달청 e-제안요청 도움 · 공공AI 사례집 218–219쪽",</a:t>
            </a:r>
          </a:p>
          <a:p xmlns:a="http://schemas.openxmlformats.org/drawingml/2006/main">
            <a:r>
              <a:t>        "url": "https://bigdata.dongjak.go.kr/board/viewArticle?articleNo=954&amp;boardId=4",</a:t>
            </a:r>
          </a:p>
          <a:p xmlns:a="http://schemas.openxmlformats.org/drawingml/2006/main">
            <a:r>
              <a:t>        "published": "2023 PoC / 2024 고도화",</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"추출 근거 검증을 초안 작성 앞단에 배치",</a:t>
            </a:r>
          </a:p>
          <a:p xmlns:a="http://schemas.openxmlformats.org/drawingml/2006/main">
            <a:r>
              <a:t>    "local": "TS 고도화의 재사용·추가 개발·검수 추적 지원",</a:t>
            </a:r>
          </a:p>
          <a:p xmlns:a="http://schemas.openxmlformats.org/drawingml/2006/main">
            <a:r>
              <a:t>    "sourceDetail": null,</a:t>
            </a:r>
          </a:p>
          <a:p xmlns:a="http://schemas.openxmlformats.org/drawingml/2006/main">
            <a:r>
              <a:t>    "narrative": [</a:t>
            </a:r>
          </a:p>
          <a:p xmlns:a="http://schemas.openxmlformats.org/drawingml/2006/main">
            <a:r>
              <a:t>      "기존 RFP와 사업 수요를 분석해 목차·키워드·요구사항 초안을 만드는 지원 사례. 과거 문서를 재활용하면서 신규 범위와 기존 의무의 중복을 피하는 작업이 핵심.",</a:t>
            </a:r>
          </a:p>
          <a:p xmlns:a="http://schemas.openxmlformats.org/drawingml/2006/main">
            <a:r>
              <a:t>      "사업 목적·현재 시스템·추가 개발 범위를 입력하고 목차별 요구 후보를 구성하는 재구성. 담당자가 출처·누락·중복·검수 가능성을 확인한 뒤 요구 ID와 시험 항목을 연결.",</a:t>
            </a:r>
          </a:p>
          <a:p xmlns:a="http://schemas.openxmlformats.org/drawingml/2006/main">
            <a:r>
              <a:t>      "CCK 제안·사업관리 스킬에서는 문서 생성보다 근거와 요구·검수의 추적을 공통 기능으로 활용. 기존 과업 복사, 빈 검수기준, 법령 판본 혼용을 포함한 검토 시나리오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"RFP 작성 요청",</a:t>
            </a:r>
          </a:p>
          <a:p xmlns:a="http://schemas.openxmlformats.org/drawingml/2006/main">
            <a:r>
              <a:t>          "layer": "이용 접점",</a:t>
            </a:r>
          </a:p>
          <a:p xmlns:a="http://schemas.openxmlformats.org/drawingml/2006/main">
            <a:r>
              <a:t>          "detail": "발주·사업관리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"목적·범위·기존",</a:t>
            </a:r>
          </a:p>
          <a:p xmlns:a="http://schemas.openxmlformats.org/drawingml/2006/main">
            <a:r>
              <a:t>          "layer": "업무 문맥",</a:t>
            </a:r>
          </a:p>
          <a:p xmlns:a="http://schemas.openxmlformats.org/drawingml/2006/main">
            <a:r>
              <a:t>          "detail": "사업 목적·범위·기존 시스템 입력",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"지침·요구 조회",</a:t>
            </a:r>
          </a:p>
          <a:p xmlns:a="http://schemas.openxmlformats.org/drawingml/2006/main">
            <a:r>
              <a:t>          "layer": "자료 조회",</a:t>
            </a:r>
          </a:p>
          <a:p xmlns:a="http://schemas.openxmlformats.org/drawingml/2006/main">
            <a:r>
              <a:t>          "detail": "기존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"목차·초안 생성",</a:t>
            </a:r>
          </a:p>
          <a:p xmlns:a="http://schemas.openxmlformats.org/drawingml/2006/main">
            <a:r>
              <a:t>          "layer": "핵심 처리",</a:t>
            </a:r>
          </a:p>
          <a:p xmlns:a="http://schemas.openxmlformats.org/drawingml/2006/main">
            <a:r>
              <a:t>          "detail": "키워드 추출과 목차별 요구사항 초안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"중복·누락 대조",</a:t>
            </a:r>
          </a:p>
          <a:p xmlns:a="http://schemas.openxmlformats.org/drawingml/2006/main">
            <a:r>
              <a:t>          "layer": "결과 검증",</a:t>
            </a:r>
          </a:p>
          <a:p xmlns:a="http://schemas.openxmlformats.org/drawingml/2006/main">
            <a:r>
              <a:t>          "detail": "사업 범위·기존 의무·검수 연결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"발주 담당 검토",</a:t>
            </a:r>
          </a:p>
          <a:p xmlns:a="http://schemas.openxmlformats.org/drawingml/2006/main">
            <a:r>
              <a:t>          "layer": "사람 확인",</a:t>
            </a:r>
          </a:p>
          <a:p xmlns:a="http://schemas.openxmlformats.org/drawingml/2006/main">
            <a:r>
              <a:t>          "detail": "사업 범위에 맞는 RFP 요구와 검수 초안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"요구·검수 명세",</a:t>
            </a:r>
          </a:p>
          <a:p xmlns:a="http://schemas.openxmlformats.org/drawingml/2006/main">
            <a:r>
              <a:t>          "layer": "업무 연결",</a:t>
            </a:r>
          </a:p>
          <a:p xmlns:a="http://schemas.openxmlformats.org/drawingml/2006/main">
            <a:r>
              <a:t>          "detail": "담당자가 범위·중복·검수 가능성을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"변경 추적",</a:t>
            </a:r>
          </a:p>
          <a:p xmlns:a="http://schemas.openxmlformats.org/drawingml/2006/main">
            <a:r>
              <a:t>          "layer": "운영 관측",</a:t>
            </a:r>
          </a:p>
          <a:p xmlns:a="http://schemas.openxmlformats.org/drawingml/2006/main">
            <a:r>
              <a:t>          "detail": "수정 이력과 요구사항·검수 연결 누락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"기존 RFP·수요",</a:t>
            </a:r>
          </a:p>
          <a:p xmlns:a="http://schemas.openxmlformats.org/drawingml/2006/main">
            <a:r>
              <a:t>          "layer": "데이터 원천",</a:t>
            </a:r>
          </a:p>
          <a:p xmlns:a="http://schemas.openxmlformats.org/drawingml/2006/main">
            <a:r>
              <a:t>          "detail": "요구·검수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"목차·ID 구조화",</a:t>
            </a:r>
          </a:p>
          <a:p xmlns:a="http://schemas.openxmlformats.org/drawingml/2006/main">
            <a:r>
              <a:t>          "layer": "준비·갱신",</a:t>
            </a:r>
          </a:p>
          <a:p xmlns:a="http://schemas.openxmlformats.org/drawingml/2006/main">
            <a:r>
              <a:t>          "detail": "관련 지침·양식·기존 요구사항의 출처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"요구·검수 원장",</a:t>
            </a:r>
          </a:p>
          <a:p xmlns:a="http://schemas.openxmlformats.org/drawingml/2006/main">
            <a:r>
              <a:t>          "layer": "상태·지식 저장",</a:t>
            </a:r>
          </a:p>
          <a:p xmlns:a="http://schemas.openxmlformats.org/drawingml/2006/main">
            <a:r>
              <a:t>          "detail": "요구사항별 범위·출처·검수 연결 및 담당자 수정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"기존 의무·범위",</a:t>
            </a:r>
          </a:p>
          <a:p xmlns:a="http://schemas.openxmlformats.org/drawingml/2006/main">
            <a:r>
              <a:t>          "layer": "권한·정책",</a:t>
            </a:r>
          </a:p>
          <a:p xmlns:a="http://schemas.openxmlformats.org/drawingml/2006/main">
            <a:r>
              <a:t>          "detail": "기존 계약 중복·수치 근거 부재·검수 불가능 요구",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"기존 RFP → 목차·키워드 추출 → 담당자 검증 → 초안 구성"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"요구·검수 자료",</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"검증된 목차",</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"요구 후보",</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"검증된 목차",</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"RFP 초안",</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 정보화사업 제안요청서 작성 지원 / 목차 구성·요구 초안·사용자 검증",</a:t>
            </a:r>
          </a:p>
          <a:p xmlns:a="http://schemas.openxmlformats.org/drawingml/2006/main">
            <a:r>
              <a:t>        "extension": "TS 고도화의 재사용·추가 개발·검수 추적 지원"</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"기존 계약 중복·수치 근거 부재·검수 불가능 요구",</a:t>
            </a:r>
          </a:p>
          <a:p xmlns:a="http://schemas.openxmlformats.org/drawingml/2006/main">
            <a:r>
              <a:t>        "hold": "사업 범위·기존 의무·검수 연결 확인",</a:t>
            </a:r>
          </a:p>
          <a:p xmlns:a="http://schemas.openxmlformats.org/drawingml/2006/main">
            <a:r>
              <a:t>        "recovery": "수정 이력과 요구사항·검수 연결 누락 검사",</a:t>
            </a:r>
          </a:p>
          <a:p xmlns:a="http://schemas.openxmlformats.org/drawingml/2006/main">
            <a:r>
              <a:t>        "evidence": "요구사항별 범위·출처·검수 연결 및 담당자 수정 기록"</a:t>
            </a:r>
          </a:p>
          <a:p xmlns:a="http://schemas.openxmlformats.org/drawingml/2006/main">
            <a:r>
              <a:t>      },</a:t>
            </a:r>
          </a:p>
          <a:p xmlns:a="http://schemas.openxmlformats.org/drawingml/2006/main">
            <a:r>
              <a:t>      "data": {</a:t>
            </a:r>
          </a:p>
          <a:p xmlns:a="http://schemas.openxmlformats.org/drawingml/2006/main">
            <a:r>
              <a:t>        "source": "요구·검수 자료",</a:t>
            </a:r>
          </a:p>
          <a:p xmlns:a="http://schemas.openxmlformats.org/drawingml/2006/main">
            <a:r>
              <a:t>        "prepare": "관련 지침·양식·기존 요구사항의 출처 관리",</a:t>
            </a:r>
          </a:p>
          <a:p xmlns:a="http://schemas.openxmlformats.org/drawingml/2006/main">
            <a:r>
              <a:t>        "output": "기존 문서",</a:t>
            </a:r>
          </a:p>
          <a:p xmlns:a="http://schemas.openxmlformats.org/drawingml/2006/main">
            <a:r>
              <a:t>        "refresh": "수정 이력과 요구사항·검수 연결 누락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"AX25",</a:t>
            </a:r>
          </a:p>
          <a:p xmlns:a="http://schemas.openxmlformats.org/drawingml/2006/main">
            <a:r>
              <a:t>    "success": [</a:t>
            </a:r>
          </a:p>
          <a:p xmlns:a="http://schemas.openxmlformats.org/drawingml/2006/main">
            <a:r>
              <a:t>      "RFP 목차·키워드의 구조화",</a:t>
            </a:r>
          </a:p>
          <a:p xmlns:a="http://schemas.openxmlformats.org/drawingml/2006/main">
            <a:r>
              <a:t>      "사용자 검증을 통한 초안 구성"</a:t>
            </a:r>
          </a:p>
          <a:p xmlns:a="http://schemas.openxmlformats.org/drawingml/2006/main">
            <a:r>
              <a:t>    ],</a:t>
            </a:r>
          </a:p>
          <a:p xmlns:a="http://schemas.openxmlformats.org/drawingml/2006/main">
            <a:r>
              <a:t>    "risks": [</a:t>
            </a:r>
          </a:p>
          <a:p xmlns:a="http://schemas.openxmlformats.org/drawingml/2006/main">
            <a:r>
              <a:t>      "과거 과업의 무비판적 재사용",</a:t>
            </a:r>
          </a:p>
          <a:p xmlns:a="http://schemas.openxmlformats.org/drawingml/2006/main">
            <a:r>
              <a:t>      "필수 요구·검수 항목 누락"</a:t>
            </a:r>
          </a:p>
          <a:p xmlns:a="http://schemas.openxmlformats.org/drawingml/2006/main">
            <a:r>
              <a:t>    ],</a:t>
            </a:r>
          </a:p>
          <a:p xmlns:a="http://schemas.openxmlformats.org/drawingml/2006/main">
            <a:r>
              <a:t>    "architecture": [</a:t>
            </a:r>
          </a:p>
          <a:p xmlns:a="http://schemas.openxmlformats.org/drawingml/2006/main">
            <a:r>
              <a:t>      "기존 RFP·수요",</a:t>
            </a:r>
          </a:p>
          <a:p xmlns:a="http://schemas.openxmlformats.org/drawingml/2006/main">
            <a:r>
              <a:t>      "목차·키워드 분석",</a:t>
            </a:r>
          </a:p>
          <a:p xmlns:a="http://schemas.openxmlformats.org/drawingml/2006/main">
            <a:r>
              <a:t>      "요구·검수 자료",</a:t>
            </a:r>
          </a:p>
          <a:p xmlns:a="http://schemas.openxmlformats.org/drawingml/2006/main">
            <a:r>
              <a:t>      "발주 담당자"</a:t>
            </a:r>
          </a:p>
          <a:p xmlns:a="http://schemas.openxmlformats.org/drawingml/2006/main">
            <a:r>
              <a:t>    ],</a:t>
            </a:r>
          </a:p>
          <a:p xmlns:a="http://schemas.openxmlformats.org/drawingml/2006/main">
            <a:r>
              <a:t>    "transfers": [</a:t>
            </a:r>
          </a:p>
          <a:p xmlns:a="http://schemas.openxmlformats.org/drawingml/2006/main">
            <a:r>
              <a:t>      "기존 문서",</a:t>
            </a:r>
          </a:p>
          <a:p xmlns:a="http://schemas.openxmlformats.org/drawingml/2006/main">
            <a:r>
              <a:t>      "요구 후보",</a:t>
            </a:r>
          </a:p>
          <a:p xmlns:a="http://schemas.openxmlformats.org/drawingml/2006/main">
            <a:r>
              <a:t>      "검증된 목차",</a:t>
            </a:r>
          </a:p>
          <a:p xmlns:a="http://schemas.openxmlformats.org/drawingml/2006/main">
            <a:r>
              <a:t>      "RFP 초안"</a:t>
            </a:r>
          </a:p>
          <a:p xmlns:a="http://schemas.openxmlformats.org/drawingml/2006/main">
            <a:r>
              <a:t>    ],</a:t>
            </a:r>
          </a:p>
          <a:p xmlns:a="http://schemas.openxmlformats.org/drawingml/2006/main">
            <a:r>
              <a:t>    "control": "사업 범위·기존 의무·검수 연결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조달청 e-제안요청 도움 · 공공AI 사례집 218–219쪽 https://bigdata.dongjak.go.kr/board/viewArticle?articleNo=954&amp;boardId=4</a:t>
            </a:r>
          </a:p>
          <a:p xmlns:a="http://schemas.openxmlformats.org/drawingml/2006/main">
            <a:r>
              <a:t>홈페이지 https://heen1987-ops.github.io/TS-business-Plan-001/index.html?view=casebook&amp;case=AX25</a:t>
            </a:r>
          </a:p>
          <a:p xmlns:a="http://schemas.openxmlformats.org/drawingml/2006/main">
            <a:r>
              <a:t>한계: 작성 지원 범위 · 요구사항·예산의 자동 승인과 구분</a:t>
            </a:r>
          </a:p>
          <a:p xmlns:a="http://schemas.openxmlformats.org/drawingml/2006/main">
            <a:r>
              <a:t>실패 위험: 과거 과업의 무비판적 재사용 / 필수 요구·검수 항목 누락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"AX25",</a:t>
            </a:r>
          </a:p>
          <a:p xmlns:a="http://schemas.openxmlformats.org/drawingml/2006/main">
            <a:r>
              <a:t>    "title": "조달청 e-제안요청 도움",</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"RFP 초안 작성 지원",</a:t>
            </a:r>
          </a:p>
          <a:p xmlns:a="http://schemas.openxmlformats.org/drawingml/2006/main">
            <a:r>
              <a:t>    "period": "2023 PoC / 2024 고도화",</a:t>
            </a:r>
          </a:p>
          <a:p xmlns:a="http://schemas.openxmlformats.org/drawingml/2006/main">
            <a:r>
              <a:t>    "sources": [</a:t>
            </a:r>
          </a:p>
          <a:p xmlns:a="http://schemas.openxmlformats.org/drawingml/2006/main">
            <a:r>
              <a:t>      "S-AX25"</a:t>
            </a:r>
          </a:p>
          <a:p xmlns:a="http://schemas.openxmlformats.org/drawingml/2006/main">
            <a:r>
              <a:t>    ],</a:t>
            </a:r>
          </a:p>
          <a:p xmlns:a="http://schemas.openxmlformats.org/drawingml/2006/main">
            <a:r>
              <a:t>    "keywords": [</a:t>
            </a:r>
          </a:p>
          <a:p xmlns:a="http://schemas.openxmlformats.org/drawingml/2006/main">
            <a:r>
              <a:t>      "RFP 초안 작성 지원"</a:t>
            </a:r>
          </a:p>
          <a:p xmlns:a="http://schemas.openxmlformats.org/drawingml/2006/main">
            <a:r>
              <a:t>    ],</a:t>
            </a:r>
          </a:p>
          <a:p xmlns:a="http://schemas.openxmlformats.org/drawingml/2006/main">
            <a:r>
              <a:t>    "fact": "제안요청서 목차별 초안 생성과 키워드 추출·사용자 검증을 결합한 실증 고도화",</a:t>
            </a:r>
          </a:p>
          <a:p xmlns:a="http://schemas.openxmlformats.org/drawingml/2006/main">
            <a:r>
              <a:t>    "limit": "작성 지원 범위 · 요구사항·예산의 자동 승인과 구분",</a:t>
            </a:r>
          </a:p>
          <a:p xmlns:a="http://schemas.openxmlformats.org/drawingml/2006/main">
            <a:r>
              <a:t>    "flow": [</a:t>
            </a:r>
          </a:p>
          <a:p xmlns:a="http://schemas.openxmlformats.org/drawingml/2006/main">
            <a:r>
              <a:t>      "기존 RFP",</a:t>
            </a:r>
          </a:p>
          <a:p xmlns:a="http://schemas.openxmlformats.org/drawingml/2006/main">
            <a:r>
              <a:t>      "목차·키워드 추출",</a:t>
            </a:r>
          </a:p>
          <a:p xmlns:a="http://schemas.openxmlformats.org/drawingml/2006/main">
            <a:r>
              <a:t>      "담당자 검증",</a:t>
            </a:r>
          </a:p>
          <a:p xmlns:a="http://schemas.openxmlformats.org/drawingml/2006/main">
            <a:r>
              <a:t>      "초안 구성"</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"추출 근거 검증을 초안 작성 앞단에 배치",</a:t>
            </a:r>
          </a:p>
          <a:p xmlns:a="http://schemas.openxmlformats.org/drawingml/2006/main">
            <a:r>
              <a:t>    "local": "TS 고도화의 재사용·추가 개발·검수 추적 지원",</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"요구ID·원문·산출물·검수의 누락 검사",</a:t>
            </a:r>
          </a:p>
          <a:p xmlns:a="http://schemas.openxmlformats.org/drawingml/2006/main">
            <a:r>
              <a:t>    "test": "누락·중복·상충 요구 및 근거 없는 성능 목표 탐지",</a:t>
            </a:r>
          </a:p>
          <a:p xmlns:a="http://schemas.openxmlformats.org/drawingml/2006/main">
            <a:r>
              <a:t>    "metric": "작성·보완 시간 / 추적 누락률",</a:t>
            </a:r>
          </a:p>
          <a:p xmlns:a="http://schemas.openxmlformats.org/drawingml/2006/main">
            <a:r>
              <a:t>    "strategies": [</a:t>
            </a:r>
          </a:p>
          <a:p xmlns:a="http://schemas.openxmlformats.org/drawingml/2006/main">
            <a:r>
              <a:t>      "ST-04",</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"AX25",</a:t>
            </a:r>
          </a:p>
          <a:p xmlns:a="http://schemas.openxmlformats.org/drawingml/2006/main">
            <a:r>
              <a:t>    "canonicalId": "AX25",</a:t>
            </a:r>
          </a:p>
          <a:p xmlns:a="http://schemas.openxmlformats.org/drawingml/2006/main">
            <a:r>
              <a:t>    "purpose": "공공 정보화사업 제안요청서 작성 지원",</a:t>
            </a:r>
          </a:p>
          <a:p xmlns:a="http://schemas.openxmlformats.org/drawingml/2006/main">
            <a:r>
              <a:t>    "users": "발주·사업관리 담당자",</a:t>
            </a:r>
          </a:p>
          <a:p xmlns:a="http://schemas.openxmlformats.org/drawingml/2006/main">
            <a:r>
              <a:t>    "scope": [</a:t>
            </a:r>
          </a:p>
          <a:p xmlns:a="http://schemas.openxmlformats.org/drawingml/2006/main">
            <a:r>
              <a:t>      "목차 구성",</a:t>
            </a:r>
          </a:p>
          <a:p xmlns:a="http://schemas.openxmlformats.org/drawingml/2006/main">
            <a:r>
              <a:t>      "요구 초안",</a:t>
            </a:r>
          </a:p>
          <a:p xmlns:a="http://schemas.openxmlformats.org/drawingml/2006/main">
            <a:r>
              <a:t>      "사용자 검증"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"기존 RFP·수요",</a:t>
            </a:r>
          </a:p>
          <a:p xmlns:a="http://schemas.openxmlformats.org/drawingml/2006/main">
            <a:r>
              <a:t>        "detail": "사업 목적·범위·기존 시스템 입력",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"목차 구성 / 요구 초안 / 사용자 검증",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"목차·키워드 분석",</a:t>
            </a:r>
          </a:p>
          <a:p xmlns:a="http://schemas.openxmlformats.org/drawingml/2006/main">
            <a:r>
              <a:t>        "detail": "키워드 추출과 목차별 요구사항 초안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"발주 담당자",</a:t>
            </a:r>
          </a:p>
          <a:p xmlns:a="http://schemas.openxmlformats.org/drawingml/2006/main">
            <a:r>
              <a:t>        "detail": "담당자가 범위·중복·검수 가능성을 확인",</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"요구·검수 자료",</a:t>
            </a:r>
          </a:p>
          <a:p xmlns:a="http://schemas.openxmlformats.org/drawingml/2006/main">
            <a:r>
              <a:t>        "detail": "관련 지침·양식·기존 요구사항의 출처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"수정 이력과 요구사항·검수 연결 누락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"기존 RFP",</a:t>
            </a:r>
          </a:p>
          <a:p xmlns:a="http://schemas.openxmlformats.org/drawingml/2006/main">
            <a:r>
              <a:t>        "input": "사업 목적·범위·기존 시스템 입력",</a:t>
            </a:r>
          </a:p>
          <a:p xmlns:a="http://schemas.openxmlformats.org/drawingml/2006/main">
            <a:r>
              <a:t>        "process": "관련 지침·양식·기존 요구사항의 출처 관리",</a:t>
            </a:r>
          </a:p>
          <a:p xmlns:a="http://schemas.openxmlformats.org/drawingml/2006/main">
            <a:r>
              <a:t>        "output": "기존 문서"</a:t>
            </a:r>
          </a:p>
          <a:p xmlns:a="http://schemas.openxmlformats.org/drawingml/2006/main">
            <a:r>
              <a:t>      },</a:t>
            </a:r>
          </a:p>
          <a:p xmlns:a="http://schemas.openxmlformats.org/drawingml/2006/main">
            <a:r>
              <a:t>      {</a:t>
            </a:r>
          </a:p>
          <a:p xmlns:a="http://schemas.openxmlformats.org/drawingml/2006/main">
            <a:r>
              <a:t>        "title": "목차·키워드 추출",</a:t>
            </a:r>
          </a:p>
          <a:p xmlns:a="http://schemas.openxmlformats.org/drawingml/2006/main">
            <a:r>
              <a:t>        "input": "기존 문서",</a:t>
            </a:r>
          </a:p>
          <a:p xmlns:a="http://schemas.openxmlformats.org/drawingml/2006/main">
            <a:r>
              <a:t>        "process": "키워드 추출과 목차별 요구사항 초안 생성",</a:t>
            </a:r>
          </a:p>
          <a:p xmlns:a="http://schemas.openxmlformats.org/drawingml/2006/main">
            <a:r>
              <a:t>        "output": "요구 후보"</a:t>
            </a:r>
          </a:p>
          <a:p xmlns:a="http://schemas.openxmlformats.org/drawingml/2006/main">
            <a:r>
              <a:t>      },</a:t>
            </a:r>
          </a:p>
          <a:p xmlns:a="http://schemas.openxmlformats.org/drawingml/2006/main">
            <a:r>
              <a:t>      {</a:t>
            </a:r>
          </a:p>
          <a:p xmlns:a="http://schemas.openxmlformats.org/drawingml/2006/main">
            <a:r>
              <a:t>        "title": "담당자 검증",</a:t>
            </a:r>
          </a:p>
          <a:p xmlns:a="http://schemas.openxmlformats.org/drawingml/2006/main">
            <a:r>
              <a:t>        "input": "요구 후보",</a:t>
            </a:r>
          </a:p>
          <a:p xmlns:a="http://schemas.openxmlformats.org/drawingml/2006/main">
            <a:r>
              <a:t>        "process": "사업 범위·기존 의무·검수 연결 확인",</a:t>
            </a:r>
          </a:p>
          <a:p xmlns:a="http://schemas.openxmlformats.org/drawingml/2006/main">
            <a:r>
              <a:t>        "output": "검증된 목차"</a:t>
            </a:r>
          </a:p>
          <a:p xmlns:a="http://schemas.openxmlformats.org/drawingml/2006/main">
            <a:r>
              <a:t>      },</a:t>
            </a:r>
          </a:p>
          <a:p xmlns:a="http://schemas.openxmlformats.org/drawingml/2006/main">
            <a:r>
              <a:t>      {</a:t>
            </a:r>
          </a:p>
          <a:p xmlns:a="http://schemas.openxmlformats.org/drawingml/2006/main">
            <a:r>
              <a:t>        "title": "초안 구성",</a:t>
            </a:r>
          </a:p>
          <a:p xmlns:a="http://schemas.openxmlformats.org/drawingml/2006/main">
            <a:r>
              <a:t>        "input": "검증된 목차",</a:t>
            </a:r>
          </a:p>
          <a:p xmlns:a="http://schemas.openxmlformats.org/drawingml/2006/main">
            <a:r>
              <a:t>        "process": "담당자가 범위·중복·검수 가능성을 확인",</a:t>
            </a:r>
          </a:p>
          <a:p xmlns:a="http://schemas.openxmlformats.org/drawingml/2006/main">
            <a:r>
              <a:t>        "output": "RFP 초안"</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 범위에 맞는 RFP 요구와 검수 초안 구성",</a:t>
            </a:r>
          </a:p>
          <a:p xmlns:a="http://schemas.openxmlformats.org/drawingml/2006/main">
            <a:r>
              <a:t>      "exception": "기존 계약 중복·수치 근거 부재·검수 불가능 요구",</a:t>
            </a:r>
          </a:p>
          <a:p xmlns:a="http://schemas.openxmlformats.org/drawingml/2006/main">
            <a:r>
              <a:t>      "evidence": "요구사항별 범위·출처·검수 연결 및 담당자 수정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"발주·사업관리 담당자",</a:t>
            </a:r>
          </a:p>
          <a:p xmlns:a="http://schemas.openxmlformats.org/drawingml/2006/main">
            <a:r>
              <a:t>          "processing": "사업 목적·범위·기존 시스템 입력",</a:t>
            </a:r>
          </a:p>
          <a:p xmlns:a="http://schemas.openxmlformats.org/drawingml/2006/main">
            <a:r>
              <a:t>          "output": "기존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"요구·검수 자료",</a:t>
            </a:r>
          </a:p>
          <a:p xmlns:a="http://schemas.openxmlformats.org/drawingml/2006/main">
            <a:r>
              <a:t>          "processing": "관련 지침·양식·기존 요구사항의 출처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"기존 문서",</a:t>
            </a:r>
          </a:p>
          <a:p xmlns:a="http://schemas.openxmlformats.org/drawingml/2006/main">
            <a:r>
              <a:t>          "processing": "키워드 추출과 목차별 요구사항 초안 생성",</a:t>
            </a:r>
          </a:p>
          <a:p xmlns:a="http://schemas.openxmlformats.org/drawingml/2006/main">
            <a:r>
              <a:t>          "output": "검증된 목차"</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"검증된 목차",</a:t>
            </a:r>
          </a:p>
          <a:p xmlns:a="http://schemas.openxmlformats.org/drawingml/2006/main">
            <a:r>
              <a:t>          "processing": "담당자가 범위·중복·검수 가능성을 확인",</a:t>
            </a:r>
          </a:p>
          <a:p xmlns:a="http://schemas.openxmlformats.org/drawingml/2006/main">
            <a:r>
              <a:t>          "output": "RFP 초안"</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"수정 이력과 요구사항·검수 연결 누락 검사",</a:t>
            </a:r>
          </a:p>
          <a:p xmlns:a="http://schemas.openxmlformats.org/drawingml/2006/main">
            <a:r>
              <a:t>          "output":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"수정 이력과 요구사항·검수 연결 누락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"S-AX25",</a:t>
            </a:r>
          </a:p>
          <a:p xmlns:a="http://schemas.openxmlformats.org/drawingml/2006/main">
            <a:r>
              <a:t>        "title": "조달청 e-제안요청 도움 · 공공AI 사례집 218–219쪽",</a:t>
            </a:r>
          </a:p>
          <a:p xmlns:a="http://schemas.openxmlformats.org/drawingml/2006/main">
            <a:r>
              <a:t>        "url": "https://bigdata.dongjak.go.kr/board/viewArticle?articleNo=954&amp;boardId=4",</a:t>
            </a:r>
          </a:p>
          <a:p xmlns:a="http://schemas.openxmlformats.org/drawingml/2006/main">
            <a:r>
              <a:t>        "published": "2023 PoC / 2024 고도화",</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"추출 근거 검증을 초안 작성 앞단에 배치",</a:t>
            </a:r>
          </a:p>
          <a:p xmlns:a="http://schemas.openxmlformats.org/drawingml/2006/main">
            <a:r>
              <a:t>    "local": "TS 고도화의 재사용·추가 개발·검수 추적 지원",</a:t>
            </a:r>
          </a:p>
          <a:p xmlns:a="http://schemas.openxmlformats.org/drawingml/2006/main">
            <a:r>
              <a:t>    "sourceDetail": null,</a:t>
            </a:r>
          </a:p>
          <a:p xmlns:a="http://schemas.openxmlformats.org/drawingml/2006/main">
            <a:r>
              <a:t>    "narrative": [</a:t>
            </a:r>
          </a:p>
          <a:p xmlns:a="http://schemas.openxmlformats.org/drawingml/2006/main">
            <a:r>
              <a:t>      "기존 RFP와 사업 수요를 분석해 목차·키워드·요구사항 초안을 만드는 지원 사례. 과거 문서를 재활용하면서 신규 범위와 기존 의무의 중복을 피하는 작업이 핵심.",</a:t>
            </a:r>
          </a:p>
          <a:p xmlns:a="http://schemas.openxmlformats.org/drawingml/2006/main">
            <a:r>
              <a:t>      "사업 목적·현재 시스템·추가 개발 범위를 입력하고 목차별 요구 후보를 구성하는 재구성. 담당자가 출처·누락·중복·검수 가능성을 확인한 뒤 요구 ID와 시험 항목을 연결.",</a:t>
            </a:r>
          </a:p>
          <a:p xmlns:a="http://schemas.openxmlformats.org/drawingml/2006/main">
            <a:r>
              <a:t>      "CCK 제안·사업관리 스킬에서는 문서 생성보다 근거와 요구·검수의 추적을 공통 기능으로 활용. 기존 과업 복사, 빈 검수기준, 법령 판본 혼용을 포함한 검토 시나리오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"RFP 작성 요청",</a:t>
            </a:r>
          </a:p>
          <a:p xmlns:a="http://schemas.openxmlformats.org/drawingml/2006/main">
            <a:r>
              <a:t>          "layer": "이용 접점",</a:t>
            </a:r>
          </a:p>
          <a:p xmlns:a="http://schemas.openxmlformats.org/drawingml/2006/main">
            <a:r>
              <a:t>          "detail": "발주·사업관리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"목적·범위·기존",</a:t>
            </a:r>
          </a:p>
          <a:p xmlns:a="http://schemas.openxmlformats.org/drawingml/2006/main">
            <a:r>
              <a:t>          "layer": "업무 문맥",</a:t>
            </a:r>
          </a:p>
          <a:p xmlns:a="http://schemas.openxmlformats.org/drawingml/2006/main">
            <a:r>
              <a:t>          "detail": "사업 목적·범위·기존 시스템 입력",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"지침·요구 조회",</a:t>
            </a:r>
          </a:p>
          <a:p xmlns:a="http://schemas.openxmlformats.org/drawingml/2006/main">
            <a:r>
              <a:t>          "layer": "자료 조회",</a:t>
            </a:r>
          </a:p>
          <a:p xmlns:a="http://schemas.openxmlformats.org/drawingml/2006/main">
            <a:r>
              <a:t>          "detail": "기존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"목차·초안 생성",</a:t>
            </a:r>
          </a:p>
          <a:p xmlns:a="http://schemas.openxmlformats.org/drawingml/2006/main">
            <a:r>
              <a:t>          "layer": "핵심 처리",</a:t>
            </a:r>
          </a:p>
          <a:p xmlns:a="http://schemas.openxmlformats.org/drawingml/2006/main">
            <a:r>
              <a:t>          "detail": "키워드 추출과 목차별 요구사항 초안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"중복·누락 대조",</a:t>
            </a:r>
          </a:p>
          <a:p xmlns:a="http://schemas.openxmlformats.org/drawingml/2006/main">
            <a:r>
              <a:t>          "layer": "결과 검증",</a:t>
            </a:r>
          </a:p>
          <a:p xmlns:a="http://schemas.openxmlformats.org/drawingml/2006/main">
            <a:r>
              <a:t>          "detail": "사업 범위·기존 의무·검수 연결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"발주 담당 검토",</a:t>
            </a:r>
          </a:p>
          <a:p xmlns:a="http://schemas.openxmlformats.org/drawingml/2006/main">
            <a:r>
              <a:t>          "layer": "사람 확인",</a:t>
            </a:r>
          </a:p>
          <a:p xmlns:a="http://schemas.openxmlformats.org/drawingml/2006/main">
            <a:r>
              <a:t>          "detail": "사업 범위에 맞는 RFP 요구와 검수 초안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"요구·검수 명세",</a:t>
            </a:r>
          </a:p>
          <a:p xmlns:a="http://schemas.openxmlformats.org/drawingml/2006/main">
            <a:r>
              <a:t>          "layer": "업무 연결",</a:t>
            </a:r>
          </a:p>
          <a:p xmlns:a="http://schemas.openxmlformats.org/drawingml/2006/main">
            <a:r>
              <a:t>          "detail": "담당자가 범위·중복·검수 가능성을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"변경 추적",</a:t>
            </a:r>
          </a:p>
          <a:p xmlns:a="http://schemas.openxmlformats.org/drawingml/2006/main">
            <a:r>
              <a:t>          "layer": "운영 관측",</a:t>
            </a:r>
          </a:p>
          <a:p xmlns:a="http://schemas.openxmlformats.org/drawingml/2006/main">
            <a:r>
              <a:t>          "detail": "수정 이력과 요구사항·검수 연결 누락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"기존 RFP·수요",</a:t>
            </a:r>
          </a:p>
          <a:p xmlns:a="http://schemas.openxmlformats.org/drawingml/2006/main">
            <a:r>
              <a:t>          "layer": "데이터 원천",</a:t>
            </a:r>
          </a:p>
          <a:p xmlns:a="http://schemas.openxmlformats.org/drawingml/2006/main">
            <a:r>
              <a:t>          "detail": "요구·검수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"목차·ID 구조화",</a:t>
            </a:r>
          </a:p>
          <a:p xmlns:a="http://schemas.openxmlformats.org/drawingml/2006/main">
            <a:r>
              <a:t>          "layer": "준비·갱신",</a:t>
            </a:r>
          </a:p>
          <a:p xmlns:a="http://schemas.openxmlformats.org/drawingml/2006/main">
            <a:r>
              <a:t>          "detail": "관련 지침·양식·기존 요구사항의 출처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"요구·검수 원장",</a:t>
            </a:r>
          </a:p>
          <a:p xmlns:a="http://schemas.openxmlformats.org/drawingml/2006/main">
            <a:r>
              <a:t>          "layer": "상태·지식 저장",</a:t>
            </a:r>
          </a:p>
          <a:p xmlns:a="http://schemas.openxmlformats.org/drawingml/2006/main">
            <a:r>
              <a:t>          "detail": "요구사항별 범위·출처·검수 연결 및 담당자 수정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"기존 의무·범위",</a:t>
            </a:r>
          </a:p>
          <a:p xmlns:a="http://schemas.openxmlformats.org/drawingml/2006/main">
            <a:r>
              <a:t>          "layer": "권한·정책",</a:t>
            </a:r>
          </a:p>
          <a:p xmlns:a="http://schemas.openxmlformats.org/drawingml/2006/main">
            <a:r>
              <a:t>          "detail": "기존 계약 중복·수치 근거 부재·검수 불가능 요구",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"기존 RFP → 목차·키워드 추출 → 담당자 검증 → 초안 구성"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"요구·검수 자료",</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"검증된 목차",</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"요구 후보",</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"검증된 목차",</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"RFP 초안",</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 정보화사업 제안요청서 작성 지원 / 목차 구성·요구 초안·사용자 검증",</a:t>
            </a:r>
          </a:p>
          <a:p xmlns:a="http://schemas.openxmlformats.org/drawingml/2006/main">
            <a:r>
              <a:t>        "extension": "TS 고도화의 재사용·추가 개발·검수 추적 지원"</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"기존 계약 중복·수치 근거 부재·검수 불가능 요구",</a:t>
            </a:r>
          </a:p>
          <a:p xmlns:a="http://schemas.openxmlformats.org/drawingml/2006/main">
            <a:r>
              <a:t>        "hold": "사업 범위·기존 의무·검수 연결 확인",</a:t>
            </a:r>
          </a:p>
          <a:p xmlns:a="http://schemas.openxmlformats.org/drawingml/2006/main">
            <a:r>
              <a:t>        "recovery": "수정 이력과 요구사항·검수 연결 누락 검사",</a:t>
            </a:r>
          </a:p>
          <a:p xmlns:a="http://schemas.openxmlformats.org/drawingml/2006/main">
            <a:r>
              <a:t>        "evidence": "요구사항별 범위·출처·검수 연결 및 담당자 수정 기록"</a:t>
            </a:r>
          </a:p>
          <a:p xmlns:a="http://schemas.openxmlformats.org/drawingml/2006/main">
            <a:r>
              <a:t>      },</a:t>
            </a:r>
          </a:p>
          <a:p xmlns:a="http://schemas.openxmlformats.org/drawingml/2006/main">
            <a:r>
              <a:t>      "data": {</a:t>
            </a:r>
          </a:p>
          <a:p xmlns:a="http://schemas.openxmlformats.org/drawingml/2006/main">
            <a:r>
              <a:t>        "source": "요구·검수 자료",</a:t>
            </a:r>
          </a:p>
          <a:p xmlns:a="http://schemas.openxmlformats.org/drawingml/2006/main">
            <a:r>
              <a:t>        "prepare": "관련 지침·양식·기존 요구사항의 출처 관리",</a:t>
            </a:r>
          </a:p>
          <a:p xmlns:a="http://schemas.openxmlformats.org/drawingml/2006/main">
            <a:r>
              <a:t>        "output": "기존 문서",</a:t>
            </a:r>
          </a:p>
          <a:p xmlns:a="http://schemas.openxmlformats.org/drawingml/2006/main">
            <a:r>
              <a:t>        "refresh": "수정 이력과 요구사항·검수 연결 누락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"AX25",</a:t>
            </a:r>
          </a:p>
          <a:p xmlns:a="http://schemas.openxmlformats.org/drawingml/2006/main">
            <a:r>
              <a:t>    "success": [</a:t>
            </a:r>
          </a:p>
          <a:p xmlns:a="http://schemas.openxmlformats.org/drawingml/2006/main">
            <a:r>
              <a:t>      "RFP 목차·키워드의 구조화",</a:t>
            </a:r>
          </a:p>
          <a:p xmlns:a="http://schemas.openxmlformats.org/drawingml/2006/main">
            <a:r>
              <a:t>      "사용자 검증을 통한 초안 구성"</a:t>
            </a:r>
          </a:p>
          <a:p xmlns:a="http://schemas.openxmlformats.org/drawingml/2006/main">
            <a:r>
              <a:t>    ],</a:t>
            </a:r>
          </a:p>
          <a:p xmlns:a="http://schemas.openxmlformats.org/drawingml/2006/main">
            <a:r>
              <a:t>    "risks": [</a:t>
            </a:r>
          </a:p>
          <a:p xmlns:a="http://schemas.openxmlformats.org/drawingml/2006/main">
            <a:r>
              <a:t>      "과거 과업의 무비판적 재사용",</a:t>
            </a:r>
          </a:p>
          <a:p xmlns:a="http://schemas.openxmlformats.org/drawingml/2006/main">
            <a:r>
              <a:t>      "필수 요구·검수 항목 누락"</a:t>
            </a:r>
          </a:p>
          <a:p xmlns:a="http://schemas.openxmlformats.org/drawingml/2006/main">
            <a:r>
              <a:t>    ],</a:t>
            </a:r>
          </a:p>
          <a:p xmlns:a="http://schemas.openxmlformats.org/drawingml/2006/main">
            <a:r>
              <a:t>    "architecture": [</a:t>
            </a:r>
          </a:p>
          <a:p xmlns:a="http://schemas.openxmlformats.org/drawingml/2006/main">
            <a:r>
              <a:t>      "기존 RFP·수요",</a:t>
            </a:r>
          </a:p>
          <a:p xmlns:a="http://schemas.openxmlformats.org/drawingml/2006/main">
            <a:r>
              <a:t>      "목차·키워드 분석",</a:t>
            </a:r>
          </a:p>
          <a:p xmlns:a="http://schemas.openxmlformats.org/drawingml/2006/main">
            <a:r>
              <a:t>      "요구·검수 자료",</a:t>
            </a:r>
          </a:p>
          <a:p xmlns:a="http://schemas.openxmlformats.org/drawingml/2006/main">
            <a:r>
              <a:t>      "발주 담당자"</a:t>
            </a:r>
          </a:p>
          <a:p xmlns:a="http://schemas.openxmlformats.org/drawingml/2006/main">
            <a:r>
              <a:t>    ],</a:t>
            </a:r>
          </a:p>
          <a:p xmlns:a="http://schemas.openxmlformats.org/drawingml/2006/main">
            <a:r>
              <a:t>    "transfers": [</a:t>
            </a:r>
          </a:p>
          <a:p xmlns:a="http://schemas.openxmlformats.org/drawingml/2006/main">
            <a:r>
              <a:t>      "기존 문서",</a:t>
            </a:r>
          </a:p>
          <a:p xmlns:a="http://schemas.openxmlformats.org/drawingml/2006/main">
            <a:r>
              <a:t>      "요구 후보",</a:t>
            </a:r>
          </a:p>
          <a:p xmlns:a="http://schemas.openxmlformats.org/drawingml/2006/main">
            <a:r>
              <a:t>      "검증된 목차",</a:t>
            </a:r>
          </a:p>
          <a:p xmlns:a="http://schemas.openxmlformats.org/drawingml/2006/main">
            <a:r>
              <a:t>      "RFP 초안"</a:t>
            </a:r>
          </a:p>
          <a:p xmlns:a="http://schemas.openxmlformats.org/drawingml/2006/main">
            <a:r>
              <a:t>    ],</a:t>
            </a:r>
          </a:p>
          <a:p xmlns:a="http://schemas.openxmlformats.org/drawingml/2006/main">
            <a:r>
              <a:t>    "control": "사업 범위·기존 의무·검수 연결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조달청 e-제안요청 도움 · 공공AI 사례집 218–219쪽 https://bigdata.dongjak.go.kr/board/viewArticle?articleNo=954&amp;boardId=4</a:t>
            </a:r>
          </a:p>
          <a:p xmlns:a="http://schemas.openxmlformats.org/drawingml/2006/main">
            <a:r>
              <a:t>홈페이지 https://heen1987-ops.github.io/TS-business-Plan-001/index.html?view=casebook&amp;case=AX25</a:t>
            </a:r>
          </a:p>
          <a:p xmlns:a="http://schemas.openxmlformats.org/drawingml/2006/main">
            <a:r>
              <a:t>성과 대조</a:t>
            </a:r>
          </a:p>
          <a:p xmlns:a="http://schemas.openxmlformats.org/drawingml/2006/main">
            <a:r>
              <a:t>{</a:t>
            </a:r>
          </a:p>
          <a:p xmlns:a="http://schemas.openxmlformats.org/drawingml/2006/main">
            <a:r>
              <a:t>  "caseId": "AX25",</a:t>
            </a:r>
          </a:p>
          <a:p xmlns:a="http://schemas.openxmlformats.org/drawingml/2006/main">
            <a:r>
              <a:t>  "asIs": "담당자가 이전 RFP에서 요구사항·목차를 추출해 신규 과업 초안을 수작업 작성",</a:t>
            </a:r>
          </a:p>
          <a:p xmlns:a="http://schemas.openxmlformats.org/drawingml/2006/main">
            <a:r>
              <a:t>  "toBe": "기존 RFP의 목차·키워드를 추출하고 담당자가 검증한 뒤 신규 초안 구성",</a:t>
            </a:r>
          </a:p>
          <a:p xmlns:a="http://schemas.openxmlformats.org/drawingml/2006/main">
            <a:r>
              <a:t>  "expectedEffect": "초안 작성시간 단축과 누락·중복 요구 감소",</a:t>
            </a:r>
          </a:p>
          <a:p xmlns:a="http://schemas.openxmlformats.org/drawingml/2006/main">
            <a:r>
              <a:t>  "observed": "공공 사례집이 2023년 PoC와 2024년 고도화 범위를 소개",</a:t>
            </a:r>
          </a:p>
          <a:p xmlns:a="http://schemas.openxmlformats.org/drawingml/2006/main">
            <a:r>
              <a:t>  "verdict": "성과 미검증",</a:t>
            </a:r>
          </a:p>
          <a:p xmlns:a="http://schemas.openxmlformats.org/drawingml/2006/main">
            <a:r>
              <a:t>  "verdictReason": "PoC·고도화 추진은 확인되나 작성시간·요구사항 오류율의 실측 결과 없음",</a:t>
            </a:r>
          </a:p>
          <a:p xmlns:a="http://schemas.openxmlformats.org/drawingml/2006/main">
            <a:r>
              <a:t>  "limits": "초안 작성 지원 사례. 계약 범위·예산·검수 기준의 자동 확정 아님",</a:t>
            </a:r>
          </a:p>
          <a:p xmlns:a="http://schemas.openxmlformats.org/drawingml/2006/main">
            <a:r>
              <a:t>  "evidenceStage": "정부 PoC·고도화 사례집",</a:t>
            </a:r>
          </a:p>
          <a:p xmlns:a="http://schemas.openxmlformats.org/drawingml/2006/main">
            <a:r>
              <a:t>  "sourceUrl": "https://bigdata.dongjak.go.kr/board/viewArticle?articleNo=954&amp;boardId=4"</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"AX25",</a:t>
            </a:r>
          </a:p>
          <a:p xmlns:a="http://schemas.openxmlformats.org/drawingml/2006/main">
            <a:r>
              <a:t>    "title": "조달청 e-제안요청 도움",</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"RFP 초안 작성 지원",</a:t>
            </a:r>
          </a:p>
          <a:p xmlns:a="http://schemas.openxmlformats.org/drawingml/2006/main">
            <a:r>
              <a:t>    "period": "2023 PoC / 2024 고도화",</a:t>
            </a:r>
          </a:p>
          <a:p xmlns:a="http://schemas.openxmlformats.org/drawingml/2006/main">
            <a:r>
              <a:t>    "sources": [</a:t>
            </a:r>
          </a:p>
          <a:p xmlns:a="http://schemas.openxmlformats.org/drawingml/2006/main">
            <a:r>
              <a:t>      "S-AX25"</a:t>
            </a:r>
          </a:p>
          <a:p xmlns:a="http://schemas.openxmlformats.org/drawingml/2006/main">
            <a:r>
              <a:t>    ],</a:t>
            </a:r>
          </a:p>
          <a:p xmlns:a="http://schemas.openxmlformats.org/drawingml/2006/main">
            <a:r>
              <a:t>    "keywords": [</a:t>
            </a:r>
          </a:p>
          <a:p xmlns:a="http://schemas.openxmlformats.org/drawingml/2006/main">
            <a:r>
              <a:t>      "RFP 초안 작성 지원"</a:t>
            </a:r>
          </a:p>
          <a:p xmlns:a="http://schemas.openxmlformats.org/drawingml/2006/main">
            <a:r>
              <a:t>    ],</a:t>
            </a:r>
          </a:p>
          <a:p xmlns:a="http://schemas.openxmlformats.org/drawingml/2006/main">
            <a:r>
              <a:t>    "fact": "제안요청서 목차별 초안 생성과 키워드 추출·사용자 검증을 결합한 실증 고도화",</a:t>
            </a:r>
          </a:p>
          <a:p xmlns:a="http://schemas.openxmlformats.org/drawingml/2006/main">
            <a:r>
              <a:t>    "limit": "작성 지원 범위 · 요구사항·예산의 자동 승인과 구분",</a:t>
            </a:r>
          </a:p>
          <a:p xmlns:a="http://schemas.openxmlformats.org/drawingml/2006/main">
            <a:r>
              <a:t>    "flow": [</a:t>
            </a:r>
          </a:p>
          <a:p xmlns:a="http://schemas.openxmlformats.org/drawingml/2006/main">
            <a:r>
              <a:t>      "기존 RFP",</a:t>
            </a:r>
          </a:p>
          <a:p xmlns:a="http://schemas.openxmlformats.org/drawingml/2006/main">
            <a:r>
              <a:t>      "목차·키워드 추출",</a:t>
            </a:r>
          </a:p>
          <a:p xmlns:a="http://schemas.openxmlformats.org/drawingml/2006/main">
            <a:r>
              <a:t>      "담당자 검증",</a:t>
            </a:r>
          </a:p>
          <a:p xmlns:a="http://schemas.openxmlformats.org/drawingml/2006/main">
            <a:r>
              <a:t>      "초안 구성"</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"추출 근거 검증을 초안 작성 앞단에 배치",</a:t>
            </a:r>
          </a:p>
          <a:p xmlns:a="http://schemas.openxmlformats.org/drawingml/2006/main">
            <a:r>
              <a:t>    "local": "TS 고도화의 재사용·추가 개발·검수 추적 지원",</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"요구ID·원문·산출물·검수의 누락 검사",</a:t>
            </a:r>
          </a:p>
          <a:p xmlns:a="http://schemas.openxmlformats.org/drawingml/2006/main">
            <a:r>
              <a:t>    "test": "누락·중복·상충 요구 및 근거 없는 성능 목표 탐지",</a:t>
            </a:r>
          </a:p>
          <a:p xmlns:a="http://schemas.openxmlformats.org/drawingml/2006/main">
            <a:r>
              <a:t>    "metric": "작성·보완 시간 / 추적 누락률",</a:t>
            </a:r>
          </a:p>
          <a:p xmlns:a="http://schemas.openxmlformats.org/drawingml/2006/main">
            <a:r>
              <a:t>    "strategies": [</a:t>
            </a:r>
          </a:p>
          <a:p xmlns:a="http://schemas.openxmlformats.org/drawingml/2006/main">
            <a:r>
              <a:t>      "ST-04",</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"AX25",</a:t>
            </a:r>
          </a:p>
          <a:p xmlns:a="http://schemas.openxmlformats.org/drawingml/2006/main">
            <a:r>
              <a:t>    "canonicalId": "AX25",</a:t>
            </a:r>
          </a:p>
          <a:p xmlns:a="http://schemas.openxmlformats.org/drawingml/2006/main">
            <a:r>
              <a:t>    "purpose": "공공 정보화사업 제안요청서 작성 지원",</a:t>
            </a:r>
          </a:p>
          <a:p xmlns:a="http://schemas.openxmlformats.org/drawingml/2006/main">
            <a:r>
              <a:t>    "users": "발주·사업관리 담당자",</a:t>
            </a:r>
          </a:p>
          <a:p xmlns:a="http://schemas.openxmlformats.org/drawingml/2006/main">
            <a:r>
              <a:t>    "scope": [</a:t>
            </a:r>
          </a:p>
          <a:p xmlns:a="http://schemas.openxmlformats.org/drawingml/2006/main">
            <a:r>
              <a:t>      "목차 구성",</a:t>
            </a:r>
          </a:p>
          <a:p xmlns:a="http://schemas.openxmlformats.org/drawingml/2006/main">
            <a:r>
              <a:t>      "요구 초안",</a:t>
            </a:r>
          </a:p>
          <a:p xmlns:a="http://schemas.openxmlformats.org/drawingml/2006/main">
            <a:r>
              <a:t>      "사용자 검증"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"기존 RFP·수요",</a:t>
            </a:r>
          </a:p>
          <a:p xmlns:a="http://schemas.openxmlformats.org/drawingml/2006/main">
            <a:r>
              <a:t>        "detail": "사업 목적·범위·기존 시스템 입력",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"목차 구성 / 요구 초안 / 사용자 검증",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"목차·키워드 분석",</a:t>
            </a:r>
          </a:p>
          <a:p xmlns:a="http://schemas.openxmlformats.org/drawingml/2006/main">
            <a:r>
              <a:t>        "detail": "키워드 추출과 목차별 요구사항 초안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"발주 담당자",</a:t>
            </a:r>
          </a:p>
          <a:p xmlns:a="http://schemas.openxmlformats.org/drawingml/2006/main">
            <a:r>
              <a:t>        "detail": "담당자가 범위·중복·검수 가능성을 확인",</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"요구·검수 자료",</a:t>
            </a:r>
          </a:p>
          <a:p xmlns:a="http://schemas.openxmlformats.org/drawingml/2006/main">
            <a:r>
              <a:t>        "detail": "관련 지침·양식·기존 요구사항의 출처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"수정 이력과 요구사항·검수 연결 누락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"기존 RFP",</a:t>
            </a:r>
          </a:p>
          <a:p xmlns:a="http://schemas.openxmlformats.org/drawingml/2006/main">
            <a:r>
              <a:t>        "input": "사업 목적·범위·기존 시스템 입력",</a:t>
            </a:r>
          </a:p>
          <a:p xmlns:a="http://schemas.openxmlformats.org/drawingml/2006/main">
            <a:r>
              <a:t>        "process": "관련 지침·양식·기존 요구사항의 출처 관리",</a:t>
            </a:r>
          </a:p>
          <a:p xmlns:a="http://schemas.openxmlformats.org/drawingml/2006/main">
            <a:r>
              <a:t>        "output": "기존 문서"</a:t>
            </a:r>
          </a:p>
          <a:p xmlns:a="http://schemas.openxmlformats.org/drawingml/2006/main">
            <a:r>
              <a:t>      },</a:t>
            </a:r>
          </a:p>
          <a:p xmlns:a="http://schemas.openxmlformats.org/drawingml/2006/main">
            <a:r>
              <a:t>      {</a:t>
            </a:r>
          </a:p>
          <a:p xmlns:a="http://schemas.openxmlformats.org/drawingml/2006/main">
            <a:r>
              <a:t>        "title": "목차·키워드 추출",</a:t>
            </a:r>
          </a:p>
          <a:p xmlns:a="http://schemas.openxmlformats.org/drawingml/2006/main">
            <a:r>
              <a:t>        "input": "기존 문서",</a:t>
            </a:r>
          </a:p>
          <a:p xmlns:a="http://schemas.openxmlformats.org/drawingml/2006/main">
            <a:r>
              <a:t>        "process": "키워드 추출과 목차별 요구사항 초안 생성",</a:t>
            </a:r>
          </a:p>
          <a:p xmlns:a="http://schemas.openxmlformats.org/drawingml/2006/main">
            <a:r>
              <a:t>        "output": "요구 후보"</a:t>
            </a:r>
          </a:p>
          <a:p xmlns:a="http://schemas.openxmlformats.org/drawingml/2006/main">
            <a:r>
              <a:t>      },</a:t>
            </a:r>
          </a:p>
          <a:p xmlns:a="http://schemas.openxmlformats.org/drawingml/2006/main">
            <a:r>
              <a:t>      {</a:t>
            </a:r>
          </a:p>
          <a:p xmlns:a="http://schemas.openxmlformats.org/drawingml/2006/main">
            <a:r>
              <a:t>        "title": "담당자 검증",</a:t>
            </a:r>
          </a:p>
          <a:p xmlns:a="http://schemas.openxmlformats.org/drawingml/2006/main">
            <a:r>
              <a:t>        "input": "요구 후보",</a:t>
            </a:r>
          </a:p>
          <a:p xmlns:a="http://schemas.openxmlformats.org/drawingml/2006/main">
            <a:r>
              <a:t>        "process": "사업 범위·기존 의무·검수 연결 확인",</a:t>
            </a:r>
          </a:p>
          <a:p xmlns:a="http://schemas.openxmlformats.org/drawingml/2006/main">
            <a:r>
              <a:t>        "output": "검증된 목차"</a:t>
            </a:r>
          </a:p>
          <a:p xmlns:a="http://schemas.openxmlformats.org/drawingml/2006/main">
            <a:r>
              <a:t>      },</a:t>
            </a:r>
          </a:p>
          <a:p xmlns:a="http://schemas.openxmlformats.org/drawingml/2006/main">
            <a:r>
              <a:t>      {</a:t>
            </a:r>
          </a:p>
          <a:p xmlns:a="http://schemas.openxmlformats.org/drawingml/2006/main">
            <a:r>
              <a:t>        "title": "초안 구성",</a:t>
            </a:r>
          </a:p>
          <a:p xmlns:a="http://schemas.openxmlformats.org/drawingml/2006/main">
            <a:r>
              <a:t>        "input": "검증된 목차",</a:t>
            </a:r>
          </a:p>
          <a:p xmlns:a="http://schemas.openxmlformats.org/drawingml/2006/main">
            <a:r>
              <a:t>        "process": "담당자가 범위·중복·검수 가능성을 확인",</a:t>
            </a:r>
          </a:p>
          <a:p xmlns:a="http://schemas.openxmlformats.org/drawingml/2006/main">
            <a:r>
              <a:t>        "output": "RFP 초안"</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 범위에 맞는 RFP 요구와 검수 초안 구성",</a:t>
            </a:r>
          </a:p>
          <a:p xmlns:a="http://schemas.openxmlformats.org/drawingml/2006/main">
            <a:r>
              <a:t>      "exception": "기존 계약 중복·수치 근거 부재·검수 불가능 요구",</a:t>
            </a:r>
          </a:p>
          <a:p xmlns:a="http://schemas.openxmlformats.org/drawingml/2006/main">
            <a:r>
              <a:t>      "evidence": "요구사항별 범위·출처·검수 연결 및 담당자 수정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"발주·사업관리 담당자",</a:t>
            </a:r>
          </a:p>
          <a:p xmlns:a="http://schemas.openxmlformats.org/drawingml/2006/main">
            <a:r>
              <a:t>          "processing": "사업 목적·범위·기존 시스템 입력",</a:t>
            </a:r>
          </a:p>
          <a:p xmlns:a="http://schemas.openxmlformats.org/drawingml/2006/main">
            <a:r>
              <a:t>          "output": "기존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"요구·검수 자료",</a:t>
            </a:r>
          </a:p>
          <a:p xmlns:a="http://schemas.openxmlformats.org/drawingml/2006/main">
            <a:r>
              <a:t>          "processing": "관련 지침·양식·기존 요구사항의 출처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"기존 문서",</a:t>
            </a:r>
          </a:p>
          <a:p xmlns:a="http://schemas.openxmlformats.org/drawingml/2006/main">
            <a:r>
              <a:t>          "processing": "키워드 추출과 목차별 요구사항 초안 생성",</a:t>
            </a:r>
          </a:p>
          <a:p xmlns:a="http://schemas.openxmlformats.org/drawingml/2006/main">
            <a:r>
              <a:t>          "output": "검증된 목차"</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"검증된 목차",</a:t>
            </a:r>
          </a:p>
          <a:p xmlns:a="http://schemas.openxmlformats.org/drawingml/2006/main">
            <a:r>
              <a:t>          "processing": "담당자가 범위·중복·검수 가능성을 확인",</a:t>
            </a:r>
          </a:p>
          <a:p xmlns:a="http://schemas.openxmlformats.org/drawingml/2006/main">
            <a:r>
              <a:t>          "output": "RFP 초안"</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"수정 이력과 요구사항·검수 연결 누락 검사",</a:t>
            </a:r>
          </a:p>
          <a:p xmlns:a="http://schemas.openxmlformats.org/drawingml/2006/main">
            <a:r>
              <a:t>          "output":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"수정 이력과 요구사항·검수 연결 누락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"S-AX25",</a:t>
            </a:r>
          </a:p>
          <a:p xmlns:a="http://schemas.openxmlformats.org/drawingml/2006/main">
            <a:r>
              <a:t>        "title": "조달청 e-제안요청 도움 · 공공AI 사례집 218–219쪽",</a:t>
            </a:r>
          </a:p>
          <a:p xmlns:a="http://schemas.openxmlformats.org/drawingml/2006/main">
            <a:r>
              <a:t>        "url": "https://bigdata.dongjak.go.kr/board/viewArticle?articleNo=954&amp;boardId=4",</a:t>
            </a:r>
          </a:p>
          <a:p xmlns:a="http://schemas.openxmlformats.org/drawingml/2006/main">
            <a:r>
              <a:t>        "published": "2023 PoC / 2024 고도화",</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"추출 근거 검증을 초안 작성 앞단에 배치",</a:t>
            </a:r>
          </a:p>
          <a:p xmlns:a="http://schemas.openxmlformats.org/drawingml/2006/main">
            <a:r>
              <a:t>    "local": "TS 고도화의 재사용·추가 개발·검수 추적 지원",</a:t>
            </a:r>
          </a:p>
          <a:p xmlns:a="http://schemas.openxmlformats.org/drawingml/2006/main">
            <a:r>
              <a:t>    "sourceDetail": null,</a:t>
            </a:r>
          </a:p>
          <a:p xmlns:a="http://schemas.openxmlformats.org/drawingml/2006/main">
            <a:r>
              <a:t>    "narrative": [</a:t>
            </a:r>
          </a:p>
          <a:p xmlns:a="http://schemas.openxmlformats.org/drawingml/2006/main">
            <a:r>
              <a:t>      "기존 RFP와 사업 수요를 분석해 목차·키워드·요구사항 초안을 만드는 지원 사례. 과거 문서를 재활용하면서 신규 범위와 기존 의무의 중복을 피하는 작업이 핵심.",</a:t>
            </a:r>
          </a:p>
          <a:p xmlns:a="http://schemas.openxmlformats.org/drawingml/2006/main">
            <a:r>
              <a:t>      "사업 목적·현재 시스템·추가 개발 범위를 입력하고 목차별 요구 후보를 구성하는 재구성. 담당자가 출처·누락·중복·검수 가능성을 확인한 뒤 요구 ID와 시험 항목을 연결.",</a:t>
            </a:r>
          </a:p>
          <a:p xmlns:a="http://schemas.openxmlformats.org/drawingml/2006/main">
            <a:r>
              <a:t>      "CCK 제안·사업관리 스킬에서는 문서 생성보다 근거와 요구·검수의 추적을 공통 기능으로 활용. 기존 과업 복사, 빈 검수기준, 법령 판본 혼용을 포함한 검토 시나리오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"RFP 작성 요청",</a:t>
            </a:r>
          </a:p>
          <a:p xmlns:a="http://schemas.openxmlformats.org/drawingml/2006/main">
            <a:r>
              <a:t>          "layer": "이용 접점",</a:t>
            </a:r>
          </a:p>
          <a:p xmlns:a="http://schemas.openxmlformats.org/drawingml/2006/main">
            <a:r>
              <a:t>          "detail": "발주·사업관리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"목적·범위·기존",</a:t>
            </a:r>
          </a:p>
          <a:p xmlns:a="http://schemas.openxmlformats.org/drawingml/2006/main">
            <a:r>
              <a:t>          "layer": "업무 문맥",</a:t>
            </a:r>
          </a:p>
          <a:p xmlns:a="http://schemas.openxmlformats.org/drawingml/2006/main">
            <a:r>
              <a:t>          "detail": "사업 목적·범위·기존 시스템 입력",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"지침·요구 조회",</a:t>
            </a:r>
          </a:p>
          <a:p xmlns:a="http://schemas.openxmlformats.org/drawingml/2006/main">
            <a:r>
              <a:t>          "layer": "자료 조회",</a:t>
            </a:r>
          </a:p>
          <a:p xmlns:a="http://schemas.openxmlformats.org/drawingml/2006/main">
            <a:r>
              <a:t>          "detail": "기존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"목차·초안 생성",</a:t>
            </a:r>
          </a:p>
          <a:p xmlns:a="http://schemas.openxmlformats.org/drawingml/2006/main">
            <a:r>
              <a:t>          "layer": "핵심 처리",</a:t>
            </a:r>
          </a:p>
          <a:p xmlns:a="http://schemas.openxmlformats.org/drawingml/2006/main">
            <a:r>
              <a:t>          "detail": "키워드 추출과 목차별 요구사항 초안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"중복·누락 대조",</a:t>
            </a:r>
          </a:p>
          <a:p xmlns:a="http://schemas.openxmlformats.org/drawingml/2006/main">
            <a:r>
              <a:t>          "layer": "결과 검증",</a:t>
            </a:r>
          </a:p>
          <a:p xmlns:a="http://schemas.openxmlformats.org/drawingml/2006/main">
            <a:r>
              <a:t>          "detail": "사업 범위·기존 의무·검수 연결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"발주 담당 검토",</a:t>
            </a:r>
          </a:p>
          <a:p xmlns:a="http://schemas.openxmlformats.org/drawingml/2006/main">
            <a:r>
              <a:t>          "layer": "사람 확인",</a:t>
            </a:r>
          </a:p>
          <a:p xmlns:a="http://schemas.openxmlformats.org/drawingml/2006/main">
            <a:r>
              <a:t>          "detail": "사업 범위에 맞는 RFP 요구와 검수 초안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"요구·검수 명세",</a:t>
            </a:r>
          </a:p>
          <a:p xmlns:a="http://schemas.openxmlformats.org/drawingml/2006/main">
            <a:r>
              <a:t>          "layer": "업무 연결",</a:t>
            </a:r>
          </a:p>
          <a:p xmlns:a="http://schemas.openxmlformats.org/drawingml/2006/main">
            <a:r>
              <a:t>          "detail": "담당자가 범위·중복·검수 가능성을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"변경 추적",</a:t>
            </a:r>
          </a:p>
          <a:p xmlns:a="http://schemas.openxmlformats.org/drawingml/2006/main">
            <a:r>
              <a:t>          "layer": "운영 관측",</a:t>
            </a:r>
          </a:p>
          <a:p xmlns:a="http://schemas.openxmlformats.org/drawingml/2006/main">
            <a:r>
              <a:t>          "detail": "수정 이력과 요구사항·검수 연결 누락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"기존 RFP·수요",</a:t>
            </a:r>
          </a:p>
          <a:p xmlns:a="http://schemas.openxmlformats.org/drawingml/2006/main">
            <a:r>
              <a:t>          "layer": "데이터 원천",</a:t>
            </a:r>
          </a:p>
          <a:p xmlns:a="http://schemas.openxmlformats.org/drawingml/2006/main">
            <a:r>
              <a:t>          "detail": "요구·검수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"목차·ID 구조화",</a:t>
            </a:r>
          </a:p>
          <a:p xmlns:a="http://schemas.openxmlformats.org/drawingml/2006/main">
            <a:r>
              <a:t>          "layer": "준비·갱신",</a:t>
            </a:r>
          </a:p>
          <a:p xmlns:a="http://schemas.openxmlformats.org/drawingml/2006/main">
            <a:r>
              <a:t>          "detail": "관련 지침·양식·기존 요구사항의 출처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"요구·검수 원장",</a:t>
            </a:r>
          </a:p>
          <a:p xmlns:a="http://schemas.openxmlformats.org/drawingml/2006/main">
            <a:r>
              <a:t>          "layer": "상태·지식 저장",</a:t>
            </a:r>
          </a:p>
          <a:p xmlns:a="http://schemas.openxmlformats.org/drawingml/2006/main">
            <a:r>
              <a:t>          "detail": "요구사항별 범위·출처·검수 연결 및 담당자 수정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"기존 의무·범위",</a:t>
            </a:r>
          </a:p>
          <a:p xmlns:a="http://schemas.openxmlformats.org/drawingml/2006/main">
            <a:r>
              <a:t>          "layer": "권한·정책",</a:t>
            </a:r>
          </a:p>
          <a:p xmlns:a="http://schemas.openxmlformats.org/drawingml/2006/main">
            <a:r>
              <a:t>          "detail": "기존 계약 중복·수치 근거 부재·검수 불가능 요구",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"기존 RFP → 목차·키워드 추출 → 담당자 검증 → 초안 구성"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"요구·검수 자료",</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"검증된 목차",</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"요구 후보",</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"검증된 목차",</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"RFP 초안",</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 정보화사업 제안요청서 작성 지원 / 목차 구성·요구 초안·사용자 검증",</a:t>
            </a:r>
          </a:p>
          <a:p xmlns:a="http://schemas.openxmlformats.org/drawingml/2006/main">
            <a:r>
              <a:t>        "extension": "TS 고도화의 재사용·추가 개발·검수 추적 지원"</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"기존 계약 중복·수치 근거 부재·검수 불가능 요구",</a:t>
            </a:r>
          </a:p>
          <a:p xmlns:a="http://schemas.openxmlformats.org/drawingml/2006/main">
            <a:r>
              <a:t>        "hold": "사업 범위·기존 의무·검수 연결 확인",</a:t>
            </a:r>
          </a:p>
          <a:p xmlns:a="http://schemas.openxmlformats.org/drawingml/2006/main">
            <a:r>
              <a:t>        "recovery": "수정 이력과 요구사항·검수 연결 누락 검사",</a:t>
            </a:r>
          </a:p>
          <a:p xmlns:a="http://schemas.openxmlformats.org/drawingml/2006/main">
            <a:r>
              <a:t>        "evidence": "요구사항별 범위·출처·검수 연결 및 담당자 수정 기록"</a:t>
            </a:r>
          </a:p>
          <a:p xmlns:a="http://schemas.openxmlformats.org/drawingml/2006/main">
            <a:r>
              <a:t>      },</a:t>
            </a:r>
          </a:p>
          <a:p xmlns:a="http://schemas.openxmlformats.org/drawingml/2006/main">
            <a:r>
              <a:t>      "data": {</a:t>
            </a:r>
          </a:p>
          <a:p xmlns:a="http://schemas.openxmlformats.org/drawingml/2006/main">
            <a:r>
              <a:t>        "source": "요구·검수 자료",</a:t>
            </a:r>
          </a:p>
          <a:p xmlns:a="http://schemas.openxmlformats.org/drawingml/2006/main">
            <a:r>
              <a:t>        "prepare": "관련 지침·양식·기존 요구사항의 출처 관리",</a:t>
            </a:r>
          </a:p>
          <a:p xmlns:a="http://schemas.openxmlformats.org/drawingml/2006/main">
            <a:r>
              <a:t>        "output": "기존 문서",</a:t>
            </a:r>
          </a:p>
          <a:p xmlns:a="http://schemas.openxmlformats.org/drawingml/2006/main">
            <a:r>
              <a:t>        "refresh": "수정 이력과 요구사항·검수 연결 누락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"AX25",</a:t>
            </a:r>
          </a:p>
          <a:p xmlns:a="http://schemas.openxmlformats.org/drawingml/2006/main">
            <a:r>
              <a:t>    "success": [</a:t>
            </a:r>
          </a:p>
          <a:p xmlns:a="http://schemas.openxmlformats.org/drawingml/2006/main">
            <a:r>
              <a:t>      "RFP 목차·키워드의 구조화",</a:t>
            </a:r>
          </a:p>
          <a:p xmlns:a="http://schemas.openxmlformats.org/drawingml/2006/main">
            <a:r>
              <a:t>      "사용자 검증을 통한 초안 구성"</a:t>
            </a:r>
          </a:p>
          <a:p xmlns:a="http://schemas.openxmlformats.org/drawingml/2006/main">
            <a:r>
              <a:t>    ],</a:t>
            </a:r>
          </a:p>
          <a:p xmlns:a="http://schemas.openxmlformats.org/drawingml/2006/main">
            <a:r>
              <a:t>    "risks": [</a:t>
            </a:r>
          </a:p>
          <a:p xmlns:a="http://schemas.openxmlformats.org/drawingml/2006/main">
            <a:r>
              <a:t>      "과거 과업의 무비판적 재사용",</a:t>
            </a:r>
          </a:p>
          <a:p xmlns:a="http://schemas.openxmlformats.org/drawingml/2006/main">
            <a:r>
              <a:t>      "필수 요구·검수 항목 누락"</a:t>
            </a:r>
          </a:p>
          <a:p xmlns:a="http://schemas.openxmlformats.org/drawingml/2006/main">
            <a:r>
              <a:t>    ],</a:t>
            </a:r>
          </a:p>
          <a:p xmlns:a="http://schemas.openxmlformats.org/drawingml/2006/main">
            <a:r>
              <a:t>    "architecture": [</a:t>
            </a:r>
          </a:p>
          <a:p xmlns:a="http://schemas.openxmlformats.org/drawingml/2006/main">
            <a:r>
              <a:t>      "기존 RFP·수요",</a:t>
            </a:r>
          </a:p>
          <a:p xmlns:a="http://schemas.openxmlformats.org/drawingml/2006/main">
            <a:r>
              <a:t>      "목차·키워드 분석",</a:t>
            </a:r>
          </a:p>
          <a:p xmlns:a="http://schemas.openxmlformats.org/drawingml/2006/main">
            <a:r>
              <a:t>      "요구·검수 자료",</a:t>
            </a:r>
          </a:p>
          <a:p xmlns:a="http://schemas.openxmlformats.org/drawingml/2006/main">
            <a:r>
              <a:t>      "발주 담당자"</a:t>
            </a:r>
          </a:p>
          <a:p xmlns:a="http://schemas.openxmlformats.org/drawingml/2006/main">
            <a:r>
              <a:t>    ],</a:t>
            </a:r>
          </a:p>
          <a:p xmlns:a="http://schemas.openxmlformats.org/drawingml/2006/main">
            <a:r>
              <a:t>    "transfers": [</a:t>
            </a:r>
          </a:p>
          <a:p xmlns:a="http://schemas.openxmlformats.org/drawingml/2006/main">
            <a:r>
              <a:t>      "기존 문서",</a:t>
            </a:r>
          </a:p>
          <a:p xmlns:a="http://schemas.openxmlformats.org/drawingml/2006/main">
            <a:r>
              <a:t>      "요구 후보",</a:t>
            </a:r>
          </a:p>
          <a:p xmlns:a="http://schemas.openxmlformats.org/drawingml/2006/main">
            <a:r>
              <a:t>      "검증된 목차",</a:t>
            </a:r>
          </a:p>
          <a:p xmlns:a="http://schemas.openxmlformats.org/drawingml/2006/main">
            <a:r>
              <a:t>      "RFP 초안"</a:t>
            </a:r>
          </a:p>
          <a:p xmlns:a="http://schemas.openxmlformats.org/drawingml/2006/main">
            <a:r>
              <a:t>    ],</a:t>
            </a:r>
          </a:p>
          <a:p xmlns:a="http://schemas.openxmlformats.org/drawingml/2006/main">
            <a:r>
              <a:t>    "control": "사업 범위·기존 의무·검수 연결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조달청 e-제안요청 도움 · 공공AI 사례집 218–219쪽 https://bigdata.dongjak.go.kr/board/viewArticle?articleNo=954&amp;boardId=4</a:t>
            </a:r>
          </a:p>
          <a:p xmlns:a="http://schemas.openxmlformats.org/drawingml/2006/main">
            <a:r>
              <a:t>홈페이지 https://heen1987-ops.github.io/TS-business-Plan-001/index.html?view=casebook&amp;case=AX25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"AX25",</a:t>
            </a:r>
          </a:p>
          <a:p xmlns:a="http://schemas.openxmlformats.org/drawingml/2006/main">
            <a:r>
              <a:t>    "title": "조달청 e-제안요청 도움",</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"RFP 초안 작성 지원",</a:t>
            </a:r>
          </a:p>
          <a:p xmlns:a="http://schemas.openxmlformats.org/drawingml/2006/main">
            <a:r>
              <a:t>    "period": "2023 PoC / 2024 고도화",</a:t>
            </a:r>
          </a:p>
          <a:p xmlns:a="http://schemas.openxmlformats.org/drawingml/2006/main">
            <a:r>
              <a:t>    "sources": [</a:t>
            </a:r>
          </a:p>
          <a:p xmlns:a="http://schemas.openxmlformats.org/drawingml/2006/main">
            <a:r>
              <a:t>      "S-AX25"</a:t>
            </a:r>
          </a:p>
          <a:p xmlns:a="http://schemas.openxmlformats.org/drawingml/2006/main">
            <a:r>
              <a:t>    ],</a:t>
            </a:r>
          </a:p>
          <a:p xmlns:a="http://schemas.openxmlformats.org/drawingml/2006/main">
            <a:r>
              <a:t>    "keywords": [</a:t>
            </a:r>
          </a:p>
          <a:p xmlns:a="http://schemas.openxmlformats.org/drawingml/2006/main">
            <a:r>
              <a:t>      "RFP 초안 작성 지원"</a:t>
            </a:r>
          </a:p>
          <a:p xmlns:a="http://schemas.openxmlformats.org/drawingml/2006/main">
            <a:r>
              <a:t>    ],</a:t>
            </a:r>
          </a:p>
          <a:p xmlns:a="http://schemas.openxmlformats.org/drawingml/2006/main">
            <a:r>
              <a:t>    "fact": "제안요청서 목차별 초안 생성과 키워드 추출·사용자 검증을 결합한 실증 고도화",</a:t>
            </a:r>
          </a:p>
          <a:p xmlns:a="http://schemas.openxmlformats.org/drawingml/2006/main">
            <a:r>
              <a:t>    "limit": "작성 지원 범위 · 요구사항·예산의 자동 승인과 구분",</a:t>
            </a:r>
          </a:p>
          <a:p xmlns:a="http://schemas.openxmlformats.org/drawingml/2006/main">
            <a:r>
              <a:t>    "flow": [</a:t>
            </a:r>
          </a:p>
          <a:p xmlns:a="http://schemas.openxmlformats.org/drawingml/2006/main">
            <a:r>
              <a:t>      "기존 RFP",</a:t>
            </a:r>
          </a:p>
          <a:p xmlns:a="http://schemas.openxmlformats.org/drawingml/2006/main">
            <a:r>
              <a:t>      "목차·키워드 추출",</a:t>
            </a:r>
          </a:p>
          <a:p xmlns:a="http://schemas.openxmlformats.org/drawingml/2006/main">
            <a:r>
              <a:t>      "담당자 검증",</a:t>
            </a:r>
          </a:p>
          <a:p xmlns:a="http://schemas.openxmlformats.org/drawingml/2006/main">
            <a:r>
              <a:t>      "초안 구성"</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"추출 근거 검증을 초안 작성 앞단에 배치",</a:t>
            </a:r>
          </a:p>
          <a:p xmlns:a="http://schemas.openxmlformats.org/drawingml/2006/main">
            <a:r>
              <a:t>    "local": "TS 고도화의 재사용·추가 개발·검수 추적 지원",</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"요구ID·원문·산출물·검수의 누락 검사",</a:t>
            </a:r>
          </a:p>
          <a:p xmlns:a="http://schemas.openxmlformats.org/drawingml/2006/main">
            <a:r>
              <a:t>    "test": "누락·중복·상충 요구 및 근거 없는 성능 목표 탐지",</a:t>
            </a:r>
          </a:p>
          <a:p xmlns:a="http://schemas.openxmlformats.org/drawingml/2006/main">
            <a:r>
              <a:t>    "metric": "작성·보완 시간 / 추적 누락률",</a:t>
            </a:r>
          </a:p>
          <a:p xmlns:a="http://schemas.openxmlformats.org/drawingml/2006/main">
            <a:r>
              <a:t>    "strategies": [</a:t>
            </a:r>
          </a:p>
          <a:p xmlns:a="http://schemas.openxmlformats.org/drawingml/2006/main">
            <a:r>
              <a:t>      "ST-04",</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"AX25",</a:t>
            </a:r>
          </a:p>
          <a:p xmlns:a="http://schemas.openxmlformats.org/drawingml/2006/main">
            <a:r>
              <a:t>    "canonicalId": "AX25",</a:t>
            </a:r>
          </a:p>
          <a:p xmlns:a="http://schemas.openxmlformats.org/drawingml/2006/main">
            <a:r>
              <a:t>    "purpose": "공공 정보화사업 제안요청서 작성 지원",</a:t>
            </a:r>
          </a:p>
          <a:p xmlns:a="http://schemas.openxmlformats.org/drawingml/2006/main">
            <a:r>
              <a:t>    "users": "발주·사업관리 담당자",</a:t>
            </a:r>
          </a:p>
          <a:p xmlns:a="http://schemas.openxmlformats.org/drawingml/2006/main">
            <a:r>
              <a:t>    "scope": [</a:t>
            </a:r>
          </a:p>
          <a:p xmlns:a="http://schemas.openxmlformats.org/drawingml/2006/main">
            <a:r>
              <a:t>      "목차 구성",</a:t>
            </a:r>
          </a:p>
          <a:p xmlns:a="http://schemas.openxmlformats.org/drawingml/2006/main">
            <a:r>
              <a:t>      "요구 초안",</a:t>
            </a:r>
          </a:p>
          <a:p xmlns:a="http://schemas.openxmlformats.org/drawingml/2006/main">
            <a:r>
              <a:t>      "사용자 검증"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"기존 RFP·수요",</a:t>
            </a:r>
          </a:p>
          <a:p xmlns:a="http://schemas.openxmlformats.org/drawingml/2006/main">
            <a:r>
              <a:t>        "detail": "사업 목적·범위·기존 시스템 입력",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"목차 구성 / 요구 초안 / 사용자 검증",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"목차·키워드 분석",</a:t>
            </a:r>
          </a:p>
          <a:p xmlns:a="http://schemas.openxmlformats.org/drawingml/2006/main">
            <a:r>
              <a:t>        "detail": "키워드 추출과 목차별 요구사항 초안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"발주 담당자",</a:t>
            </a:r>
          </a:p>
          <a:p xmlns:a="http://schemas.openxmlformats.org/drawingml/2006/main">
            <a:r>
              <a:t>        "detail": "담당자가 범위·중복·검수 가능성을 확인",</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"요구·검수 자료",</a:t>
            </a:r>
          </a:p>
          <a:p xmlns:a="http://schemas.openxmlformats.org/drawingml/2006/main">
            <a:r>
              <a:t>        "detail": "관련 지침·양식·기존 요구사항의 출처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"수정 이력과 요구사항·검수 연결 누락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"기존 RFP",</a:t>
            </a:r>
          </a:p>
          <a:p xmlns:a="http://schemas.openxmlformats.org/drawingml/2006/main">
            <a:r>
              <a:t>        "input": "사업 목적·범위·기존 시스템 입력",</a:t>
            </a:r>
          </a:p>
          <a:p xmlns:a="http://schemas.openxmlformats.org/drawingml/2006/main">
            <a:r>
              <a:t>        "process": "관련 지침·양식·기존 요구사항의 출처 관리",</a:t>
            </a:r>
          </a:p>
          <a:p xmlns:a="http://schemas.openxmlformats.org/drawingml/2006/main">
            <a:r>
              <a:t>        "output": "기존 문서"</a:t>
            </a:r>
          </a:p>
          <a:p xmlns:a="http://schemas.openxmlformats.org/drawingml/2006/main">
            <a:r>
              <a:t>      },</a:t>
            </a:r>
          </a:p>
          <a:p xmlns:a="http://schemas.openxmlformats.org/drawingml/2006/main">
            <a:r>
              <a:t>      {</a:t>
            </a:r>
          </a:p>
          <a:p xmlns:a="http://schemas.openxmlformats.org/drawingml/2006/main">
            <a:r>
              <a:t>        "title": "목차·키워드 추출",</a:t>
            </a:r>
          </a:p>
          <a:p xmlns:a="http://schemas.openxmlformats.org/drawingml/2006/main">
            <a:r>
              <a:t>        "input": "기존 문서",</a:t>
            </a:r>
          </a:p>
          <a:p xmlns:a="http://schemas.openxmlformats.org/drawingml/2006/main">
            <a:r>
              <a:t>        "process": "키워드 추출과 목차별 요구사항 초안 생성",</a:t>
            </a:r>
          </a:p>
          <a:p xmlns:a="http://schemas.openxmlformats.org/drawingml/2006/main">
            <a:r>
              <a:t>        "output": "요구 후보"</a:t>
            </a:r>
          </a:p>
          <a:p xmlns:a="http://schemas.openxmlformats.org/drawingml/2006/main">
            <a:r>
              <a:t>      },</a:t>
            </a:r>
          </a:p>
          <a:p xmlns:a="http://schemas.openxmlformats.org/drawingml/2006/main">
            <a:r>
              <a:t>      {</a:t>
            </a:r>
          </a:p>
          <a:p xmlns:a="http://schemas.openxmlformats.org/drawingml/2006/main">
            <a:r>
              <a:t>        "title": "담당자 검증",</a:t>
            </a:r>
          </a:p>
          <a:p xmlns:a="http://schemas.openxmlformats.org/drawingml/2006/main">
            <a:r>
              <a:t>        "input": "요구 후보",</a:t>
            </a:r>
          </a:p>
          <a:p xmlns:a="http://schemas.openxmlformats.org/drawingml/2006/main">
            <a:r>
              <a:t>        "process": "사업 범위·기존 의무·검수 연결 확인",</a:t>
            </a:r>
          </a:p>
          <a:p xmlns:a="http://schemas.openxmlformats.org/drawingml/2006/main">
            <a:r>
              <a:t>        "output": "검증된 목차"</a:t>
            </a:r>
          </a:p>
          <a:p xmlns:a="http://schemas.openxmlformats.org/drawingml/2006/main">
            <a:r>
              <a:t>      },</a:t>
            </a:r>
          </a:p>
          <a:p xmlns:a="http://schemas.openxmlformats.org/drawingml/2006/main">
            <a:r>
              <a:t>      {</a:t>
            </a:r>
          </a:p>
          <a:p xmlns:a="http://schemas.openxmlformats.org/drawingml/2006/main">
            <a:r>
              <a:t>        "title": "초안 구성",</a:t>
            </a:r>
          </a:p>
          <a:p xmlns:a="http://schemas.openxmlformats.org/drawingml/2006/main">
            <a:r>
              <a:t>        "input": "검증된 목차",</a:t>
            </a:r>
          </a:p>
          <a:p xmlns:a="http://schemas.openxmlformats.org/drawingml/2006/main">
            <a:r>
              <a:t>        "process": "담당자가 범위·중복·검수 가능성을 확인",</a:t>
            </a:r>
          </a:p>
          <a:p xmlns:a="http://schemas.openxmlformats.org/drawingml/2006/main">
            <a:r>
              <a:t>        "output": "RFP 초안"</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 범위에 맞는 RFP 요구와 검수 초안 구성",</a:t>
            </a:r>
          </a:p>
          <a:p xmlns:a="http://schemas.openxmlformats.org/drawingml/2006/main">
            <a:r>
              <a:t>      "exception": "기존 계약 중복·수치 근거 부재·검수 불가능 요구",</a:t>
            </a:r>
          </a:p>
          <a:p xmlns:a="http://schemas.openxmlformats.org/drawingml/2006/main">
            <a:r>
              <a:t>      "evidence": "요구사항별 범위·출처·검수 연결 및 담당자 수정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"발주·사업관리 담당자",</a:t>
            </a:r>
          </a:p>
          <a:p xmlns:a="http://schemas.openxmlformats.org/drawingml/2006/main">
            <a:r>
              <a:t>          "processing": "사업 목적·범위·기존 시스템 입력",</a:t>
            </a:r>
          </a:p>
          <a:p xmlns:a="http://schemas.openxmlformats.org/drawingml/2006/main">
            <a:r>
              <a:t>          "output": "기존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"요구·검수 자료",</a:t>
            </a:r>
          </a:p>
          <a:p xmlns:a="http://schemas.openxmlformats.org/drawingml/2006/main">
            <a:r>
              <a:t>          "processing": "관련 지침·양식·기존 요구사항의 출처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"기존 문서",</a:t>
            </a:r>
          </a:p>
          <a:p xmlns:a="http://schemas.openxmlformats.org/drawingml/2006/main">
            <a:r>
              <a:t>          "processing": "키워드 추출과 목차별 요구사항 초안 생성",</a:t>
            </a:r>
          </a:p>
          <a:p xmlns:a="http://schemas.openxmlformats.org/drawingml/2006/main">
            <a:r>
              <a:t>          "output": "검증된 목차"</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"검증된 목차",</a:t>
            </a:r>
          </a:p>
          <a:p xmlns:a="http://schemas.openxmlformats.org/drawingml/2006/main">
            <a:r>
              <a:t>          "processing": "담당자가 범위·중복·검수 가능성을 확인",</a:t>
            </a:r>
          </a:p>
          <a:p xmlns:a="http://schemas.openxmlformats.org/drawingml/2006/main">
            <a:r>
              <a:t>          "output": "RFP 초안"</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"수정 이력과 요구사항·검수 연결 누락 검사",</a:t>
            </a:r>
          </a:p>
          <a:p xmlns:a="http://schemas.openxmlformats.org/drawingml/2006/main">
            <a:r>
              <a:t>          "output":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"수정 이력과 요구사항·검수 연결 누락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"S-AX25",</a:t>
            </a:r>
          </a:p>
          <a:p xmlns:a="http://schemas.openxmlformats.org/drawingml/2006/main">
            <a:r>
              <a:t>        "title": "조달청 e-제안요청 도움 · 공공AI 사례집 218–219쪽",</a:t>
            </a:r>
          </a:p>
          <a:p xmlns:a="http://schemas.openxmlformats.org/drawingml/2006/main">
            <a:r>
              <a:t>        "url": "https://bigdata.dongjak.go.kr/board/viewArticle?articleNo=954&amp;boardId=4",</a:t>
            </a:r>
          </a:p>
          <a:p xmlns:a="http://schemas.openxmlformats.org/drawingml/2006/main">
            <a:r>
              <a:t>        "published": "2023 PoC / 2024 고도화",</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"추출 근거 검증을 초안 작성 앞단에 배치",</a:t>
            </a:r>
          </a:p>
          <a:p xmlns:a="http://schemas.openxmlformats.org/drawingml/2006/main">
            <a:r>
              <a:t>    "local": "TS 고도화의 재사용·추가 개발·검수 추적 지원",</a:t>
            </a:r>
          </a:p>
          <a:p xmlns:a="http://schemas.openxmlformats.org/drawingml/2006/main">
            <a:r>
              <a:t>    "sourceDetail": null,</a:t>
            </a:r>
          </a:p>
          <a:p xmlns:a="http://schemas.openxmlformats.org/drawingml/2006/main">
            <a:r>
              <a:t>    "narrative": [</a:t>
            </a:r>
          </a:p>
          <a:p xmlns:a="http://schemas.openxmlformats.org/drawingml/2006/main">
            <a:r>
              <a:t>      "기존 RFP와 사업 수요를 분석해 목차·키워드·요구사항 초안을 만드는 지원 사례. 과거 문서를 재활용하면서 신규 범위와 기존 의무의 중복을 피하는 작업이 핵심.",</a:t>
            </a:r>
          </a:p>
          <a:p xmlns:a="http://schemas.openxmlformats.org/drawingml/2006/main">
            <a:r>
              <a:t>      "사업 목적·현재 시스템·추가 개발 범위를 입력하고 목차별 요구 후보를 구성하는 재구성. 담당자가 출처·누락·중복·검수 가능성을 확인한 뒤 요구 ID와 시험 항목을 연결.",</a:t>
            </a:r>
          </a:p>
          <a:p xmlns:a="http://schemas.openxmlformats.org/drawingml/2006/main">
            <a:r>
              <a:t>      "CCK 제안·사업관리 스킬에서는 문서 생성보다 근거와 요구·검수의 추적을 공통 기능으로 활용. 기존 과업 복사, 빈 검수기준, 법령 판본 혼용을 포함한 검토 시나리오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"RFP 작성 요청",</a:t>
            </a:r>
          </a:p>
          <a:p xmlns:a="http://schemas.openxmlformats.org/drawingml/2006/main">
            <a:r>
              <a:t>          "layer": "이용 접점",</a:t>
            </a:r>
          </a:p>
          <a:p xmlns:a="http://schemas.openxmlformats.org/drawingml/2006/main">
            <a:r>
              <a:t>          "detail": "발주·사업관리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"목적·범위·기존",</a:t>
            </a:r>
          </a:p>
          <a:p xmlns:a="http://schemas.openxmlformats.org/drawingml/2006/main">
            <a:r>
              <a:t>          "layer": "업무 문맥",</a:t>
            </a:r>
          </a:p>
          <a:p xmlns:a="http://schemas.openxmlformats.org/drawingml/2006/main">
            <a:r>
              <a:t>          "detail": "사업 목적·범위·기존 시스템 입력",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"지침·요구 조회",</a:t>
            </a:r>
          </a:p>
          <a:p xmlns:a="http://schemas.openxmlformats.org/drawingml/2006/main">
            <a:r>
              <a:t>          "layer": "자료 조회",</a:t>
            </a:r>
          </a:p>
          <a:p xmlns:a="http://schemas.openxmlformats.org/drawingml/2006/main">
            <a:r>
              <a:t>          "detail": "기존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"목차·초안 생성",</a:t>
            </a:r>
          </a:p>
          <a:p xmlns:a="http://schemas.openxmlformats.org/drawingml/2006/main">
            <a:r>
              <a:t>          "layer": "핵심 처리",</a:t>
            </a:r>
          </a:p>
          <a:p xmlns:a="http://schemas.openxmlformats.org/drawingml/2006/main">
            <a:r>
              <a:t>          "detail": "키워드 추출과 목차별 요구사항 초안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"중복·누락 대조",</a:t>
            </a:r>
          </a:p>
          <a:p xmlns:a="http://schemas.openxmlformats.org/drawingml/2006/main">
            <a:r>
              <a:t>          "layer": "결과 검증",</a:t>
            </a:r>
          </a:p>
          <a:p xmlns:a="http://schemas.openxmlformats.org/drawingml/2006/main">
            <a:r>
              <a:t>          "detail": "사업 범위·기존 의무·검수 연결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"발주 담당 검토",</a:t>
            </a:r>
          </a:p>
          <a:p xmlns:a="http://schemas.openxmlformats.org/drawingml/2006/main">
            <a:r>
              <a:t>          "layer": "사람 확인",</a:t>
            </a:r>
          </a:p>
          <a:p xmlns:a="http://schemas.openxmlformats.org/drawingml/2006/main">
            <a:r>
              <a:t>          "detail": "사업 범위에 맞는 RFP 요구와 검수 초안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"요구·검수 명세",</a:t>
            </a:r>
          </a:p>
          <a:p xmlns:a="http://schemas.openxmlformats.org/drawingml/2006/main">
            <a:r>
              <a:t>          "layer": "업무 연결",</a:t>
            </a:r>
          </a:p>
          <a:p xmlns:a="http://schemas.openxmlformats.org/drawingml/2006/main">
            <a:r>
              <a:t>          "detail": "담당자가 범위·중복·검수 가능성을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"변경 추적",</a:t>
            </a:r>
          </a:p>
          <a:p xmlns:a="http://schemas.openxmlformats.org/drawingml/2006/main">
            <a:r>
              <a:t>          "layer": "운영 관측",</a:t>
            </a:r>
          </a:p>
          <a:p xmlns:a="http://schemas.openxmlformats.org/drawingml/2006/main">
            <a:r>
              <a:t>          "detail": "수정 이력과 요구사항·검수 연결 누락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"기존 RFP·수요",</a:t>
            </a:r>
          </a:p>
          <a:p xmlns:a="http://schemas.openxmlformats.org/drawingml/2006/main">
            <a:r>
              <a:t>          "layer": "데이터 원천",</a:t>
            </a:r>
          </a:p>
          <a:p xmlns:a="http://schemas.openxmlformats.org/drawingml/2006/main">
            <a:r>
              <a:t>          "detail": "요구·검수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"목차·ID 구조화",</a:t>
            </a:r>
          </a:p>
          <a:p xmlns:a="http://schemas.openxmlformats.org/drawingml/2006/main">
            <a:r>
              <a:t>          "layer": "준비·갱신",</a:t>
            </a:r>
          </a:p>
          <a:p xmlns:a="http://schemas.openxmlformats.org/drawingml/2006/main">
            <a:r>
              <a:t>          "detail": "관련 지침·양식·기존 요구사항의 출처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"요구·검수 원장",</a:t>
            </a:r>
          </a:p>
          <a:p xmlns:a="http://schemas.openxmlformats.org/drawingml/2006/main">
            <a:r>
              <a:t>          "layer": "상태·지식 저장",</a:t>
            </a:r>
          </a:p>
          <a:p xmlns:a="http://schemas.openxmlformats.org/drawingml/2006/main">
            <a:r>
              <a:t>          "detail": "요구사항별 범위·출처·검수 연결 및 담당자 수정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"기존 의무·범위",</a:t>
            </a:r>
          </a:p>
          <a:p xmlns:a="http://schemas.openxmlformats.org/drawingml/2006/main">
            <a:r>
              <a:t>          "layer": "권한·정책",</a:t>
            </a:r>
          </a:p>
          <a:p xmlns:a="http://schemas.openxmlformats.org/drawingml/2006/main">
            <a:r>
              <a:t>          "detail": "기존 계약 중복·수치 근거 부재·검수 불가능 요구",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"기존 RFP → 목차·키워드 추출 → 담당자 검증 → 초안 구성"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"요구·검수 자료",</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"검증된 목차",</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"요구 후보",</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"검증된 목차",</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"RFP 초안",</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 정보화사업 제안요청서 작성 지원 / 목차 구성·요구 초안·사용자 검증",</a:t>
            </a:r>
          </a:p>
          <a:p xmlns:a="http://schemas.openxmlformats.org/drawingml/2006/main">
            <a:r>
              <a:t>        "extension": "TS 고도화의 재사용·추가 개발·검수 추적 지원"</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"기존 계약 중복·수치 근거 부재·검수 불가능 요구",</a:t>
            </a:r>
          </a:p>
          <a:p xmlns:a="http://schemas.openxmlformats.org/drawingml/2006/main">
            <a:r>
              <a:t>        "hold": "사업 범위·기존 의무·검수 연결 확인",</a:t>
            </a:r>
          </a:p>
          <a:p xmlns:a="http://schemas.openxmlformats.org/drawingml/2006/main">
            <a:r>
              <a:t>        "recovery": "수정 이력과 요구사항·검수 연결 누락 검사",</a:t>
            </a:r>
          </a:p>
          <a:p xmlns:a="http://schemas.openxmlformats.org/drawingml/2006/main">
            <a:r>
              <a:t>        "evidence": "요구사항별 범위·출처·검수 연결 및 담당자 수정 기록"</a:t>
            </a:r>
          </a:p>
          <a:p xmlns:a="http://schemas.openxmlformats.org/drawingml/2006/main">
            <a:r>
              <a:t>      },</a:t>
            </a:r>
          </a:p>
          <a:p xmlns:a="http://schemas.openxmlformats.org/drawingml/2006/main">
            <a:r>
              <a:t>      "data": {</a:t>
            </a:r>
          </a:p>
          <a:p xmlns:a="http://schemas.openxmlformats.org/drawingml/2006/main">
            <a:r>
              <a:t>        "source": "요구·검수 자료",</a:t>
            </a:r>
          </a:p>
          <a:p xmlns:a="http://schemas.openxmlformats.org/drawingml/2006/main">
            <a:r>
              <a:t>        "prepare": "관련 지침·양식·기존 요구사항의 출처 관리",</a:t>
            </a:r>
          </a:p>
          <a:p xmlns:a="http://schemas.openxmlformats.org/drawingml/2006/main">
            <a:r>
              <a:t>        "output": "기존 문서",</a:t>
            </a:r>
          </a:p>
          <a:p xmlns:a="http://schemas.openxmlformats.org/drawingml/2006/main">
            <a:r>
              <a:t>        "refresh": "수정 이력과 요구사항·검수 연결 누락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"AX25",</a:t>
            </a:r>
          </a:p>
          <a:p xmlns:a="http://schemas.openxmlformats.org/drawingml/2006/main">
            <a:r>
              <a:t>    "success": [</a:t>
            </a:r>
          </a:p>
          <a:p xmlns:a="http://schemas.openxmlformats.org/drawingml/2006/main">
            <a:r>
              <a:t>      "RFP 목차·키워드의 구조화",</a:t>
            </a:r>
          </a:p>
          <a:p xmlns:a="http://schemas.openxmlformats.org/drawingml/2006/main">
            <a:r>
              <a:t>      "사용자 검증을 통한 초안 구성"</a:t>
            </a:r>
          </a:p>
          <a:p xmlns:a="http://schemas.openxmlformats.org/drawingml/2006/main">
            <a:r>
              <a:t>    ],</a:t>
            </a:r>
          </a:p>
          <a:p xmlns:a="http://schemas.openxmlformats.org/drawingml/2006/main">
            <a:r>
              <a:t>    "risks": [</a:t>
            </a:r>
          </a:p>
          <a:p xmlns:a="http://schemas.openxmlformats.org/drawingml/2006/main">
            <a:r>
              <a:t>      "과거 과업의 무비판적 재사용",</a:t>
            </a:r>
          </a:p>
          <a:p xmlns:a="http://schemas.openxmlformats.org/drawingml/2006/main">
            <a:r>
              <a:t>      "필수 요구·검수 항목 누락"</a:t>
            </a:r>
          </a:p>
          <a:p xmlns:a="http://schemas.openxmlformats.org/drawingml/2006/main">
            <a:r>
              <a:t>    ],</a:t>
            </a:r>
          </a:p>
          <a:p xmlns:a="http://schemas.openxmlformats.org/drawingml/2006/main">
            <a:r>
              <a:t>    "architecture": [</a:t>
            </a:r>
          </a:p>
          <a:p xmlns:a="http://schemas.openxmlformats.org/drawingml/2006/main">
            <a:r>
              <a:t>      "기존 RFP·수요",</a:t>
            </a:r>
          </a:p>
          <a:p xmlns:a="http://schemas.openxmlformats.org/drawingml/2006/main">
            <a:r>
              <a:t>      "목차·키워드 분석",</a:t>
            </a:r>
          </a:p>
          <a:p xmlns:a="http://schemas.openxmlformats.org/drawingml/2006/main">
            <a:r>
              <a:t>      "요구·검수 자료",</a:t>
            </a:r>
          </a:p>
          <a:p xmlns:a="http://schemas.openxmlformats.org/drawingml/2006/main">
            <a:r>
              <a:t>      "발주 담당자"</a:t>
            </a:r>
          </a:p>
          <a:p xmlns:a="http://schemas.openxmlformats.org/drawingml/2006/main">
            <a:r>
              <a:t>    ],</a:t>
            </a:r>
          </a:p>
          <a:p xmlns:a="http://schemas.openxmlformats.org/drawingml/2006/main">
            <a:r>
              <a:t>    "transfers": [</a:t>
            </a:r>
          </a:p>
          <a:p xmlns:a="http://schemas.openxmlformats.org/drawingml/2006/main">
            <a:r>
              <a:t>      "기존 문서",</a:t>
            </a:r>
          </a:p>
          <a:p xmlns:a="http://schemas.openxmlformats.org/drawingml/2006/main">
            <a:r>
              <a:t>      "요구 후보",</a:t>
            </a:r>
          </a:p>
          <a:p xmlns:a="http://schemas.openxmlformats.org/drawingml/2006/main">
            <a:r>
              <a:t>      "검증된 목차",</a:t>
            </a:r>
          </a:p>
          <a:p xmlns:a="http://schemas.openxmlformats.org/drawingml/2006/main">
            <a:r>
              <a:t>      "RFP 초안"</a:t>
            </a:r>
          </a:p>
          <a:p xmlns:a="http://schemas.openxmlformats.org/drawingml/2006/main">
            <a:r>
              <a:t>    ],</a:t>
            </a:r>
          </a:p>
          <a:p xmlns:a="http://schemas.openxmlformats.org/drawingml/2006/main">
            <a:r>
              <a:t>    "control": "사업 범위·기존 의무·검수 연결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조달청 e-제안요청 도움 · 공공AI 사례집 218–219쪽 https://bigdata.dongjak.go.kr/board/viewArticle?articleNo=954&amp;boardId=4</a:t>
            </a:r>
          </a:p>
          <a:p xmlns:a="http://schemas.openxmlformats.org/drawingml/2006/main">
            <a:r>
              <a:t>홈페이지 https://heen1987-ops.github.io/TS-business-Plan-001/index.html?view=casebook&amp;case=AX25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"AX25",</a:t>
            </a:r>
          </a:p>
          <a:p xmlns:a="http://schemas.openxmlformats.org/drawingml/2006/main">
            <a:r>
              <a:t>    "title": "조달청 e-제안요청 도움",</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"RFP 초안 작성 지원",</a:t>
            </a:r>
          </a:p>
          <a:p xmlns:a="http://schemas.openxmlformats.org/drawingml/2006/main">
            <a:r>
              <a:t>    "period": "2023 PoC / 2024 고도화",</a:t>
            </a:r>
          </a:p>
          <a:p xmlns:a="http://schemas.openxmlformats.org/drawingml/2006/main">
            <a:r>
              <a:t>    "sources": [</a:t>
            </a:r>
          </a:p>
          <a:p xmlns:a="http://schemas.openxmlformats.org/drawingml/2006/main">
            <a:r>
              <a:t>      "S-AX25"</a:t>
            </a:r>
          </a:p>
          <a:p xmlns:a="http://schemas.openxmlformats.org/drawingml/2006/main">
            <a:r>
              <a:t>    ],</a:t>
            </a:r>
          </a:p>
          <a:p xmlns:a="http://schemas.openxmlformats.org/drawingml/2006/main">
            <a:r>
              <a:t>    "keywords": [</a:t>
            </a:r>
          </a:p>
          <a:p xmlns:a="http://schemas.openxmlformats.org/drawingml/2006/main">
            <a:r>
              <a:t>      "RFP 초안 작성 지원"</a:t>
            </a:r>
          </a:p>
          <a:p xmlns:a="http://schemas.openxmlformats.org/drawingml/2006/main">
            <a:r>
              <a:t>    ],</a:t>
            </a:r>
          </a:p>
          <a:p xmlns:a="http://schemas.openxmlformats.org/drawingml/2006/main">
            <a:r>
              <a:t>    "fact": "제안요청서 목차별 초안 생성과 키워드 추출·사용자 검증을 결합한 실증 고도화",</a:t>
            </a:r>
          </a:p>
          <a:p xmlns:a="http://schemas.openxmlformats.org/drawingml/2006/main">
            <a:r>
              <a:t>    "limit": "작성 지원 범위 · 요구사항·예산의 자동 승인과 구분",</a:t>
            </a:r>
          </a:p>
          <a:p xmlns:a="http://schemas.openxmlformats.org/drawingml/2006/main">
            <a:r>
              <a:t>    "flow": [</a:t>
            </a:r>
          </a:p>
          <a:p xmlns:a="http://schemas.openxmlformats.org/drawingml/2006/main">
            <a:r>
              <a:t>      "기존 RFP",</a:t>
            </a:r>
          </a:p>
          <a:p xmlns:a="http://schemas.openxmlformats.org/drawingml/2006/main">
            <a:r>
              <a:t>      "목차·키워드 추출",</a:t>
            </a:r>
          </a:p>
          <a:p xmlns:a="http://schemas.openxmlformats.org/drawingml/2006/main">
            <a:r>
              <a:t>      "담당자 검증",</a:t>
            </a:r>
          </a:p>
          <a:p xmlns:a="http://schemas.openxmlformats.org/drawingml/2006/main">
            <a:r>
              <a:t>      "초안 구성"</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"추출 근거 검증을 초안 작성 앞단에 배치",</a:t>
            </a:r>
          </a:p>
          <a:p xmlns:a="http://schemas.openxmlformats.org/drawingml/2006/main">
            <a:r>
              <a:t>    "local": "TS 고도화의 재사용·추가 개발·검수 추적 지원",</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"요구ID·원문·산출물·검수의 누락 검사",</a:t>
            </a:r>
          </a:p>
          <a:p xmlns:a="http://schemas.openxmlformats.org/drawingml/2006/main">
            <a:r>
              <a:t>    "test": "누락·중복·상충 요구 및 근거 없는 성능 목표 탐지",</a:t>
            </a:r>
          </a:p>
          <a:p xmlns:a="http://schemas.openxmlformats.org/drawingml/2006/main">
            <a:r>
              <a:t>    "metric": "작성·보완 시간 / 추적 누락률",</a:t>
            </a:r>
          </a:p>
          <a:p xmlns:a="http://schemas.openxmlformats.org/drawingml/2006/main">
            <a:r>
              <a:t>    "strategies": [</a:t>
            </a:r>
          </a:p>
          <a:p xmlns:a="http://schemas.openxmlformats.org/drawingml/2006/main">
            <a:r>
              <a:t>      "ST-04",</a:t>
            </a:r>
          </a:p>
          <a:p xmlns:a="http://schemas.openxmlformats.org/drawingml/2006/main">
            <a:r>
              <a:t>      "ST-10"</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"AX25",</a:t>
            </a:r>
          </a:p>
          <a:p xmlns:a="http://schemas.openxmlformats.org/drawingml/2006/main">
            <a:r>
              <a:t>    "canonicalId": "AX25",</a:t>
            </a:r>
          </a:p>
          <a:p xmlns:a="http://schemas.openxmlformats.org/drawingml/2006/main">
            <a:r>
              <a:t>    "purpose": "공공 정보화사업 제안요청서 작성 지원",</a:t>
            </a:r>
          </a:p>
          <a:p xmlns:a="http://schemas.openxmlformats.org/drawingml/2006/main">
            <a:r>
              <a:t>    "users": "발주·사업관리 담당자",</a:t>
            </a:r>
          </a:p>
          <a:p xmlns:a="http://schemas.openxmlformats.org/drawingml/2006/main">
            <a:r>
              <a:t>    "scope": [</a:t>
            </a:r>
          </a:p>
          <a:p xmlns:a="http://schemas.openxmlformats.org/drawingml/2006/main">
            <a:r>
              <a:t>      "목차 구성",</a:t>
            </a:r>
          </a:p>
          <a:p xmlns:a="http://schemas.openxmlformats.org/drawingml/2006/main">
            <a:r>
              <a:t>      "요구 초안",</a:t>
            </a:r>
          </a:p>
          <a:p xmlns:a="http://schemas.openxmlformats.org/drawingml/2006/main">
            <a:r>
              <a:t>      "사용자 검증"</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"기존 RFP·수요",</a:t>
            </a:r>
          </a:p>
          <a:p xmlns:a="http://schemas.openxmlformats.org/drawingml/2006/main">
            <a:r>
              <a:t>        "detail": "사업 목적·범위·기존 시스템 입력",</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"목차 구성 / 요구 초안 / 사용자 검증",</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"목차·키워드 분석",</a:t>
            </a:r>
          </a:p>
          <a:p xmlns:a="http://schemas.openxmlformats.org/drawingml/2006/main">
            <a:r>
              <a:t>        "detail": "키워드 추출과 목차별 요구사항 초안 생성",</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"발주 담당자",</a:t>
            </a:r>
          </a:p>
          <a:p xmlns:a="http://schemas.openxmlformats.org/drawingml/2006/main">
            <a:r>
              <a:t>        "detail": "담당자가 범위·중복·검수 가능성을 확인",</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"요구·검수 자료",</a:t>
            </a:r>
          </a:p>
          <a:p xmlns:a="http://schemas.openxmlformats.org/drawingml/2006/main">
            <a:r>
              <a:t>        "detail": "관련 지침·양식·기존 요구사항의 출처 관리",</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"수정 이력과 요구사항·검수 연결 누락 검사",</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"기존 RFP",</a:t>
            </a:r>
          </a:p>
          <a:p xmlns:a="http://schemas.openxmlformats.org/drawingml/2006/main">
            <a:r>
              <a:t>        "input": "사업 목적·범위·기존 시스템 입력",</a:t>
            </a:r>
          </a:p>
          <a:p xmlns:a="http://schemas.openxmlformats.org/drawingml/2006/main">
            <a:r>
              <a:t>        "process": "관련 지침·양식·기존 요구사항의 출처 관리",</a:t>
            </a:r>
          </a:p>
          <a:p xmlns:a="http://schemas.openxmlformats.org/drawingml/2006/main">
            <a:r>
              <a:t>        "output": "기존 문서"</a:t>
            </a:r>
          </a:p>
          <a:p xmlns:a="http://schemas.openxmlformats.org/drawingml/2006/main">
            <a:r>
              <a:t>      },</a:t>
            </a:r>
          </a:p>
          <a:p xmlns:a="http://schemas.openxmlformats.org/drawingml/2006/main">
            <a:r>
              <a:t>      {</a:t>
            </a:r>
          </a:p>
          <a:p xmlns:a="http://schemas.openxmlformats.org/drawingml/2006/main">
            <a:r>
              <a:t>        "title": "목차·키워드 추출",</a:t>
            </a:r>
          </a:p>
          <a:p xmlns:a="http://schemas.openxmlformats.org/drawingml/2006/main">
            <a:r>
              <a:t>        "input": "기존 문서",</a:t>
            </a:r>
          </a:p>
          <a:p xmlns:a="http://schemas.openxmlformats.org/drawingml/2006/main">
            <a:r>
              <a:t>        "process": "키워드 추출과 목차별 요구사항 초안 생성",</a:t>
            </a:r>
          </a:p>
          <a:p xmlns:a="http://schemas.openxmlformats.org/drawingml/2006/main">
            <a:r>
              <a:t>        "output": "요구 후보"</a:t>
            </a:r>
          </a:p>
          <a:p xmlns:a="http://schemas.openxmlformats.org/drawingml/2006/main">
            <a:r>
              <a:t>      },</a:t>
            </a:r>
          </a:p>
          <a:p xmlns:a="http://schemas.openxmlformats.org/drawingml/2006/main">
            <a:r>
              <a:t>      {</a:t>
            </a:r>
          </a:p>
          <a:p xmlns:a="http://schemas.openxmlformats.org/drawingml/2006/main">
            <a:r>
              <a:t>        "title": "담당자 검증",</a:t>
            </a:r>
          </a:p>
          <a:p xmlns:a="http://schemas.openxmlformats.org/drawingml/2006/main">
            <a:r>
              <a:t>        "input": "요구 후보",</a:t>
            </a:r>
          </a:p>
          <a:p xmlns:a="http://schemas.openxmlformats.org/drawingml/2006/main">
            <a:r>
              <a:t>        "process": "사업 범위·기존 의무·검수 연결 확인",</a:t>
            </a:r>
          </a:p>
          <a:p xmlns:a="http://schemas.openxmlformats.org/drawingml/2006/main">
            <a:r>
              <a:t>        "output": "검증된 목차"</a:t>
            </a:r>
          </a:p>
          <a:p xmlns:a="http://schemas.openxmlformats.org/drawingml/2006/main">
            <a:r>
              <a:t>      },</a:t>
            </a:r>
          </a:p>
          <a:p xmlns:a="http://schemas.openxmlformats.org/drawingml/2006/main">
            <a:r>
              <a:t>      {</a:t>
            </a:r>
          </a:p>
          <a:p xmlns:a="http://schemas.openxmlformats.org/drawingml/2006/main">
            <a:r>
              <a:t>        "title": "초안 구성",</a:t>
            </a:r>
          </a:p>
          <a:p xmlns:a="http://schemas.openxmlformats.org/drawingml/2006/main">
            <a:r>
              <a:t>        "input": "검증된 목차",</a:t>
            </a:r>
          </a:p>
          <a:p xmlns:a="http://schemas.openxmlformats.org/drawingml/2006/main">
            <a:r>
              <a:t>        "process": "담당자가 범위·중복·검수 가능성을 확인",</a:t>
            </a:r>
          </a:p>
          <a:p xmlns:a="http://schemas.openxmlformats.org/drawingml/2006/main">
            <a:r>
              <a:t>        "output": "RFP 초안"</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"사업 범위에 맞는 RFP 요구와 검수 초안 구성",</a:t>
            </a:r>
          </a:p>
          <a:p xmlns:a="http://schemas.openxmlformats.org/drawingml/2006/main">
            <a:r>
              <a:t>      "exception": "기존 계약 중복·수치 근거 부재·검수 불가능 요구",</a:t>
            </a:r>
          </a:p>
          <a:p xmlns:a="http://schemas.openxmlformats.org/drawingml/2006/main">
            <a:r>
              <a:t>      "evidence": "요구사항별 범위·출처·검수 연결 및 담당자 수정 기록",</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"발주·사업관리 담당자",</a:t>
            </a:r>
          </a:p>
          <a:p xmlns:a="http://schemas.openxmlformats.org/drawingml/2006/main">
            <a:r>
              <a:t>          "processing": "사업 목적·범위·기존 시스템 입력",</a:t>
            </a:r>
          </a:p>
          <a:p xmlns:a="http://schemas.openxmlformats.org/drawingml/2006/main">
            <a:r>
              <a:t>          "output": "기존 문서"</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"요구·검수 자료",</a:t>
            </a:r>
          </a:p>
          <a:p xmlns:a="http://schemas.openxmlformats.org/drawingml/2006/main">
            <a:r>
              <a:t>          "processing": "관련 지침·양식·기존 요구사항의 출처 관리",</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"기존 문서",</a:t>
            </a:r>
          </a:p>
          <a:p xmlns:a="http://schemas.openxmlformats.org/drawingml/2006/main">
            <a:r>
              <a:t>          "processing": "키워드 추출과 목차별 요구사항 초안 생성",</a:t>
            </a:r>
          </a:p>
          <a:p xmlns:a="http://schemas.openxmlformats.org/drawingml/2006/main">
            <a:r>
              <a:t>          "output": "검증된 목차"</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"검증된 목차",</a:t>
            </a:r>
          </a:p>
          <a:p xmlns:a="http://schemas.openxmlformats.org/drawingml/2006/main">
            <a:r>
              <a:t>          "processing": "담당자가 범위·중복·검수 가능성을 확인",</a:t>
            </a:r>
          </a:p>
          <a:p xmlns:a="http://schemas.openxmlformats.org/drawingml/2006/main">
            <a:r>
              <a:t>          "output": "RFP 초안"</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"수정 이력과 요구사항·검수 연결 누락 검사",</a:t>
            </a:r>
          </a:p>
          <a:p xmlns:a="http://schemas.openxmlformats.org/drawingml/2006/main">
            <a:r>
              <a:t>          "output":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"수정 이력과 요구사항·검수 연결 누락 검사",</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"S-AX25",</a:t>
            </a:r>
          </a:p>
          <a:p xmlns:a="http://schemas.openxmlformats.org/drawingml/2006/main">
            <a:r>
              <a:t>        "title": "조달청 e-제안요청 도움 · 공공AI 사례집 218–219쪽",</a:t>
            </a:r>
          </a:p>
          <a:p xmlns:a="http://schemas.openxmlformats.org/drawingml/2006/main">
            <a:r>
              <a:t>        "url": "https://bigdata.dongjak.go.kr/board/viewArticle?articleNo=954&amp;boardId=4",</a:t>
            </a:r>
          </a:p>
          <a:p xmlns:a="http://schemas.openxmlformats.org/drawingml/2006/main">
            <a:r>
              <a:t>        "published": "2023 PoC / 2024 고도화",</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"추출 근거 검증을 초안 작성 앞단에 배치",</a:t>
            </a:r>
          </a:p>
          <a:p xmlns:a="http://schemas.openxmlformats.org/drawingml/2006/main">
            <a:r>
              <a:t>    "local": "TS 고도화의 재사용·추가 개발·검수 추적 지원",</a:t>
            </a:r>
          </a:p>
          <a:p xmlns:a="http://schemas.openxmlformats.org/drawingml/2006/main">
            <a:r>
              <a:t>    "sourceDetail": null,</a:t>
            </a:r>
          </a:p>
          <a:p xmlns:a="http://schemas.openxmlformats.org/drawingml/2006/main">
            <a:r>
              <a:t>    "narrative": [</a:t>
            </a:r>
          </a:p>
          <a:p xmlns:a="http://schemas.openxmlformats.org/drawingml/2006/main">
            <a:r>
              <a:t>      "기존 RFP와 사업 수요를 분석해 목차·키워드·요구사항 초안을 만드는 지원 사례. 과거 문서를 재활용하면서 신규 범위와 기존 의무의 중복을 피하는 작업이 핵심.",</a:t>
            </a:r>
          </a:p>
          <a:p xmlns:a="http://schemas.openxmlformats.org/drawingml/2006/main">
            <a:r>
              <a:t>      "사업 목적·현재 시스템·추가 개발 범위를 입력하고 목차별 요구 후보를 구성하는 재구성. 담당자가 출처·누락·중복·검수 가능성을 확인한 뒤 요구 ID와 시험 항목을 연결.",</a:t>
            </a:r>
          </a:p>
          <a:p xmlns:a="http://schemas.openxmlformats.org/drawingml/2006/main">
            <a:r>
              <a:t>      "CCK 제안·사업관리 스킬에서는 문서 생성보다 근거와 요구·검수의 추적을 공통 기능으로 활용. 기존 과업 복사, 빈 검수기준, 법령 판본 혼용을 포함한 검토 시나리오 필요."</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"RFP 작성 요청",</a:t>
            </a:r>
          </a:p>
          <a:p xmlns:a="http://schemas.openxmlformats.org/drawingml/2006/main">
            <a:r>
              <a:t>          "layer": "이용 접점",</a:t>
            </a:r>
          </a:p>
          <a:p xmlns:a="http://schemas.openxmlformats.org/drawingml/2006/main">
            <a:r>
              <a:t>          "detail": "발주·사업관리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"목적·범위·기존",</a:t>
            </a:r>
          </a:p>
          <a:p xmlns:a="http://schemas.openxmlformats.org/drawingml/2006/main">
            <a:r>
              <a:t>          "layer": "업무 문맥",</a:t>
            </a:r>
          </a:p>
          <a:p xmlns:a="http://schemas.openxmlformats.org/drawingml/2006/main">
            <a:r>
              <a:t>          "detail": "사업 목적·범위·기존 시스템 입력",</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"지침·요구 조회",</a:t>
            </a:r>
          </a:p>
          <a:p xmlns:a="http://schemas.openxmlformats.org/drawingml/2006/main">
            <a:r>
              <a:t>          "layer": "자료 조회",</a:t>
            </a:r>
          </a:p>
          <a:p xmlns:a="http://schemas.openxmlformats.org/drawingml/2006/main">
            <a:r>
              <a:t>          "detail": "기존 문서",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"목차·초안 생성",</a:t>
            </a:r>
          </a:p>
          <a:p xmlns:a="http://schemas.openxmlformats.org/drawingml/2006/main">
            <a:r>
              <a:t>          "layer": "핵심 처리",</a:t>
            </a:r>
          </a:p>
          <a:p xmlns:a="http://schemas.openxmlformats.org/drawingml/2006/main">
            <a:r>
              <a:t>          "detail": "키워드 추출과 목차별 요구사항 초안 생성",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"중복·누락 대조",</a:t>
            </a:r>
          </a:p>
          <a:p xmlns:a="http://schemas.openxmlformats.org/drawingml/2006/main">
            <a:r>
              <a:t>          "layer": "결과 검증",</a:t>
            </a:r>
          </a:p>
          <a:p xmlns:a="http://schemas.openxmlformats.org/drawingml/2006/main">
            <a:r>
              <a:t>          "detail": "사업 범위·기존 의무·검수 연결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"발주 담당 검토",</a:t>
            </a:r>
          </a:p>
          <a:p xmlns:a="http://schemas.openxmlformats.org/drawingml/2006/main">
            <a:r>
              <a:t>          "layer": "사람 확인",</a:t>
            </a:r>
          </a:p>
          <a:p xmlns:a="http://schemas.openxmlformats.org/drawingml/2006/main">
            <a:r>
              <a:t>          "detail": "사업 범위에 맞는 RFP 요구와 검수 초안 구성",</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"요구·검수 명세",</a:t>
            </a:r>
          </a:p>
          <a:p xmlns:a="http://schemas.openxmlformats.org/drawingml/2006/main">
            <a:r>
              <a:t>          "layer": "업무 연결",</a:t>
            </a:r>
          </a:p>
          <a:p xmlns:a="http://schemas.openxmlformats.org/drawingml/2006/main">
            <a:r>
              <a:t>          "detail": "담당자가 범위·중복·검수 가능성을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"변경 추적",</a:t>
            </a:r>
          </a:p>
          <a:p xmlns:a="http://schemas.openxmlformats.org/drawingml/2006/main">
            <a:r>
              <a:t>          "layer": "운영 관측",</a:t>
            </a:r>
          </a:p>
          <a:p xmlns:a="http://schemas.openxmlformats.org/drawingml/2006/main">
            <a:r>
              <a:t>          "detail": "수정 이력과 요구사항·검수 연결 누락 검사",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"기존 RFP·수요",</a:t>
            </a:r>
          </a:p>
          <a:p xmlns:a="http://schemas.openxmlformats.org/drawingml/2006/main">
            <a:r>
              <a:t>          "layer": "데이터 원천",</a:t>
            </a:r>
          </a:p>
          <a:p xmlns:a="http://schemas.openxmlformats.org/drawingml/2006/main">
            <a:r>
              <a:t>          "detail": "요구·검수 자료",</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"목차·ID 구조화",</a:t>
            </a:r>
          </a:p>
          <a:p xmlns:a="http://schemas.openxmlformats.org/drawingml/2006/main">
            <a:r>
              <a:t>          "layer": "준비·갱신",</a:t>
            </a:r>
          </a:p>
          <a:p xmlns:a="http://schemas.openxmlformats.org/drawingml/2006/main">
            <a:r>
              <a:t>          "detail": "관련 지침·양식·기존 요구사항의 출처 관리",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"요구·검수 원장",</a:t>
            </a:r>
          </a:p>
          <a:p xmlns:a="http://schemas.openxmlformats.org/drawingml/2006/main">
            <a:r>
              <a:t>          "layer": "상태·지식 저장",</a:t>
            </a:r>
          </a:p>
          <a:p xmlns:a="http://schemas.openxmlformats.org/drawingml/2006/main">
            <a:r>
              <a:t>          "detail": "요구사항별 범위·출처·검수 연결 및 담당자 수정 기록",</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"기존 의무·범위",</a:t>
            </a:r>
          </a:p>
          <a:p xmlns:a="http://schemas.openxmlformats.org/drawingml/2006/main">
            <a:r>
              <a:t>          "layer": "권한·정책",</a:t>
            </a:r>
          </a:p>
          <a:p xmlns:a="http://schemas.openxmlformats.org/drawingml/2006/main">
            <a:r>
              <a:t>          "detail": "기존 계약 중복·수치 근거 부재·검수 불가능 요구",</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"document",</a:t>
            </a:r>
          </a:p>
          <a:p xmlns:a="http://schemas.openxmlformats.org/drawingml/2006/main">
            <a:r>
              <a:t>        "label": "원문 추출·대조·사람 확정",</a:t>
            </a:r>
          </a:p>
          <a:p xmlns:a="http://schemas.openxmlformats.org/drawingml/2006/main">
            <a:r>
              <a:t>        "rows": [</a:t>
            </a:r>
          </a:p>
          <a:p xmlns:a="http://schemas.openxmlformats.org/drawingml/2006/main">
            <a:r>
              <a:t>          [</a:t>
            </a:r>
          </a:p>
          <a:p xmlns:a="http://schemas.openxmlformats.org/drawingml/2006/main">
            <a:r>
              <a:t>            "C01",</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"C03",</a:t>
            </a:r>
          </a:p>
          <a:p xmlns:a="http://schemas.openxmlformats.org/drawingml/2006/main">
            <a:r>
              <a:t>            "C11",</a:t>
            </a:r>
          </a:p>
          <a:p xmlns:a="http://schemas.openxmlformats.org/drawingml/2006/main">
            <a:r>
              <a:t>            "C08"</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"C01",</a:t>
            </a:r>
          </a:p>
          <a:p xmlns:a="http://schemas.openxmlformats.org/drawingml/2006/main">
            <a:r>
              <a:t>            "to": "C04",</a:t>
            </a:r>
          </a:p>
          <a:p xmlns:a="http://schemas.openxmlformats.org/drawingml/2006/main">
            <a:r>
              <a:t>            "kind": "service",</a:t>
            </a:r>
          </a:p>
          <a:p xmlns:a="http://schemas.openxmlformats.org/drawingml/2006/main">
            <a:r>
              <a:t>            "mode": "서류·요청"</a:t>
            </a:r>
          </a:p>
          <a:p xmlns:a="http://schemas.openxmlformats.org/drawingml/2006/main">
            <a:r>
              <a:t>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"원문 반입"</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"C04",</a:t>
            </a:r>
          </a:p>
          <a:p xmlns:a="http://schemas.openxmlformats.org/drawingml/2006/main">
            <a:r>
              <a:t>            "kind": "data",</a:t>
            </a:r>
          </a:p>
          <a:p xmlns:a="http://schemas.openxmlformats.org/drawingml/2006/main">
            <a:r>
              <a:t>            "mode": "정제 원문"</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"C05",</a:t>
            </a:r>
          </a:p>
          <a:p xmlns:a="http://schemas.openxmlformats.org/drawingml/2006/main">
            <a:r>
              <a:t>            "kind": "data",</a:t>
            </a:r>
          </a:p>
          <a:p xmlns:a="http://schemas.openxmlformats.org/drawingml/2006/main">
            <a:r>
              <a:t>            "mode": "규정·대조 기준"</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"추출값"</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"불일치·누락"</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"확정 결과"</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"C11",</a:t>
            </a:r>
          </a:p>
          <a:p xmlns:a="http://schemas.openxmlformats.org/drawingml/2006/main">
            <a:r>
              <a:t>            "kind": "record",</a:t>
            </a:r>
          </a:p>
          <a:p xmlns:a="http://schemas.openxmlformats.org/drawingml/2006/main">
            <a:r>
              <a:t>            "mode": "판정 이력"</a:t>
            </a:r>
          </a:p>
          <a:p xmlns:a="http://schemas.openxmlformats.org/drawingml/2006/main">
            <a:r>
              <a:t>          },</a:t>
            </a:r>
          </a:p>
          <a:p xmlns:a="http://schemas.openxmlformats.org/drawingml/2006/main">
            <a:r>
              <a:t>          {</a:t>
            </a:r>
          </a:p>
          <a:p xmlns:a="http://schemas.openxmlformats.org/drawingml/2006/main">
            <a:r>
              <a:t>            "from": "C07",</a:t>
            </a:r>
          </a:p>
          <a:p xmlns:a="http://schemas.openxmlformats.org/drawingml/2006/main">
            <a:r>
              <a:t>            "to": "C08",</a:t>
            </a:r>
          </a:p>
          <a:p xmlns:a="http://schemas.openxmlformats.org/drawingml/2006/main">
            <a:r>
              <a:t>            "kind": "record",</a:t>
            </a:r>
          </a:p>
          <a:p xmlns:a="http://schemas.openxmlformats.org/drawingml/2006/main">
            <a:r>
              <a:t>            "mode": "업무 결과"</a:t>
            </a:r>
          </a:p>
          <a:p xmlns:a="http://schemas.openxmlformats.org/drawingml/2006/main">
            <a:r>
              <a:t>          }</a:t>
            </a:r>
          </a:p>
          <a:p xmlns:a="http://schemas.openxmlformats.org/drawingml/2006/main">
            <a:r>
              <a:t>        ],</a:t>
            </a:r>
          </a:p>
          <a:p xmlns:a="http://schemas.openxmlformats.org/drawingml/2006/main">
            <a:r>
              <a:t>        "summary": "기존 RFP → 목차·키워드 추출 → 담당자 검증 → 초안 구성"</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"원문 반입",</a:t>
            </a:r>
          </a:p>
          <a:p xmlns:a="http://schemas.openxmlformats.org/drawingml/2006/main">
            <a:r>
              <a:t>          "payload": "요구·검수 자료",</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"C04",</a:t>
            </a:r>
          </a:p>
          <a:p xmlns:a="http://schemas.openxmlformats.org/drawingml/2006/main">
            <a:r>
              <a:t>          "mode": "정제 원문",</a:t>
            </a:r>
          </a:p>
          <a:p xmlns:a="http://schemas.openxmlformats.org/drawingml/2006/main">
            <a:r>
              <a:t>          "payload": "처리에 사용할 자료·출처·문맥",</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"C04",</a:t>
            </a:r>
          </a:p>
          <a:p xmlns:a="http://schemas.openxmlformats.org/drawingml/2006/main">
            <a:r>
              <a:t>          "to": "C05",</a:t>
            </a:r>
          </a:p>
          <a:p xmlns:a="http://schemas.openxmlformats.org/drawingml/2006/main">
            <a:r>
              <a:t>          "mode": "추출값",</a:t>
            </a:r>
          </a:p>
          <a:p xmlns:a="http://schemas.openxmlformats.org/drawingml/2006/main">
            <a:r>
              <a:t>          "payload": "검증된 목차",</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"C03",</a:t>
            </a:r>
          </a:p>
          <a:p xmlns:a="http://schemas.openxmlformats.org/drawingml/2006/main">
            <a:r>
              <a:t>          "to": "C05",</a:t>
            </a:r>
          </a:p>
          <a:p xmlns:a="http://schemas.openxmlformats.org/drawingml/2006/main">
            <a:r>
              <a:t>          "mode": "규정·대조 기준",</a:t>
            </a:r>
          </a:p>
          <a:p xmlns:a="http://schemas.openxmlformats.org/drawingml/2006/main">
            <a:r>
              <a:t>          "payload": "요구 후보",</a:t>
            </a:r>
          </a:p>
          <a:p xmlns:a="http://schemas.openxmlformats.org/drawingml/2006/main">
            <a:r>
              <a:t>          "check": "관련 지침·양식·기존 요구사항의 출처 관리"</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"C05",</a:t>
            </a:r>
          </a:p>
          <a:p xmlns:a="http://schemas.openxmlformats.org/drawingml/2006/main">
            <a:r>
              <a:t>          "to": "C06",</a:t>
            </a:r>
          </a:p>
          <a:p xmlns:a="http://schemas.openxmlformats.org/drawingml/2006/main">
            <a:r>
              <a:t>          "mode": "불일치·누락",</a:t>
            </a:r>
          </a:p>
          <a:p xmlns:a="http://schemas.openxmlformats.org/drawingml/2006/main">
            <a:r>
              <a:t>          "payload": "검증된 목차",</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"C06",</a:t>
            </a:r>
          </a:p>
          <a:p xmlns:a="http://schemas.openxmlformats.org/drawingml/2006/main">
            <a:r>
              <a:t>          "to": "C07",</a:t>
            </a:r>
          </a:p>
          <a:p xmlns:a="http://schemas.openxmlformats.org/drawingml/2006/main">
            <a:r>
              <a:t>          "mode": "확정 결과",</a:t>
            </a:r>
          </a:p>
          <a:p xmlns:a="http://schemas.openxmlformats.org/drawingml/2006/main">
            <a:r>
              <a:t>          "payload": "RFP 초안",</a:t>
            </a:r>
          </a:p>
          <a:p xmlns:a="http://schemas.openxmlformats.org/drawingml/2006/main">
            <a:r>
              <a:t>          "check": "요구사항별 범위·출처·검수 연결 및 담당자 수정 기록"</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0,</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"공공 정보화사업 제안요청서 작성 지원 / 목차 구성·요구 초안·사용자 검증",</a:t>
            </a:r>
          </a:p>
          <a:p xmlns:a="http://schemas.openxmlformats.org/drawingml/2006/main">
            <a:r>
              <a:t>        "extension": "TS 고도화의 재사용·추가 개발·검수 추적 지원"</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"기존 계약 중복·수치 근거 부재·검수 불가능 요구",</a:t>
            </a:r>
          </a:p>
          <a:p xmlns:a="http://schemas.openxmlformats.org/drawingml/2006/main">
            <a:r>
              <a:t>        "hold": "사업 범위·기존 의무·검수 연결 확인",</a:t>
            </a:r>
          </a:p>
          <a:p xmlns:a="http://schemas.openxmlformats.org/drawingml/2006/main">
            <a:r>
              <a:t>        "recovery": "수정 이력과 요구사항·검수 연결 누락 검사",</a:t>
            </a:r>
          </a:p>
          <a:p xmlns:a="http://schemas.openxmlformats.org/drawingml/2006/main">
            <a:r>
              <a:t>        "evidence": "요구사항별 범위·출처·검수 연결 및 담당자 수정 기록"</a:t>
            </a:r>
          </a:p>
          <a:p xmlns:a="http://schemas.openxmlformats.org/drawingml/2006/main">
            <a:r>
              <a:t>      },</a:t>
            </a:r>
          </a:p>
          <a:p xmlns:a="http://schemas.openxmlformats.org/drawingml/2006/main">
            <a:r>
              <a:t>      "data": {</a:t>
            </a:r>
          </a:p>
          <a:p xmlns:a="http://schemas.openxmlformats.org/drawingml/2006/main">
            <a:r>
              <a:t>        "source": "요구·검수 자료",</a:t>
            </a:r>
          </a:p>
          <a:p xmlns:a="http://schemas.openxmlformats.org/drawingml/2006/main">
            <a:r>
              <a:t>        "prepare": "관련 지침·양식·기존 요구사항의 출처 관리",</a:t>
            </a:r>
          </a:p>
          <a:p xmlns:a="http://schemas.openxmlformats.org/drawingml/2006/main">
            <a:r>
              <a:t>        "output": "기존 문서",</a:t>
            </a:r>
          </a:p>
          <a:p xmlns:a="http://schemas.openxmlformats.org/drawingml/2006/main">
            <a:r>
              <a:t>        "refresh": "수정 이력과 요구사항·검수 연결 누락 검사"</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"AX25",</a:t>
            </a:r>
          </a:p>
          <a:p xmlns:a="http://schemas.openxmlformats.org/drawingml/2006/main">
            <a:r>
              <a:t>    "success": [</a:t>
            </a:r>
          </a:p>
          <a:p xmlns:a="http://schemas.openxmlformats.org/drawingml/2006/main">
            <a:r>
              <a:t>      "RFP 목차·키워드의 구조화",</a:t>
            </a:r>
          </a:p>
          <a:p xmlns:a="http://schemas.openxmlformats.org/drawingml/2006/main">
            <a:r>
              <a:t>      "사용자 검증을 통한 초안 구성"</a:t>
            </a:r>
          </a:p>
          <a:p xmlns:a="http://schemas.openxmlformats.org/drawingml/2006/main">
            <a:r>
              <a:t>    ],</a:t>
            </a:r>
          </a:p>
          <a:p xmlns:a="http://schemas.openxmlformats.org/drawingml/2006/main">
            <a:r>
              <a:t>    "risks": [</a:t>
            </a:r>
          </a:p>
          <a:p xmlns:a="http://schemas.openxmlformats.org/drawingml/2006/main">
            <a:r>
              <a:t>      "과거 과업의 무비판적 재사용",</a:t>
            </a:r>
          </a:p>
          <a:p xmlns:a="http://schemas.openxmlformats.org/drawingml/2006/main">
            <a:r>
              <a:t>      "필수 요구·검수 항목 누락"</a:t>
            </a:r>
          </a:p>
          <a:p xmlns:a="http://schemas.openxmlformats.org/drawingml/2006/main">
            <a:r>
              <a:t>    ],</a:t>
            </a:r>
          </a:p>
          <a:p xmlns:a="http://schemas.openxmlformats.org/drawingml/2006/main">
            <a:r>
              <a:t>    "architecture": [</a:t>
            </a:r>
          </a:p>
          <a:p xmlns:a="http://schemas.openxmlformats.org/drawingml/2006/main">
            <a:r>
              <a:t>      "기존 RFP·수요",</a:t>
            </a:r>
          </a:p>
          <a:p xmlns:a="http://schemas.openxmlformats.org/drawingml/2006/main">
            <a:r>
              <a:t>      "목차·키워드 분석",</a:t>
            </a:r>
          </a:p>
          <a:p xmlns:a="http://schemas.openxmlformats.org/drawingml/2006/main">
            <a:r>
              <a:t>      "요구·검수 자료",</a:t>
            </a:r>
          </a:p>
          <a:p xmlns:a="http://schemas.openxmlformats.org/drawingml/2006/main">
            <a:r>
              <a:t>      "발주 담당자"</a:t>
            </a:r>
          </a:p>
          <a:p xmlns:a="http://schemas.openxmlformats.org/drawingml/2006/main">
            <a:r>
              <a:t>    ],</a:t>
            </a:r>
          </a:p>
          <a:p xmlns:a="http://schemas.openxmlformats.org/drawingml/2006/main">
            <a:r>
              <a:t>    "transfers": [</a:t>
            </a:r>
          </a:p>
          <a:p xmlns:a="http://schemas.openxmlformats.org/drawingml/2006/main">
            <a:r>
              <a:t>      "기존 문서",</a:t>
            </a:r>
          </a:p>
          <a:p xmlns:a="http://schemas.openxmlformats.org/drawingml/2006/main">
            <a:r>
              <a:t>      "요구 후보",</a:t>
            </a:r>
          </a:p>
          <a:p xmlns:a="http://schemas.openxmlformats.org/drawingml/2006/main">
            <a:r>
              <a:t>      "검증된 목차",</a:t>
            </a:r>
          </a:p>
          <a:p xmlns:a="http://schemas.openxmlformats.org/drawingml/2006/main">
            <a:r>
              <a:t>      "RFP 초안"</a:t>
            </a:r>
          </a:p>
          <a:p xmlns:a="http://schemas.openxmlformats.org/drawingml/2006/main">
            <a:r>
              <a:t>    ],</a:t>
            </a:r>
          </a:p>
          <a:p xmlns:a="http://schemas.openxmlformats.org/drawingml/2006/main">
            <a:r>
              <a:t>    "control": "사업 범위·기존 의무·검수 연결 확인",</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조달청 e-제안요청 도움 · 공공AI 사례집 218–219쪽 https://bigdata.dongjak.go.kr/board/viewArticle?articleNo=954&amp;boardId=4</a:t>
            </a:r>
          </a:p>
          <a:p xmlns:a="http://schemas.openxmlformats.org/drawingml/2006/main">
            <a:r>
              <a:t>홈페이지 https://heen1987-ops.github.io/TS-business-Plan-001/index.html?view=casebook&amp;case=AX25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"AX26",</a:t>
            </a:r>
          </a:p>
          <a:p xmlns:a="http://schemas.openxmlformats.org/drawingml/2006/main">
            <a:r>
              <a:t>    "title": "교육행정 응대 AI PoC",</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"학교급·지침 기반 RAG",</a:t>
            </a:r>
          </a:p>
          <a:p xmlns:a="http://schemas.openxmlformats.org/drawingml/2006/main">
            <a:r>
              <a:t>    "period": "2024 실증",</a:t>
            </a:r>
          </a:p>
          <a:p xmlns:a="http://schemas.openxmlformats.org/drawingml/2006/main">
            <a:r>
              <a:t>    "sources": [</a:t>
            </a:r>
          </a:p>
          <a:p xmlns:a="http://schemas.openxmlformats.org/drawingml/2006/main">
            <a:r>
              <a:t>      "S-AX26"</a:t>
            </a:r>
          </a:p>
          <a:p xmlns:a="http://schemas.openxmlformats.org/drawingml/2006/main">
            <a:r>
              <a:t>    ],</a:t>
            </a:r>
          </a:p>
          <a:p xmlns:a="http://schemas.openxmlformats.org/drawingml/2006/main">
            <a:r>
              <a:t>    "keywords": [</a:t>
            </a:r>
          </a:p>
          <a:p xmlns:a="http://schemas.openxmlformats.org/drawingml/2006/main">
            <a:r>
              <a:t>      "학교급",</a:t>
            </a:r>
          </a:p>
          <a:p xmlns:a="http://schemas.openxmlformats.org/drawingml/2006/main">
            <a:r>
              <a:t>      "지침 기반 RAG"</a:t>
            </a:r>
          </a:p>
          <a:p xmlns:a="http://schemas.openxmlformats.org/drawingml/2006/main">
            <a:r>
              <a:t>    ],</a:t>
            </a:r>
          </a:p>
          <a:p xmlns:a="http://schemas.openxmlformats.org/drawingml/2006/main">
            <a:r>
              <a:t>    "fact": "학교생활기록부 지침·질의응답 자료를 활용한 RAG와 원문 페이지 연결 실증",</a:t>
            </a:r>
          </a:p>
          <a:p xmlns:a="http://schemas.openxmlformats.org/drawingml/2006/main">
            <a:r>
              <a:t>    "limit": "선정 문서·업무 범위의 PoC · 전체 교육행정 자동화와 구분",</a:t>
            </a:r>
          </a:p>
          <a:p xmlns:a="http://schemas.openxmlformats.org/drawingml/2006/main">
            <a:r>
              <a:t>    "flow": [</a:t>
            </a:r>
          </a:p>
          <a:p xmlns:a="http://schemas.openxmlformats.org/drawingml/2006/main">
            <a:r>
              <a:t>      "학교급별 지침",</a:t>
            </a:r>
          </a:p>
          <a:p xmlns:a="http://schemas.openxmlformats.org/drawingml/2006/main">
            <a:r>
              <a:t>      "문서 전처리·RAG",</a:t>
            </a:r>
          </a:p>
          <a:p xmlns:a="http://schemas.openxmlformats.org/drawingml/2006/main">
            <a:r>
              <a:t>      "근거 페이지 답변",</a:t>
            </a:r>
          </a:p>
          <a:p xmlns:a="http://schemas.openxmlformats.org/drawingml/2006/main">
            <a:r>
              <a:t>      "교직원 검증"</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"동일 질문도 소속·업무 맥락별 지침 구분",</a:t>
            </a:r>
          </a:p>
          <a:p xmlns:a="http://schemas.openxmlformats.org/drawingml/2006/main">
            <a:r>
              <a:t>    "local": "TS 부서·직무별 규정 및 동일 요청 교차 평가",</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"직무별 검색 필터·출처 페이지·오류 피드백",</a:t>
            </a:r>
          </a:p>
          <a:p xmlns:a="http://schemas.openxmlformats.org/drawingml/2006/main">
            <a:r>
              <a:t>    "test": "부서·직무 변경 전후 검색 근거 대조",</a:t>
            </a:r>
          </a:p>
          <a:p xmlns:a="http://schemas.openxmlformats.org/drawingml/2006/main">
            <a:r>
              <a:t>    "metric": "근거 일치율 / 보완시간",</a:t>
            </a:r>
          </a:p>
          <a:p xmlns:a="http://schemas.openxmlformats.org/drawingml/2006/main">
            <a:r>
              <a:t>    "strategies": [</a:t>
            </a:r>
          </a:p>
          <a:p xmlns:a="http://schemas.openxmlformats.org/drawingml/2006/main">
            <a:r>
              <a:t>      "ST-04",</a:t>
            </a:r>
          </a:p>
          <a:p xmlns:a="http://schemas.openxmlformats.org/drawingml/2006/main">
            <a:r>
              <a:t>      "ST-10",</a:t>
            </a:r>
          </a:p>
          <a:p xmlns:a="http://schemas.openxmlformats.org/drawingml/2006/main">
            <a:r>
              <a:t>      "ST-12"</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"AX26",</a:t>
            </a:r>
          </a:p>
          <a:p xmlns:a="http://schemas.openxmlformats.org/drawingml/2006/main">
            <a:r>
              <a:t>    "canonicalId": "AX26",</a:t>
            </a:r>
          </a:p>
          <a:p xmlns:a="http://schemas.openxmlformats.org/drawingml/2006/main">
            <a:r>
              <a:t>    "purpose": "학교생활기록부 지침의 근거형 응대",</a:t>
            </a:r>
          </a:p>
          <a:p xmlns:a="http://schemas.openxmlformats.org/drawingml/2006/main">
            <a:r>
              <a:t>    "users": "학교·교육행정 담당자",</a:t>
            </a:r>
          </a:p>
          <a:p xmlns:a="http://schemas.openxmlformats.org/drawingml/2006/main">
            <a:r>
              <a:t>    "scope": [</a:t>
            </a:r>
          </a:p>
          <a:p xmlns:a="http://schemas.openxmlformats.org/drawingml/2006/main">
            <a:r>
              <a:t>      "지침 검색",</a:t>
            </a:r>
          </a:p>
          <a:p xmlns:a="http://schemas.openxmlformats.org/drawingml/2006/main">
            <a:r>
              <a:t>      "질의응답",</a:t>
            </a:r>
          </a:p>
          <a:p xmlns:a="http://schemas.openxmlformats.org/drawingml/2006/main">
            <a:r>
              <a:t>      "원문 페이지"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"교직원 질의",</a:t>
            </a:r>
          </a:p>
          <a:p xmlns:a="http://schemas.openxmlformats.org/drawingml/2006/main">
            <a:r>
              <a:t>        "detail": "학교급·학년도·업무 상황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"지침 검색 / 질의응답 / 원문 페이지",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"전처리·RAG",</a:t>
            </a:r>
          </a:p>
          <a:p xmlns:a="http://schemas.openxmlformats.org/drawingml/2006/main">
            <a:r>
              <a:t>        "detail": "조건에 맞는 지침·질의응답 검색",</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"교직원 검토",</a:t>
            </a:r>
          </a:p>
          <a:p xmlns:a="http://schemas.openxmlformats.org/drawingml/2006/main">
            <a:r>
              <a:t>        "detail": "답변 근거와 원문 페이지를 담당자에게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"학교급별 지침",</a:t>
            </a:r>
          </a:p>
          <a:p xmlns:a="http://schemas.openxmlformats.org/drawingml/2006/main">
            <a:r>
              <a:t>        "detail": "지침 판본·학년도·원문 페이지별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"학년도 혼용·예외 조항 누락의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"학교급별 지침",</a:t>
            </a:r>
          </a:p>
          <a:p xmlns:a="http://schemas.openxmlformats.org/drawingml/2006/main">
            <a:r>
              <a:t>        "input": "학교급·학년도·업무 상황 확인",</a:t>
            </a:r>
          </a:p>
          <a:p xmlns:a="http://schemas.openxmlformats.org/drawingml/2006/main">
            <a:r>
              <a:t>        "process": "지침 판본·학년도·원문 페이지별 색인",</a:t>
            </a:r>
          </a:p>
          <a:p xmlns:a="http://schemas.openxmlformats.org/drawingml/2006/main">
            <a:r>
              <a:t>        "output": "학교급·질문"</a:t>
            </a:r>
          </a:p>
          <a:p xmlns:a="http://schemas.openxmlformats.org/drawingml/2006/main">
            <a:r>
              <a:t>      },</a:t>
            </a:r>
          </a:p>
          <a:p xmlns:a="http://schemas.openxmlformats.org/drawingml/2006/main">
            <a:r>
              <a:t>      {</a:t>
            </a:r>
          </a:p>
          <a:p xmlns:a="http://schemas.openxmlformats.org/drawingml/2006/main">
            <a:r>
              <a:t>        "title": "문서 전처리·RAG",</a:t>
            </a:r>
          </a:p>
          <a:p xmlns:a="http://schemas.openxmlformats.org/drawingml/2006/main">
            <a:r>
              <a:t>        "input": "학교급·질문",</a:t>
            </a:r>
          </a:p>
          <a:p xmlns:a="http://schemas.openxmlformats.org/drawingml/2006/main">
            <a:r>
              <a:t>        "process": "조건에 맞는 지침·질의응답 검색",</a:t>
            </a:r>
          </a:p>
          <a:p xmlns:a="http://schemas.openxmlformats.org/drawingml/2006/main">
            <a:r>
              <a:t>        "output": "관련 지침"</a:t>
            </a:r>
          </a:p>
          <a:p xmlns:a="http://schemas.openxmlformats.org/drawingml/2006/main">
            <a:r>
              <a:t>      },</a:t>
            </a:r>
          </a:p>
          <a:p xmlns:a="http://schemas.openxmlformats.org/drawingml/2006/main">
            <a:r>
              <a:t>      {</a:t>
            </a:r>
          </a:p>
          <a:p xmlns:a="http://schemas.openxmlformats.org/drawingml/2006/main">
            <a:r>
              <a:t>        "title": "근거 페이지 답변",</a:t>
            </a:r>
          </a:p>
          <a:p xmlns:a="http://schemas.openxmlformats.org/drawingml/2006/main">
            <a:r>
              <a:t>        "input": "관련 지침",</a:t>
            </a:r>
          </a:p>
          <a:p xmlns:a="http://schemas.openxmlformats.org/drawingml/2006/main">
            <a:r>
              <a:t>        "process": "학교급·연도·원문 페이지 대조",</a:t>
            </a:r>
          </a:p>
          <a:p xmlns:a="http://schemas.openxmlformats.org/drawingml/2006/main">
            <a:r>
              <a:t>        "output": "근거 페이지 답변"</a:t>
            </a:r>
          </a:p>
          <a:p xmlns:a="http://schemas.openxmlformats.org/drawingml/2006/main">
            <a:r>
              <a:t>      },</a:t>
            </a:r>
          </a:p>
          <a:p xmlns:a="http://schemas.openxmlformats.org/drawingml/2006/main">
            <a:r>
              <a:t>      {</a:t>
            </a:r>
          </a:p>
          <a:p xmlns:a="http://schemas.openxmlformats.org/drawingml/2006/main">
            <a:r>
              <a:t>        "title": "교직원 검증",</a:t>
            </a:r>
          </a:p>
          <a:p xmlns:a="http://schemas.openxmlformats.org/drawingml/2006/main">
            <a:r>
              <a:t>        "input": "근거 페이지 답변",</a:t>
            </a:r>
          </a:p>
          <a:p xmlns:a="http://schemas.openxmlformats.org/drawingml/2006/main">
            <a:r>
              <a:t>        "process": "답변 근거와 원문 페이지를 담당자에게 제공",</a:t>
            </a:r>
          </a:p>
          <a:p xmlns:a="http://schemas.openxmlformats.org/drawingml/2006/main">
            <a:r>
              <a:t>        "output": "검증·보완"</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"학년도·학교급에 맞는 생활기록부 지침 안내",</a:t>
            </a:r>
          </a:p>
          <a:p xmlns:a="http://schemas.openxmlformats.org/drawingml/2006/main">
            <a:r>
              <a:t>      "exception": "이전 학년도 혼입·예외 조건 누락·원문 페이지 변경",</a:t>
            </a:r>
          </a:p>
          <a:p xmlns:a="http://schemas.openxmlformats.org/drawingml/2006/main">
            <a:r>
              <a:t>      "evidence": "학년도별 정답·근거 페이지·예외 적용 대조표",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"학교·교육행정 담당자",</a:t>
            </a:r>
          </a:p>
          <a:p xmlns:a="http://schemas.openxmlformats.org/drawingml/2006/main">
            <a:r>
              <a:t>          "processing": "학교급·학년도·업무 상황 확인",</a:t>
            </a:r>
          </a:p>
          <a:p xmlns:a="http://schemas.openxmlformats.org/drawingml/2006/main">
            <a:r>
              <a:t>          "output": "학교급·질문"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"학교급별 지침",</a:t>
            </a:r>
          </a:p>
          <a:p xmlns:a="http://schemas.openxmlformats.org/drawingml/2006/main">
            <a:r>
              <a:t>          "processing": "지침 판본·학년도·원문 페이지별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"학교급·질문",</a:t>
            </a:r>
          </a:p>
          <a:p xmlns:a="http://schemas.openxmlformats.org/drawingml/2006/main">
            <a:r>
              <a:t>          "processing": "조건에 맞는 지침·질의응답 검색",</a:t>
            </a:r>
          </a:p>
          <a:p xmlns:a="http://schemas.openxmlformats.org/drawingml/2006/main">
            <a:r>
              <a:t>          "output": "근거 페이지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페이지 답변",</a:t>
            </a:r>
          </a:p>
          <a:p xmlns:a="http://schemas.openxmlformats.org/drawingml/2006/main">
            <a:r>
              <a:t>          "processing": "답변 근거와 원문 페이지를 담당자에게 제공",</a:t>
            </a:r>
          </a:p>
          <a:p xmlns:a="http://schemas.openxmlformats.org/drawingml/2006/main">
            <a:r>
              <a:t>          "output": "검증·보완"</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"학년도 혼용·예외 조항 누락의 평가",</a:t>
            </a:r>
          </a:p>
          <a:p xmlns:a="http://schemas.openxmlformats.org/drawingml/2006/main">
            <a:r>
              <a:t>          "output": "학년도별 정답·근거 페이지·예외 적용 대조표"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"학년도 혼용·예외 조항 누락의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"S-AX26",</a:t>
            </a:r>
          </a:p>
          <a:p xmlns:a="http://schemas.openxmlformats.org/drawingml/2006/main">
            <a:r>
              <a:t>        "title": "교육행정 응대 AI PoC · 공공AI 사례집 222–223쪽",</a:t>
            </a:r>
          </a:p>
          <a:p xmlns:a="http://schemas.openxmlformats.org/drawingml/2006/main">
            <a:r>
              <a:t>        "url": "https://bigdata.dongjak.go.kr/board/viewArticle?articleNo=954&amp;boardId=4",</a:t>
            </a:r>
          </a:p>
          <a:p xmlns:a="http://schemas.openxmlformats.org/drawingml/2006/main">
            <a:r>
              <a:t>        "published": "2024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"동일 질문도 소속·업무 맥락별 지침 구분",</a:t>
            </a:r>
          </a:p>
          <a:p xmlns:a="http://schemas.openxmlformats.org/drawingml/2006/main">
            <a:r>
              <a:t>    "local": "TS 부서·직무별 규정 및 동일 요청 교차 평가",</a:t>
            </a:r>
          </a:p>
          <a:p xmlns:a="http://schemas.openxmlformats.org/drawingml/2006/main">
            <a:r>
              <a:t>    "sourceDetail": null,</a:t>
            </a:r>
          </a:p>
          <a:p xmlns:a="http://schemas.openxmlformats.org/drawingml/2006/main">
            <a:r>
              <a:t>    "narrative": [</a:t>
            </a:r>
          </a:p>
          <a:p xmlns:a="http://schemas.openxmlformats.org/drawingml/2006/main">
            <a:r>
              <a:t>      "학교급·학년도별 학교생활기록부 지침을 교직원 질의에 연결하는 사례. 같은 질문이라도 적용 연도·학교급·업무 상황에 따라 근거가 달라지는 규정형 업무.",</a:t>
            </a:r>
          </a:p>
          <a:p xmlns:a="http://schemas.openxmlformats.org/drawingml/2006/main">
            <a:r>
              <a:t>      "질의 문맥을 확보한 뒤 해당 지침 판본과 페이지를 검색해 근거를 제공하는 재구성. 답변의 편집·검토 과정에서도 원문 페이지와 적용 조건을 함께 보존.",</a:t>
            </a:r>
          </a:p>
          <a:p xmlns:a="http://schemas.openxmlformats.org/drawingml/2006/main">
            <a:r>
              <a:t>      "TS 조직 네이티브 AI에서는 소속·직무뿐 아니라 업무 대상과 시행일을 검색 조건으로 추가하는 참고. 연도 혼용·학교급 혼용·예외 조항 누락에 해당하는 TS 도메인 시험셋의 별도 구성."</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"교직원 질의",</a:t>
            </a:r>
          </a:p>
          <a:p xmlns:a="http://schemas.openxmlformats.org/drawingml/2006/main">
            <a:r>
              <a:t>          "layer": "이용 접점",</a:t>
            </a:r>
          </a:p>
          <a:p xmlns:a="http://schemas.openxmlformats.org/drawingml/2006/main">
            <a:r>
              <a:t>          "detail": "학교·교육행정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"학교급·학년도",</a:t>
            </a:r>
          </a:p>
          <a:p xmlns:a="http://schemas.openxmlformats.org/drawingml/2006/main">
            <a:r>
              <a:t>          "layer": "업무 문맥",</a:t>
            </a:r>
          </a:p>
          <a:p xmlns:a="http://schemas.openxmlformats.org/drawingml/2006/main">
            <a:r>
              <a:t>          "detail": "학교급·학년도·업무 상황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지침 검색",</a:t>
            </a:r>
          </a:p>
          <a:p xmlns:a="http://schemas.openxmlformats.org/drawingml/2006/main">
            <a:r>
              <a:t>          "layer": "자료 조회",</a:t>
            </a:r>
          </a:p>
          <a:p xmlns:a="http://schemas.openxmlformats.org/drawingml/2006/main">
            <a:r>
              <a:t>          "detail": "학교급·질문",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답변 생성",</a:t>
            </a:r>
          </a:p>
          <a:p xmlns:a="http://schemas.openxmlformats.org/drawingml/2006/main">
            <a:r>
              <a:t>          "layer": "핵심 처리",</a:t>
            </a:r>
          </a:p>
          <a:p xmlns:a="http://schemas.openxmlformats.org/drawingml/2006/main">
            <a:r>
              <a:t>          "detail": "조건에 맞는 지침·질의응답 검색",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"페이지·예외 대조",</a:t>
            </a:r>
          </a:p>
          <a:p xmlns:a="http://schemas.openxmlformats.org/drawingml/2006/main">
            <a:r>
              <a:t>          "layer": "결과 검증",</a:t>
            </a:r>
          </a:p>
          <a:p xmlns:a="http://schemas.openxmlformats.org/drawingml/2006/main">
            <a:r>
              <a:t>          "detail": "학교급·연도·원문 페이지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"교직원 원문 확인",</a:t>
            </a:r>
          </a:p>
          <a:p xmlns:a="http://schemas.openxmlformats.org/drawingml/2006/main">
            <a:r>
              <a:t>          "layer": "사람 확인",</a:t>
            </a:r>
          </a:p>
          <a:p xmlns:a="http://schemas.openxmlformats.org/drawingml/2006/main">
            <a:r>
              <a:t>          "detail": "학년도·학교급에 맞는 생활기록부 지침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"행정업무 적용",</a:t>
            </a:r>
          </a:p>
          <a:p xmlns:a="http://schemas.openxmlformats.org/drawingml/2006/main">
            <a:r>
              <a:t>          "layer": "업무 연결",</a:t>
            </a:r>
          </a:p>
          <a:p xmlns:a="http://schemas.openxmlformats.org/drawingml/2006/main">
            <a:r>
              <a:t>          "detail": "답변 근거와 원문 페이지를 담당자에게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"연도 혼용 검사",</a:t>
            </a:r>
          </a:p>
          <a:p xmlns:a="http://schemas.openxmlformats.org/drawingml/2006/main">
            <a:r>
              <a:t>          "layer": "운영 관측",</a:t>
            </a:r>
          </a:p>
          <a:p xmlns:a="http://schemas.openxmlformats.org/drawingml/2006/main">
            <a:r>
              <a:t>          "detail": "학년도 혼용·예외 조항 누락의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"지침·질의응답",</a:t>
            </a:r>
          </a:p>
          <a:p xmlns:a="http://schemas.openxmlformats.org/drawingml/2006/main">
            <a:r>
              <a:t>          "layer": "데이터 원천",</a:t>
            </a:r>
          </a:p>
          <a:p xmlns:a="http://schemas.openxmlformats.org/drawingml/2006/main">
            <a:r>
              <a:t>          "detail": "학교급별 지침",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"페이지·판본 색인",</a:t>
            </a:r>
          </a:p>
          <a:p xmlns:a="http://schemas.openxmlformats.org/drawingml/2006/main">
            <a:r>
              <a:t>          "layer": "준비·갱신",</a:t>
            </a:r>
          </a:p>
          <a:p xmlns:a="http://schemas.openxmlformats.org/drawingml/2006/main">
            <a:r>
              <a:t>          "detail": "지침 판본·학년도·원문 페이지별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"지침·평가셋",</a:t>
            </a:r>
          </a:p>
          <a:p xmlns:a="http://schemas.openxmlformats.org/drawingml/2006/main">
            <a:r>
              <a:t>          "layer": "상태·지식 저장",</a:t>
            </a:r>
          </a:p>
          <a:p xmlns:a="http://schemas.openxmlformats.org/drawingml/2006/main">
            <a:r>
              <a:t>          "detail": "학년도별 정답·근거 페이지·예외 적용 대조표",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"학교급별 경계",</a:t>
            </a:r>
          </a:p>
          <a:p xmlns:a="http://schemas.openxmlformats.org/drawingml/2006/main">
            <a:r>
              <a:t>          "layer": "권한·정책",</a:t>
            </a:r>
          </a:p>
          <a:p xmlns:a="http://schemas.openxmlformats.org/drawingml/2006/main">
            <a:r>
              <a:t>          "detail": "이전 학년도 혼입·예외 조건 누락·원문 페이지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"학교급별 지침 → 문서 전처리·RAG → 근거 페이지 답변 → 교직원 검증"</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"학교급별 지침",</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"학교급·학년도·업무 상황 확인",</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"학년도별 정답·근거 페이지·예외 적용 대조표",</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지침",</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페이지 답변",</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"학교생활기록부 지침의 근거형 응대 / 지침 검색·질의응답·원문 페이지",</a:t>
            </a:r>
          </a:p>
          <a:p xmlns:a="http://schemas.openxmlformats.org/drawingml/2006/main">
            <a:r>
              <a:t>        "extension": "TS 부서·직무별 규정 및 동일 요청 교차 평가"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"이전 학년도 혼입·예외 조건 누락·원문 페이지 변경",</a:t>
            </a:r>
          </a:p>
          <a:p xmlns:a="http://schemas.openxmlformats.org/drawingml/2006/main">
            <a:r>
              <a:t>        "hold": "학교급·연도·원문 페이지 대조",</a:t>
            </a:r>
          </a:p>
          <a:p xmlns:a="http://schemas.openxmlformats.org/drawingml/2006/main">
            <a:r>
              <a:t>        "recovery": "학년도 혼용·예외 조항 누락의 평가",</a:t>
            </a:r>
          </a:p>
          <a:p xmlns:a="http://schemas.openxmlformats.org/drawingml/2006/main">
            <a:r>
              <a:t>        "evidence": "학년도별 정답·근거 페이지·예외 적용 대조표"</a:t>
            </a:r>
          </a:p>
          <a:p xmlns:a="http://schemas.openxmlformats.org/drawingml/2006/main">
            <a:r>
              <a:t>      },</a:t>
            </a:r>
          </a:p>
          <a:p xmlns:a="http://schemas.openxmlformats.org/drawingml/2006/main">
            <a:r>
              <a:t>      "data": {</a:t>
            </a:r>
          </a:p>
          <a:p xmlns:a="http://schemas.openxmlformats.org/drawingml/2006/main">
            <a:r>
              <a:t>        "source": "학교급별 지침",</a:t>
            </a:r>
          </a:p>
          <a:p xmlns:a="http://schemas.openxmlformats.org/drawingml/2006/main">
            <a:r>
              <a:t>        "prepare": "지침 판본·학년도·원문 페이지별 색인",</a:t>
            </a:r>
          </a:p>
          <a:p xmlns:a="http://schemas.openxmlformats.org/drawingml/2006/main">
            <a:r>
              <a:t>        "output": "학교급·질문",</a:t>
            </a:r>
          </a:p>
          <a:p xmlns:a="http://schemas.openxmlformats.org/drawingml/2006/main">
            <a:r>
              <a:t>        "refresh": "학년도 혼용·예외 조항 누락의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"AX26",</a:t>
            </a:r>
          </a:p>
          <a:p xmlns:a="http://schemas.openxmlformats.org/drawingml/2006/main">
            <a:r>
              <a:t>    "success": [</a:t>
            </a:r>
          </a:p>
          <a:p xmlns:a="http://schemas.openxmlformats.org/drawingml/2006/main">
            <a:r>
              <a:t>      "학교급별 지침의 분리",</a:t>
            </a:r>
          </a:p>
          <a:p xmlns:a="http://schemas.openxmlformats.org/drawingml/2006/main">
            <a:r>
              <a:t>      "답변과 원문 페이지의 연결"</a:t>
            </a:r>
          </a:p>
          <a:p xmlns:a="http://schemas.openxmlformats.org/drawingml/2006/main">
            <a:r>
              <a:t>    ],</a:t>
            </a:r>
          </a:p>
          <a:p xmlns:a="http://schemas.openxmlformats.org/drawingml/2006/main">
            <a:r>
              <a:t>    "risks": [</a:t>
            </a:r>
          </a:p>
          <a:p xmlns:a="http://schemas.openxmlformats.org/drawingml/2006/main">
            <a:r>
              <a:t>      "학교급·적용 연도 혼용",</a:t>
            </a:r>
          </a:p>
          <a:p xmlns:a="http://schemas.openxmlformats.org/drawingml/2006/main">
            <a:r>
              <a:t>      "유사 질문의 예외 답변 누락"</a:t>
            </a:r>
          </a:p>
          <a:p xmlns:a="http://schemas.openxmlformats.org/drawingml/2006/main">
            <a:r>
              <a:t>    ],</a:t>
            </a:r>
          </a:p>
          <a:p xmlns:a="http://schemas.openxmlformats.org/drawingml/2006/main">
            <a:r>
              <a:t>    "architecture": [</a:t>
            </a:r>
          </a:p>
          <a:p xmlns:a="http://schemas.openxmlformats.org/drawingml/2006/main">
            <a:r>
              <a:t>      "교직원 질의",</a:t>
            </a:r>
          </a:p>
          <a:p xmlns:a="http://schemas.openxmlformats.org/drawingml/2006/main">
            <a:r>
              <a:t>      "전처리·RAG",</a:t>
            </a:r>
          </a:p>
          <a:p xmlns:a="http://schemas.openxmlformats.org/drawingml/2006/main">
            <a:r>
              <a:t>      "학교급별 지침",</a:t>
            </a:r>
          </a:p>
          <a:p xmlns:a="http://schemas.openxmlformats.org/drawingml/2006/main">
            <a:r>
              <a:t>      "교직원 검토"</a:t>
            </a:r>
          </a:p>
          <a:p xmlns:a="http://schemas.openxmlformats.org/drawingml/2006/main">
            <a:r>
              <a:t>    ],</a:t>
            </a:r>
          </a:p>
          <a:p xmlns:a="http://schemas.openxmlformats.org/drawingml/2006/main">
            <a:r>
              <a:t>    "transfers": [</a:t>
            </a:r>
          </a:p>
          <a:p xmlns:a="http://schemas.openxmlformats.org/drawingml/2006/main">
            <a:r>
              <a:t>      "학교급·질문",</a:t>
            </a:r>
          </a:p>
          <a:p xmlns:a="http://schemas.openxmlformats.org/drawingml/2006/main">
            <a:r>
              <a:t>      "관련 지침",</a:t>
            </a:r>
          </a:p>
          <a:p xmlns:a="http://schemas.openxmlformats.org/drawingml/2006/main">
            <a:r>
              <a:t>      "근거 페이지 답변",</a:t>
            </a:r>
          </a:p>
          <a:p xmlns:a="http://schemas.openxmlformats.org/drawingml/2006/main">
            <a:r>
              <a:t>      "검증·보완"</a:t>
            </a:r>
          </a:p>
          <a:p xmlns:a="http://schemas.openxmlformats.org/drawingml/2006/main">
            <a:r>
              <a:t>    ],</a:t>
            </a:r>
          </a:p>
          <a:p xmlns:a="http://schemas.openxmlformats.org/drawingml/2006/main">
            <a:r>
              <a:t>    "control": "학교급·연도·원문 페이지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교육행정 응대 AI PoC · 공공AI 사례집 222–223쪽 https://bigdata.dongjak.go.kr/board/viewArticle?articleNo=954&amp;boardId=4</a:t>
            </a:r>
          </a:p>
          <a:p xmlns:a="http://schemas.openxmlformats.org/drawingml/2006/main">
            <a:r>
              <a:t>홈페이지 https://heen1987-ops.github.io/TS-business-Plan-001/index.html?view=casebook&amp;case=AX26</a:t>
            </a:r>
          </a:p>
          <a:p xmlns:a="http://schemas.openxmlformats.org/drawingml/2006/main">
            <a:r>
              <a:t>한계: 선정 문서·업무 범위의 PoC · 전체 교육행정 자동화와 구분</a:t>
            </a:r>
          </a:p>
          <a:p xmlns:a="http://schemas.openxmlformats.org/drawingml/2006/main">
            <a:r>
              <a:t>실패 위험: 학교급·적용 연도 혼용 / 유사 질문의 예외 답변 누락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"AX26",</a:t>
            </a:r>
          </a:p>
          <a:p xmlns:a="http://schemas.openxmlformats.org/drawingml/2006/main">
            <a:r>
              <a:t>    "title": "교육행정 응대 AI PoC",</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"학교급·지침 기반 RAG",</a:t>
            </a:r>
          </a:p>
          <a:p xmlns:a="http://schemas.openxmlformats.org/drawingml/2006/main">
            <a:r>
              <a:t>    "period": "2024 실증",</a:t>
            </a:r>
          </a:p>
          <a:p xmlns:a="http://schemas.openxmlformats.org/drawingml/2006/main">
            <a:r>
              <a:t>    "sources": [</a:t>
            </a:r>
          </a:p>
          <a:p xmlns:a="http://schemas.openxmlformats.org/drawingml/2006/main">
            <a:r>
              <a:t>      "S-AX26"</a:t>
            </a:r>
          </a:p>
          <a:p xmlns:a="http://schemas.openxmlformats.org/drawingml/2006/main">
            <a:r>
              <a:t>    ],</a:t>
            </a:r>
          </a:p>
          <a:p xmlns:a="http://schemas.openxmlformats.org/drawingml/2006/main">
            <a:r>
              <a:t>    "keywords": [</a:t>
            </a:r>
          </a:p>
          <a:p xmlns:a="http://schemas.openxmlformats.org/drawingml/2006/main">
            <a:r>
              <a:t>      "학교급",</a:t>
            </a:r>
          </a:p>
          <a:p xmlns:a="http://schemas.openxmlformats.org/drawingml/2006/main">
            <a:r>
              <a:t>      "지침 기반 RAG"</a:t>
            </a:r>
          </a:p>
          <a:p xmlns:a="http://schemas.openxmlformats.org/drawingml/2006/main">
            <a:r>
              <a:t>    ],</a:t>
            </a:r>
          </a:p>
          <a:p xmlns:a="http://schemas.openxmlformats.org/drawingml/2006/main">
            <a:r>
              <a:t>    "fact": "학교생활기록부 지침·질의응답 자료를 활용한 RAG와 원문 페이지 연결 실증",</a:t>
            </a:r>
          </a:p>
          <a:p xmlns:a="http://schemas.openxmlformats.org/drawingml/2006/main">
            <a:r>
              <a:t>    "limit": "선정 문서·업무 범위의 PoC · 전체 교육행정 자동화와 구분",</a:t>
            </a:r>
          </a:p>
          <a:p xmlns:a="http://schemas.openxmlformats.org/drawingml/2006/main">
            <a:r>
              <a:t>    "flow": [</a:t>
            </a:r>
          </a:p>
          <a:p xmlns:a="http://schemas.openxmlformats.org/drawingml/2006/main">
            <a:r>
              <a:t>      "학교급별 지침",</a:t>
            </a:r>
          </a:p>
          <a:p xmlns:a="http://schemas.openxmlformats.org/drawingml/2006/main">
            <a:r>
              <a:t>      "문서 전처리·RAG",</a:t>
            </a:r>
          </a:p>
          <a:p xmlns:a="http://schemas.openxmlformats.org/drawingml/2006/main">
            <a:r>
              <a:t>      "근거 페이지 답변",</a:t>
            </a:r>
          </a:p>
          <a:p xmlns:a="http://schemas.openxmlformats.org/drawingml/2006/main">
            <a:r>
              <a:t>      "교직원 검증"</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"동일 질문도 소속·업무 맥락별 지침 구분",</a:t>
            </a:r>
          </a:p>
          <a:p xmlns:a="http://schemas.openxmlformats.org/drawingml/2006/main">
            <a:r>
              <a:t>    "local": "TS 부서·직무별 규정 및 동일 요청 교차 평가",</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"직무별 검색 필터·출처 페이지·오류 피드백",</a:t>
            </a:r>
          </a:p>
          <a:p xmlns:a="http://schemas.openxmlformats.org/drawingml/2006/main">
            <a:r>
              <a:t>    "test": "부서·직무 변경 전후 검색 근거 대조",</a:t>
            </a:r>
          </a:p>
          <a:p xmlns:a="http://schemas.openxmlformats.org/drawingml/2006/main">
            <a:r>
              <a:t>    "metric": "근거 일치율 / 보완시간",</a:t>
            </a:r>
          </a:p>
          <a:p xmlns:a="http://schemas.openxmlformats.org/drawingml/2006/main">
            <a:r>
              <a:t>    "strategies": [</a:t>
            </a:r>
          </a:p>
          <a:p xmlns:a="http://schemas.openxmlformats.org/drawingml/2006/main">
            <a:r>
              <a:t>      "ST-04",</a:t>
            </a:r>
          </a:p>
          <a:p xmlns:a="http://schemas.openxmlformats.org/drawingml/2006/main">
            <a:r>
              <a:t>      "ST-10",</a:t>
            </a:r>
          </a:p>
          <a:p xmlns:a="http://schemas.openxmlformats.org/drawingml/2006/main">
            <a:r>
              <a:t>      "ST-12"</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"AX26",</a:t>
            </a:r>
          </a:p>
          <a:p xmlns:a="http://schemas.openxmlformats.org/drawingml/2006/main">
            <a:r>
              <a:t>    "canonicalId": "AX26",</a:t>
            </a:r>
          </a:p>
          <a:p xmlns:a="http://schemas.openxmlformats.org/drawingml/2006/main">
            <a:r>
              <a:t>    "purpose": "학교생활기록부 지침의 근거형 응대",</a:t>
            </a:r>
          </a:p>
          <a:p xmlns:a="http://schemas.openxmlformats.org/drawingml/2006/main">
            <a:r>
              <a:t>    "users": "학교·교육행정 담당자",</a:t>
            </a:r>
          </a:p>
          <a:p xmlns:a="http://schemas.openxmlformats.org/drawingml/2006/main">
            <a:r>
              <a:t>    "scope": [</a:t>
            </a:r>
          </a:p>
          <a:p xmlns:a="http://schemas.openxmlformats.org/drawingml/2006/main">
            <a:r>
              <a:t>      "지침 검색",</a:t>
            </a:r>
          </a:p>
          <a:p xmlns:a="http://schemas.openxmlformats.org/drawingml/2006/main">
            <a:r>
              <a:t>      "질의응답",</a:t>
            </a:r>
          </a:p>
          <a:p xmlns:a="http://schemas.openxmlformats.org/drawingml/2006/main">
            <a:r>
              <a:t>      "원문 페이지"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"교직원 질의",</a:t>
            </a:r>
          </a:p>
          <a:p xmlns:a="http://schemas.openxmlformats.org/drawingml/2006/main">
            <a:r>
              <a:t>        "detail": "학교급·학년도·업무 상황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"지침 검색 / 질의응답 / 원문 페이지",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"전처리·RAG",</a:t>
            </a:r>
          </a:p>
          <a:p xmlns:a="http://schemas.openxmlformats.org/drawingml/2006/main">
            <a:r>
              <a:t>        "detail": "조건에 맞는 지침·질의응답 검색",</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"교직원 검토",</a:t>
            </a:r>
          </a:p>
          <a:p xmlns:a="http://schemas.openxmlformats.org/drawingml/2006/main">
            <a:r>
              <a:t>        "detail": "답변 근거와 원문 페이지를 담당자에게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"학교급별 지침",</a:t>
            </a:r>
          </a:p>
          <a:p xmlns:a="http://schemas.openxmlformats.org/drawingml/2006/main">
            <a:r>
              <a:t>        "detail": "지침 판본·학년도·원문 페이지별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"학년도 혼용·예외 조항 누락의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"학교급별 지침",</a:t>
            </a:r>
          </a:p>
          <a:p xmlns:a="http://schemas.openxmlformats.org/drawingml/2006/main">
            <a:r>
              <a:t>        "input": "학교급·학년도·업무 상황 확인",</a:t>
            </a:r>
          </a:p>
          <a:p xmlns:a="http://schemas.openxmlformats.org/drawingml/2006/main">
            <a:r>
              <a:t>        "process": "지침 판본·학년도·원문 페이지별 색인",</a:t>
            </a:r>
          </a:p>
          <a:p xmlns:a="http://schemas.openxmlformats.org/drawingml/2006/main">
            <a:r>
              <a:t>        "output": "학교급·질문"</a:t>
            </a:r>
          </a:p>
          <a:p xmlns:a="http://schemas.openxmlformats.org/drawingml/2006/main">
            <a:r>
              <a:t>      },</a:t>
            </a:r>
          </a:p>
          <a:p xmlns:a="http://schemas.openxmlformats.org/drawingml/2006/main">
            <a:r>
              <a:t>      {</a:t>
            </a:r>
          </a:p>
          <a:p xmlns:a="http://schemas.openxmlformats.org/drawingml/2006/main">
            <a:r>
              <a:t>        "title": "문서 전처리·RAG",</a:t>
            </a:r>
          </a:p>
          <a:p xmlns:a="http://schemas.openxmlformats.org/drawingml/2006/main">
            <a:r>
              <a:t>        "input": "학교급·질문",</a:t>
            </a:r>
          </a:p>
          <a:p xmlns:a="http://schemas.openxmlformats.org/drawingml/2006/main">
            <a:r>
              <a:t>        "process": "조건에 맞는 지침·질의응답 검색",</a:t>
            </a:r>
          </a:p>
          <a:p xmlns:a="http://schemas.openxmlformats.org/drawingml/2006/main">
            <a:r>
              <a:t>        "output": "관련 지침"</a:t>
            </a:r>
          </a:p>
          <a:p xmlns:a="http://schemas.openxmlformats.org/drawingml/2006/main">
            <a:r>
              <a:t>      },</a:t>
            </a:r>
          </a:p>
          <a:p xmlns:a="http://schemas.openxmlformats.org/drawingml/2006/main">
            <a:r>
              <a:t>      {</a:t>
            </a:r>
          </a:p>
          <a:p xmlns:a="http://schemas.openxmlformats.org/drawingml/2006/main">
            <a:r>
              <a:t>        "title": "근거 페이지 답변",</a:t>
            </a:r>
          </a:p>
          <a:p xmlns:a="http://schemas.openxmlformats.org/drawingml/2006/main">
            <a:r>
              <a:t>        "input": "관련 지침",</a:t>
            </a:r>
          </a:p>
          <a:p xmlns:a="http://schemas.openxmlformats.org/drawingml/2006/main">
            <a:r>
              <a:t>        "process": "학교급·연도·원문 페이지 대조",</a:t>
            </a:r>
          </a:p>
          <a:p xmlns:a="http://schemas.openxmlformats.org/drawingml/2006/main">
            <a:r>
              <a:t>        "output": "근거 페이지 답변"</a:t>
            </a:r>
          </a:p>
          <a:p xmlns:a="http://schemas.openxmlformats.org/drawingml/2006/main">
            <a:r>
              <a:t>      },</a:t>
            </a:r>
          </a:p>
          <a:p xmlns:a="http://schemas.openxmlformats.org/drawingml/2006/main">
            <a:r>
              <a:t>      {</a:t>
            </a:r>
          </a:p>
          <a:p xmlns:a="http://schemas.openxmlformats.org/drawingml/2006/main">
            <a:r>
              <a:t>        "title": "교직원 검증",</a:t>
            </a:r>
          </a:p>
          <a:p xmlns:a="http://schemas.openxmlformats.org/drawingml/2006/main">
            <a:r>
              <a:t>        "input": "근거 페이지 답변",</a:t>
            </a:r>
          </a:p>
          <a:p xmlns:a="http://schemas.openxmlformats.org/drawingml/2006/main">
            <a:r>
              <a:t>        "process": "답변 근거와 원문 페이지를 담당자에게 제공",</a:t>
            </a:r>
          </a:p>
          <a:p xmlns:a="http://schemas.openxmlformats.org/drawingml/2006/main">
            <a:r>
              <a:t>        "output": "검증·보완"</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"학년도·학교급에 맞는 생활기록부 지침 안내",</a:t>
            </a:r>
          </a:p>
          <a:p xmlns:a="http://schemas.openxmlformats.org/drawingml/2006/main">
            <a:r>
              <a:t>      "exception": "이전 학년도 혼입·예외 조건 누락·원문 페이지 변경",</a:t>
            </a:r>
          </a:p>
          <a:p xmlns:a="http://schemas.openxmlformats.org/drawingml/2006/main">
            <a:r>
              <a:t>      "evidence": "학년도별 정답·근거 페이지·예외 적용 대조표",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"학교·교육행정 담당자",</a:t>
            </a:r>
          </a:p>
          <a:p xmlns:a="http://schemas.openxmlformats.org/drawingml/2006/main">
            <a:r>
              <a:t>          "processing": "학교급·학년도·업무 상황 확인",</a:t>
            </a:r>
          </a:p>
          <a:p xmlns:a="http://schemas.openxmlformats.org/drawingml/2006/main">
            <a:r>
              <a:t>          "output": "학교급·질문"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"학교급별 지침",</a:t>
            </a:r>
          </a:p>
          <a:p xmlns:a="http://schemas.openxmlformats.org/drawingml/2006/main">
            <a:r>
              <a:t>          "processing": "지침 판본·학년도·원문 페이지별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"학교급·질문",</a:t>
            </a:r>
          </a:p>
          <a:p xmlns:a="http://schemas.openxmlformats.org/drawingml/2006/main">
            <a:r>
              <a:t>          "processing": "조건에 맞는 지침·질의응답 검색",</a:t>
            </a:r>
          </a:p>
          <a:p xmlns:a="http://schemas.openxmlformats.org/drawingml/2006/main">
            <a:r>
              <a:t>          "output": "근거 페이지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페이지 답변",</a:t>
            </a:r>
          </a:p>
          <a:p xmlns:a="http://schemas.openxmlformats.org/drawingml/2006/main">
            <a:r>
              <a:t>          "processing": "답변 근거와 원문 페이지를 담당자에게 제공",</a:t>
            </a:r>
          </a:p>
          <a:p xmlns:a="http://schemas.openxmlformats.org/drawingml/2006/main">
            <a:r>
              <a:t>          "output": "검증·보완"</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"학년도 혼용·예외 조항 누락의 평가",</a:t>
            </a:r>
          </a:p>
          <a:p xmlns:a="http://schemas.openxmlformats.org/drawingml/2006/main">
            <a:r>
              <a:t>          "output": "학년도별 정답·근거 페이지·예외 적용 대조표"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"학년도 혼용·예외 조항 누락의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"S-AX26",</a:t>
            </a:r>
          </a:p>
          <a:p xmlns:a="http://schemas.openxmlformats.org/drawingml/2006/main">
            <a:r>
              <a:t>        "title": "교육행정 응대 AI PoC · 공공AI 사례집 222–223쪽",</a:t>
            </a:r>
          </a:p>
          <a:p xmlns:a="http://schemas.openxmlformats.org/drawingml/2006/main">
            <a:r>
              <a:t>        "url": "https://bigdata.dongjak.go.kr/board/viewArticle?articleNo=954&amp;boardId=4",</a:t>
            </a:r>
          </a:p>
          <a:p xmlns:a="http://schemas.openxmlformats.org/drawingml/2006/main">
            <a:r>
              <a:t>        "published": "2024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"동일 질문도 소속·업무 맥락별 지침 구분",</a:t>
            </a:r>
          </a:p>
          <a:p xmlns:a="http://schemas.openxmlformats.org/drawingml/2006/main">
            <a:r>
              <a:t>    "local": "TS 부서·직무별 규정 및 동일 요청 교차 평가",</a:t>
            </a:r>
          </a:p>
          <a:p xmlns:a="http://schemas.openxmlformats.org/drawingml/2006/main">
            <a:r>
              <a:t>    "sourceDetail": null,</a:t>
            </a:r>
          </a:p>
          <a:p xmlns:a="http://schemas.openxmlformats.org/drawingml/2006/main">
            <a:r>
              <a:t>    "narrative": [</a:t>
            </a:r>
          </a:p>
          <a:p xmlns:a="http://schemas.openxmlformats.org/drawingml/2006/main">
            <a:r>
              <a:t>      "학교급·학년도별 학교생활기록부 지침을 교직원 질의에 연결하는 사례. 같은 질문이라도 적용 연도·학교급·업무 상황에 따라 근거가 달라지는 규정형 업무.",</a:t>
            </a:r>
          </a:p>
          <a:p xmlns:a="http://schemas.openxmlformats.org/drawingml/2006/main">
            <a:r>
              <a:t>      "질의 문맥을 확보한 뒤 해당 지침 판본과 페이지를 검색해 근거를 제공하는 재구성. 답변의 편집·검토 과정에서도 원문 페이지와 적용 조건을 함께 보존.",</a:t>
            </a:r>
          </a:p>
          <a:p xmlns:a="http://schemas.openxmlformats.org/drawingml/2006/main">
            <a:r>
              <a:t>      "TS 조직 네이티브 AI에서는 소속·직무뿐 아니라 업무 대상과 시행일을 검색 조건으로 추가하는 참고. 연도 혼용·학교급 혼용·예외 조항 누락에 해당하는 TS 도메인 시험셋의 별도 구성."</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"교직원 질의",</a:t>
            </a:r>
          </a:p>
          <a:p xmlns:a="http://schemas.openxmlformats.org/drawingml/2006/main">
            <a:r>
              <a:t>          "layer": "이용 접점",</a:t>
            </a:r>
          </a:p>
          <a:p xmlns:a="http://schemas.openxmlformats.org/drawingml/2006/main">
            <a:r>
              <a:t>          "detail": "학교·교육행정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"학교급·학년도",</a:t>
            </a:r>
          </a:p>
          <a:p xmlns:a="http://schemas.openxmlformats.org/drawingml/2006/main">
            <a:r>
              <a:t>          "layer": "업무 문맥",</a:t>
            </a:r>
          </a:p>
          <a:p xmlns:a="http://schemas.openxmlformats.org/drawingml/2006/main">
            <a:r>
              <a:t>          "detail": "학교급·학년도·업무 상황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지침 검색",</a:t>
            </a:r>
          </a:p>
          <a:p xmlns:a="http://schemas.openxmlformats.org/drawingml/2006/main">
            <a:r>
              <a:t>          "layer": "자료 조회",</a:t>
            </a:r>
          </a:p>
          <a:p xmlns:a="http://schemas.openxmlformats.org/drawingml/2006/main">
            <a:r>
              <a:t>          "detail": "학교급·질문",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답변 생성",</a:t>
            </a:r>
          </a:p>
          <a:p xmlns:a="http://schemas.openxmlformats.org/drawingml/2006/main">
            <a:r>
              <a:t>          "layer": "핵심 처리",</a:t>
            </a:r>
          </a:p>
          <a:p xmlns:a="http://schemas.openxmlformats.org/drawingml/2006/main">
            <a:r>
              <a:t>          "detail": "조건에 맞는 지침·질의응답 검색",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"페이지·예외 대조",</a:t>
            </a:r>
          </a:p>
          <a:p xmlns:a="http://schemas.openxmlformats.org/drawingml/2006/main">
            <a:r>
              <a:t>          "layer": "결과 검증",</a:t>
            </a:r>
          </a:p>
          <a:p xmlns:a="http://schemas.openxmlformats.org/drawingml/2006/main">
            <a:r>
              <a:t>          "detail": "학교급·연도·원문 페이지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"교직원 원문 확인",</a:t>
            </a:r>
          </a:p>
          <a:p xmlns:a="http://schemas.openxmlformats.org/drawingml/2006/main">
            <a:r>
              <a:t>          "layer": "사람 확인",</a:t>
            </a:r>
          </a:p>
          <a:p xmlns:a="http://schemas.openxmlformats.org/drawingml/2006/main">
            <a:r>
              <a:t>          "detail": "학년도·학교급에 맞는 생활기록부 지침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"행정업무 적용",</a:t>
            </a:r>
          </a:p>
          <a:p xmlns:a="http://schemas.openxmlformats.org/drawingml/2006/main">
            <a:r>
              <a:t>          "layer": "업무 연결",</a:t>
            </a:r>
          </a:p>
          <a:p xmlns:a="http://schemas.openxmlformats.org/drawingml/2006/main">
            <a:r>
              <a:t>          "detail": "답변 근거와 원문 페이지를 담당자에게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"연도 혼용 검사",</a:t>
            </a:r>
          </a:p>
          <a:p xmlns:a="http://schemas.openxmlformats.org/drawingml/2006/main">
            <a:r>
              <a:t>          "layer": "운영 관측",</a:t>
            </a:r>
          </a:p>
          <a:p xmlns:a="http://schemas.openxmlformats.org/drawingml/2006/main">
            <a:r>
              <a:t>          "detail": "학년도 혼용·예외 조항 누락의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"지침·질의응답",</a:t>
            </a:r>
          </a:p>
          <a:p xmlns:a="http://schemas.openxmlformats.org/drawingml/2006/main">
            <a:r>
              <a:t>          "layer": "데이터 원천",</a:t>
            </a:r>
          </a:p>
          <a:p xmlns:a="http://schemas.openxmlformats.org/drawingml/2006/main">
            <a:r>
              <a:t>          "detail": "학교급별 지침",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"페이지·판본 색인",</a:t>
            </a:r>
          </a:p>
          <a:p xmlns:a="http://schemas.openxmlformats.org/drawingml/2006/main">
            <a:r>
              <a:t>          "layer": "준비·갱신",</a:t>
            </a:r>
          </a:p>
          <a:p xmlns:a="http://schemas.openxmlformats.org/drawingml/2006/main">
            <a:r>
              <a:t>          "detail": "지침 판본·학년도·원문 페이지별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"지침·평가셋",</a:t>
            </a:r>
          </a:p>
          <a:p xmlns:a="http://schemas.openxmlformats.org/drawingml/2006/main">
            <a:r>
              <a:t>          "layer": "상태·지식 저장",</a:t>
            </a:r>
          </a:p>
          <a:p xmlns:a="http://schemas.openxmlformats.org/drawingml/2006/main">
            <a:r>
              <a:t>          "detail": "학년도별 정답·근거 페이지·예외 적용 대조표",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"학교급별 경계",</a:t>
            </a:r>
          </a:p>
          <a:p xmlns:a="http://schemas.openxmlformats.org/drawingml/2006/main">
            <a:r>
              <a:t>          "layer": "권한·정책",</a:t>
            </a:r>
          </a:p>
          <a:p xmlns:a="http://schemas.openxmlformats.org/drawingml/2006/main">
            <a:r>
              <a:t>          "detail": "이전 학년도 혼입·예외 조건 누락·원문 페이지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"학교급별 지침 → 문서 전처리·RAG → 근거 페이지 답변 → 교직원 검증"</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"학교급별 지침",</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"학교급·학년도·업무 상황 확인",</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"학년도별 정답·근거 페이지·예외 적용 대조표",</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지침",</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페이지 답변",</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"학교생활기록부 지침의 근거형 응대 / 지침 검색·질의응답·원문 페이지",</a:t>
            </a:r>
          </a:p>
          <a:p xmlns:a="http://schemas.openxmlformats.org/drawingml/2006/main">
            <a:r>
              <a:t>        "extension": "TS 부서·직무별 규정 및 동일 요청 교차 평가"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"이전 학년도 혼입·예외 조건 누락·원문 페이지 변경",</a:t>
            </a:r>
          </a:p>
          <a:p xmlns:a="http://schemas.openxmlformats.org/drawingml/2006/main">
            <a:r>
              <a:t>        "hold": "학교급·연도·원문 페이지 대조",</a:t>
            </a:r>
          </a:p>
          <a:p xmlns:a="http://schemas.openxmlformats.org/drawingml/2006/main">
            <a:r>
              <a:t>        "recovery": "학년도 혼용·예외 조항 누락의 평가",</a:t>
            </a:r>
          </a:p>
          <a:p xmlns:a="http://schemas.openxmlformats.org/drawingml/2006/main">
            <a:r>
              <a:t>        "evidence": "학년도별 정답·근거 페이지·예외 적용 대조표"</a:t>
            </a:r>
          </a:p>
          <a:p xmlns:a="http://schemas.openxmlformats.org/drawingml/2006/main">
            <a:r>
              <a:t>      },</a:t>
            </a:r>
          </a:p>
          <a:p xmlns:a="http://schemas.openxmlformats.org/drawingml/2006/main">
            <a:r>
              <a:t>      "data": {</a:t>
            </a:r>
          </a:p>
          <a:p xmlns:a="http://schemas.openxmlformats.org/drawingml/2006/main">
            <a:r>
              <a:t>        "source": "학교급별 지침",</a:t>
            </a:r>
          </a:p>
          <a:p xmlns:a="http://schemas.openxmlformats.org/drawingml/2006/main">
            <a:r>
              <a:t>        "prepare": "지침 판본·학년도·원문 페이지별 색인",</a:t>
            </a:r>
          </a:p>
          <a:p xmlns:a="http://schemas.openxmlformats.org/drawingml/2006/main">
            <a:r>
              <a:t>        "output": "학교급·질문",</a:t>
            </a:r>
          </a:p>
          <a:p xmlns:a="http://schemas.openxmlformats.org/drawingml/2006/main">
            <a:r>
              <a:t>        "refresh": "학년도 혼용·예외 조항 누락의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"AX26",</a:t>
            </a:r>
          </a:p>
          <a:p xmlns:a="http://schemas.openxmlformats.org/drawingml/2006/main">
            <a:r>
              <a:t>    "success": [</a:t>
            </a:r>
          </a:p>
          <a:p xmlns:a="http://schemas.openxmlformats.org/drawingml/2006/main">
            <a:r>
              <a:t>      "학교급별 지침의 분리",</a:t>
            </a:r>
          </a:p>
          <a:p xmlns:a="http://schemas.openxmlformats.org/drawingml/2006/main">
            <a:r>
              <a:t>      "답변과 원문 페이지의 연결"</a:t>
            </a:r>
          </a:p>
          <a:p xmlns:a="http://schemas.openxmlformats.org/drawingml/2006/main">
            <a:r>
              <a:t>    ],</a:t>
            </a:r>
          </a:p>
          <a:p xmlns:a="http://schemas.openxmlformats.org/drawingml/2006/main">
            <a:r>
              <a:t>    "risks": [</a:t>
            </a:r>
          </a:p>
          <a:p xmlns:a="http://schemas.openxmlformats.org/drawingml/2006/main">
            <a:r>
              <a:t>      "학교급·적용 연도 혼용",</a:t>
            </a:r>
          </a:p>
          <a:p xmlns:a="http://schemas.openxmlformats.org/drawingml/2006/main">
            <a:r>
              <a:t>      "유사 질문의 예외 답변 누락"</a:t>
            </a:r>
          </a:p>
          <a:p xmlns:a="http://schemas.openxmlformats.org/drawingml/2006/main">
            <a:r>
              <a:t>    ],</a:t>
            </a:r>
          </a:p>
          <a:p xmlns:a="http://schemas.openxmlformats.org/drawingml/2006/main">
            <a:r>
              <a:t>    "architecture": [</a:t>
            </a:r>
          </a:p>
          <a:p xmlns:a="http://schemas.openxmlformats.org/drawingml/2006/main">
            <a:r>
              <a:t>      "교직원 질의",</a:t>
            </a:r>
          </a:p>
          <a:p xmlns:a="http://schemas.openxmlformats.org/drawingml/2006/main">
            <a:r>
              <a:t>      "전처리·RAG",</a:t>
            </a:r>
          </a:p>
          <a:p xmlns:a="http://schemas.openxmlformats.org/drawingml/2006/main">
            <a:r>
              <a:t>      "학교급별 지침",</a:t>
            </a:r>
          </a:p>
          <a:p xmlns:a="http://schemas.openxmlformats.org/drawingml/2006/main">
            <a:r>
              <a:t>      "교직원 검토"</a:t>
            </a:r>
          </a:p>
          <a:p xmlns:a="http://schemas.openxmlformats.org/drawingml/2006/main">
            <a:r>
              <a:t>    ],</a:t>
            </a:r>
          </a:p>
          <a:p xmlns:a="http://schemas.openxmlformats.org/drawingml/2006/main">
            <a:r>
              <a:t>    "transfers": [</a:t>
            </a:r>
          </a:p>
          <a:p xmlns:a="http://schemas.openxmlformats.org/drawingml/2006/main">
            <a:r>
              <a:t>      "학교급·질문",</a:t>
            </a:r>
          </a:p>
          <a:p xmlns:a="http://schemas.openxmlformats.org/drawingml/2006/main">
            <a:r>
              <a:t>      "관련 지침",</a:t>
            </a:r>
          </a:p>
          <a:p xmlns:a="http://schemas.openxmlformats.org/drawingml/2006/main">
            <a:r>
              <a:t>      "근거 페이지 답변",</a:t>
            </a:r>
          </a:p>
          <a:p xmlns:a="http://schemas.openxmlformats.org/drawingml/2006/main">
            <a:r>
              <a:t>      "검증·보완"</a:t>
            </a:r>
          </a:p>
          <a:p xmlns:a="http://schemas.openxmlformats.org/drawingml/2006/main">
            <a:r>
              <a:t>    ],</a:t>
            </a:r>
          </a:p>
          <a:p xmlns:a="http://schemas.openxmlformats.org/drawingml/2006/main">
            <a:r>
              <a:t>    "control": "학교급·연도·원문 페이지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교육행정 응대 AI PoC · 공공AI 사례집 222–223쪽 https://bigdata.dongjak.go.kr/board/viewArticle?articleNo=954&amp;boardId=4</a:t>
            </a:r>
          </a:p>
          <a:p xmlns:a="http://schemas.openxmlformats.org/drawingml/2006/main">
            <a:r>
              <a:t>홈페이지 https://heen1987-ops.github.io/TS-business-Plan-001/index.html?view=casebook&amp;case=AX26</a:t>
            </a:r>
          </a:p>
          <a:p xmlns:a="http://schemas.openxmlformats.org/drawingml/2006/main">
            <a:r>
              <a:t>성과 대조</a:t>
            </a:r>
          </a:p>
          <a:p xmlns:a="http://schemas.openxmlformats.org/drawingml/2006/main">
            <a:r>
              <a:t>{</a:t>
            </a:r>
          </a:p>
          <a:p xmlns:a="http://schemas.openxmlformats.org/drawingml/2006/main">
            <a:r>
              <a:t>  "caseId": "AX26",</a:t>
            </a:r>
          </a:p>
          <a:p xmlns:a="http://schemas.openxmlformats.org/drawingml/2006/main">
            <a:r>
              <a:t>  "asIs": "교직원이 학교급·학년도별 생활기록부 지침과 질의응답 문서에서 근거 페이지를 탐색",</a:t>
            </a:r>
          </a:p>
          <a:p xmlns:a="http://schemas.openxmlformats.org/drawingml/2006/main">
            <a:r>
              <a:t>  "toBe": "해당 학교급·연도의 지침을 검색하고 원문 페이지와 함께 답변하는 RAG 실증",</a:t>
            </a:r>
          </a:p>
          <a:p xmlns:a="http://schemas.openxmlformats.org/drawingml/2006/main">
            <a:r>
              <a:t>  "expectedEffect": "문서 탐색시간 감소와 근거 판본의 일치도 향상",</a:t>
            </a:r>
          </a:p>
          <a:p xmlns:a="http://schemas.openxmlformats.org/drawingml/2006/main">
            <a:r>
              <a:t>  "observed": "공공 사례집이 선정 지침·질의응답 자료 기반 PoC와 원문 페이지 연결을 설명",</a:t>
            </a:r>
          </a:p>
          <a:p xmlns:a="http://schemas.openxmlformats.org/drawingml/2006/main">
            <a:r>
              <a:t>  "verdict": "성과 미검증",</a:t>
            </a:r>
          </a:p>
          <a:p xmlns:a="http://schemas.openxmlformats.org/drawingml/2006/main">
            <a:r>
              <a:t>  "verdictReason": "기능 실증은 확인되나 학교급·학년도 교차 오류율과 현장 업무시간의 실측 미확인",</a:t>
            </a:r>
          </a:p>
          <a:p xmlns:a="http://schemas.openxmlformats.org/drawingml/2006/main">
            <a:r>
              <a:t>  "limits": "선정 문서 PoC. 교육행정 전체 자동화·학생기록 정정 권한과 별개",</a:t>
            </a:r>
          </a:p>
          <a:p xmlns:a="http://schemas.openxmlformats.org/drawingml/2006/main">
            <a:r>
              <a:t>  "evidenceStage": "정부 문서 범위 PoC",</a:t>
            </a:r>
          </a:p>
          <a:p xmlns:a="http://schemas.openxmlformats.org/drawingml/2006/main">
            <a:r>
              <a:t>  "sourceUrl": "https://bigdata.dongjak.go.kr/board/viewArticle?articleNo=954&amp;boardId=4"</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"AX26",</a:t>
            </a:r>
          </a:p>
          <a:p xmlns:a="http://schemas.openxmlformats.org/drawingml/2006/main">
            <a:r>
              <a:t>    "title": "교육행정 응대 AI PoC",</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"학교급·지침 기반 RAG",</a:t>
            </a:r>
          </a:p>
          <a:p xmlns:a="http://schemas.openxmlformats.org/drawingml/2006/main">
            <a:r>
              <a:t>    "period": "2024 실증",</a:t>
            </a:r>
          </a:p>
          <a:p xmlns:a="http://schemas.openxmlformats.org/drawingml/2006/main">
            <a:r>
              <a:t>    "sources": [</a:t>
            </a:r>
          </a:p>
          <a:p xmlns:a="http://schemas.openxmlformats.org/drawingml/2006/main">
            <a:r>
              <a:t>      "S-AX26"</a:t>
            </a:r>
          </a:p>
          <a:p xmlns:a="http://schemas.openxmlformats.org/drawingml/2006/main">
            <a:r>
              <a:t>    ],</a:t>
            </a:r>
          </a:p>
          <a:p xmlns:a="http://schemas.openxmlformats.org/drawingml/2006/main">
            <a:r>
              <a:t>    "keywords": [</a:t>
            </a:r>
          </a:p>
          <a:p xmlns:a="http://schemas.openxmlformats.org/drawingml/2006/main">
            <a:r>
              <a:t>      "학교급",</a:t>
            </a:r>
          </a:p>
          <a:p xmlns:a="http://schemas.openxmlformats.org/drawingml/2006/main">
            <a:r>
              <a:t>      "지침 기반 RAG"</a:t>
            </a:r>
          </a:p>
          <a:p xmlns:a="http://schemas.openxmlformats.org/drawingml/2006/main">
            <a:r>
              <a:t>    ],</a:t>
            </a:r>
          </a:p>
          <a:p xmlns:a="http://schemas.openxmlformats.org/drawingml/2006/main">
            <a:r>
              <a:t>    "fact": "학교생활기록부 지침·질의응답 자료를 활용한 RAG와 원문 페이지 연결 실증",</a:t>
            </a:r>
          </a:p>
          <a:p xmlns:a="http://schemas.openxmlformats.org/drawingml/2006/main">
            <a:r>
              <a:t>    "limit": "선정 문서·업무 범위의 PoC · 전체 교육행정 자동화와 구분",</a:t>
            </a:r>
          </a:p>
          <a:p xmlns:a="http://schemas.openxmlformats.org/drawingml/2006/main">
            <a:r>
              <a:t>    "flow": [</a:t>
            </a:r>
          </a:p>
          <a:p xmlns:a="http://schemas.openxmlformats.org/drawingml/2006/main">
            <a:r>
              <a:t>      "학교급별 지침",</a:t>
            </a:r>
          </a:p>
          <a:p xmlns:a="http://schemas.openxmlformats.org/drawingml/2006/main">
            <a:r>
              <a:t>      "문서 전처리·RAG",</a:t>
            </a:r>
          </a:p>
          <a:p xmlns:a="http://schemas.openxmlformats.org/drawingml/2006/main">
            <a:r>
              <a:t>      "근거 페이지 답변",</a:t>
            </a:r>
          </a:p>
          <a:p xmlns:a="http://schemas.openxmlformats.org/drawingml/2006/main">
            <a:r>
              <a:t>      "교직원 검증"</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"동일 질문도 소속·업무 맥락별 지침 구분",</a:t>
            </a:r>
          </a:p>
          <a:p xmlns:a="http://schemas.openxmlformats.org/drawingml/2006/main">
            <a:r>
              <a:t>    "local": "TS 부서·직무별 규정 및 동일 요청 교차 평가",</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"직무별 검색 필터·출처 페이지·오류 피드백",</a:t>
            </a:r>
          </a:p>
          <a:p xmlns:a="http://schemas.openxmlformats.org/drawingml/2006/main">
            <a:r>
              <a:t>    "test": "부서·직무 변경 전후 검색 근거 대조",</a:t>
            </a:r>
          </a:p>
          <a:p xmlns:a="http://schemas.openxmlformats.org/drawingml/2006/main">
            <a:r>
              <a:t>    "metric": "근거 일치율 / 보완시간",</a:t>
            </a:r>
          </a:p>
          <a:p xmlns:a="http://schemas.openxmlformats.org/drawingml/2006/main">
            <a:r>
              <a:t>    "strategies": [</a:t>
            </a:r>
          </a:p>
          <a:p xmlns:a="http://schemas.openxmlformats.org/drawingml/2006/main">
            <a:r>
              <a:t>      "ST-04",</a:t>
            </a:r>
          </a:p>
          <a:p xmlns:a="http://schemas.openxmlformats.org/drawingml/2006/main">
            <a:r>
              <a:t>      "ST-10",</a:t>
            </a:r>
          </a:p>
          <a:p xmlns:a="http://schemas.openxmlformats.org/drawingml/2006/main">
            <a:r>
              <a:t>      "ST-12"</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"AX26",</a:t>
            </a:r>
          </a:p>
          <a:p xmlns:a="http://schemas.openxmlformats.org/drawingml/2006/main">
            <a:r>
              <a:t>    "canonicalId": "AX26",</a:t>
            </a:r>
          </a:p>
          <a:p xmlns:a="http://schemas.openxmlformats.org/drawingml/2006/main">
            <a:r>
              <a:t>    "purpose": "학교생활기록부 지침의 근거형 응대",</a:t>
            </a:r>
          </a:p>
          <a:p xmlns:a="http://schemas.openxmlformats.org/drawingml/2006/main">
            <a:r>
              <a:t>    "users": "학교·교육행정 담당자",</a:t>
            </a:r>
          </a:p>
          <a:p xmlns:a="http://schemas.openxmlformats.org/drawingml/2006/main">
            <a:r>
              <a:t>    "scope": [</a:t>
            </a:r>
          </a:p>
          <a:p xmlns:a="http://schemas.openxmlformats.org/drawingml/2006/main">
            <a:r>
              <a:t>      "지침 검색",</a:t>
            </a:r>
          </a:p>
          <a:p xmlns:a="http://schemas.openxmlformats.org/drawingml/2006/main">
            <a:r>
              <a:t>      "질의응답",</a:t>
            </a:r>
          </a:p>
          <a:p xmlns:a="http://schemas.openxmlformats.org/drawingml/2006/main">
            <a:r>
              <a:t>      "원문 페이지"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"교직원 질의",</a:t>
            </a:r>
          </a:p>
          <a:p xmlns:a="http://schemas.openxmlformats.org/drawingml/2006/main">
            <a:r>
              <a:t>        "detail": "학교급·학년도·업무 상황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"지침 검색 / 질의응답 / 원문 페이지",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"전처리·RAG",</a:t>
            </a:r>
          </a:p>
          <a:p xmlns:a="http://schemas.openxmlformats.org/drawingml/2006/main">
            <a:r>
              <a:t>        "detail": "조건에 맞는 지침·질의응답 검색",</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"교직원 검토",</a:t>
            </a:r>
          </a:p>
          <a:p xmlns:a="http://schemas.openxmlformats.org/drawingml/2006/main">
            <a:r>
              <a:t>        "detail": "답변 근거와 원문 페이지를 담당자에게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"학교급별 지침",</a:t>
            </a:r>
          </a:p>
          <a:p xmlns:a="http://schemas.openxmlformats.org/drawingml/2006/main">
            <a:r>
              <a:t>        "detail": "지침 판본·학년도·원문 페이지별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"학년도 혼용·예외 조항 누락의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"학교급별 지침",</a:t>
            </a:r>
          </a:p>
          <a:p xmlns:a="http://schemas.openxmlformats.org/drawingml/2006/main">
            <a:r>
              <a:t>        "input": "학교급·학년도·업무 상황 확인",</a:t>
            </a:r>
          </a:p>
          <a:p xmlns:a="http://schemas.openxmlformats.org/drawingml/2006/main">
            <a:r>
              <a:t>        "process": "지침 판본·학년도·원문 페이지별 색인",</a:t>
            </a:r>
          </a:p>
          <a:p xmlns:a="http://schemas.openxmlformats.org/drawingml/2006/main">
            <a:r>
              <a:t>        "output": "학교급·질문"</a:t>
            </a:r>
          </a:p>
          <a:p xmlns:a="http://schemas.openxmlformats.org/drawingml/2006/main">
            <a:r>
              <a:t>      },</a:t>
            </a:r>
          </a:p>
          <a:p xmlns:a="http://schemas.openxmlformats.org/drawingml/2006/main">
            <a:r>
              <a:t>      {</a:t>
            </a:r>
          </a:p>
          <a:p xmlns:a="http://schemas.openxmlformats.org/drawingml/2006/main">
            <a:r>
              <a:t>        "title": "문서 전처리·RAG",</a:t>
            </a:r>
          </a:p>
          <a:p xmlns:a="http://schemas.openxmlformats.org/drawingml/2006/main">
            <a:r>
              <a:t>        "input": "학교급·질문",</a:t>
            </a:r>
          </a:p>
          <a:p xmlns:a="http://schemas.openxmlformats.org/drawingml/2006/main">
            <a:r>
              <a:t>        "process": "조건에 맞는 지침·질의응답 검색",</a:t>
            </a:r>
          </a:p>
          <a:p xmlns:a="http://schemas.openxmlformats.org/drawingml/2006/main">
            <a:r>
              <a:t>        "output": "관련 지침"</a:t>
            </a:r>
          </a:p>
          <a:p xmlns:a="http://schemas.openxmlformats.org/drawingml/2006/main">
            <a:r>
              <a:t>      },</a:t>
            </a:r>
          </a:p>
          <a:p xmlns:a="http://schemas.openxmlformats.org/drawingml/2006/main">
            <a:r>
              <a:t>      {</a:t>
            </a:r>
          </a:p>
          <a:p xmlns:a="http://schemas.openxmlformats.org/drawingml/2006/main">
            <a:r>
              <a:t>        "title": "근거 페이지 답변",</a:t>
            </a:r>
          </a:p>
          <a:p xmlns:a="http://schemas.openxmlformats.org/drawingml/2006/main">
            <a:r>
              <a:t>        "input": "관련 지침",</a:t>
            </a:r>
          </a:p>
          <a:p xmlns:a="http://schemas.openxmlformats.org/drawingml/2006/main">
            <a:r>
              <a:t>        "process": "학교급·연도·원문 페이지 대조",</a:t>
            </a:r>
          </a:p>
          <a:p xmlns:a="http://schemas.openxmlformats.org/drawingml/2006/main">
            <a:r>
              <a:t>        "output": "근거 페이지 답변"</a:t>
            </a:r>
          </a:p>
          <a:p xmlns:a="http://schemas.openxmlformats.org/drawingml/2006/main">
            <a:r>
              <a:t>      },</a:t>
            </a:r>
          </a:p>
          <a:p xmlns:a="http://schemas.openxmlformats.org/drawingml/2006/main">
            <a:r>
              <a:t>      {</a:t>
            </a:r>
          </a:p>
          <a:p xmlns:a="http://schemas.openxmlformats.org/drawingml/2006/main">
            <a:r>
              <a:t>        "title": "교직원 검증",</a:t>
            </a:r>
          </a:p>
          <a:p xmlns:a="http://schemas.openxmlformats.org/drawingml/2006/main">
            <a:r>
              <a:t>        "input": "근거 페이지 답변",</a:t>
            </a:r>
          </a:p>
          <a:p xmlns:a="http://schemas.openxmlformats.org/drawingml/2006/main">
            <a:r>
              <a:t>        "process": "답변 근거와 원문 페이지를 담당자에게 제공",</a:t>
            </a:r>
          </a:p>
          <a:p xmlns:a="http://schemas.openxmlformats.org/drawingml/2006/main">
            <a:r>
              <a:t>        "output": "검증·보완"</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"학년도·학교급에 맞는 생활기록부 지침 안내",</a:t>
            </a:r>
          </a:p>
          <a:p xmlns:a="http://schemas.openxmlformats.org/drawingml/2006/main">
            <a:r>
              <a:t>      "exception": "이전 학년도 혼입·예외 조건 누락·원문 페이지 변경",</a:t>
            </a:r>
          </a:p>
          <a:p xmlns:a="http://schemas.openxmlformats.org/drawingml/2006/main">
            <a:r>
              <a:t>      "evidence": "학년도별 정답·근거 페이지·예외 적용 대조표",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"학교·교육행정 담당자",</a:t>
            </a:r>
          </a:p>
          <a:p xmlns:a="http://schemas.openxmlformats.org/drawingml/2006/main">
            <a:r>
              <a:t>          "processing": "학교급·학년도·업무 상황 확인",</a:t>
            </a:r>
          </a:p>
          <a:p xmlns:a="http://schemas.openxmlformats.org/drawingml/2006/main">
            <a:r>
              <a:t>          "output": "학교급·질문"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"학교급별 지침",</a:t>
            </a:r>
          </a:p>
          <a:p xmlns:a="http://schemas.openxmlformats.org/drawingml/2006/main">
            <a:r>
              <a:t>          "processing": "지침 판본·학년도·원문 페이지별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"학교급·질문",</a:t>
            </a:r>
          </a:p>
          <a:p xmlns:a="http://schemas.openxmlformats.org/drawingml/2006/main">
            <a:r>
              <a:t>          "processing": "조건에 맞는 지침·질의응답 검색",</a:t>
            </a:r>
          </a:p>
          <a:p xmlns:a="http://schemas.openxmlformats.org/drawingml/2006/main">
            <a:r>
              <a:t>          "output": "근거 페이지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페이지 답변",</a:t>
            </a:r>
          </a:p>
          <a:p xmlns:a="http://schemas.openxmlformats.org/drawingml/2006/main">
            <a:r>
              <a:t>          "processing": "답변 근거와 원문 페이지를 담당자에게 제공",</a:t>
            </a:r>
          </a:p>
          <a:p xmlns:a="http://schemas.openxmlformats.org/drawingml/2006/main">
            <a:r>
              <a:t>          "output": "검증·보완"</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"학년도 혼용·예외 조항 누락의 평가",</a:t>
            </a:r>
          </a:p>
          <a:p xmlns:a="http://schemas.openxmlformats.org/drawingml/2006/main">
            <a:r>
              <a:t>          "output": "학년도별 정답·근거 페이지·예외 적용 대조표"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"학년도 혼용·예외 조항 누락의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"S-AX26",</a:t>
            </a:r>
          </a:p>
          <a:p xmlns:a="http://schemas.openxmlformats.org/drawingml/2006/main">
            <a:r>
              <a:t>        "title": "교육행정 응대 AI PoC · 공공AI 사례집 222–223쪽",</a:t>
            </a:r>
          </a:p>
          <a:p xmlns:a="http://schemas.openxmlformats.org/drawingml/2006/main">
            <a:r>
              <a:t>        "url": "https://bigdata.dongjak.go.kr/board/viewArticle?articleNo=954&amp;boardId=4",</a:t>
            </a:r>
          </a:p>
          <a:p xmlns:a="http://schemas.openxmlformats.org/drawingml/2006/main">
            <a:r>
              <a:t>        "published": "2024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"동일 질문도 소속·업무 맥락별 지침 구분",</a:t>
            </a:r>
          </a:p>
          <a:p xmlns:a="http://schemas.openxmlformats.org/drawingml/2006/main">
            <a:r>
              <a:t>    "local": "TS 부서·직무별 규정 및 동일 요청 교차 평가",</a:t>
            </a:r>
          </a:p>
          <a:p xmlns:a="http://schemas.openxmlformats.org/drawingml/2006/main">
            <a:r>
              <a:t>    "sourceDetail": null,</a:t>
            </a:r>
          </a:p>
          <a:p xmlns:a="http://schemas.openxmlformats.org/drawingml/2006/main">
            <a:r>
              <a:t>    "narrative": [</a:t>
            </a:r>
          </a:p>
          <a:p xmlns:a="http://schemas.openxmlformats.org/drawingml/2006/main">
            <a:r>
              <a:t>      "학교급·학년도별 학교생활기록부 지침을 교직원 질의에 연결하는 사례. 같은 질문이라도 적용 연도·학교급·업무 상황에 따라 근거가 달라지는 규정형 업무.",</a:t>
            </a:r>
          </a:p>
          <a:p xmlns:a="http://schemas.openxmlformats.org/drawingml/2006/main">
            <a:r>
              <a:t>      "질의 문맥을 확보한 뒤 해당 지침 판본과 페이지를 검색해 근거를 제공하는 재구성. 답변의 편집·검토 과정에서도 원문 페이지와 적용 조건을 함께 보존.",</a:t>
            </a:r>
          </a:p>
          <a:p xmlns:a="http://schemas.openxmlformats.org/drawingml/2006/main">
            <a:r>
              <a:t>      "TS 조직 네이티브 AI에서는 소속·직무뿐 아니라 업무 대상과 시행일을 검색 조건으로 추가하는 참고. 연도 혼용·학교급 혼용·예외 조항 누락에 해당하는 TS 도메인 시험셋의 별도 구성."</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"교직원 질의",</a:t>
            </a:r>
          </a:p>
          <a:p xmlns:a="http://schemas.openxmlformats.org/drawingml/2006/main">
            <a:r>
              <a:t>          "layer": "이용 접점",</a:t>
            </a:r>
          </a:p>
          <a:p xmlns:a="http://schemas.openxmlformats.org/drawingml/2006/main">
            <a:r>
              <a:t>          "detail": "학교·교육행정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"학교급·학년도",</a:t>
            </a:r>
          </a:p>
          <a:p xmlns:a="http://schemas.openxmlformats.org/drawingml/2006/main">
            <a:r>
              <a:t>          "layer": "업무 문맥",</a:t>
            </a:r>
          </a:p>
          <a:p xmlns:a="http://schemas.openxmlformats.org/drawingml/2006/main">
            <a:r>
              <a:t>          "detail": "학교급·학년도·업무 상황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지침 검색",</a:t>
            </a:r>
          </a:p>
          <a:p xmlns:a="http://schemas.openxmlformats.org/drawingml/2006/main">
            <a:r>
              <a:t>          "layer": "자료 조회",</a:t>
            </a:r>
          </a:p>
          <a:p xmlns:a="http://schemas.openxmlformats.org/drawingml/2006/main">
            <a:r>
              <a:t>          "detail": "학교급·질문",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답변 생성",</a:t>
            </a:r>
          </a:p>
          <a:p xmlns:a="http://schemas.openxmlformats.org/drawingml/2006/main">
            <a:r>
              <a:t>          "layer": "핵심 처리",</a:t>
            </a:r>
          </a:p>
          <a:p xmlns:a="http://schemas.openxmlformats.org/drawingml/2006/main">
            <a:r>
              <a:t>          "detail": "조건에 맞는 지침·질의응답 검색",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"페이지·예외 대조",</a:t>
            </a:r>
          </a:p>
          <a:p xmlns:a="http://schemas.openxmlformats.org/drawingml/2006/main">
            <a:r>
              <a:t>          "layer": "결과 검증",</a:t>
            </a:r>
          </a:p>
          <a:p xmlns:a="http://schemas.openxmlformats.org/drawingml/2006/main">
            <a:r>
              <a:t>          "detail": "학교급·연도·원문 페이지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"교직원 원문 확인",</a:t>
            </a:r>
          </a:p>
          <a:p xmlns:a="http://schemas.openxmlformats.org/drawingml/2006/main">
            <a:r>
              <a:t>          "layer": "사람 확인",</a:t>
            </a:r>
          </a:p>
          <a:p xmlns:a="http://schemas.openxmlformats.org/drawingml/2006/main">
            <a:r>
              <a:t>          "detail": "학년도·학교급에 맞는 생활기록부 지침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"행정업무 적용",</a:t>
            </a:r>
          </a:p>
          <a:p xmlns:a="http://schemas.openxmlformats.org/drawingml/2006/main">
            <a:r>
              <a:t>          "layer": "업무 연결",</a:t>
            </a:r>
          </a:p>
          <a:p xmlns:a="http://schemas.openxmlformats.org/drawingml/2006/main">
            <a:r>
              <a:t>          "detail": "답변 근거와 원문 페이지를 담당자에게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"연도 혼용 검사",</a:t>
            </a:r>
          </a:p>
          <a:p xmlns:a="http://schemas.openxmlformats.org/drawingml/2006/main">
            <a:r>
              <a:t>          "layer": "운영 관측",</a:t>
            </a:r>
          </a:p>
          <a:p xmlns:a="http://schemas.openxmlformats.org/drawingml/2006/main">
            <a:r>
              <a:t>          "detail": "학년도 혼용·예외 조항 누락의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"지침·질의응답",</a:t>
            </a:r>
          </a:p>
          <a:p xmlns:a="http://schemas.openxmlformats.org/drawingml/2006/main">
            <a:r>
              <a:t>          "layer": "데이터 원천",</a:t>
            </a:r>
          </a:p>
          <a:p xmlns:a="http://schemas.openxmlformats.org/drawingml/2006/main">
            <a:r>
              <a:t>          "detail": "학교급별 지침",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"페이지·판본 색인",</a:t>
            </a:r>
          </a:p>
          <a:p xmlns:a="http://schemas.openxmlformats.org/drawingml/2006/main">
            <a:r>
              <a:t>          "layer": "준비·갱신",</a:t>
            </a:r>
          </a:p>
          <a:p xmlns:a="http://schemas.openxmlformats.org/drawingml/2006/main">
            <a:r>
              <a:t>          "detail": "지침 판본·학년도·원문 페이지별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"지침·평가셋",</a:t>
            </a:r>
          </a:p>
          <a:p xmlns:a="http://schemas.openxmlformats.org/drawingml/2006/main">
            <a:r>
              <a:t>          "layer": "상태·지식 저장",</a:t>
            </a:r>
          </a:p>
          <a:p xmlns:a="http://schemas.openxmlformats.org/drawingml/2006/main">
            <a:r>
              <a:t>          "detail": "학년도별 정답·근거 페이지·예외 적용 대조표",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"학교급별 경계",</a:t>
            </a:r>
          </a:p>
          <a:p xmlns:a="http://schemas.openxmlformats.org/drawingml/2006/main">
            <a:r>
              <a:t>          "layer": "권한·정책",</a:t>
            </a:r>
          </a:p>
          <a:p xmlns:a="http://schemas.openxmlformats.org/drawingml/2006/main">
            <a:r>
              <a:t>          "detail": "이전 학년도 혼입·예외 조건 누락·원문 페이지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"학교급별 지침 → 문서 전처리·RAG → 근거 페이지 답변 → 교직원 검증"</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"학교급별 지침",</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"학교급·학년도·업무 상황 확인",</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"학년도별 정답·근거 페이지·예외 적용 대조표",</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지침",</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페이지 답변",</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"학교생활기록부 지침의 근거형 응대 / 지침 검색·질의응답·원문 페이지",</a:t>
            </a:r>
          </a:p>
          <a:p xmlns:a="http://schemas.openxmlformats.org/drawingml/2006/main">
            <a:r>
              <a:t>        "extension": "TS 부서·직무별 규정 및 동일 요청 교차 평가"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"이전 학년도 혼입·예외 조건 누락·원문 페이지 변경",</a:t>
            </a:r>
          </a:p>
          <a:p xmlns:a="http://schemas.openxmlformats.org/drawingml/2006/main">
            <a:r>
              <a:t>        "hold": "학교급·연도·원문 페이지 대조",</a:t>
            </a:r>
          </a:p>
          <a:p xmlns:a="http://schemas.openxmlformats.org/drawingml/2006/main">
            <a:r>
              <a:t>        "recovery": "학년도 혼용·예외 조항 누락의 평가",</a:t>
            </a:r>
          </a:p>
          <a:p xmlns:a="http://schemas.openxmlformats.org/drawingml/2006/main">
            <a:r>
              <a:t>        "evidence": "학년도별 정답·근거 페이지·예외 적용 대조표"</a:t>
            </a:r>
          </a:p>
          <a:p xmlns:a="http://schemas.openxmlformats.org/drawingml/2006/main">
            <a:r>
              <a:t>      },</a:t>
            </a:r>
          </a:p>
          <a:p xmlns:a="http://schemas.openxmlformats.org/drawingml/2006/main">
            <a:r>
              <a:t>      "data": {</a:t>
            </a:r>
          </a:p>
          <a:p xmlns:a="http://schemas.openxmlformats.org/drawingml/2006/main">
            <a:r>
              <a:t>        "source": "학교급별 지침",</a:t>
            </a:r>
          </a:p>
          <a:p xmlns:a="http://schemas.openxmlformats.org/drawingml/2006/main">
            <a:r>
              <a:t>        "prepare": "지침 판본·학년도·원문 페이지별 색인",</a:t>
            </a:r>
          </a:p>
          <a:p xmlns:a="http://schemas.openxmlformats.org/drawingml/2006/main">
            <a:r>
              <a:t>        "output": "학교급·질문",</a:t>
            </a:r>
          </a:p>
          <a:p xmlns:a="http://schemas.openxmlformats.org/drawingml/2006/main">
            <a:r>
              <a:t>        "refresh": "학년도 혼용·예외 조항 누락의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"AX26",</a:t>
            </a:r>
          </a:p>
          <a:p xmlns:a="http://schemas.openxmlformats.org/drawingml/2006/main">
            <a:r>
              <a:t>    "success": [</a:t>
            </a:r>
          </a:p>
          <a:p xmlns:a="http://schemas.openxmlformats.org/drawingml/2006/main">
            <a:r>
              <a:t>      "학교급별 지침의 분리",</a:t>
            </a:r>
          </a:p>
          <a:p xmlns:a="http://schemas.openxmlformats.org/drawingml/2006/main">
            <a:r>
              <a:t>      "답변과 원문 페이지의 연결"</a:t>
            </a:r>
          </a:p>
          <a:p xmlns:a="http://schemas.openxmlformats.org/drawingml/2006/main">
            <a:r>
              <a:t>    ],</a:t>
            </a:r>
          </a:p>
          <a:p xmlns:a="http://schemas.openxmlformats.org/drawingml/2006/main">
            <a:r>
              <a:t>    "risks": [</a:t>
            </a:r>
          </a:p>
          <a:p xmlns:a="http://schemas.openxmlformats.org/drawingml/2006/main">
            <a:r>
              <a:t>      "학교급·적용 연도 혼용",</a:t>
            </a:r>
          </a:p>
          <a:p xmlns:a="http://schemas.openxmlformats.org/drawingml/2006/main">
            <a:r>
              <a:t>      "유사 질문의 예외 답변 누락"</a:t>
            </a:r>
          </a:p>
          <a:p xmlns:a="http://schemas.openxmlformats.org/drawingml/2006/main">
            <a:r>
              <a:t>    ],</a:t>
            </a:r>
          </a:p>
          <a:p xmlns:a="http://schemas.openxmlformats.org/drawingml/2006/main">
            <a:r>
              <a:t>    "architecture": [</a:t>
            </a:r>
          </a:p>
          <a:p xmlns:a="http://schemas.openxmlformats.org/drawingml/2006/main">
            <a:r>
              <a:t>      "교직원 질의",</a:t>
            </a:r>
          </a:p>
          <a:p xmlns:a="http://schemas.openxmlformats.org/drawingml/2006/main">
            <a:r>
              <a:t>      "전처리·RAG",</a:t>
            </a:r>
          </a:p>
          <a:p xmlns:a="http://schemas.openxmlformats.org/drawingml/2006/main">
            <a:r>
              <a:t>      "학교급별 지침",</a:t>
            </a:r>
          </a:p>
          <a:p xmlns:a="http://schemas.openxmlformats.org/drawingml/2006/main">
            <a:r>
              <a:t>      "교직원 검토"</a:t>
            </a:r>
          </a:p>
          <a:p xmlns:a="http://schemas.openxmlformats.org/drawingml/2006/main">
            <a:r>
              <a:t>    ],</a:t>
            </a:r>
          </a:p>
          <a:p xmlns:a="http://schemas.openxmlformats.org/drawingml/2006/main">
            <a:r>
              <a:t>    "transfers": [</a:t>
            </a:r>
          </a:p>
          <a:p xmlns:a="http://schemas.openxmlformats.org/drawingml/2006/main">
            <a:r>
              <a:t>      "학교급·질문",</a:t>
            </a:r>
          </a:p>
          <a:p xmlns:a="http://schemas.openxmlformats.org/drawingml/2006/main">
            <a:r>
              <a:t>      "관련 지침",</a:t>
            </a:r>
          </a:p>
          <a:p xmlns:a="http://schemas.openxmlformats.org/drawingml/2006/main">
            <a:r>
              <a:t>      "근거 페이지 답변",</a:t>
            </a:r>
          </a:p>
          <a:p xmlns:a="http://schemas.openxmlformats.org/drawingml/2006/main">
            <a:r>
              <a:t>      "검증·보완"</a:t>
            </a:r>
          </a:p>
          <a:p xmlns:a="http://schemas.openxmlformats.org/drawingml/2006/main">
            <a:r>
              <a:t>    ],</a:t>
            </a:r>
          </a:p>
          <a:p xmlns:a="http://schemas.openxmlformats.org/drawingml/2006/main">
            <a:r>
              <a:t>    "control": "학교급·연도·원문 페이지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교육행정 응대 AI PoC · 공공AI 사례집 222–223쪽 https://bigdata.dongjak.go.kr/board/viewArticle?articleNo=954&amp;boardId=4</a:t>
            </a:r>
          </a:p>
          <a:p xmlns:a="http://schemas.openxmlformats.org/drawingml/2006/main">
            <a:r>
              <a:t>홈페이지 https://heen1987-ops.github.io/TS-business-Plan-001/index.html?view=casebook&amp;case=AX26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"AX26",</a:t>
            </a:r>
          </a:p>
          <a:p xmlns:a="http://schemas.openxmlformats.org/drawingml/2006/main">
            <a:r>
              <a:t>    "title": "교육행정 응대 AI PoC",</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"학교급·지침 기반 RAG",</a:t>
            </a:r>
          </a:p>
          <a:p xmlns:a="http://schemas.openxmlformats.org/drawingml/2006/main">
            <a:r>
              <a:t>    "period": "2024 실증",</a:t>
            </a:r>
          </a:p>
          <a:p xmlns:a="http://schemas.openxmlformats.org/drawingml/2006/main">
            <a:r>
              <a:t>    "sources": [</a:t>
            </a:r>
          </a:p>
          <a:p xmlns:a="http://schemas.openxmlformats.org/drawingml/2006/main">
            <a:r>
              <a:t>      "S-AX26"</a:t>
            </a:r>
          </a:p>
          <a:p xmlns:a="http://schemas.openxmlformats.org/drawingml/2006/main">
            <a:r>
              <a:t>    ],</a:t>
            </a:r>
          </a:p>
          <a:p xmlns:a="http://schemas.openxmlformats.org/drawingml/2006/main">
            <a:r>
              <a:t>    "keywords": [</a:t>
            </a:r>
          </a:p>
          <a:p xmlns:a="http://schemas.openxmlformats.org/drawingml/2006/main">
            <a:r>
              <a:t>      "학교급",</a:t>
            </a:r>
          </a:p>
          <a:p xmlns:a="http://schemas.openxmlformats.org/drawingml/2006/main">
            <a:r>
              <a:t>      "지침 기반 RAG"</a:t>
            </a:r>
          </a:p>
          <a:p xmlns:a="http://schemas.openxmlformats.org/drawingml/2006/main">
            <a:r>
              <a:t>    ],</a:t>
            </a:r>
          </a:p>
          <a:p xmlns:a="http://schemas.openxmlformats.org/drawingml/2006/main">
            <a:r>
              <a:t>    "fact": "학교생활기록부 지침·질의응답 자료를 활용한 RAG와 원문 페이지 연결 실증",</a:t>
            </a:r>
          </a:p>
          <a:p xmlns:a="http://schemas.openxmlformats.org/drawingml/2006/main">
            <a:r>
              <a:t>    "limit": "선정 문서·업무 범위의 PoC · 전체 교육행정 자동화와 구분",</a:t>
            </a:r>
          </a:p>
          <a:p xmlns:a="http://schemas.openxmlformats.org/drawingml/2006/main">
            <a:r>
              <a:t>    "flow": [</a:t>
            </a:r>
          </a:p>
          <a:p xmlns:a="http://schemas.openxmlformats.org/drawingml/2006/main">
            <a:r>
              <a:t>      "학교급별 지침",</a:t>
            </a:r>
          </a:p>
          <a:p xmlns:a="http://schemas.openxmlformats.org/drawingml/2006/main">
            <a:r>
              <a:t>      "문서 전처리·RAG",</a:t>
            </a:r>
          </a:p>
          <a:p xmlns:a="http://schemas.openxmlformats.org/drawingml/2006/main">
            <a:r>
              <a:t>      "근거 페이지 답변",</a:t>
            </a:r>
          </a:p>
          <a:p xmlns:a="http://schemas.openxmlformats.org/drawingml/2006/main">
            <a:r>
              <a:t>      "교직원 검증"</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"동일 질문도 소속·업무 맥락별 지침 구분",</a:t>
            </a:r>
          </a:p>
          <a:p xmlns:a="http://schemas.openxmlformats.org/drawingml/2006/main">
            <a:r>
              <a:t>    "local": "TS 부서·직무별 규정 및 동일 요청 교차 평가",</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"직무별 검색 필터·출처 페이지·오류 피드백",</a:t>
            </a:r>
          </a:p>
          <a:p xmlns:a="http://schemas.openxmlformats.org/drawingml/2006/main">
            <a:r>
              <a:t>    "test": "부서·직무 변경 전후 검색 근거 대조",</a:t>
            </a:r>
          </a:p>
          <a:p xmlns:a="http://schemas.openxmlformats.org/drawingml/2006/main">
            <a:r>
              <a:t>    "metric": "근거 일치율 / 보완시간",</a:t>
            </a:r>
          </a:p>
          <a:p xmlns:a="http://schemas.openxmlformats.org/drawingml/2006/main">
            <a:r>
              <a:t>    "strategies": [</a:t>
            </a:r>
          </a:p>
          <a:p xmlns:a="http://schemas.openxmlformats.org/drawingml/2006/main">
            <a:r>
              <a:t>      "ST-04",</a:t>
            </a:r>
          </a:p>
          <a:p xmlns:a="http://schemas.openxmlformats.org/drawingml/2006/main">
            <a:r>
              <a:t>      "ST-10",</a:t>
            </a:r>
          </a:p>
          <a:p xmlns:a="http://schemas.openxmlformats.org/drawingml/2006/main">
            <a:r>
              <a:t>      "ST-12"</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"AX26",</a:t>
            </a:r>
          </a:p>
          <a:p xmlns:a="http://schemas.openxmlformats.org/drawingml/2006/main">
            <a:r>
              <a:t>    "canonicalId": "AX26",</a:t>
            </a:r>
          </a:p>
          <a:p xmlns:a="http://schemas.openxmlformats.org/drawingml/2006/main">
            <a:r>
              <a:t>    "purpose": "학교생활기록부 지침의 근거형 응대",</a:t>
            </a:r>
          </a:p>
          <a:p xmlns:a="http://schemas.openxmlformats.org/drawingml/2006/main">
            <a:r>
              <a:t>    "users": "학교·교육행정 담당자",</a:t>
            </a:r>
          </a:p>
          <a:p xmlns:a="http://schemas.openxmlformats.org/drawingml/2006/main">
            <a:r>
              <a:t>    "scope": [</a:t>
            </a:r>
          </a:p>
          <a:p xmlns:a="http://schemas.openxmlformats.org/drawingml/2006/main">
            <a:r>
              <a:t>      "지침 검색",</a:t>
            </a:r>
          </a:p>
          <a:p xmlns:a="http://schemas.openxmlformats.org/drawingml/2006/main">
            <a:r>
              <a:t>      "질의응답",</a:t>
            </a:r>
          </a:p>
          <a:p xmlns:a="http://schemas.openxmlformats.org/drawingml/2006/main">
            <a:r>
              <a:t>      "원문 페이지"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"교직원 질의",</a:t>
            </a:r>
          </a:p>
          <a:p xmlns:a="http://schemas.openxmlformats.org/drawingml/2006/main">
            <a:r>
              <a:t>        "detail": "학교급·학년도·업무 상황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"지침 검색 / 질의응답 / 원문 페이지",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"전처리·RAG",</a:t>
            </a:r>
          </a:p>
          <a:p xmlns:a="http://schemas.openxmlformats.org/drawingml/2006/main">
            <a:r>
              <a:t>        "detail": "조건에 맞는 지침·질의응답 검색",</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"교직원 검토",</a:t>
            </a:r>
          </a:p>
          <a:p xmlns:a="http://schemas.openxmlformats.org/drawingml/2006/main">
            <a:r>
              <a:t>        "detail": "답변 근거와 원문 페이지를 담당자에게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"학교급별 지침",</a:t>
            </a:r>
          </a:p>
          <a:p xmlns:a="http://schemas.openxmlformats.org/drawingml/2006/main">
            <a:r>
              <a:t>        "detail": "지침 판본·학년도·원문 페이지별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"학년도 혼용·예외 조항 누락의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"학교급별 지침",</a:t>
            </a:r>
          </a:p>
          <a:p xmlns:a="http://schemas.openxmlformats.org/drawingml/2006/main">
            <a:r>
              <a:t>        "input": "학교급·학년도·업무 상황 확인",</a:t>
            </a:r>
          </a:p>
          <a:p xmlns:a="http://schemas.openxmlformats.org/drawingml/2006/main">
            <a:r>
              <a:t>        "process": "지침 판본·학년도·원문 페이지별 색인",</a:t>
            </a:r>
          </a:p>
          <a:p xmlns:a="http://schemas.openxmlformats.org/drawingml/2006/main">
            <a:r>
              <a:t>        "output": "학교급·질문"</a:t>
            </a:r>
          </a:p>
          <a:p xmlns:a="http://schemas.openxmlformats.org/drawingml/2006/main">
            <a:r>
              <a:t>      },</a:t>
            </a:r>
          </a:p>
          <a:p xmlns:a="http://schemas.openxmlformats.org/drawingml/2006/main">
            <a:r>
              <a:t>      {</a:t>
            </a:r>
          </a:p>
          <a:p xmlns:a="http://schemas.openxmlformats.org/drawingml/2006/main">
            <a:r>
              <a:t>        "title": "문서 전처리·RAG",</a:t>
            </a:r>
          </a:p>
          <a:p xmlns:a="http://schemas.openxmlformats.org/drawingml/2006/main">
            <a:r>
              <a:t>        "input": "학교급·질문",</a:t>
            </a:r>
          </a:p>
          <a:p xmlns:a="http://schemas.openxmlformats.org/drawingml/2006/main">
            <a:r>
              <a:t>        "process": "조건에 맞는 지침·질의응답 검색",</a:t>
            </a:r>
          </a:p>
          <a:p xmlns:a="http://schemas.openxmlformats.org/drawingml/2006/main">
            <a:r>
              <a:t>        "output": "관련 지침"</a:t>
            </a:r>
          </a:p>
          <a:p xmlns:a="http://schemas.openxmlformats.org/drawingml/2006/main">
            <a:r>
              <a:t>      },</a:t>
            </a:r>
          </a:p>
          <a:p xmlns:a="http://schemas.openxmlformats.org/drawingml/2006/main">
            <a:r>
              <a:t>      {</a:t>
            </a:r>
          </a:p>
          <a:p xmlns:a="http://schemas.openxmlformats.org/drawingml/2006/main">
            <a:r>
              <a:t>        "title": "근거 페이지 답변",</a:t>
            </a:r>
          </a:p>
          <a:p xmlns:a="http://schemas.openxmlformats.org/drawingml/2006/main">
            <a:r>
              <a:t>        "input": "관련 지침",</a:t>
            </a:r>
          </a:p>
          <a:p xmlns:a="http://schemas.openxmlformats.org/drawingml/2006/main">
            <a:r>
              <a:t>        "process": "학교급·연도·원문 페이지 대조",</a:t>
            </a:r>
          </a:p>
          <a:p xmlns:a="http://schemas.openxmlformats.org/drawingml/2006/main">
            <a:r>
              <a:t>        "output": "근거 페이지 답변"</a:t>
            </a:r>
          </a:p>
          <a:p xmlns:a="http://schemas.openxmlformats.org/drawingml/2006/main">
            <a:r>
              <a:t>      },</a:t>
            </a:r>
          </a:p>
          <a:p xmlns:a="http://schemas.openxmlformats.org/drawingml/2006/main">
            <a:r>
              <a:t>      {</a:t>
            </a:r>
          </a:p>
          <a:p xmlns:a="http://schemas.openxmlformats.org/drawingml/2006/main">
            <a:r>
              <a:t>        "title": "교직원 검증",</a:t>
            </a:r>
          </a:p>
          <a:p xmlns:a="http://schemas.openxmlformats.org/drawingml/2006/main">
            <a:r>
              <a:t>        "input": "근거 페이지 답변",</a:t>
            </a:r>
          </a:p>
          <a:p xmlns:a="http://schemas.openxmlformats.org/drawingml/2006/main">
            <a:r>
              <a:t>        "process": "답변 근거와 원문 페이지를 담당자에게 제공",</a:t>
            </a:r>
          </a:p>
          <a:p xmlns:a="http://schemas.openxmlformats.org/drawingml/2006/main">
            <a:r>
              <a:t>        "output": "검증·보완"</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"학년도·학교급에 맞는 생활기록부 지침 안내",</a:t>
            </a:r>
          </a:p>
          <a:p xmlns:a="http://schemas.openxmlformats.org/drawingml/2006/main">
            <a:r>
              <a:t>      "exception": "이전 학년도 혼입·예외 조건 누락·원문 페이지 변경",</a:t>
            </a:r>
          </a:p>
          <a:p xmlns:a="http://schemas.openxmlformats.org/drawingml/2006/main">
            <a:r>
              <a:t>      "evidence": "학년도별 정답·근거 페이지·예외 적용 대조표",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"학교·교육행정 담당자",</a:t>
            </a:r>
          </a:p>
          <a:p xmlns:a="http://schemas.openxmlformats.org/drawingml/2006/main">
            <a:r>
              <a:t>          "processing": "학교급·학년도·업무 상황 확인",</a:t>
            </a:r>
          </a:p>
          <a:p xmlns:a="http://schemas.openxmlformats.org/drawingml/2006/main">
            <a:r>
              <a:t>          "output": "학교급·질문"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"학교급별 지침",</a:t>
            </a:r>
          </a:p>
          <a:p xmlns:a="http://schemas.openxmlformats.org/drawingml/2006/main">
            <a:r>
              <a:t>          "processing": "지침 판본·학년도·원문 페이지별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"학교급·질문",</a:t>
            </a:r>
          </a:p>
          <a:p xmlns:a="http://schemas.openxmlformats.org/drawingml/2006/main">
            <a:r>
              <a:t>          "processing": "조건에 맞는 지침·질의응답 검색",</a:t>
            </a:r>
          </a:p>
          <a:p xmlns:a="http://schemas.openxmlformats.org/drawingml/2006/main">
            <a:r>
              <a:t>          "output": "근거 페이지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페이지 답변",</a:t>
            </a:r>
          </a:p>
          <a:p xmlns:a="http://schemas.openxmlformats.org/drawingml/2006/main">
            <a:r>
              <a:t>          "processing": "답변 근거와 원문 페이지를 담당자에게 제공",</a:t>
            </a:r>
          </a:p>
          <a:p xmlns:a="http://schemas.openxmlformats.org/drawingml/2006/main">
            <a:r>
              <a:t>          "output": "검증·보완"</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"학년도 혼용·예외 조항 누락의 평가",</a:t>
            </a:r>
          </a:p>
          <a:p xmlns:a="http://schemas.openxmlformats.org/drawingml/2006/main">
            <a:r>
              <a:t>          "output": "학년도별 정답·근거 페이지·예외 적용 대조표"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"학년도 혼용·예외 조항 누락의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"S-AX26",</a:t>
            </a:r>
          </a:p>
          <a:p xmlns:a="http://schemas.openxmlformats.org/drawingml/2006/main">
            <a:r>
              <a:t>        "title": "교육행정 응대 AI PoC · 공공AI 사례집 222–223쪽",</a:t>
            </a:r>
          </a:p>
          <a:p xmlns:a="http://schemas.openxmlformats.org/drawingml/2006/main">
            <a:r>
              <a:t>        "url": "https://bigdata.dongjak.go.kr/board/viewArticle?articleNo=954&amp;boardId=4",</a:t>
            </a:r>
          </a:p>
          <a:p xmlns:a="http://schemas.openxmlformats.org/drawingml/2006/main">
            <a:r>
              <a:t>        "published": "2024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"동일 질문도 소속·업무 맥락별 지침 구분",</a:t>
            </a:r>
          </a:p>
          <a:p xmlns:a="http://schemas.openxmlformats.org/drawingml/2006/main">
            <a:r>
              <a:t>    "local": "TS 부서·직무별 규정 및 동일 요청 교차 평가",</a:t>
            </a:r>
          </a:p>
          <a:p xmlns:a="http://schemas.openxmlformats.org/drawingml/2006/main">
            <a:r>
              <a:t>    "sourceDetail": null,</a:t>
            </a:r>
          </a:p>
          <a:p xmlns:a="http://schemas.openxmlformats.org/drawingml/2006/main">
            <a:r>
              <a:t>    "narrative": [</a:t>
            </a:r>
          </a:p>
          <a:p xmlns:a="http://schemas.openxmlformats.org/drawingml/2006/main">
            <a:r>
              <a:t>      "학교급·학년도별 학교생활기록부 지침을 교직원 질의에 연결하는 사례. 같은 질문이라도 적용 연도·학교급·업무 상황에 따라 근거가 달라지는 규정형 업무.",</a:t>
            </a:r>
          </a:p>
          <a:p xmlns:a="http://schemas.openxmlformats.org/drawingml/2006/main">
            <a:r>
              <a:t>      "질의 문맥을 확보한 뒤 해당 지침 판본과 페이지를 검색해 근거를 제공하는 재구성. 답변의 편집·검토 과정에서도 원문 페이지와 적용 조건을 함께 보존.",</a:t>
            </a:r>
          </a:p>
          <a:p xmlns:a="http://schemas.openxmlformats.org/drawingml/2006/main">
            <a:r>
              <a:t>      "TS 조직 네이티브 AI에서는 소속·직무뿐 아니라 업무 대상과 시행일을 검색 조건으로 추가하는 참고. 연도 혼용·학교급 혼용·예외 조항 누락에 해당하는 TS 도메인 시험셋의 별도 구성."</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"교직원 질의",</a:t>
            </a:r>
          </a:p>
          <a:p xmlns:a="http://schemas.openxmlformats.org/drawingml/2006/main">
            <a:r>
              <a:t>          "layer": "이용 접점",</a:t>
            </a:r>
          </a:p>
          <a:p xmlns:a="http://schemas.openxmlformats.org/drawingml/2006/main">
            <a:r>
              <a:t>          "detail": "학교·교육행정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"학교급·학년도",</a:t>
            </a:r>
          </a:p>
          <a:p xmlns:a="http://schemas.openxmlformats.org/drawingml/2006/main">
            <a:r>
              <a:t>          "layer": "업무 문맥",</a:t>
            </a:r>
          </a:p>
          <a:p xmlns:a="http://schemas.openxmlformats.org/drawingml/2006/main">
            <a:r>
              <a:t>          "detail": "학교급·학년도·업무 상황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지침 검색",</a:t>
            </a:r>
          </a:p>
          <a:p xmlns:a="http://schemas.openxmlformats.org/drawingml/2006/main">
            <a:r>
              <a:t>          "layer": "자료 조회",</a:t>
            </a:r>
          </a:p>
          <a:p xmlns:a="http://schemas.openxmlformats.org/drawingml/2006/main">
            <a:r>
              <a:t>          "detail": "학교급·질문",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답변 생성",</a:t>
            </a:r>
          </a:p>
          <a:p xmlns:a="http://schemas.openxmlformats.org/drawingml/2006/main">
            <a:r>
              <a:t>          "layer": "핵심 처리",</a:t>
            </a:r>
          </a:p>
          <a:p xmlns:a="http://schemas.openxmlformats.org/drawingml/2006/main">
            <a:r>
              <a:t>          "detail": "조건에 맞는 지침·질의응답 검색",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"페이지·예외 대조",</a:t>
            </a:r>
          </a:p>
          <a:p xmlns:a="http://schemas.openxmlformats.org/drawingml/2006/main">
            <a:r>
              <a:t>          "layer": "결과 검증",</a:t>
            </a:r>
          </a:p>
          <a:p xmlns:a="http://schemas.openxmlformats.org/drawingml/2006/main">
            <a:r>
              <a:t>          "detail": "학교급·연도·원문 페이지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"교직원 원문 확인",</a:t>
            </a:r>
          </a:p>
          <a:p xmlns:a="http://schemas.openxmlformats.org/drawingml/2006/main">
            <a:r>
              <a:t>          "layer": "사람 확인",</a:t>
            </a:r>
          </a:p>
          <a:p xmlns:a="http://schemas.openxmlformats.org/drawingml/2006/main">
            <a:r>
              <a:t>          "detail": "학년도·학교급에 맞는 생활기록부 지침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"행정업무 적용",</a:t>
            </a:r>
          </a:p>
          <a:p xmlns:a="http://schemas.openxmlformats.org/drawingml/2006/main">
            <a:r>
              <a:t>          "layer": "업무 연결",</a:t>
            </a:r>
          </a:p>
          <a:p xmlns:a="http://schemas.openxmlformats.org/drawingml/2006/main">
            <a:r>
              <a:t>          "detail": "답변 근거와 원문 페이지를 담당자에게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"연도 혼용 검사",</a:t>
            </a:r>
          </a:p>
          <a:p xmlns:a="http://schemas.openxmlformats.org/drawingml/2006/main">
            <a:r>
              <a:t>          "layer": "운영 관측",</a:t>
            </a:r>
          </a:p>
          <a:p xmlns:a="http://schemas.openxmlformats.org/drawingml/2006/main">
            <a:r>
              <a:t>          "detail": "학년도 혼용·예외 조항 누락의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"지침·질의응답",</a:t>
            </a:r>
          </a:p>
          <a:p xmlns:a="http://schemas.openxmlformats.org/drawingml/2006/main">
            <a:r>
              <a:t>          "layer": "데이터 원천",</a:t>
            </a:r>
          </a:p>
          <a:p xmlns:a="http://schemas.openxmlformats.org/drawingml/2006/main">
            <a:r>
              <a:t>          "detail": "학교급별 지침",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"페이지·판본 색인",</a:t>
            </a:r>
          </a:p>
          <a:p xmlns:a="http://schemas.openxmlformats.org/drawingml/2006/main">
            <a:r>
              <a:t>          "layer": "준비·갱신",</a:t>
            </a:r>
          </a:p>
          <a:p xmlns:a="http://schemas.openxmlformats.org/drawingml/2006/main">
            <a:r>
              <a:t>          "detail": "지침 판본·학년도·원문 페이지별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"지침·평가셋",</a:t>
            </a:r>
          </a:p>
          <a:p xmlns:a="http://schemas.openxmlformats.org/drawingml/2006/main">
            <a:r>
              <a:t>          "layer": "상태·지식 저장",</a:t>
            </a:r>
          </a:p>
          <a:p xmlns:a="http://schemas.openxmlformats.org/drawingml/2006/main">
            <a:r>
              <a:t>          "detail": "학년도별 정답·근거 페이지·예외 적용 대조표",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"학교급별 경계",</a:t>
            </a:r>
          </a:p>
          <a:p xmlns:a="http://schemas.openxmlformats.org/drawingml/2006/main">
            <a:r>
              <a:t>          "layer": "권한·정책",</a:t>
            </a:r>
          </a:p>
          <a:p xmlns:a="http://schemas.openxmlformats.org/drawingml/2006/main">
            <a:r>
              <a:t>          "detail": "이전 학년도 혼입·예외 조건 누락·원문 페이지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"학교급별 지침 → 문서 전처리·RAG → 근거 페이지 답변 → 교직원 검증"</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"학교급별 지침",</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"학교급·학년도·업무 상황 확인",</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"학년도별 정답·근거 페이지·예외 적용 대조표",</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지침",</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페이지 답변",</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"학교생활기록부 지침의 근거형 응대 / 지침 검색·질의응답·원문 페이지",</a:t>
            </a:r>
          </a:p>
          <a:p xmlns:a="http://schemas.openxmlformats.org/drawingml/2006/main">
            <a:r>
              <a:t>        "extension": "TS 부서·직무별 규정 및 동일 요청 교차 평가"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"이전 학년도 혼입·예외 조건 누락·원문 페이지 변경",</a:t>
            </a:r>
          </a:p>
          <a:p xmlns:a="http://schemas.openxmlformats.org/drawingml/2006/main">
            <a:r>
              <a:t>        "hold": "학교급·연도·원문 페이지 대조",</a:t>
            </a:r>
          </a:p>
          <a:p xmlns:a="http://schemas.openxmlformats.org/drawingml/2006/main">
            <a:r>
              <a:t>        "recovery": "학년도 혼용·예외 조항 누락의 평가",</a:t>
            </a:r>
          </a:p>
          <a:p xmlns:a="http://schemas.openxmlformats.org/drawingml/2006/main">
            <a:r>
              <a:t>        "evidence": "학년도별 정답·근거 페이지·예외 적용 대조표"</a:t>
            </a:r>
          </a:p>
          <a:p xmlns:a="http://schemas.openxmlformats.org/drawingml/2006/main">
            <a:r>
              <a:t>      },</a:t>
            </a:r>
          </a:p>
          <a:p xmlns:a="http://schemas.openxmlformats.org/drawingml/2006/main">
            <a:r>
              <a:t>      "data": {</a:t>
            </a:r>
          </a:p>
          <a:p xmlns:a="http://schemas.openxmlformats.org/drawingml/2006/main">
            <a:r>
              <a:t>        "source": "학교급별 지침",</a:t>
            </a:r>
          </a:p>
          <a:p xmlns:a="http://schemas.openxmlformats.org/drawingml/2006/main">
            <a:r>
              <a:t>        "prepare": "지침 판본·학년도·원문 페이지별 색인",</a:t>
            </a:r>
          </a:p>
          <a:p xmlns:a="http://schemas.openxmlformats.org/drawingml/2006/main">
            <a:r>
              <a:t>        "output": "학교급·질문",</a:t>
            </a:r>
          </a:p>
          <a:p xmlns:a="http://schemas.openxmlformats.org/drawingml/2006/main">
            <a:r>
              <a:t>        "refresh": "학년도 혼용·예외 조항 누락의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"AX26",</a:t>
            </a:r>
          </a:p>
          <a:p xmlns:a="http://schemas.openxmlformats.org/drawingml/2006/main">
            <a:r>
              <a:t>    "success": [</a:t>
            </a:r>
          </a:p>
          <a:p xmlns:a="http://schemas.openxmlformats.org/drawingml/2006/main">
            <a:r>
              <a:t>      "학교급별 지침의 분리",</a:t>
            </a:r>
          </a:p>
          <a:p xmlns:a="http://schemas.openxmlformats.org/drawingml/2006/main">
            <a:r>
              <a:t>      "답변과 원문 페이지의 연결"</a:t>
            </a:r>
          </a:p>
          <a:p xmlns:a="http://schemas.openxmlformats.org/drawingml/2006/main">
            <a:r>
              <a:t>    ],</a:t>
            </a:r>
          </a:p>
          <a:p xmlns:a="http://schemas.openxmlformats.org/drawingml/2006/main">
            <a:r>
              <a:t>    "risks": [</a:t>
            </a:r>
          </a:p>
          <a:p xmlns:a="http://schemas.openxmlformats.org/drawingml/2006/main">
            <a:r>
              <a:t>      "학교급·적용 연도 혼용",</a:t>
            </a:r>
          </a:p>
          <a:p xmlns:a="http://schemas.openxmlformats.org/drawingml/2006/main">
            <a:r>
              <a:t>      "유사 질문의 예외 답변 누락"</a:t>
            </a:r>
          </a:p>
          <a:p xmlns:a="http://schemas.openxmlformats.org/drawingml/2006/main">
            <a:r>
              <a:t>    ],</a:t>
            </a:r>
          </a:p>
          <a:p xmlns:a="http://schemas.openxmlformats.org/drawingml/2006/main">
            <a:r>
              <a:t>    "architecture": [</a:t>
            </a:r>
          </a:p>
          <a:p xmlns:a="http://schemas.openxmlformats.org/drawingml/2006/main">
            <a:r>
              <a:t>      "교직원 질의",</a:t>
            </a:r>
          </a:p>
          <a:p xmlns:a="http://schemas.openxmlformats.org/drawingml/2006/main">
            <a:r>
              <a:t>      "전처리·RAG",</a:t>
            </a:r>
          </a:p>
          <a:p xmlns:a="http://schemas.openxmlformats.org/drawingml/2006/main">
            <a:r>
              <a:t>      "학교급별 지침",</a:t>
            </a:r>
          </a:p>
          <a:p xmlns:a="http://schemas.openxmlformats.org/drawingml/2006/main">
            <a:r>
              <a:t>      "교직원 검토"</a:t>
            </a:r>
          </a:p>
          <a:p xmlns:a="http://schemas.openxmlformats.org/drawingml/2006/main">
            <a:r>
              <a:t>    ],</a:t>
            </a:r>
          </a:p>
          <a:p xmlns:a="http://schemas.openxmlformats.org/drawingml/2006/main">
            <a:r>
              <a:t>    "transfers": [</a:t>
            </a:r>
          </a:p>
          <a:p xmlns:a="http://schemas.openxmlformats.org/drawingml/2006/main">
            <a:r>
              <a:t>      "학교급·질문",</a:t>
            </a:r>
          </a:p>
          <a:p xmlns:a="http://schemas.openxmlformats.org/drawingml/2006/main">
            <a:r>
              <a:t>      "관련 지침",</a:t>
            </a:r>
          </a:p>
          <a:p xmlns:a="http://schemas.openxmlformats.org/drawingml/2006/main">
            <a:r>
              <a:t>      "근거 페이지 답변",</a:t>
            </a:r>
          </a:p>
          <a:p xmlns:a="http://schemas.openxmlformats.org/drawingml/2006/main">
            <a:r>
              <a:t>      "검증·보완"</a:t>
            </a:r>
          </a:p>
          <a:p xmlns:a="http://schemas.openxmlformats.org/drawingml/2006/main">
            <a:r>
              <a:t>    ],</a:t>
            </a:r>
          </a:p>
          <a:p xmlns:a="http://schemas.openxmlformats.org/drawingml/2006/main">
            <a:r>
              <a:t>    "control": "학교급·연도·원문 페이지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교육행정 응대 AI PoC · 공공AI 사례집 222–223쪽 https://bigdata.dongjak.go.kr/board/viewArticle?articleNo=954&amp;boardId=4</a:t>
            </a:r>
          </a:p>
          <a:p xmlns:a="http://schemas.openxmlformats.org/drawingml/2006/main">
            <a:r>
              <a:t>홈페이지 https://heen1987-ops.github.io/TS-business-Plan-001/index.html?view=casebook&amp;case=AX26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"case": {</a:t>
            </a:r>
          </a:p>
          <a:p xmlns:a="http://schemas.openxmlformats.org/drawingml/2006/main">
            <a:r>
              <a:t>    "id": "AX26",</a:t>
            </a:r>
          </a:p>
          <a:p xmlns:a="http://schemas.openxmlformats.org/drawingml/2006/main">
            <a:r>
              <a:t>    "title": "교육행정 응대 AI PoC",</a:t>
            </a:r>
          </a:p>
          <a:p xmlns:a="http://schemas.openxmlformats.org/drawingml/2006/main">
            <a:r>
              <a:t>    "region": "국내",</a:t>
            </a:r>
          </a:p>
          <a:p xmlns:a="http://schemas.openxmlformats.org/drawingml/2006/main">
            <a:r>
              <a:t>    "country": "대한민국",</a:t>
            </a:r>
          </a:p>
          <a:p xmlns:a="http://schemas.openxmlformats.org/drawingml/2006/main">
            <a:r>
              <a:t>    "result": "시범",</a:t>
            </a:r>
          </a:p>
          <a:p xmlns:a="http://schemas.openxmlformats.org/drawingml/2006/main">
            <a:r>
              <a:t>    "kind": "학교급·지침 기반 RAG",</a:t>
            </a:r>
          </a:p>
          <a:p xmlns:a="http://schemas.openxmlformats.org/drawingml/2006/main">
            <a:r>
              <a:t>    "period": "2024 실증",</a:t>
            </a:r>
          </a:p>
          <a:p xmlns:a="http://schemas.openxmlformats.org/drawingml/2006/main">
            <a:r>
              <a:t>    "sources": [</a:t>
            </a:r>
          </a:p>
          <a:p xmlns:a="http://schemas.openxmlformats.org/drawingml/2006/main">
            <a:r>
              <a:t>      "S-AX26"</a:t>
            </a:r>
          </a:p>
          <a:p xmlns:a="http://schemas.openxmlformats.org/drawingml/2006/main">
            <a:r>
              <a:t>    ],</a:t>
            </a:r>
          </a:p>
          <a:p xmlns:a="http://schemas.openxmlformats.org/drawingml/2006/main">
            <a:r>
              <a:t>    "keywords": [</a:t>
            </a:r>
          </a:p>
          <a:p xmlns:a="http://schemas.openxmlformats.org/drawingml/2006/main">
            <a:r>
              <a:t>      "학교급",</a:t>
            </a:r>
          </a:p>
          <a:p xmlns:a="http://schemas.openxmlformats.org/drawingml/2006/main">
            <a:r>
              <a:t>      "지침 기반 RAG"</a:t>
            </a:r>
          </a:p>
          <a:p xmlns:a="http://schemas.openxmlformats.org/drawingml/2006/main">
            <a:r>
              <a:t>    ],</a:t>
            </a:r>
          </a:p>
          <a:p xmlns:a="http://schemas.openxmlformats.org/drawingml/2006/main">
            <a:r>
              <a:t>    "fact": "학교생활기록부 지침·질의응답 자료를 활용한 RAG와 원문 페이지 연결 실증",</a:t>
            </a:r>
          </a:p>
          <a:p xmlns:a="http://schemas.openxmlformats.org/drawingml/2006/main">
            <a:r>
              <a:t>    "limit": "선정 문서·업무 범위의 PoC · 전체 교육행정 자동화와 구분",</a:t>
            </a:r>
          </a:p>
          <a:p xmlns:a="http://schemas.openxmlformats.org/drawingml/2006/main">
            <a:r>
              <a:t>    "flow": [</a:t>
            </a:r>
          </a:p>
          <a:p xmlns:a="http://schemas.openxmlformats.org/drawingml/2006/main">
            <a:r>
              <a:t>      "학교급별 지침",</a:t>
            </a:r>
          </a:p>
          <a:p xmlns:a="http://schemas.openxmlformats.org/drawingml/2006/main">
            <a:r>
              <a:t>      "문서 전처리·RAG",</a:t>
            </a:r>
          </a:p>
          <a:p xmlns:a="http://schemas.openxmlformats.org/drawingml/2006/main">
            <a:r>
              <a:t>      "근거 페이지 답변",</a:t>
            </a:r>
          </a:p>
          <a:p xmlns:a="http://schemas.openxmlformats.org/drawingml/2006/main">
            <a:r>
              <a:t>      "교직원 검증"</a:t>
            </a:r>
          </a:p>
          <a:p xmlns:a="http://schemas.openxmlformats.org/drawingml/2006/main">
            <a:r>
              <a:t>    ],</a:t>
            </a:r>
          </a:p>
          <a:p xmlns:a="http://schemas.openxmlformats.org/drawingml/2006/main">
            <a:r>
              <a:t>    "flowBasis": "공개 업무 흐름의 요약·재구성 / 내부 배치 구조 추정 제외",</a:t>
            </a:r>
          </a:p>
          <a:p xmlns:a="http://schemas.openxmlformats.org/drawingml/2006/main">
            <a:r>
              <a:t>    "lesson": "동일 질문도 소속·업무 맥락별 지침 구분",</a:t>
            </a:r>
          </a:p>
          <a:p xmlns:a="http://schemas.openxmlformats.org/drawingml/2006/main">
            <a:r>
              <a:t>    "local": "TS 부서·직무별 규정 및 동일 요청 교차 평가",</a:t>
            </a:r>
          </a:p>
          <a:p xmlns:a="http://schemas.openxmlformats.org/drawingml/2006/main">
            <a:r>
              <a:t>    "assets": [</a:t>
            </a:r>
          </a:p>
          <a:p xmlns:a="http://schemas.openxmlformats.org/drawingml/2006/main">
            <a:r>
              <a:t>      "CCK-01",</a:t>
            </a:r>
          </a:p>
          <a:p xmlns:a="http://schemas.openxmlformats.org/drawingml/2006/main">
            <a:r>
              <a:t>      "CCK-02"</a:t>
            </a:r>
          </a:p>
          <a:p xmlns:a="http://schemas.openxmlformats.org/drawingml/2006/main">
            <a:r>
              <a:t>    ],</a:t>
            </a:r>
          </a:p>
          <a:p xmlns:a="http://schemas.openxmlformats.org/drawingml/2006/main">
            <a:r>
              <a:t>    "delta": "직무별 검색 필터·출처 페이지·오류 피드백",</a:t>
            </a:r>
          </a:p>
          <a:p xmlns:a="http://schemas.openxmlformats.org/drawingml/2006/main">
            <a:r>
              <a:t>    "test": "부서·직무 변경 전후 검색 근거 대조",</a:t>
            </a:r>
          </a:p>
          <a:p xmlns:a="http://schemas.openxmlformats.org/drawingml/2006/main">
            <a:r>
              <a:t>    "metric": "근거 일치율 / 보완시간",</a:t>
            </a:r>
          </a:p>
          <a:p xmlns:a="http://schemas.openxmlformats.org/drawingml/2006/main">
            <a:r>
              <a:t>    "strategies": [</a:t>
            </a:r>
          </a:p>
          <a:p xmlns:a="http://schemas.openxmlformats.org/drawingml/2006/main">
            <a:r>
              <a:t>      "ST-04",</a:t>
            </a:r>
          </a:p>
          <a:p xmlns:a="http://schemas.openxmlformats.org/drawingml/2006/main">
            <a:r>
              <a:t>      "ST-10",</a:t>
            </a:r>
          </a:p>
          <a:p xmlns:a="http://schemas.openxmlformats.org/drawingml/2006/main">
            <a:r>
              <a:t>      "ST-12"</a:t>
            </a:r>
          </a:p>
          <a:p xmlns:a="http://schemas.openxmlformats.org/drawingml/2006/main">
            <a:r>
              <a:t>    ]</a:t>
            </a:r>
          </a:p>
          <a:p xmlns:a="http://schemas.openxmlformats.org/drawingml/2006/main">
            <a:r>
              <a:t>  },</a:t>
            </a:r>
          </a:p>
          <a:p xmlns:a="http://schemas.openxmlformats.org/drawingml/2006/main">
            <a:r>
              <a:t>  "design": {</a:t>
            </a:r>
          </a:p>
          <a:p xmlns:a="http://schemas.openxmlformats.org/drawingml/2006/main">
            <a:r>
              <a:t>    "id": "AX26",</a:t>
            </a:r>
          </a:p>
          <a:p xmlns:a="http://schemas.openxmlformats.org/drawingml/2006/main">
            <a:r>
              <a:t>    "canonicalId": "AX26",</a:t>
            </a:r>
          </a:p>
          <a:p xmlns:a="http://schemas.openxmlformats.org/drawingml/2006/main">
            <a:r>
              <a:t>    "purpose": "학교생활기록부 지침의 근거형 응대",</a:t>
            </a:r>
          </a:p>
          <a:p xmlns:a="http://schemas.openxmlformats.org/drawingml/2006/main">
            <a:r>
              <a:t>    "users": "학교·교육행정 담당자",</a:t>
            </a:r>
          </a:p>
          <a:p xmlns:a="http://schemas.openxmlformats.org/drawingml/2006/main">
            <a:r>
              <a:t>    "scope": [</a:t>
            </a:r>
          </a:p>
          <a:p xmlns:a="http://schemas.openxmlformats.org/drawingml/2006/main">
            <a:r>
              <a:t>      "지침 검색",</a:t>
            </a:r>
          </a:p>
          <a:p xmlns:a="http://schemas.openxmlformats.org/drawingml/2006/main">
            <a:r>
              <a:t>      "질의응답",</a:t>
            </a:r>
          </a:p>
          <a:p xmlns:a="http://schemas.openxmlformats.org/drawingml/2006/main">
            <a:r>
              <a:t>      "원문 페이지"</a:t>
            </a:r>
          </a:p>
          <a:p xmlns:a="http://schemas.openxmlformats.org/drawingml/2006/main">
            <a:r>
              <a:t>    ],</a:t>
            </a:r>
          </a:p>
          <a:p xmlns:a="http://schemas.openxmlformats.org/drawingml/2006/main">
            <a:r>
              <a:t>    "nodes": [</a:t>
            </a:r>
          </a:p>
          <a:p xmlns:a="http://schemas.openxmlformats.org/drawingml/2006/main">
            <a:r>
              <a:t>      {</a:t>
            </a:r>
          </a:p>
          <a:p xmlns:a="http://schemas.openxmlformats.org/drawingml/2006/main">
            <a:r>
              <a:t>        "id": "entry",</a:t>
            </a:r>
          </a:p>
          <a:p xmlns:a="http://schemas.openxmlformats.org/drawingml/2006/main">
            <a:r>
              <a:t>        "title": "교직원 질의",</a:t>
            </a:r>
          </a:p>
          <a:p xmlns:a="http://schemas.openxmlformats.org/drawingml/2006/main">
            <a:r>
              <a:t>        "detail": "학교급·학년도·업무 상황 확인",</a:t>
            </a:r>
          </a:p>
          <a:p xmlns:a="http://schemas.openxmlformats.org/drawingml/2006/main">
            <a:r>
              <a:t>        "layer": "이용 접점"</a:t>
            </a:r>
          </a:p>
          <a:p xmlns:a="http://schemas.openxmlformats.org/drawingml/2006/main">
            <a:r>
              <a:t>      },</a:t>
            </a:r>
          </a:p>
          <a:p xmlns:a="http://schemas.openxmlformats.org/drawingml/2006/main">
            <a:r>
              <a:t>      {</a:t>
            </a:r>
          </a:p>
          <a:p xmlns:a="http://schemas.openxmlformats.org/drawingml/2006/main">
            <a:r>
              <a:t>        "id": "route",</a:t>
            </a:r>
          </a:p>
          <a:p xmlns:a="http://schemas.openxmlformats.org/drawingml/2006/main">
            <a:r>
              <a:t>        "title": "문맥·처리 경로",</a:t>
            </a:r>
          </a:p>
          <a:p xmlns:a="http://schemas.openxmlformats.org/drawingml/2006/main">
            <a:r>
              <a:t>        "detail": "지침 검색 / 질의응답 / 원문 페이지",</a:t>
            </a:r>
          </a:p>
          <a:p xmlns:a="http://schemas.openxmlformats.org/drawingml/2006/main">
            <a:r>
              <a:t>        "layer": "서비스 조정"</a:t>
            </a:r>
          </a:p>
          <a:p xmlns:a="http://schemas.openxmlformats.org/drawingml/2006/main">
            <a:r>
              <a:t>      },</a:t>
            </a:r>
          </a:p>
          <a:p xmlns:a="http://schemas.openxmlformats.org/drawingml/2006/main">
            <a:r>
              <a:t>      {</a:t>
            </a:r>
          </a:p>
          <a:p xmlns:a="http://schemas.openxmlformats.org/drawingml/2006/main">
            <a:r>
              <a:t>        "id": "engine",</a:t>
            </a:r>
          </a:p>
          <a:p xmlns:a="http://schemas.openxmlformats.org/drawingml/2006/main">
            <a:r>
              <a:t>        "title": "전처리·RAG",</a:t>
            </a:r>
          </a:p>
          <a:p xmlns:a="http://schemas.openxmlformats.org/drawingml/2006/main">
            <a:r>
              <a:t>        "detail": "조건에 맞는 지침·질의응답 검색",</a:t>
            </a:r>
          </a:p>
          <a:p xmlns:a="http://schemas.openxmlformats.org/drawingml/2006/main">
            <a:r>
              <a:t>        "layer": "분석·AI 처리"</a:t>
            </a:r>
          </a:p>
          <a:p xmlns:a="http://schemas.openxmlformats.org/drawingml/2006/main">
            <a:r>
              <a:t>      },</a:t>
            </a:r>
          </a:p>
          <a:p xmlns:a="http://schemas.openxmlformats.org/drawingml/2006/main">
            <a:r>
              <a:t>      {</a:t>
            </a:r>
          </a:p>
          <a:p xmlns:a="http://schemas.openxmlformats.org/drawingml/2006/main">
            <a:r>
              <a:t>        "id": "result",</a:t>
            </a:r>
          </a:p>
          <a:p xmlns:a="http://schemas.openxmlformats.org/drawingml/2006/main">
            <a:r>
              <a:t>        "title": "교직원 검토",</a:t>
            </a:r>
          </a:p>
          <a:p xmlns:a="http://schemas.openxmlformats.org/drawingml/2006/main">
            <a:r>
              <a:t>        "detail": "답변 근거와 원문 페이지를 담당자에게 제공",</a:t>
            </a:r>
          </a:p>
          <a:p xmlns:a="http://schemas.openxmlformats.org/drawingml/2006/main">
            <a:r>
              <a:t>        "layer": "검토·업무 연결"</a:t>
            </a:r>
          </a:p>
          <a:p xmlns:a="http://schemas.openxmlformats.org/drawingml/2006/main">
            <a:r>
              <a:t>      },</a:t>
            </a:r>
          </a:p>
          <a:p xmlns:a="http://schemas.openxmlformats.org/drawingml/2006/main">
            <a:r>
              <a:t>      {</a:t>
            </a:r>
          </a:p>
          <a:p xmlns:a="http://schemas.openxmlformats.org/drawingml/2006/main">
            <a:r>
              <a:t>        "id": "data",</a:t>
            </a:r>
          </a:p>
          <a:p xmlns:a="http://schemas.openxmlformats.org/drawingml/2006/main">
            <a:r>
              <a:t>        "title": "학교급별 지침",</a:t>
            </a:r>
          </a:p>
          <a:p xmlns:a="http://schemas.openxmlformats.org/drawingml/2006/main">
            <a:r>
              <a:t>        "detail": "지침 판본·학년도·원문 페이지별 색인",</a:t>
            </a:r>
          </a:p>
          <a:p xmlns:a="http://schemas.openxmlformats.org/drawingml/2006/main">
            <a:r>
              <a:t>        "layer": "데이터 기반"</a:t>
            </a:r>
          </a:p>
          <a:p xmlns:a="http://schemas.openxmlformats.org/drawingml/2006/main">
            <a:r>
              <a:t>      },</a:t>
            </a:r>
          </a:p>
          <a:p xmlns:a="http://schemas.openxmlformats.org/drawingml/2006/main">
            <a:r>
              <a:t>      {</a:t>
            </a:r>
          </a:p>
          <a:p xmlns:a="http://schemas.openxmlformats.org/drawingml/2006/main">
            <a:r>
              <a:t>        "id": "ops",</a:t>
            </a:r>
          </a:p>
          <a:p xmlns:a="http://schemas.openxmlformats.org/drawingml/2006/main">
            <a:r>
              <a:t>        "title": "품질·운영 관리",</a:t>
            </a:r>
          </a:p>
          <a:p xmlns:a="http://schemas.openxmlformats.org/drawingml/2006/main">
            <a:r>
              <a:t>        "detail": "학년도 혼용·예외 조항 누락의 평가",</a:t>
            </a:r>
          </a:p>
          <a:p xmlns:a="http://schemas.openxmlformats.org/drawingml/2006/main">
            <a:r>
              <a:t>        "layer": "운영 환류"</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"entry",</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"route",</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"engine",</a:t>
            </a:r>
          </a:p>
          <a:p xmlns:a="http://schemas.openxmlformats.org/drawingml/2006/main">
            <a:r>
              <a:t>        "result"</a:t>
            </a:r>
          </a:p>
          <a:p xmlns:a="http://schemas.openxmlformats.org/drawingml/2006/main">
            <a:r>
              <a:t>      ],</a:t>
            </a:r>
          </a:p>
          <a:p xmlns:a="http://schemas.openxmlformats.org/drawingml/2006/main">
            <a:r>
              <a:t>      [</a:t>
            </a:r>
          </a:p>
          <a:p xmlns:a="http://schemas.openxmlformats.org/drawingml/2006/main">
            <a:r>
              <a:t>        "data",</a:t>
            </a:r>
          </a:p>
          <a:p xmlns:a="http://schemas.openxmlformats.org/drawingml/2006/main">
            <a:r>
              <a:t>        "engine"</a:t>
            </a:r>
          </a:p>
          <a:p xmlns:a="http://schemas.openxmlformats.org/drawingml/2006/main">
            <a:r>
              <a:t>      ],</a:t>
            </a:r>
          </a:p>
          <a:p xmlns:a="http://schemas.openxmlformats.org/drawingml/2006/main">
            <a:r>
              <a:t>      [</a:t>
            </a:r>
          </a:p>
          <a:p xmlns:a="http://schemas.openxmlformats.org/drawingml/2006/main">
            <a:r>
              <a:t>        "result",</a:t>
            </a:r>
          </a:p>
          <a:p xmlns:a="http://schemas.openxmlformats.org/drawingml/2006/main">
            <a:r>
              <a:t>        "ops"</a:t>
            </a:r>
          </a:p>
          <a:p xmlns:a="http://schemas.openxmlformats.org/drawingml/2006/main">
            <a:r>
              <a:t>      ],</a:t>
            </a:r>
          </a:p>
          <a:p xmlns:a="http://schemas.openxmlformats.org/drawingml/2006/main">
            <a:r>
              <a:t>      [</a:t>
            </a:r>
          </a:p>
          <a:p xmlns:a="http://schemas.openxmlformats.org/drawingml/2006/main">
            <a:r>
              <a:t>        "ops",</a:t>
            </a:r>
          </a:p>
          <a:p xmlns:a="http://schemas.openxmlformats.org/drawingml/2006/main">
            <a:r>
              <a:t>        "route"</a:t>
            </a:r>
          </a:p>
          <a:p xmlns:a="http://schemas.openxmlformats.org/drawingml/2006/main">
            <a:r>
              <a:t>      ]</a:t>
            </a:r>
          </a:p>
          <a:p xmlns:a="http://schemas.openxmlformats.org/drawingml/2006/main">
            <a:r>
              <a:t>    ],</a:t>
            </a:r>
          </a:p>
          <a:p xmlns:a="http://schemas.openxmlformats.org/drawingml/2006/main">
            <a:r>
              <a:t>    "sequence": [</a:t>
            </a:r>
          </a:p>
          <a:p xmlns:a="http://schemas.openxmlformats.org/drawingml/2006/main">
            <a:r>
              <a:t>      {</a:t>
            </a:r>
          </a:p>
          <a:p xmlns:a="http://schemas.openxmlformats.org/drawingml/2006/main">
            <a:r>
              <a:t>        "title": "학교급별 지침",</a:t>
            </a:r>
          </a:p>
          <a:p xmlns:a="http://schemas.openxmlformats.org/drawingml/2006/main">
            <a:r>
              <a:t>        "input": "학교급·학년도·업무 상황 확인",</a:t>
            </a:r>
          </a:p>
          <a:p xmlns:a="http://schemas.openxmlformats.org/drawingml/2006/main">
            <a:r>
              <a:t>        "process": "지침 판본·학년도·원문 페이지별 색인",</a:t>
            </a:r>
          </a:p>
          <a:p xmlns:a="http://schemas.openxmlformats.org/drawingml/2006/main">
            <a:r>
              <a:t>        "output": "학교급·질문"</a:t>
            </a:r>
          </a:p>
          <a:p xmlns:a="http://schemas.openxmlformats.org/drawingml/2006/main">
            <a:r>
              <a:t>      },</a:t>
            </a:r>
          </a:p>
          <a:p xmlns:a="http://schemas.openxmlformats.org/drawingml/2006/main">
            <a:r>
              <a:t>      {</a:t>
            </a:r>
          </a:p>
          <a:p xmlns:a="http://schemas.openxmlformats.org/drawingml/2006/main">
            <a:r>
              <a:t>        "title": "문서 전처리·RAG",</a:t>
            </a:r>
          </a:p>
          <a:p xmlns:a="http://schemas.openxmlformats.org/drawingml/2006/main">
            <a:r>
              <a:t>        "input": "학교급·질문",</a:t>
            </a:r>
          </a:p>
          <a:p xmlns:a="http://schemas.openxmlformats.org/drawingml/2006/main">
            <a:r>
              <a:t>        "process": "조건에 맞는 지침·질의응답 검색",</a:t>
            </a:r>
          </a:p>
          <a:p xmlns:a="http://schemas.openxmlformats.org/drawingml/2006/main">
            <a:r>
              <a:t>        "output": "관련 지침"</a:t>
            </a:r>
          </a:p>
          <a:p xmlns:a="http://schemas.openxmlformats.org/drawingml/2006/main">
            <a:r>
              <a:t>      },</a:t>
            </a:r>
          </a:p>
          <a:p xmlns:a="http://schemas.openxmlformats.org/drawingml/2006/main">
            <a:r>
              <a:t>      {</a:t>
            </a:r>
          </a:p>
          <a:p xmlns:a="http://schemas.openxmlformats.org/drawingml/2006/main">
            <a:r>
              <a:t>        "title": "근거 페이지 답변",</a:t>
            </a:r>
          </a:p>
          <a:p xmlns:a="http://schemas.openxmlformats.org/drawingml/2006/main">
            <a:r>
              <a:t>        "input": "관련 지침",</a:t>
            </a:r>
          </a:p>
          <a:p xmlns:a="http://schemas.openxmlformats.org/drawingml/2006/main">
            <a:r>
              <a:t>        "process": "학교급·연도·원문 페이지 대조",</a:t>
            </a:r>
          </a:p>
          <a:p xmlns:a="http://schemas.openxmlformats.org/drawingml/2006/main">
            <a:r>
              <a:t>        "output": "근거 페이지 답변"</a:t>
            </a:r>
          </a:p>
          <a:p xmlns:a="http://schemas.openxmlformats.org/drawingml/2006/main">
            <a:r>
              <a:t>      },</a:t>
            </a:r>
          </a:p>
          <a:p xmlns:a="http://schemas.openxmlformats.org/drawingml/2006/main">
            <a:r>
              <a:t>      {</a:t>
            </a:r>
          </a:p>
          <a:p xmlns:a="http://schemas.openxmlformats.org/drawingml/2006/main">
            <a:r>
              <a:t>        "title": "교직원 검증",</a:t>
            </a:r>
          </a:p>
          <a:p xmlns:a="http://schemas.openxmlformats.org/drawingml/2006/main">
            <a:r>
              <a:t>        "input": "근거 페이지 답변",</a:t>
            </a:r>
          </a:p>
          <a:p xmlns:a="http://schemas.openxmlformats.org/drawingml/2006/main">
            <a:r>
              <a:t>        "process": "답변 근거와 원문 페이지를 담당자에게 제공",</a:t>
            </a:r>
          </a:p>
          <a:p xmlns:a="http://schemas.openxmlformats.org/drawingml/2006/main">
            <a:r>
              <a:t>        "output": "검증·보완"</a:t>
            </a:r>
          </a:p>
          <a:p xmlns:a="http://schemas.openxmlformats.org/drawingml/2006/main">
            <a:r>
              <a:t>      }</a:t>
            </a:r>
          </a:p>
          <a:p xmlns:a="http://schemas.openxmlformats.org/drawingml/2006/main">
            <a:r>
              <a:t>    ],</a:t>
            </a:r>
          </a:p>
          <a:p xmlns:a="http://schemas.openxmlformats.org/drawingml/2006/main">
            <a:r>
              <a:t>    "benchmark": {</a:t>
            </a:r>
          </a:p>
          <a:p xmlns:a="http://schemas.openxmlformats.org/drawingml/2006/main">
            <a:r>
              <a:t>      "normal": "학년도·학교급에 맞는 생활기록부 지침 안내",</a:t>
            </a:r>
          </a:p>
          <a:p xmlns:a="http://schemas.openxmlformats.org/drawingml/2006/main">
            <a:r>
              <a:t>      "exception": "이전 학년도 혼입·예외 조건 누락·원문 페이지 변경",</a:t>
            </a:r>
          </a:p>
          <a:p xmlns:a="http://schemas.openxmlformats.org/drawingml/2006/main">
            <a:r>
              <a:t>      "evidence": "학년도별 정답·근거 페이지·예외 적용 대조표",</a:t>
            </a:r>
          </a:p>
          <a:p xmlns:a="http://schemas.openxmlformats.org/drawingml/2006/main">
            <a:r>
              <a:t>      "label": "CCK 비교·재현 시험 설계",</a:t>
            </a:r>
          </a:p>
          <a:p xmlns:a="http://schemas.openxmlformats.org/drawingml/2006/main">
            <a:r>
              <a:t>      "functions": [</a:t>
            </a:r>
          </a:p>
          <a:p xmlns:a="http://schemas.openxmlformats.org/drawingml/2006/main">
            <a:r>
              <a:t>        {</a:t>
            </a:r>
          </a:p>
          <a:p xmlns:a="http://schemas.openxmlformats.org/drawingml/2006/main">
            <a:r>
              <a:t>          "name": "요청·업무 문맥",</a:t>
            </a:r>
          </a:p>
          <a:p xmlns:a="http://schemas.openxmlformats.org/drawingml/2006/main">
            <a:r>
              <a:t>          "input": "학교·교육행정 담당자",</a:t>
            </a:r>
          </a:p>
          <a:p xmlns:a="http://schemas.openxmlformats.org/drawingml/2006/main">
            <a:r>
              <a:t>          "processing": "학교급·학년도·업무 상황 확인",</a:t>
            </a:r>
          </a:p>
          <a:p xmlns:a="http://schemas.openxmlformats.org/drawingml/2006/main">
            <a:r>
              <a:t>          "output": "학교급·질문"</a:t>
            </a:r>
          </a:p>
          <a:p xmlns:a="http://schemas.openxmlformats.org/drawingml/2006/main">
            <a:r>
              <a:t>        },</a:t>
            </a:r>
          </a:p>
          <a:p xmlns:a="http://schemas.openxmlformats.org/drawingml/2006/main">
            <a:r>
              <a:t>        {</a:t>
            </a:r>
          </a:p>
          <a:p xmlns:a="http://schemas.openxmlformats.org/drawingml/2006/main">
            <a:r>
              <a:t>          "name": "데이터 준비·연결",</a:t>
            </a:r>
          </a:p>
          <a:p xmlns:a="http://schemas.openxmlformats.org/drawingml/2006/main">
            <a:r>
              <a:t>          "input": "학교급별 지침",</a:t>
            </a:r>
          </a:p>
          <a:p xmlns:a="http://schemas.openxmlformats.org/drawingml/2006/main">
            <a:r>
              <a:t>          "processing": "지침 판본·학년도·원문 페이지별 색인",</a:t>
            </a:r>
          </a:p>
          <a:p xmlns:a="http://schemas.openxmlformats.org/drawingml/2006/main">
            <a:r>
              <a:t>          "output": "처리에 사용할 자료·출처·문맥"</a:t>
            </a:r>
          </a:p>
          <a:p xmlns:a="http://schemas.openxmlformats.org/drawingml/2006/main">
            <a:r>
              <a:t>        },</a:t>
            </a:r>
          </a:p>
          <a:p xmlns:a="http://schemas.openxmlformats.org/drawingml/2006/main">
            <a:r>
              <a:t>        {</a:t>
            </a:r>
          </a:p>
          <a:p xmlns:a="http://schemas.openxmlformats.org/drawingml/2006/main">
            <a:r>
              <a:t>          "name": "분석·결과 생성",</a:t>
            </a:r>
          </a:p>
          <a:p xmlns:a="http://schemas.openxmlformats.org/drawingml/2006/main">
            <a:r>
              <a:t>          "input": "학교급·질문",</a:t>
            </a:r>
          </a:p>
          <a:p xmlns:a="http://schemas.openxmlformats.org/drawingml/2006/main">
            <a:r>
              <a:t>          "processing": "조건에 맞는 지침·질의응답 검색",</a:t>
            </a:r>
          </a:p>
          <a:p xmlns:a="http://schemas.openxmlformats.org/drawingml/2006/main">
            <a:r>
              <a:t>          "output": "근거 페이지 답변"</a:t>
            </a:r>
          </a:p>
          <a:p xmlns:a="http://schemas.openxmlformats.org/drawingml/2006/main">
            <a:r>
              <a:t>        },</a:t>
            </a:r>
          </a:p>
          <a:p xmlns:a="http://schemas.openxmlformats.org/drawingml/2006/main">
            <a:r>
              <a:t>        {</a:t>
            </a:r>
          </a:p>
          <a:p xmlns:a="http://schemas.openxmlformats.org/drawingml/2006/main">
            <a:r>
              <a:t>          "name": "검토·업무 인계",</a:t>
            </a:r>
          </a:p>
          <a:p xmlns:a="http://schemas.openxmlformats.org/drawingml/2006/main">
            <a:r>
              <a:t>          "input": "근거 페이지 답변",</a:t>
            </a:r>
          </a:p>
          <a:p xmlns:a="http://schemas.openxmlformats.org/drawingml/2006/main">
            <a:r>
              <a:t>          "processing": "답변 근거와 원문 페이지를 담당자에게 제공",</a:t>
            </a:r>
          </a:p>
          <a:p xmlns:a="http://schemas.openxmlformats.org/drawingml/2006/main">
            <a:r>
              <a:t>          "output": "검증·보완"</a:t>
            </a:r>
          </a:p>
          <a:p xmlns:a="http://schemas.openxmlformats.org/drawingml/2006/main">
            <a:r>
              <a:t>        },</a:t>
            </a:r>
          </a:p>
          <a:p xmlns:a="http://schemas.openxmlformats.org/drawingml/2006/main">
            <a:r>
              <a:t>        {</a:t>
            </a:r>
          </a:p>
          <a:p xmlns:a="http://schemas.openxmlformats.org/drawingml/2006/main">
            <a:r>
              <a:t>          "name": "오류·운영 환류",</a:t>
            </a:r>
          </a:p>
          <a:p xmlns:a="http://schemas.openxmlformats.org/drawingml/2006/main">
            <a:r>
              <a:t>          "input": "오류·수정·업무 처리 기록",</a:t>
            </a:r>
          </a:p>
          <a:p xmlns:a="http://schemas.openxmlformats.org/drawingml/2006/main">
            <a:r>
              <a:t>          "processing": "학년도 혼용·예외 조항 누락의 평가",</a:t>
            </a:r>
          </a:p>
          <a:p xmlns:a="http://schemas.openxmlformats.org/drawingml/2006/main">
            <a:r>
              <a:t>          "output": "학년도별 정답·근거 페이지·예외 적용 대조표"</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"operations": "학년도 혼용·예외 조항 누락의 평가",</a:t>
            </a:r>
          </a:p>
          <a:p xmlns:a="http://schemas.openxmlformats.org/drawingml/2006/main">
            <a:r>
              <a:t>    "status": "공개자료 기반 추론 설계",</a:t>
            </a:r>
          </a:p>
          <a:p xmlns:a="http://schemas.openxmlformats.org/drawingml/2006/main">
            <a:r>
              <a:t>    "basis": "운영기관·공급사·감사 자료의 업무 설명",</a:t>
            </a:r>
          </a:p>
          <a:p xmlns:a="http://schemas.openxmlformats.org/drawingml/2006/main">
            <a:r>
              <a:t>    "rfp": false,</a:t>
            </a:r>
          </a:p>
          <a:p xmlns:a="http://schemas.openxmlformats.org/drawingml/2006/main">
            <a:r>
              <a:t>    "sources": [</a:t>
            </a:r>
          </a:p>
          <a:p xmlns:a="http://schemas.openxmlformats.org/drawingml/2006/main">
            <a:r>
              <a:t>      {</a:t>
            </a:r>
          </a:p>
          <a:p xmlns:a="http://schemas.openxmlformats.org/drawingml/2006/main">
            <a:r>
              <a:t>        "id": "S-AX26",</a:t>
            </a:r>
          </a:p>
          <a:p xmlns:a="http://schemas.openxmlformats.org/drawingml/2006/main">
            <a:r>
              <a:t>        "title": "교육행정 응대 AI PoC · 공공AI 사례집 222–223쪽",</a:t>
            </a:r>
          </a:p>
          <a:p xmlns:a="http://schemas.openxmlformats.org/drawingml/2006/main">
            <a:r>
              <a:t>        "url": "https://bigdata.dongjak.go.kr/board/viewArticle?articleNo=954&amp;boardId=4",</a:t>
            </a:r>
          </a:p>
          <a:p xmlns:a="http://schemas.openxmlformats.org/drawingml/2006/main">
            <a:r>
              <a:t>        "published": "2024 실증",</a:t>
            </a:r>
          </a:p>
          <a:p xmlns:a="http://schemas.openxmlformats.org/drawingml/2006/main">
            <a:r>
              <a:t>        "level": "공공 사례집 수록",</a:t>
            </a:r>
          </a:p>
          <a:p xmlns:a="http://schemas.openxmlformats.org/drawingml/2006/main">
            <a:r>
              <a:t>        "checked": "2026-10-16"</a:t>
            </a:r>
          </a:p>
          <a:p xmlns:a="http://schemas.openxmlformats.org/drawingml/2006/main">
            <a:r>
              <a:t>      }</a:t>
            </a:r>
          </a:p>
          <a:p xmlns:a="http://schemas.openxmlformats.org/drawingml/2006/main">
            <a:r>
              <a:t>    ],</a:t>
            </a:r>
          </a:p>
          <a:p xmlns:a="http://schemas.openxmlformats.org/drawingml/2006/main">
            <a:r>
              <a:t>    "implication": "동일 질문도 소속·업무 맥락별 지침 구분",</a:t>
            </a:r>
          </a:p>
          <a:p xmlns:a="http://schemas.openxmlformats.org/drawingml/2006/main">
            <a:r>
              <a:t>    "local": "TS 부서·직무별 규정 및 동일 요청 교차 평가",</a:t>
            </a:r>
          </a:p>
          <a:p xmlns:a="http://schemas.openxmlformats.org/drawingml/2006/main">
            <a:r>
              <a:t>    "sourceDetail": null,</a:t>
            </a:r>
          </a:p>
          <a:p xmlns:a="http://schemas.openxmlformats.org/drawingml/2006/main">
            <a:r>
              <a:t>    "narrative": [</a:t>
            </a:r>
          </a:p>
          <a:p xmlns:a="http://schemas.openxmlformats.org/drawingml/2006/main">
            <a:r>
              <a:t>      "학교급·학년도별 학교생활기록부 지침을 교직원 질의에 연결하는 사례. 같은 질문이라도 적용 연도·학교급·업무 상황에 따라 근거가 달라지는 규정형 업무.",</a:t>
            </a:r>
          </a:p>
          <a:p xmlns:a="http://schemas.openxmlformats.org/drawingml/2006/main">
            <a:r>
              <a:t>      "질의 문맥을 확보한 뒤 해당 지침 판본과 페이지를 검색해 근거를 제공하는 재구성. 답변의 편집·검토 과정에서도 원문 페이지와 적용 조건을 함께 보존.",</a:t>
            </a:r>
          </a:p>
          <a:p xmlns:a="http://schemas.openxmlformats.org/drawingml/2006/main">
            <a:r>
              <a:t>      "TS 조직 네이티브 AI에서는 소속·직무뿐 아니라 업무 대상과 시행일을 검색 조건으로 추가하는 참고. 연도 혼용·학교급 혼용·예외 조항 누락에 해당하는 TS 도메인 시험셋의 별도 구성."</a:t>
            </a:r>
          </a:p>
          <a:p xmlns:a="http://schemas.openxmlformats.org/drawingml/2006/main">
            <a:r>
              <a:t>    ],</a:t>
            </a:r>
          </a:p>
          <a:p xmlns:a="http://schemas.openxmlformats.org/drawingml/2006/main">
            <a:r>
              <a:t>    "requirements": [],</a:t>
            </a:r>
          </a:p>
          <a:p xmlns:a="http://schemas.openxmlformats.org/drawingml/2006/main">
            <a:r>
              <a:t>    "service": {</a:t>
            </a:r>
          </a:p>
          <a:p xmlns:a="http://schemas.openxmlformats.org/drawingml/2006/main">
            <a:r>
              <a:t>      "status": "CCK 사례별 재구성 · 논리 서비스 설계",</a:t>
            </a:r>
          </a:p>
          <a:p xmlns:a="http://schemas.openxmlformats.org/drawingml/2006/main">
            <a:r>
              <a:t>      "components": [</a:t>
            </a:r>
          </a:p>
          <a:p xmlns:a="http://schemas.openxmlformats.org/drawingml/2006/main">
            <a:r>
              <a:t>        {</a:t>
            </a:r>
          </a:p>
          <a:p xmlns:a="http://schemas.openxmlformats.org/drawingml/2006/main">
            <a:r>
              <a:t>          "id": "C01",</a:t>
            </a:r>
          </a:p>
          <a:p xmlns:a="http://schemas.openxmlformats.org/drawingml/2006/main">
            <a:r>
              <a:t>          "title": "교직원 질의",</a:t>
            </a:r>
          </a:p>
          <a:p xmlns:a="http://schemas.openxmlformats.org/drawingml/2006/main">
            <a:r>
              <a:t>          "layer": "이용 접점",</a:t>
            </a:r>
          </a:p>
          <a:p xmlns:a="http://schemas.openxmlformats.org/drawingml/2006/main">
            <a:r>
              <a:t>          "detail": "학교·교육행정 담당자",</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"C02",</a:t>
            </a:r>
          </a:p>
          <a:p xmlns:a="http://schemas.openxmlformats.org/drawingml/2006/main">
            <a:r>
              <a:t>          "title": "학교급·학년도",</a:t>
            </a:r>
          </a:p>
          <a:p xmlns:a="http://schemas.openxmlformats.org/drawingml/2006/main">
            <a:r>
              <a:t>          "layer": "업무 문맥",</a:t>
            </a:r>
          </a:p>
          <a:p xmlns:a="http://schemas.openxmlformats.org/drawingml/2006/main">
            <a:r>
              <a:t>          "detail": "학교급·학년도·업무 상황 확인",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"C03",</a:t>
            </a:r>
          </a:p>
          <a:p xmlns:a="http://schemas.openxmlformats.org/drawingml/2006/main">
            <a:r>
              <a:t>          "title": "유효 지침 검색",</a:t>
            </a:r>
          </a:p>
          <a:p xmlns:a="http://schemas.openxmlformats.org/drawingml/2006/main">
            <a:r>
              <a:t>          "layer": "자료 조회",</a:t>
            </a:r>
          </a:p>
          <a:p xmlns:a="http://schemas.openxmlformats.org/drawingml/2006/main">
            <a:r>
              <a:t>          "detail": "학교급·질문",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"C04",</a:t>
            </a:r>
          </a:p>
          <a:p xmlns:a="http://schemas.openxmlformats.org/drawingml/2006/main">
            <a:r>
              <a:t>          "title": "근거 답변 생성",</a:t>
            </a:r>
          </a:p>
          <a:p xmlns:a="http://schemas.openxmlformats.org/drawingml/2006/main">
            <a:r>
              <a:t>          "layer": "핵심 처리",</a:t>
            </a:r>
          </a:p>
          <a:p xmlns:a="http://schemas.openxmlformats.org/drawingml/2006/main">
            <a:r>
              <a:t>          "detail": "조건에 맞는 지침·질의응답 검색",</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"C05",</a:t>
            </a:r>
          </a:p>
          <a:p xmlns:a="http://schemas.openxmlformats.org/drawingml/2006/main">
            <a:r>
              <a:t>          "title": "페이지·예외 대조",</a:t>
            </a:r>
          </a:p>
          <a:p xmlns:a="http://schemas.openxmlformats.org/drawingml/2006/main">
            <a:r>
              <a:t>          "layer": "결과 검증",</a:t>
            </a:r>
          </a:p>
          <a:p xmlns:a="http://schemas.openxmlformats.org/drawingml/2006/main">
            <a:r>
              <a:t>          "detail": "학교급·연도·원문 페이지 대조",</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"C06",</a:t>
            </a:r>
          </a:p>
          <a:p xmlns:a="http://schemas.openxmlformats.org/drawingml/2006/main">
            <a:r>
              <a:t>          "title": "교직원 원문 확인",</a:t>
            </a:r>
          </a:p>
          <a:p xmlns:a="http://schemas.openxmlformats.org/drawingml/2006/main">
            <a:r>
              <a:t>          "layer": "사람 확인",</a:t>
            </a:r>
          </a:p>
          <a:p xmlns:a="http://schemas.openxmlformats.org/drawingml/2006/main">
            <a:r>
              <a:t>          "detail": "학년도·학교급에 맞는 생활기록부 지침 안내",</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"C07",</a:t>
            </a:r>
          </a:p>
          <a:p xmlns:a="http://schemas.openxmlformats.org/drawingml/2006/main">
            <a:r>
              <a:t>          "title": "행정업무 적용",</a:t>
            </a:r>
          </a:p>
          <a:p xmlns:a="http://schemas.openxmlformats.org/drawingml/2006/main">
            <a:r>
              <a:t>          "layer": "업무 연결",</a:t>
            </a:r>
          </a:p>
          <a:p xmlns:a="http://schemas.openxmlformats.org/drawingml/2006/main">
            <a:r>
              <a:t>          "detail": "답변 근거와 원문 페이지를 담당자에게 제공",</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"C08",</a:t>
            </a:r>
          </a:p>
          <a:p xmlns:a="http://schemas.openxmlformats.org/drawingml/2006/main">
            <a:r>
              <a:t>          "title": "연도 혼용 검사",</a:t>
            </a:r>
          </a:p>
          <a:p xmlns:a="http://schemas.openxmlformats.org/drawingml/2006/main">
            <a:r>
              <a:t>          "layer": "운영 관측",</a:t>
            </a:r>
          </a:p>
          <a:p xmlns:a="http://schemas.openxmlformats.org/drawingml/2006/main">
            <a:r>
              <a:t>          "detail": "학년도 혼용·예외 조항 누락의 평가",</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"C09",</a:t>
            </a:r>
          </a:p>
          <a:p xmlns:a="http://schemas.openxmlformats.org/drawingml/2006/main">
            <a:r>
              <a:t>          "title": "지침·질의응답",</a:t>
            </a:r>
          </a:p>
          <a:p xmlns:a="http://schemas.openxmlformats.org/drawingml/2006/main">
            <a:r>
              <a:t>          "layer": "데이터 원천",</a:t>
            </a:r>
          </a:p>
          <a:p xmlns:a="http://schemas.openxmlformats.org/drawingml/2006/main">
            <a:r>
              <a:t>          "detail": "학교급별 지침",</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"C10",</a:t>
            </a:r>
          </a:p>
          <a:p xmlns:a="http://schemas.openxmlformats.org/drawingml/2006/main">
            <a:r>
              <a:t>          "title": "페이지·판본 색인",</a:t>
            </a:r>
          </a:p>
          <a:p xmlns:a="http://schemas.openxmlformats.org/drawingml/2006/main">
            <a:r>
              <a:t>          "layer": "준비·갱신",</a:t>
            </a:r>
          </a:p>
          <a:p xmlns:a="http://schemas.openxmlformats.org/drawingml/2006/main">
            <a:r>
              <a:t>          "detail": "지침 판본·학년도·원문 페이지별 색인",</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"C11",</a:t>
            </a:r>
          </a:p>
          <a:p xmlns:a="http://schemas.openxmlformats.org/drawingml/2006/main">
            <a:r>
              <a:t>          "title": "지침·평가셋",</a:t>
            </a:r>
          </a:p>
          <a:p xmlns:a="http://schemas.openxmlformats.org/drawingml/2006/main">
            <a:r>
              <a:t>          "layer": "상태·지식 저장",</a:t>
            </a:r>
          </a:p>
          <a:p xmlns:a="http://schemas.openxmlformats.org/drawingml/2006/main">
            <a:r>
              <a:t>          "detail": "학년도별 정답·근거 페이지·예외 적용 대조표",</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"id": "C12",</a:t>
            </a:r>
          </a:p>
          <a:p xmlns:a="http://schemas.openxmlformats.org/drawingml/2006/main">
            <a:r>
              <a:t>          "title": "학교급별 경계",</a:t>
            </a:r>
          </a:p>
          <a:p xmlns:a="http://schemas.openxmlformats.org/drawingml/2006/main">
            <a:r>
              <a:t>          "layer": "권한·정책",</a:t>
            </a:r>
          </a:p>
          <a:p xmlns:a="http://schemas.openxmlformats.org/drawingml/2006/main">
            <a:r>
              <a:t>          "detail": "이전 학년도 혼입·예외 조건 누락·원문 페이지 변경",</a:t>
            </a:r>
          </a:p>
          <a:p xmlns:a="http://schemas.openxmlformats.org/drawingml/2006/main">
            <a:r>
              <a:t>          "requirements": []</a:t>
            </a:r>
          </a:p>
          <a:p xmlns:a="http://schemas.openxmlformats.org/drawingml/2006/main">
            <a:r>
              <a:t>        }</a:t>
            </a:r>
          </a:p>
          <a:p xmlns:a="http://schemas.openxmlformats.org/drawingml/2006/main">
            <a:r>
              <a:t>      ],</a:t>
            </a:r>
          </a:p>
          <a:p xmlns:a="http://schemas.openxmlformats.org/drawingml/2006/main">
            <a:r>
              <a:t>      "diagram": {</a:t>
            </a:r>
          </a:p>
          <a:p xmlns:a="http://schemas.openxmlformats.org/drawingml/2006/main">
            <a:r>
              <a:t>        "family": "retrieval",</a:t>
            </a:r>
          </a:p>
          <a:p xmlns:a="http://schemas.openxmlformats.org/drawingml/2006/main">
            <a:r>
              <a:t>        "label": "지식 갱신·검색·근거 응답",</a:t>
            </a:r>
          </a:p>
          <a:p xmlns:a="http://schemas.openxmlformats.org/drawingml/2006/main">
            <a:r>
              <a:t>        "rows": [</a:t>
            </a:r>
          </a:p>
          <a:p xmlns:a="http://schemas.openxmlformats.org/drawingml/2006/main">
            <a:r>
              <a:t>          [</a:t>
            </a:r>
          </a:p>
          <a:p xmlns:a="http://schemas.openxmlformats.org/drawingml/2006/main">
            <a:r>
              <a:t>            "C09",</a:t>
            </a:r>
          </a:p>
          <a:p xmlns:a="http://schemas.openxmlformats.org/drawingml/2006/main">
            <a:r>
              <a:t>            "C10",</a:t>
            </a:r>
          </a:p>
          <a:p xmlns:a="http://schemas.openxmlformats.org/drawingml/2006/main">
            <a:r>
              <a:t>            "C11",</a:t>
            </a:r>
          </a:p>
          <a:p xmlns:a="http://schemas.openxmlformats.org/drawingml/2006/main">
            <a:r>
              <a:t>            "C03"</a:t>
            </a:r>
          </a:p>
          <a:p xmlns:a="http://schemas.openxmlformats.org/drawingml/2006/main">
            <a:r>
              <a:t>          ],</a:t>
            </a:r>
          </a:p>
          <a:p xmlns:a="http://schemas.openxmlformats.org/drawingml/2006/main">
            <a:r>
              <a:t>          [</a:t>
            </a:r>
          </a:p>
          <a:p xmlns:a="http://schemas.openxmlformats.org/drawingml/2006/main">
            <a:r>
              <a:t>            "C01",</a:t>
            </a:r>
          </a:p>
          <a:p xmlns:a="http://schemas.openxmlformats.org/drawingml/2006/main">
            <a:r>
              <a:t>            "C02",</a:t>
            </a:r>
          </a:p>
          <a:p xmlns:a="http://schemas.openxmlformats.org/drawingml/2006/main">
            <a:r>
              <a:t>            "C04",</a:t>
            </a:r>
          </a:p>
          <a:p xmlns:a="http://schemas.openxmlformats.org/drawingml/2006/main">
            <a:r>
              <a:t>            "C05",</a:t>
            </a:r>
          </a:p>
          <a:p xmlns:a="http://schemas.openxmlformats.org/drawingml/2006/main">
            <a:r>
              <a:t>            "C06",</a:t>
            </a:r>
          </a:p>
          <a:p xmlns:a="http://schemas.openxmlformats.org/drawingml/2006/main">
            <a:r>
              <a:t>            "C07"</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"from": "C09",</a:t>
            </a:r>
          </a:p>
          <a:p xmlns:a="http://schemas.openxmlformats.org/drawingml/2006/main">
            <a:r>
              <a:t>            "to": "C10",</a:t>
            </a:r>
          </a:p>
          <a:p xmlns:a="http://schemas.openxmlformats.org/drawingml/2006/main">
            <a:r>
              <a:t>            "kind": "data",</a:t>
            </a:r>
          </a:p>
          <a:p xmlns:a="http://schemas.openxmlformats.org/drawingml/2006/main">
            <a:r>
              <a:t>            "mode": "공식 자료"</a:t>
            </a:r>
          </a:p>
          <a:p xmlns:a="http://schemas.openxmlformats.org/drawingml/2006/main">
            <a:r>
              <a:t>          },</a:t>
            </a:r>
          </a:p>
          <a:p xmlns:a="http://schemas.openxmlformats.org/drawingml/2006/main">
            <a:r>
              <a:t>          {</a:t>
            </a:r>
          </a:p>
          <a:p xmlns:a="http://schemas.openxmlformats.org/drawingml/2006/main">
            <a:r>
              <a:t>            "from": "C10",</a:t>
            </a:r>
          </a:p>
          <a:p xmlns:a="http://schemas.openxmlformats.org/drawingml/2006/main">
            <a:r>
              <a:t>            "to": "C11",</a:t>
            </a:r>
          </a:p>
          <a:p xmlns:a="http://schemas.openxmlformats.org/drawingml/2006/main">
            <a:r>
              <a:t>            "kind": "data",</a:t>
            </a:r>
          </a:p>
          <a:p xmlns:a="http://schemas.openxmlformats.org/drawingml/2006/main">
            <a:r>
              <a:t>            "mode": "판본·색인"</a:t>
            </a:r>
          </a:p>
          <a:p xmlns:a="http://schemas.openxmlformats.org/drawingml/2006/main">
            <a:r>
              <a:t>          },</a:t>
            </a:r>
          </a:p>
          <a:p xmlns:a="http://schemas.openxmlformats.org/drawingml/2006/main">
            <a:r>
              <a:t>          {</a:t>
            </a:r>
          </a:p>
          <a:p xmlns:a="http://schemas.openxmlformats.org/drawingml/2006/main">
            <a:r>
              <a:t>            "from": "C11",</a:t>
            </a:r>
          </a:p>
          <a:p xmlns:a="http://schemas.openxmlformats.org/drawingml/2006/main">
            <a:r>
              <a:t>            "to": "C03",</a:t>
            </a:r>
          </a:p>
          <a:p xmlns:a="http://schemas.openxmlformats.org/drawingml/2006/main">
            <a:r>
              <a:t>            "kind": "data",</a:t>
            </a:r>
          </a:p>
          <a:p xmlns:a="http://schemas.openxmlformats.org/drawingml/2006/main">
            <a:r>
              <a:t>            "mode": "허용 지식"</a:t>
            </a:r>
          </a:p>
          <a:p xmlns:a="http://schemas.openxmlformats.org/drawingml/2006/main">
            <a:r>
              <a:t>          },</a:t>
            </a:r>
          </a:p>
          <a:p xmlns:a="http://schemas.openxmlformats.org/drawingml/2006/main">
            <a:r>
              <a:t>          {</a:t>
            </a:r>
          </a:p>
          <a:p xmlns:a="http://schemas.openxmlformats.org/drawingml/2006/main">
            <a:r>
              <a:t>            "from": "C01",</a:t>
            </a:r>
          </a:p>
          <a:p xmlns:a="http://schemas.openxmlformats.org/drawingml/2006/main">
            <a:r>
              <a:t>            "to": "C02",</a:t>
            </a:r>
          </a:p>
          <a:p xmlns:a="http://schemas.openxmlformats.org/drawingml/2006/main">
            <a:r>
              <a:t>            "kind": "service",</a:t>
            </a:r>
          </a:p>
          <a:p xmlns:a="http://schemas.openxmlformats.org/drawingml/2006/main">
            <a:r>
              <a:t>            "mode": "질문·목적"</a:t>
            </a:r>
          </a:p>
          <a:p xmlns:a="http://schemas.openxmlformats.org/drawingml/2006/main">
            <a:r>
              <a:t>          },</a:t>
            </a:r>
          </a:p>
          <a:p xmlns:a="http://schemas.openxmlformats.org/drawingml/2006/main">
            <a:r>
              <a:t>          {</a:t>
            </a:r>
          </a:p>
          <a:p xmlns:a="http://schemas.openxmlformats.org/drawingml/2006/main">
            <a:r>
              <a:t>            "from": "C02",</a:t>
            </a:r>
          </a:p>
          <a:p xmlns:a="http://schemas.openxmlformats.org/drawingml/2006/main">
            <a:r>
              <a:t>            "to": "C03",</a:t>
            </a:r>
          </a:p>
          <a:p xmlns:a="http://schemas.openxmlformats.org/drawingml/2006/main">
            <a:r>
              <a:t>            "kind": "service",</a:t>
            </a:r>
          </a:p>
          <a:p xmlns:a="http://schemas.openxmlformats.org/drawingml/2006/main">
            <a:r>
              <a:t>            "mode": "검색 문맥"</a:t>
            </a:r>
          </a:p>
          <a:p xmlns:a="http://schemas.openxmlformats.org/drawingml/2006/main">
            <a:r>
              <a:t>          },</a:t>
            </a:r>
          </a:p>
          <a:p xmlns:a="http://schemas.openxmlformats.org/drawingml/2006/main">
            <a:r>
              <a:t>          {</a:t>
            </a:r>
          </a:p>
          <a:p xmlns:a="http://schemas.openxmlformats.org/drawingml/2006/main">
            <a:r>
              <a:t>            "from": "C03",</a:t>
            </a:r>
          </a:p>
          <a:p xmlns:a="http://schemas.openxmlformats.org/drawingml/2006/main">
            <a:r>
              <a:t>            "to": "C04",</a:t>
            </a:r>
          </a:p>
          <a:p xmlns:a="http://schemas.openxmlformats.org/drawingml/2006/main">
            <a:r>
              <a:t>            "kind": "service",</a:t>
            </a:r>
          </a:p>
          <a:p xmlns:a="http://schemas.openxmlformats.org/drawingml/2006/main">
            <a:r>
              <a:t>            "mode": "근거 문단"</a:t>
            </a:r>
          </a:p>
          <a:p xmlns:a="http://schemas.openxmlformats.org/drawingml/2006/main">
            <a:r>
              <a:t>          },</a:t>
            </a:r>
          </a:p>
          <a:p xmlns:a="http://schemas.openxmlformats.org/drawingml/2006/main">
            <a:r>
              <a:t>          {</a:t>
            </a:r>
          </a:p>
          <a:p xmlns:a="http://schemas.openxmlformats.org/drawingml/2006/main">
            <a:r>
              <a:t>            "from": "C04",</a:t>
            </a:r>
          </a:p>
          <a:p xmlns:a="http://schemas.openxmlformats.org/drawingml/2006/main">
            <a:r>
              <a:t>            "to": "C05",</a:t>
            </a:r>
          </a:p>
          <a:p xmlns:a="http://schemas.openxmlformats.org/drawingml/2006/main">
            <a:r>
              <a:t>            "kind": "service",</a:t>
            </a:r>
          </a:p>
          <a:p xmlns:a="http://schemas.openxmlformats.org/drawingml/2006/main">
            <a:r>
              <a:t>            "mode": "답변 초안"</a:t>
            </a:r>
          </a:p>
          <a:p xmlns:a="http://schemas.openxmlformats.org/drawingml/2006/main">
            <a:r>
              <a:t>          },</a:t>
            </a:r>
          </a:p>
          <a:p xmlns:a="http://schemas.openxmlformats.org/drawingml/2006/main">
            <a:r>
              <a:t>          {</a:t>
            </a:r>
          </a:p>
          <a:p xmlns:a="http://schemas.openxmlformats.org/drawingml/2006/main">
            <a:r>
              <a:t>            "from": "C05",</a:t>
            </a:r>
          </a:p>
          <a:p xmlns:a="http://schemas.openxmlformats.org/drawingml/2006/main">
            <a:r>
              <a:t>            "to": "C06",</a:t>
            </a:r>
          </a:p>
          <a:p xmlns:a="http://schemas.openxmlformats.org/drawingml/2006/main">
            <a:r>
              <a:t>            "kind": "service",</a:t>
            </a:r>
          </a:p>
          <a:p xmlns:a="http://schemas.openxmlformats.org/drawingml/2006/main">
            <a:r>
              <a:t>            "mode": "출처 확인"</a:t>
            </a:r>
          </a:p>
          <a:p xmlns:a="http://schemas.openxmlformats.org/drawingml/2006/main">
            <a:r>
              <a:t>          },</a:t>
            </a:r>
          </a:p>
          <a:p xmlns:a="http://schemas.openxmlformats.org/drawingml/2006/main">
            <a:r>
              <a:t>          {</a:t>
            </a:r>
          </a:p>
          <a:p xmlns:a="http://schemas.openxmlformats.org/drawingml/2006/main">
            <a:r>
              <a:t>            "from": "C06",</a:t>
            </a:r>
          </a:p>
          <a:p xmlns:a="http://schemas.openxmlformats.org/drawingml/2006/main">
            <a:r>
              <a:t>            "to": "C07",</a:t>
            </a:r>
          </a:p>
          <a:p xmlns:a="http://schemas.openxmlformats.org/drawingml/2006/main">
            <a:r>
              <a:t>            "kind": "service",</a:t>
            </a:r>
          </a:p>
          <a:p xmlns:a="http://schemas.openxmlformats.org/drawingml/2006/main">
            <a:r>
              <a:t>            "mode": "안내·인계"</a:t>
            </a:r>
          </a:p>
          <a:p xmlns:a="http://schemas.openxmlformats.org/drawingml/2006/main">
            <a:r>
              <a:t>          }</a:t>
            </a:r>
          </a:p>
          <a:p xmlns:a="http://schemas.openxmlformats.org/drawingml/2006/main">
            <a:r>
              <a:t>        ],</a:t>
            </a:r>
          </a:p>
          <a:p xmlns:a="http://schemas.openxmlformats.org/drawingml/2006/main">
            <a:r>
              <a:t>        "summary": "학교급별 지침 → 문서 전처리·RAG → 근거 페이지 답변 → 교직원 검증"</a:t>
            </a:r>
          </a:p>
          <a:p xmlns:a="http://schemas.openxmlformats.org/drawingml/2006/main">
            <a:r>
              <a:t>      },</a:t>
            </a:r>
          </a:p>
          <a:p xmlns:a="http://schemas.openxmlformats.org/drawingml/2006/main">
            <a:r>
              <a:t>      "interfaces": [</a:t>
            </a:r>
          </a:p>
          <a:p xmlns:a="http://schemas.openxmlformats.org/drawingml/2006/main">
            <a:r>
              <a:t>        {</a:t>
            </a:r>
          </a:p>
          <a:p xmlns:a="http://schemas.openxmlformats.org/drawingml/2006/main">
            <a:r>
              <a:t>          "id": "IF-01",</a:t>
            </a:r>
          </a:p>
          <a:p xmlns:a="http://schemas.openxmlformats.org/drawingml/2006/main">
            <a:r>
              <a:t>          "from": "C09",</a:t>
            </a:r>
          </a:p>
          <a:p xmlns:a="http://schemas.openxmlformats.org/drawingml/2006/main">
            <a:r>
              <a:t>          "to": "C10",</a:t>
            </a:r>
          </a:p>
          <a:p xmlns:a="http://schemas.openxmlformats.org/drawingml/2006/main">
            <a:r>
              <a:t>          "mode": "공식 자료",</a:t>
            </a:r>
          </a:p>
          <a:p xmlns:a="http://schemas.openxmlformats.org/drawingml/2006/main">
            <a:r>
              <a:t>          "payload": "학교급별 지침",</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"IF-02",</a:t>
            </a:r>
          </a:p>
          <a:p xmlns:a="http://schemas.openxmlformats.org/drawingml/2006/main">
            <a:r>
              <a:t>          "from": "C10",</a:t>
            </a:r>
          </a:p>
          <a:p xmlns:a="http://schemas.openxmlformats.org/drawingml/2006/main">
            <a:r>
              <a:t>          "to": "C11",</a:t>
            </a:r>
          </a:p>
          <a:p xmlns:a="http://schemas.openxmlformats.org/drawingml/2006/main">
            <a:r>
              <a:t>          "mode": "판본·색인",</a:t>
            </a:r>
          </a:p>
          <a:p xmlns:a="http://schemas.openxmlformats.org/drawingml/2006/main">
            <a:r>
              <a:t>          "payload": "처리에 사용할 자료·출처·문맥",</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"IF-03",</a:t>
            </a:r>
          </a:p>
          <a:p xmlns:a="http://schemas.openxmlformats.org/drawingml/2006/main">
            <a:r>
              <a:t>          "from": "C01",</a:t>
            </a:r>
          </a:p>
          <a:p xmlns:a="http://schemas.openxmlformats.org/drawingml/2006/main">
            <a:r>
              <a:t>          "to": "C02",</a:t>
            </a:r>
          </a:p>
          <a:p xmlns:a="http://schemas.openxmlformats.org/drawingml/2006/main">
            <a:r>
              <a:t>          "mode": "질문·목적",</a:t>
            </a:r>
          </a:p>
          <a:p xmlns:a="http://schemas.openxmlformats.org/drawingml/2006/main">
            <a:r>
              <a:t>          "payload": "학교급·학년도·업무 상황 확인",</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"id": "IF-04",</a:t>
            </a:r>
          </a:p>
          <a:p xmlns:a="http://schemas.openxmlformats.org/drawingml/2006/main">
            <a:r>
              <a:t>          "from": "C11",</a:t>
            </a:r>
          </a:p>
          <a:p xmlns:a="http://schemas.openxmlformats.org/drawingml/2006/main">
            <a:r>
              <a:t>          "to": "C03",</a:t>
            </a:r>
          </a:p>
          <a:p xmlns:a="http://schemas.openxmlformats.org/drawingml/2006/main">
            <a:r>
              <a:t>          "mode": "허용 지식",</a:t>
            </a:r>
          </a:p>
          <a:p xmlns:a="http://schemas.openxmlformats.org/drawingml/2006/main">
            <a:r>
              <a:t>          "payload": "학년도별 정답·근거 페이지·예외 적용 대조표",</a:t>
            </a:r>
          </a:p>
          <a:p xmlns:a="http://schemas.openxmlformats.org/drawingml/2006/main">
            <a:r>
              <a:t>          "check": "지침 판본·학년도·원문 페이지별 색인"</a:t>
            </a:r>
          </a:p>
          <a:p xmlns:a="http://schemas.openxmlformats.org/drawingml/2006/main">
            <a:r>
              <a:t>        },</a:t>
            </a:r>
          </a:p>
          <a:p xmlns:a="http://schemas.openxmlformats.org/drawingml/2006/main">
            <a:r>
              <a:t>        {</a:t>
            </a:r>
          </a:p>
          <a:p xmlns:a="http://schemas.openxmlformats.org/drawingml/2006/main">
            <a:r>
              <a:t>          "id": "IF-05",</a:t>
            </a:r>
          </a:p>
          <a:p xmlns:a="http://schemas.openxmlformats.org/drawingml/2006/main">
            <a:r>
              <a:t>          "from": "C03",</a:t>
            </a:r>
          </a:p>
          <a:p xmlns:a="http://schemas.openxmlformats.org/drawingml/2006/main">
            <a:r>
              <a:t>          "to": "C04",</a:t>
            </a:r>
          </a:p>
          <a:p xmlns:a="http://schemas.openxmlformats.org/drawingml/2006/main">
            <a:r>
              <a:t>          "mode": "근거 문단",</a:t>
            </a:r>
          </a:p>
          <a:p xmlns:a="http://schemas.openxmlformats.org/drawingml/2006/main">
            <a:r>
              <a:t>          "payload": "관련 지침",</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"id": "IF-06",</a:t>
            </a:r>
          </a:p>
          <a:p xmlns:a="http://schemas.openxmlformats.org/drawingml/2006/main">
            <a:r>
              <a:t>          "from": "C05",</a:t>
            </a:r>
          </a:p>
          <a:p xmlns:a="http://schemas.openxmlformats.org/drawingml/2006/main">
            <a:r>
              <a:t>          "to": "C06",</a:t>
            </a:r>
          </a:p>
          <a:p xmlns:a="http://schemas.openxmlformats.org/drawingml/2006/main">
            <a:r>
              <a:t>          "mode": "출처 확인",</a:t>
            </a:r>
          </a:p>
          <a:p xmlns:a="http://schemas.openxmlformats.org/drawingml/2006/main">
            <a:r>
              <a:t>          "payload": "근거 페이지 답변",</a:t>
            </a:r>
          </a:p>
          <a:p xmlns:a="http://schemas.openxmlformats.org/drawingml/2006/main">
            <a:r>
              <a:t>          "check": "학년도별 정답·근거 페이지·예외 적용 대조표"</a:t>
            </a:r>
          </a:p>
          <a:p xmlns:a="http://schemas.openxmlformats.org/drawingml/2006/main">
            <a:r>
              <a:t>        }</a:t>
            </a:r>
          </a:p>
          <a:p xmlns:a="http://schemas.openxmlformats.org/drawingml/2006/main">
            <a:r>
              <a:t>      ],</a:t>
            </a:r>
          </a:p>
          <a:p xmlns:a="http://schemas.openxmlformats.org/drawingml/2006/main">
            <a:r>
              <a:t>      "edges": [</a:t>
            </a:r>
          </a:p>
          <a:p xmlns:a="http://schemas.openxmlformats.org/drawingml/2006/main">
            <a:r>
              <a:t>        [</a:t>
            </a:r>
          </a:p>
          <a:p xmlns:a="http://schemas.openxmlformats.org/drawingml/2006/main">
            <a:r>
              <a:t>          8,</a:t>
            </a:r>
          </a:p>
          <a:p xmlns:a="http://schemas.openxmlformats.org/drawingml/2006/main">
            <a:r>
              <a:t>          9</a:t>
            </a:r>
          </a:p>
          <a:p xmlns:a="http://schemas.openxmlformats.org/drawingml/2006/main">
            <a:r>
              <a:t>        ],</a:t>
            </a:r>
          </a:p>
          <a:p xmlns:a="http://schemas.openxmlformats.org/drawingml/2006/main">
            <a:r>
              <a:t>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a:t>
            </a:r>
          </a:p>
          <a:p xmlns:a="http://schemas.openxmlformats.org/drawingml/2006/main">
            <a:r>
              <a:t>          10,</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a:t>
            </a:r>
          </a:p>
          <a:p xmlns:a="http://schemas.openxmlformats.org/drawingml/2006/main">
            <a:r>
              <a:t>          4,</a:t>
            </a:r>
          </a:p>
          <a:p xmlns:a="http://schemas.openxmlformats.org/drawingml/2006/main">
            <a:r>
              <a:t>          5</a:t>
            </a:r>
          </a:p>
          <a:p xmlns:a="http://schemas.openxmlformats.org/drawingml/2006/main">
            <a:r>
              <a:t>        ],</a:t>
            </a:r>
          </a:p>
          <a:p xmlns:a="http://schemas.openxmlformats.org/drawingml/2006/main">
            <a:r>
              <a:t>        [</a:t>
            </a:r>
          </a:p>
          <a:p xmlns:a="http://schemas.openxmlformats.org/drawingml/2006/main">
            <a:r>
              <a:t>          5,</a:t>
            </a:r>
          </a:p>
          <a:p xmlns:a="http://schemas.openxmlformats.org/drawingml/2006/main">
            <a:r>
              <a:t>          6</a:t>
            </a:r>
          </a:p>
          <a:p xmlns:a="http://schemas.openxmlformats.org/drawingml/2006/main">
            <a:r>
              <a:t>        ]</a:t>
            </a:r>
          </a:p>
          <a:p xmlns:a="http://schemas.openxmlformats.org/drawingml/2006/main">
            <a:r>
              <a:t>      ],</a:t>
            </a:r>
          </a:p>
          <a:p xmlns:a="http://schemas.openxmlformats.org/drawingml/2006/main">
            <a:r>
              <a:t>      "facts": {</a:t>
            </a:r>
          </a:p>
          <a:p xmlns:a="http://schemas.openxmlformats.org/drawingml/2006/main">
            <a:r>
              <a:t>        "locator": "운영기관·공급사·감사 자료의 업무 설명",</a:t>
            </a:r>
          </a:p>
          <a:p xmlns:a="http://schemas.openxmlformats.org/drawingml/2006/main">
            <a:r>
              <a:t>        "extracted": "학교생활기록부 지침의 근거형 응대 / 지침 검색·질의응답·원문 페이지",</a:t>
            </a:r>
          </a:p>
          <a:p xmlns:a="http://schemas.openxmlformats.org/drawingml/2006/main">
            <a:r>
              <a:t>        "extension": "TS 부서·직무별 규정 및 동일 요청 교차 평가"</a:t>
            </a:r>
          </a:p>
          <a:p xmlns:a="http://schemas.openxmlformats.org/drawingml/2006/main">
            <a:r>
              <a:t>      },</a:t>
            </a:r>
          </a:p>
          <a:p xmlns:a="http://schemas.openxmlformats.org/drawingml/2006/main">
            <a:r>
              <a:t>      "figures": [],</a:t>
            </a:r>
          </a:p>
          <a:p xmlns:a="http://schemas.openxmlformats.org/drawingml/2006/main">
            <a:r>
              <a:t>      "reconstruction": null,</a:t>
            </a:r>
          </a:p>
          <a:p xmlns:a="http://schemas.openxmlformats.org/drawingml/2006/main">
            <a:r>
              <a:t>      "source": null,</a:t>
            </a:r>
          </a:p>
          <a:p xmlns:a="http://schemas.openxmlformats.org/drawingml/2006/main">
            <a:r>
              <a:t>      "exception": {</a:t>
            </a:r>
          </a:p>
          <a:p xmlns:a="http://schemas.openxmlformats.org/drawingml/2006/main">
            <a:r>
              <a:t>        "input": "이전 학년도 혼입·예외 조건 누락·원문 페이지 변경",</a:t>
            </a:r>
          </a:p>
          <a:p xmlns:a="http://schemas.openxmlformats.org/drawingml/2006/main">
            <a:r>
              <a:t>        "hold": "학교급·연도·원문 페이지 대조",</a:t>
            </a:r>
          </a:p>
          <a:p xmlns:a="http://schemas.openxmlformats.org/drawingml/2006/main">
            <a:r>
              <a:t>        "recovery": "학년도 혼용·예외 조항 누락의 평가",</a:t>
            </a:r>
          </a:p>
          <a:p xmlns:a="http://schemas.openxmlformats.org/drawingml/2006/main">
            <a:r>
              <a:t>        "evidence": "학년도별 정답·근거 페이지·예외 적용 대조표"</a:t>
            </a:r>
          </a:p>
          <a:p xmlns:a="http://schemas.openxmlformats.org/drawingml/2006/main">
            <a:r>
              <a:t>      },</a:t>
            </a:r>
          </a:p>
          <a:p xmlns:a="http://schemas.openxmlformats.org/drawingml/2006/main">
            <a:r>
              <a:t>      "data": {</a:t>
            </a:r>
          </a:p>
          <a:p xmlns:a="http://schemas.openxmlformats.org/drawingml/2006/main">
            <a:r>
              <a:t>        "source": "학교급별 지침",</a:t>
            </a:r>
          </a:p>
          <a:p xmlns:a="http://schemas.openxmlformats.org/drawingml/2006/main">
            <a:r>
              <a:t>        "prepare": "지침 판본·학년도·원문 페이지별 색인",</a:t>
            </a:r>
          </a:p>
          <a:p xmlns:a="http://schemas.openxmlformats.org/drawingml/2006/main">
            <a:r>
              <a:t>        "output": "학교급·질문",</a:t>
            </a:r>
          </a:p>
          <a:p xmlns:a="http://schemas.openxmlformats.org/drawingml/2006/main">
            <a:r>
              <a:t>        "refresh": "학년도 혼용·예외 조항 누락의 평가"</a:t>
            </a:r>
          </a:p>
          <a:p xmlns:a="http://schemas.openxmlformats.org/drawingml/2006/main">
            <a:r>
              <a:t>      },</a:t>
            </a:r>
          </a:p>
          <a:p xmlns:a="http://schemas.openxmlformats.org/drawingml/2006/main">
            <a:r>
              <a:t>      "boundary": "구성요소·연계·실패 복구는 CCK 분석 설계. 원문 도면의 예시·기존 현황·목표 구분은 각 캡션 기준."</a:t>
            </a:r>
          </a:p>
          <a:p xmlns:a="http://schemas.openxmlformats.org/drawingml/2006/main">
            <a:r>
              <a:t>    }</a:t>
            </a:r>
          </a:p>
          <a:p xmlns:a="http://schemas.openxmlformats.org/drawingml/2006/main">
            <a:r>
              <a:t>  },</a:t>
            </a:r>
          </a:p>
          <a:p xmlns:a="http://schemas.openxmlformats.org/drawingml/2006/main">
            <a:r>
              <a:t>  "factors": {</a:t>
            </a:r>
          </a:p>
          <a:p xmlns:a="http://schemas.openxmlformats.org/drawingml/2006/main">
            <a:r>
              <a:t>    "id": "AX26",</a:t>
            </a:r>
          </a:p>
          <a:p xmlns:a="http://schemas.openxmlformats.org/drawingml/2006/main">
            <a:r>
              <a:t>    "success": [</a:t>
            </a:r>
          </a:p>
          <a:p xmlns:a="http://schemas.openxmlformats.org/drawingml/2006/main">
            <a:r>
              <a:t>      "학교급별 지침의 분리",</a:t>
            </a:r>
          </a:p>
          <a:p xmlns:a="http://schemas.openxmlformats.org/drawingml/2006/main">
            <a:r>
              <a:t>      "답변과 원문 페이지의 연결"</a:t>
            </a:r>
          </a:p>
          <a:p xmlns:a="http://schemas.openxmlformats.org/drawingml/2006/main">
            <a:r>
              <a:t>    ],</a:t>
            </a:r>
          </a:p>
          <a:p xmlns:a="http://schemas.openxmlformats.org/drawingml/2006/main">
            <a:r>
              <a:t>    "risks": [</a:t>
            </a:r>
          </a:p>
          <a:p xmlns:a="http://schemas.openxmlformats.org/drawingml/2006/main">
            <a:r>
              <a:t>      "학교급·적용 연도 혼용",</a:t>
            </a:r>
          </a:p>
          <a:p xmlns:a="http://schemas.openxmlformats.org/drawingml/2006/main">
            <a:r>
              <a:t>      "유사 질문의 예외 답변 누락"</a:t>
            </a:r>
          </a:p>
          <a:p xmlns:a="http://schemas.openxmlformats.org/drawingml/2006/main">
            <a:r>
              <a:t>    ],</a:t>
            </a:r>
          </a:p>
          <a:p xmlns:a="http://schemas.openxmlformats.org/drawingml/2006/main">
            <a:r>
              <a:t>    "architecture": [</a:t>
            </a:r>
          </a:p>
          <a:p xmlns:a="http://schemas.openxmlformats.org/drawingml/2006/main">
            <a:r>
              <a:t>      "교직원 질의",</a:t>
            </a:r>
          </a:p>
          <a:p xmlns:a="http://schemas.openxmlformats.org/drawingml/2006/main">
            <a:r>
              <a:t>      "전처리·RAG",</a:t>
            </a:r>
          </a:p>
          <a:p xmlns:a="http://schemas.openxmlformats.org/drawingml/2006/main">
            <a:r>
              <a:t>      "학교급별 지침",</a:t>
            </a:r>
          </a:p>
          <a:p xmlns:a="http://schemas.openxmlformats.org/drawingml/2006/main">
            <a:r>
              <a:t>      "교직원 검토"</a:t>
            </a:r>
          </a:p>
          <a:p xmlns:a="http://schemas.openxmlformats.org/drawingml/2006/main">
            <a:r>
              <a:t>    ],</a:t>
            </a:r>
          </a:p>
          <a:p xmlns:a="http://schemas.openxmlformats.org/drawingml/2006/main">
            <a:r>
              <a:t>    "transfers": [</a:t>
            </a:r>
          </a:p>
          <a:p xmlns:a="http://schemas.openxmlformats.org/drawingml/2006/main">
            <a:r>
              <a:t>      "학교급·질문",</a:t>
            </a:r>
          </a:p>
          <a:p xmlns:a="http://schemas.openxmlformats.org/drawingml/2006/main">
            <a:r>
              <a:t>      "관련 지침",</a:t>
            </a:r>
          </a:p>
          <a:p xmlns:a="http://schemas.openxmlformats.org/drawingml/2006/main">
            <a:r>
              <a:t>      "근거 페이지 답변",</a:t>
            </a:r>
          </a:p>
          <a:p xmlns:a="http://schemas.openxmlformats.org/drawingml/2006/main">
            <a:r>
              <a:t>      "검증·보완"</a:t>
            </a:r>
          </a:p>
          <a:p xmlns:a="http://schemas.openxmlformats.org/drawingml/2006/main">
            <a:r>
              <a:t>    ],</a:t>
            </a:r>
          </a:p>
          <a:p xmlns:a="http://schemas.openxmlformats.org/drawingml/2006/main">
            <a:r>
              <a:t>    "control": "학교급·연도·원문 페이지 대조",</a:t>
            </a:r>
          </a:p>
          <a:p xmlns:a="http://schemas.openxmlformats.org/drawingml/2006/main">
            <a:r>
              <a:t>    "analysis": "공개 내용에 근거한 CCK 분석",</a:t>
            </a:r>
          </a:p>
          <a:p xmlns:a="http://schemas.openxmlformats.org/drawingml/2006/main">
            <a:r>
              <a:t>    "diagramBasis": "공개 업무 설명 기반 논리구조 재구성"</a:t>
            </a:r>
          </a:p>
          <a:p xmlns:a="http://schemas.openxmlformats.org/drawingml/2006/main">
            <a:r>
              <a:t>  }</a:t>
            </a:r>
          </a:p>
          <a:p xmlns:a="http://schemas.openxmlformats.org/drawingml/2006/main">
            <a:r>
              <a:t>}</a:t>
            </a:r>
          </a:p>
          <a:p xmlns:a="http://schemas.openxmlformats.org/drawingml/2006/main">
            <a:r>
              <a:t/>
            </a:r>
          </a:p>
          <a:p xmlns:a="http://schemas.openxmlformats.org/drawingml/2006/main">
            <a:r>
              <a:t>출처</a:t>
            </a:r>
          </a:p>
          <a:p xmlns:a="http://schemas.openxmlformats.org/drawingml/2006/main">
            <a:r>
              <a:t>교육행정 응대 AI PoC · 공공AI 사례집 222–223쪽 https://bigdata.dongjak.go.kr/board/viewArticle?articleNo=954&amp;boardId=4</a:t>
            </a:r>
          </a:p>
          <a:p xmlns:a="http://schemas.openxmlformats.org/drawingml/2006/main">
            <a:r>
              <a:t>홈페이지 https://heen1987-ops.github.io/TS-business-Plan-001/index.html?view=casebook&amp;case=AX26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"ST-01",</a:t>
            </a:r>
          </a:p>
          <a:p xmlns:a="http://schemas.openxmlformats.org/drawingml/2006/main">
            <a:r>
              <a:t>  "number": 1,</a:t>
            </a:r>
          </a:p>
          <a:p xmlns:a="http://schemas.openxmlformats.org/drawingml/2006/main">
            <a:r>
              <a:t>  "direction": "무결점 교통안전체계 조성",</a:t>
            </a:r>
          </a:p>
          <a:p xmlns:a="http://schemas.openxmlformats.org/drawingml/2006/main">
            <a:r>
              <a:t>  "strategy": "사고취약 수단·계층 정밀 안전망 구축",</a:t>
            </a:r>
          </a:p>
          <a:p xmlns:a="http://schemas.openxmlformats.org/drawingml/2006/main">
            <a:r>
              <a:t>  "solution": "취약 교통안전 업무지원",</a:t>
            </a:r>
          </a:p>
          <a:p xmlns:a="http://schemas.openxmlformats.org/drawingml/2006/main">
            <a:r>
              <a:t>  "lawIds": [</a:t>
            </a:r>
          </a:p>
          <a:p xmlns:a="http://schemas.openxmlformats.org/drawingml/2006/main">
            <a:r>
              <a:t>    "L01",</a:t>
            </a:r>
          </a:p>
          <a:p xmlns:a="http://schemas.openxmlformats.org/drawingml/2006/main">
            <a:r>
              <a:t>    "L02",</a:t>
            </a:r>
          </a:p>
          <a:p xmlns:a="http://schemas.openxmlformats.org/drawingml/2006/main">
            <a:r>
              <a:t>    "L03",</a:t>
            </a:r>
          </a:p>
          <a:p xmlns:a="http://schemas.openxmlformats.org/drawingml/2006/main">
            <a:r>
              <a:t>    "L04",</a:t>
            </a:r>
          </a:p>
          <a:p xmlns:a="http://schemas.openxmlformats.org/drawingml/2006/main">
            <a:r>
              <a:t>    "L17"</a:t>
            </a:r>
          </a:p>
          <a:p xmlns:a="http://schemas.openxmlformats.org/drawingml/2006/main">
            <a:r>
              <a:t>  ],</a:t>
            </a:r>
          </a:p>
          <a:p xmlns:a="http://schemas.openxmlformats.org/drawingml/2006/main">
            <a:r>
              <a:t>  "codes": [</a:t>
            </a:r>
          </a:p>
          <a:p xmlns:a="http://schemas.openxmlformats.org/drawingml/2006/main">
            <a:r>
              <a:t>    "1022030",</a:t>
            </a:r>
          </a:p>
          <a:p xmlns:a="http://schemas.openxmlformats.org/drawingml/2006/main">
            <a:r>
              <a:t>    "1021030",</a:t>
            </a:r>
          </a:p>
          <a:p xmlns:a="http://schemas.openxmlformats.org/drawingml/2006/main">
            <a:r>
              <a:t>    "1019030",</a:t>
            </a:r>
          </a:p>
          <a:p xmlns:a="http://schemas.openxmlformats.org/drawingml/2006/main">
            <a:r>
              <a:t>    "1019020"</a:t>
            </a:r>
          </a:p>
          <a:p xmlns:a="http://schemas.openxmlformats.org/drawingml/2006/main">
            <a:r>
              <a:t>  ],</a:t>
            </a:r>
          </a:p>
          <a:p xmlns:a="http://schemas.openxmlformats.org/drawingml/2006/main">
            <a:r>
              <a:t>  "work": "지역별 위험 근거·현장점검·개선조치 관리",</a:t>
            </a:r>
          </a:p>
          <a:p xmlns:a="http://schemas.openxmlformats.org/drawingml/2006/main">
            <a:r>
              <a:t>  "features": [</a:t>
            </a:r>
          </a:p>
          <a:p xmlns:a="http://schemas.openxmlformats.org/drawingml/2006/main">
            <a:r>
              <a:t>    "관할·대상·점검 기준별 근거 묶음 구성",</a:t>
            </a:r>
          </a:p>
          <a:p xmlns:a="http://schemas.openxmlformats.org/drawingml/2006/main">
            <a:r>
              <a:t>    "개선과제·담당자·기한·현장 증빙 연결"</a:t>
            </a:r>
          </a:p>
          <a:p xmlns:a="http://schemas.openxmlformats.org/drawingml/2006/main">
            <a:r>
              <a:t>  ],</a:t>
            </a:r>
          </a:p>
          <a:p xmlns:a="http://schemas.openxmlformats.org/drawingml/2006/main">
            <a:r>
              <a:t>  "output": "위험 근거 묶음·미조치 목록",</a:t>
            </a:r>
          </a:p>
          <a:p xmlns:a="http://schemas.openxmlformats.org/drawingml/2006/main">
            <a:r>
              <a:t>  "acceptance": "관할·취약대상·점검판본별 근거와 조치 담당의 일치 확인",</a:t>
            </a:r>
          </a:p>
          <a:p xmlns:a="http://schemas.openxmlformats.org/drawingml/2006/main">
            <a:r>
              <a:t>  "phase": "공통 기반 인수 후 부서별 적용",</a:t>
            </a:r>
          </a:p>
          <a:p xmlns:a="http://schemas.openxmlformats.org/drawingml/2006/main">
            <a:r>
              <a:t>  "packages": [</a:t>
            </a:r>
          </a:p>
          <a:p xmlns:a="http://schemas.openxmlformats.org/drawingml/2006/main">
            <a:r>
              <a:t>    "ON-W01",</a:t>
            </a:r>
          </a:p>
          <a:p xmlns:a="http://schemas.openxmlformats.org/drawingml/2006/main">
            <a:r>
              <a:t>    "ON-W04",</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"GAI-T02",</a:t>
            </a:r>
          </a:p>
          <a:p xmlns:a="http://schemas.openxmlformats.org/drawingml/2006/main">
            <a:r>
              <a:t>    "GAI-T05",</a:t>
            </a:r>
          </a:p>
          <a:p xmlns:a="http://schemas.openxmlformats.org/drawingml/2006/main">
            <a:r>
              <a:t>    "GAI-T07"</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"운수회사 안전관리",</a:t>
            </a:r>
          </a:p>
          <a:p xmlns:a="http://schemas.openxmlformats.org/drawingml/2006/main">
            <a:r>
              <a:t>      "indices": [</a:t>
            </a:r>
          </a:p>
          <a:p xmlns:a="http://schemas.openxmlformats.org/drawingml/2006/main">
            <a:r>
              <a:t>        4,</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"5. 교통안전수단점검에 관한 업무 총괄",</a:t>
            </a:r>
          </a:p>
          <a:p xmlns:a="http://schemas.openxmlformats.org/drawingml/2006/main">
            <a:r>
              <a:t>        "7. 운수회사 안전관리 및 교통사고 예방사업"</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"교통시설·사각지대 점검",</a:t>
            </a:r>
          </a:p>
          <a:p xmlns:a="http://schemas.openxmlformats.org/drawingml/2006/main">
            <a:r>
              <a:t>      "indices": [</a:t>
            </a:r>
          </a:p>
          <a:p xmlns:a="http://schemas.openxmlformats.org/drawingml/2006/main">
            <a:r>
              <a:t>        6,</a:t>
            </a:r>
          </a:p>
          <a:p xmlns:a="http://schemas.openxmlformats.org/drawingml/2006/main">
            <a:r>
              <a:t>        8</a:t>
            </a:r>
          </a:p>
          <a:p xmlns:a="http://schemas.openxmlformats.org/drawingml/2006/main">
            <a:r>
              <a:t>      ],</a:t>
            </a:r>
          </a:p>
          <a:p xmlns:a="http://schemas.openxmlformats.org/drawingml/2006/main">
            <a:r>
              <a:t>      "duties": [</a:t>
            </a:r>
          </a:p>
          <a:p xmlns:a="http://schemas.openxmlformats.org/drawingml/2006/main">
            <a:r>
              <a:t>        "7. 교통시설 안전진단ㆍ점검ㆍ평가에 관한 업무",</a:t>
            </a:r>
          </a:p>
          <a:p xmlns:a="http://schemas.openxmlformats.org/drawingml/2006/main">
            <a:r>
              <a:t>        "9. 교통안전 사각지대 교통안전점검에 관한 업무"</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"운행기록 분석",</a:t>
            </a:r>
          </a:p>
          <a:p xmlns:a="http://schemas.openxmlformats.org/drawingml/2006/main">
            <a:r>
              <a:t>      "indices":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"3. 운행기록데이터 관리·분석·활용 및 정책지원",</a:t>
            </a:r>
          </a:p>
          <a:p xmlns:a="http://schemas.openxmlformats.org/drawingml/2006/main">
            <a:r>
              <a:t>        "5. 교통안전정보관리체계 운영에 관한 업무"</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"교통약자 실태조사",</a:t>
            </a:r>
          </a:p>
          <a:p xmlns:a="http://schemas.openxmlformats.org/drawingml/2006/main">
            <a:r>
              <a:t>      "indices": [</a:t>
            </a:r>
          </a:p>
          <a:p xmlns:a="http://schemas.openxmlformats.org/drawingml/2006/main">
            <a:r>
              <a:t>        22</a:t>
            </a:r>
          </a:p>
          <a:p xmlns:a="http://schemas.openxmlformats.org/drawingml/2006/main">
            <a:r>
              <a:t>      ],</a:t>
            </a:r>
          </a:p>
          <a:p xmlns:a="http://schemas.openxmlformats.org/drawingml/2006/main">
            <a:r>
              <a:t>      "duties": [</a:t>
            </a:r>
          </a:p>
          <a:p xmlns:a="http://schemas.openxmlformats.org/drawingml/2006/main">
            <a:r>
              <a:t>        "23. 교통약자 이동편의실태조사 및 자료관리"</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"연결 법령의 해당 사무 + 참여 부서별 별표4 업무분장 / 개인별 전결·권한의 별도 매핑",</a:t>
            </a:r>
          </a:p>
          <a:p xmlns:a="http://schemas.openxmlformats.org/drawingml/2006/main">
            <a:r>
              <a:t>  "caseRefs": [</a:t>
            </a:r>
          </a:p>
          <a:p xmlns:a="http://schemas.openxmlformats.org/drawingml/2006/main">
            <a:r>
              <a:t>    {</a:t>
            </a:r>
          </a:p>
          <a:p xmlns:a="http://schemas.openxmlformats.org/drawingml/2006/main">
            <a:r>
              <a:t>      "caseId": "AX01",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"AX02",</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"AX08",</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"AX16",</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"AX23",</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"지역·취약계층 안전조치 근거 지원",</a:t>
            </a:r>
          </a:p>
          <a:p xmlns:a="http://schemas.openxmlformats.org/drawingml/2006/main">
            <a:r>
              <a:t>  "delta": "관할·대상·현장 증거 연결",</a:t>
            </a:r>
          </a:p>
          <a:p xmlns:a="http://schemas.openxmlformats.org/drawingml/2006/main">
            <a:r>
              <a:t>  "kpi": "위험 검토시간 / 조치 이행률",</a:t>
            </a:r>
          </a:p>
          <a:p xmlns:a="http://schemas.openxmlformats.org/drawingml/2006/main">
            <a:r>
              <a:t>  "validation": "지역·기간별 원천 대조, 미조치 건 추적",</a:t>
            </a:r>
          </a:p>
          <a:p xmlns:a="http://schemas.openxmlformats.org/drawingml/2006/main">
            <a:r>
              <a:t>  "requirement": "BM-ST-01-R01",</a:t>
            </a:r>
          </a:p>
          <a:p xmlns:a="http://schemas.openxmlformats.org/drawingml/2006/main">
            <a:r>
              <a:t>  "test": "BM-ST-01-T01",</a:t>
            </a:r>
          </a:p>
          <a:p xmlns:a="http://schemas.openxmlformats.org/drawingml/2006/main">
            <a:r>
              <a:t>  "effectStatus": "기대 방향 · TS 실측 전",</a:t>
            </a:r>
          </a:p>
          <a:p xmlns:a="http://schemas.openxmlformats.org/drawingml/2006/main">
            <a:r>
              <a:t>  "effect": "위험 검토시간·조치 누락 감소",</a:t>
            </a:r>
          </a:p>
          <a:p xmlns:a="http://schemas.openxmlformats.org/drawingml/2006/main">
            <a:r>
              <a:t>  "reuse": "ON27-BASE / C27-COM + CCK 재사용 판정 기능",</a:t>
            </a:r>
          </a:p>
          <a:p xmlns:a="http://schemas.openxmlformats.org/drawingml/2006/main">
            <a:r>
              <a:t>  "input": "지역·대상별 사고 집계, 현장점검표, 개선조치 이력",</a:t>
            </a:r>
          </a:p>
          <a:p xmlns:a="http://schemas.openxmlformats.org/drawingml/2006/main">
            <a:r>
              <a:t>  "steps": [</a:t>
            </a:r>
          </a:p>
          <a:p xmlns:a="http://schemas.openxmlformats.org/drawingml/2006/main">
            <a:r>
              <a:t>    "관할·취약대상 분류",</a:t>
            </a:r>
          </a:p>
          <a:p xmlns:a="http://schemas.openxmlformats.org/drawingml/2006/main">
            <a:r>
              <a:t>    "현장 증거와 위험요인 대조",</a:t>
            </a:r>
          </a:p>
          <a:p xmlns:a="http://schemas.openxmlformats.org/drawingml/2006/main">
            <a:r>
              <a:t>    "조치 담당·기한 지정",</a:t>
            </a:r>
          </a:p>
          <a:p xmlns:a="http://schemas.openxmlformats.org/drawingml/2006/main">
            <a:r>
              <a:t>    "이행·재점검 확인"</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"운수회사 안전관리",</a:t>
            </a:r>
          </a:p>
          <a:p xmlns:a="http://schemas.openxmlformats.org/drawingml/2006/main">
            <a:r>
              <a:t>      "indices": [</a:t>
            </a:r>
          </a:p>
          <a:p xmlns:a="http://schemas.openxmlformats.org/drawingml/2006/main">
            <a:r>
              <a:t>        4,</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"5. 교통안전수단점검에 관한 업무 총괄",</a:t>
            </a:r>
          </a:p>
          <a:p xmlns:a="http://schemas.openxmlformats.org/drawingml/2006/main">
            <a:r>
              <a:t>        "7. 운수회사 안전관리 및 교통사고 예방사업"</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"RULEWORK-1022030-5",</a:t>
            </a:r>
          </a:p>
          <a:p xmlns:a="http://schemas.openxmlformats.org/drawingml/2006/main">
            <a:r>
              <a:t>          "text": "5. 교통안전수단점검에 관한 업무 총괄",</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"RULEWORK-1022030-5-R01",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"RULEWORK-1022030-5-T01",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"RULEWORK-1022030-5-R02",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"RULEWORK-1022030-5-T02",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"RULEWORK-1022030-5-R03",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"RULEWORK-1022030-7",</a:t>
            </a:r>
          </a:p>
          <a:p xmlns:a="http://schemas.openxmlformats.org/drawingml/2006/main">
            <a:r>
              <a:t>          "text": "7. 운수회사 안전관리 및 교통사고 예방사업",</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"RULEWORK-1022030-7-R01",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"RULEWORK-1022030-7-T01",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"RULEWORK-1022030-7-R02",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"RULEWORK-1022030-7-T02",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"RULEWORK-1022030-7-R03",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"교통시설·사각지대 점검",</a:t>
            </a:r>
          </a:p>
          <a:p xmlns:a="http://schemas.openxmlformats.org/drawingml/2006/main">
            <a:r>
              <a:t>      "indices": [</a:t>
            </a:r>
          </a:p>
          <a:p xmlns:a="http://schemas.openxmlformats.org/drawingml/2006/main">
            <a:r>
              <a:t>        6,</a:t>
            </a:r>
          </a:p>
          <a:p xmlns:a="http://schemas.openxmlformats.org/drawingml/2006/main">
            <a:r>
              <a:t>        8</a:t>
            </a:r>
          </a:p>
          <a:p xmlns:a="http://schemas.openxmlformats.org/drawingml/2006/main">
            <a:r>
              <a:t>      ],</a:t>
            </a:r>
          </a:p>
          <a:p xmlns:a="http://schemas.openxmlformats.org/drawingml/2006/main">
            <a:r>
              <a:t>      "duties": [</a:t>
            </a:r>
          </a:p>
          <a:p xmlns:a="http://schemas.openxmlformats.org/drawingml/2006/main">
            <a:r>
              <a:t>        "7. 교통시설 안전진단ㆍ점검ㆍ평가에 관한 업무",</a:t>
            </a:r>
          </a:p>
          <a:p xmlns:a="http://schemas.openxmlformats.org/drawingml/2006/main">
            <a:r>
              <a:t>        "9. 교통안전 사각지대 교통안전점검에 관한 업무"</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"RULEWORK-1021030-7",</a:t>
            </a:r>
          </a:p>
          <a:p xmlns:a="http://schemas.openxmlformats.org/drawingml/2006/main">
            <a:r>
              <a:t>          "text": "7. 교통시설 안전진단ㆍ점검ㆍ평가에 관한 업무",</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"RULEWORK-1021030-7-R01",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"RULEWORK-1021030-7-T01",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"RULEWORK-1021030-7-R02",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"RULEWORK-1021030-7-T02",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"RULEWORK-1021030-9",</a:t>
            </a:r>
          </a:p>
          <a:p xmlns:a="http://schemas.openxmlformats.org/drawingml/2006/main">
            <a:r>
              <a:t>          "text": "9. 교통안전 사각지대 교통안전점검에 관한 업무",</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"RULEWORK-1021030-9-R01",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"RULEWORK-1021030-9-T01",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"RULEWORK-1021030-9-R02",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"RULEWORK-1021030-9-T02",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"RULEWORK-1021030-9-R03",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"RULEWORK-1021030-9-T03",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"운행기록 분석",</a:t>
            </a:r>
          </a:p>
          <a:p xmlns:a="http://schemas.openxmlformats.org/drawingml/2006/main">
            <a:r>
              <a:t>      "indices":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"3. 운행기록데이터 관리·분석·활용 및 정책지원",</a:t>
            </a:r>
          </a:p>
          <a:p xmlns:a="http://schemas.openxmlformats.org/drawingml/2006/main">
            <a:r>
              <a:t>        "5. 교통안전정보관리체계 운영에 관한 업무"</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"RULEWORK-1019030-3",</a:t>
            </a:r>
          </a:p>
          <a:p xmlns:a="http://schemas.openxmlformats.org/drawingml/2006/main">
            <a:r>
              <a:t>          "text": "3. 운행기록데이터 관리·분석·활용 및 정책지원",</a:t>
            </a:r>
          </a:p>
          <a:p xmlns:a="http://schemas.openxmlformats.org/drawingml/2006/main">
            <a:r>
              <a:t>          "locator": "별표4 · T39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"RULEWORK-1019030-3-R01",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"RULEWORK-1019030-3-T01",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"RULEWORK-1019030-3-R02",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"RULEWORK-1019030-3-T02",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"RULEWORK-1019030-3-R03",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"RULEWORK-1019030-3-T03",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"RULEWORK-1019030-5",</a:t>
            </a:r>
          </a:p>
          <a:p xmlns:a="http://schemas.openxmlformats.org/drawingml/2006/main">
            <a:r>
              <a:t>          "text": "5. 교통안전정보관리체계 운영에 관한 업무",</a:t>
            </a:r>
          </a:p>
          <a:p xmlns:a="http://schemas.openxmlformats.org/drawingml/2006/main">
            <a:r>
              <a:t>          "locator": "별표4 · T39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"RULEWORK-1019030-5-R01",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"RULEWORK-1019030-5-T01",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"RULEWORK-1019030-5-R02",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"RULEWORK-1019030-5-T02",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"RULEWORK-1019030-5-R03",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"RULEWORK-1019030-5-T03",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"교통약자 실태조사",</a:t>
            </a:r>
          </a:p>
          <a:p xmlns:a="http://schemas.openxmlformats.org/drawingml/2006/main">
            <a:r>
              <a:t>      "indices": [</a:t>
            </a:r>
          </a:p>
          <a:p xmlns:a="http://schemas.openxmlformats.org/drawingml/2006/main">
            <a:r>
              <a:t>        22</a:t>
            </a:r>
          </a:p>
          <a:p xmlns:a="http://schemas.openxmlformats.org/drawingml/2006/main">
            <a:r>
              <a:t>      ],</a:t>
            </a:r>
          </a:p>
          <a:p xmlns:a="http://schemas.openxmlformats.org/drawingml/2006/main">
            <a:r>
              <a:t>      "duties": [</a:t>
            </a:r>
          </a:p>
          <a:p xmlns:a="http://schemas.openxmlformats.org/drawingml/2006/main">
            <a:r>
              <a:t>        "23. 교통약자 이동편의실태조사 및 자료관리"</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"RULEWORK-1019020-23",</a:t>
            </a:r>
          </a:p>
          <a:p xmlns:a="http://schemas.openxmlformats.org/drawingml/2006/main">
            <a:r>
              <a:t>          "text": "23. 교통약자 이동편의실태조사 및 자료관리",</a:t>
            </a:r>
          </a:p>
          <a:p xmlns:a="http://schemas.openxmlformats.org/drawingml/2006/main">
            <a:r>
              <a:t>          "locator": "별표4 · T39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"RULEWORK-1019020-23-R01",</a:t>
            </a:r>
          </a:p>
          <a:p xmlns:a="http://schemas.openxmlformats.org/drawingml/2006/main">
            <a:r>
              <a:t>              "title": "업무 맥락·전용 지식 구성",</a:t>
            </a:r>
          </a:p>
          <a:p xmlns:a="http://schemas.openxmlformats.org/drawingml/2006/main">
            <a:r>
              <a:t>              "development": "대상·항목·분모·기간별 자료 정합성 점검",</a:t>
            </a:r>
          </a:p>
          <a:p xmlns:a="http://schemas.openxmlformats.org/drawingml/2006/main">
            <a:r>
              <a:t>              "output": "증빙·보완·분석·공표 검토자료",</a:t>
            </a:r>
          </a:p>
          <a:p xmlns:a="http://schemas.openxmlformats.org/drawingml/2006/main">
            <a:r>
              <a:t>              "testId": "RULEWORK-1019020-23-T01",</a:t>
            </a:r>
          </a:p>
          <a:p xmlns:a="http://schemas.openxmlformats.org/drawingml/2006/main">
            <a:r>
              <a:t>              "criterion": "표본·분모·단위·기간과 분석 결과 재현"</a:t>
            </a:r>
          </a:p>
          <a:p xmlns:a="http://schemas.openxmlformats.org/drawingml/2006/main">
            <a:r>
              <a:t>            },</a:t>
            </a:r>
          </a:p>
          <a:p xmlns:a="http://schemas.openxmlformats.org/drawingml/2006/main">
            <a:r>
              <a:t>            {</a:t>
            </a:r>
          </a:p>
          <a:p xmlns:a="http://schemas.openxmlformats.org/drawingml/2006/main">
            <a:r>
              <a:t>              "id": "RULEWORK-1019020-23-R02",</a:t>
            </a:r>
          </a:p>
          <a:p xmlns:a="http://schemas.openxmlformats.org/drawingml/2006/main">
            <a:r>
              <a:t>              "title": "업무건·역할·시스템 연결",</a:t>
            </a:r>
          </a:p>
          <a:p xmlns:a="http://schemas.openxmlformats.org/drawingml/2006/main">
            <a:r>
              <a:t>              "development": "조사 원장·원본 증빙·공표 판본 연결",</a:t>
            </a:r>
          </a:p>
          <a:p xmlns:a="http://schemas.openxmlformats.org/drawingml/2006/main">
            <a:r>
              <a:t>              "output": "업무건·원천·역할·변경 연결 명세",</a:t>
            </a:r>
          </a:p>
          <a:p xmlns:a="http://schemas.openxmlformats.org/drawingml/2006/main">
            <a:r>
              <a:t>              "testId": "RULEWORK-1019020-23-T02",</a:t>
            </a:r>
          </a:p>
          <a:p xmlns:a="http://schemas.openxmlformats.org/drawingml/2006/main">
            <a:r>
              <a:t>              "criterion": "공식 공표 승인·개인정보 제한 검증"</a:t>
            </a:r>
          </a:p>
          <a:p xmlns:a="http://schemas.openxmlformats.org/drawingml/2006/main">
            <a:r>
              <a:t>            },</a:t>
            </a:r>
          </a:p>
          <a:p xmlns:a="http://schemas.openxmlformats.org/drawingml/2006/main">
            <a:r>
              <a:t>            {</a:t>
            </a:r>
          </a:p>
          <a:p xmlns:a="http://schemas.openxmlformats.org/drawingml/2006/main">
            <a:r>
              <a:t>              "id": "RULEWORK-1019020-23-R03",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"RULEWORK-1019020-23-T03",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점검 기준 검색·요약"</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"Audin·JET의 증빙 검토·항목 구조화"</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"관할·대상 코드 사전",</a:t>
            </a:r>
          </a:p>
          <a:p xmlns:a="http://schemas.openxmlformats.org/drawingml/2006/main">
            <a:r>
              <a:t>    "점검항목–증거–조치 연결표"</a:t>
            </a:r>
          </a:p>
          <a:p xmlns:a="http://schemas.openxmlformats.org/drawingml/2006/main">
            <a:r>
              <a:t>  ],</a:t>
            </a:r>
          </a:p>
          <a:p xmlns:a="http://schemas.openxmlformats.org/drawingml/2006/main">
            <a:r>
              <a:t>  "acceptancePlan": {</a:t>
            </a:r>
          </a:p>
          <a:p xmlns:a="http://schemas.openxmlformats.org/drawingml/2006/main">
            <a:r>
              <a:t>    "sample": "기간·지역 불일치, 증빙 없는 완료 건 주입",</a:t>
            </a:r>
          </a:p>
          <a:p xmlns:a="http://schemas.openxmlformats.org/drawingml/2006/main">
            <a:r>
              <a:t>    "criterion": "원천 위치 표시·불일치 보류·미조치 유지",</a:t>
            </a:r>
          </a:p>
          <a:p xmlns:a="http://schemas.openxmlformats.org/drawingml/2006/main">
            <a:r>
              <a:t>    "evidence": "원천 대사표·누락 탐지 결과·검토 이력",</a:t>
            </a:r>
          </a:p>
          <a:p xmlns:a="http://schemas.openxmlformats.org/drawingml/2006/main">
            <a:r>
              <a:t>    "execution": "미실행"</a:t>
            </a:r>
          </a:p>
          <a:p xmlns:a="http://schemas.openxmlformats.org/drawingml/2006/main">
            <a:r>
              <a:t>  },</a:t>
            </a:r>
          </a:p>
          <a:p xmlns:a="http://schemas.openxmlformats.org/drawingml/2006/main">
            <a:r>
              <a:t>  "formula": "검토 완료시간 중앙값 / 미조치 탐지 건수 ÷ 실제 미조치 건수",</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"ST-01",</a:t>
            </a:r>
          </a:p>
          <a:p xmlns:a="http://schemas.openxmlformats.org/drawingml/2006/main">
            <a:r>
              <a:t>  "number": 1,</a:t>
            </a:r>
          </a:p>
          <a:p xmlns:a="http://schemas.openxmlformats.org/drawingml/2006/main">
            <a:r>
              <a:t>  "direction": "무결점 교통안전체계 조성",</a:t>
            </a:r>
          </a:p>
          <a:p xmlns:a="http://schemas.openxmlformats.org/drawingml/2006/main">
            <a:r>
              <a:t>  "strategy": "사고취약 수단·계층 정밀 안전망 구축",</a:t>
            </a:r>
          </a:p>
          <a:p xmlns:a="http://schemas.openxmlformats.org/drawingml/2006/main">
            <a:r>
              <a:t>  "solution": "취약 교통안전 업무지원",</a:t>
            </a:r>
          </a:p>
          <a:p xmlns:a="http://schemas.openxmlformats.org/drawingml/2006/main">
            <a:r>
              <a:t>  "lawIds": [</a:t>
            </a:r>
          </a:p>
          <a:p xmlns:a="http://schemas.openxmlformats.org/drawingml/2006/main">
            <a:r>
              <a:t>    "L01",</a:t>
            </a:r>
          </a:p>
          <a:p xmlns:a="http://schemas.openxmlformats.org/drawingml/2006/main">
            <a:r>
              <a:t>    "L02",</a:t>
            </a:r>
          </a:p>
          <a:p xmlns:a="http://schemas.openxmlformats.org/drawingml/2006/main">
            <a:r>
              <a:t>    "L03",</a:t>
            </a:r>
          </a:p>
          <a:p xmlns:a="http://schemas.openxmlformats.org/drawingml/2006/main">
            <a:r>
              <a:t>    "L04",</a:t>
            </a:r>
          </a:p>
          <a:p xmlns:a="http://schemas.openxmlformats.org/drawingml/2006/main">
            <a:r>
              <a:t>    "L17"</a:t>
            </a:r>
          </a:p>
          <a:p xmlns:a="http://schemas.openxmlformats.org/drawingml/2006/main">
            <a:r>
              <a:t>  ],</a:t>
            </a:r>
          </a:p>
          <a:p xmlns:a="http://schemas.openxmlformats.org/drawingml/2006/main">
            <a:r>
              <a:t>  "codes": [</a:t>
            </a:r>
          </a:p>
          <a:p xmlns:a="http://schemas.openxmlformats.org/drawingml/2006/main">
            <a:r>
              <a:t>    "1022030",</a:t>
            </a:r>
          </a:p>
          <a:p xmlns:a="http://schemas.openxmlformats.org/drawingml/2006/main">
            <a:r>
              <a:t>    "1021030",</a:t>
            </a:r>
          </a:p>
          <a:p xmlns:a="http://schemas.openxmlformats.org/drawingml/2006/main">
            <a:r>
              <a:t>    "1019030",</a:t>
            </a:r>
          </a:p>
          <a:p xmlns:a="http://schemas.openxmlformats.org/drawingml/2006/main">
            <a:r>
              <a:t>    "1019020"</a:t>
            </a:r>
          </a:p>
          <a:p xmlns:a="http://schemas.openxmlformats.org/drawingml/2006/main">
            <a:r>
              <a:t>  ],</a:t>
            </a:r>
          </a:p>
          <a:p xmlns:a="http://schemas.openxmlformats.org/drawingml/2006/main">
            <a:r>
              <a:t>  "work": "지역별 위험 근거·현장점검·개선조치 관리",</a:t>
            </a:r>
          </a:p>
          <a:p xmlns:a="http://schemas.openxmlformats.org/drawingml/2006/main">
            <a:r>
              <a:t>  "features": [</a:t>
            </a:r>
          </a:p>
          <a:p xmlns:a="http://schemas.openxmlformats.org/drawingml/2006/main">
            <a:r>
              <a:t>    "관할·대상·점검 기준별 근거 묶음 구성",</a:t>
            </a:r>
          </a:p>
          <a:p xmlns:a="http://schemas.openxmlformats.org/drawingml/2006/main">
            <a:r>
              <a:t>    "개선과제·담당자·기한·현장 증빙 연결"</a:t>
            </a:r>
          </a:p>
          <a:p xmlns:a="http://schemas.openxmlformats.org/drawingml/2006/main">
            <a:r>
              <a:t>  ],</a:t>
            </a:r>
          </a:p>
          <a:p xmlns:a="http://schemas.openxmlformats.org/drawingml/2006/main">
            <a:r>
              <a:t>  "output": "위험 근거 묶음·미조치 목록",</a:t>
            </a:r>
          </a:p>
          <a:p xmlns:a="http://schemas.openxmlformats.org/drawingml/2006/main">
            <a:r>
              <a:t>  "acceptance": "관할·취약대상·점검판본별 근거와 조치 담당의 일치 확인",</a:t>
            </a:r>
          </a:p>
          <a:p xmlns:a="http://schemas.openxmlformats.org/drawingml/2006/main">
            <a:r>
              <a:t>  "phase": "공통 기반 인수 후 부서별 적용",</a:t>
            </a:r>
          </a:p>
          <a:p xmlns:a="http://schemas.openxmlformats.org/drawingml/2006/main">
            <a:r>
              <a:t>  "packages": [</a:t>
            </a:r>
          </a:p>
          <a:p xmlns:a="http://schemas.openxmlformats.org/drawingml/2006/main">
            <a:r>
              <a:t>    "ON-W01",</a:t>
            </a:r>
          </a:p>
          <a:p xmlns:a="http://schemas.openxmlformats.org/drawingml/2006/main">
            <a:r>
              <a:t>    "ON-W04",</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"GAI-T02",</a:t>
            </a:r>
          </a:p>
          <a:p xmlns:a="http://schemas.openxmlformats.org/drawingml/2006/main">
            <a:r>
              <a:t>    "GAI-T05",</a:t>
            </a:r>
          </a:p>
          <a:p xmlns:a="http://schemas.openxmlformats.org/drawingml/2006/main">
            <a:r>
              <a:t>    "GAI-T07"</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"운수회사 안전관리",</a:t>
            </a:r>
          </a:p>
          <a:p xmlns:a="http://schemas.openxmlformats.org/drawingml/2006/main">
            <a:r>
              <a:t>      "indices": [</a:t>
            </a:r>
          </a:p>
          <a:p xmlns:a="http://schemas.openxmlformats.org/drawingml/2006/main">
            <a:r>
              <a:t>        4,</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"5. 교통안전수단점검에 관한 업무 총괄",</a:t>
            </a:r>
          </a:p>
          <a:p xmlns:a="http://schemas.openxmlformats.org/drawingml/2006/main">
            <a:r>
              <a:t>        "7. 운수회사 안전관리 및 교통사고 예방사업"</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"교통시설·사각지대 점검",</a:t>
            </a:r>
          </a:p>
          <a:p xmlns:a="http://schemas.openxmlformats.org/drawingml/2006/main">
            <a:r>
              <a:t>      "indices": [</a:t>
            </a:r>
          </a:p>
          <a:p xmlns:a="http://schemas.openxmlformats.org/drawingml/2006/main">
            <a:r>
              <a:t>        6,</a:t>
            </a:r>
          </a:p>
          <a:p xmlns:a="http://schemas.openxmlformats.org/drawingml/2006/main">
            <a:r>
              <a:t>        8</a:t>
            </a:r>
          </a:p>
          <a:p xmlns:a="http://schemas.openxmlformats.org/drawingml/2006/main">
            <a:r>
              <a:t>      ],</a:t>
            </a:r>
          </a:p>
          <a:p xmlns:a="http://schemas.openxmlformats.org/drawingml/2006/main">
            <a:r>
              <a:t>      "duties": [</a:t>
            </a:r>
          </a:p>
          <a:p xmlns:a="http://schemas.openxmlformats.org/drawingml/2006/main">
            <a:r>
              <a:t>        "7. 교통시설 안전진단ㆍ점검ㆍ평가에 관한 업무",</a:t>
            </a:r>
          </a:p>
          <a:p xmlns:a="http://schemas.openxmlformats.org/drawingml/2006/main">
            <a:r>
              <a:t>        "9. 교통안전 사각지대 교통안전점검에 관한 업무"</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"운행기록 분석",</a:t>
            </a:r>
          </a:p>
          <a:p xmlns:a="http://schemas.openxmlformats.org/drawingml/2006/main">
            <a:r>
              <a:t>      "indices":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"3. 운행기록데이터 관리·분석·활용 및 정책지원",</a:t>
            </a:r>
          </a:p>
          <a:p xmlns:a="http://schemas.openxmlformats.org/drawingml/2006/main">
            <a:r>
              <a:t>        "5. 교통안전정보관리체계 운영에 관한 업무"</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"교통약자 실태조사",</a:t>
            </a:r>
          </a:p>
          <a:p xmlns:a="http://schemas.openxmlformats.org/drawingml/2006/main">
            <a:r>
              <a:t>      "indices": [</a:t>
            </a:r>
          </a:p>
          <a:p xmlns:a="http://schemas.openxmlformats.org/drawingml/2006/main">
            <a:r>
              <a:t>        22</a:t>
            </a:r>
          </a:p>
          <a:p xmlns:a="http://schemas.openxmlformats.org/drawingml/2006/main">
            <a:r>
              <a:t>      ],</a:t>
            </a:r>
          </a:p>
          <a:p xmlns:a="http://schemas.openxmlformats.org/drawingml/2006/main">
            <a:r>
              <a:t>      "duties": [</a:t>
            </a:r>
          </a:p>
          <a:p xmlns:a="http://schemas.openxmlformats.org/drawingml/2006/main">
            <a:r>
              <a:t>        "23. 교통약자 이동편의실태조사 및 자료관리"</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"연결 법령의 해당 사무 + 참여 부서별 별표4 업무분장 / 개인별 전결·권한의 별도 매핑",</a:t>
            </a:r>
          </a:p>
          <a:p xmlns:a="http://schemas.openxmlformats.org/drawingml/2006/main">
            <a:r>
              <a:t>  "caseRefs": [</a:t>
            </a:r>
          </a:p>
          <a:p xmlns:a="http://schemas.openxmlformats.org/drawingml/2006/main">
            <a:r>
              <a:t>    {</a:t>
            </a:r>
          </a:p>
          <a:p xmlns:a="http://schemas.openxmlformats.org/drawingml/2006/main">
            <a:r>
              <a:t>      "caseId": "AX01",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"AX02",</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"AX08",</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"AX16",</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"AX23",</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"지역·취약계층 안전조치 근거 지원",</a:t>
            </a:r>
          </a:p>
          <a:p xmlns:a="http://schemas.openxmlformats.org/drawingml/2006/main">
            <a:r>
              <a:t>  "delta": "관할·대상·현장 증거 연결",</a:t>
            </a:r>
          </a:p>
          <a:p xmlns:a="http://schemas.openxmlformats.org/drawingml/2006/main">
            <a:r>
              <a:t>  "kpi": "위험 검토시간 / 조치 이행률",</a:t>
            </a:r>
          </a:p>
          <a:p xmlns:a="http://schemas.openxmlformats.org/drawingml/2006/main">
            <a:r>
              <a:t>  "validation": "지역·기간별 원천 대조, 미조치 건 추적",</a:t>
            </a:r>
          </a:p>
          <a:p xmlns:a="http://schemas.openxmlformats.org/drawingml/2006/main">
            <a:r>
              <a:t>  "requirement": "BM-ST-01-R01",</a:t>
            </a:r>
          </a:p>
          <a:p xmlns:a="http://schemas.openxmlformats.org/drawingml/2006/main">
            <a:r>
              <a:t>  "test": "BM-ST-01-T01",</a:t>
            </a:r>
          </a:p>
          <a:p xmlns:a="http://schemas.openxmlformats.org/drawingml/2006/main">
            <a:r>
              <a:t>  "effectStatus": "기대 방향 · TS 실측 전",</a:t>
            </a:r>
          </a:p>
          <a:p xmlns:a="http://schemas.openxmlformats.org/drawingml/2006/main">
            <a:r>
              <a:t>  "effect": "위험 검토시간·조치 누락 감소",</a:t>
            </a:r>
          </a:p>
          <a:p xmlns:a="http://schemas.openxmlformats.org/drawingml/2006/main">
            <a:r>
              <a:t>  "reuse": "ON27-BASE / C27-COM + CCK 재사용 판정 기능",</a:t>
            </a:r>
          </a:p>
          <a:p xmlns:a="http://schemas.openxmlformats.org/drawingml/2006/main">
            <a:r>
              <a:t>  "input": "지역·대상별 사고 집계, 현장점검표, 개선조치 이력",</a:t>
            </a:r>
          </a:p>
          <a:p xmlns:a="http://schemas.openxmlformats.org/drawingml/2006/main">
            <a:r>
              <a:t>  "steps": [</a:t>
            </a:r>
          </a:p>
          <a:p xmlns:a="http://schemas.openxmlformats.org/drawingml/2006/main">
            <a:r>
              <a:t>    "관할·취약대상 분류",</a:t>
            </a:r>
          </a:p>
          <a:p xmlns:a="http://schemas.openxmlformats.org/drawingml/2006/main">
            <a:r>
              <a:t>    "현장 증거와 위험요인 대조",</a:t>
            </a:r>
          </a:p>
          <a:p xmlns:a="http://schemas.openxmlformats.org/drawingml/2006/main">
            <a:r>
              <a:t>    "조치 담당·기한 지정",</a:t>
            </a:r>
          </a:p>
          <a:p xmlns:a="http://schemas.openxmlformats.org/drawingml/2006/main">
            <a:r>
              <a:t>    "이행·재점검 확인"</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"운수회사 안전관리",</a:t>
            </a:r>
          </a:p>
          <a:p xmlns:a="http://schemas.openxmlformats.org/drawingml/2006/main">
            <a:r>
              <a:t>      "indices": [</a:t>
            </a:r>
          </a:p>
          <a:p xmlns:a="http://schemas.openxmlformats.org/drawingml/2006/main">
            <a:r>
              <a:t>        4,</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"5. 교통안전수단점검에 관한 업무 총괄",</a:t>
            </a:r>
          </a:p>
          <a:p xmlns:a="http://schemas.openxmlformats.org/drawingml/2006/main">
            <a:r>
              <a:t>        "7. 운수회사 안전관리 및 교통사고 예방사업"</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"RULEWORK-1022030-5",</a:t>
            </a:r>
          </a:p>
          <a:p xmlns:a="http://schemas.openxmlformats.org/drawingml/2006/main">
            <a:r>
              <a:t>          "text": "5. 교통안전수단점검에 관한 업무 총괄",</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"RULEWORK-1022030-5-R01",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"RULEWORK-1022030-5-T01",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"RULEWORK-1022030-5-R02",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"RULEWORK-1022030-5-T02",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"RULEWORK-1022030-5-R03",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"RULEWORK-1022030-7",</a:t>
            </a:r>
          </a:p>
          <a:p xmlns:a="http://schemas.openxmlformats.org/drawingml/2006/main">
            <a:r>
              <a:t>          "text": "7. 운수회사 안전관리 및 교통사고 예방사업",</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"RULEWORK-1022030-7-R01",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"RULEWORK-1022030-7-T01",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"RULEWORK-1022030-7-R02",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"RULEWORK-1022030-7-T02",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"RULEWORK-1022030-7-R03",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"교통시설·사각지대 점검",</a:t>
            </a:r>
          </a:p>
          <a:p xmlns:a="http://schemas.openxmlformats.org/drawingml/2006/main">
            <a:r>
              <a:t>      "indices": [</a:t>
            </a:r>
          </a:p>
          <a:p xmlns:a="http://schemas.openxmlformats.org/drawingml/2006/main">
            <a:r>
              <a:t>        6,</a:t>
            </a:r>
          </a:p>
          <a:p xmlns:a="http://schemas.openxmlformats.org/drawingml/2006/main">
            <a:r>
              <a:t>        8</a:t>
            </a:r>
          </a:p>
          <a:p xmlns:a="http://schemas.openxmlformats.org/drawingml/2006/main">
            <a:r>
              <a:t>      ],</a:t>
            </a:r>
          </a:p>
          <a:p xmlns:a="http://schemas.openxmlformats.org/drawingml/2006/main">
            <a:r>
              <a:t>      "duties": [</a:t>
            </a:r>
          </a:p>
          <a:p xmlns:a="http://schemas.openxmlformats.org/drawingml/2006/main">
            <a:r>
              <a:t>        "7. 교통시설 안전진단ㆍ점검ㆍ평가에 관한 업무",</a:t>
            </a:r>
          </a:p>
          <a:p xmlns:a="http://schemas.openxmlformats.org/drawingml/2006/main">
            <a:r>
              <a:t>        "9. 교통안전 사각지대 교통안전점검에 관한 업무"</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"RULEWORK-1021030-7",</a:t>
            </a:r>
          </a:p>
          <a:p xmlns:a="http://schemas.openxmlformats.org/drawingml/2006/main">
            <a:r>
              <a:t>          "text": "7. 교통시설 안전진단ㆍ점검ㆍ평가에 관한 업무",</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"RULEWORK-1021030-7-R01",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"RULEWORK-1021030-7-T01",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"RULEWORK-1021030-7-R02",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"RULEWORK-1021030-7-T02",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"RULEWORK-1021030-9",</a:t>
            </a:r>
          </a:p>
          <a:p xmlns:a="http://schemas.openxmlformats.org/drawingml/2006/main">
            <a:r>
              <a:t>          "text": "9. 교통안전 사각지대 교통안전점검에 관한 업무",</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"RULEWORK-1021030-9-R01",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"RULEWORK-1021030-9-T01",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"RULEWORK-1021030-9-R02",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"RULEWORK-1021030-9-T02",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"RULEWORK-1021030-9-R03",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"RULEWORK-1021030-9-T03",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"운행기록 분석",</a:t>
            </a:r>
          </a:p>
          <a:p xmlns:a="http://schemas.openxmlformats.org/drawingml/2006/main">
            <a:r>
              <a:t>      "indices":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"3. 운행기록데이터 관리·분석·활용 및 정책지원",</a:t>
            </a:r>
          </a:p>
          <a:p xmlns:a="http://schemas.openxmlformats.org/drawingml/2006/main">
            <a:r>
              <a:t>        "5. 교통안전정보관리체계 운영에 관한 업무"</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"RULEWORK-1019030-3",</a:t>
            </a:r>
          </a:p>
          <a:p xmlns:a="http://schemas.openxmlformats.org/drawingml/2006/main">
            <a:r>
              <a:t>          "text": "3. 운행기록데이터 관리·분석·활용 및 정책지원",</a:t>
            </a:r>
          </a:p>
          <a:p xmlns:a="http://schemas.openxmlformats.org/drawingml/2006/main">
            <a:r>
              <a:t>          "locator": "별표4 · T39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"RULEWORK-1019030-3-R01",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"RULEWORK-1019030-3-T01",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"RULEWORK-1019030-3-R02",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"RULEWORK-1019030-3-T02",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"RULEWORK-1019030-3-R03",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"RULEWORK-1019030-3-T03",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"RULEWORK-1019030-5",</a:t>
            </a:r>
          </a:p>
          <a:p xmlns:a="http://schemas.openxmlformats.org/drawingml/2006/main">
            <a:r>
              <a:t>          "text": "5. 교통안전정보관리체계 운영에 관한 업무",</a:t>
            </a:r>
          </a:p>
          <a:p xmlns:a="http://schemas.openxmlformats.org/drawingml/2006/main">
            <a:r>
              <a:t>          "locator": "별표4 · T39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"RULEWORK-1019030-5-R01",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"RULEWORK-1019030-5-T01",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"RULEWORK-1019030-5-R02",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"RULEWORK-1019030-5-T02",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"RULEWORK-1019030-5-R03",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"RULEWORK-1019030-5-T03",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"교통약자 실태조사",</a:t>
            </a:r>
          </a:p>
          <a:p xmlns:a="http://schemas.openxmlformats.org/drawingml/2006/main">
            <a:r>
              <a:t>      "indices": [</a:t>
            </a:r>
          </a:p>
          <a:p xmlns:a="http://schemas.openxmlformats.org/drawingml/2006/main">
            <a:r>
              <a:t>        22</a:t>
            </a:r>
          </a:p>
          <a:p xmlns:a="http://schemas.openxmlformats.org/drawingml/2006/main">
            <a:r>
              <a:t>      ],</a:t>
            </a:r>
          </a:p>
          <a:p xmlns:a="http://schemas.openxmlformats.org/drawingml/2006/main">
            <a:r>
              <a:t>      "duties": [</a:t>
            </a:r>
          </a:p>
          <a:p xmlns:a="http://schemas.openxmlformats.org/drawingml/2006/main">
            <a:r>
              <a:t>        "23. 교통약자 이동편의실태조사 및 자료관리"</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"RULEWORK-1019020-23",</a:t>
            </a:r>
          </a:p>
          <a:p xmlns:a="http://schemas.openxmlformats.org/drawingml/2006/main">
            <a:r>
              <a:t>          "text": "23. 교통약자 이동편의실태조사 및 자료관리",</a:t>
            </a:r>
          </a:p>
          <a:p xmlns:a="http://schemas.openxmlformats.org/drawingml/2006/main">
            <a:r>
              <a:t>          "locator": "별표4 · T39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"RULEWORK-1019020-23-R01",</a:t>
            </a:r>
          </a:p>
          <a:p xmlns:a="http://schemas.openxmlformats.org/drawingml/2006/main">
            <a:r>
              <a:t>              "title": "업무 맥락·전용 지식 구성",</a:t>
            </a:r>
          </a:p>
          <a:p xmlns:a="http://schemas.openxmlformats.org/drawingml/2006/main">
            <a:r>
              <a:t>              "development": "대상·항목·분모·기간별 자료 정합성 점검",</a:t>
            </a:r>
          </a:p>
          <a:p xmlns:a="http://schemas.openxmlformats.org/drawingml/2006/main">
            <a:r>
              <a:t>              "output": "증빙·보완·분석·공표 검토자료",</a:t>
            </a:r>
          </a:p>
          <a:p xmlns:a="http://schemas.openxmlformats.org/drawingml/2006/main">
            <a:r>
              <a:t>              "testId": "RULEWORK-1019020-23-T01",</a:t>
            </a:r>
          </a:p>
          <a:p xmlns:a="http://schemas.openxmlformats.org/drawingml/2006/main">
            <a:r>
              <a:t>              "criterion": "표본·분모·단위·기간과 분석 결과 재현"</a:t>
            </a:r>
          </a:p>
          <a:p xmlns:a="http://schemas.openxmlformats.org/drawingml/2006/main">
            <a:r>
              <a:t>            },</a:t>
            </a:r>
          </a:p>
          <a:p xmlns:a="http://schemas.openxmlformats.org/drawingml/2006/main">
            <a:r>
              <a:t>            {</a:t>
            </a:r>
          </a:p>
          <a:p xmlns:a="http://schemas.openxmlformats.org/drawingml/2006/main">
            <a:r>
              <a:t>              "id": "RULEWORK-1019020-23-R02",</a:t>
            </a:r>
          </a:p>
          <a:p xmlns:a="http://schemas.openxmlformats.org/drawingml/2006/main">
            <a:r>
              <a:t>              "title": "업무건·역할·시스템 연결",</a:t>
            </a:r>
          </a:p>
          <a:p xmlns:a="http://schemas.openxmlformats.org/drawingml/2006/main">
            <a:r>
              <a:t>              "development": "조사 원장·원본 증빙·공표 판본 연결",</a:t>
            </a:r>
          </a:p>
          <a:p xmlns:a="http://schemas.openxmlformats.org/drawingml/2006/main">
            <a:r>
              <a:t>              "output": "업무건·원천·역할·변경 연결 명세",</a:t>
            </a:r>
          </a:p>
          <a:p xmlns:a="http://schemas.openxmlformats.org/drawingml/2006/main">
            <a:r>
              <a:t>              "testId": "RULEWORK-1019020-23-T02",</a:t>
            </a:r>
          </a:p>
          <a:p xmlns:a="http://schemas.openxmlformats.org/drawingml/2006/main">
            <a:r>
              <a:t>              "criterion": "공식 공표 승인·개인정보 제한 검증"</a:t>
            </a:r>
          </a:p>
          <a:p xmlns:a="http://schemas.openxmlformats.org/drawingml/2006/main">
            <a:r>
              <a:t>            },</a:t>
            </a:r>
          </a:p>
          <a:p xmlns:a="http://schemas.openxmlformats.org/drawingml/2006/main">
            <a:r>
              <a:t>            {</a:t>
            </a:r>
          </a:p>
          <a:p xmlns:a="http://schemas.openxmlformats.org/drawingml/2006/main">
            <a:r>
              <a:t>              "id": "RULEWORK-1019020-23-R03",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"RULEWORK-1019020-23-T03",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점검 기준 검색·요약"</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"Audin·JET의 증빙 검토·항목 구조화"</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"관할·대상 코드 사전",</a:t>
            </a:r>
          </a:p>
          <a:p xmlns:a="http://schemas.openxmlformats.org/drawingml/2006/main">
            <a:r>
              <a:t>    "점검항목–증거–조치 연결표"</a:t>
            </a:r>
          </a:p>
          <a:p xmlns:a="http://schemas.openxmlformats.org/drawingml/2006/main">
            <a:r>
              <a:t>  ],</a:t>
            </a:r>
          </a:p>
          <a:p xmlns:a="http://schemas.openxmlformats.org/drawingml/2006/main">
            <a:r>
              <a:t>  "acceptancePlan": {</a:t>
            </a:r>
          </a:p>
          <a:p xmlns:a="http://schemas.openxmlformats.org/drawingml/2006/main">
            <a:r>
              <a:t>    "sample": "기간·지역 불일치, 증빙 없는 완료 건 주입",</a:t>
            </a:r>
          </a:p>
          <a:p xmlns:a="http://schemas.openxmlformats.org/drawingml/2006/main">
            <a:r>
              <a:t>    "criterion": "원천 위치 표시·불일치 보류·미조치 유지",</a:t>
            </a:r>
          </a:p>
          <a:p xmlns:a="http://schemas.openxmlformats.org/drawingml/2006/main">
            <a:r>
              <a:t>    "evidence": "원천 대사표·누락 탐지 결과·검토 이력",</a:t>
            </a:r>
          </a:p>
          <a:p xmlns:a="http://schemas.openxmlformats.org/drawingml/2006/main">
            <a:r>
              <a:t>    "execution": "미실행"</a:t>
            </a:r>
          </a:p>
          <a:p xmlns:a="http://schemas.openxmlformats.org/drawingml/2006/main">
            <a:r>
              <a:t>  },</a:t>
            </a:r>
          </a:p>
          <a:p xmlns:a="http://schemas.openxmlformats.org/drawingml/2006/main">
            <a:r>
              <a:t>  "formula": "검토 완료시간 중앙값 / 미조치 탐지 건수 ÷ 실제 미조치 건수",</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a:t>
            </a:r>
          </a:p>
          <a:p xmlns:a="http://schemas.openxmlformats.org/drawingml/2006/main">
            <a:r>
              <a:t>CCK-01: NOA 사용자 가이드 확인. 설치본 기능시험 필요.</a:t>
            </a:r>
          </a:p>
          <a:p xmlns:a="http://schemas.openxmlformats.org/drawingml/2006/main">
            <a:r>
              <a:t>CCK-02/03: 명세 기반 재사용 후보. 실물 기능검증 필요.</a:t>
            </a:r>
          </a:p>
          <a:p xmlns:a="http://schemas.openxmlformats.org/drawingml/2006/main">
            <a:r>
              <a:t>기존 SSO·RAG·권한·로그·연계 범위 대조 후 추가분 산정.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"ST-02",</a:t>
            </a:r>
          </a:p>
          <a:p xmlns:a="http://schemas.openxmlformats.org/drawingml/2006/main">
            <a:r>
              <a:t>  "number": 2,</a:t>
            </a:r>
          </a:p>
          <a:p xmlns:a="http://schemas.openxmlformats.org/drawingml/2006/main">
            <a:r>
              <a:t>  "direction": "무결점 교통안전체계 조성",</a:t>
            </a:r>
          </a:p>
          <a:p xmlns:a="http://schemas.openxmlformats.org/drawingml/2006/main">
            <a:r>
              <a:t>  "strategy": "자동차 안전관리 및 소비자 권익 강화",</a:t>
            </a:r>
          </a:p>
          <a:p xmlns:a="http://schemas.openxmlformats.org/drawingml/2006/main">
            <a:r>
              <a:t>  "solution": "자동차 안전·소비자 업무지원",</a:t>
            </a:r>
          </a:p>
          <a:p xmlns:a="http://schemas.openxmlformats.org/drawingml/2006/main">
            <a:r>
              <a:t>  "lawIds": [</a:t>
            </a:r>
          </a:p>
          <a:p xmlns:a="http://schemas.openxmlformats.org/drawingml/2006/main">
            <a:r>
              <a:t>    "L06",</a:t>
            </a:r>
          </a:p>
          <a:p xmlns:a="http://schemas.openxmlformats.org/drawingml/2006/main">
            <a:r>
              <a:t>    "L07",</a:t>
            </a:r>
          </a:p>
          <a:p xmlns:a="http://schemas.openxmlformats.org/drawingml/2006/main">
            <a:r>
              <a:t>    "L09",</a:t>
            </a:r>
          </a:p>
          <a:p xmlns:a="http://schemas.openxmlformats.org/drawingml/2006/main">
            <a:r>
              <a:t>    "L10"</a:t>
            </a:r>
          </a:p>
          <a:p xmlns:a="http://schemas.openxmlformats.org/drawingml/2006/main">
            <a:r>
              <a:t>  ],</a:t>
            </a:r>
          </a:p>
          <a:p xmlns:a="http://schemas.openxmlformats.org/drawingml/2006/main">
            <a:r>
              <a:t>  "codes": [</a:t>
            </a:r>
          </a:p>
          <a:p xmlns:a="http://schemas.openxmlformats.org/drawingml/2006/main">
            <a:r>
              <a:t>    "1028070",</a:t>
            </a:r>
          </a:p>
          <a:p xmlns:a="http://schemas.openxmlformats.org/drawingml/2006/main">
            <a:r>
              <a:t>    "1028075",</a:t>
            </a:r>
          </a:p>
          <a:p xmlns:a="http://schemas.openxmlformats.org/drawingml/2006/main">
            <a:r>
              <a:t>    "7000000",</a:t>
            </a:r>
          </a:p>
          <a:p xmlns:a="http://schemas.openxmlformats.org/drawingml/2006/main">
            <a:r>
              <a:t>    "1019400"</a:t>
            </a:r>
          </a:p>
          <a:p xmlns:a="http://schemas.openxmlformats.org/drawingml/2006/main">
            <a:r>
              <a:t>  ],</a:t>
            </a:r>
          </a:p>
          <a:p xmlns:a="http://schemas.openxmlformats.org/drawingml/2006/main">
            <a:r>
              <a:t>  "work": "검사·튜닝·결함조사·이력 정보의 업무별 검토",</a:t>
            </a:r>
          </a:p>
          <a:p xmlns:a="http://schemas.openxmlformats.org/drawingml/2006/main">
            <a:r>
              <a:t>  "features": [</a:t>
            </a:r>
          </a:p>
          <a:p xmlns:a="http://schemas.openxmlformats.org/drawingml/2006/main">
            <a:r>
              <a:t>    "차량·사건·신청 유형별 검토자료 정리",</a:t>
            </a:r>
          </a:p>
          <a:p xmlns:a="http://schemas.openxmlformats.org/drawingml/2006/main">
            <a:r>
              <a:t>    "검사·연구·민원 부서 간 증빙 인계"</a:t>
            </a:r>
          </a:p>
          <a:p xmlns:a="http://schemas.openxmlformats.org/drawingml/2006/main">
            <a:r>
              <a:t>  ],</a:t>
            </a:r>
          </a:p>
          <a:p xmlns:a="http://schemas.openxmlformats.org/drawingml/2006/main">
            <a:r>
              <a:t>  "output": "차량별 검토표·보완 요청 초안",</a:t>
            </a:r>
          </a:p>
          <a:p xmlns:a="http://schemas.openxmlformats.org/drawingml/2006/main">
            <a:r>
              <a:t>  "acceptance": "동일 차량의 검사·결함·민원 맥락 분리 및 승인된 안내 근거 추적",</a:t>
            </a:r>
          </a:p>
          <a:p xmlns:a="http://schemas.openxmlformats.org/drawingml/2006/main">
            <a:r>
              <a:t>  "phase": "공통 기반 인수 후 부서별 적용",</a:t>
            </a:r>
          </a:p>
          <a:p xmlns:a="http://schemas.openxmlformats.org/drawingml/2006/main">
            <a:r>
              <a:t>  "packages": [</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"GAI-T04",</a:t>
            </a:r>
          </a:p>
          <a:p xmlns:a="http://schemas.openxmlformats.org/drawingml/2006/main">
            <a:r>
              <a:t>    "GAI-T06",</a:t>
            </a:r>
          </a:p>
          <a:p xmlns:a="http://schemas.openxmlformats.org/drawingml/2006/main">
            <a:r>
              <a:t>    "GAI-T07"</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"1028070",</a:t>
            </a:r>
          </a:p>
          <a:p xmlns:a="http://schemas.openxmlformats.org/drawingml/2006/main">
            <a:r>
              <a:t>      "name": "검사기획처",</a:t>
            </a:r>
          </a:p>
          <a:p xmlns:a="http://schemas.openxmlformats.org/drawingml/2006/main">
            <a:r>
              <a:t>      "job": "검사제도·품질 관리",</a:t>
            </a:r>
          </a:p>
          <a:p xmlns:a="http://schemas.openxmlformats.org/drawingml/2006/main">
            <a:r>
              <a:t>      "indices": [</a:t>
            </a:r>
          </a:p>
          <a:p xmlns:a="http://schemas.openxmlformats.org/drawingml/2006/main">
            <a:r>
              <a:t>        9,</a:t>
            </a:r>
          </a:p>
          <a:p xmlns:a="http://schemas.openxmlformats.org/drawingml/2006/main">
            <a:r>
              <a:t>        20</a:t>
            </a:r>
          </a:p>
          <a:p xmlns:a="http://schemas.openxmlformats.org/drawingml/2006/main">
            <a:r>
              <a:t>      ],</a:t>
            </a:r>
          </a:p>
          <a:p xmlns:a="http://schemas.openxmlformats.org/drawingml/2006/main">
            <a:r>
              <a:t>      "duties": [</a:t>
            </a:r>
          </a:p>
          <a:p xmlns:a="http://schemas.openxmlformats.org/drawingml/2006/main">
            <a:r>
              <a:t>        "10. 자동차검사 품질강화 및 공공성 강화 관련 업무",</a:t>
            </a:r>
          </a:p>
          <a:p xmlns:a="http://schemas.openxmlformats.org/drawingml/2006/main">
            <a:r>
              <a:t>        "21. 검사표준서비스, 검사프로세스 개선‧관리"</a:t>
            </a:r>
          </a:p>
          <a:p xmlns:a="http://schemas.openxmlformats.org/drawingml/2006/main">
            <a:r>
              <a:t>      ],</a:t>
            </a:r>
          </a:p>
          <a:p xmlns:a="http://schemas.openxmlformats.org/drawingml/2006/main">
            <a:r>
              <a:t>      "locator": "별표4 · T42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"1028075",</a:t>
            </a:r>
          </a:p>
          <a:p xmlns:a="http://schemas.openxmlformats.org/drawingml/2006/main">
            <a:r>
              <a:t>      "name": "기술승인처",</a:t>
            </a:r>
          </a:p>
          <a:p xmlns:a="http://schemas.openxmlformats.org/drawingml/2006/main">
            <a:r>
              <a:t>      "job": "튜닝 승인·검사",</a:t>
            </a:r>
          </a:p>
          <a:p xmlns:a="http://schemas.openxmlformats.org/drawingml/2006/main">
            <a:r>
              <a:t>      "indices": [</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"2. 튜닝승인 및 튜닝검사, 안전검사 등에 관한 업무"</a:t>
            </a:r>
          </a:p>
          <a:p xmlns:a="http://schemas.openxmlformats.org/drawingml/2006/main">
            <a:r>
              <a:t>      ],</a:t>
            </a:r>
          </a:p>
          <a:p xmlns:a="http://schemas.openxmlformats.org/drawingml/2006/main">
            <a:r>
              <a:t>      "locator": "별표4 · T44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"7000000",</a:t>
            </a:r>
          </a:p>
          <a:p xmlns:a="http://schemas.openxmlformats.org/drawingml/2006/main">
            <a:r>
              <a:t>      "name": "자동차안전연구원",</a:t>
            </a:r>
          </a:p>
          <a:p xmlns:a="http://schemas.openxmlformats.org/drawingml/2006/main">
            <a:r>
              <a:t>      "job": "제작결함 조사·안전도평가",</a:t>
            </a:r>
          </a:p>
          <a:p xmlns:a="http://schemas.openxmlformats.org/drawingml/2006/main">
            <a:r>
              <a:t>      "indices": [],</a:t>
            </a:r>
          </a:p>
          <a:p xmlns:a="http://schemas.openxmlformats.org/drawingml/2006/main">
            <a:r>
              <a:t>      "duties": [],</a:t>
            </a:r>
          </a:p>
          <a:p xmlns:a="http://schemas.openxmlformats.org/drawingml/2006/main">
            <a:r>
              <a:t>      "locator": "자동차안전연구원 별도 직제시행세칙 대조 대상",</a:t>
            </a:r>
          </a:p>
          <a:p xmlns:a="http://schemas.openxmlformats.org/drawingml/2006/main">
            <a:r>
              <a:t>      "restriction": "별표4 부설기관: 자동차안전연구원 직제시행세칙에 따름 · 하부조직·직무·업무분장 별도 확인 필요",</a:t>
            </a:r>
          </a:p>
          <a:p xmlns:a="http://schemas.openxmlformats.org/drawingml/2006/main">
            <a:r>
              <a:t>      "status": "법령·업무 원장 기반 요약 / 세부 직제 확인"</a:t>
            </a:r>
          </a:p>
          <a:p xmlns:a="http://schemas.openxmlformats.org/drawingml/2006/main">
            <a:r>
              <a:t>    },</a:t>
            </a:r>
          </a:p>
          <a:p xmlns:a="http://schemas.openxmlformats.org/drawingml/2006/main">
            <a:r>
              <a:t>    {</a:t>
            </a:r>
          </a:p>
          <a:p xmlns:a="http://schemas.openxmlformats.org/drawingml/2006/main">
            <a:r>
              <a:t>      "code": "1019400",</a:t>
            </a:r>
          </a:p>
          <a:p xmlns:a="http://schemas.openxmlformats.org/drawingml/2006/main">
            <a:r>
              <a:t>      "name": "자동차정보처",</a:t>
            </a:r>
          </a:p>
          <a:p xmlns:a="http://schemas.openxmlformats.org/drawingml/2006/main">
            <a:r>
              <a:t>      "job": "자동차 이력·정보 관리",</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자동차토털이력관리시스템 운영",</a:t>
            </a:r>
          </a:p>
          <a:p xmlns:a="http://schemas.openxmlformats.org/drawingml/2006/main">
            <a:r>
              <a:t>        "8. 자동차정보 통합서비스 제공 업무"</a:t>
            </a:r>
          </a:p>
          <a:p xmlns:a="http://schemas.openxmlformats.org/drawingml/2006/main">
            <a:r>
              <a:t>      ],</a:t>
            </a:r>
          </a:p>
          <a:p xmlns:a="http://schemas.openxmlformats.org/drawingml/2006/main">
            <a:r>
              <a:t>      "locator": "별표4 · T37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"연결 법령의 해당 사무 + 참여 부서별 별표4 업무분장 / 개인별 전결·권한의 별도 매핑",</a:t>
            </a:r>
          </a:p>
          <a:p xmlns:a="http://schemas.openxmlformats.org/drawingml/2006/main">
            <a:r>
              <a:t>  "caseRefs": [</a:t>
            </a:r>
          </a:p>
          <a:p xmlns:a="http://schemas.openxmlformats.org/drawingml/2006/main">
            <a:r>
              <a:t>    {</a:t>
            </a:r>
          </a:p>
          <a:p xmlns:a="http://schemas.openxmlformats.org/drawingml/2006/main">
            <a:r>
              <a:t>      "caseId": "AX09",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"AX07",</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"AX16",</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"AX17",</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"검사·소비자 권익 검토 지원",</a:t>
            </a:r>
          </a:p>
          <a:p xmlns:a="http://schemas.openxmlformats.org/drawingml/2006/main">
            <a:r>
              <a:t>  "delta": "검사 기준 판본·차량·증빙 대조",</a:t>
            </a:r>
          </a:p>
          <a:p xmlns:a="http://schemas.openxmlformats.org/drawingml/2006/main">
            <a:r>
              <a:t>  "kpi": "검토 누락률 / 보완 소요시간",</a:t>
            </a:r>
          </a:p>
          <a:p xmlns:a="http://schemas.openxmlformats.org/drawingml/2006/main">
            <a:r>
              <a:t>  "validation": "불완전 증빙의 자동 확정 차단",</a:t>
            </a:r>
          </a:p>
          <a:p xmlns:a="http://schemas.openxmlformats.org/drawingml/2006/main">
            <a:r>
              <a:t>  "requirement": "BM-ST-02-R01",</a:t>
            </a:r>
          </a:p>
          <a:p xmlns:a="http://schemas.openxmlformats.org/drawingml/2006/main">
            <a:r>
              <a:t>  "test": "BM-ST-02-T01",</a:t>
            </a:r>
          </a:p>
          <a:p xmlns:a="http://schemas.openxmlformats.org/drawingml/2006/main">
            <a:r>
              <a:t>  "effectStatus": "기대 방향 · TS 실측 전",</a:t>
            </a:r>
          </a:p>
          <a:p xmlns:a="http://schemas.openxmlformats.org/drawingml/2006/main">
            <a:r>
              <a:t>  "effect": "보완 반복·검토 누락 감소",</a:t>
            </a:r>
          </a:p>
          <a:p xmlns:a="http://schemas.openxmlformats.org/drawingml/2006/main">
            <a:r>
              <a:t>  "reuse": "ON27-BASE / C27-COM + CCK 재사용 판정 기능",</a:t>
            </a:r>
          </a:p>
          <a:p xmlns:a="http://schemas.openxmlformats.org/drawingml/2006/main">
            <a:r>
              <a:t>  "input": "차량·신청 ID, 검사·튜닝 기준 판본, 보완서류",</a:t>
            </a:r>
          </a:p>
          <a:p xmlns:a="http://schemas.openxmlformats.org/drawingml/2006/main">
            <a:r>
              <a:t>  "steps": [</a:t>
            </a:r>
          </a:p>
          <a:p xmlns:a="http://schemas.openxmlformats.org/drawingml/2006/main">
            <a:r>
              <a:t>    "업무 유형·차량 식별",</a:t>
            </a:r>
          </a:p>
          <a:p xmlns:a="http://schemas.openxmlformats.org/drawingml/2006/main">
            <a:r>
              <a:t>    "적용 기준 판본 선택",</a:t>
            </a:r>
          </a:p>
          <a:p xmlns:a="http://schemas.openxmlformats.org/drawingml/2006/main">
            <a:r>
              <a:t>    "필수 증빙 대조",</a:t>
            </a:r>
          </a:p>
          <a:p xmlns:a="http://schemas.openxmlformats.org/drawingml/2006/main">
            <a:r>
              <a:t>    "검사·민원 담당 인계"</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"1028070",</a:t>
            </a:r>
          </a:p>
          <a:p xmlns:a="http://schemas.openxmlformats.org/drawingml/2006/main">
            <a:r>
              <a:t>      "name": "검사기획처",</a:t>
            </a:r>
          </a:p>
          <a:p xmlns:a="http://schemas.openxmlformats.org/drawingml/2006/main">
            <a:r>
              <a:t>      "job": "검사제도·품질 관리",</a:t>
            </a:r>
          </a:p>
          <a:p xmlns:a="http://schemas.openxmlformats.org/drawingml/2006/main">
            <a:r>
              <a:t>      "indices": [</a:t>
            </a:r>
          </a:p>
          <a:p xmlns:a="http://schemas.openxmlformats.org/drawingml/2006/main">
            <a:r>
              <a:t>        9,</a:t>
            </a:r>
          </a:p>
          <a:p xmlns:a="http://schemas.openxmlformats.org/drawingml/2006/main">
            <a:r>
              <a:t>        20</a:t>
            </a:r>
          </a:p>
          <a:p xmlns:a="http://schemas.openxmlformats.org/drawingml/2006/main">
            <a:r>
              <a:t>      ],</a:t>
            </a:r>
          </a:p>
          <a:p xmlns:a="http://schemas.openxmlformats.org/drawingml/2006/main">
            <a:r>
              <a:t>      "duties": [</a:t>
            </a:r>
          </a:p>
          <a:p xmlns:a="http://schemas.openxmlformats.org/drawingml/2006/main">
            <a:r>
              <a:t>        "10. 자동차검사 품질강화 및 공공성 강화 관련 업무",</a:t>
            </a:r>
          </a:p>
          <a:p xmlns:a="http://schemas.openxmlformats.org/drawingml/2006/main">
            <a:r>
              <a:t>        "21. 검사표준서비스, 검사프로세스 개선‧관리"</a:t>
            </a:r>
          </a:p>
          <a:p xmlns:a="http://schemas.openxmlformats.org/drawingml/2006/main">
            <a:r>
              <a:t>      ],</a:t>
            </a:r>
          </a:p>
          <a:p xmlns:a="http://schemas.openxmlformats.org/drawingml/2006/main">
            <a:r>
              <a:t>      "locator": "별표4 · T42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"RULEWORK-1028070-10",</a:t>
            </a:r>
          </a:p>
          <a:p xmlns:a="http://schemas.openxmlformats.org/drawingml/2006/main">
            <a:r>
              <a:t>          "text": "10. 자동차검사 품질강화 및 공공성 강화 관련 업무",</a:t>
            </a:r>
          </a:p>
          <a:p xmlns:a="http://schemas.openxmlformats.org/drawingml/2006/main">
            <a:r>
              <a:t>          "locator": "별표4 · T42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"RULEWORK-1028070-10-R01",</a:t>
            </a:r>
          </a:p>
          <a:p xmlns:a="http://schemas.openxmlformats.org/drawingml/2006/main">
            <a:r>
              <a:t>              "title": "업무 맥락·전용 지식 구성",</a:t>
            </a:r>
          </a:p>
          <a:p xmlns:a="http://schemas.openxmlformats.org/drawingml/2006/main">
            <a:r>
              <a:t>              "development": "차량·변경 유형별 기준·제출자료 선택",</a:t>
            </a:r>
          </a:p>
          <a:p xmlns:a="http://schemas.openxmlformats.org/drawingml/2006/main">
            <a:r>
              <a:t>              "output": "요건 대조표·보완·검사 인계 기록",</a:t>
            </a:r>
          </a:p>
          <a:p xmlns:a="http://schemas.openxmlformats.org/drawingml/2006/main">
            <a:r>
              <a:t>              "testId": "RULEWORK-1028070-10-T01",</a:t>
            </a:r>
          </a:p>
          <a:p xmlns:a="http://schemas.openxmlformats.org/drawingml/2006/main">
            <a:r>
              <a:t>              "criterion": "누락·상충·판본별 요건 정답셋 대조"</a:t>
            </a:r>
          </a:p>
          <a:p xmlns:a="http://schemas.openxmlformats.org/drawingml/2006/main">
            <a:r>
              <a:t>            },</a:t>
            </a:r>
          </a:p>
          <a:p xmlns:a="http://schemas.openxmlformats.org/drawingml/2006/main">
            <a:r>
              <a:t>            {</a:t>
            </a:r>
          </a:p>
          <a:p xmlns:a="http://schemas.openxmlformats.org/drawingml/2006/main">
            <a:r>
              <a:t>              "id": "RULEWORK-1028070-10-R02",</a:t>
            </a:r>
          </a:p>
          <a:p xmlns:a="http://schemas.openxmlformats.org/drawingml/2006/main">
            <a:r>
              <a:t>              "title": "업무건·역할·시스템 연결",</a:t>
            </a:r>
          </a:p>
          <a:p xmlns:a="http://schemas.openxmlformats.org/drawingml/2006/main">
            <a:r>
              <a:t>              "development": "신청–보완–검사–결과의 업무건·판본 연결",</a:t>
            </a:r>
          </a:p>
          <a:p xmlns:a="http://schemas.openxmlformats.org/drawingml/2006/main">
            <a:r>
              <a:t>              "output": "업무건·원천·역할·변경 연결 명세",</a:t>
            </a:r>
          </a:p>
          <a:p xmlns:a="http://schemas.openxmlformats.org/drawingml/2006/main">
            <a:r>
              <a:t>              "testId": "RULEWORK-1028070-10-T02",</a:t>
            </a:r>
          </a:p>
          <a:p xmlns:a="http://schemas.openxmlformats.org/drawingml/2006/main">
            <a:r>
              <a:t>              "criterion": "문서 검토와 현장 검사·공식 판정의 구분"</a:t>
            </a:r>
          </a:p>
          <a:p xmlns:a="http://schemas.openxmlformats.org/drawingml/2006/main">
            <a:r>
              <a:t>            },</a:t>
            </a:r>
          </a:p>
          <a:p xmlns:a="http://schemas.openxmlformats.org/drawingml/2006/main">
            <a:r>
              <a:t>            {</a:t>
            </a:r>
          </a:p>
          <a:p xmlns:a="http://schemas.openxmlformats.org/drawingml/2006/main">
            <a:r>
              <a:t>              "id": "RULEWORK-1028070-10-R03",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"RULEWORK-1028070-10-T03",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"RULEWORK-1028070-21",</a:t>
            </a:r>
          </a:p>
          <a:p xmlns:a="http://schemas.openxmlformats.org/drawingml/2006/main">
            <a:r>
              <a:t>          "text": "21. 검사표준서비스, 검사프로세스 개선‧관리",</a:t>
            </a:r>
          </a:p>
          <a:p xmlns:a="http://schemas.openxmlformats.org/drawingml/2006/main">
            <a:r>
              <a:t>          "locator": "별표4 · T42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"RULEWORK-1028070-21-R01",</a:t>
            </a:r>
          </a:p>
          <a:p xmlns:a="http://schemas.openxmlformats.org/drawingml/2006/main">
            <a:r>
              <a:t>              "title": "업무 맥락·전용 지식 구성",</a:t>
            </a:r>
          </a:p>
          <a:p xmlns:a="http://schemas.openxmlformats.org/drawingml/2006/main">
            <a:r>
              <a:t>              "development": "차량·변경 유형별 기준·제출자료 선택",</a:t>
            </a:r>
          </a:p>
          <a:p xmlns:a="http://schemas.openxmlformats.org/drawingml/2006/main">
            <a:r>
              <a:t>              "output": "요건 대조표·보완·검사 인계 기록",</a:t>
            </a:r>
          </a:p>
          <a:p xmlns:a="http://schemas.openxmlformats.org/drawingml/2006/main">
            <a:r>
              <a:t>              "testId": "RULEWORK-1028070-21-T01",</a:t>
            </a:r>
          </a:p>
          <a:p xmlns:a="http://schemas.openxmlformats.org/drawingml/2006/main">
            <a:r>
              <a:t>              "criterion": "누락·상충·판본별 요건 정답셋 대조"</a:t>
            </a:r>
          </a:p>
          <a:p xmlns:a="http://schemas.openxmlformats.org/drawingml/2006/main">
            <a:r>
              <a:t>            },</a:t>
            </a:r>
          </a:p>
          <a:p xmlns:a="http://schemas.openxmlformats.org/drawingml/2006/main">
            <a:r>
              <a:t>            {</a:t>
            </a:r>
          </a:p>
          <a:p xmlns:a="http://schemas.openxmlformats.org/drawingml/2006/main">
            <a:r>
              <a:t>              "id": "RULEWORK-1028070-21-R02",</a:t>
            </a:r>
          </a:p>
          <a:p xmlns:a="http://schemas.openxmlformats.org/drawingml/2006/main">
            <a:r>
              <a:t>              "title": "업무건·역할·시스템 연결",</a:t>
            </a:r>
          </a:p>
          <a:p xmlns:a="http://schemas.openxmlformats.org/drawingml/2006/main">
            <a:r>
              <a:t>              "development": "신청–보완–검사–결과의 업무건·판본 연결",</a:t>
            </a:r>
          </a:p>
          <a:p xmlns:a="http://schemas.openxmlformats.org/drawingml/2006/main">
            <a:r>
              <a:t>              "output": "업무건·원천·역할·변경 연결 명세",</a:t>
            </a:r>
          </a:p>
          <a:p xmlns:a="http://schemas.openxmlformats.org/drawingml/2006/main">
            <a:r>
              <a:t>              "testId": "RULEWORK-1028070-21-T02",</a:t>
            </a:r>
          </a:p>
          <a:p xmlns:a="http://schemas.openxmlformats.org/drawingml/2006/main">
            <a:r>
              <a:t>              "criterion": "문서 검토와 현장 검사·공식 판정의 구분"</a:t>
            </a:r>
          </a:p>
          <a:p xmlns:a="http://schemas.openxmlformats.org/drawingml/2006/main">
            <a:r>
              <a:t>            },</a:t>
            </a:r>
          </a:p>
          <a:p xmlns:a="http://schemas.openxmlformats.org/drawingml/2006/main">
            <a:r>
              <a:t>            {</a:t>
            </a:r>
          </a:p>
          <a:p xmlns:a="http://schemas.openxmlformats.org/drawingml/2006/main">
            <a:r>
              <a:t>              "id": "RULEWORK-1028070-21-R03",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"RULEWORK-1028070-21-T03",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"1028075",</a:t>
            </a:r>
          </a:p>
          <a:p xmlns:a="http://schemas.openxmlformats.org/drawingml/2006/main">
            <a:r>
              <a:t>      "name": "기술승인처",</a:t>
            </a:r>
          </a:p>
          <a:p xmlns:a="http://schemas.openxmlformats.org/drawingml/2006/main">
            <a:r>
              <a:t>      "job": "튜닝 승인·검사",</a:t>
            </a:r>
          </a:p>
          <a:p xmlns:a="http://schemas.openxmlformats.org/drawingml/2006/main">
            <a:r>
              <a:t>      "indices": [</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"2. 튜닝승인 및 튜닝검사, 안전검사 등에 관한 업무"</a:t>
            </a:r>
          </a:p>
          <a:p xmlns:a="http://schemas.openxmlformats.org/drawingml/2006/main">
            <a:r>
              <a:t>      ],</a:t>
            </a:r>
          </a:p>
          <a:p xmlns:a="http://schemas.openxmlformats.org/drawingml/2006/main">
            <a:r>
              <a:t>      "locator": "별표4 · T44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"RULEWORK-1028075-2",</a:t>
            </a:r>
          </a:p>
          <a:p xmlns:a="http://schemas.openxmlformats.org/drawingml/2006/main">
            <a:r>
              <a:t>          "text": "2. 튜닝승인 및 튜닝검사, 안전검사 등에 관한 업무",</a:t>
            </a:r>
          </a:p>
          <a:p xmlns:a="http://schemas.openxmlformats.org/drawingml/2006/main">
            <a:r>
              <a:t>          "locator": "별표4 · T44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"RULEWORK-1028075-2-R01",</a:t>
            </a:r>
          </a:p>
          <a:p xmlns:a="http://schemas.openxmlformats.org/drawingml/2006/main">
            <a:r>
              <a:t>              "title": "업무 맥락·전용 지식 구성",</a:t>
            </a:r>
          </a:p>
          <a:p xmlns:a="http://schemas.openxmlformats.org/drawingml/2006/main">
            <a:r>
              <a:t>              "development": "차량·변경 유형별 기준·제출자료 선택",</a:t>
            </a:r>
          </a:p>
          <a:p xmlns:a="http://schemas.openxmlformats.org/drawingml/2006/main">
            <a:r>
              <a:t>              "output": "요건 대조표·보완·검사 인계 기록",</a:t>
            </a:r>
          </a:p>
          <a:p xmlns:a="http://schemas.openxmlformats.org/drawingml/2006/main">
            <a:r>
              <a:t>              "testId": "RULEWORK-1028075-2-T01",</a:t>
            </a:r>
          </a:p>
          <a:p xmlns:a="http://schemas.openxmlformats.org/drawingml/2006/main">
            <a:r>
              <a:t>              "criterion": "누락·상충·판본별 요건 정답셋 대조"</a:t>
            </a:r>
          </a:p>
          <a:p xmlns:a="http://schemas.openxmlformats.org/drawingml/2006/main">
            <a:r>
              <a:t>            },</a:t>
            </a:r>
          </a:p>
          <a:p xmlns:a="http://schemas.openxmlformats.org/drawingml/2006/main">
            <a:r>
              <a:t>            {</a:t>
            </a:r>
          </a:p>
          <a:p xmlns:a="http://schemas.openxmlformats.org/drawingml/2006/main">
            <a:r>
              <a:t>              "id": "RULEWORK-1028075-2-R02",</a:t>
            </a:r>
          </a:p>
          <a:p xmlns:a="http://schemas.openxmlformats.org/drawingml/2006/main">
            <a:r>
              <a:t>              "title": "업무건·역할·시스템 연결",</a:t>
            </a:r>
          </a:p>
          <a:p xmlns:a="http://schemas.openxmlformats.org/drawingml/2006/main">
            <a:r>
              <a:t>              "development": "신청–보완–검사–결과의 업무건·판본 연결",</a:t>
            </a:r>
          </a:p>
          <a:p xmlns:a="http://schemas.openxmlformats.org/drawingml/2006/main">
            <a:r>
              <a:t>              "output": "업무건·원천·역할·변경 연결 명세",</a:t>
            </a:r>
          </a:p>
          <a:p xmlns:a="http://schemas.openxmlformats.org/drawingml/2006/main">
            <a:r>
              <a:t>              "testId": "RULEWORK-1028075-2-T02",</a:t>
            </a:r>
          </a:p>
          <a:p xmlns:a="http://schemas.openxmlformats.org/drawingml/2006/main">
            <a:r>
              <a:t>              "criterion": "문서 검토와 현장 검사·공식 판정의 구분"</a:t>
            </a:r>
          </a:p>
          <a:p xmlns:a="http://schemas.openxmlformats.org/drawingml/2006/main">
            <a:r>
              <a:t>            },</a:t>
            </a:r>
          </a:p>
          <a:p xmlns:a="http://schemas.openxmlformats.org/drawingml/2006/main">
            <a:r>
              <a:t>            {</a:t>
            </a:r>
          </a:p>
          <a:p xmlns:a="http://schemas.openxmlformats.org/drawingml/2006/main">
            <a:r>
              <a:t>              "id": "RULEWORK-1028075-2-R03",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"RULEWORK-1028075-2-T03",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"7000000",</a:t>
            </a:r>
          </a:p>
          <a:p xmlns:a="http://schemas.openxmlformats.org/drawingml/2006/main">
            <a:r>
              <a:t>      "name": "자동차안전연구원",</a:t>
            </a:r>
          </a:p>
          <a:p xmlns:a="http://schemas.openxmlformats.org/drawingml/2006/main">
            <a:r>
              <a:t>      "job": "제작결함 조사·안전도평가",</a:t>
            </a:r>
          </a:p>
          <a:p xmlns:a="http://schemas.openxmlformats.org/drawingml/2006/main">
            <a:r>
              <a:t>      "indices": [],</a:t>
            </a:r>
          </a:p>
          <a:p xmlns:a="http://schemas.openxmlformats.org/drawingml/2006/main">
            <a:r>
              <a:t>      "duties": [],</a:t>
            </a:r>
          </a:p>
          <a:p xmlns:a="http://schemas.openxmlformats.org/drawingml/2006/main">
            <a:r>
              <a:t>      "locator": "자동차안전연구원 별도 직제시행세칙 대조 대상",</a:t>
            </a:r>
          </a:p>
          <a:p xmlns:a="http://schemas.openxmlformats.org/drawingml/2006/main">
            <a:r>
              <a:t>      "restriction": "별표4 부설기관: 자동차안전연구원 직제시행세칙에 따름 · 하부조직·직무·업무분장 별도 확인 필요",</a:t>
            </a:r>
          </a:p>
          <a:p xmlns:a="http://schemas.openxmlformats.org/drawingml/2006/main">
            <a:r>
              <a:t>      "status": "법령·업무 원장 기반 요약 / 세부 직제 확인",</a:t>
            </a:r>
          </a:p>
          <a:p xmlns:a="http://schemas.openxmlformats.org/drawingml/2006/main">
            <a:r>
              <a:t>      "workItems": []</a:t>
            </a:r>
          </a:p>
          <a:p xmlns:a="http://schemas.openxmlformats.org/drawingml/2006/main">
            <a:r>
              <a:t>    },</a:t>
            </a:r>
          </a:p>
          <a:p xmlns:a="http://schemas.openxmlformats.org/drawingml/2006/main">
            <a:r>
              <a:t>    {</a:t>
            </a:r>
          </a:p>
          <a:p xmlns:a="http://schemas.openxmlformats.org/drawingml/2006/main">
            <a:r>
              <a:t>      "code": "1019400",</a:t>
            </a:r>
          </a:p>
          <a:p xmlns:a="http://schemas.openxmlformats.org/drawingml/2006/main">
            <a:r>
              <a:t>      "name": "자동차정보처",</a:t>
            </a:r>
          </a:p>
          <a:p xmlns:a="http://schemas.openxmlformats.org/drawingml/2006/main">
            <a:r>
              <a:t>      "job": "자동차 이력·정보 관리",</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자동차토털이력관리시스템 운영",</a:t>
            </a:r>
          </a:p>
          <a:p xmlns:a="http://schemas.openxmlformats.org/drawingml/2006/main">
            <a:r>
              <a:t>        "8. 자동차정보 통합서비스 제공 업무"</a:t>
            </a:r>
          </a:p>
          <a:p xmlns:a="http://schemas.openxmlformats.org/drawingml/2006/main">
            <a:r>
              <a:t>      ],</a:t>
            </a:r>
          </a:p>
          <a:p xmlns:a="http://schemas.openxmlformats.org/drawingml/2006/main">
            <a:r>
              <a:t>      "locator": "별표4 · T37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"RULEWORK-1019400-3",</a:t>
            </a:r>
          </a:p>
          <a:p xmlns:a="http://schemas.openxmlformats.org/drawingml/2006/main">
            <a:r>
              <a:t>          "text": "3. 자동차토털이력관리시스템 운영",</a:t>
            </a:r>
          </a:p>
          <a:p xmlns:a="http://schemas.openxmlformats.org/drawingml/2006/main">
            <a:r>
              <a:t>          "locator": "별표4 · T37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"RULEWORK-1019400-3-R01",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"RULEWORK-1019400-3-T01",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"RULEWORK-1019400-3-R02",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"RULEWORK-1019400-3-T02",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"RULEWORK-1019400-3-R03",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"RULEWORK-1019400-3-T03",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"RULEWORK-1019400-8",</a:t>
            </a:r>
          </a:p>
          <a:p xmlns:a="http://schemas.openxmlformats.org/drawingml/2006/main">
            <a:r>
              <a:t>          "text": "8. 자동차정보 통합서비스 제공 업무",</a:t>
            </a:r>
          </a:p>
          <a:p xmlns:a="http://schemas.openxmlformats.org/drawingml/2006/main">
            <a:r>
              <a:t>          "locator": "별표4 · T37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"RULEWORK-1019400-8-R01",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"RULEWORK-1019400-8-T01",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"RULEWORK-1019400-8-R02",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"RULEWORK-1019400-8-T02",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"RULEWORK-1019400-8-R03",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"RULEWORK-1019400-8-T03",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기준 검색·서식 초안"</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"Audin·Foundry의 근거 검토·절차 구성"</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"차량–검사–민원 사건 연결 명세",</a:t>
            </a:r>
          </a:p>
          <a:p xmlns:a="http://schemas.openxmlformats.org/drawingml/2006/main">
            <a:r>
              <a:t>    "기준 개정·신청일 판정 규칙"</a:t>
            </a:r>
          </a:p>
          <a:p xmlns:a="http://schemas.openxmlformats.org/drawingml/2006/main">
            <a:r>
              <a:t>  ],</a:t>
            </a:r>
          </a:p>
          <a:p xmlns:a="http://schemas.openxmlformats.org/drawingml/2006/main">
            <a:r>
              <a:t>  "acceptancePlan": {</a:t>
            </a:r>
          </a:p>
          <a:p xmlns:a="http://schemas.openxmlformats.org/drawingml/2006/main">
            <a:r>
              <a:t>    "sample": "개정 전후 신청, 다른 차량 증빙, 누락서류 주입",</a:t>
            </a:r>
          </a:p>
          <a:p xmlns:a="http://schemas.openxmlformats.org/drawingml/2006/main">
            <a:r>
              <a:t>    "criterion": "해당 판본·차량 일치·불완전 건 승인 보류",</a:t>
            </a:r>
          </a:p>
          <a:p xmlns:a="http://schemas.openxmlformats.org/drawingml/2006/main">
            <a:r>
              <a:t>    "evidence": "판본 대조표·보완 목록·승인 차단 로그",</a:t>
            </a:r>
          </a:p>
          <a:p xmlns:a="http://schemas.openxmlformats.org/drawingml/2006/main">
            <a:r>
              <a:t>    "execution": "미실행"</a:t>
            </a:r>
          </a:p>
          <a:p xmlns:a="http://schemas.openxmlformats.org/drawingml/2006/main">
            <a:r>
              <a:t>  },</a:t>
            </a:r>
          </a:p>
          <a:p xmlns:a="http://schemas.openxmlformats.org/drawingml/2006/main">
            <a:r>
              <a:t>  "formula": "업무건당 보완 횟수 / 필수 증빙 누락 건수 ÷ 평가 건수",</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"PF-R01"</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"ST-02",</a:t>
            </a:r>
          </a:p>
          <a:p xmlns:a="http://schemas.openxmlformats.org/drawingml/2006/main">
            <a:r>
              <a:t>  "number": 2,</a:t>
            </a:r>
          </a:p>
          <a:p xmlns:a="http://schemas.openxmlformats.org/drawingml/2006/main">
            <a:r>
              <a:t>  "direction": "무결점 교통안전체계 조성",</a:t>
            </a:r>
          </a:p>
          <a:p xmlns:a="http://schemas.openxmlformats.org/drawingml/2006/main">
            <a:r>
              <a:t>  "strategy": "자동차 안전관리 및 소비자 권익 강화",</a:t>
            </a:r>
          </a:p>
          <a:p xmlns:a="http://schemas.openxmlformats.org/drawingml/2006/main">
            <a:r>
              <a:t>  "solution": "자동차 안전·소비자 업무지원",</a:t>
            </a:r>
          </a:p>
          <a:p xmlns:a="http://schemas.openxmlformats.org/drawingml/2006/main">
            <a:r>
              <a:t>  "lawIds": [</a:t>
            </a:r>
          </a:p>
          <a:p xmlns:a="http://schemas.openxmlformats.org/drawingml/2006/main">
            <a:r>
              <a:t>    "L06",</a:t>
            </a:r>
          </a:p>
          <a:p xmlns:a="http://schemas.openxmlformats.org/drawingml/2006/main">
            <a:r>
              <a:t>    "L07",</a:t>
            </a:r>
          </a:p>
          <a:p xmlns:a="http://schemas.openxmlformats.org/drawingml/2006/main">
            <a:r>
              <a:t>    "L09",</a:t>
            </a:r>
          </a:p>
          <a:p xmlns:a="http://schemas.openxmlformats.org/drawingml/2006/main">
            <a:r>
              <a:t>    "L10"</a:t>
            </a:r>
          </a:p>
          <a:p xmlns:a="http://schemas.openxmlformats.org/drawingml/2006/main">
            <a:r>
              <a:t>  ],</a:t>
            </a:r>
          </a:p>
          <a:p xmlns:a="http://schemas.openxmlformats.org/drawingml/2006/main">
            <a:r>
              <a:t>  "codes": [</a:t>
            </a:r>
          </a:p>
          <a:p xmlns:a="http://schemas.openxmlformats.org/drawingml/2006/main">
            <a:r>
              <a:t>    "1028070",</a:t>
            </a:r>
          </a:p>
          <a:p xmlns:a="http://schemas.openxmlformats.org/drawingml/2006/main">
            <a:r>
              <a:t>    "1028075",</a:t>
            </a:r>
          </a:p>
          <a:p xmlns:a="http://schemas.openxmlformats.org/drawingml/2006/main">
            <a:r>
              <a:t>    "7000000",</a:t>
            </a:r>
          </a:p>
          <a:p xmlns:a="http://schemas.openxmlformats.org/drawingml/2006/main">
            <a:r>
              <a:t>    "1019400"</a:t>
            </a:r>
          </a:p>
          <a:p xmlns:a="http://schemas.openxmlformats.org/drawingml/2006/main">
            <a:r>
              <a:t>  ],</a:t>
            </a:r>
          </a:p>
          <a:p xmlns:a="http://schemas.openxmlformats.org/drawingml/2006/main">
            <a:r>
              <a:t>  "work": "검사·튜닝·결함조사·이력 정보의 업무별 검토",</a:t>
            </a:r>
          </a:p>
          <a:p xmlns:a="http://schemas.openxmlformats.org/drawingml/2006/main">
            <a:r>
              <a:t>  "features": [</a:t>
            </a:r>
          </a:p>
          <a:p xmlns:a="http://schemas.openxmlformats.org/drawingml/2006/main">
            <a:r>
              <a:t>    "차량·사건·신청 유형별 검토자료 정리",</a:t>
            </a:r>
          </a:p>
          <a:p xmlns:a="http://schemas.openxmlformats.org/drawingml/2006/main">
            <a:r>
              <a:t>    "검사·연구·민원 부서 간 증빙 인계"</a:t>
            </a:r>
          </a:p>
          <a:p xmlns:a="http://schemas.openxmlformats.org/drawingml/2006/main">
            <a:r>
              <a:t>  ],</a:t>
            </a:r>
          </a:p>
          <a:p xmlns:a="http://schemas.openxmlformats.org/drawingml/2006/main">
            <a:r>
              <a:t>  "output": "차량별 검토표·보완 요청 초안",</a:t>
            </a:r>
          </a:p>
          <a:p xmlns:a="http://schemas.openxmlformats.org/drawingml/2006/main">
            <a:r>
              <a:t>  "acceptance": "동일 차량의 검사·결함·민원 맥락 분리 및 승인된 안내 근거 추적",</a:t>
            </a:r>
          </a:p>
          <a:p xmlns:a="http://schemas.openxmlformats.org/drawingml/2006/main">
            <a:r>
              <a:t>  "phase": "공통 기반 인수 후 부서별 적용",</a:t>
            </a:r>
          </a:p>
          <a:p xmlns:a="http://schemas.openxmlformats.org/drawingml/2006/main">
            <a:r>
              <a:t>  "packages": [</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"GAI-T04",</a:t>
            </a:r>
          </a:p>
          <a:p xmlns:a="http://schemas.openxmlformats.org/drawingml/2006/main">
            <a:r>
              <a:t>    "GAI-T06",</a:t>
            </a:r>
          </a:p>
          <a:p xmlns:a="http://schemas.openxmlformats.org/drawingml/2006/main">
            <a:r>
              <a:t>    "GAI-T07"</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"1028070",</a:t>
            </a:r>
          </a:p>
          <a:p xmlns:a="http://schemas.openxmlformats.org/drawingml/2006/main">
            <a:r>
              <a:t>      "name": "검사기획처",</a:t>
            </a:r>
          </a:p>
          <a:p xmlns:a="http://schemas.openxmlformats.org/drawingml/2006/main">
            <a:r>
              <a:t>      "job": "검사제도·품질 관리",</a:t>
            </a:r>
          </a:p>
          <a:p xmlns:a="http://schemas.openxmlformats.org/drawingml/2006/main">
            <a:r>
              <a:t>      "indices": [</a:t>
            </a:r>
          </a:p>
          <a:p xmlns:a="http://schemas.openxmlformats.org/drawingml/2006/main">
            <a:r>
              <a:t>        9,</a:t>
            </a:r>
          </a:p>
          <a:p xmlns:a="http://schemas.openxmlformats.org/drawingml/2006/main">
            <a:r>
              <a:t>        20</a:t>
            </a:r>
          </a:p>
          <a:p xmlns:a="http://schemas.openxmlformats.org/drawingml/2006/main">
            <a:r>
              <a:t>      ],</a:t>
            </a:r>
          </a:p>
          <a:p xmlns:a="http://schemas.openxmlformats.org/drawingml/2006/main">
            <a:r>
              <a:t>      "duties": [</a:t>
            </a:r>
          </a:p>
          <a:p xmlns:a="http://schemas.openxmlformats.org/drawingml/2006/main">
            <a:r>
              <a:t>        "10. 자동차검사 품질강화 및 공공성 강화 관련 업무",</a:t>
            </a:r>
          </a:p>
          <a:p xmlns:a="http://schemas.openxmlformats.org/drawingml/2006/main">
            <a:r>
              <a:t>        "21. 검사표준서비스, 검사프로세스 개선‧관리"</a:t>
            </a:r>
          </a:p>
          <a:p xmlns:a="http://schemas.openxmlformats.org/drawingml/2006/main">
            <a:r>
              <a:t>      ],</a:t>
            </a:r>
          </a:p>
          <a:p xmlns:a="http://schemas.openxmlformats.org/drawingml/2006/main">
            <a:r>
              <a:t>      "locator": "별표4 · T42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"1028075",</a:t>
            </a:r>
          </a:p>
          <a:p xmlns:a="http://schemas.openxmlformats.org/drawingml/2006/main">
            <a:r>
              <a:t>      "name": "기술승인처",</a:t>
            </a:r>
          </a:p>
          <a:p xmlns:a="http://schemas.openxmlformats.org/drawingml/2006/main">
            <a:r>
              <a:t>      "job": "튜닝 승인·검사",</a:t>
            </a:r>
          </a:p>
          <a:p xmlns:a="http://schemas.openxmlformats.org/drawingml/2006/main">
            <a:r>
              <a:t>      "indices": [</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"2. 튜닝승인 및 튜닝검사, 안전검사 등에 관한 업무"</a:t>
            </a:r>
          </a:p>
          <a:p xmlns:a="http://schemas.openxmlformats.org/drawingml/2006/main">
            <a:r>
              <a:t>      ],</a:t>
            </a:r>
          </a:p>
          <a:p xmlns:a="http://schemas.openxmlformats.org/drawingml/2006/main">
            <a:r>
              <a:t>      "locator": "별표4 · T44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"7000000",</a:t>
            </a:r>
          </a:p>
          <a:p xmlns:a="http://schemas.openxmlformats.org/drawingml/2006/main">
            <a:r>
              <a:t>      "name": "자동차안전연구원",</a:t>
            </a:r>
          </a:p>
          <a:p xmlns:a="http://schemas.openxmlformats.org/drawingml/2006/main">
            <a:r>
              <a:t>      "job": "제작결함 조사·안전도평가",</a:t>
            </a:r>
          </a:p>
          <a:p xmlns:a="http://schemas.openxmlformats.org/drawingml/2006/main">
            <a:r>
              <a:t>      "indices": [],</a:t>
            </a:r>
          </a:p>
          <a:p xmlns:a="http://schemas.openxmlformats.org/drawingml/2006/main">
            <a:r>
              <a:t>      "duties": [],</a:t>
            </a:r>
          </a:p>
          <a:p xmlns:a="http://schemas.openxmlformats.org/drawingml/2006/main">
            <a:r>
              <a:t>      "locator": "자동차안전연구원 별도 직제시행세칙 대조 대상",</a:t>
            </a:r>
          </a:p>
          <a:p xmlns:a="http://schemas.openxmlformats.org/drawingml/2006/main">
            <a:r>
              <a:t>      "restriction": "별표4 부설기관: 자동차안전연구원 직제시행세칙에 따름 · 하부조직·직무·업무분장 별도 확인 필요",</a:t>
            </a:r>
          </a:p>
          <a:p xmlns:a="http://schemas.openxmlformats.org/drawingml/2006/main">
            <a:r>
              <a:t>      "status": "법령·업무 원장 기반 요약 / 세부 직제 확인"</a:t>
            </a:r>
          </a:p>
          <a:p xmlns:a="http://schemas.openxmlformats.org/drawingml/2006/main">
            <a:r>
              <a:t>    },</a:t>
            </a:r>
          </a:p>
          <a:p xmlns:a="http://schemas.openxmlformats.org/drawingml/2006/main">
            <a:r>
              <a:t>    {</a:t>
            </a:r>
          </a:p>
          <a:p xmlns:a="http://schemas.openxmlformats.org/drawingml/2006/main">
            <a:r>
              <a:t>      "code": "1019400",</a:t>
            </a:r>
          </a:p>
          <a:p xmlns:a="http://schemas.openxmlformats.org/drawingml/2006/main">
            <a:r>
              <a:t>      "name": "자동차정보처",</a:t>
            </a:r>
          </a:p>
          <a:p xmlns:a="http://schemas.openxmlformats.org/drawingml/2006/main">
            <a:r>
              <a:t>      "job": "자동차 이력·정보 관리",</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자동차토털이력관리시스템 운영",</a:t>
            </a:r>
          </a:p>
          <a:p xmlns:a="http://schemas.openxmlformats.org/drawingml/2006/main">
            <a:r>
              <a:t>        "8. 자동차정보 통합서비스 제공 업무"</a:t>
            </a:r>
          </a:p>
          <a:p xmlns:a="http://schemas.openxmlformats.org/drawingml/2006/main">
            <a:r>
              <a:t>      ],</a:t>
            </a:r>
          </a:p>
          <a:p xmlns:a="http://schemas.openxmlformats.org/drawingml/2006/main">
            <a:r>
              <a:t>      "locator": "별표4 · T37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"연결 법령의 해당 사무 + 참여 부서별 별표4 업무분장 / 개인별 전결·권한의 별도 매핑",</a:t>
            </a:r>
          </a:p>
          <a:p xmlns:a="http://schemas.openxmlformats.org/drawingml/2006/main">
            <a:r>
              <a:t>  "caseRefs": [</a:t>
            </a:r>
          </a:p>
          <a:p xmlns:a="http://schemas.openxmlformats.org/drawingml/2006/main">
            <a:r>
              <a:t>    {</a:t>
            </a:r>
          </a:p>
          <a:p xmlns:a="http://schemas.openxmlformats.org/drawingml/2006/main">
            <a:r>
              <a:t>      "caseId": "AX09",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"AX07",</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"AX16",</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"AX17",</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"검사·소비자 권익 검토 지원",</a:t>
            </a:r>
          </a:p>
          <a:p xmlns:a="http://schemas.openxmlformats.org/drawingml/2006/main">
            <a:r>
              <a:t>  "delta": "검사 기준 판본·차량·증빙 대조",</a:t>
            </a:r>
          </a:p>
          <a:p xmlns:a="http://schemas.openxmlformats.org/drawingml/2006/main">
            <a:r>
              <a:t>  "kpi": "검토 누락률 / 보완 소요시간",</a:t>
            </a:r>
          </a:p>
          <a:p xmlns:a="http://schemas.openxmlformats.org/drawingml/2006/main">
            <a:r>
              <a:t>  "validation": "불완전 증빙의 자동 확정 차단",</a:t>
            </a:r>
          </a:p>
          <a:p xmlns:a="http://schemas.openxmlformats.org/drawingml/2006/main">
            <a:r>
              <a:t>  "requirement": "BM-ST-02-R01",</a:t>
            </a:r>
          </a:p>
          <a:p xmlns:a="http://schemas.openxmlformats.org/drawingml/2006/main">
            <a:r>
              <a:t>  "test": "BM-ST-02-T01",</a:t>
            </a:r>
          </a:p>
          <a:p xmlns:a="http://schemas.openxmlformats.org/drawingml/2006/main">
            <a:r>
              <a:t>  "effectStatus": "기대 방향 · TS 실측 전",</a:t>
            </a:r>
          </a:p>
          <a:p xmlns:a="http://schemas.openxmlformats.org/drawingml/2006/main">
            <a:r>
              <a:t>  "effect": "보완 반복·검토 누락 감소",</a:t>
            </a:r>
          </a:p>
          <a:p xmlns:a="http://schemas.openxmlformats.org/drawingml/2006/main">
            <a:r>
              <a:t>  "reuse": "ON27-BASE / C27-COM + CCK 재사용 판정 기능",</a:t>
            </a:r>
          </a:p>
          <a:p xmlns:a="http://schemas.openxmlformats.org/drawingml/2006/main">
            <a:r>
              <a:t>  "input": "차량·신청 ID, 검사·튜닝 기준 판본, 보완서류",</a:t>
            </a:r>
          </a:p>
          <a:p xmlns:a="http://schemas.openxmlformats.org/drawingml/2006/main">
            <a:r>
              <a:t>  "steps": [</a:t>
            </a:r>
          </a:p>
          <a:p xmlns:a="http://schemas.openxmlformats.org/drawingml/2006/main">
            <a:r>
              <a:t>    "업무 유형·차량 식별",</a:t>
            </a:r>
          </a:p>
          <a:p xmlns:a="http://schemas.openxmlformats.org/drawingml/2006/main">
            <a:r>
              <a:t>    "적용 기준 판본 선택",</a:t>
            </a:r>
          </a:p>
          <a:p xmlns:a="http://schemas.openxmlformats.org/drawingml/2006/main">
            <a:r>
              <a:t>    "필수 증빙 대조",</a:t>
            </a:r>
          </a:p>
          <a:p xmlns:a="http://schemas.openxmlformats.org/drawingml/2006/main">
            <a:r>
              <a:t>    "검사·민원 담당 인계"</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"1028070",</a:t>
            </a:r>
          </a:p>
          <a:p xmlns:a="http://schemas.openxmlformats.org/drawingml/2006/main">
            <a:r>
              <a:t>      "name": "검사기획처",</a:t>
            </a:r>
          </a:p>
          <a:p xmlns:a="http://schemas.openxmlformats.org/drawingml/2006/main">
            <a:r>
              <a:t>      "job": "검사제도·품질 관리",</a:t>
            </a:r>
          </a:p>
          <a:p xmlns:a="http://schemas.openxmlformats.org/drawingml/2006/main">
            <a:r>
              <a:t>      "indices": [</a:t>
            </a:r>
          </a:p>
          <a:p xmlns:a="http://schemas.openxmlformats.org/drawingml/2006/main">
            <a:r>
              <a:t>        9,</a:t>
            </a:r>
          </a:p>
          <a:p xmlns:a="http://schemas.openxmlformats.org/drawingml/2006/main">
            <a:r>
              <a:t>        20</a:t>
            </a:r>
          </a:p>
          <a:p xmlns:a="http://schemas.openxmlformats.org/drawingml/2006/main">
            <a:r>
              <a:t>      ],</a:t>
            </a:r>
          </a:p>
          <a:p xmlns:a="http://schemas.openxmlformats.org/drawingml/2006/main">
            <a:r>
              <a:t>      "duties": [</a:t>
            </a:r>
          </a:p>
          <a:p xmlns:a="http://schemas.openxmlformats.org/drawingml/2006/main">
            <a:r>
              <a:t>        "10. 자동차검사 품질강화 및 공공성 강화 관련 업무",</a:t>
            </a:r>
          </a:p>
          <a:p xmlns:a="http://schemas.openxmlformats.org/drawingml/2006/main">
            <a:r>
              <a:t>        "21. 검사표준서비스, 검사프로세스 개선‧관리"</a:t>
            </a:r>
          </a:p>
          <a:p xmlns:a="http://schemas.openxmlformats.org/drawingml/2006/main">
            <a:r>
              <a:t>      ],</a:t>
            </a:r>
          </a:p>
          <a:p xmlns:a="http://schemas.openxmlformats.org/drawingml/2006/main">
            <a:r>
              <a:t>      "locator": "별표4 · T42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"RULEWORK-1028070-10",</a:t>
            </a:r>
          </a:p>
          <a:p xmlns:a="http://schemas.openxmlformats.org/drawingml/2006/main">
            <a:r>
              <a:t>          "text": "10. 자동차검사 품질강화 및 공공성 강화 관련 업무",</a:t>
            </a:r>
          </a:p>
          <a:p xmlns:a="http://schemas.openxmlformats.org/drawingml/2006/main">
            <a:r>
              <a:t>          "locator": "별표4 · T42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"RULEWORK-1028070-10-R01",</a:t>
            </a:r>
          </a:p>
          <a:p xmlns:a="http://schemas.openxmlformats.org/drawingml/2006/main">
            <a:r>
              <a:t>              "title": "업무 맥락·전용 지식 구성",</a:t>
            </a:r>
          </a:p>
          <a:p xmlns:a="http://schemas.openxmlformats.org/drawingml/2006/main">
            <a:r>
              <a:t>              "development": "차량·변경 유형별 기준·제출자료 선택",</a:t>
            </a:r>
          </a:p>
          <a:p xmlns:a="http://schemas.openxmlformats.org/drawingml/2006/main">
            <a:r>
              <a:t>              "output": "요건 대조표·보완·검사 인계 기록",</a:t>
            </a:r>
          </a:p>
          <a:p xmlns:a="http://schemas.openxmlformats.org/drawingml/2006/main">
            <a:r>
              <a:t>              "testId": "RULEWORK-1028070-10-T01",</a:t>
            </a:r>
          </a:p>
          <a:p xmlns:a="http://schemas.openxmlformats.org/drawingml/2006/main">
            <a:r>
              <a:t>              "criterion": "누락·상충·판본별 요건 정답셋 대조"</a:t>
            </a:r>
          </a:p>
          <a:p xmlns:a="http://schemas.openxmlformats.org/drawingml/2006/main">
            <a:r>
              <a:t>            },</a:t>
            </a:r>
          </a:p>
          <a:p xmlns:a="http://schemas.openxmlformats.org/drawingml/2006/main">
            <a:r>
              <a:t>            {</a:t>
            </a:r>
          </a:p>
          <a:p xmlns:a="http://schemas.openxmlformats.org/drawingml/2006/main">
            <a:r>
              <a:t>              "id": "RULEWORK-1028070-10-R02",</a:t>
            </a:r>
          </a:p>
          <a:p xmlns:a="http://schemas.openxmlformats.org/drawingml/2006/main">
            <a:r>
              <a:t>              "title": "업무건·역할·시스템 연결",</a:t>
            </a:r>
          </a:p>
          <a:p xmlns:a="http://schemas.openxmlformats.org/drawingml/2006/main">
            <a:r>
              <a:t>              "development": "신청–보완–검사–결과의 업무건·판본 연결",</a:t>
            </a:r>
          </a:p>
          <a:p xmlns:a="http://schemas.openxmlformats.org/drawingml/2006/main">
            <a:r>
              <a:t>              "output": "업무건·원천·역할·변경 연결 명세",</a:t>
            </a:r>
          </a:p>
          <a:p xmlns:a="http://schemas.openxmlformats.org/drawingml/2006/main">
            <a:r>
              <a:t>              "testId": "RULEWORK-1028070-10-T02",</a:t>
            </a:r>
          </a:p>
          <a:p xmlns:a="http://schemas.openxmlformats.org/drawingml/2006/main">
            <a:r>
              <a:t>              "criterion": "문서 검토와 현장 검사·공식 판정의 구분"</a:t>
            </a:r>
          </a:p>
          <a:p xmlns:a="http://schemas.openxmlformats.org/drawingml/2006/main">
            <a:r>
              <a:t>            },</a:t>
            </a:r>
          </a:p>
          <a:p xmlns:a="http://schemas.openxmlformats.org/drawingml/2006/main">
            <a:r>
              <a:t>            {</a:t>
            </a:r>
          </a:p>
          <a:p xmlns:a="http://schemas.openxmlformats.org/drawingml/2006/main">
            <a:r>
              <a:t>              "id": "RULEWORK-1028070-10-R03",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"RULEWORK-1028070-10-T03",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"RULEWORK-1028070-21",</a:t>
            </a:r>
          </a:p>
          <a:p xmlns:a="http://schemas.openxmlformats.org/drawingml/2006/main">
            <a:r>
              <a:t>          "text": "21. 검사표준서비스, 검사프로세스 개선‧관리",</a:t>
            </a:r>
          </a:p>
          <a:p xmlns:a="http://schemas.openxmlformats.org/drawingml/2006/main">
            <a:r>
              <a:t>          "locator": "별표4 · T42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"RULEWORK-1028070-21-R01",</a:t>
            </a:r>
          </a:p>
          <a:p xmlns:a="http://schemas.openxmlformats.org/drawingml/2006/main">
            <a:r>
              <a:t>              "title": "업무 맥락·전용 지식 구성",</a:t>
            </a:r>
          </a:p>
          <a:p xmlns:a="http://schemas.openxmlformats.org/drawingml/2006/main">
            <a:r>
              <a:t>              "development": "차량·변경 유형별 기준·제출자료 선택",</a:t>
            </a:r>
          </a:p>
          <a:p xmlns:a="http://schemas.openxmlformats.org/drawingml/2006/main">
            <a:r>
              <a:t>              "output": "요건 대조표·보완·검사 인계 기록",</a:t>
            </a:r>
          </a:p>
          <a:p xmlns:a="http://schemas.openxmlformats.org/drawingml/2006/main">
            <a:r>
              <a:t>              "testId": "RULEWORK-1028070-21-T01",</a:t>
            </a:r>
          </a:p>
          <a:p xmlns:a="http://schemas.openxmlformats.org/drawingml/2006/main">
            <a:r>
              <a:t>              "criterion": "누락·상충·판본별 요건 정답셋 대조"</a:t>
            </a:r>
          </a:p>
          <a:p xmlns:a="http://schemas.openxmlformats.org/drawingml/2006/main">
            <a:r>
              <a:t>            },</a:t>
            </a:r>
          </a:p>
          <a:p xmlns:a="http://schemas.openxmlformats.org/drawingml/2006/main">
            <a:r>
              <a:t>            {</a:t>
            </a:r>
          </a:p>
          <a:p xmlns:a="http://schemas.openxmlformats.org/drawingml/2006/main">
            <a:r>
              <a:t>              "id": "RULEWORK-1028070-21-R02",</a:t>
            </a:r>
          </a:p>
          <a:p xmlns:a="http://schemas.openxmlformats.org/drawingml/2006/main">
            <a:r>
              <a:t>              "title": "업무건·역할·시스템 연결",</a:t>
            </a:r>
          </a:p>
          <a:p xmlns:a="http://schemas.openxmlformats.org/drawingml/2006/main">
            <a:r>
              <a:t>              "development": "신청–보완–검사–결과의 업무건·판본 연결",</a:t>
            </a:r>
          </a:p>
          <a:p xmlns:a="http://schemas.openxmlformats.org/drawingml/2006/main">
            <a:r>
              <a:t>              "output": "업무건·원천·역할·변경 연결 명세",</a:t>
            </a:r>
          </a:p>
          <a:p xmlns:a="http://schemas.openxmlformats.org/drawingml/2006/main">
            <a:r>
              <a:t>              "testId": "RULEWORK-1028070-21-T02",</a:t>
            </a:r>
          </a:p>
          <a:p xmlns:a="http://schemas.openxmlformats.org/drawingml/2006/main">
            <a:r>
              <a:t>              "criterion": "문서 검토와 현장 검사·공식 판정의 구분"</a:t>
            </a:r>
          </a:p>
          <a:p xmlns:a="http://schemas.openxmlformats.org/drawingml/2006/main">
            <a:r>
              <a:t>            },</a:t>
            </a:r>
          </a:p>
          <a:p xmlns:a="http://schemas.openxmlformats.org/drawingml/2006/main">
            <a:r>
              <a:t>            {</a:t>
            </a:r>
          </a:p>
          <a:p xmlns:a="http://schemas.openxmlformats.org/drawingml/2006/main">
            <a:r>
              <a:t>              "id": "RULEWORK-1028070-21-R03",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"RULEWORK-1028070-21-T03",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"1028075",</a:t>
            </a:r>
          </a:p>
          <a:p xmlns:a="http://schemas.openxmlformats.org/drawingml/2006/main">
            <a:r>
              <a:t>      "name": "기술승인처",</a:t>
            </a:r>
          </a:p>
          <a:p xmlns:a="http://schemas.openxmlformats.org/drawingml/2006/main">
            <a:r>
              <a:t>      "job": "튜닝 승인·검사",</a:t>
            </a:r>
          </a:p>
          <a:p xmlns:a="http://schemas.openxmlformats.org/drawingml/2006/main">
            <a:r>
              <a:t>      "indices": [</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"2. 튜닝승인 및 튜닝검사, 안전검사 등에 관한 업무"</a:t>
            </a:r>
          </a:p>
          <a:p xmlns:a="http://schemas.openxmlformats.org/drawingml/2006/main">
            <a:r>
              <a:t>      ],</a:t>
            </a:r>
          </a:p>
          <a:p xmlns:a="http://schemas.openxmlformats.org/drawingml/2006/main">
            <a:r>
              <a:t>      "locator": "별표4 · T44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"RULEWORK-1028075-2",</a:t>
            </a:r>
          </a:p>
          <a:p xmlns:a="http://schemas.openxmlformats.org/drawingml/2006/main">
            <a:r>
              <a:t>          "text": "2. 튜닝승인 및 튜닝검사, 안전검사 등에 관한 업무",</a:t>
            </a:r>
          </a:p>
          <a:p xmlns:a="http://schemas.openxmlformats.org/drawingml/2006/main">
            <a:r>
              <a:t>          "locator": "별표4 · T44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"RULEWORK-1028075-2-R01",</a:t>
            </a:r>
          </a:p>
          <a:p xmlns:a="http://schemas.openxmlformats.org/drawingml/2006/main">
            <a:r>
              <a:t>              "title": "업무 맥락·전용 지식 구성",</a:t>
            </a:r>
          </a:p>
          <a:p xmlns:a="http://schemas.openxmlformats.org/drawingml/2006/main">
            <a:r>
              <a:t>              "development": "차량·변경 유형별 기준·제출자료 선택",</a:t>
            </a:r>
          </a:p>
          <a:p xmlns:a="http://schemas.openxmlformats.org/drawingml/2006/main">
            <a:r>
              <a:t>              "output": "요건 대조표·보완·검사 인계 기록",</a:t>
            </a:r>
          </a:p>
          <a:p xmlns:a="http://schemas.openxmlformats.org/drawingml/2006/main">
            <a:r>
              <a:t>              "testId": "RULEWORK-1028075-2-T01",</a:t>
            </a:r>
          </a:p>
          <a:p xmlns:a="http://schemas.openxmlformats.org/drawingml/2006/main">
            <a:r>
              <a:t>              "criterion": "누락·상충·판본별 요건 정답셋 대조"</a:t>
            </a:r>
          </a:p>
          <a:p xmlns:a="http://schemas.openxmlformats.org/drawingml/2006/main">
            <a:r>
              <a:t>            },</a:t>
            </a:r>
          </a:p>
          <a:p xmlns:a="http://schemas.openxmlformats.org/drawingml/2006/main">
            <a:r>
              <a:t>            {</a:t>
            </a:r>
          </a:p>
          <a:p xmlns:a="http://schemas.openxmlformats.org/drawingml/2006/main">
            <a:r>
              <a:t>              "id": "RULEWORK-1028075-2-R02",</a:t>
            </a:r>
          </a:p>
          <a:p xmlns:a="http://schemas.openxmlformats.org/drawingml/2006/main">
            <a:r>
              <a:t>              "title": "업무건·역할·시스템 연결",</a:t>
            </a:r>
          </a:p>
          <a:p xmlns:a="http://schemas.openxmlformats.org/drawingml/2006/main">
            <a:r>
              <a:t>              "development": "신청–보완–검사–결과의 업무건·판본 연결",</a:t>
            </a:r>
          </a:p>
          <a:p xmlns:a="http://schemas.openxmlformats.org/drawingml/2006/main">
            <a:r>
              <a:t>              "output": "업무건·원천·역할·변경 연결 명세",</a:t>
            </a:r>
          </a:p>
          <a:p xmlns:a="http://schemas.openxmlformats.org/drawingml/2006/main">
            <a:r>
              <a:t>              "testId": "RULEWORK-1028075-2-T02",</a:t>
            </a:r>
          </a:p>
          <a:p xmlns:a="http://schemas.openxmlformats.org/drawingml/2006/main">
            <a:r>
              <a:t>              "criterion": "문서 검토와 현장 검사·공식 판정의 구분"</a:t>
            </a:r>
          </a:p>
          <a:p xmlns:a="http://schemas.openxmlformats.org/drawingml/2006/main">
            <a:r>
              <a:t>            },</a:t>
            </a:r>
          </a:p>
          <a:p xmlns:a="http://schemas.openxmlformats.org/drawingml/2006/main">
            <a:r>
              <a:t>            {</a:t>
            </a:r>
          </a:p>
          <a:p xmlns:a="http://schemas.openxmlformats.org/drawingml/2006/main">
            <a:r>
              <a:t>              "id": "RULEWORK-1028075-2-R03",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"RULEWORK-1028075-2-T03",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"7000000",</a:t>
            </a:r>
          </a:p>
          <a:p xmlns:a="http://schemas.openxmlformats.org/drawingml/2006/main">
            <a:r>
              <a:t>      "name": "자동차안전연구원",</a:t>
            </a:r>
          </a:p>
          <a:p xmlns:a="http://schemas.openxmlformats.org/drawingml/2006/main">
            <a:r>
              <a:t>      "job": "제작결함 조사·안전도평가",</a:t>
            </a:r>
          </a:p>
          <a:p xmlns:a="http://schemas.openxmlformats.org/drawingml/2006/main">
            <a:r>
              <a:t>      "indices": [],</a:t>
            </a:r>
          </a:p>
          <a:p xmlns:a="http://schemas.openxmlformats.org/drawingml/2006/main">
            <a:r>
              <a:t>      "duties": [],</a:t>
            </a:r>
          </a:p>
          <a:p xmlns:a="http://schemas.openxmlformats.org/drawingml/2006/main">
            <a:r>
              <a:t>      "locator": "자동차안전연구원 별도 직제시행세칙 대조 대상",</a:t>
            </a:r>
          </a:p>
          <a:p xmlns:a="http://schemas.openxmlformats.org/drawingml/2006/main">
            <a:r>
              <a:t>      "restriction": "별표4 부설기관: 자동차안전연구원 직제시행세칙에 따름 · 하부조직·직무·업무분장 별도 확인 필요",</a:t>
            </a:r>
          </a:p>
          <a:p xmlns:a="http://schemas.openxmlformats.org/drawingml/2006/main">
            <a:r>
              <a:t>      "status": "법령·업무 원장 기반 요약 / 세부 직제 확인",</a:t>
            </a:r>
          </a:p>
          <a:p xmlns:a="http://schemas.openxmlformats.org/drawingml/2006/main">
            <a:r>
              <a:t>      "workItems": []</a:t>
            </a:r>
          </a:p>
          <a:p xmlns:a="http://schemas.openxmlformats.org/drawingml/2006/main">
            <a:r>
              <a:t>    },</a:t>
            </a:r>
          </a:p>
          <a:p xmlns:a="http://schemas.openxmlformats.org/drawingml/2006/main">
            <a:r>
              <a:t>    {</a:t>
            </a:r>
          </a:p>
          <a:p xmlns:a="http://schemas.openxmlformats.org/drawingml/2006/main">
            <a:r>
              <a:t>      "code": "1019400",</a:t>
            </a:r>
          </a:p>
          <a:p xmlns:a="http://schemas.openxmlformats.org/drawingml/2006/main">
            <a:r>
              <a:t>      "name": "자동차정보처",</a:t>
            </a:r>
          </a:p>
          <a:p xmlns:a="http://schemas.openxmlformats.org/drawingml/2006/main">
            <a:r>
              <a:t>      "job": "자동차 이력·정보 관리",</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자동차토털이력관리시스템 운영",</a:t>
            </a:r>
          </a:p>
          <a:p xmlns:a="http://schemas.openxmlformats.org/drawingml/2006/main">
            <a:r>
              <a:t>        "8. 자동차정보 통합서비스 제공 업무"</a:t>
            </a:r>
          </a:p>
          <a:p xmlns:a="http://schemas.openxmlformats.org/drawingml/2006/main">
            <a:r>
              <a:t>      ],</a:t>
            </a:r>
          </a:p>
          <a:p xmlns:a="http://schemas.openxmlformats.org/drawingml/2006/main">
            <a:r>
              <a:t>      "locator": "별표4 · T37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"RULEWORK-1019400-3",</a:t>
            </a:r>
          </a:p>
          <a:p xmlns:a="http://schemas.openxmlformats.org/drawingml/2006/main">
            <a:r>
              <a:t>          "text": "3. 자동차토털이력관리시스템 운영",</a:t>
            </a:r>
          </a:p>
          <a:p xmlns:a="http://schemas.openxmlformats.org/drawingml/2006/main">
            <a:r>
              <a:t>          "locator": "별표4 · T37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"RULEWORK-1019400-3-R01",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"RULEWORK-1019400-3-T01",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"RULEWORK-1019400-3-R02",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"RULEWORK-1019400-3-T02",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"RULEWORK-1019400-3-R03",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"RULEWORK-1019400-3-T03",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"RULEWORK-1019400-8",</a:t>
            </a:r>
          </a:p>
          <a:p xmlns:a="http://schemas.openxmlformats.org/drawingml/2006/main">
            <a:r>
              <a:t>          "text": "8. 자동차정보 통합서비스 제공 업무",</a:t>
            </a:r>
          </a:p>
          <a:p xmlns:a="http://schemas.openxmlformats.org/drawingml/2006/main">
            <a:r>
              <a:t>          "locator": "별표4 · T37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"RULEWORK-1019400-8-R01",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"RULEWORK-1019400-8-T01",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"RULEWORK-1019400-8-R02",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"RULEWORK-1019400-8-T02",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"RULEWORK-1019400-8-R03",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"RULEWORK-1019400-8-T03",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기준 검색·서식 초안"</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"Audin·Foundry의 근거 검토·절차 구성"</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"차량–검사–민원 사건 연결 명세",</a:t>
            </a:r>
          </a:p>
          <a:p xmlns:a="http://schemas.openxmlformats.org/drawingml/2006/main">
            <a:r>
              <a:t>    "기준 개정·신청일 판정 규칙"</a:t>
            </a:r>
          </a:p>
          <a:p xmlns:a="http://schemas.openxmlformats.org/drawingml/2006/main">
            <a:r>
              <a:t>  ],</a:t>
            </a:r>
          </a:p>
          <a:p xmlns:a="http://schemas.openxmlformats.org/drawingml/2006/main">
            <a:r>
              <a:t>  "acceptancePlan": {</a:t>
            </a:r>
          </a:p>
          <a:p xmlns:a="http://schemas.openxmlformats.org/drawingml/2006/main">
            <a:r>
              <a:t>    "sample": "개정 전후 신청, 다른 차량 증빙, 누락서류 주입",</a:t>
            </a:r>
          </a:p>
          <a:p xmlns:a="http://schemas.openxmlformats.org/drawingml/2006/main">
            <a:r>
              <a:t>    "criterion": "해당 판본·차량 일치·불완전 건 승인 보류",</a:t>
            </a:r>
          </a:p>
          <a:p xmlns:a="http://schemas.openxmlformats.org/drawingml/2006/main">
            <a:r>
              <a:t>    "evidence": "판본 대조표·보완 목록·승인 차단 로그",</a:t>
            </a:r>
          </a:p>
          <a:p xmlns:a="http://schemas.openxmlformats.org/drawingml/2006/main">
            <a:r>
              <a:t>    "execution": "미실행"</a:t>
            </a:r>
          </a:p>
          <a:p xmlns:a="http://schemas.openxmlformats.org/drawingml/2006/main">
            <a:r>
              <a:t>  },</a:t>
            </a:r>
          </a:p>
          <a:p xmlns:a="http://schemas.openxmlformats.org/drawingml/2006/main">
            <a:r>
              <a:t>  "formula": "업무건당 보완 횟수 / 필수 증빙 누락 건수 ÷ 평가 건수",</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"PF-R01"</a:t>
            </a:r>
          </a:p>
          <a:p xmlns:a="http://schemas.openxmlformats.org/drawingml/2006/main">
            <a:r>
              <a:t>  ]</a:t>
            </a:r>
          </a:p>
          <a:p xmlns:a="http://schemas.openxmlformats.org/drawingml/2006/main">
            <a:r>
              <a:t>}</a:t>
            </a:r>
          </a:p>
          <a:p xmlns:a="http://schemas.openxmlformats.org/drawingml/2006/main">
            <a:r>
              <a:t>CCK-01: NOA 사용자 가이드 확인. 설치본 기능시험 필요.</a:t>
            </a:r>
          </a:p>
          <a:p xmlns:a="http://schemas.openxmlformats.org/drawingml/2006/main">
            <a:r>
              <a:t>CCK-02/03: 명세 기반 재사용 후보. 실물 기능검증 필요.</a:t>
            </a:r>
          </a:p>
          <a:p xmlns:a="http://schemas.openxmlformats.org/drawingml/2006/main">
            <a:r>
              <a:t>기존 SSO·RAG·권한·로그·연계 범위 대조 후 추가분 산정.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"ST-03",</a:t>
            </a:r>
          </a:p>
          <a:p xmlns:a="http://schemas.openxmlformats.org/drawingml/2006/main">
            <a:r>
              <a:t>  "number": 3,</a:t>
            </a:r>
          </a:p>
          <a:p xmlns:a="http://schemas.openxmlformats.org/drawingml/2006/main">
            <a:r>
              <a:t>  "direction": "무결점 교통안전체계 조성",</a:t>
            </a:r>
          </a:p>
          <a:p xmlns:a="http://schemas.openxmlformats.org/drawingml/2006/main">
            <a:r>
              <a:t>  "strategy": "중대사고 예방 능동적 안전관리체계 구축",</a:t>
            </a:r>
          </a:p>
          <a:p xmlns:a="http://schemas.openxmlformats.org/drawingml/2006/main">
            <a:r>
              <a:t>  "solution": "중대위험 조치·재발방지 지원",</a:t>
            </a:r>
          </a:p>
          <a:p xmlns:a="http://schemas.openxmlformats.org/drawingml/2006/main">
            <a:r>
              <a:t>  "lawIds": [</a:t>
            </a:r>
          </a:p>
          <a:p xmlns:a="http://schemas.openxmlformats.org/drawingml/2006/main">
            <a:r>
              <a:t>    "L01",</a:t>
            </a:r>
          </a:p>
          <a:p xmlns:a="http://schemas.openxmlformats.org/drawingml/2006/main">
            <a:r>
              <a:t>    "L02",</a:t>
            </a:r>
          </a:p>
          <a:p xmlns:a="http://schemas.openxmlformats.org/drawingml/2006/main">
            <a:r>
              <a:t>    "L25"</a:t>
            </a:r>
          </a:p>
          <a:p xmlns:a="http://schemas.openxmlformats.org/drawingml/2006/main">
            <a:r>
              <a:t>  ],</a:t>
            </a:r>
          </a:p>
          <a:p xmlns:a="http://schemas.openxmlformats.org/drawingml/2006/main">
            <a:r>
              <a:t>  "codes": [</a:t>
            </a:r>
          </a:p>
          <a:p xmlns:a="http://schemas.openxmlformats.org/drawingml/2006/main">
            <a:r>
              <a:t>    "1016043",</a:t>
            </a:r>
          </a:p>
          <a:p xmlns:a="http://schemas.openxmlformats.org/drawingml/2006/main">
            <a:r>
              <a:t>    "1022030",</a:t>
            </a:r>
          </a:p>
          <a:p xmlns:a="http://schemas.openxmlformats.org/drawingml/2006/main">
            <a:r>
              <a:t>    "1021030",</a:t>
            </a:r>
          </a:p>
          <a:p xmlns:a="http://schemas.openxmlformats.org/drawingml/2006/main">
            <a:r>
              <a:t>    "1211251",</a:t>
            </a:r>
          </a:p>
          <a:p xmlns:a="http://schemas.openxmlformats.org/drawingml/2006/main">
            <a:r>
              <a:t>    "1211250",</a:t>
            </a:r>
          </a:p>
          <a:p xmlns:a="http://schemas.openxmlformats.org/drawingml/2006/main">
            <a:r>
              <a:t>    "1211253",</a:t>
            </a:r>
          </a:p>
          <a:p xmlns:a="http://schemas.openxmlformats.org/drawingml/2006/main">
            <a:r>
              <a:t>    "1211280"</a:t>
            </a:r>
          </a:p>
          <a:p xmlns:a="http://schemas.openxmlformats.org/drawingml/2006/main">
            <a:r>
              <a:t>  ],</a:t>
            </a:r>
          </a:p>
          <a:p xmlns:a="http://schemas.openxmlformats.org/drawingml/2006/main">
            <a:r>
              <a:t>  "work": "분야별 안전점검·시정조치·재점검 관리",</a:t>
            </a:r>
          </a:p>
          <a:p xmlns:a="http://schemas.openxmlformats.org/drawingml/2006/main">
            <a:r>
              <a:t>  "features": [</a:t>
            </a:r>
          </a:p>
          <a:p xmlns:a="http://schemas.openxmlformats.org/drawingml/2006/main">
            <a:r>
              <a:t>    "위험 근거·유사사례·시정조치 이력 연결",</a:t>
            </a:r>
          </a:p>
          <a:p xmlns:a="http://schemas.openxmlformats.org/drawingml/2006/main">
            <a:r>
              <a:t>    "현장 조치·전문 검토·종결 승인 분리"</a:t>
            </a:r>
          </a:p>
          <a:p xmlns:a="http://schemas.openxmlformats.org/drawingml/2006/main">
            <a:r>
              <a:t>  ],</a:t>
            </a:r>
          </a:p>
          <a:p xmlns:a="http://schemas.openxmlformats.org/drawingml/2006/main">
            <a:r>
              <a:t>  "output": "사건 타임라인·위험 조치대장",</a:t>
            </a:r>
          </a:p>
          <a:p xmlns:a="http://schemas.openxmlformats.org/drawingml/2006/main">
            <a:r>
              <a:t>  "acceptance": "미완료 조치의 종결 차단·검토/승인 역할 구분·후속 확인 추적",</a:t>
            </a:r>
          </a:p>
          <a:p xmlns:a="http://schemas.openxmlformats.org/drawingml/2006/main">
            <a:r>
              <a:t>  "phase": "공통 기반 인수 후 부서별 적용",</a:t>
            </a:r>
          </a:p>
          <a:p xmlns:a="http://schemas.openxmlformats.org/drawingml/2006/main">
            <a:r>
              <a:t>  "packages": [</a:t>
            </a:r>
          </a:p>
          <a:p xmlns:a="http://schemas.openxmlformats.org/drawingml/2006/main">
            <a:r>
              <a:t>    "ON-W03",</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"GAI-T07",</a:t>
            </a:r>
          </a:p>
          <a:p xmlns:a="http://schemas.openxmlformats.org/drawingml/2006/main">
            <a:r>
              <a:t>    "GAI-T08",</a:t>
            </a:r>
          </a:p>
          <a:p xmlns:a="http://schemas.openxmlformats.org/drawingml/2006/main">
            <a:r>
              <a:t>    "GAI-T12"</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"1016043",</a:t>
            </a:r>
          </a:p>
          <a:p xmlns:a="http://schemas.openxmlformats.org/drawingml/2006/main">
            <a:r>
              <a:t>      "name": "안전보건실",</a:t>
            </a:r>
          </a:p>
          <a:p xmlns:a="http://schemas.openxmlformats.org/drawingml/2006/main">
            <a:r>
              <a:t>      "job": "사업장 안전·재발방지",</a:t>
            </a:r>
          </a:p>
          <a:p xmlns:a="http://schemas.openxmlformats.org/drawingml/2006/main">
            <a:r>
              <a:t>      "indices": [</a:t>
            </a:r>
          </a:p>
          <a:p xmlns:a="http://schemas.openxmlformats.org/drawingml/2006/main">
            <a:r>
              <a:t>        3,</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"4. 산업재해 신고, 사고대응 및 재발방지 조치",</a:t>
            </a:r>
          </a:p>
          <a:p xmlns:a="http://schemas.openxmlformats.org/drawingml/2006/main">
            <a:r>
              <a:t>        "6. 중대재해처벌법 안전보건의무 이행점검에 관한 업무"</a:t>
            </a:r>
          </a:p>
          <a:p xmlns:a="http://schemas.openxmlformats.org/drawingml/2006/main">
            <a:r>
              <a:t>      ],</a:t>
            </a:r>
          </a:p>
          <a:p xmlns:a="http://schemas.openxmlformats.org/drawingml/2006/main">
            <a:r>
              <a:t>      "locator": "별표4 · T34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"운수회사 예방대책",</a:t>
            </a:r>
          </a:p>
          <a:p xmlns:a="http://schemas.openxmlformats.org/drawingml/2006/main">
            <a:r>
              <a:t>      "indices": [</a:t>
            </a:r>
          </a:p>
          <a:p xmlns:a="http://schemas.openxmlformats.org/drawingml/2006/main">
            <a:r>
              <a:t>        3,</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"4. 교통사고예방대책 수립 및 교통안전사업 개발",</a:t>
            </a:r>
          </a:p>
          <a:p xmlns:a="http://schemas.openxmlformats.org/drawingml/2006/main">
            <a:r>
              <a:t>        "7. 운수회사 안전관리 및 교통사고 예방사업"</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"교통시설 안전점검",</a:t>
            </a:r>
          </a:p>
          <a:p xmlns:a="http://schemas.openxmlformats.org/drawingml/2006/main">
            <a:r>
              <a:t>      "indices": [</a:t>
            </a:r>
          </a:p>
          <a:p xmlns:a="http://schemas.openxmlformats.org/drawingml/2006/main">
            <a:r>
              <a:t>        6,</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"7. 교통시설 안전진단ㆍ점검ㆍ평가에 관한 업무",</a:t>
            </a:r>
          </a:p>
          <a:p xmlns:a="http://schemas.openxmlformats.org/drawingml/2006/main">
            <a:r>
              <a:t>        "10. 교통시설설치ㆍ관리자의 교통안전관리규정 적정성 및 이행여부 확인평가"</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"1211251",</a:t>
            </a:r>
          </a:p>
          <a:p xmlns:a="http://schemas.openxmlformats.org/drawingml/2006/main">
            <a:r>
              <a:t>      "name": "철도안전처",</a:t>
            </a:r>
          </a:p>
          <a:p xmlns:a="http://schemas.openxmlformats.org/drawingml/2006/main">
            <a:r>
              <a:t>      "job": "철도사고 분석",</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철도사고(철도준사고 포함) 자료 원인분석 및 정책자료 제공"</a:t>
            </a:r>
          </a:p>
          <a:p xmlns:a="http://schemas.openxmlformats.org/drawingml/2006/main">
            <a:r>
              <a:t>      ],</a:t>
            </a:r>
          </a:p>
          <a:p xmlns:a="http://schemas.openxmlformats.org/drawingml/2006/main">
            <a:r>
              <a:t>      "locator": "별표4 · T46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"1211250",</a:t>
            </a:r>
          </a:p>
          <a:p xmlns:a="http://schemas.openxmlformats.org/drawingml/2006/main">
            <a:r>
              <a:t>      "name": "철도승인처",</a:t>
            </a:r>
          </a:p>
          <a:p xmlns:a="http://schemas.openxmlformats.org/drawingml/2006/main">
            <a:r>
              <a:t>      "job": "철도 안전관리체계 승인",</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철도안전관리체계 승인업무(최초·변경) 시행",</a:t>
            </a:r>
          </a:p>
          <a:p xmlns:a="http://schemas.openxmlformats.org/drawingml/2006/main">
            <a:r>
              <a:t>        "3. 철도안전관리체계 기술기준 제·개정 및 관리"</a:t>
            </a:r>
          </a:p>
          <a:p xmlns:a="http://schemas.openxmlformats.org/drawingml/2006/main">
            <a:r>
              <a:t>      ],</a:t>
            </a:r>
          </a:p>
          <a:p xmlns:a="http://schemas.openxmlformats.org/drawingml/2006/main">
            <a:r>
              <a:t>      "locator": "별표4 · T46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"1211253",</a:t>
            </a:r>
          </a:p>
          <a:p xmlns:a="http://schemas.openxmlformats.org/drawingml/2006/main">
            <a:r>
              <a:t>      "name": "철도검사처",</a:t>
            </a:r>
          </a:p>
          <a:p xmlns:a="http://schemas.openxmlformats.org/drawingml/2006/main">
            <a:r>
              <a:t>      "job": "철도 안전관리체계 검사",</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철도안전관리체계 수시검사 시행",</a:t>
            </a:r>
          </a:p>
          <a:p xmlns:a="http://schemas.openxmlformats.org/drawingml/2006/main">
            <a:r>
              <a:t>        "2. 철도사고 및 운행장애 초기대응 점검 시행"</a:t>
            </a:r>
          </a:p>
          <a:p xmlns:a="http://schemas.openxmlformats.org/drawingml/2006/main">
            <a:r>
              <a:t>      ],</a:t>
            </a:r>
          </a:p>
          <a:p xmlns:a="http://schemas.openxmlformats.org/drawingml/2006/main">
            <a:r>
              <a:t>      "locator": "별표4 · T46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"1211280",</a:t>
            </a:r>
          </a:p>
          <a:p xmlns:a="http://schemas.openxmlformats.org/drawingml/2006/main">
            <a:r>
              <a:t>      "name": "항공안전처",</a:t>
            </a:r>
          </a:p>
          <a:p xmlns:a="http://schemas.openxmlformats.org/drawingml/2006/main">
            <a:r>
              <a:t>      "job": "항공안전·사고조사",</a:t>
            </a:r>
          </a:p>
          <a:p xmlns:a="http://schemas.openxmlformats.org/drawingml/2006/main">
            <a:r>
              <a:t>      "indices": [</a:t>
            </a:r>
          </a:p>
          <a:p xmlns:a="http://schemas.openxmlformats.org/drawingml/2006/main">
            <a:r>
              <a:t>        7,</a:t>
            </a:r>
          </a:p>
          <a:p xmlns:a="http://schemas.openxmlformats.org/drawingml/2006/main">
            <a:r>
              <a:t>        12</a:t>
            </a:r>
          </a:p>
          <a:p xmlns:a="http://schemas.openxmlformats.org/drawingml/2006/main">
            <a:r>
              <a:t>      ],</a:t>
            </a:r>
          </a:p>
          <a:p xmlns:a="http://schemas.openxmlformats.org/drawingml/2006/main">
            <a:r>
              <a:t>      "duties": [</a:t>
            </a:r>
          </a:p>
          <a:p xmlns:a="http://schemas.openxmlformats.org/drawingml/2006/main">
            <a:r>
              <a:t>        "8. 항공안전‧항공보안 자율보고의 접수·분석 및 전파업무",</a:t>
            </a:r>
          </a:p>
          <a:p xmlns:a="http://schemas.openxmlformats.org/drawingml/2006/main">
            <a:r>
              <a:t>        "13. 초경량비행장치 사고조사 업무"</a:t>
            </a:r>
          </a:p>
          <a:p xmlns:a="http://schemas.openxmlformats.org/drawingml/2006/main">
            <a:r>
              <a:t>      ],</a:t>
            </a:r>
          </a:p>
          <a:p xmlns:a="http://schemas.openxmlformats.org/drawingml/2006/main">
            <a:r>
              <a:t>      "locator": "별표4 · T45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"도로·철도 점검: 연결 법령 원장 / 사업장 안전·항공안전: 별표4 안전보건실·항공안전처 업무 / 분야별 법령·위탁범위 추가 대조",</a:t>
            </a:r>
          </a:p>
          <a:p xmlns:a="http://schemas.openxmlformats.org/drawingml/2006/main">
            <a:r>
              <a:t>  "caseRefs": [</a:t>
            </a:r>
          </a:p>
          <a:p xmlns:a="http://schemas.openxmlformats.org/drawingml/2006/main">
            <a:r>
              <a:t>    {</a:t>
            </a:r>
          </a:p>
          <a:p xmlns:a="http://schemas.openxmlformats.org/drawingml/2006/main">
            <a:r>
              <a:t>      "caseId": "AX08",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"AX07",</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"AX14",</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"AX17",</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"AX23",</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"중대사고 예방·보고 완전성",</a:t>
            </a:r>
          </a:p>
          <a:p xmlns:a="http://schemas.openxmlformats.org/drawingml/2006/main">
            <a:r>
              <a:t>  "delta": "사건 타임라인·필수 보고항목 검사",</a:t>
            </a:r>
          </a:p>
          <a:p xmlns:a="http://schemas.openxmlformats.org/drawingml/2006/main">
            <a:r>
              <a:t>  "kpi": "필수 사건 재현율 / 보고 누락률",</a:t>
            </a:r>
          </a:p>
          <a:p xmlns:a="http://schemas.openxmlformats.org/drawingml/2006/main">
            <a:r>
              <a:t>  "validation": "사고 증거 누락·시점 충돌 주입 시험",</a:t>
            </a:r>
          </a:p>
          <a:p xmlns:a="http://schemas.openxmlformats.org/drawingml/2006/main">
            <a:r>
              <a:t>  "requirement": "BM-ST-03-R01",</a:t>
            </a:r>
          </a:p>
          <a:p xmlns:a="http://schemas.openxmlformats.org/drawingml/2006/main">
            <a:r>
              <a:t>  "test": "BM-ST-03-T01",</a:t>
            </a:r>
          </a:p>
          <a:p xmlns:a="http://schemas.openxmlformats.org/drawingml/2006/main">
            <a:r>
              <a:t>  "effectStatus": "기대 방향 · TS 실측 전",</a:t>
            </a:r>
          </a:p>
          <a:p xmlns:a="http://schemas.openxmlformats.org/drawingml/2006/main">
            <a:r>
              <a:t>  "effect": "보고 누락·재점검 지연 감소",</a:t>
            </a:r>
          </a:p>
          <a:p xmlns:a="http://schemas.openxmlformats.org/drawingml/2006/main">
            <a:r>
              <a:t>  "reuse": "ON27-BASE / C27-COM + CCK 재사용 판정 기능",</a:t>
            </a:r>
          </a:p>
          <a:p xmlns:a="http://schemas.openxmlformats.org/drawingml/2006/main">
            <a:r>
              <a:t>  "input": "도로·철도·항공·사업장 점검자료, 사건별 영상·로그, 시정조치",</a:t>
            </a:r>
          </a:p>
          <a:p xmlns:a="http://schemas.openxmlformats.org/drawingml/2006/main">
            <a:r>
              <a:t>  "steps": [</a:t>
            </a:r>
          </a:p>
          <a:p xmlns:a="http://schemas.openxmlformats.org/drawingml/2006/main">
            <a:r>
              <a:t>    "분야·사건 ID 분류",</a:t>
            </a:r>
          </a:p>
          <a:p xmlns:a="http://schemas.openxmlformats.org/drawingml/2006/main">
            <a:r>
              <a:t>    "전·중·후 타임라인 대사",</a:t>
            </a:r>
          </a:p>
          <a:p xmlns:a="http://schemas.openxmlformats.org/drawingml/2006/main">
            <a:r>
              <a:t>    "필수 보고·조치 항목 점검",</a:t>
            </a:r>
          </a:p>
          <a:p xmlns:a="http://schemas.openxmlformats.org/drawingml/2006/main">
            <a:r>
              <a:t>    "재점검·종결 검토"</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"1016043",</a:t>
            </a:r>
          </a:p>
          <a:p xmlns:a="http://schemas.openxmlformats.org/drawingml/2006/main">
            <a:r>
              <a:t>      "name": "안전보건실",</a:t>
            </a:r>
          </a:p>
          <a:p xmlns:a="http://schemas.openxmlformats.org/drawingml/2006/main">
            <a:r>
              <a:t>      "job": "사업장 안전·재발방지",</a:t>
            </a:r>
          </a:p>
          <a:p xmlns:a="http://schemas.openxmlformats.org/drawingml/2006/main">
            <a:r>
              <a:t>      "indices": [</a:t>
            </a:r>
          </a:p>
          <a:p xmlns:a="http://schemas.openxmlformats.org/drawingml/2006/main">
            <a:r>
              <a:t>        3,</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"4. 산업재해 신고, 사고대응 및 재발방지 조치",</a:t>
            </a:r>
          </a:p>
          <a:p xmlns:a="http://schemas.openxmlformats.org/drawingml/2006/main">
            <a:r>
              <a:t>        "6. 중대재해처벌법 안전보건의무 이행점검에 관한 업무"</a:t>
            </a:r>
          </a:p>
          <a:p xmlns:a="http://schemas.openxmlformats.org/drawingml/2006/main">
            <a:r>
              <a:t>      ],</a:t>
            </a:r>
          </a:p>
          <a:p xmlns:a="http://schemas.openxmlformats.org/drawingml/2006/main">
            <a:r>
              <a:t>      "locator": "별표4 · T34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"RULEWORK-1016043-4",</a:t>
            </a:r>
          </a:p>
          <a:p xmlns:a="http://schemas.openxmlformats.org/drawingml/2006/main">
            <a:r>
              <a:t>          "text": "4. 산업재해 신고, 사고대응 및 재발방지 조치",</a:t>
            </a:r>
          </a:p>
          <a:p xmlns:a="http://schemas.openxmlformats.org/drawingml/2006/main">
            <a:r>
              <a:t>          "locator": "별표4 · T34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"RULEWORK-1016043-4-R01",</a:t>
            </a:r>
          </a:p>
          <a:p xmlns:a="http://schemas.openxmlformats.org/drawingml/2006/main">
            <a:r>
              <a:t>              "title": "업무 맥락·전용 지식 구성",</a:t>
            </a:r>
          </a:p>
          <a:p xmlns:a="http://schemas.openxmlformats.org/drawingml/2006/main">
            <a:r>
              <a:t>              "development": "작업·위험 유형별 기준·증빙 분류",</a:t>
            </a:r>
          </a:p>
          <a:p xmlns:a="http://schemas.openxmlformats.org/drawingml/2006/main">
            <a:r>
              <a:t>              "output": "위험·예방조치·이행·재점검표",</a:t>
            </a:r>
          </a:p>
          <a:p xmlns:a="http://schemas.openxmlformats.org/drawingml/2006/main">
            <a:r>
              <a:t>              "testId": "RULEWORK-1016043-4-T01",</a:t>
            </a:r>
          </a:p>
          <a:p xmlns:a="http://schemas.openxmlformats.org/drawingml/2006/main">
            <a:r>
              <a:t>              "criterion": "중대 위험·미이행·반복 지적의 정답 대조"</a:t>
            </a:r>
          </a:p>
          <a:p xmlns:a="http://schemas.openxmlformats.org/drawingml/2006/main">
            <a:r>
              <a:t>            },</a:t>
            </a:r>
          </a:p>
          <a:p xmlns:a="http://schemas.openxmlformats.org/drawingml/2006/main">
            <a:r>
              <a:t>            {</a:t>
            </a:r>
          </a:p>
          <a:p xmlns:a="http://schemas.openxmlformats.org/drawingml/2006/main">
            <a:r>
              <a:t>              "id": "RULEWORK-1016043-4-R02",</a:t>
            </a:r>
          </a:p>
          <a:p xmlns:a="http://schemas.openxmlformats.org/drawingml/2006/main">
            <a:r>
              <a:t>              "title": "업무건·역할·시스템 연결",</a:t>
            </a:r>
          </a:p>
          <a:p xmlns:a="http://schemas.openxmlformats.org/drawingml/2006/main">
            <a:r>
              <a:t>              "development": "개선 책임·기한·이행·재확인 연결",</a:t>
            </a:r>
          </a:p>
          <a:p xmlns:a="http://schemas.openxmlformats.org/drawingml/2006/main">
            <a:r>
              <a:t>              "output": "업무건·원천·역할·변경 연결 명세",</a:t>
            </a:r>
          </a:p>
          <a:p xmlns:a="http://schemas.openxmlformats.org/drawingml/2006/main">
            <a:r>
              <a:t>              "testId": "RULEWORK-1016043-4-T02",</a:t>
            </a:r>
          </a:p>
          <a:p xmlns:a="http://schemas.openxmlformats.org/drawingml/2006/main">
            <a:r>
              <a:t>              "criterion": "필수 조치 미완료 건의 안전 확인 처리 차단"</a:t>
            </a:r>
          </a:p>
          <a:p xmlns:a="http://schemas.openxmlformats.org/drawingml/2006/main">
            <a:r>
              <a:t>            },</a:t>
            </a:r>
          </a:p>
          <a:p xmlns:a="http://schemas.openxmlformats.org/drawingml/2006/main">
            <a:r>
              <a:t>            {</a:t>
            </a:r>
          </a:p>
          <a:p xmlns:a="http://schemas.openxmlformats.org/drawingml/2006/main">
            <a:r>
              <a:t>              "id": "RULEWORK-1016043-4-R03",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"RULEWORK-1016043-4-T03",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"RULEWORK-1016043-7",</a:t>
            </a:r>
          </a:p>
          <a:p xmlns:a="http://schemas.openxmlformats.org/drawingml/2006/main">
            <a:r>
              <a:t>          "text": "6. 중대재해처벌법 안전보건의무 이행점검에 관한 업무",</a:t>
            </a:r>
          </a:p>
          <a:p xmlns:a="http://schemas.openxmlformats.org/drawingml/2006/main">
            <a:r>
              <a:t>          "locator": "별표4 · T34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"RULEWORK-1016043-7-R01",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"RULEWORK-1016043-7-T01",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"RULEWORK-1016043-7-R02",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"RULEWORK-1016043-7-T02",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"RULEWORK-1016043-7-R03",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"RULEWORK-1016043-7-T03",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"운수회사 예방대책",</a:t>
            </a:r>
          </a:p>
          <a:p xmlns:a="http://schemas.openxmlformats.org/drawingml/2006/main">
            <a:r>
              <a:t>      "indices": [</a:t>
            </a:r>
          </a:p>
          <a:p xmlns:a="http://schemas.openxmlformats.org/drawingml/2006/main">
            <a:r>
              <a:t>        3,</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"4. 교통사고예방대책 수립 및 교통안전사업 개발",</a:t>
            </a:r>
          </a:p>
          <a:p xmlns:a="http://schemas.openxmlformats.org/drawingml/2006/main">
            <a:r>
              <a:t>        "7. 운수회사 안전관리 및 교통사고 예방사업"</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"RULEWORK-1022030-4",</a:t>
            </a:r>
          </a:p>
          <a:p xmlns:a="http://schemas.openxmlformats.org/drawingml/2006/main">
            <a:r>
              <a:t>          "text": "4. 교통사고예방대책 수립 및 교통안전사업 개발",</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"RULEWORK-1022030-4-R01",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"RULEWORK-1022030-4-T01",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"RULEWORK-1022030-4-R02",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"RULEWORK-1022030-4-T02",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"RULEWORK-1022030-4-R03",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"RULEWORK-1022030-7",</a:t>
            </a:r>
          </a:p>
          <a:p xmlns:a="http://schemas.openxmlformats.org/drawingml/2006/main">
            <a:r>
              <a:t>          "text": "7. 운수회사 안전관리 및 교통사고 예방사업",</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"RULEWORK-1022030-7-R01",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"RULEWORK-1022030-7-T01",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"RULEWORK-1022030-7-R02",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"RULEWORK-1022030-7-T02",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"RULEWORK-1022030-7-R03",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"교통시설 안전점검",</a:t>
            </a:r>
          </a:p>
          <a:p xmlns:a="http://schemas.openxmlformats.org/drawingml/2006/main">
            <a:r>
              <a:t>      "indices": [</a:t>
            </a:r>
          </a:p>
          <a:p xmlns:a="http://schemas.openxmlformats.org/drawingml/2006/main">
            <a:r>
              <a:t>        6,</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"7. 교통시설 안전진단ㆍ점검ㆍ평가에 관한 업무",</a:t>
            </a:r>
          </a:p>
          <a:p xmlns:a="http://schemas.openxmlformats.org/drawingml/2006/main">
            <a:r>
              <a:t>        "10. 교통시설설치ㆍ관리자의 교통안전관리규정 적정성 및 이행여부 확인평가"</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"RULEWORK-1021030-7",</a:t>
            </a:r>
          </a:p>
          <a:p xmlns:a="http://schemas.openxmlformats.org/drawingml/2006/main">
            <a:r>
              <a:t>          "text": "7. 교통시설 안전진단ㆍ점검ㆍ평가에 관한 업무",</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"RULEWORK-1021030-7-R01",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"RULEWORK-1021030-7-T01",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"RULEWORK-1021030-7-R02",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"RULEWORK-1021030-7-T02",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"RULEWORK-1021030-10",</a:t>
            </a:r>
          </a:p>
          <a:p xmlns:a="http://schemas.openxmlformats.org/drawingml/2006/main">
            <a:r>
              <a:t>          "text": "10. 교통시설설치ㆍ관리자의 교통안전관리규정 적정성 및 이행여부 확인평가",</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"RULEWORK-1021030-10-R01",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"RULEWORK-1021030-10-T01",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"RULEWORK-1021030-10-R02",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"RULEWORK-1021030-10-T02",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"RULEWORK-1021030-10-R03",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"1211251",</a:t>
            </a:r>
          </a:p>
          <a:p xmlns:a="http://schemas.openxmlformats.org/drawingml/2006/main">
            <a:r>
              <a:t>      "name": "철도안전처",</a:t>
            </a:r>
          </a:p>
          <a:p xmlns:a="http://schemas.openxmlformats.org/drawingml/2006/main">
            <a:r>
              <a:t>      "job": "철도사고 분석",</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철도사고(철도준사고 포함) 자료 원인분석 및 정책자료 제공"</a:t>
            </a:r>
          </a:p>
          <a:p xmlns:a="http://schemas.openxmlformats.org/drawingml/2006/main">
            <a:r>
              <a:t>      ],</a:t>
            </a:r>
          </a:p>
          <a:p xmlns:a="http://schemas.openxmlformats.org/drawingml/2006/main">
            <a:r>
              <a:t>      "locator": "별표4 · T46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"RULEWORK-1211251-6",</a:t>
            </a:r>
          </a:p>
          <a:p xmlns:a="http://schemas.openxmlformats.org/drawingml/2006/main">
            <a:r>
              <a:t>          "text": "6. 철도사고(철도준사고 포함) 자료 원인분석 및 정책자료 제공",</a:t>
            </a:r>
          </a:p>
          <a:p xmlns:a="http://schemas.openxmlformats.org/drawingml/2006/main">
            <a:r>
              <a:t>          "locator": "별표4 · T46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"RULEWORK-1211251-6-R01",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"RULEWORK-1211251-6-T01",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"RULEWORK-1211251-6-R02",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"RULEWORK-1211251-6-T02",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"RULEWORK-1211251-6-R03",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"RULEWORK-1211251-6-T03",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"1211250",</a:t>
            </a:r>
          </a:p>
          <a:p xmlns:a="http://schemas.openxmlformats.org/drawingml/2006/main">
            <a:r>
              <a:t>      "name": "철도승인처",</a:t>
            </a:r>
          </a:p>
          <a:p xmlns:a="http://schemas.openxmlformats.org/drawingml/2006/main">
            <a:r>
              <a:t>      "job": "철도 안전관리체계 승인",</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철도안전관리체계 승인업무(최초·변경) 시행",</a:t>
            </a:r>
          </a:p>
          <a:p xmlns:a="http://schemas.openxmlformats.org/drawingml/2006/main">
            <a:r>
              <a:t>        "3. 철도안전관리체계 기술기준 제·개정 및 관리"</a:t>
            </a:r>
          </a:p>
          <a:p xmlns:a="http://schemas.openxmlformats.org/drawingml/2006/main">
            <a:r>
              <a:t>      ],</a:t>
            </a:r>
          </a:p>
          <a:p xmlns:a="http://schemas.openxmlformats.org/drawingml/2006/main">
            <a:r>
              <a:t>      "locator": "별표4 · T46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"RULEWORK-1211250-1",</a:t>
            </a:r>
          </a:p>
          <a:p xmlns:a="http://schemas.openxmlformats.org/drawingml/2006/main">
            <a:r>
              <a:t>          "text": "1. 철도안전관리체계 승인업무(최초·변경) 시행",</a:t>
            </a:r>
          </a:p>
          <a:p xmlns:a="http://schemas.openxmlformats.org/drawingml/2006/main">
            <a:r>
              <a:t>          "locator": "별표4 · T46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"RULEWORK-1211250-1-R01",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"RULEWORK-1211250-1-T01",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"RULEWORK-1211250-1-R02",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"RULEWORK-1211250-1-T02",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"RULEWORK-1211250-3",</a:t>
            </a:r>
          </a:p>
          <a:p xmlns:a="http://schemas.openxmlformats.org/drawingml/2006/main">
            <a:r>
              <a:t>          "text": "3. 철도안전관리체계 기술기준 제·개정 및 관리",</a:t>
            </a:r>
          </a:p>
          <a:p xmlns:a="http://schemas.openxmlformats.org/drawingml/2006/main">
            <a:r>
              <a:t>          "locator": "별표4 · T46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"RULEWORK-1211250-3-R01",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"RULEWORK-1211250-3-T01",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"RULEWORK-1211250-3-R02",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"RULEWORK-1211250-3-T02",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"1211253",</a:t>
            </a:r>
          </a:p>
          <a:p xmlns:a="http://schemas.openxmlformats.org/drawingml/2006/main">
            <a:r>
              <a:t>      "name": "철도검사처",</a:t>
            </a:r>
          </a:p>
          <a:p xmlns:a="http://schemas.openxmlformats.org/drawingml/2006/main">
            <a:r>
              <a:t>      "job": "철도 안전관리체계 검사",</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철도안전관리체계 수시검사 시행",</a:t>
            </a:r>
          </a:p>
          <a:p xmlns:a="http://schemas.openxmlformats.org/drawingml/2006/main">
            <a:r>
              <a:t>        "2. 철도사고 및 운행장애 초기대응 점검 시행"</a:t>
            </a:r>
          </a:p>
          <a:p xmlns:a="http://schemas.openxmlformats.org/drawingml/2006/main">
            <a:r>
              <a:t>      ],</a:t>
            </a:r>
          </a:p>
          <a:p xmlns:a="http://schemas.openxmlformats.org/drawingml/2006/main">
            <a:r>
              <a:t>      "locator": "별표4 · T46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"RULEWORK-1211253-1",</a:t>
            </a:r>
          </a:p>
          <a:p xmlns:a="http://schemas.openxmlformats.org/drawingml/2006/main">
            <a:r>
              <a:t>          "text": "1. 철도안전관리체계 수시검사 시행",</a:t>
            </a:r>
          </a:p>
          <a:p xmlns:a="http://schemas.openxmlformats.org/drawingml/2006/main">
            <a:r>
              <a:t>          "locator": "별표4 · T46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"RULEWORK-1211253-1-R01",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"RULEWORK-1211253-1-T01",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"RULEWORK-1211253-1-R02",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"RULEWORK-1211253-1-T02",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"RULEWORK-1211253-1-R03",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"RULEWORK-1211253-1-T03",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"RULEWORK-1211253-2",</a:t>
            </a:r>
          </a:p>
          <a:p xmlns:a="http://schemas.openxmlformats.org/drawingml/2006/main">
            <a:r>
              <a:t>          "text": "2. 철도사고 및 운행장애 초기대응 점검 시행",</a:t>
            </a:r>
          </a:p>
          <a:p xmlns:a="http://schemas.openxmlformats.org/drawingml/2006/main">
            <a:r>
              <a:t>          "locator": "별표4 · T46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"RULEWORK-1211253-2-R01",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"RULEWORK-1211253-2-T01",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"RULEWORK-1211253-2-R02",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"RULEWORK-1211253-2-T02",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"RULEWORK-1211253-2-R03",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"RULEWORK-1211253-2-T03",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"1211280",</a:t>
            </a:r>
          </a:p>
          <a:p xmlns:a="http://schemas.openxmlformats.org/drawingml/2006/main">
            <a:r>
              <a:t>      "name": "항공안전처",</a:t>
            </a:r>
          </a:p>
          <a:p xmlns:a="http://schemas.openxmlformats.org/drawingml/2006/main">
            <a:r>
              <a:t>      "job": "항공안전·사고조사",</a:t>
            </a:r>
          </a:p>
          <a:p xmlns:a="http://schemas.openxmlformats.org/drawingml/2006/main">
            <a:r>
              <a:t>      "indices": [</a:t>
            </a:r>
          </a:p>
          <a:p xmlns:a="http://schemas.openxmlformats.org/drawingml/2006/main">
            <a:r>
              <a:t>        7,</a:t>
            </a:r>
          </a:p>
          <a:p xmlns:a="http://schemas.openxmlformats.org/drawingml/2006/main">
            <a:r>
              <a:t>        12</a:t>
            </a:r>
          </a:p>
          <a:p xmlns:a="http://schemas.openxmlformats.org/drawingml/2006/main">
            <a:r>
              <a:t>      ],</a:t>
            </a:r>
          </a:p>
          <a:p xmlns:a="http://schemas.openxmlformats.org/drawingml/2006/main">
            <a:r>
              <a:t>      "duties": [</a:t>
            </a:r>
          </a:p>
          <a:p xmlns:a="http://schemas.openxmlformats.org/drawingml/2006/main">
            <a:r>
              <a:t>        "8. 항공안전‧항공보안 자율보고의 접수·분석 및 전파업무",</a:t>
            </a:r>
          </a:p>
          <a:p xmlns:a="http://schemas.openxmlformats.org/drawingml/2006/main">
            <a:r>
              <a:t>        "13. 초경량비행장치 사고조사 업무"</a:t>
            </a:r>
          </a:p>
          <a:p xmlns:a="http://schemas.openxmlformats.org/drawingml/2006/main">
            <a:r>
              <a:t>      ],</a:t>
            </a:r>
          </a:p>
          <a:p xmlns:a="http://schemas.openxmlformats.org/drawingml/2006/main">
            <a:r>
              <a:t>      "locator": "별표4 · T45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"RULEWORK-1211280-8",</a:t>
            </a:r>
          </a:p>
          <a:p xmlns:a="http://schemas.openxmlformats.org/drawingml/2006/main">
            <a:r>
              <a:t>          "text": "8. 항공안전‧항공보안 자율보고의 접수·분석 및 전파업무",</a:t>
            </a:r>
          </a:p>
          <a:p xmlns:a="http://schemas.openxmlformats.org/drawingml/2006/main">
            <a:r>
              <a:t>          "locator": "별표4 · T45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"RULEWORK-1211280-8-R01",</a:t>
            </a:r>
          </a:p>
          <a:p xmlns:a="http://schemas.openxmlformats.org/drawingml/2006/main">
            <a:r>
              <a:t>              "title": "업무 맥락·전용 지식 구성",</a:t>
            </a:r>
          </a:p>
          <a:p xmlns:a="http://schemas.openxmlformats.org/drawingml/2006/main">
            <a:r>
              <a:t>              "development": "기체·임무·운영 범위별 요건 분류",</a:t>
            </a:r>
          </a:p>
          <a:p xmlns:a="http://schemas.openxmlformats.org/drawingml/2006/main">
            <a:r>
              <a:t>              "output": "요건·위험·보완·인계 검토자료",</a:t>
            </a:r>
          </a:p>
          <a:p xmlns:a="http://schemas.openxmlformats.org/drawingml/2006/main">
            <a:r>
              <a:t>              "testId": "RULEWORK-1211280-8-T01",</a:t>
            </a:r>
          </a:p>
          <a:p xmlns:a="http://schemas.openxmlformats.org/drawingml/2006/main">
            <a:r>
              <a:t>              "criterion": "운영 조건·서류 요건·근거 조항 대조"</a:t>
            </a:r>
          </a:p>
          <a:p xmlns:a="http://schemas.openxmlformats.org/drawingml/2006/main">
            <a:r>
              <a:t>            },</a:t>
            </a:r>
          </a:p>
          <a:p xmlns:a="http://schemas.openxmlformats.org/drawingml/2006/main">
            <a:r>
              <a:t>            {</a:t>
            </a:r>
          </a:p>
          <a:p xmlns:a="http://schemas.openxmlformats.org/drawingml/2006/main">
            <a:r>
              <a:t>              "id": "RULEWORK-1211280-8-R02",</a:t>
            </a:r>
          </a:p>
          <a:p xmlns:a="http://schemas.openxmlformats.org/drawingml/2006/main">
            <a:r>
              <a:t>              "title": "업무건·역할·시스템 연결",</a:t>
            </a:r>
          </a:p>
          <a:p xmlns:a="http://schemas.openxmlformats.org/drawingml/2006/main">
            <a:r>
              <a:t>              "development": "신고·검토·보완·공식 결과의 판본 추적",</a:t>
            </a:r>
          </a:p>
          <a:p xmlns:a="http://schemas.openxmlformats.org/drawingml/2006/main">
            <a:r>
              <a:t>              "output": "업무건·원천·역할·변경 연결 명세",</a:t>
            </a:r>
          </a:p>
          <a:p xmlns:a="http://schemas.openxmlformats.org/drawingml/2006/main">
            <a:r>
              <a:t>              "testId": "RULEWORK-1211280-8-T02",</a:t>
            </a:r>
          </a:p>
          <a:p xmlns:a="http://schemas.openxmlformats.org/drawingml/2006/main">
            <a:r>
              <a:t>              "criterion": "공식 비행 허가·안전 판정의 자동 확정 차단"</a:t>
            </a:r>
          </a:p>
          <a:p xmlns:a="http://schemas.openxmlformats.org/drawingml/2006/main">
            <a:r>
              <a:t>            },</a:t>
            </a:r>
          </a:p>
          <a:p xmlns:a="http://schemas.openxmlformats.org/drawingml/2006/main">
            <a:r>
              <a:t>            {</a:t>
            </a:r>
          </a:p>
          <a:p xmlns:a="http://schemas.openxmlformats.org/drawingml/2006/main">
            <a:r>
              <a:t>              "id": "RULEWORK-1211280-8-R03",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"RULEWORK-1211280-8-T03",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"RULEWORK-1211280-13",</a:t>
            </a:r>
          </a:p>
          <a:p xmlns:a="http://schemas.openxmlformats.org/drawingml/2006/main">
            <a:r>
              <a:t>          "text": "13. 초경량비행장치 사고조사 업무",</a:t>
            </a:r>
          </a:p>
          <a:p xmlns:a="http://schemas.openxmlformats.org/drawingml/2006/main">
            <a:r>
              <a:t>          "locator": "별표4 · T45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"RULEWORK-1211280-13-R01",</a:t>
            </a:r>
          </a:p>
          <a:p xmlns:a="http://schemas.openxmlformats.org/drawingml/2006/main">
            <a:r>
              <a:t>              "title": "업무 맥락·전용 지식 구성",</a:t>
            </a:r>
          </a:p>
          <a:p xmlns:a="http://schemas.openxmlformats.org/drawingml/2006/main">
            <a:r>
              <a:t>              "development": "기체·임무·운영 범위별 요건 분류",</a:t>
            </a:r>
          </a:p>
          <a:p xmlns:a="http://schemas.openxmlformats.org/drawingml/2006/main">
            <a:r>
              <a:t>              "output": "요건·위험·보완·인계 검토자료",</a:t>
            </a:r>
          </a:p>
          <a:p xmlns:a="http://schemas.openxmlformats.org/drawingml/2006/main">
            <a:r>
              <a:t>              "testId": "RULEWORK-1211280-13-T01",</a:t>
            </a:r>
          </a:p>
          <a:p xmlns:a="http://schemas.openxmlformats.org/drawingml/2006/main">
            <a:r>
              <a:t>              "criterion": "운영 조건·서류 요건·근거 조항 대조"</a:t>
            </a:r>
          </a:p>
          <a:p xmlns:a="http://schemas.openxmlformats.org/drawingml/2006/main">
            <a:r>
              <a:t>            },</a:t>
            </a:r>
          </a:p>
          <a:p xmlns:a="http://schemas.openxmlformats.org/drawingml/2006/main">
            <a:r>
              <a:t>            {</a:t>
            </a:r>
          </a:p>
          <a:p xmlns:a="http://schemas.openxmlformats.org/drawingml/2006/main">
            <a:r>
              <a:t>              "id": "RULEWORK-1211280-13-R02",</a:t>
            </a:r>
          </a:p>
          <a:p xmlns:a="http://schemas.openxmlformats.org/drawingml/2006/main">
            <a:r>
              <a:t>              "title": "업무건·역할·시스템 연결",</a:t>
            </a:r>
          </a:p>
          <a:p xmlns:a="http://schemas.openxmlformats.org/drawingml/2006/main">
            <a:r>
              <a:t>              "development": "신고·검토·보완·공식 결과의 판본 추적",</a:t>
            </a:r>
          </a:p>
          <a:p xmlns:a="http://schemas.openxmlformats.org/drawingml/2006/main">
            <a:r>
              <a:t>              "output": "업무건·원천·역할·변경 연결 명세",</a:t>
            </a:r>
          </a:p>
          <a:p xmlns:a="http://schemas.openxmlformats.org/drawingml/2006/main">
            <a:r>
              <a:t>              "testId": "RULEWORK-1211280-13-T02",</a:t>
            </a:r>
          </a:p>
          <a:p xmlns:a="http://schemas.openxmlformats.org/drawingml/2006/main">
            <a:r>
              <a:t>              "criterion": "공식 비행 허가·안전 판정의 자동 확정 차단"</a:t>
            </a:r>
          </a:p>
          <a:p xmlns:a="http://schemas.openxmlformats.org/drawingml/2006/main">
            <a:r>
              <a:t>            },</a:t>
            </a:r>
          </a:p>
          <a:p xmlns:a="http://schemas.openxmlformats.org/drawingml/2006/main">
            <a:r>
              <a:t>            {</a:t>
            </a:r>
          </a:p>
          <a:p xmlns:a="http://schemas.openxmlformats.org/drawingml/2006/main">
            <a:r>
              <a:t>              "id": "RULEWORK-1211280-13-R03",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"RULEWORK-1211280-13-T03",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"CCK-02",</a:t>
            </a:r>
          </a:p>
          <a:p xmlns:a="http://schemas.openxmlformats.org/drawingml/2006/main">
            <a:r>
              <a:t>      "use": "Audin·JET의 증거·항목 검토"</a:t>
            </a:r>
          </a:p>
          <a:p xmlns:a="http://schemas.openxmlformats.org/drawingml/2006/main">
            <a:r>
              <a:t>    },</a:t>
            </a:r>
          </a:p>
          <a:p xmlns:a="http://schemas.openxmlformats.org/drawingml/2006/main">
            <a:r>
              <a:t>    {</a:t>
            </a:r>
          </a:p>
          <a:p xmlns:a="http://schemas.openxmlformats.org/drawingml/2006/main">
            <a:r>
              <a:t>      "assetId": "CCK-03",</a:t>
            </a:r>
          </a:p>
          <a:p xmlns:a="http://schemas.openxmlformats.org/drawingml/2006/main">
            <a:r>
              <a:t>      "use": "Connor 명세의 실행·로그 경계"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"분야별 보고 항목 사전",</a:t>
            </a:r>
          </a:p>
          <a:p xmlns:a="http://schemas.openxmlformats.org/drawingml/2006/main">
            <a:r>
              <a:t>    "원시 증거–사건–보고서 추적표"</a:t>
            </a:r>
          </a:p>
          <a:p xmlns:a="http://schemas.openxmlformats.org/drawingml/2006/main">
            <a:r>
              <a:t>  ],</a:t>
            </a:r>
          </a:p>
          <a:p xmlns:a="http://schemas.openxmlformats.org/drawingml/2006/main">
            <a:r>
              <a:t>  "acceptancePlan": {</a:t>
            </a:r>
          </a:p>
          <a:p xmlns:a="http://schemas.openxmlformats.org/drawingml/2006/main">
            <a:r>
              <a:t>    "sample": "사고 후 사건 삭제, 시각 충돌, 미이행 조치 주입",</a:t>
            </a:r>
          </a:p>
          <a:p xmlns:a="http://schemas.openxmlformats.org/drawingml/2006/main">
            <a:r>
              <a:t>    "criterion": "누락 경고·원시 근거 추적·종결 차단",</a:t>
            </a:r>
          </a:p>
          <a:p xmlns:a="http://schemas.openxmlformats.org/drawingml/2006/main">
            <a:r>
              <a:t>    "evidence": "사건별 정답표·탐지 결과·종결 시도 로그",</a:t>
            </a:r>
          </a:p>
          <a:p xmlns:a="http://schemas.openxmlformats.org/drawingml/2006/main">
            <a:r>
              <a:t>    "execution": "미실행"</a:t>
            </a:r>
          </a:p>
          <a:p xmlns:a="http://schemas.openxmlformats.org/drawingml/2006/main">
            <a:r>
              <a:t>  },</a:t>
            </a:r>
          </a:p>
          <a:p xmlns:a="http://schemas.openxmlformats.org/drawingml/2006/main">
            <a:r>
              <a:t>  "formula": "필수 사건 재현 건수 ÷ 정답 사건 수 / 재점검 기한 초과율",</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"PF-R04",</a:t>
            </a:r>
          </a:p>
          <a:p xmlns:a="http://schemas.openxmlformats.org/drawingml/2006/main">
            <a:r>
              <a:t>    "PF-R09",</a:t>
            </a:r>
          </a:p>
          <a:p xmlns:a="http://schemas.openxmlformats.org/drawingml/2006/main">
            <a:r>
              <a:t>    "PF02"</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"ST-03",</a:t>
            </a:r>
          </a:p>
          <a:p xmlns:a="http://schemas.openxmlformats.org/drawingml/2006/main">
            <a:r>
              <a:t>  "number": 3,</a:t>
            </a:r>
          </a:p>
          <a:p xmlns:a="http://schemas.openxmlformats.org/drawingml/2006/main">
            <a:r>
              <a:t>  "direction": "무결점 교통안전체계 조성",</a:t>
            </a:r>
          </a:p>
          <a:p xmlns:a="http://schemas.openxmlformats.org/drawingml/2006/main">
            <a:r>
              <a:t>  "strategy": "중대사고 예방 능동적 안전관리체계 구축",</a:t>
            </a:r>
          </a:p>
          <a:p xmlns:a="http://schemas.openxmlformats.org/drawingml/2006/main">
            <a:r>
              <a:t>  "solution": "중대위험 조치·재발방지 지원",</a:t>
            </a:r>
          </a:p>
          <a:p xmlns:a="http://schemas.openxmlformats.org/drawingml/2006/main">
            <a:r>
              <a:t>  "lawIds": [</a:t>
            </a:r>
          </a:p>
          <a:p xmlns:a="http://schemas.openxmlformats.org/drawingml/2006/main">
            <a:r>
              <a:t>    "L01",</a:t>
            </a:r>
          </a:p>
          <a:p xmlns:a="http://schemas.openxmlformats.org/drawingml/2006/main">
            <a:r>
              <a:t>    "L02",</a:t>
            </a:r>
          </a:p>
          <a:p xmlns:a="http://schemas.openxmlformats.org/drawingml/2006/main">
            <a:r>
              <a:t>    "L25"</a:t>
            </a:r>
          </a:p>
          <a:p xmlns:a="http://schemas.openxmlformats.org/drawingml/2006/main">
            <a:r>
              <a:t>  ],</a:t>
            </a:r>
          </a:p>
          <a:p xmlns:a="http://schemas.openxmlformats.org/drawingml/2006/main">
            <a:r>
              <a:t>  "codes": [</a:t>
            </a:r>
          </a:p>
          <a:p xmlns:a="http://schemas.openxmlformats.org/drawingml/2006/main">
            <a:r>
              <a:t>    "1016043",</a:t>
            </a:r>
          </a:p>
          <a:p xmlns:a="http://schemas.openxmlformats.org/drawingml/2006/main">
            <a:r>
              <a:t>    "1022030",</a:t>
            </a:r>
          </a:p>
          <a:p xmlns:a="http://schemas.openxmlformats.org/drawingml/2006/main">
            <a:r>
              <a:t>    "1021030",</a:t>
            </a:r>
          </a:p>
          <a:p xmlns:a="http://schemas.openxmlformats.org/drawingml/2006/main">
            <a:r>
              <a:t>    "1211251",</a:t>
            </a:r>
          </a:p>
          <a:p xmlns:a="http://schemas.openxmlformats.org/drawingml/2006/main">
            <a:r>
              <a:t>    "1211250",</a:t>
            </a:r>
          </a:p>
          <a:p xmlns:a="http://schemas.openxmlformats.org/drawingml/2006/main">
            <a:r>
              <a:t>    "1211253",</a:t>
            </a:r>
          </a:p>
          <a:p xmlns:a="http://schemas.openxmlformats.org/drawingml/2006/main">
            <a:r>
              <a:t>    "1211280"</a:t>
            </a:r>
          </a:p>
          <a:p xmlns:a="http://schemas.openxmlformats.org/drawingml/2006/main">
            <a:r>
              <a:t>  ],</a:t>
            </a:r>
          </a:p>
          <a:p xmlns:a="http://schemas.openxmlformats.org/drawingml/2006/main">
            <a:r>
              <a:t>  "work": "분야별 안전점검·시정조치·재점검 관리",</a:t>
            </a:r>
          </a:p>
          <a:p xmlns:a="http://schemas.openxmlformats.org/drawingml/2006/main">
            <a:r>
              <a:t>  "features": [</a:t>
            </a:r>
          </a:p>
          <a:p xmlns:a="http://schemas.openxmlformats.org/drawingml/2006/main">
            <a:r>
              <a:t>    "위험 근거·유사사례·시정조치 이력 연결",</a:t>
            </a:r>
          </a:p>
          <a:p xmlns:a="http://schemas.openxmlformats.org/drawingml/2006/main">
            <a:r>
              <a:t>    "현장 조치·전문 검토·종결 승인 분리"</a:t>
            </a:r>
          </a:p>
          <a:p xmlns:a="http://schemas.openxmlformats.org/drawingml/2006/main">
            <a:r>
              <a:t>  ],</a:t>
            </a:r>
          </a:p>
          <a:p xmlns:a="http://schemas.openxmlformats.org/drawingml/2006/main">
            <a:r>
              <a:t>  "output": "사건 타임라인·위험 조치대장",</a:t>
            </a:r>
          </a:p>
          <a:p xmlns:a="http://schemas.openxmlformats.org/drawingml/2006/main">
            <a:r>
              <a:t>  "acceptance": "미완료 조치의 종결 차단·검토/승인 역할 구분·후속 확인 추적",</a:t>
            </a:r>
          </a:p>
          <a:p xmlns:a="http://schemas.openxmlformats.org/drawingml/2006/main">
            <a:r>
              <a:t>  "phase": "공통 기반 인수 후 부서별 적용",</a:t>
            </a:r>
          </a:p>
          <a:p xmlns:a="http://schemas.openxmlformats.org/drawingml/2006/main">
            <a:r>
              <a:t>  "packages": [</a:t>
            </a:r>
          </a:p>
          <a:p xmlns:a="http://schemas.openxmlformats.org/drawingml/2006/main">
            <a:r>
              <a:t>    "ON-W03",</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"GAI-T07",</a:t>
            </a:r>
          </a:p>
          <a:p xmlns:a="http://schemas.openxmlformats.org/drawingml/2006/main">
            <a:r>
              <a:t>    "GAI-T08",</a:t>
            </a:r>
          </a:p>
          <a:p xmlns:a="http://schemas.openxmlformats.org/drawingml/2006/main">
            <a:r>
              <a:t>    "GAI-T12"</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"1016043",</a:t>
            </a:r>
          </a:p>
          <a:p xmlns:a="http://schemas.openxmlformats.org/drawingml/2006/main">
            <a:r>
              <a:t>      "name": "안전보건실",</a:t>
            </a:r>
          </a:p>
          <a:p xmlns:a="http://schemas.openxmlformats.org/drawingml/2006/main">
            <a:r>
              <a:t>      "job": "사업장 안전·재발방지",</a:t>
            </a:r>
          </a:p>
          <a:p xmlns:a="http://schemas.openxmlformats.org/drawingml/2006/main">
            <a:r>
              <a:t>      "indices": [</a:t>
            </a:r>
          </a:p>
          <a:p xmlns:a="http://schemas.openxmlformats.org/drawingml/2006/main">
            <a:r>
              <a:t>        3,</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"4. 산업재해 신고, 사고대응 및 재발방지 조치",</a:t>
            </a:r>
          </a:p>
          <a:p xmlns:a="http://schemas.openxmlformats.org/drawingml/2006/main">
            <a:r>
              <a:t>        "6. 중대재해처벌법 안전보건의무 이행점검에 관한 업무"</a:t>
            </a:r>
          </a:p>
          <a:p xmlns:a="http://schemas.openxmlformats.org/drawingml/2006/main">
            <a:r>
              <a:t>      ],</a:t>
            </a:r>
          </a:p>
          <a:p xmlns:a="http://schemas.openxmlformats.org/drawingml/2006/main">
            <a:r>
              <a:t>      "locator": "별표4 · T34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"운수회사 예방대책",</a:t>
            </a:r>
          </a:p>
          <a:p xmlns:a="http://schemas.openxmlformats.org/drawingml/2006/main">
            <a:r>
              <a:t>      "indices": [</a:t>
            </a:r>
          </a:p>
          <a:p xmlns:a="http://schemas.openxmlformats.org/drawingml/2006/main">
            <a:r>
              <a:t>        3,</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"4. 교통사고예방대책 수립 및 교통안전사업 개발",</a:t>
            </a:r>
          </a:p>
          <a:p xmlns:a="http://schemas.openxmlformats.org/drawingml/2006/main">
            <a:r>
              <a:t>        "7. 운수회사 안전관리 및 교통사고 예방사업"</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"교통시설 안전점검",</a:t>
            </a:r>
          </a:p>
          <a:p xmlns:a="http://schemas.openxmlformats.org/drawingml/2006/main">
            <a:r>
              <a:t>      "indices": [</a:t>
            </a:r>
          </a:p>
          <a:p xmlns:a="http://schemas.openxmlformats.org/drawingml/2006/main">
            <a:r>
              <a:t>        6,</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"7. 교통시설 안전진단ㆍ점검ㆍ평가에 관한 업무",</a:t>
            </a:r>
          </a:p>
          <a:p xmlns:a="http://schemas.openxmlformats.org/drawingml/2006/main">
            <a:r>
              <a:t>        "10. 교통시설설치ㆍ관리자의 교통안전관리규정 적정성 및 이행여부 확인평가"</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"1211251",</a:t>
            </a:r>
          </a:p>
          <a:p xmlns:a="http://schemas.openxmlformats.org/drawingml/2006/main">
            <a:r>
              <a:t>      "name": "철도안전처",</a:t>
            </a:r>
          </a:p>
          <a:p xmlns:a="http://schemas.openxmlformats.org/drawingml/2006/main">
            <a:r>
              <a:t>      "job": "철도사고 분석",</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철도사고(철도준사고 포함) 자료 원인분석 및 정책자료 제공"</a:t>
            </a:r>
          </a:p>
          <a:p xmlns:a="http://schemas.openxmlformats.org/drawingml/2006/main">
            <a:r>
              <a:t>      ],</a:t>
            </a:r>
          </a:p>
          <a:p xmlns:a="http://schemas.openxmlformats.org/drawingml/2006/main">
            <a:r>
              <a:t>      "locator": "별표4 · T46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"1211250",</a:t>
            </a:r>
          </a:p>
          <a:p xmlns:a="http://schemas.openxmlformats.org/drawingml/2006/main">
            <a:r>
              <a:t>      "name": "철도승인처",</a:t>
            </a:r>
          </a:p>
          <a:p xmlns:a="http://schemas.openxmlformats.org/drawingml/2006/main">
            <a:r>
              <a:t>      "job": "철도 안전관리체계 승인",</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철도안전관리체계 승인업무(최초·변경) 시행",</a:t>
            </a:r>
          </a:p>
          <a:p xmlns:a="http://schemas.openxmlformats.org/drawingml/2006/main">
            <a:r>
              <a:t>        "3. 철도안전관리체계 기술기준 제·개정 및 관리"</a:t>
            </a:r>
          </a:p>
          <a:p xmlns:a="http://schemas.openxmlformats.org/drawingml/2006/main">
            <a:r>
              <a:t>      ],</a:t>
            </a:r>
          </a:p>
          <a:p xmlns:a="http://schemas.openxmlformats.org/drawingml/2006/main">
            <a:r>
              <a:t>      "locator": "별표4 · T46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"1211253",</a:t>
            </a:r>
          </a:p>
          <a:p xmlns:a="http://schemas.openxmlformats.org/drawingml/2006/main">
            <a:r>
              <a:t>      "name": "철도검사처",</a:t>
            </a:r>
          </a:p>
          <a:p xmlns:a="http://schemas.openxmlformats.org/drawingml/2006/main">
            <a:r>
              <a:t>      "job": "철도 안전관리체계 검사",</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철도안전관리체계 수시검사 시행",</a:t>
            </a:r>
          </a:p>
          <a:p xmlns:a="http://schemas.openxmlformats.org/drawingml/2006/main">
            <a:r>
              <a:t>        "2. 철도사고 및 운행장애 초기대응 점검 시행"</a:t>
            </a:r>
          </a:p>
          <a:p xmlns:a="http://schemas.openxmlformats.org/drawingml/2006/main">
            <a:r>
              <a:t>      ],</a:t>
            </a:r>
          </a:p>
          <a:p xmlns:a="http://schemas.openxmlformats.org/drawingml/2006/main">
            <a:r>
              <a:t>      "locator": "별표4 · T46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"1211280",</a:t>
            </a:r>
          </a:p>
          <a:p xmlns:a="http://schemas.openxmlformats.org/drawingml/2006/main">
            <a:r>
              <a:t>      "name": "항공안전처",</a:t>
            </a:r>
          </a:p>
          <a:p xmlns:a="http://schemas.openxmlformats.org/drawingml/2006/main">
            <a:r>
              <a:t>      "job": "항공안전·사고조사",</a:t>
            </a:r>
          </a:p>
          <a:p xmlns:a="http://schemas.openxmlformats.org/drawingml/2006/main">
            <a:r>
              <a:t>      "indices": [</a:t>
            </a:r>
          </a:p>
          <a:p xmlns:a="http://schemas.openxmlformats.org/drawingml/2006/main">
            <a:r>
              <a:t>        7,</a:t>
            </a:r>
          </a:p>
          <a:p xmlns:a="http://schemas.openxmlformats.org/drawingml/2006/main">
            <a:r>
              <a:t>        12</a:t>
            </a:r>
          </a:p>
          <a:p xmlns:a="http://schemas.openxmlformats.org/drawingml/2006/main">
            <a:r>
              <a:t>      ],</a:t>
            </a:r>
          </a:p>
          <a:p xmlns:a="http://schemas.openxmlformats.org/drawingml/2006/main">
            <a:r>
              <a:t>      "duties": [</a:t>
            </a:r>
          </a:p>
          <a:p xmlns:a="http://schemas.openxmlformats.org/drawingml/2006/main">
            <a:r>
              <a:t>        "8. 항공안전‧항공보안 자율보고의 접수·분석 및 전파업무",</a:t>
            </a:r>
          </a:p>
          <a:p xmlns:a="http://schemas.openxmlformats.org/drawingml/2006/main">
            <a:r>
              <a:t>        "13. 초경량비행장치 사고조사 업무"</a:t>
            </a:r>
          </a:p>
          <a:p xmlns:a="http://schemas.openxmlformats.org/drawingml/2006/main">
            <a:r>
              <a:t>      ],</a:t>
            </a:r>
          </a:p>
          <a:p xmlns:a="http://schemas.openxmlformats.org/drawingml/2006/main">
            <a:r>
              <a:t>      "locator": "별표4 · T45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"도로·철도 점검: 연결 법령 원장 / 사업장 안전·항공안전: 별표4 안전보건실·항공안전처 업무 / 분야별 법령·위탁범위 추가 대조",</a:t>
            </a:r>
          </a:p>
          <a:p xmlns:a="http://schemas.openxmlformats.org/drawingml/2006/main">
            <a:r>
              <a:t>  "caseRefs": [</a:t>
            </a:r>
          </a:p>
          <a:p xmlns:a="http://schemas.openxmlformats.org/drawingml/2006/main">
            <a:r>
              <a:t>    {</a:t>
            </a:r>
          </a:p>
          <a:p xmlns:a="http://schemas.openxmlformats.org/drawingml/2006/main">
            <a:r>
              <a:t>      "caseId": "AX08",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"AX07",</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"AX14",</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"AX17",</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"AX23",</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"중대사고 예방·보고 완전성",</a:t>
            </a:r>
          </a:p>
          <a:p xmlns:a="http://schemas.openxmlformats.org/drawingml/2006/main">
            <a:r>
              <a:t>  "delta": "사건 타임라인·필수 보고항목 검사",</a:t>
            </a:r>
          </a:p>
          <a:p xmlns:a="http://schemas.openxmlformats.org/drawingml/2006/main">
            <a:r>
              <a:t>  "kpi": "필수 사건 재현율 / 보고 누락률",</a:t>
            </a:r>
          </a:p>
          <a:p xmlns:a="http://schemas.openxmlformats.org/drawingml/2006/main">
            <a:r>
              <a:t>  "validation": "사고 증거 누락·시점 충돌 주입 시험",</a:t>
            </a:r>
          </a:p>
          <a:p xmlns:a="http://schemas.openxmlformats.org/drawingml/2006/main">
            <a:r>
              <a:t>  "requirement": "BM-ST-03-R01",</a:t>
            </a:r>
          </a:p>
          <a:p xmlns:a="http://schemas.openxmlformats.org/drawingml/2006/main">
            <a:r>
              <a:t>  "test": "BM-ST-03-T01",</a:t>
            </a:r>
          </a:p>
          <a:p xmlns:a="http://schemas.openxmlformats.org/drawingml/2006/main">
            <a:r>
              <a:t>  "effectStatus": "기대 방향 · TS 실측 전",</a:t>
            </a:r>
          </a:p>
          <a:p xmlns:a="http://schemas.openxmlformats.org/drawingml/2006/main">
            <a:r>
              <a:t>  "effect": "보고 누락·재점검 지연 감소",</a:t>
            </a:r>
          </a:p>
          <a:p xmlns:a="http://schemas.openxmlformats.org/drawingml/2006/main">
            <a:r>
              <a:t>  "reuse": "ON27-BASE / C27-COM + CCK 재사용 판정 기능",</a:t>
            </a:r>
          </a:p>
          <a:p xmlns:a="http://schemas.openxmlformats.org/drawingml/2006/main">
            <a:r>
              <a:t>  "input": "도로·철도·항공·사업장 점검자료, 사건별 영상·로그, 시정조치",</a:t>
            </a:r>
          </a:p>
          <a:p xmlns:a="http://schemas.openxmlformats.org/drawingml/2006/main">
            <a:r>
              <a:t>  "steps": [</a:t>
            </a:r>
          </a:p>
          <a:p xmlns:a="http://schemas.openxmlformats.org/drawingml/2006/main">
            <a:r>
              <a:t>    "분야·사건 ID 분류",</a:t>
            </a:r>
          </a:p>
          <a:p xmlns:a="http://schemas.openxmlformats.org/drawingml/2006/main">
            <a:r>
              <a:t>    "전·중·후 타임라인 대사",</a:t>
            </a:r>
          </a:p>
          <a:p xmlns:a="http://schemas.openxmlformats.org/drawingml/2006/main">
            <a:r>
              <a:t>    "필수 보고·조치 항목 점검",</a:t>
            </a:r>
          </a:p>
          <a:p xmlns:a="http://schemas.openxmlformats.org/drawingml/2006/main">
            <a:r>
              <a:t>    "재점검·종결 검토"</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"1016043",</a:t>
            </a:r>
          </a:p>
          <a:p xmlns:a="http://schemas.openxmlformats.org/drawingml/2006/main">
            <a:r>
              <a:t>      "name": "안전보건실",</a:t>
            </a:r>
          </a:p>
          <a:p xmlns:a="http://schemas.openxmlformats.org/drawingml/2006/main">
            <a:r>
              <a:t>      "job": "사업장 안전·재발방지",</a:t>
            </a:r>
          </a:p>
          <a:p xmlns:a="http://schemas.openxmlformats.org/drawingml/2006/main">
            <a:r>
              <a:t>      "indices": [</a:t>
            </a:r>
          </a:p>
          <a:p xmlns:a="http://schemas.openxmlformats.org/drawingml/2006/main">
            <a:r>
              <a:t>        3,</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"4. 산업재해 신고, 사고대응 및 재발방지 조치",</a:t>
            </a:r>
          </a:p>
          <a:p xmlns:a="http://schemas.openxmlformats.org/drawingml/2006/main">
            <a:r>
              <a:t>        "6. 중대재해처벌법 안전보건의무 이행점검에 관한 업무"</a:t>
            </a:r>
          </a:p>
          <a:p xmlns:a="http://schemas.openxmlformats.org/drawingml/2006/main">
            <a:r>
              <a:t>      ],</a:t>
            </a:r>
          </a:p>
          <a:p xmlns:a="http://schemas.openxmlformats.org/drawingml/2006/main">
            <a:r>
              <a:t>      "locator": "별표4 · T34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"RULEWORK-1016043-4",</a:t>
            </a:r>
          </a:p>
          <a:p xmlns:a="http://schemas.openxmlformats.org/drawingml/2006/main">
            <a:r>
              <a:t>          "text": "4. 산업재해 신고, 사고대응 및 재발방지 조치",</a:t>
            </a:r>
          </a:p>
          <a:p xmlns:a="http://schemas.openxmlformats.org/drawingml/2006/main">
            <a:r>
              <a:t>          "locator": "별표4 · T34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"RULEWORK-1016043-4-R01",</a:t>
            </a:r>
          </a:p>
          <a:p xmlns:a="http://schemas.openxmlformats.org/drawingml/2006/main">
            <a:r>
              <a:t>              "title": "업무 맥락·전용 지식 구성",</a:t>
            </a:r>
          </a:p>
          <a:p xmlns:a="http://schemas.openxmlformats.org/drawingml/2006/main">
            <a:r>
              <a:t>              "development": "작업·위험 유형별 기준·증빙 분류",</a:t>
            </a:r>
          </a:p>
          <a:p xmlns:a="http://schemas.openxmlformats.org/drawingml/2006/main">
            <a:r>
              <a:t>              "output": "위험·예방조치·이행·재점검표",</a:t>
            </a:r>
          </a:p>
          <a:p xmlns:a="http://schemas.openxmlformats.org/drawingml/2006/main">
            <a:r>
              <a:t>              "testId": "RULEWORK-1016043-4-T01",</a:t>
            </a:r>
          </a:p>
          <a:p xmlns:a="http://schemas.openxmlformats.org/drawingml/2006/main">
            <a:r>
              <a:t>              "criterion": "중대 위험·미이행·반복 지적의 정답 대조"</a:t>
            </a:r>
          </a:p>
          <a:p xmlns:a="http://schemas.openxmlformats.org/drawingml/2006/main">
            <a:r>
              <a:t>            },</a:t>
            </a:r>
          </a:p>
          <a:p xmlns:a="http://schemas.openxmlformats.org/drawingml/2006/main">
            <a:r>
              <a:t>            {</a:t>
            </a:r>
          </a:p>
          <a:p xmlns:a="http://schemas.openxmlformats.org/drawingml/2006/main">
            <a:r>
              <a:t>              "id": "RULEWORK-1016043-4-R02",</a:t>
            </a:r>
          </a:p>
          <a:p xmlns:a="http://schemas.openxmlformats.org/drawingml/2006/main">
            <a:r>
              <a:t>              "title": "업무건·역할·시스템 연결",</a:t>
            </a:r>
          </a:p>
          <a:p xmlns:a="http://schemas.openxmlformats.org/drawingml/2006/main">
            <a:r>
              <a:t>              "development": "개선 책임·기한·이행·재확인 연결",</a:t>
            </a:r>
          </a:p>
          <a:p xmlns:a="http://schemas.openxmlformats.org/drawingml/2006/main">
            <a:r>
              <a:t>              "output": "업무건·원천·역할·변경 연결 명세",</a:t>
            </a:r>
          </a:p>
          <a:p xmlns:a="http://schemas.openxmlformats.org/drawingml/2006/main">
            <a:r>
              <a:t>              "testId": "RULEWORK-1016043-4-T02",</a:t>
            </a:r>
          </a:p>
          <a:p xmlns:a="http://schemas.openxmlformats.org/drawingml/2006/main">
            <a:r>
              <a:t>              "criterion": "필수 조치 미완료 건의 안전 확인 처리 차단"</a:t>
            </a:r>
          </a:p>
          <a:p xmlns:a="http://schemas.openxmlformats.org/drawingml/2006/main">
            <a:r>
              <a:t>            },</a:t>
            </a:r>
          </a:p>
          <a:p xmlns:a="http://schemas.openxmlformats.org/drawingml/2006/main">
            <a:r>
              <a:t>            {</a:t>
            </a:r>
          </a:p>
          <a:p xmlns:a="http://schemas.openxmlformats.org/drawingml/2006/main">
            <a:r>
              <a:t>              "id": "RULEWORK-1016043-4-R03",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"RULEWORK-1016043-4-T03",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"RULEWORK-1016043-7",</a:t>
            </a:r>
          </a:p>
          <a:p xmlns:a="http://schemas.openxmlformats.org/drawingml/2006/main">
            <a:r>
              <a:t>          "text": "6. 중대재해처벌법 안전보건의무 이행점검에 관한 업무",</a:t>
            </a:r>
          </a:p>
          <a:p xmlns:a="http://schemas.openxmlformats.org/drawingml/2006/main">
            <a:r>
              <a:t>          "locator": "별표4 · T34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"RULEWORK-1016043-7-R01",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"RULEWORK-1016043-7-T01",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"RULEWORK-1016043-7-R02",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"RULEWORK-1016043-7-T02",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"RULEWORK-1016043-7-R03",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"RULEWORK-1016043-7-T03",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"운수회사 예방대책",</a:t>
            </a:r>
          </a:p>
          <a:p xmlns:a="http://schemas.openxmlformats.org/drawingml/2006/main">
            <a:r>
              <a:t>      "indices": [</a:t>
            </a:r>
          </a:p>
          <a:p xmlns:a="http://schemas.openxmlformats.org/drawingml/2006/main">
            <a:r>
              <a:t>        3,</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"4. 교통사고예방대책 수립 및 교통안전사업 개발",</a:t>
            </a:r>
          </a:p>
          <a:p xmlns:a="http://schemas.openxmlformats.org/drawingml/2006/main">
            <a:r>
              <a:t>        "7. 운수회사 안전관리 및 교통사고 예방사업"</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"RULEWORK-1022030-4",</a:t>
            </a:r>
          </a:p>
          <a:p xmlns:a="http://schemas.openxmlformats.org/drawingml/2006/main">
            <a:r>
              <a:t>          "text": "4. 교통사고예방대책 수립 및 교통안전사업 개발",</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"RULEWORK-1022030-4-R01",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"RULEWORK-1022030-4-T01",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"RULEWORK-1022030-4-R02",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"RULEWORK-1022030-4-T02",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"RULEWORK-1022030-4-R03",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"RULEWORK-1022030-7",</a:t>
            </a:r>
          </a:p>
          <a:p xmlns:a="http://schemas.openxmlformats.org/drawingml/2006/main">
            <a:r>
              <a:t>          "text": "7. 운수회사 안전관리 및 교통사고 예방사업",</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"RULEWORK-1022030-7-R01",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"RULEWORK-1022030-7-T01",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"RULEWORK-1022030-7-R02",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"RULEWORK-1022030-7-T02",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"RULEWORK-1022030-7-R03",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"교통시설 안전점검",</a:t>
            </a:r>
          </a:p>
          <a:p xmlns:a="http://schemas.openxmlformats.org/drawingml/2006/main">
            <a:r>
              <a:t>      "indices": [</a:t>
            </a:r>
          </a:p>
          <a:p xmlns:a="http://schemas.openxmlformats.org/drawingml/2006/main">
            <a:r>
              <a:t>        6,</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"7. 교통시설 안전진단ㆍ점검ㆍ평가에 관한 업무",</a:t>
            </a:r>
          </a:p>
          <a:p xmlns:a="http://schemas.openxmlformats.org/drawingml/2006/main">
            <a:r>
              <a:t>        "10. 교통시설설치ㆍ관리자의 교통안전관리규정 적정성 및 이행여부 확인평가"</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"RULEWORK-1021030-7",</a:t>
            </a:r>
          </a:p>
          <a:p xmlns:a="http://schemas.openxmlformats.org/drawingml/2006/main">
            <a:r>
              <a:t>          "text": "7. 교통시설 안전진단ㆍ점검ㆍ평가에 관한 업무",</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"RULEWORK-1021030-7-R01",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"RULEWORK-1021030-7-T01",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"RULEWORK-1021030-7-R02",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"RULEWORK-1021030-7-T02",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"RULEWORK-1021030-10",</a:t>
            </a:r>
          </a:p>
          <a:p xmlns:a="http://schemas.openxmlformats.org/drawingml/2006/main">
            <a:r>
              <a:t>          "text": "10. 교통시설설치ㆍ관리자의 교통안전관리규정 적정성 및 이행여부 확인평가",</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"RULEWORK-1021030-10-R01",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"RULEWORK-1021030-10-T01",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"RULEWORK-1021030-10-R02",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"RULEWORK-1021030-10-T02",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"RULEWORK-1021030-10-R03",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"1211251",</a:t>
            </a:r>
          </a:p>
          <a:p xmlns:a="http://schemas.openxmlformats.org/drawingml/2006/main">
            <a:r>
              <a:t>      "name": "철도안전처",</a:t>
            </a:r>
          </a:p>
          <a:p xmlns:a="http://schemas.openxmlformats.org/drawingml/2006/main">
            <a:r>
              <a:t>      "job": "철도사고 분석",</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철도사고(철도준사고 포함) 자료 원인분석 및 정책자료 제공"</a:t>
            </a:r>
          </a:p>
          <a:p xmlns:a="http://schemas.openxmlformats.org/drawingml/2006/main">
            <a:r>
              <a:t>      ],</a:t>
            </a:r>
          </a:p>
          <a:p xmlns:a="http://schemas.openxmlformats.org/drawingml/2006/main">
            <a:r>
              <a:t>      "locator": "별표4 · T46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"RULEWORK-1211251-6",</a:t>
            </a:r>
          </a:p>
          <a:p xmlns:a="http://schemas.openxmlformats.org/drawingml/2006/main">
            <a:r>
              <a:t>          "text": "6. 철도사고(철도준사고 포함) 자료 원인분석 및 정책자료 제공",</a:t>
            </a:r>
          </a:p>
          <a:p xmlns:a="http://schemas.openxmlformats.org/drawingml/2006/main">
            <a:r>
              <a:t>          "locator": "별표4 · T46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"RULEWORK-1211251-6-R01",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"RULEWORK-1211251-6-T01",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"RULEWORK-1211251-6-R02",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"RULEWORK-1211251-6-T02",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"RULEWORK-1211251-6-R03",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"RULEWORK-1211251-6-T03",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"1211250",</a:t>
            </a:r>
          </a:p>
          <a:p xmlns:a="http://schemas.openxmlformats.org/drawingml/2006/main">
            <a:r>
              <a:t>      "name": "철도승인처",</a:t>
            </a:r>
          </a:p>
          <a:p xmlns:a="http://schemas.openxmlformats.org/drawingml/2006/main">
            <a:r>
              <a:t>      "job": "철도 안전관리체계 승인",</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철도안전관리체계 승인업무(최초·변경) 시행",</a:t>
            </a:r>
          </a:p>
          <a:p xmlns:a="http://schemas.openxmlformats.org/drawingml/2006/main">
            <a:r>
              <a:t>        "3. 철도안전관리체계 기술기준 제·개정 및 관리"</a:t>
            </a:r>
          </a:p>
          <a:p xmlns:a="http://schemas.openxmlformats.org/drawingml/2006/main">
            <a:r>
              <a:t>      ],</a:t>
            </a:r>
          </a:p>
          <a:p xmlns:a="http://schemas.openxmlformats.org/drawingml/2006/main">
            <a:r>
              <a:t>      "locator": "별표4 · T46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"RULEWORK-1211250-1",</a:t>
            </a:r>
          </a:p>
          <a:p xmlns:a="http://schemas.openxmlformats.org/drawingml/2006/main">
            <a:r>
              <a:t>          "text": "1. 철도안전관리체계 승인업무(최초·변경) 시행",</a:t>
            </a:r>
          </a:p>
          <a:p xmlns:a="http://schemas.openxmlformats.org/drawingml/2006/main">
            <a:r>
              <a:t>          "locator": "별표4 · T46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"RULEWORK-1211250-1-R01",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"RULEWORK-1211250-1-T01",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"RULEWORK-1211250-1-R02",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"RULEWORK-1211250-1-T02",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"RULEWORK-1211250-3",</a:t>
            </a:r>
          </a:p>
          <a:p xmlns:a="http://schemas.openxmlformats.org/drawingml/2006/main">
            <a:r>
              <a:t>          "text": "3. 철도안전관리체계 기술기준 제·개정 및 관리",</a:t>
            </a:r>
          </a:p>
          <a:p xmlns:a="http://schemas.openxmlformats.org/drawingml/2006/main">
            <a:r>
              <a:t>          "locator": "별표4 · T46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"RULEWORK-1211250-3-R01",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"RULEWORK-1211250-3-T01",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"RULEWORK-1211250-3-R02",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"RULEWORK-1211250-3-T02",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"1211253",</a:t>
            </a:r>
          </a:p>
          <a:p xmlns:a="http://schemas.openxmlformats.org/drawingml/2006/main">
            <a:r>
              <a:t>      "name": "철도검사처",</a:t>
            </a:r>
          </a:p>
          <a:p xmlns:a="http://schemas.openxmlformats.org/drawingml/2006/main">
            <a:r>
              <a:t>      "job": "철도 안전관리체계 검사",</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철도안전관리체계 수시검사 시행",</a:t>
            </a:r>
          </a:p>
          <a:p xmlns:a="http://schemas.openxmlformats.org/drawingml/2006/main">
            <a:r>
              <a:t>        "2. 철도사고 및 운행장애 초기대응 점검 시행"</a:t>
            </a:r>
          </a:p>
          <a:p xmlns:a="http://schemas.openxmlformats.org/drawingml/2006/main">
            <a:r>
              <a:t>      ],</a:t>
            </a:r>
          </a:p>
          <a:p xmlns:a="http://schemas.openxmlformats.org/drawingml/2006/main">
            <a:r>
              <a:t>      "locator": "별표4 · T46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"RULEWORK-1211253-1",</a:t>
            </a:r>
          </a:p>
          <a:p xmlns:a="http://schemas.openxmlformats.org/drawingml/2006/main">
            <a:r>
              <a:t>          "text": "1. 철도안전관리체계 수시검사 시행",</a:t>
            </a:r>
          </a:p>
          <a:p xmlns:a="http://schemas.openxmlformats.org/drawingml/2006/main">
            <a:r>
              <a:t>          "locator": "별표4 · T46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"RULEWORK-1211253-1-R01",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"RULEWORK-1211253-1-T01",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"RULEWORK-1211253-1-R02",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"RULEWORK-1211253-1-T02",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"RULEWORK-1211253-1-R03",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"RULEWORK-1211253-1-T03",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"RULEWORK-1211253-2",</a:t>
            </a:r>
          </a:p>
          <a:p xmlns:a="http://schemas.openxmlformats.org/drawingml/2006/main">
            <a:r>
              <a:t>          "text": "2. 철도사고 및 운행장애 초기대응 점검 시행",</a:t>
            </a:r>
          </a:p>
          <a:p xmlns:a="http://schemas.openxmlformats.org/drawingml/2006/main">
            <a:r>
              <a:t>          "locator": "별표4 · T46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"RULEWORK-1211253-2-R01",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"RULEWORK-1211253-2-T01",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"RULEWORK-1211253-2-R02",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"RULEWORK-1211253-2-T02",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"RULEWORK-1211253-2-R03",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"RULEWORK-1211253-2-T03",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"1211280",</a:t>
            </a:r>
          </a:p>
          <a:p xmlns:a="http://schemas.openxmlformats.org/drawingml/2006/main">
            <a:r>
              <a:t>      "name": "항공안전처",</a:t>
            </a:r>
          </a:p>
          <a:p xmlns:a="http://schemas.openxmlformats.org/drawingml/2006/main">
            <a:r>
              <a:t>      "job": "항공안전·사고조사",</a:t>
            </a:r>
          </a:p>
          <a:p xmlns:a="http://schemas.openxmlformats.org/drawingml/2006/main">
            <a:r>
              <a:t>      "indices": [</a:t>
            </a:r>
          </a:p>
          <a:p xmlns:a="http://schemas.openxmlformats.org/drawingml/2006/main">
            <a:r>
              <a:t>        7,</a:t>
            </a:r>
          </a:p>
          <a:p xmlns:a="http://schemas.openxmlformats.org/drawingml/2006/main">
            <a:r>
              <a:t>        12</a:t>
            </a:r>
          </a:p>
          <a:p xmlns:a="http://schemas.openxmlformats.org/drawingml/2006/main">
            <a:r>
              <a:t>      ],</a:t>
            </a:r>
          </a:p>
          <a:p xmlns:a="http://schemas.openxmlformats.org/drawingml/2006/main">
            <a:r>
              <a:t>      "duties": [</a:t>
            </a:r>
          </a:p>
          <a:p xmlns:a="http://schemas.openxmlformats.org/drawingml/2006/main">
            <a:r>
              <a:t>        "8. 항공안전‧항공보안 자율보고의 접수·분석 및 전파업무",</a:t>
            </a:r>
          </a:p>
          <a:p xmlns:a="http://schemas.openxmlformats.org/drawingml/2006/main">
            <a:r>
              <a:t>        "13. 초경량비행장치 사고조사 업무"</a:t>
            </a:r>
          </a:p>
          <a:p xmlns:a="http://schemas.openxmlformats.org/drawingml/2006/main">
            <a:r>
              <a:t>      ],</a:t>
            </a:r>
          </a:p>
          <a:p xmlns:a="http://schemas.openxmlformats.org/drawingml/2006/main">
            <a:r>
              <a:t>      "locator": "별표4 · T45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"RULEWORK-1211280-8",</a:t>
            </a:r>
          </a:p>
          <a:p xmlns:a="http://schemas.openxmlformats.org/drawingml/2006/main">
            <a:r>
              <a:t>          "text": "8. 항공안전‧항공보안 자율보고의 접수·분석 및 전파업무",</a:t>
            </a:r>
          </a:p>
          <a:p xmlns:a="http://schemas.openxmlformats.org/drawingml/2006/main">
            <a:r>
              <a:t>          "locator": "별표4 · T45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"RULEWORK-1211280-8-R01",</a:t>
            </a:r>
          </a:p>
          <a:p xmlns:a="http://schemas.openxmlformats.org/drawingml/2006/main">
            <a:r>
              <a:t>              "title": "업무 맥락·전용 지식 구성",</a:t>
            </a:r>
          </a:p>
          <a:p xmlns:a="http://schemas.openxmlformats.org/drawingml/2006/main">
            <a:r>
              <a:t>              "development": "기체·임무·운영 범위별 요건 분류",</a:t>
            </a:r>
          </a:p>
          <a:p xmlns:a="http://schemas.openxmlformats.org/drawingml/2006/main">
            <a:r>
              <a:t>              "output": "요건·위험·보완·인계 검토자료",</a:t>
            </a:r>
          </a:p>
          <a:p xmlns:a="http://schemas.openxmlformats.org/drawingml/2006/main">
            <a:r>
              <a:t>              "testId": "RULEWORK-1211280-8-T01",</a:t>
            </a:r>
          </a:p>
          <a:p xmlns:a="http://schemas.openxmlformats.org/drawingml/2006/main">
            <a:r>
              <a:t>              "criterion": "운영 조건·서류 요건·근거 조항 대조"</a:t>
            </a:r>
          </a:p>
          <a:p xmlns:a="http://schemas.openxmlformats.org/drawingml/2006/main">
            <a:r>
              <a:t>            },</a:t>
            </a:r>
          </a:p>
          <a:p xmlns:a="http://schemas.openxmlformats.org/drawingml/2006/main">
            <a:r>
              <a:t>            {</a:t>
            </a:r>
          </a:p>
          <a:p xmlns:a="http://schemas.openxmlformats.org/drawingml/2006/main">
            <a:r>
              <a:t>              "id": "RULEWORK-1211280-8-R02",</a:t>
            </a:r>
          </a:p>
          <a:p xmlns:a="http://schemas.openxmlformats.org/drawingml/2006/main">
            <a:r>
              <a:t>              "title": "업무건·역할·시스템 연결",</a:t>
            </a:r>
          </a:p>
          <a:p xmlns:a="http://schemas.openxmlformats.org/drawingml/2006/main">
            <a:r>
              <a:t>              "development": "신고·검토·보완·공식 결과의 판본 추적",</a:t>
            </a:r>
          </a:p>
          <a:p xmlns:a="http://schemas.openxmlformats.org/drawingml/2006/main">
            <a:r>
              <a:t>              "output": "업무건·원천·역할·변경 연결 명세",</a:t>
            </a:r>
          </a:p>
          <a:p xmlns:a="http://schemas.openxmlformats.org/drawingml/2006/main">
            <a:r>
              <a:t>              "testId": "RULEWORK-1211280-8-T02",</a:t>
            </a:r>
          </a:p>
          <a:p xmlns:a="http://schemas.openxmlformats.org/drawingml/2006/main">
            <a:r>
              <a:t>              "criterion": "공식 비행 허가·안전 판정의 자동 확정 차단"</a:t>
            </a:r>
          </a:p>
          <a:p xmlns:a="http://schemas.openxmlformats.org/drawingml/2006/main">
            <a:r>
              <a:t>            },</a:t>
            </a:r>
          </a:p>
          <a:p xmlns:a="http://schemas.openxmlformats.org/drawingml/2006/main">
            <a:r>
              <a:t>            {</a:t>
            </a:r>
          </a:p>
          <a:p xmlns:a="http://schemas.openxmlformats.org/drawingml/2006/main">
            <a:r>
              <a:t>              "id": "RULEWORK-1211280-8-R03",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"RULEWORK-1211280-8-T03",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"RULEWORK-1211280-13",</a:t>
            </a:r>
          </a:p>
          <a:p xmlns:a="http://schemas.openxmlformats.org/drawingml/2006/main">
            <a:r>
              <a:t>          "text": "13. 초경량비행장치 사고조사 업무",</a:t>
            </a:r>
          </a:p>
          <a:p xmlns:a="http://schemas.openxmlformats.org/drawingml/2006/main">
            <a:r>
              <a:t>          "locator": "별표4 · T45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"RULEWORK-1211280-13-R01",</a:t>
            </a:r>
          </a:p>
          <a:p xmlns:a="http://schemas.openxmlformats.org/drawingml/2006/main">
            <a:r>
              <a:t>              "title": "업무 맥락·전용 지식 구성",</a:t>
            </a:r>
          </a:p>
          <a:p xmlns:a="http://schemas.openxmlformats.org/drawingml/2006/main">
            <a:r>
              <a:t>              "development": "기체·임무·운영 범위별 요건 분류",</a:t>
            </a:r>
          </a:p>
          <a:p xmlns:a="http://schemas.openxmlformats.org/drawingml/2006/main">
            <a:r>
              <a:t>              "output": "요건·위험·보완·인계 검토자료",</a:t>
            </a:r>
          </a:p>
          <a:p xmlns:a="http://schemas.openxmlformats.org/drawingml/2006/main">
            <a:r>
              <a:t>              "testId": "RULEWORK-1211280-13-T01",</a:t>
            </a:r>
          </a:p>
          <a:p xmlns:a="http://schemas.openxmlformats.org/drawingml/2006/main">
            <a:r>
              <a:t>              "criterion": "운영 조건·서류 요건·근거 조항 대조"</a:t>
            </a:r>
          </a:p>
          <a:p xmlns:a="http://schemas.openxmlformats.org/drawingml/2006/main">
            <a:r>
              <a:t>            },</a:t>
            </a:r>
          </a:p>
          <a:p xmlns:a="http://schemas.openxmlformats.org/drawingml/2006/main">
            <a:r>
              <a:t>            {</a:t>
            </a:r>
          </a:p>
          <a:p xmlns:a="http://schemas.openxmlformats.org/drawingml/2006/main">
            <a:r>
              <a:t>              "id": "RULEWORK-1211280-13-R02",</a:t>
            </a:r>
          </a:p>
          <a:p xmlns:a="http://schemas.openxmlformats.org/drawingml/2006/main">
            <a:r>
              <a:t>              "title": "업무건·역할·시스템 연결",</a:t>
            </a:r>
          </a:p>
          <a:p xmlns:a="http://schemas.openxmlformats.org/drawingml/2006/main">
            <a:r>
              <a:t>              "development": "신고·검토·보완·공식 결과의 판본 추적",</a:t>
            </a:r>
          </a:p>
          <a:p xmlns:a="http://schemas.openxmlformats.org/drawingml/2006/main">
            <a:r>
              <a:t>              "output": "업무건·원천·역할·변경 연결 명세",</a:t>
            </a:r>
          </a:p>
          <a:p xmlns:a="http://schemas.openxmlformats.org/drawingml/2006/main">
            <a:r>
              <a:t>              "testId": "RULEWORK-1211280-13-T02",</a:t>
            </a:r>
          </a:p>
          <a:p xmlns:a="http://schemas.openxmlformats.org/drawingml/2006/main">
            <a:r>
              <a:t>              "criterion": "공식 비행 허가·안전 판정의 자동 확정 차단"</a:t>
            </a:r>
          </a:p>
          <a:p xmlns:a="http://schemas.openxmlformats.org/drawingml/2006/main">
            <a:r>
              <a:t>            },</a:t>
            </a:r>
          </a:p>
          <a:p xmlns:a="http://schemas.openxmlformats.org/drawingml/2006/main">
            <a:r>
              <a:t>            {</a:t>
            </a:r>
          </a:p>
          <a:p xmlns:a="http://schemas.openxmlformats.org/drawingml/2006/main">
            <a:r>
              <a:t>              "id": "RULEWORK-1211280-13-R03",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"RULEWORK-1211280-13-T03",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"CCK-02",</a:t>
            </a:r>
          </a:p>
          <a:p xmlns:a="http://schemas.openxmlformats.org/drawingml/2006/main">
            <a:r>
              <a:t>      "use": "Audin·JET의 증거·항목 검토"</a:t>
            </a:r>
          </a:p>
          <a:p xmlns:a="http://schemas.openxmlformats.org/drawingml/2006/main">
            <a:r>
              <a:t>    },</a:t>
            </a:r>
          </a:p>
          <a:p xmlns:a="http://schemas.openxmlformats.org/drawingml/2006/main">
            <a:r>
              <a:t>    {</a:t>
            </a:r>
          </a:p>
          <a:p xmlns:a="http://schemas.openxmlformats.org/drawingml/2006/main">
            <a:r>
              <a:t>      "assetId": "CCK-03",</a:t>
            </a:r>
          </a:p>
          <a:p xmlns:a="http://schemas.openxmlformats.org/drawingml/2006/main">
            <a:r>
              <a:t>      "use": "Connor 명세의 실행·로그 경계"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"분야별 보고 항목 사전",</a:t>
            </a:r>
          </a:p>
          <a:p xmlns:a="http://schemas.openxmlformats.org/drawingml/2006/main">
            <a:r>
              <a:t>    "원시 증거–사건–보고서 추적표"</a:t>
            </a:r>
          </a:p>
          <a:p xmlns:a="http://schemas.openxmlformats.org/drawingml/2006/main">
            <a:r>
              <a:t>  ],</a:t>
            </a:r>
          </a:p>
          <a:p xmlns:a="http://schemas.openxmlformats.org/drawingml/2006/main">
            <a:r>
              <a:t>  "acceptancePlan": {</a:t>
            </a:r>
          </a:p>
          <a:p xmlns:a="http://schemas.openxmlformats.org/drawingml/2006/main">
            <a:r>
              <a:t>    "sample": "사고 후 사건 삭제, 시각 충돌, 미이행 조치 주입",</a:t>
            </a:r>
          </a:p>
          <a:p xmlns:a="http://schemas.openxmlformats.org/drawingml/2006/main">
            <a:r>
              <a:t>    "criterion": "누락 경고·원시 근거 추적·종결 차단",</a:t>
            </a:r>
          </a:p>
          <a:p xmlns:a="http://schemas.openxmlformats.org/drawingml/2006/main">
            <a:r>
              <a:t>    "evidence": "사건별 정답표·탐지 결과·종결 시도 로그",</a:t>
            </a:r>
          </a:p>
          <a:p xmlns:a="http://schemas.openxmlformats.org/drawingml/2006/main">
            <a:r>
              <a:t>    "execution": "미실행"</a:t>
            </a:r>
          </a:p>
          <a:p xmlns:a="http://schemas.openxmlformats.org/drawingml/2006/main">
            <a:r>
              <a:t>  },</a:t>
            </a:r>
          </a:p>
          <a:p xmlns:a="http://schemas.openxmlformats.org/drawingml/2006/main">
            <a:r>
              <a:t>  "formula": "필수 사건 재현 건수 ÷ 정답 사건 수 / 재점검 기한 초과율",</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"PF-R04",</a:t>
            </a:r>
          </a:p>
          <a:p xmlns:a="http://schemas.openxmlformats.org/drawingml/2006/main">
            <a:r>
              <a:t>    "PF-R09",</a:t>
            </a:r>
          </a:p>
          <a:p xmlns:a="http://schemas.openxmlformats.org/drawingml/2006/main">
            <a:r>
              <a:t>    "PF02"</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"ST-03",</a:t>
            </a:r>
          </a:p>
          <a:p xmlns:a="http://schemas.openxmlformats.org/drawingml/2006/main">
            <a:r>
              <a:t>  "number": 3,</a:t>
            </a:r>
          </a:p>
          <a:p xmlns:a="http://schemas.openxmlformats.org/drawingml/2006/main">
            <a:r>
              <a:t>  "direction": "무결점 교통안전체계 조성",</a:t>
            </a:r>
          </a:p>
          <a:p xmlns:a="http://schemas.openxmlformats.org/drawingml/2006/main">
            <a:r>
              <a:t>  "strategy": "중대사고 예방 능동적 안전관리체계 구축",</a:t>
            </a:r>
          </a:p>
          <a:p xmlns:a="http://schemas.openxmlformats.org/drawingml/2006/main">
            <a:r>
              <a:t>  "solution": "중대위험 조치·재발방지 지원",</a:t>
            </a:r>
          </a:p>
          <a:p xmlns:a="http://schemas.openxmlformats.org/drawingml/2006/main">
            <a:r>
              <a:t>  "lawIds": [</a:t>
            </a:r>
          </a:p>
          <a:p xmlns:a="http://schemas.openxmlformats.org/drawingml/2006/main">
            <a:r>
              <a:t>    "L01",</a:t>
            </a:r>
          </a:p>
          <a:p xmlns:a="http://schemas.openxmlformats.org/drawingml/2006/main">
            <a:r>
              <a:t>    "L02",</a:t>
            </a:r>
          </a:p>
          <a:p xmlns:a="http://schemas.openxmlformats.org/drawingml/2006/main">
            <a:r>
              <a:t>    "L25"</a:t>
            </a:r>
          </a:p>
          <a:p xmlns:a="http://schemas.openxmlformats.org/drawingml/2006/main">
            <a:r>
              <a:t>  ],</a:t>
            </a:r>
          </a:p>
          <a:p xmlns:a="http://schemas.openxmlformats.org/drawingml/2006/main">
            <a:r>
              <a:t>  "codes": [</a:t>
            </a:r>
          </a:p>
          <a:p xmlns:a="http://schemas.openxmlformats.org/drawingml/2006/main">
            <a:r>
              <a:t>    "1016043",</a:t>
            </a:r>
          </a:p>
          <a:p xmlns:a="http://schemas.openxmlformats.org/drawingml/2006/main">
            <a:r>
              <a:t>    "1022030",</a:t>
            </a:r>
          </a:p>
          <a:p xmlns:a="http://schemas.openxmlformats.org/drawingml/2006/main">
            <a:r>
              <a:t>    "1021030",</a:t>
            </a:r>
          </a:p>
          <a:p xmlns:a="http://schemas.openxmlformats.org/drawingml/2006/main">
            <a:r>
              <a:t>    "1211251",</a:t>
            </a:r>
          </a:p>
          <a:p xmlns:a="http://schemas.openxmlformats.org/drawingml/2006/main">
            <a:r>
              <a:t>    "1211250",</a:t>
            </a:r>
          </a:p>
          <a:p xmlns:a="http://schemas.openxmlformats.org/drawingml/2006/main">
            <a:r>
              <a:t>    "1211253",</a:t>
            </a:r>
          </a:p>
          <a:p xmlns:a="http://schemas.openxmlformats.org/drawingml/2006/main">
            <a:r>
              <a:t>    "1211280"</a:t>
            </a:r>
          </a:p>
          <a:p xmlns:a="http://schemas.openxmlformats.org/drawingml/2006/main">
            <a:r>
              <a:t>  ],</a:t>
            </a:r>
          </a:p>
          <a:p xmlns:a="http://schemas.openxmlformats.org/drawingml/2006/main">
            <a:r>
              <a:t>  "work": "분야별 안전점검·시정조치·재점검 관리",</a:t>
            </a:r>
          </a:p>
          <a:p xmlns:a="http://schemas.openxmlformats.org/drawingml/2006/main">
            <a:r>
              <a:t>  "features": [</a:t>
            </a:r>
          </a:p>
          <a:p xmlns:a="http://schemas.openxmlformats.org/drawingml/2006/main">
            <a:r>
              <a:t>    "위험 근거·유사사례·시정조치 이력 연결",</a:t>
            </a:r>
          </a:p>
          <a:p xmlns:a="http://schemas.openxmlformats.org/drawingml/2006/main">
            <a:r>
              <a:t>    "현장 조치·전문 검토·종결 승인 분리"</a:t>
            </a:r>
          </a:p>
          <a:p xmlns:a="http://schemas.openxmlformats.org/drawingml/2006/main">
            <a:r>
              <a:t>  ],</a:t>
            </a:r>
          </a:p>
          <a:p xmlns:a="http://schemas.openxmlformats.org/drawingml/2006/main">
            <a:r>
              <a:t>  "output": "사건 타임라인·위험 조치대장",</a:t>
            </a:r>
          </a:p>
          <a:p xmlns:a="http://schemas.openxmlformats.org/drawingml/2006/main">
            <a:r>
              <a:t>  "acceptance": "미완료 조치의 종결 차단·검토/승인 역할 구분·후속 확인 추적",</a:t>
            </a:r>
          </a:p>
          <a:p xmlns:a="http://schemas.openxmlformats.org/drawingml/2006/main">
            <a:r>
              <a:t>  "phase": "공통 기반 인수 후 부서별 적용",</a:t>
            </a:r>
          </a:p>
          <a:p xmlns:a="http://schemas.openxmlformats.org/drawingml/2006/main">
            <a:r>
              <a:t>  "packages": [</a:t>
            </a:r>
          </a:p>
          <a:p xmlns:a="http://schemas.openxmlformats.org/drawingml/2006/main">
            <a:r>
              <a:t>    "ON-W03",</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"GAI-T07",</a:t>
            </a:r>
          </a:p>
          <a:p xmlns:a="http://schemas.openxmlformats.org/drawingml/2006/main">
            <a:r>
              <a:t>    "GAI-T08",</a:t>
            </a:r>
          </a:p>
          <a:p xmlns:a="http://schemas.openxmlformats.org/drawingml/2006/main">
            <a:r>
              <a:t>    "GAI-T12"</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"1016043",</a:t>
            </a:r>
          </a:p>
          <a:p xmlns:a="http://schemas.openxmlformats.org/drawingml/2006/main">
            <a:r>
              <a:t>      "name": "안전보건실",</a:t>
            </a:r>
          </a:p>
          <a:p xmlns:a="http://schemas.openxmlformats.org/drawingml/2006/main">
            <a:r>
              <a:t>      "job": "사업장 안전·재발방지",</a:t>
            </a:r>
          </a:p>
          <a:p xmlns:a="http://schemas.openxmlformats.org/drawingml/2006/main">
            <a:r>
              <a:t>      "indices": [</a:t>
            </a:r>
          </a:p>
          <a:p xmlns:a="http://schemas.openxmlformats.org/drawingml/2006/main">
            <a:r>
              <a:t>        3,</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"4. 산업재해 신고, 사고대응 및 재발방지 조치",</a:t>
            </a:r>
          </a:p>
          <a:p xmlns:a="http://schemas.openxmlformats.org/drawingml/2006/main">
            <a:r>
              <a:t>        "6. 중대재해처벌법 안전보건의무 이행점검에 관한 업무"</a:t>
            </a:r>
          </a:p>
          <a:p xmlns:a="http://schemas.openxmlformats.org/drawingml/2006/main">
            <a:r>
              <a:t>      ],</a:t>
            </a:r>
          </a:p>
          <a:p xmlns:a="http://schemas.openxmlformats.org/drawingml/2006/main">
            <a:r>
              <a:t>      "locator": "별표4 · T34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"운수회사 예방대책",</a:t>
            </a:r>
          </a:p>
          <a:p xmlns:a="http://schemas.openxmlformats.org/drawingml/2006/main">
            <a:r>
              <a:t>      "indices": [</a:t>
            </a:r>
          </a:p>
          <a:p xmlns:a="http://schemas.openxmlformats.org/drawingml/2006/main">
            <a:r>
              <a:t>        3,</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"4. 교통사고예방대책 수립 및 교통안전사업 개발",</a:t>
            </a:r>
          </a:p>
          <a:p xmlns:a="http://schemas.openxmlformats.org/drawingml/2006/main">
            <a:r>
              <a:t>        "7. 운수회사 안전관리 및 교통사고 예방사업"</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"교통시설 안전점검",</a:t>
            </a:r>
          </a:p>
          <a:p xmlns:a="http://schemas.openxmlformats.org/drawingml/2006/main">
            <a:r>
              <a:t>      "indices": [</a:t>
            </a:r>
          </a:p>
          <a:p xmlns:a="http://schemas.openxmlformats.org/drawingml/2006/main">
            <a:r>
              <a:t>        6,</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"7. 교통시설 안전진단ㆍ점검ㆍ평가에 관한 업무",</a:t>
            </a:r>
          </a:p>
          <a:p xmlns:a="http://schemas.openxmlformats.org/drawingml/2006/main">
            <a:r>
              <a:t>        "10. 교통시설설치ㆍ관리자의 교통안전관리규정 적정성 및 이행여부 확인평가"</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"1211251",</a:t>
            </a:r>
          </a:p>
          <a:p xmlns:a="http://schemas.openxmlformats.org/drawingml/2006/main">
            <a:r>
              <a:t>      "name": "철도안전처",</a:t>
            </a:r>
          </a:p>
          <a:p xmlns:a="http://schemas.openxmlformats.org/drawingml/2006/main">
            <a:r>
              <a:t>      "job": "철도사고 분석",</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철도사고(철도준사고 포함) 자료 원인분석 및 정책자료 제공"</a:t>
            </a:r>
          </a:p>
          <a:p xmlns:a="http://schemas.openxmlformats.org/drawingml/2006/main">
            <a:r>
              <a:t>      ],</a:t>
            </a:r>
          </a:p>
          <a:p xmlns:a="http://schemas.openxmlformats.org/drawingml/2006/main">
            <a:r>
              <a:t>      "locator": "별표4 · T46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"1211250",</a:t>
            </a:r>
          </a:p>
          <a:p xmlns:a="http://schemas.openxmlformats.org/drawingml/2006/main">
            <a:r>
              <a:t>      "name": "철도승인처",</a:t>
            </a:r>
          </a:p>
          <a:p xmlns:a="http://schemas.openxmlformats.org/drawingml/2006/main">
            <a:r>
              <a:t>      "job": "철도 안전관리체계 승인",</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철도안전관리체계 승인업무(최초·변경) 시행",</a:t>
            </a:r>
          </a:p>
          <a:p xmlns:a="http://schemas.openxmlformats.org/drawingml/2006/main">
            <a:r>
              <a:t>        "3. 철도안전관리체계 기술기준 제·개정 및 관리"</a:t>
            </a:r>
          </a:p>
          <a:p xmlns:a="http://schemas.openxmlformats.org/drawingml/2006/main">
            <a:r>
              <a:t>      ],</a:t>
            </a:r>
          </a:p>
          <a:p xmlns:a="http://schemas.openxmlformats.org/drawingml/2006/main">
            <a:r>
              <a:t>      "locator": "별표4 · T46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"1211253",</a:t>
            </a:r>
          </a:p>
          <a:p xmlns:a="http://schemas.openxmlformats.org/drawingml/2006/main">
            <a:r>
              <a:t>      "name": "철도검사처",</a:t>
            </a:r>
          </a:p>
          <a:p xmlns:a="http://schemas.openxmlformats.org/drawingml/2006/main">
            <a:r>
              <a:t>      "job": "철도 안전관리체계 검사",</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철도안전관리체계 수시검사 시행",</a:t>
            </a:r>
          </a:p>
          <a:p xmlns:a="http://schemas.openxmlformats.org/drawingml/2006/main">
            <a:r>
              <a:t>        "2. 철도사고 및 운행장애 초기대응 점검 시행"</a:t>
            </a:r>
          </a:p>
          <a:p xmlns:a="http://schemas.openxmlformats.org/drawingml/2006/main">
            <a:r>
              <a:t>      ],</a:t>
            </a:r>
          </a:p>
          <a:p xmlns:a="http://schemas.openxmlformats.org/drawingml/2006/main">
            <a:r>
              <a:t>      "locator": "별표4 · T46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"1211280",</a:t>
            </a:r>
          </a:p>
          <a:p xmlns:a="http://schemas.openxmlformats.org/drawingml/2006/main">
            <a:r>
              <a:t>      "name": "항공안전처",</a:t>
            </a:r>
          </a:p>
          <a:p xmlns:a="http://schemas.openxmlformats.org/drawingml/2006/main">
            <a:r>
              <a:t>      "job": "항공안전·사고조사",</a:t>
            </a:r>
          </a:p>
          <a:p xmlns:a="http://schemas.openxmlformats.org/drawingml/2006/main">
            <a:r>
              <a:t>      "indices": [</a:t>
            </a:r>
          </a:p>
          <a:p xmlns:a="http://schemas.openxmlformats.org/drawingml/2006/main">
            <a:r>
              <a:t>        7,</a:t>
            </a:r>
          </a:p>
          <a:p xmlns:a="http://schemas.openxmlformats.org/drawingml/2006/main">
            <a:r>
              <a:t>        12</a:t>
            </a:r>
          </a:p>
          <a:p xmlns:a="http://schemas.openxmlformats.org/drawingml/2006/main">
            <a:r>
              <a:t>      ],</a:t>
            </a:r>
          </a:p>
          <a:p xmlns:a="http://schemas.openxmlformats.org/drawingml/2006/main">
            <a:r>
              <a:t>      "duties": [</a:t>
            </a:r>
          </a:p>
          <a:p xmlns:a="http://schemas.openxmlformats.org/drawingml/2006/main">
            <a:r>
              <a:t>        "8. 항공안전‧항공보안 자율보고의 접수·분석 및 전파업무",</a:t>
            </a:r>
          </a:p>
          <a:p xmlns:a="http://schemas.openxmlformats.org/drawingml/2006/main">
            <a:r>
              <a:t>        "13. 초경량비행장치 사고조사 업무"</a:t>
            </a:r>
          </a:p>
          <a:p xmlns:a="http://schemas.openxmlformats.org/drawingml/2006/main">
            <a:r>
              <a:t>      ],</a:t>
            </a:r>
          </a:p>
          <a:p xmlns:a="http://schemas.openxmlformats.org/drawingml/2006/main">
            <a:r>
              <a:t>      "locator": "별표4 · T45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"도로·철도 점검: 연결 법령 원장 / 사업장 안전·항공안전: 별표4 안전보건실·항공안전처 업무 / 분야별 법령·위탁범위 추가 대조",</a:t>
            </a:r>
          </a:p>
          <a:p xmlns:a="http://schemas.openxmlformats.org/drawingml/2006/main">
            <a:r>
              <a:t>  "caseRefs": [</a:t>
            </a:r>
          </a:p>
          <a:p xmlns:a="http://schemas.openxmlformats.org/drawingml/2006/main">
            <a:r>
              <a:t>    {</a:t>
            </a:r>
          </a:p>
          <a:p xmlns:a="http://schemas.openxmlformats.org/drawingml/2006/main">
            <a:r>
              <a:t>      "caseId": "AX08",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"AX07",</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"AX14",</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"AX17",</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"AX23",</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"중대사고 예방·보고 완전성",</a:t>
            </a:r>
          </a:p>
          <a:p xmlns:a="http://schemas.openxmlformats.org/drawingml/2006/main">
            <a:r>
              <a:t>  "delta": "사건 타임라인·필수 보고항목 검사",</a:t>
            </a:r>
          </a:p>
          <a:p xmlns:a="http://schemas.openxmlformats.org/drawingml/2006/main">
            <a:r>
              <a:t>  "kpi": "필수 사건 재현율 / 보고 누락률",</a:t>
            </a:r>
          </a:p>
          <a:p xmlns:a="http://schemas.openxmlformats.org/drawingml/2006/main">
            <a:r>
              <a:t>  "validation": "사고 증거 누락·시점 충돌 주입 시험",</a:t>
            </a:r>
          </a:p>
          <a:p xmlns:a="http://schemas.openxmlformats.org/drawingml/2006/main">
            <a:r>
              <a:t>  "requirement": "BM-ST-03-R01",</a:t>
            </a:r>
          </a:p>
          <a:p xmlns:a="http://schemas.openxmlformats.org/drawingml/2006/main">
            <a:r>
              <a:t>  "test": "BM-ST-03-T01",</a:t>
            </a:r>
          </a:p>
          <a:p xmlns:a="http://schemas.openxmlformats.org/drawingml/2006/main">
            <a:r>
              <a:t>  "effectStatus": "기대 방향 · TS 실측 전",</a:t>
            </a:r>
          </a:p>
          <a:p xmlns:a="http://schemas.openxmlformats.org/drawingml/2006/main">
            <a:r>
              <a:t>  "effect": "보고 누락·재점검 지연 감소",</a:t>
            </a:r>
          </a:p>
          <a:p xmlns:a="http://schemas.openxmlformats.org/drawingml/2006/main">
            <a:r>
              <a:t>  "reuse": "ON27-BASE / C27-COM + CCK 재사용 판정 기능",</a:t>
            </a:r>
          </a:p>
          <a:p xmlns:a="http://schemas.openxmlformats.org/drawingml/2006/main">
            <a:r>
              <a:t>  "input": "도로·철도·항공·사업장 점검자료, 사건별 영상·로그, 시정조치",</a:t>
            </a:r>
          </a:p>
          <a:p xmlns:a="http://schemas.openxmlformats.org/drawingml/2006/main">
            <a:r>
              <a:t>  "steps": [</a:t>
            </a:r>
          </a:p>
          <a:p xmlns:a="http://schemas.openxmlformats.org/drawingml/2006/main">
            <a:r>
              <a:t>    "분야·사건 ID 분류",</a:t>
            </a:r>
          </a:p>
          <a:p xmlns:a="http://schemas.openxmlformats.org/drawingml/2006/main">
            <a:r>
              <a:t>    "전·중·후 타임라인 대사",</a:t>
            </a:r>
          </a:p>
          <a:p xmlns:a="http://schemas.openxmlformats.org/drawingml/2006/main">
            <a:r>
              <a:t>    "필수 보고·조치 항목 점검",</a:t>
            </a:r>
          </a:p>
          <a:p xmlns:a="http://schemas.openxmlformats.org/drawingml/2006/main">
            <a:r>
              <a:t>    "재점검·종결 검토"</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"1016043",</a:t>
            </a:r>
          </a:p>
          <a:p xmlns:a="http://schemas.openxmlformats.org/drawingml/2006/main">
            <a:r>
              <a:t>      "name": "안전보건실",</a:t>
            </a:r>
          </a:p>
          <a:p xmlns:a="http://schemas.openxmlformats.org/drawingml/2006/main">
            <a:r>
              <a:t>      "job": "사업장 안전·재발방지",</a:t>
            </a:r>
          </a:p>
          <a:p xmlns:a="http://schemas.openxmlformats.org/drawingml/2006/main">
            <a:r>
              <a:t>      "indices": [</a:t>
            </a:r>
          </a:p>
          <a:p xmlns:a="http://schemas.openxmlformats.org/drawingml/2006/main">
            <a:r>
              <a:t>        3,</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"4. 산업재해 신고, 사고대응 및 재발방지 조치",</a:t>
            </a:r>
          </a:p>
          <a:p xmlns:a="http://schemas.openxmlformats.org/drawingml/2006/main">
            <a:r>
              <a:t>        "6. 중대재해처벌법 안전보건의무 이행점검에 관한 업무"</a:t>
            </a:r>
          </a:p>
          <a:p xmlns:a="http://schemas.openxmlformats.org/drawingml/2006/main">
            <a:r>
              <a:t>      ],</a:t>
            </a:r>
          </a:p>
          <a:p xmlns:a="http://schemas.openxmlformats.org/drawingml/2006/main">
            <a:r>
              <a:t>      "locator": "별표4 · T34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"RULEWORK-1016043-4",</a:t>
            </a:r>
          </a:p>
          <a:p xmlns:a="http://schemas.openxmlformats.org/drawingml/2006/main">
            <a:r>
              <a:t>          "text": "4. 산업재해 신고, 사고대응 및 재발방지 조치",</a:t>
            </a:r>
          </a:p>
          <a:p xmlns:a="http://schemas.openxmlformats.org/drawingml/2006/main">
            <a:r>
              <a:t>          "locator": "별표4 · T34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"RULEWORK-1016043-4-R01",</a:t>
            </a:r>
          </a:p>
          <a:p xmlns:a="http://schemas.openxmlformats.org/drawingml/2006/main">
            <a:r>
              <a:t>              "title": "업무 맥락·전용 지식 구성",</a:t>
            </a:r>
          </a:p>
          <a:p xmlns:a="http://schemas.openxmlformats.org/drawingml/2006/main">
            <a:r>
              <a:t>              "development": "작업·위험 유형별 기준·증빙 분류",</a:t>
            </a:r>
          </a:p>
          <a:p xmlns:a="http://schemas.openxmlformats.org/drawingml/2006/main">
            <a:r>
              <a:t>              "output": "위험·예방조치·이행·재점검표",</a:t>
            </a:r>
          </a:p>
          <a:p xmlns:a="http://schemas.openxmlformats.org/drawingml/2006/main">
            <a:r>
              <a:t>              "testId": "RULEWORK-1016043-4-T01",</a:t>
            </a:r>
          </a:p>
          <a:p xmlns:a="http://schemas.openxmlformats.org/drawingml/2006/main">
            <a:r>
              <a:t>              "criterion": "중대 위험·미이행·반복 지적의 정답 대조"</a:t>
            </a:r>
          </a:p>
          <a:p xmlns:a="http://schemas.openxmlformats.org/drawingml/2006/main">
            <a:r>
              <a:t>            },</a:t>
            </a:r>
          </a:p>
          <a:p xmlns:a="http://schemas.openxmlformats.org/drawingml/2006/main">
            <a:r>
              <a:t>            {</a:t>
            </a:r>
          </a:p>
          <a:p xmlns:a="http://schemas.openxmlformats.org/drawingml/2006/main">
            <a:r>
              <a:t>              "id": "RULEWORK-1016043-4-R02",</a:t>
            </a:r>
          </a:p>
          <a:p xmlns:a="http://schemas.openxmlformats.org/drawingml/2006/main">
            <a:r>
              <a:t>              "title": "업무건·역할·시스템 연결",</a:t>
            </a:r>
          </a:p>
          <a:p xmlns:a="http://schemas.openxmlformats.org/drawingml/2006/main">
            <a:r>
              <a:t>              "development": "개선 책임·기한·이행·재확인 연결",</a:t>
            </a:r>
          </a:p>
          <a:p xmlns:a="http://schemas.openxmlformats.org/drawingml/2006/main">
            <a:r>
              <a:t>              "output": "업무건·원천·역할·변경 연결 명세",</a:t>
            </a:r>
          </a:p>
          <a:p xmlns:a="http://schemas.openxmlformats.org/drawingml/2006/main">
            <a:r>
              <a:t>              "testId": "RULEWORK-1016043-4-T02",</a:t>
            </a:r>
          </a:p>
          <a:p xmlns:a="http://schemas.openxmlformats.org/drawingml/2006/main">
            <a:r>
              <a:t>              "criterion": "필수 조치 미완료 건의 안전 확인 처리 차단"</a:t>
            </a:r>
          </a:p>
          <a:p xmlns:a="http://schemas.openxmlformats.org/drawingml/2006/main">
            <a:r>
              <a:t>            },</a:t>
            </a:r>
          </a:p>
          <a:p xmlns:a="http://schemas.openxmlformats.org/drawingml/2006/main">
            <a:r>
              <a:t>            {</a:t>
            </a:r>
          </a:p>
          <a:p xmlns:a="http://schemas.openxmlformats.org/drawingml/2006/main">
            <a:r>
              <a:t>              "id": "RULEWORK-1016043-4-R03",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"RULEWORK-1016043-4-T03",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"RULEWORK-1016043-7",</a:t>
            </a:r>
          </a:p>
          <a:p xmlns:a="http://schemas.openxmlformats.org/drawingml/2006/main">
            <a:r>
              <a:t>          "text": "6. 중대재해처벌법 안전보건의무 이행점검에 관한 업무",</a:t>
            </a:r>
          </a:p>
          <a:p xmlns:a="http://schemas.openxmlformats.org/drawingml/2006/main">
            <a:r>
              <a:t>          "locator": "별표4 · T34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"RULEWORK-1016043-7-R01",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"RULEWORK-1016043-7-T01",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"RULEWORK-1016043-7-R02",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"RULEWORK-1016043-7-T02",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"RULEWORK-1016043-7-R03",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"RULEWORK-1016043-7-T03",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"운수회사 예방대책",</a:t>
            </a:r>
          </a:p>
          <a:p xmlns:a="http://schemas.openxmlformats.org/drawingml/2006/main">
            <a:r>
              <a:t>      "indices": [</a:t>
            </a:r>
          </a:p>
          <a:p xmlns:a="http://schemas.openxmlformats.org/drawingml/2006/main">
            <a:r>
              <a:t>        3,</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"4. 교통사고예방대책 수립 및 교통안전사업 개발",</a:t>
            </a:r>
          </a:p>
          <a:p xmlns:a="http://schemas.openxmlformats.org/drawingml/2006/main">
            <a:r>
              <a:t>        "7. 운수회사 안전관리 및 교통사고 예방사업"</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"RULEWORK-1022030-4",</a:t>
            </a:r>
          </a:p>
          <a:p xmlns:a="http://schemas.openxmlformats.org/drawingml/2006/main">
            <a:r>
              <a:t>          "text": "4. 교통사고예방대책 수립 및 교통안전사업 개발",</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"RULEWORK-1022030-4-R01",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"RULEWORK-1022030-4-T01",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"RULEWORK-1022030-4-R02",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"RULEWORK-1022030-4-T02",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"RULEWORK-1022030-4-R03",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"RULEWORK-1022030-7",</a:t>
            </a:r>
          </a:p>
          <a:p xmlns:a="http://schemas.openxmlformats.org/drawingml/2006/main">
            <a:r>
              <a:t>          "text": "7. 운수회사 안전관리 및 교통사고 예방사업",</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"RULEWORK-1022030-7-R01",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"RULEWORK-1022030-7-T01",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"RULEWORK-1022030-7-R02",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"RULEWORK-1022030-7-T02",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"RULEWORK-1022030-7-R03",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"교통시설 안전점검",</a:t>
            </a:r>
          </a:p>
          <a:p xmlns:a="http://schemas.openxmlformats.org/drawingml/2006/main">
            <a:r>
              <a:t>      "indices": [</a:t>
            </a:r>
          </a:p>
          <a:p xmlns:a="http://schemas.openxmlformats.org/drawingml/2006/main">
            <a:r>
              <a:t>        6,</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"7. 교통시설 안전진단ㆍ점검ㆍ평가에 관한 업무",</a:t>
            </a:r>
          </a:p>
          <a:p xmlns:a="http://schemas.openxmlformats.org/drawingml/2006/main">
            <a:r>
              <a:t>        "10. 교통시설설치ㆍ관리자의 교통안전관리규정 적정성 및 이행여부 확인평가"</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"RULEWORK-1021030-7",</a:t>
            </a:r>
          </a:p>
          <a:p xmlns:a="http://schemas.openxmlformats.org/drawingml/2006/main">
            <a:r>
              <a:t>          "text": "7. 교통시설 안전진단ㆍ점검ㆍ평가에 관한 업무",</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"RULEWORK-1021030-7-R01",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"RULEWORK-1021030-7-T01",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"RULEWORK-1021030-7-R02",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"RULEWORK-1021030-7-T02",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"RULEWORK-1021030-10",</a:t>
            </a:r>
          </a:p>
          <a:p xmlns:a="http://schemas.openxmlformats.org/drawingml/2006/main">
            <a:r>
              <a:t>          "text": "10. 교통시설설치ㆍ관리자의 교통안전관리규정 적정성 및 이행여부 확인평가",</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"RULEWORK-1021030-10-R01",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"RULEWORK-1021030-10-T01",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"RULEWORK-1021030-10-R02",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"RULEWORK-1021030-10-T02",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"RULEWORK-1021030-10-R03",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"1211251",</a:t>
            </a:r>
          </a:p>
          <a:p xmlns:a="http://schemas.openxmlformats.org/drawingml/2006/main">
            <a:r>
              <a:t>      "name": "철도안전처",</a:t>
            </a:r>
          </a:p>
          <a:p xmlns:a="http://schemas.openxmlformats.org/drawingml/2006/main">
            <a:r>
              <a:t>      "job": "철도사고 분석",</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철도사고(철도준사고 포함) 자료 원인분석 및 정책자료 제공"</a:t>
            </a:r>
          </a:p>
          <a:p xmlns:a="http://schemas.openxmlformats.org/drawingml/2006/main">
            <a:r>
              <a:t>      ],</a:t>
            </a:r>
          </a:p>
          <a:p xmlns:a="http://schemas.openxmlformats.org/drawingml/2006/main">
            <a:r>
              <a:t>      "locator": "별표4 · T46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"RULEWORK-1211251-6",</a:t>
            </a:r>
          </a:p>
          <a:p xmlns:a="http://schemas.openxmlformats.org/drawingml/2006/main">
            <a:r>
              <a:t>          "text": "6. 철도사고(철도준사고 포함) 자료 원인분석 및 정책자료 제공",</a:t>
            </a:r>
          </a:p>
          <a:p xmlns:a="http://schemas.openxmlformats.org/drawingml/2006/main">
            <a:r>
              <a:t>          "locator": "별표4 · T46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"RULEWORK-1211251-6-R01",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"RULEWORK-1211251-6-T01",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"RULEWORK-1211251-6-R02",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"RULEWORK-1211251-6-T02",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"RULEWORK-1211251-6-R03",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"RULEWORK-1211251-6-T03",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"1211250",</a:t>
            </a:r>
          </a:p>
          <a:p xmlns:a="http://schemas.openxmlformats.org/drawingml/2006/main">
            <a:r>
              <a:t>      "name": "철도승인처",</a:t>
            </a:r>
          </a:p>
          <a:p xmlns:a="http://schemas.openxmlformats.org/drawingml/2006/main">
            <a:r>
              <a:t>      "job": "철도 안전관리체계 승인",</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철도안전관리체계 승인업무(최초·변경) 시행",</a:t>
            </a:r>
          </a:p>
          <a:p xmlns:a="http://schemas.openxmlformats.org/drawingml/2006/main">
            <a:r>
              <a:t>        "3. 철도안전관리체계 기술기준 제·개정 및 관리"</a:t>
            </a:r>
          </a:p>
          <a:p xmlns:a="http://schemas.openxmlformats.org/drawingml/2006/main">
            <a:r>
              <a:t>      ],</a:t>
            </a:r>
          </a:p>
          <a:p xmlns:a="http://schemas.openxmlformats.org/drawingml/2006/main">
            <a:r>
              <a:t>      "locator": "별표4 · T46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"RULEWORK-1211250-1",</a:t>
            </a:r>
          </a:p>
          <a:p xmlns:a="http://schemas.openxmlformats.org/drawingml/2006/main">
            <a:r>
              <a:t>          "text": "1. 철도안전관리체계 승인업무(최초·변경) 시행",</a:t>
            </a:r>
          </a:p>
          <a:p xmlns:a="http://schemas.openxmlformats.org/drawingml/2006/main">
            <a:r>
              <a:t>          "locator": "별표4 · T46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"RULEWORK-1211250-1-R01",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"RULEWORK-1211250-1-T01",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"RULEWORK-1211250-1-R02",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"RULEWORK-1211250-1-T02",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"RULEWORK-1211250-3",</a:t>
            </a:r>
          </a:p>
          <a:p xmlns:a="http://schemas.openxmlformats.org/drawingml/2006/main">
            <a:r>
              <a:t>          "text": "3. 철도안전관리체계 기술기준 제·개정 및 관리",</a:t>
            </a:r>
          </a:p>
          <a:p xmlns:a="http://schemas.openxmlformats.org/drawingml/2006/main">
            <a:r>
              <a:t>          "locator": "별표4 · T46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"RULEWORK-1211250-3-R01",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"RULEWORK-1211250-3-T01",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"RULEWORK-1211250-3-R02",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"RULEWORK-1211250-3-T02",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"1211253",</a:t>
            </a:r>
          </a:p>
          <a:p xmlns:a="http://schemas.openxmlformats.org/drawingml/2006/main">
            <a:r>
              <a:t>      "name": "철도검사처",</a:t>
            </a:r>
          </a:p>
          <a:p xmlns:a="http://schemas.openxmlformats.org/drawingml/2006/main">
            <a:r>
              <a:t>      "job": "철도 안전관리체계 검사",</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철도안전관리체계 수시검사 시행",</a:t>
            </a:r>
          </a:p>
          <a:p xmlns:a="http://schemas.openxmlformats.org/drawingml/2006/main">
            <a:r>
              <a:t>        "2. 철도사고 및 운행장애 초기대응 점검 시행"</a:t>
            </a:r>
          </a:p>
          <a:p xmlns:a="http://schemas.openxmlformats.org/drawingml/2006/main">
            <a:r>
              <a:t>      ],</a:t>
            </a:r>
          </a:p>
          <a:p xmlns:a="http://schemas.openxmlformats.org/drawingml/2006/main">
            <a:r>
              <a:t>      "locator": "별표4 · T46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"RULEWORK-1211253-1",</a:t>
            </a:r>
          </a:p>
          <a:p xmlns:a="http://schemas.openxmlformats.org/drawingml/2006/main">
            <a:r>
              <a:t>          "text": "1. 철도안전관리체계 수시검사 시행",</a:t>
            </a:r>
          </a:p>
          <a:p xmlns:a="http://schemas.openxmlformats.org/drawingml/2006/main">
            <a:r>
              <a:t>          "locator": "별표4 · T46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"RULEWORK-1211253-1-R01",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"RULEWORK-1211253-1-T01",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"RULEWORK-1211253-1-R02",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"RULEWORK-1211253-1-T02",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"RULEWORK-1211253-1-R03",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"RULEWORK-1211253-1-T03",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"RULEWORK-1211253-2",</a:t>
            </a:r>
          </a:p>
          <a:p xmlns:a="http://schemas.openxmlformats.org/drawingml/2006/main">
            <a:r>
              <a:t>          "text": "2. 철도사고 및 운행장애 초기대응 점검 시행",</a:t>
            </a:r>
          </a:p>
          <a:p xmlns:a="http://schemas.openxmlformats.org/drawingml/2006/main">
            <a:r>
              <a:t>          "locator": "별표4 · T46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"RULEWORK-1211253-2-R01",</a:t>
            </a:r>
          </a:p>
          <a:p xmlns:a="http://schemas.openxmlformats.org/drawingml/2006/main">
            <a:r>
              <a:t>              "title": "업무 맥락·전용 지식 구성",</a:t>
            </a:r>
          </a:p>
          <a:p xmlns:a="http://schemas.openxmlformats.org/drawingml/2006/main">
            <a:r>
              <a:t>              "development": "운영자·차량·시설 유형별 검토 기준 선택",</a:t>
            </a:r>
          </a:p>
          <a:p xmlns:a="http://schemas.openxmlformats.org/drawingml/2006/main">
            <a:r>
              <a:t>              "output": "심사·지적·보완·종결 검토표",</a:t>
            </a:r>
          </a:p>
          <a:p xmlns:a="http://schemas.openxmlformats.org/drawingml/2006/main">
            <a:r>
              <a:t>              "testId": "RULEWORK-1211253-2-T01",</a:t>
            </a:r>
          </a:p>
          <a:p xmlns:a="http://schemas.openxmlformats.org/drawingml/2006/main">
            <a:r>
              <a:t>              "criterion": "적용 항목·증빙·지적 분류의 전문가 정답 대조"</a:t>
            </a:r>
          </a:p>
          <a:p xmlns:a="http://schemas.openxmlformats.org/drawingml/2006/main">
            <a:r>
              <a:t>            },</a:t>
            </a:r>
          </a:p>
          <a:p xmlns:a="http://schemas.openxmlformats.org/drawingml/2006/main">
            <a:r>
              <a:t>            {</a:t>
            </a:r>
          </a:p>
          <a:p xmlns:a="http://schemas.openxmlformats.org/drawingml/2006/main">
            <a:r>
              <a:t>              "id": "RULEWORK-1211253-2-R02",</a:t>
            </a:r>
          </a:p>
          <a:p xmlns:a="http://schemas.openxmlformats.org/drawingml/2006/main">
            <a:r>
              <a:t>              "title": "업무건·역할·시스템 연결",</a:t>
            </a:r>
          </a:p>
          <a:p xmlns:a="http://schemas.openxmlformats.org/drawingml/2006/main">
            <a:r>
              <a:t>              "development": "지적–보완–재확인과 권한자 결정 이력 연결",</a:t>
            </a:r>
          </a:p>
          <a:p xmlns:a="http://schemas.openxmlformats.org/drawingml/2006/main">
            <a:r>
              <a:t>              "output": "업무건·원천·역할·변경 연결 명세",</a:t>
            </a:r>
          </a:p>
          <a:p xmlns:a="http://schemas.openxmlformats.org/drawingml/2006/main">
            <a:r>
              <a:t>              "testId": "RULEWORK-1211253-2-T02",</a:t>
            </a:r>
          </a:p>
          <a:p xmlns:a="http://schemas.openxmlformats.org/drawingml/2006/main">
            <a:r>
              <a:t>              "criterion": "검사 미실시·필수 증거 누락의 종결 차단"</a:t>
            </a:r>
          </a:p>
          <a:p xmlns:a="http://schemas.openxmlformats.org/drawingml/2006/main">
            <a:r>
              <a:t>            },</a:t>
            </a:r>
          </a:p>
          <a:p xmlns:a="http://schemas.openxmlformats.org/drawingml/2006/main">
            <a:r>
              <a:t>            {</a:t>
            </a:r>
          </a:p>
          <a:p xmlns:a="http://schemas.openxmlformats.org/drawingml/2006/main">
            <a:r>
              <a:t>              "id": "RULEWORK-1211253-2-R03",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"RULEWORK-1211253-2-T03",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"1211280",</a:t>
            </a:r>
          </a:p>
          <a:p xmlns:a="http://schemas.openxmlformats.org/drawingml/2006/main">
            <a:r>
              <a:t>      "name": "항공안전처",</a:t>
            </a:r>
          </a:p>
          <a:p xmlns:a="http://schemas.openxmlformats.org/drawingml/2006/main">
            <a:r>
              <a:t>      "job": "항공안전·사고조사",</a:t>
            </a:r>
          </a:p>
          <a:p xmlns:a="http://schemas.openxmlformats.org/drawingml/2006/main">
            <a:r>
              <a:t>      "indices": [</a:t>
            </a:r>
          </a:p>
          <a:p xmlns:a="http://schemas.openxmlformats.org/drawingml/2006/main">
            <a:r>
              <a:t>        7,</a:t>
            </a:r>
          </a:p>
          <a:p xmlns:a="http://schemas.openxmlformats.org/drawingml/2006/main">
            <a:r>
              <a:t>        12</a:t>
            </a:r>
          </a:p>
          <a:p xmlns:a="http://schemas.openxmlformats.org/drawingml/2006/main">
            <a:r>
              <a:t>      ],</a:t>
            </a:r>
          </a:p>
          <a:p xmlns:a="http://schemas.openxmlformats.org/drawingml/2006/main">
            <a:r>
              <a:t>      "duties": [</a:t>
            </a:r>
          </a:p>
          <a:p xmlns:a="http://schemas.openxmlformats.org/drawingml/2006/main">
            <a:r>
              <a:t>        "8. 항공안전‧항공보안 자율보고의 접수·분석 및 전파업무",</a:t>
            </a:r>
          </a:p>
          <a:p xmlns:a="http://schemas.openxmlformats.org/drawingml/2006/main">
            <a:r>
              <a:t>        "13. 초경량비행장치 사고조사 업무"</a:t>
            </a:r>
          </a:p>
          <a:p xmlns:a="http://schemas.openxmlformats.org/drawingml/2006/main">
            <a:r>
              <a:t>      ],</a:t>
            </a:r>
          </a:p>
          <a:p xmlns:a="http://schemas.openxmlformats.org/drawingml/2006/main">
            <a:r>
              <a:t>      "locator": "별표4 · T45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"RULEWORK-1211280-8",</a:t>
            </a:r>
          </a:p>
          <a:p xmlns:a="http://schemas.openxmlformats.org/drawingml/2006/main">
            <a:r>
              <a:t>          "text": "8. 항공안전‧항공보안 자율보고의 접수·분석 및 전파업무",</a:t>
            </a:r>
          </a:p>
          <a:p xmlns:a="http://schemas.openxmlformats.org/drawingml/2006/main">
            <a:r>
              <a:t>          "locator": "별표4 · T45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"RULEWORK-1211280-8-R01",</a:t>
            </a:r>
          </a:p>
          <a:p xmlns:a="http://schemas.openxmlformats.org/drawingml/2006/main">
            <a:r>
              <a:t>              "title": "업무 맥락·전용 지식 구성",</a:t>
            </a:r>
          </a:p>
          <a:p xmlns:a="http://schemas.openxmlformats.org/drawingml/2006/main">
            <a:r>
              <a:t>              "development": "기체·임무·운영 범위별 요건 분류",</a:t>
            </a:r>
          </a:p>
          <a:p xmlns:a="http://schemas.openxmlformats.org/drawingml/2006/main">
            <a:r>
              <a:t>              "output": "요건·위험·보완·인계 검토자료",</a:t>
            </a:r>
          </a:p>
          <a:p xmlns:a="http://schemas.openxmlformats.org/drawingml/2006/main">
            <a:r>
              <a:t>              "testId": "RULEWORK-1211280-8-T01",</a:t>
            </a:r>
          </a:p>
          <a:p xmlns:a="http://schemas.openxmlformats.org/drawingml/2006/main">
            <a:r>
              <a:t>              "criterion": "운영 조건·서류 요건·근거 조항 대조"</a:t>
            </a:r>
          </a:p>
          <a:p xmlns:a="http://schemas.openxmlformats.org/drawingml/2006/main">
            <a:r>
              <a:t>            },</a:t>
            </a:r>
          </a:p>
          <a:p xmlns:a="http://schemas.openxmlformats.org/drawingml/2006/main">
            <a:r>
              <a:t>            {</a:t>
            </a:r>
          </a:p>
          <a:p xmlns:a="http://schemas.openxmlformats.org/drawingml/2006/main">
            <a:r>
              <a:t>              "id": "RULEWORK-1211280-8-R02",</a:t>
            </a:r>
          </a:p>
          <a:p xmlns:a="http://schemas.openxmlformats.org/drawingml/2006/main">
            <a:r>
              <a:t>              "title": "업무건·역할·시스템 연결",</a:t>
            </a:r>
          </a:p>
          <a:p xmlns:a="http://schemas.openxmlformats.org/drawingml/2006/main">
            <a:r>
              <a:t>              "development": "신고·검토·보완·공식 결과의 판본 추적",</a:t>
            </a:r>
          </a:p>
          <a:p xmlns:a="http://schemas.openxmlformats.org/drawingml/2006/main">
            <a:r>
              <a:t>              "output": "업무건·원천·역할·변경 연결 명세",</a:t>
            </a:r>
          </a:p>
          <a:p xmlns:a="http://schemas.openxmlformats.org/drawingml/2006/main">
            <a:r>
              <a:t>              "testId": "RULEWORK-1211280-8-T02",</a:t>
            </a:r>
          </a:p>
          <a:p xmlns:a="http://schemas.openxmlformats.org/drawingml/2006/main">
            <a:r>
              <a:t>              "criterion": "공식 비행 허가·안전 판정의 자동 확정 차단"</a:t>
            </a:r>
          </a:p>
          <a:p xmlns:a="http://schemas.openxmlformats.org/drawingml/2006/main">
            <a:r>
              <a:t>            },</a:t>
            </a:r>
          </a:p>
          <a:p xmlns:a="http://schemas.openxmlformats.org/drawingml/2006/main">
            <a:r>
              <a:t>            {</a:t>
            </a:r>
          </a:p>
          <a:p xmlns:a="http://schemas.openxmlformats.org/drawingml/2006/main">
            <a:r>
              <a:t>              "id": "RULEWORK-1211280-8-R03",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"RULEWORK-1211280-8-T03",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"RULEWORK-1211280-13",</a:t>
            </a:r>
          </a:p>
          <a:p xmlns:a="http://schemas.openxmlformats.org/drawingml/2006/main">
            <a:r>
              <a:t>          "text": "13. 초경량비행장치 사고조사 업무",</a:t>
            </a:r>
          </a:p>
          <a:p xmlns:a="http://schemas.openxmlformats.org/drawingml/2006/main">
            <a:r>
              <a:t>          "locator": "별표4 · T45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"RULEWORK-1211280-13-R01",</a:t>
            </a:r>
          </a:p>
          <a:p xmlns:a="http://schemas.openxmlformats.org/drawingml/2006/main">
            <a:r>
              <a:t>              "title": "업무 맥락·전용 지식 구성",</a:t>
            </a:r>
          </a:p>
          <a:p xmlns:a="http://schemas.openxmlformats.org/drawingml/2006/main">
            <a:r>
              <a:t>              "development": "기체·임무·운영 범위별 요건 분류",</a:t>
            </a:r>
          </a:p>
          <a:p xmlns:a="http://schemas.openxmlformats.org/drawingml/2006/main">
            <a:r>
              <a:t>              "output": "요건·위험·보완·인계 검토자료",</a:t>
            </a:r>
          </a:p>
          <a:p xmlns:a="http://schemas.openxmlformats.org/drawingml/2006/main">
            <a:r>
              <a:t>              "testId": "RULEWORK-1211280-13-T01",</a:t>
            </a:r>
          </a:p>
          <a:p xmlns:a="http://schemas.openxmlformats.org/drawingml/2006/main">
            <a:r>
              <a:t>              "criterion": "운영 조건·서류 요건·근거 조항 대조"</a:t>
            </a:r>
          </a:p>
          <a:p xmlns:a="http://schemas.openxmlformats.org/drawingml/2006/main">
            <a:r>
              <a:t>            },</a:t>
            </a:r>
          </a:p>
          <a:p xmlns:a="http://schemas.openxmlformats.org/drawingml/2006/main">
            <a:r>
              <a:t>            {</a:t>
            </a:r>
          </a:p>
          <a:p xmlns:a="http://schemas.openxmlformats.org/drawingml/2006/main">
            <a:r>
              <a:t>              "id": "RULEWORK-1211280-13-R02",</a:t>
            </a:r>
          </a:p>
          <a:p xmlns:a="http://schemas.openxmlformats.org/drawingml/2006/main">
            <a:r>
              <a:t>              "title": "업무건·역할·시스템 연결",</a:t>
            </a:r>
          </a:p>
          <a:p xmlns:a="http://schemas.openxmlformats.org/drawingml/2006/main">
            <a:r>
              <a:t>              "development": "신고·검토·보완·공식 결과의 판본 추적",</a:t>
            </a:r>
          </a:p>
          <a:p xmlns:a="http://schemas.openxmlformats.org/drawingml/2006/main">
            <a:r>
              <a:t>              "output": "업무건·원천·역할·변경 연결 명세",</a:t>
            </a:r>
          </a:p>
          <a:p xmlns:a="http://schemas.openxmlformats.org/drawingml/2006/main">
            <a:r>
              <a:t>              "testId": "RULEWORK-1211280-13-T02",</a:t>
            </a:r>
          </a:p>
          <a:p xmlns:a="http://schemas.openxmlformats.org/drawingml/2006/main">
            <a:r>
              <a:t>              "criterion": "공식 비행 허가·안전 판정의 자동 확정 차단"</a:t>
            </a:r>
          </a:p>
          <a:p xmlns:a="http://schemas.openxmlformats.org/drawingml/2006/main">
            <a:r>
              <a:t>            },</a:t>
            </a:r>
          </a:p>
          <a:p xmlns:a="http://schemas.openxmlformats.org/drawingml/2006/main">
            <a:r>
              <a:t>            {</a:t>
            </a:r>
          </a:p>
          <a:p xmlns:a="http://schemas.openxmlformats.org/drawingml/2006/main">
            <a:r>
              <a:t>              "id": "RULEWORK-1211280-13-R03",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"RULEWORK-1211280-13-T03",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"CCK-02",</a:t>
            </a:r>
          </a:p>
          <a:p xmlns:a="http://schemas.openxmlformats.org/drawingml/2006/main">
            <a:r>
              <a:t>      "use": "Audin·JET의 증거·항목 검토"</a:t>
            </a:r>
          </a:p>
          <a:p xmlns:a="http://schemas.openxmlformats.org/drawingml/2006/main">
            <a:r>
              <a:t>    },</a:t>
            </a:r>
          </a:p>
          <a:p xmlns:a="http://schemas.openxmlformats.org/drawingml/2006/main">
            <a:r>
              <a:t>    {</a:t>
            </a:r>
          </a:p>
          <a:p xmlns:a="http://schemas.openxmlformats.org/drawingml/2006/main">
            <a:r>
              <a:t>      "assetId": "CCK-03",</a:t>
            </a:r>
          </a:p>
          <a:p xmlns:a="http://schemas.openxmlformats.org/drawingml/2006/main">
            <a:r>
              <a:t>      "use": "Connor 명세의 실행·로그 경계"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"분야별 보고 항목 사전",</a:t>
            </a:r>
          </a:p>
          <a:p xmlns:a="http://schemas.openxmlformats.org/drawingml/2006/main">
            <a:r>
              <a:t>    "원시 증거–사건–보고서 추적표"</a:t>
            </a:r>
          </a:p>
          <a:p xmlns:a="http://schemas.openxmlformats.org/drawingml/2006/main">
            <a:r>
              <a:t>  ],</a:t>
            </a:r>
          </a:p>
          <a:p xmlns:a="http://schemas.openxmlformats.org/drawingml/2006/main">
            <a:r>
              <a:t>  "acceptancePlan": {</a:t>
            </a:r>
          </a:p>
          <a:p xmlns:a="http://schemas.openxmlformats.org/drawingml/2006/main">
            <a:r>
              <a:t>    "sample": "사고 후 사건 삭제, 시각 충돌, 미이행 조치 주입",</a:t>
            </a:r>
          </a:p>
          <a:p xmlns:a="http://schemas.openxmlformats.org/drawingml/2006/main">
            <a:r>
              <a:t>    "criterion": "누락 경고·원시 근거 추적·종결 차단",</a:t>
            </a:r>
          </a:p>
          <a:p xmlns:a="http://schemas.openxmlformats.org/drawingml/2006/main">
            <a:r>
              <a:t>    "evidence": "사건별 정답표·탐지 결과·종결 시도 로그",</a:t>
            </a:r>
          </a:p>
          <a:p xmlns:a="http://schemas.openxmlformats.org/drawingml/2006/main">
            <a:r>
              <a:t>    "execution": "미실행"</a:t>
            </a:r>
          </a:p>
          <a:p xmlns:a="http://schemas.openxmlformats.org/drawingml/2006/main">
            <a:r>
              <a:t>  },</a:t>
            </a:r>
          </a:p>
          <a:p xmlns:a="http://schemas.openxmlformats.org/drawingml/2006/main">
            <a:r>
              <a:t>  "formula": "필수 사건 재현 건수 ÷ 정답 사건 수 / 재점검 기한 초과율",</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"PF-R04",</a:t>
            </a:r>
          </a:p>
          <a:p xmlns:a="http://schemas.openxmlformats.org/drawingml/2006/main">
            <a:r>
              <a:t>    "PF-R09",</a:t>
            </a:r>
          </a:p>
          <a:p xmlns:a="http://schemas.openxmlformats.org/drawingml/2006/main">
            <a:r>
              <a:t>    "PF02"</a:t>
            </a:r>
          </a:p>
          <a:p xmlns:a="http://schemas.openxmlformats.org/drawingml/2006/main">
            <a:r>
              <a:t>  ]</a:t>
            </a:r>
          </a:p>
          <a:p xmlns:a="http://schemas.openxmlformats.org/drawingml/2006/main">
            <a:r>
              <a:t>}</a:t>
            </a:r>
          </a:p>
          <a:p xmlns:a="http://schemas.openxmlformats.org/drawingml/2006/main">
            <a:r>
              <a:t>CCK-01: NOA 사용자 가이드 확인. 설치본 기능시험 필요.</a:t>
            </a:r>
          </a:p>
          <a:p xmlns:a="http://schemas.openxmlformats.org/drawingml/2006/main">
            <a:r>
              <a:t>CCK-02/03: 명세 기반 재사용 후보. 실물 기능검증 필요.</a:t>
            </a:r>
          </a:p>
          <a:p xmlns:a="http://schemas.openxmlformats.org/drawingml/2006/main">
            <a:r>
              <a:t>기존 SSO·RAG·권한·로그·연계 범위 대조 후 추가분 산정.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"ST-04",</a:t>
            </a:r>
          </a:p>
          <a:p xmlns:a="http://schemas.openxmlformats.org/drawingml/2006/main">
            <a:r>
              <a:t>  "number": 4,</a:t>
            </a:r>
          </a:p>
          <a:p xmlns:a="http://schemas.openxmlformats.org/drawingml/2006/main">
            <a:r>
              <a:t>  "direction": "지능형 미래 모빌리티 혁신",</a:t>
            </a:r>
          </a:p>
          <a:p xmlns:a="http://schemas.openxmlformats.org/drawingml/2006/main">
            <a:r>
              <a:t>  "strategy": "교통안전체계 인공지능 대전환",</a:t>
            </a:r>
          </a:p>
          <a:p xmlns:a="http://schemas.openxmlformats.org/drawingml/2006/main">
            <a:r>
              <a:t>  "solution": "TS 조직 네이티브 AI 공통플랫폼",</a:t>
            </a:r>
          </a:p>
          <a:p xmlns:a="http://schemas.openxmlformats.org/drawingml/2006/main">
            <a:r>
              <a:t>  "lawIds": [],</a:t>
            </a:r>
          </a:p>
          <a:p xmlns:a="http://schemas.openxmlformats.org/drawingml/2006/main">
            <a:r>
              <a:t>  "codes": [</a:t>
            </a:r>
          </a:p>
          <a:p xmlns:a="http://schemas.openxmlformats.org/drawingml/2006/main">
            <a:r>
              <a:t>    "1010100",</a:t>
            </a:r>
          </a:p>
          <a:p xmlns:a="http://schemas.openxmlformats.org/drawingml/2006/main">
            <a:r>
              <a:t>    "1019600",</a:t>
            </a:r>
          </a:p>
          <a:p xmlns:a="http://schemas.openxmlformats.org/drawingml/2006/main">
            <a:r>
              <a:t>    "1019700",</a:t>
            </a:r>
          </a:p>
          <a:p xmlns:a="http://schemas.openxmlformats.org/drawingml/2006/main">
            <a:r>
              <a:t>    "1016050",</a:t>
            </a:r>
          </a:p>
          <a:p xmlns:a="http://schemas.openxmlformats.org/drawingml/2006/main">
            <a:r>
              <a:t>    "1018037",</a:t>
            </a:r>
          </a:p>
          <a:p xmlns:a="http://schemas.openxmlformats.org/drawingml/2006/main">
            <a:r>
              <a:t>    "1019300",</a:t>
            </a:r>
          </a:p>
          <a:p xmlns:a="http://schemas.openxmlformats.org/drawingml/2006/main">
            <a:r>
              <a:t>    "1019500"</a:t>
            </a:r>
          </a:p>
          <a:p xmlns:a="http://schemas.openxmlformats.org/drawingml/2006/main">
            <a:r>
              <a:t>  ],</a:t>
            </a:r>
          </a:p>
          <a:p xmlns:a="http://schemas.openxmlformats.org/drawingml/2006/main">
            <a:r>
              <a:t>  "work": "공식 조직·직무·역할 기반의 사용자 인식 및 업무 맥락 분류",</a:t>
            </a:r>
          </a:p>
          <a:p xmlns:a="http://schemas.openxmlformats.org/drawingml/2006/main">
            <a:r>
              <a:t>  "features": [</a:t>
            </a:r>
          </a:p>
          <a:p xmlns:a="http://schemas.openxmlformats.org/drawingml/2006/main">
            <a:r>
              <a:t>    "로그인 ID·조직·담당업무·효력일 매핑",</a:t>
            </a:r>
          </a:p>
          <a:p xmlns:a="http://schemas.openxmlformats.org/drawingml/2006/main">
            <a:r>
              <a:t>    "업무별 지식·절차·서식 선택과 접근정책 집행"</a:t>
            </a:r>
          </a:p>
          <a:p xmlns:a="http://schemas.openxmlformats.org/drawingml/2006/main">
            <a:r>
              <a:t>  ],</a:t>
            </a:r>
          </a:p>
          <a:p xmlns:a="http://schemas.openxmlformats.org/drawingml/2006/main">
            <a:r>
              <a:t>  "output": "조직·업무 사전·정책표·기관 인수본",</a:t>
            </a:r>
          </a:p>
          <a:p xmlns:a="http://schemas.openxmlformats.org/drawingml/2006/main">
            <a:r>
              <a:t>  "acceptance": "GAI-R01~R12와 GAI-T01~T12의 독립 인수 기준 적용",</a:t>
            </a:r>
          </a:p>
          <a:p xmlns:a="http://schemas.openxmlformats.org/drawingml/2006/main">
            <a:r>
              <a:t>  "phase": "1차 공통 기반",</a:t>
            </a:r>
          </a:p>
          <a:p xmlns:a="http://schemas.openxmlformats.org/drawingml/2006/main">
            <a:r>
              <a:t>  "packages": [</a:t>
            </a:r>
          </a:p>
          <a:p xmlns:a="http://schemas.openxmlformats.org/drawingml/2006/main">
            <a:r>
              <a:t>    "ON-W01",</a:t>
            </a:r>
          </a:p>
          <a:p xmlns:a="http://schemas.openxmlformats.org/drawingml/2006/main">
            <a:r>
              <a:t>    "ON-W02",</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"GAI-T01",</a:t>
            </a:r>
          </a:p>
          <a:p xmlns:a="http://schemas.openxmlformats.org/drawingml/2006/main">
            <a:r>
              <a:t>    "GAI-T02",</a:t>
            </a:r>
          </a:p>
          <a:p xmlns:a="http://schemas.openxmlformats.org/drawingml/2006/main">
            <a:r>
              <a:t>    "GAI-T03",</a:t>
            </a:r>
          </a:p>
          <a:p xmlns:a="http://schemas.openxmlformats.org/drawingml/2006/main">
            <a:r>
              <a:t>    "GAI-T04",</a:t>
            </a:r>
          </a:p>
          <a:p xmlns:a="http://schemas.openxmlformats.org/drawingml/2006/main">
            <a:r>
              <a:t>    "GAI-T05",</a:t>
            </a:r>
          </a:p>
          <a:p xmlns:a="http://schemas.openxmlformats.org/drawingml/2006/main">
            <a:r>
              <a:t>    "GAI-T06",</a:t>
            </a:r>
          </a:p>
          <a:p xmlns:a="http://schemas.openxmlformats.org/drawingml/2006/main">
            <a:r>
              <a:t>    "GAI-T07",</a:t>
            </a:r>
          </a:p>
          <a:p xmlns:a="http://schemas.openxmlformats.org/drawingml/2006/main">
            <a:r>
              <a:t>    "GAI-T08",</a:t>
            </a:r>
          </a:p>
          <a:p xmlns:a="http://schemas.openxmlformats.org/drawingml/2006/main">
            <a:r>
              <a:t>    "GAI-T09",</a:t>
            </a:r>
          </a:p>
          <a:p xmlns:a="http://schemas.openxmlformats.org/drawingml/2006/main">
            <a:r>
              <a:t>    "GAI-T10",</a:t>
            </a:r>
          </a:p>
          <a:p xmlns:a="http://schemas.openxmlformats.org/drawingml/2006/main">
            <a:r>
              <a:t>    "GAI-T11",</a:t>
            </a:r>
          </a:p>
          <a:p xmlns:a="http://schemas.openxmlformats.org/drawingml/2006/main">
            <a:r>
              <a:t>    "GAI-T12"</a:t>
            </a:r>
          </a:p>
          <a:p xmlns:a="http://schemas.openxmlformats.org/drawingml/2006/main">
            <a:r>
              <a:t>  ],</a:t>
            </a:r>
          </a:p>
          <a:p xmlns:a="http://schemas.openxmlformats.org/drawingml/2006/main">
            <a:r>
              <a:t>  "status": "솔루션·조직·범위 연결안",</a:t>
            </a:r>
          </a:p>
          <a:p xmlns:a="http://schemas.openxmlformats.org/drawingml/2006/main">
            <a:r>
              <a:t>  "basis": "설립법·직제시행세칙 기반 경영지원 업무",</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"1010100",</a:t>
            </a:r>
          </a:p>
          <a:p xmlns:a="http://schemas.openxmlformats.org/drawingml/2006/main">
            <a:r>
              <a:t>      "name": "AI미래전략실",</a:t>
            </a:r>
          </a:p>
          <a:p xmlns:a="http://schemas.openxmlformats.org/drawingml/2006/main">
            <a:r>
              <a:t>      "job": "AI 전략·윤리",</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인공지능(AI) 전환 전략 수립․조정",</a:t>
            </a:r>
          </a:p>
          <a:p xmlns:a="http://schemas.openxmlformats.org/drawingml/2006/main">
            <a:r>
              <a:t>        "6. 인공지능(AI) 제도 및 지침, 윤리기준 관리"</a:t>
            </a:r>
          </a:p>
          <a:p xmlns:a="http://schemas.openxmlformats.org/drawingml/2006/main">
            <a:r>
              <a:t>      ],</a:t>
            </a:r>
          </a:p>
          <a:p xmlns:a="http://schemas.openxmlformats.org/drawingml/2006/main">
            <a:r>
              <a:t>      "locator": "별표4 · T34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사업 조정·데이터 표준",</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인공지능(AI) 활용 서비스 구축 지원 및 성과관리",</a:t>
            </a:r>
          </a:p>
          <a:p xmlns:a="http://schemas.openxmlformats.org/drawingml/2006/main">
            <a:r>
              <a:t>        "3. 인공지능(AI) 데이터 표준화 및 데이터 스페이스 구축"</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"1019700",</a:t>
            </a:r>
          </a:p>
          <a:p xmlns:a="http://schemas.openxmlformats.org/drawingml/2006/main">
            <a:r>
              <a:t>      "name": "AI서비스개발팀",</a:t>
            </a:r>
          </a:p>
          <a:p xmlns:a="http://schemas.openxmlformats.org/drawingml/2006/main">
            <a:r>
              <a:t>      "job": "공통플랫폼·모델 품질",</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인공지능(AI) 공통플랫폼 구축․운영 인공지능(AI) 모델 고도화․품질관리",</a:t>
            </a:r>
          </a:p>
          <a:p xmlns:a="http://schemas.openxmlformats.org/drawingml/2006/main">
            <a:r>
              <a:t>        "2. 인공지능(AI) 시범 서비스(PoC) 추진"</a:t>
            </a:r>
          </a:p>
          <a:p xmlns:a="http://schemas.openxmlformats.org/drawingml/2006/main">
            <a:r>
              <a:t>      ],</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"조직·분장·전결 관리",</a:t>
            </a:r>
          </a:p>
          <a:p xmlns:a="http://schemas.openxmlformats.org/drawingml/2006/main">
            <a:r>
              <a:t>      "indices": [</a:t>
            </a:r>
          </a:p>
          <a:p xmlns:a="http://schemas.openxmlformats.org/drawingml/2006/main">
            <a:r>
              <a:t>        7,</a:t>
            </a:r>
          </a:p>
          <a:p xmlns:a="http://schemas.openxmlformats.org/drawingml/2006/main">
            <a:r>
              <a:t>        10,</a:t>
            </a:r>
          </a:p>
          <a:p xmlns:a="http://schemas.openxmlformats.org/drawingml/2006/main">
            <a:r>
              <a:t>        11</a:t>
            </a:r>
          </a:p>
          <a:p xmlns:a="http://schemas.openxmlformats.org/drawingml/2006/main">
            <a:r>
              <a:t>      ],</a:t>
            </a:r>
          </a:p>
          <a:p xmlns:a="http://schemas.openxmlformats.org/drawingml/2006/main">
            <a:r>
              <a:t>      "duties": [</a:t>
            </a:r>
          </a:p>
          <a:p xmlns:a="http://schemas.openxmlformats.org/drawingml/2006/main">
            <a:r>
              <a:t>        "8. 조직 및 정원관리 총괄",</a:t>
            </a:r>
          </a:p>
          <a:p xmlns:a="http://schemas.openxmlformats.org/drawingml/2006/main">
            <a:r>
              <a:t>        "9. 위임전결에 관한 사항",</a:t>
            </a:r>
          </a:p>
          <a:p xmlns:a="http://schemas.openxmlformats.org/drawingml/2006/main">
            <a:r>
              <a:t>        "10. 업무분장 조정‧관리"</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"발령·인사정보 관리",</a:t>
            </a:r>
          </a:p>
          <a:p xmlns:a="http://schemas.openxmlformats.org/drawingml/2006/main">
            <a:r>
              <a:t>      "indices": [</a:t>
            </a:r>
          </a:p>
          <a:p xmlns:a="http://schemas.openxmlformats.org/drawingml/2006/main">
            <a:r>
              <a:t>        2,</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"6. 인사통계자료․인사정보 관리 및 인사 관련 제증명 발급"</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"정보화·데이터 품질",</a:t>
            </a:r>
          </a:p>
          <a:p xmlns:a="http://schemas.openxmlformats.org/drawingml/2006/main">
            <a:r>
              <a:t>      "indices": [</a:t>
            </a:r>
          </a:p>
          <a:p xmlns:a="http://schemas.openxmlformats.org/drawingml/2006/main">
            <a:r>
              <a:t>        12,</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"13. 정보화사업 사전검토(과업지시서 등) 및 시스템 구축 지원(기술분야)",</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"보안·개인정보 관리",</a:t>
            </a:r>
          </a:p>
          <a:p xmlns:a="http://schemas.openxmlformats.org/drawingml/2006/main">
            <a:r>
              <a:t>      "indices": [</a:t>
            </a:r>
          </a:p>
          <a:p xmlns:a="http://schemas.openxmlformats.org/drawingml/2006/main">
            <a:r>
              <a:t>        0,</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"1. 정보보안 업무총괄 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"설립법·별표4 내부 업무분장 / 인사·재무·계약·전결 등 업무별 규정의 별도 확인",</a:t>
            </a:r>
          </a:p>
          <a:p xmlns:a="http://schemas.openxmlformats.org/drawingml/2006/main">
            <a:r>
              <a:t>  "caseRefs": [</a:t>
            </a:r>
          </a:p>
          <a:p xmlns:a="http://schemas.openxmlformats.org/drawingml/2006/main">
            <a:r>
              <a:t>    {</a:t>
            </a:r>
          </a:p>
          <a:p xmlns:a="http://schemas.openxmlformats.org/drawingml/2006/main">
            <a:r>
              <a:t>      "caseId": "AX04",</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"AX22",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"조직 네이티브 공통 기반",</a:t>
            </a:r>
          </a:p>
          <a:p xmlns:a="http://schemas.openxmlformats.org/drawingml/2006/main">
            <a:r>
              <a:t>  "delta": "공식 ID·효력일·역할·업무 분류·권한 집행",</a:t>
            </a:r>
          </a:p>
          <a:p xmlns:a="http://schemas.openxmlformats.org/drawingml/2006/main">
            <a:r>
              <a:t>  "kpi": "직무 분류 정확도 / 비인가 노출 건수",</a:t>
            </a:r>
          </a:p>
          <a:p xmlns:a="http://schemas.openxmlformats.org/drawingml/2006/main">
            <a:r>
              <a:t>  "validation": "인사이동·동명이인·권한 회수·동일 요청 교차 시험",</a:t>
            </a:r>
          </a:p>
          <a:p xmlns:a="http://schemas.openxmlformats.org/drawingml/2006/main">
            <a:r>
              <a:t>  "requirement": "BM-ST-04-R01",</a:t>
            </a:r>
          </a:p>
          <a:p xmlns:a="http://schemas.openxmlformats.org/drawingml/2006/main">
            <a:r>
              <a:t>  "test": "BM-ST-04-T01",</a:t>
            </a:r>
          </a:p>
          <a:p xmlns:a="http://schemas.openxmlformats.org/drawingml/2006/main">
            <a:r>
              <a:t>  "effectStatus": "기대 방향 · TS 실측 전",</a:t>
            </a:r>
          </a:p>
          <a:p xmlns:a="http://schemas.openxmlformats.org/drawingml/2006/main">
            <a:r>
              <a:t>  "effect": "반복 맥락 입력·부서 간 오인계 감소",</a:t>
            </a:r>
          </a:p>
          <a:p xmlns:a="http://schemas.openxmlformats.org/drawingml/2006/main">
            <a:r>
              <a:t>  "reuse": "ON27-BASE / C27-COM + CCK 재사용 판정 기능",</a:t>
            </a:r>
          </a:p>
          <a:p xmlns:a="http://schemas.openxmlformats.org/drawingml/2006/main">
            <a:r>
              <a:t>  "input": "공식 직원 ID, 조직도·업무분장, 효력일, 원천 접근정책",</a:t>
            </a:r>
          </a:p>
          <a:p xmlns:a="http://schemas.openxmlformats.org/drawingml/2006/main">
            <a:r>
              <a:t>  "steps": [</a:t>
            </a:r>
          </a:p>
          <a:p xmlns:a="http://schemas.openxmlformats.org/drawingml/2006/main">
            <a:r>
              <a:t>    "로그인 ID–조직 연결",</a:t>
            </a:r>
          </a:p>
          <a:p xmlns:a="http://schemas.openxmlformats.org/drawingml/2006/main">
            <a:r>
              <a:t>    "인물·부서·직무 관계 식별",</a:t>
            </a:r>
          </a:p>
          <a:p xmlns:a="http://schemas.openxmlformats.org/drawingml/2006/main">
            <a:r>
              <a:t>    "업무 맥락·지식·서식 선택",</a:t>
            </a:r>
          </a:p>
          <a:p xmlns:a="http://schemas.openxmlformats.org/drawingml/2006/main">
            <a:r>
              <a:t>    "권한 재검증·결과 근거 기록"</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"1010100",</a:t>
            </a:r>
          </a:p>
          <a:p xmlns:a="http://schemas.openxmlformats.org/drawingml/2006/main">
            <a:r>
              <a:t>      "name": "AI미래전략실",</a:t>
            </a:r>
          </a:p>
          <a:p xmlns:a="http://schemas.openxmlformats.org/drawingml/2006/main">
            <a:r>
              <a:t>      "job": "AI 전략·윤리",</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인공지능(AI) 전환 전략 수립․조정",</a:t>
            </a:r>
          </a:p>
          <a:p xmlns:a="http://schemas.openxmlformats.org/drawingml/2006/main">
            <a:r>
              <a:t>        "6. 인공지능(AI) 제도 및 지침, 윤리기준 관리"</a:t>
            </a:r>
          </a:p>
          <a:p xmlns:a="http://schemas.openxmlformats.org/drawingml/2006/main">
            <a:r>
              <a:t>      ],</a:t>
            </a:r>
          </a:p>
          <a:p xmlns:a="http://schemas.openxmlformats.org/drawingml/2006/main">
            <a:r>
              <a:t>      "locator": "별표4 · T34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"RULEWORK-1010100-4",</a:t>
            </a:r>
          </a:p>
          <a:p xmlns:a="http://schemas.openxmlformats.org/drawingml/2006/main">
            <a:r>
              <a:t>          "text": "4. 인공지능(AI) 전환 전략 수립․조정",</a:t>
            </a:r>
          </a:p>
          <a:p xmlns:a="http://schemas.openxmlformats.org/drawingml/2006/main">
            <a:r>
              <a:t>          "locator": "별표4 · T34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"RULEWORK-1010100-4-R01",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"RULEWORK-1010100-4-T01",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"RULEWORK-1010100-4-R02",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"RULEWORK-1010100-4-T02",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"RULEWORK-1010100-4-R03",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"RULEWORK-1010100-4-T03",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"RULEWORK-1010100-6",</a:t>
            </a:r>
          </a:p>
          <a:p xmlns:a="http://schemas.openxmlformats.org/drawingml/2006/main">
            <a:r>
              <a:t>          "text": "6. 인공지능(AI) 제도 및 지침, 윤리기준 관리",</a:t>
            </a:r>
          </a:p>
          <a:p xmlns:a="http://schemas.openxmlformats.org/drawingml/2006/main">
            <a:r>
              <a:t>          "locator": "별표4 · T34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"RULEWORK-1010100-6-R01",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"RULEWORK-1010100-6-T01",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"RULEWORK-1010100-6-R02",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"RULEWORK-1010100-6-T02",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"RULEWORK-1010100-6-R03",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"RULEWORK-1010100-6-T03",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사업 조정·데이터 표준",</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인공지능(AI) 활용 서비스 구축 지원 및 성과관리",</a:t>
            </a:r>
          </a:p>
          <a:p xmlns:a="http://schemas.openxmlformats.org/drawingml/2006/main">
            <a:r>
              <a:t>        "3. 인공지능(AI) 데이터 표준화 및 데이터 스페이스 구축"</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"RULEWORK-1019600-1",</a:t>
            </a:r>
          </a:p>
          <a:p xmlns:a="http://schemas.openxmlformats.org/drawingml/2006/main">
            <a:r>
              <a:t>          "text": "1. 인공지능(AI) 활용 서비스 구축 지원 및 성과관리",</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"RULEWORK-1019600-1-R01",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"RULEWORK-1019600-1-T01",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"RULEWORK-1019600-1-R02",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"RULEWORK-1019600-1-T02",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"RULEWORK-1019600-1-R03",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"RULEWORK-1019600-3",</a:t>
            </a:r>
          </a:p>
          <a:p xmlns:a="http://schemas.openxmlformats.org/drawingml/2006/main">
            <a:r>
              <a:t>          "text": "3. 인공지능(AI) 데이터 표준화 및 데이터 스페이스 구축",</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"RULEWORK-1019600-3-T01",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"RULEWORK-1019600-3-R02",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"RULEWORK-1019600-3-T02",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"RULEWORK-1019600-3-R03",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"1019700",</a:t>
            </a:r>
          </a:p>
          <a:p xmlns:a="http://schemas.openxmlformats.org/drawingml/2006/main">
            <a:r>
              <a:t>      "name": "AI서비스개발팀",</a:t>
            </a:r>
          </a:p>
          <a:p xmlns:a="http://schemas.openxmlformats.org/drawingml/2006/main">
            <a:r>
              <a:t>      "job": "공통플랫폼·모델 품질",</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인공지능(AI) 공통플랫폼 구축․운영 인공지능(AI) 모델 고도화․품질관리",</a:t>
            </a:r>
          </a:p>
          <a:p xmlns:a="http://schemas.openxmlformats.org/drawingml/2006/main">
            <a:r>
              <a:t>        "2. 인공지능(AI) 시범 서비스(PoC) 추진"</a:t>
            </a:r>
          </a:p>
          <a:p xmlns:a="http://schemas.openxmlformats.org/drawingml/2006/main">
            <a:r>
              <a:t>      ],</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"RULEWORK-1019700-1",</a:t>
            </a:r>
          </a:p>
          <a:p xmlns:a="http://schemas.openxmlformats.org/drawingml/2006/main">
            <a:r>
              <a:t>          "text": "1. 인공지능(AI) 공통플랫폼 구축․운영 인공지능(AI) 모델 고도화․품질관리",</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"requirements": [</a:t>
            </a:r>
          </a:p>
          <a:p xmlns:a="http://schemas.openxmlformats.org/drawingml/2006/main">
            <a:r>
              <a:t>            {</a:t>
            </a:r>
          </a:p>
          <a:p xmlns:a="http://schemas.openxmlformats.org/drawingml/2006/main">
            <a:r>
              <a:t>              "id": "RULEWORK-1019700-1-R01",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"RULEWORK-1019700-1-T01",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"RULEWORK-1019700-1-R02",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"RULEWORK-1019700-1-T02",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"RULEWORK-1019700-1-R03",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"RULEWORK-1019700-1-T03",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"RULEWORK-1019700-2",</a:t>
            </a:r>
          </a:p>
          <a:p xmlns:a="http://schemas.openxmlformats.org/drawingml/2006/main">
            <a:r>
              <a:t>          "text": "2. 인공지능(AI) 시범 서비스(PoC) 추진",</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"requirements": [</a:t>
            </a:r>
          </a:p>
          <a:p xmlns:a="http://schemas.openxmlformats.org/drawingml/2006/main">
            <a:r>
              <a:t>            {</a:t>
            </a:r>
          </a:p>
          <a:p xmlns:a="http://schemas.openxmlformats.org/drawingml/2006/main">
            <a:r>
              <a:t>              "id": "RULEWORK-1019700-2-R01",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"RULEWORK-1019700-2-T01",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"RULEWORK-1019700-2-R02",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"RULEWORK-1019700-2-T02",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"RULEWORK-1019700-2-R03",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"RULEWORK-1019700-2-T03",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"조직·분장·전결 관리",</a:t>
            </a:r>
          </a:p>
          <a:p xmlns:a="http://schemas.openxmlformats.org/drawingml/2006/main">
            <a:r>
              <a:t>      "indices": [</a:t>
            </a:r>
          </a:p>
          <a:p xmlns:a="http://schemas.openxmlformats.org/drawingml/2006/main">
            <a:r>
              <a:t>        7,</a:t>
            </a:r>
          </a:p>
          <a:p xmlns:a="http://schemas.openxmlformats.org/drawingml/2006/main">
            <a:r>
              <a:t>        10,</a:t>
            </a:r>
          </a:p>
          <a:p xmlns:a="http://schemas.openxmlformats.org/drawingml/2006/main">
            <a:r>
              <a:t>        11</a:t>
            </a:r>
          </a:p>
          <a:p xmlns:a="http://schemas.openxmlformats.org/drawingml/2006/main">
            <a:r>
              <a:t>      ],</a:t>
            </a:r>
          </a:p>
          <a:p xmlns:a="http://schemas.openxmlformats.org/drawingml/2006/main">
            <a:r>
              <a:t>      "duties": [</a:t>
            </a:r>
          </a:p>
          <a:p xmlns:a="http://schemas.openxmlformats.org/drawingml/2006/main">
            <a:r>
              <a:t>        "8. 조직 및 정원관리 총괄",</a:t>
            </a:r>
          </a:p>
          <a:p xmlns:a="http://schemas.openxmlformats.org/drawingml/2006/main">
            <a:r>
              <a:t>        "9. 위임전결에 관한 사항",</a:t>
            </a:r>
          </a:p>
          <a:p xmlns:a="http://schemas.openxmlformats.org/drawingml/2006/main">
            <a:r>
              <a:t>        "10. 업무분장 조정‧관리"</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"RULEWORK-1016050-8",</a:t>
            </a:r>
          </a:p>
          <a:p xmlns:a="http://schemas.openxmlformats.org/drawingml/2006/main">
            <a:r>
              <a:t>          "text": "8. 조직 및 정원관리 총괄",</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"RULEWORK-1016050-8-R01",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"RULEWORK-1016050-8-T01",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"RULEWORK-1016050-8-R02",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"RULEWORK-1016050-8-T02",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"RULEWORK-1016050-11",</a:t>
            </a:r>
          </a:p>
          <a:p xmlns:a="http://schemas.openxmlformats.org/drawingml/2006/main">
            <a:r>
              <a:t>          "text": "9. 위임전결에 관한 사항",</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"RULEWORK-1016050-11-R01",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"RULEWORK-1016050-11-T01",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"RULEWORK-1016050-11-R02",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"RULEWORK-1016050-11-T02",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"RULEWORK-1016050-11-R03",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"RULEWORK-1016050-11-T03",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"RULEWORK-1016050-12",</a:t>
            </a:r>
          </a:p>
          <a:p xmlns:a="http://schemas.openxmlformats.org/drawingml/2006/main">
            <a:r>
              <a:t>          "text": "10. 업무분장 조정‧관리",</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"RULEWORK-1016050-12-R01",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"RULEWORK-1016050-12-T01",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"RULEWORK-1016050-12-R02",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"RULEWORK-1016050-12-T02",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"RULEWORK-1016050-12-R03",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"RULEWORK-1016050-12-T03",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"발령·인사정보 관리",</a:t>
            </a:r>
          </a:p>
          <a:p xmlns:a="http://schemas.openxmlformats.org/drawingml/2006/main">
            <a:r>
              <a:t>      "indices": [</a:t>
            </a:r>
          </a:p>
          <a:p xmlns:a="http://schemas.openxmlformats.org/drawingml/2006/main">
            <a:r>
              <a:t>        2,</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"6. 인사통계자료․인사정보 관리 및 인사 관련 제증명 발급"</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"RULEWORK-1018037-3",</a:t>
            </a:r>
          </a:p>
          <a:p xmlns:a="http://schemas.openxmlformats.org/drawingml/2006/main">
            <a:r>
              <a:t>          "text": "3. 직원의 채용, 승진, 전보 등 임용 및 보직에 관한 업무",</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"RULEWORK-1018037-6",</a:t>
            </a:r>
          </a:p>
          <a:p xmlns:a="http://schemas.openxmlformats.org/drawingml/2006/main">
            <a:r>
              <a:t>          "text": "6. 인사통계자료․인사정보 관리 및 인사 관련 제증명 발급",</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"RULEWORK-1018037-6-R01",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"RULEWORK-1018037-6-T01",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"RULEWORK-1018037-6-R02",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"RULEWORK-1018037-6-T02",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"정보화·데이터 품질",</a:t>
            </a:r>
          </a:p>
          <a:p xmlns:a="http://schemas.openxmlformats.org/drawingml/2006/main">
            <a:r>
              <a:t>      "indices": [</a:t>
            </a:r>
          </a:p>
          <a:p xmlns:a="http://schemas.openxmlformats.org/drawingml/2006/main">
            <a:r>
              <a:t>        12,</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"13. 정보화사업 사전검토(과업지시서 등) 및 시스템 구축 지원(기술분야)",</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"RULEWORK-1019300-13",</a:t>
            </a:r>
          </a:p>
          <a:p xmlns:a="http://schemas.openxmlformats.org/drawingml/2006/main">
            <a:r>
              <a:t>          "text": "13. 정보화사업 사전검토(과업지시서 등) 및 시스템 구축 지원(기술분야)",</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"RULEWORK-1019300-13-R01",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"RULEWORK-1019300-13-T01",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"RULEWORK-1019300-13-R02",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"RULEWORK-1019300-13-T02",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"RULEWORK-1019300-13-R03",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"RULEWORK-1019300-13-T03",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"RULEWORK-1019300-20",</a:t>
            </a:r>
          </a:p>
          <a:p xmlns:a="http://schemas.openxmlformats.org/drawingml/2006/main">
            <a:r>
              <a:t>          "text": "20. 데이터 품질관리",</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"RULEWORK-1019300-20-R01",</a:t>
            </a:r>
          </a:p>
          <a:p xmlns:a="http://schemas.openxmlformats.org/drawingml/2006/main">
            <a:r>
              <a:t>              "title": "업무 맥락·전용 지식 구성",</a:t>
            </a:r>
          </a:p>
          <a:p xmlns:a="http://schemas.openxmlformats.org/drawingml/2006/main">
            <a:r>
              <a:t>              "development": "시스템·변경·업무건 관계 추적",</a:t>
            </a:r>
          </a:p>
          <a:p xmlns:a="http://schemas.openxmlformats.org/drawingml/2006/main">
            <a:r>
              <a:t>              "output": "영향분석·조치·복구·대사 기록",</a:t>
            </a:r>
          </a:p>
          <a:p xmlns:a="http://schemas.openxmlformats.org/drawingml/2006/main">
            <a:r>
              <a:t>              "testId": "RULEWORK-1019300-20-T01",</a:t>
            </a:r>
          </a:p>
          <a:p xmlns:a="http://schemas.openxmlformats.org/drawingml/2006/main">
            <a:r>
              <a:t>              "criterion": "중복·누락·순서 역전·장애 사례의 결과 대조"</a:t>
            </a:r>
          </a:p>
          <a:p xmlns:a="http://schemas.openxmlformats.org/drawingml/2006/main">
            <a:r>
              <a:t>            },</a:t>
            </a:r>
          </a:p>
          <a:p xmlns:a="http://schemas.openxmlformats.org/drawingml/2006/main">
            <a:r>
              <a:t>            {</a:t>
            </a:r>
          </a:p>
          <a:p xmlns:a="http://schemas.openxmlformats.org/drawingml/2006/main">
            <a:r>
              <a:t>              "id": "RULEWORK-1019300-20-R02",</a:t>
            </a:r>
          </a:p>
          <a:p xmlns:a="http://schemas.openxmlformats.org/drawingml/2006/main">
            <a:r>
              <a:t>              "title": "업무건·역할·시스템 연결",</a:t>
            </a:r>
          </a:p>
          <a:p xmlns:a="http://schemas.openxmlformats.org/drawingml/2006/main">
            <a:r>
              <a:t>              "development": "멱등 요청·오류 재처리·승인된 연계 어댑터",</a:t>
            </a:r>
          </a:p>
          <a:p xmlns:a="http://schemas.openxmlformats.org/drawingml/2006/main">
            <a:r>
              <a:t>              "output": "업무건·원천·역할·변경 연결 명세",</a:t>
            </a:r>
          </a:p>
          <a:p xmlns:a="http://schemas.openxmlformats.org/drawingml/2006/main">
            <a:r>
              <a:t>              "testId": "RULEWORK-1019300-20-T02",</a:t>
            </a:r>
          </a:p>
          <a:p xmlns:a="http://schemas.openxmlformats.org/drawingml/2006/main">
            <a:r>
              <a:t>              "criterion": "무승인 변경·중복 실행 차단 및 복구 검증"</a:t>
            </a:r>
          </a:p>
          <a:p xmlns:a="http://schemas.openxmlformats.org/drawingml/2006/main">
            <a:r>
              <a:t>            },</a:t>
            </a:r>
          </a:p>
          <a:p xmlns:a="http://schemas.openxmlformats.org/drawingml/2006/main">
            <a:r>
              <a:t>            {</a:t>
            </a:r>
          </a:p>
          <a:p xmlns:a="http://schemas.openxmlformats.org/drawingml/2006/main">
            <a:r>
              <a:t>              "id": "RULEWORK-1019300-20-R03",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"RULEWORK-1019300-20-T03",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"보안·개인정보 관리",</a:t>
            </a:r>
          </a:p>
          <a:p xmlns:a="http://schemas.openxmlformats.org/drawingml/2006/main">
            <a:r>
              <a:t>      "indices": [</a:t>
            </a:r>
          </a:p>
          <a:p xmlns:a="http://schemas.openxmlformats.org/drawingml/2006/main">
            <a:r>
              <a:t>        0,</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"1. 정보보안 업무총괄 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"RULEWORK-1019500-1",</a:t>
            </a:r>
          </a:p>
          <a:p xmlns:a="http://schemas.openxmlformats.org/drawingml/2006/main">
            <a:r>
              <a:t>          "text": "1. 정보보안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"RULEWORK-1019500-10",</a:t>
            </a:r>
          </a:p>
          <a:p xmlns:a="http://schemas.openxmlformats.org/drawingml/2006/main">
            <a:r>
              <a:t>          "text": "10. 개인정보보호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"RULEWORK-1019500-10-R01",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"RULEWORK-1019500-10-T01",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"RULEWORK-1019500-10-R02",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"RULEWORK-1019500-10-T02",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대화·검색·서식·스킬"</a:t>
            </a:r>
          </a:p>
          <a:p xmlns:a="http://schemas.openxmlformats.org/drawingml/2006/main">
            <a:r>
              <a:t>    },</a:t>
            </a:r>
          </a:p>
          <a:p xmlns:a="http://schemas.openxmlformats.org/drawingml/2006/main">
            <a:r>
              <a:t>    {</a:t>
            </a:r>
          </a:p>
          <a:p xmlns:a="http://schemas.openxmlformats.org/drawingml/2006/main">
            <a:r>
              <a:t>      "assetId": "CCK-03",</a:t>
            </a:r>
          </a:p>
          <a:p xmlns:a="http://schemas.openxmlformats.org/drawingml/2006/main">
            <a:r>
              <a:t>      "use": "Connor 명세의 실행·로그 경계"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"사람–조직–직무–업무 관계·효력일 모델",</a:t>
            </a:r>
          </a:p>
          <a:p xmlns:a="http://schemas.openxmlformats.org/drawingml/2006/main">
            <a:r>
              <a:t>    "업무 분류기·검색 전 정책 집행 연결"</a:t>
            </a:r>
          </a:p>
          <a:p xmlns:a="http://schemas.openxmlformats.org/drawingml/2006/main">
            <a:r>
              <a:t>  ],</a:t>
            </a:r>
          </a:p>
          <a:p xmlns:a="http://schemas.openxmlformats.org/drawingml/2006/main">
            <a:r>
              <a:t>  "acceptancePlan": {</a:t>
            </a:r>
          </a:p>
          <a:p xmlns:a="http://schemas.openxmlformats.org/drawingml/2006/main">
            <a:r>
              <a:t>    "sample": "동명이인·겸직·전보·회수 전후 동일 요청",</a:t>
            </a:r>
          </a:p>
          <a:p xmlns:a="http://schemas.openxmlformats.org/drawingml/2006/main">
            <a:r>
              <a:t>    "criterion": "정답 조직·업무·서식 일치, 모호한 식별 보류, 비인가 노출·실행 0건 기준안",</a:t>
            </a:r>
          </a:p>
          <a:p xmlns:a="http://schemas.openxmlformats.org/drawingml/2006/main">
            <a:r>
              <a:t>    "evidence": "신원 매핑 정답셋·교차권한 결과·변경 전파·복구 기록",</a:t>
            </a:r>
          </a:p>
          <a:p xmlns:a="http://schemas.openxmlformats.org/drawingml/2006/main">
            <a:r>
              <a:t>    "execution": "미실행"</a:t>
            </a:r>
          </a:p>
          <a:p xmlns:a="http://schemas.openxmlformats.org/drawingml/2006/main">
            <a:r>
              <a:t>  },</a:t>
            </a:r>
          </a:p>
          <a:p xmlns:a="http://schemas.openxmlformats.org/drawingml/2006/main">
            <a:r>
              <a:t>  "formula": "직무·업무 분류 정답 건수 ÷ 평가 건수 / 변경 전파 지연 / 비인가 노출 건수",</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"PF-R03",</a:t>
            </a:r>
          </a:p>
          <a:p xmlns:a="http://schemas.openxmlformats.org/drawingml/2006/main">
            <a:r>
              <a:t>    "PF-R04",</a:t>
            </a:r>
          </a:p>
          <a:p xmlns:a="http://schemas.openxmlformats.org/drawingml/2006/main">
            <a:r>
              <a:t>    "PF-R09",</a:t>
            </a:r>
          </a:p>
          <a:p xmlns:a="http://schemas.openxmlformats.org/drawingml/2006/main">
            <a:r>
              <a:t>    "PF01",</a:t>
            </a:r>
          </a:p>
          <a:p xmlns:a="http://schemas.openxmlformats.org/drawingml/2006/main">
            <a:r>
              <a:t>    "PF-A03",</a:t>
            </a:r>
          </a:p>
          <a:p xmlns:a="http://schemas.openxmlformats.org/drawingml/2006/main">
            <a:r>
              <a:t>    "PF04",</a:t>
            </a:r>
          </a:p>
          <a:p xmlns:a="http://schemas.openxmlformats.org/drawingml/2006/main">
            <a:r>
              <a:t>    "PF-A06",</a:t>
            </a:r>
          </a:p>
          <a:p xmlns:a="http://schemas.openxmlformats.org/drawingml/2006/main">
            <a:r>
              <a:t>    "PF05",</a:t>
            </a:r>
          </a:p>
          <a:p xmlns:a="http://schemas.openxmlformats.org/drawingml/2006/main">
            <a:r>
              <a:t>    "PF-A08",</a:t>
            </a:r>
          </a:p>
          <a:p xmlns:a="http://schemas.openxmlformats.org/drawingml/2006/main">
            <a:r>
              <a:t>    "PF06",</a:t>
            </a:r>
          </a:p>
          <a:p xmlns:a="http://schemas.openxmlformats.org/drawingml/2006/main">
            <a:r>
              <a:t>    "PF-A16",</a:t>
            </a:r>
          </a:p>
          <a:p xmlns:a="http://schemas.openxmlformats.org/drawingml/2006/main">
            <a:r>
              <a:t>    "PF-A18",</a:t>
            </a:r>
          </a:p>
          <a:p xmlns:a="http://schemas.openxmlformats.org/drawingml/2006/main">
            <a:r>
              <a:t>    "PF-C01",</a:t>
            </a:r>
          </a:p>
          <a:p xmlns:a="http://schemas.openxmlformats.org/drawingml/2006/main">
            <a:r>
              <a:t>    "PF-C02",</a:t>
            </a:r>
          </a:p>
          <a:p xmlns:a="http://schemas.openxmlformats.org/drawingml/2006/main">
            <a:r>
              <a:t>    "PF31"</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"ST-04",</a:t>
            </a:r>
          </a:p>
          <a:p xmlns:a="http://schemas.openxmlformats.org/drawingml/2006/main">
            <a:r>
              <a:t>  "number": 4,</a:t>
            </a:r>
          </a:p>
          <a:p xmlns:a="http://schemas.openxmlformats.org/drawingml/2006/main">
            <a:r>
              <a:t>  "direction": "지능형 미래 모빌리티 혁신",</a:t>
            </a:r>
          </a:p>
          <a:p xmlns:a="http://schemas.openxmlformats.org/drawingml/2006/main">
            <a:r>
              <a:t>  "strategy": "교통안전체계 인공지능 대전환",</a:t>
            </a:r>
          </a:p>
          <a:p xmlns:a="http://schemas.openxmlformats.org/drawingml/2006/main">
            <a:r>
              <a:t>  "solution": "TS 조직 네이티브 AI 공통플랫폼",</a:t>
            </a:r>
          </a:p>
          <a:p xmlns:a="http://schemas.openxmlformats.org/drawingml/2006/main">
            <a:r>
              <a:t>  "lawIds": [],</a:t>
            </a:r>
          </a:p>
          <a:p xmlns:a="http://schemas.openxmlformats.org/drawingml/2006/main">
            <a:r>
              <a:t>  "codes": [</a:t>
            </a:r>
          </a:p>
          <a:p xmlns:a="http://schemas.openxmlformats.org/drawingml/2006/main">
            <a:r>
              <a:t>    "1010100",</a:t>
            </a:r>
          </a:p>
          <a:p xmlns:a="http://schemas.openxmlformats.org/drawingml/2006/main">
            <a:r>
              <a:t>    "1019600",</a:t>
            </a:r>
          </a:p>
          <a:p xmlns:a="http://schemas.openxmlformats.org/drawingml/2006/main">
            <a:r>
              <a:t>    "1019700",</a:t>
            </a:r>
          </a:p>
          <a:p xmlns:a="http://schemas.openxmlformats.org/drawingml/2006/main">
            <a:r>
              <a:t>    "1016050",</a:t>
            </a:r>
          </a:p>
          <a:p xmlns:a="http://schemas.openxmlformats.org/drawingml/2006/main">
            <a:r>
              <a:t>    "1018037",</a:t>
            </a:r>
          </a:p>
          <a:p xmlns:a="http://schemas.openxmlformats.org/drawingml/2006/main">
            <a:r>
              <a:t>    "1019300",</a:t>
            </a:r>
          </a:p>
          <a:p xmlns:a="http://schemas.openxmlformats.org/drawingml/2006/main">
            <a:r>
              <a:t>    "1019500"</a:t>
            </a:r>
          </a:p>
          <a:p xmlns:a="http://schemas.openxmlformats.org/drawingml/2006/main">
            <a:r>
              <a:t>  ],</a:t>
            </a:r>
          </a:p>
          <a:p xmlns:a="http://schemas.openxmlformats.org/drawingml/2006/main">
            <a:r>
              <a:t>  "work": "공식 조직·직무·역할 기반의 사용자 인식 및 업무 맥락 분류",</a:t>
            </a:r>
          </a:p>
          <a:p xmlns:a="http://schemas.openxmlformats.org/drawingml/2006/main">
            <a:r>
              <a:t>  "features": [</a:t>
            </a:r>
          </a:p>
          <a:p xmlns:a="http://schemas.openxmlformats.org/drawingml/2006/main">
            <a:r>
              <a:t>    "로그인 ID·조직·담당업무·효력일 매핑",</a:t>
            </a:r>
          </a:p>
          <a:p xmlns:a="http://schemas.openxmlformats.org/drawingml/2006/main">
            <a:r>
              <a:t>    "업무별 지식·절차·서식 선택과 접근정책 집행"</a:t>
            </a:r>
          </a:p>
          <a:p xmlns:a="http://schemas.openxmlformats.org/drawingml/2006/main">
            <a:r>
              <a:t>  ],</a:t>
            </a:r>
          </a:p>
          <a:p xmlns:a="http://schemas.openxmlformats.org/drawingml/2006/main">
            <a:r>
              <a:t>  "output": "조직·업무 사전·정책표·기관 인수본",</a:t>
            </a:r>
          </a:p>
          <a:p xmlns:a="http://schemas.openxmlformats.org/drawingml/2006/main">
            <a:r>
              <a:t>  "acceptance": "GAI-R01~R12와 GAI-T01~T12의 독립 인수 기준 적용",</a:t>
            </a:r>
          </a:p>
          <a:p xmlns:a="http://schemas.openxmlformats.org/drawingml/2006/main">
            <a:r>
              <a:t>  "phase": "1차 공통 기반",</a:t>
            </a:r>
          </a:p>
          <a:p xmlns:a="http://schemas.openxmlformats.org/drawingml/2006/main">
            <a:r>
              <a:t>  "packages": [</a:t>
            </a:r>
          </a:p>
          <a:p xmlns:a="http://schemas.openxmlformats.org/drawingml/2006/main">
            <a:r>
              <a:t>    "ON-W01",</a:t>
            </a:r>
          </a:p>
          <a:p xmlns:a="http://schemas.openxmlformats.org/drawingml/2006/main">
            <a:r>
              <a:t>    "ON-W02",</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"GAI-T01",</a:t>
            </a:r>
          </a:p>
          <a:p xmlns:a="http://schemas.openxmlformats.org/drawingml/2006/main">
            <a:r>
              <a:t>    "GAI-T02",</a:t>
            </a:r>
          </a:p>
          <a:p xmlns:a="http://schemas.openxmlformats.org/drawingml/2006/main">
            <a:r>
              <a:t>    "GAI-T03",</a:t>
            </a:r>
          </a:p>
          <a:p xmlns:a="http://schemas.openxmlformats.org/drawingml/2006/main">
            <a:r>
              <a:t>    "GAI-T04",</a:t>
            </a:r>
          </a:p>
          <a:p xmlns:a="http://schemas.openxmlformats.org/drawingml/2006/main">
            <a:r>
              <a:t>    "GAI-T05",</a:t>
            </a:r>
          </a:p>
          <a:p xmlns:a="http://schemas.openxmlformats.org/drawingml/2006/main">
            <a:r>
              <a:t>    "GAI-T06",</a:t>
            </a:r>
          </a:p>
          <a:p xmlns:a="http://schemas.openxmlformats.org/drawingml/2006/main">
            <a:r>
              <a:t>    "GAI-T07",</a:t>
            </a:r>
          </a:p>
          <a:p xmlns:a="http://schemas.openxmlformats.org/drawingml/2006/main">
            <a:r>
              <a:t>    "GAI-T08",</a:t>
            </a:r>
          </a:p>
          <a:p xmlns:a="http://schemas.openxmlformats.org/drawingml/2006/main">
            <a:r>
              <a:t>    "GAI-T09",</a:t>
            </a:r>
          </a:p>
          <a:p xmlns:a="http://schemas.openxmlformats.org/drawingml/2006/main">
            <a:r>
              <a:t>    "GAI-T10",</a:t>
            </a:r>
          </a:p>
          <a:p xmlns:a="http://schemas.openxmlformats.org/drawingml/2006/main">
            <a:r>
              <a:t>    "GAI-T11",</a:t>
            </a:r>
          </a:p>
          <a:p xmlns:a="http://schemas.openxmlformats.org/drawingml/2006/main">
            <a:r>
              <a:t>    "GAI-T12"</a:t>
            </a:r>
          </a:p>
          <a:p xmlns:a="http://schemas.openxmlformats.org/drawingml/2006/main">
            <a:r>
              <a:t>  ],</a:t>
            </a:r>
          </a:p>
          <a:p xmlns:a="http://schemas.openxmlformats.org/drawingml/2006/main">
            <a:r>
              <a:t>  "status": "솔루션·조직·범위 연결안",</a:t>
            </a:r>
          </a:p>
          <a:p xmlns:a="http://schemas.openxmlformats.org/drawingml/2006/main">
            <a:r>
              <a:t>  "basis": "설립법·직제시행세칙 기반 경영지원 업무",</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"1010100",</a:t>
            </a:r>
          </a:p>
          <a:p xmlns:a="http://schemas.openxmlformats.org/drawingml/2006/main">
            <a:r>
              <a:t>      "name": "AI미래전략실",</a:t>
            </a:r>
          </a:p>
          <a:p xmlns:a="http://schemas.openxmlformats.org/drawingml/2006/main">
            <a:r>
              <a:t>      "job": "AI 전략·윤리",</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인공지능(AI) 전환 전략 수립․조정",</a:t>
            </a:r>
          </a:p>
          <a:p xmlns:a="http://schemas.openxmlformats.org/drawingml/2006/main">
            <a:r>
              <a:t>        "6. 인공지능(AI) 제도 및 지침, 윤리기준 관리"</a:t>
            </a:r>
          </a:p>
          <a:p xmlns:a="http://schemas.openxmlformats.org/drawingml/2006/main">
            <a:r>
              <a:t>      ],</a:t>
            </a:r>
          </a:p>
          <a:p xmlns:a="http://schemas.openxmlformats.org/drawingml/2006/main">
            <a:r>
              <a:t>      "locator": "별표4 · T34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사업 조정·데이터 표준",</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인공지능(AI) 활용 서비스 구축 지원 및 성과관리",</a:t>
            </a:r>
          </a:p>
          <a:p xmlns:a="http://schemas.openxmlformats.org/drawingml/2006/main">
            <a:r>
              <a:t>        "3. 인공지능(AI) 데이터 표준화 및 데이터 스페이스 구축"</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"1019700",</a:t>
            </a:r>
          </a:p>
          <a:p xmlns:a="http://schemas.openxmlformats.org/drawingml/2006/main">
            <a:r>
              <a:t>      "name": "AI서비스개발팀",</a:t>
            </a:r>
          </a:p>
          <a:p xmlns:a="http://schemas.openxmlformats.org/drawingml/2006/main">
            <a:r>
              <a:t>      "job": "공통플랫폼·모델 품질",</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인공지능(AI) 공통플랫폼 구축․운영 인공지능(AI) 모델 고도화․품질관리",</a:t>
            </a:r>
          </a:p>
          <a:p xmlns:a="http://schemas.openxmlformats.org/drawingml/2006/main">
            <a:r>
              <a:t>        "2. 인공지능(AI) 시범 서비스(PoC) 추진"</a:t>
            </a:r>
          </a:p>
          <a:p xmlns:a="http://schemas.openxmlformats.org/drawingml/2006/main">
            <a:r>
              <a:t>      ],</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"조직·분장·전결 관리",</a:t>
            </a:r>
          </a:p>
          <a:p xmlns:a="http://schemas.openxmlformats.org/drawingml/2006/main">
            <a:r>
              <a:t>      "indices": [</a:t>
            </a:r>
          </a:p>
          <a:p xmlns:a="http://schemas.openxmlformats.org/drawingml/2006/main">
            <a:r>
              <a:t>        7,</a:t>
            </a:r>
          </a:p>
          <a:p xmlns:a="http://schemas.openxmlformats.org/drawingml/2006/main">
            <a:r>
              <a:t>        10,</a:t>
            </a:r>
          </a:p>
          <a:p xmlns:a="http://schemas.openxmlformats.org/drawingml/2006/main">
            <a:r>
              <a:t>        11</a:t>
            </a:r>
          </a:p>
          <a:p xmlns:a="http://schemas.openxmlformats.org/drawingml/2006/main">
            <a:r>
              <a:t>      ],</a:t>
            </a:r>
          </a:p>
          <a:p xmlns:a="http://schemas.openxmlformats.org/drawingml/2006/main">
            <a:r>
              <a:t>      "duties": [</a:t>
            </a:r>
          </a:p>
          <a:p xmlns:a="http://schemas.openxmlformats.org/drawingml/2006/main">
            <a:r>
              <a:t>        "8. 조직 및 정원관리 총괄",</a:t>
            </a:r>
          </a:p>
          <a:p xmlns:a="http://schemas.openxmlformats.org/drawingml/2006/main">
            <a:r>
              <a:t>        "9. 위임전결에 관한 사항",</a:t>
            </a:r>
          </a:p>
          <a:p xmlns:a="http://schemas.openxmlformats.org/drawingml/2006/main">
            <a:r>
              <a:t>        "10. 업무분장 조정‧관리"</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"발령·인사정보 관리",</a:t>
            </a:r>
          </a:p>
          <a:p xmlns:a="http://schemas.openxmlformats.org/drawingml/2006/main">
            <a:r>
              <a:t>      "indices": [</a:t>
            </a:r>
          </a:p>
          <a:p xmlns:a="http://schemas.openxmlformats.org/drawingml/2006/main">
            <a:r>
              <a:t>        2,</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"6. 인사통계자료․인사정보 관리 및 인사 관련 제증명 발급"</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"정보화·데이터 품질",</a:t>
            </a:r>
          </a:p>
          <a:p xmlns:a="http://schemas.openxmlformats.org/drawingml/2006/main">
            <a:r>
              <a:t>      "indices": [</a:t>
            </a:r>
          </a:p>
          <a:p xmlns:a="http://schemas.openxmlformats.org/drawingml/2006/main">
            <a:r>
              <a:t>        12,</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"13. 정보화사업 사전검토(과업지시서 등) 및 시스템 구축 지원(기술분야)",</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"보안·개인정보 관리",</a:t>
            </a:r>
          </a:p>
          <a:p xmlns:a="http://schemas.openxmlformats.org/drawingml/2006/main">
            <a:r>
              <a:t>      "indices": [</a:t>
            </a:r>
          </a:p>
          <a:p xmlns:a="http://schemas.openxmlformats.org/drawingml/2006/main">
            <a:r>
              <a:t>        0,</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"1. 정보보안 업무총괄 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"설립법·별표4 내부 업무분장 / 인사·재무·계약·전결 등 업무별 규정의 별도 확인",</a:t>
            </a:r>
          </a:p>
          <a:p xmlns:a="http://schemas.openxmlformats.org/drawingml/2006/main">
            <a:r>
              <a:t>  "caseRefs": [</a:t>
            </a:r>
          </a:p>
          <a:p xmlns:a="http://schemas.openxmlformats.org/drawingml/2006/main">
            <a:r>
              <a:t>    {</a:t>
            </a:r>
          </a:p>
          <a:p xmlns:a="http://schemas.openxmlformats.org/drawingml/2006/main">
            <a:r>
              <a:t>      "caseId": "AX04",</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"AX22",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"조직 네이티브 공통 기반",</a:t>
            </a:r>
          </a:p>
          <a:p xmlns:a="http://schemas.openxmlformats.org/drawingml/2006/main">
            <a:r>
              <a:t>  "delta": "공식 ID·효력일·역할·업무 분류·권한 집행",</a:t>
            </a:r>
          </a:p>
          <a:p xmlns:a="http://schemas.openxmlformats.org/drawingml/2006/main">
            <a:r>
              <a:t>  "kpi": "직무 분류 정확도 / 비인가 노출 건수",</a:t>
            </a:r>
          </a:p>
          <a:p xmlns:a="http://schemas.openxmlformats.org/drawingml/2006/main">
            <a:r>
              <a:t>  "validation": "인사이동·동명이인·권한 회수·동일 요청 교차 시험",</a:t>
            </a:r>
          </a:p>
          <a:p xmlns:a="http://schemas.openxmlformats.org/drawingml/2006/main">
            <a:r>
              <a:t>  "requirement": "BM-ST-04-R01",</a:t>
            </a:r>
          </a:p>
          <a:p xmlns:a="http://schemas.openxmlformats.org/drawingml/2006/main">
            <a:r>
              <a:t>  "test": "BM-ST-04-T01",</a:t>
            </a:r>
          </a:p>
          <a:p xmlns:a="http://schemas.openxmlformats.org/drawingml/2006/main">
            <a:r>
              <a:t>  "effectStatus": "기대 방향 · TS 실측 전",</a:t>
            </a:r>
          </a:p>
          <a:p xmlns:a="http://schemas.openxmlformats.org/drawingml/2006/main">
            <a:r>
              <a:t>  "effect": "반복 맥락 입력·부서 간 오인계 감소",</a:t>
            </a:r>
          </a:p>
          <a:p xmlns:a="http://schemas.openxmlformats.org/drawingml/2006/main">
            <a:r>
              <a:t>  "reuse": "ON27-BASE / C27-COM + CCK 재사용 판정 기능",</a:t>
            </a:r>
          </a:p>
          <a:p xmlns:a="http://schemas.openxmlformats.org/drawingml/2006/main">
            <a:r>
              <a:t>  "input": "공식 직원 ID, 조직도·업무분장, 효력일, 원천 접근정책",</a:t>
            </a:r>
          </a:p>
          <a:p xmlns:a="http://schemas.openxmlformats.org/drawingml/2006/main">
            <a:r>
              <a:t>  "steps": [</a:t>
            </a:r>
          </a:p>
          <a:p xmlns:a="http://schemas.openxmlformats.org/drawingml/2006/main">
            <a:r>
              <a:t>    "로그인 ID–조직 연결",</a:t>
            </a:r>
          </a:p>
          <a:p xmlns:a="http://schemas.openxmlformats.org/drawingml/2006/main">
            <a:r>
              <a:t>    "인물·부서·직무 관계 식별",</a:t>
            </a:r>
          </a:p>
          <a:p xmlns:a="http://schemas.openxmlformats.org/drawingml/2006/main">
            <a:r>
              <a:t>    "업무 맥락·지식·서식 선택",</a:t>
            </a:r>
          </a:p>
          <a:p xmlns:a="http://schemas.openxmlformats.org/drawingml/2006/main">
            <a:r>
              <a:t>    "권한 재검증·결과 근거 기록"</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"1010100",</a:t>
            </a:r>
          </a:p>
          <a:p xmlns:a="http://schemas.openxmlformats.org/drawingml/2006/main">
            <a:r>
              <a:t>      "name": "AI미래전략실",</a:t>
            </a:r>
          </a:p>
          <a:p xmlns:a="http://schemas.openxmlformats.org/drawingml/2006/main">
            <a:r>
              <a:t>      "job": "AI 전략·윤리",</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인공지능(AI) 전환 전략 수립․조정",</a:t>
            </a:r>
          </a:p>
          <a:p xmlns:a="http://schemas.openxmlformats.org/drawingml/2006/main">
            <a:r>
              <a:t>        "6. 인공지능(AI) 제도 및 지침, 윤리기준 관리"</a:t>
            </a:r>
          </a:p>
          <a:p xmlns:a="http://schemas.openxmlformats.org/drawingml/2006/main">
            <a:r>
              <a:t>      ],</a:t>
            </a:r>
          </a:p>
          <a:p xmlns:a="http://schemas.openxmlformats.org/drawingml/2006/main">
            <a:r>
              <a:t>      "locator": "별표4 · T34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"RULEWORK-1010100-4",</a:t>
            </a:r>
          </a:p>
          <a:p xmlns:a="http://schemas.openxmlformats.org/drawingml/2006/main">
            <a:r>
              <a:t>          "text": "4. 인공지능(AI) 전환 전략 수립․조정",</a:t>
            </a:r>
          </a:p>
          <a:p xmlns:a="http://schemas.openxmlformats.org/drawingml/2006/main">
            <a:r>
              <a:t>          "locator": "별표4 · T34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"RULEWORK-1010100-4-R01",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"RULEWORK-1010100-4-T01",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"RULEWORK-1010100-4-R02",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"RULEWORK-1010100-4-T02",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"RULEWORK-1010100-4-R03",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"RULEWORK-1010100-4-T03",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"RULEWORK-1010100-6",</a:t>
            </a:r>
          </a:p>
          <a:p xmlns:a="http://schemas.openxmlformats.org/drawingml/2006/main">
            <a:r>
              <a:t>          "text": "6. 인공지능(AI) 제도 및 지침, 윤리기준 관리",</a:t>
            </a:r>
          </a:p>
          <a:p xmlns:a="http://schemas.openxmlformats.org/drawingml/2006/main">
            <a:r>
              <a:t>          "locator": "별표4 · T34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"RULEWORK-1010100-6-R01",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"RULEWORK-1010100-6-T01",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"RULEWORK-1010100-6-R02",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"RULEWORK-1010100-6-T02",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"RULEWORK-1010100-6-R03",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"RULEWORK-1010100-6-T03",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사업 조정·데이터 표준",</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인공지능(AI) 활용 서비스 구축 지원 및 성과관리",</a:t>
            </a:r>
          </a:p>
          <a:p xmlns:a="http://schemas.openxmlformats.org/drawingml/2006/main">
            <a:r>
              <a:t>        "3. 인공지능(AI) 데이터 표준화 및 데이터 스페이스 구축"</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"RULEWORK-1019600-1",</a:t>
            </a:r>
          </a:p>
          <a:p xmlns:a="http://schemas.openxmlformats.org/drawingml/2006/main">
            <a:r>
              <a:t>          "text": "1. 인공지능(AI) 활용 서비스 구축 지원 및 성과관리",</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"RULEWORK-1019600-1-R01",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"RULEWORK-1019600-1-T01",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"RULEWORK-1019600-1-R02",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"RULEWORK-1019600-1-T02",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"RULEWORK-1019600-1-R03",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"RULEWORK-1019600-3",</a:t>
            </a:r>
          </a:p>
          <a:p xmlns:a="http://schemas.openxmlformats.org/drawingml/2006/main">
            <a:r>
              <a:t>          "text": "3. 인공지능(AI) 데이터 표준화 및 데이터 스페이스 구축",</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"RULEWORK-1019600-3-T01",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"RULEWORK-1019600-3-R02",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"RULEWORK-1019600-3-T02",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"RULEWORK-1019600-3-R03",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"1019700",</a:t>
            </a:r>
          </a:p>
          <a:p xmlns:a="http://schemas.openxmlformats.org/drawingml/2006/main">
            <a:r>
              <a:t>      "name": "AI서비스개발팀",</a:t>
            </a:r>
          </a:p>
          <a:p xmlns:a="http://schemas.openxmlformats.org/drawingml/2006/main">
            <a:r>
              <a:t>      "job": "공통플랫폼·모델 품질",</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인공지능(AI) 공통플랫폼 구축․운영 인공지능(AI) 모델 고도화․품질관리",</a:t>
            </a:r>
          </a:p>
          <a:p xmlns:a="http://schemas.openxmlformats.org/drawingml/2006/main">
            <a:r>
              <a:t>        "2. 인공지능(AI) 시범 서비스(PoC) 추진"</a:t>
            </a:r>
          </a:p>
          <a:p xmlns:a="http://schemas.openxmlformats.org/drawingml/2006/main">
            <a:r>
              <a:t>      ],</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"RULEWORK-1019700-1",</a:t>
            </a:r>
          </a:p>
          <a:p xmlns:a="http://schemas.openxmlformats.org/drawingml/2006/main">
            <a:r>
              <a:t>          "text": "1. 인공지능(AI) 공통플랫폼 구축․운영 인공지능(AI) 모델 고도화․품질관리",</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"requirements": [</a:t>
            </a:r>
          </a:p>
          <a:p xmlns:a="http://schemas.openxmlformats.org/drawingml/2006/main">
            <a:r>
              <a:t>            {</a:t>
            </a:r>
          </a:p>
          <a:p xmlns:a="http://schemas.openxmlformats.org/drawingml/2006/main">
            <a:r>
              <a:t>              "id": "RULEWORK-1019700-1-R01",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"RULEWORK-1019700-1-T01",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"RULEWORK-1019700-1-R02",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"RULEWORK-1019700-1-T02",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"RULEWORK-1019700-1-R03",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"RULEWORK-1019700-1-T03",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"RULEWORK-1019700-2",</a:t>
            </a:r>
          </a:p>
          <a:p xmlns:a="http://schemas.openxmlformats.org/drawingml/2006/main">
            <a:r>
              <a:t>          "text": "2. 인공지능(AI) 시범 서비스(PoC) 추진",</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"requirements": [</a:t>
            </a:r>
          </a:p>
          <a:p xmlns:a="http://schemas.openxmlformats.org/drawingml/2006/main">
            <a:r>
              <a:t>            {</a:t>
            </a:r>
          </a:p>
          <a:p xmlns:a="http://schemas.openxmlformats.org/drawingml/2006/main">
            <a:r>
              <a:t>              "id": "RULEWORK-1019700-2-R01",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"RULEWORK-1019700-2-T01",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"RULEWORK-1019700-2-R02",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"RULEWORK-1019700-2-T02",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"RULEWORK-1019700-2-R03",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"RULEWORK-1019700-2-T03",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"조직·분장·전결 관리",</a:t>
            </a:r>
          </a:p>
          <a:p xmlns:a="http://schemas.openxmlformats.org/drawingml/2006/main">
            <a:r>
              <a:t>      "indices": [</a:t>
            </a:r>
          </a:p>
          <a:p xmlns:a="http://schemas.openxmlformats.org/drawingml/2006/main">
            <a:r>
              <a:t>        7,</a:t>
            </a:r>
          </a:p>
          <a:p xmlns:a="http://schemas.openxmlformats.org/drawingml/2006/main">
            <a:r>
              <a:t>        10,</a:t>
            </a:r>
          </a:p>
          <a:p xmlns:a="http://schemas.openxmlformats.org/drawingml/2006/main">
            <a:r>
              <a:t>        11</a:t>
            </a:r>
          </a:p>
          <a:p xmlns:a="http://schemas.openxmlformats.org/drawingml/2006/main">
            <a:r>
              <a:t>      ],</a:t>
            </a:r>
          </a:p>
          <a:p xmlns:a="http://schemas.openxmlformats.org/drawingml/2006/main">
            <a:r>
              <a:t>      "duties": [</a:t>
            </a:r>
          </a:p>
          <a:p xmlns:a="http://schemas.openxmlformats.org/drawingml/2006/main">
            <a:r>
              <a:t>        "8. 조직 및 정원관리 총괄",</a:t>
            </a:r>
          </a:p>
          <a:p xmlns:a="http://schemas.openxmlformats.org/drawingml/2006/main">
            <a:r>
              <a:t>        "9. 위임전결에 관한 사항",</a:t>
            </a:r>
          </a:p>
          <a:p xmlns:a="http://schemas.openxmlformats.org/drawingml/2006/main">
            <a:r>
              <a:t>        "10. 업무분장 조정‧관리"</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"RULEWORK-1016050-8",</a:t>
            </a:r>
          </a:p>
          <a:p xmlns:a="http://schemas.openxmlformats.org/drawingml/2006/main">
            <a:r>
              <a:t>          "text": "8. 조직 및 정원관리 총괄",</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"RULEWORK-1016050-8-R01",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"RULEWORK-1016050-8-T01",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"RULEWORK-1016050-8-R02",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"RULEWORK-1016050-8-T02",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"RULEWORK-1016050-11",</a:t>
            </a:r>
          </a:p>
          <a:p xmlns:a="http://schemas.openxmlformats.org/drawingml/2006/main">
            <a:r>
              <a:t>          "text": "9. 위임전결에 관한 사항",</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"RULEWORK-1016050-11-R01",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"RULEWORK-1016050-11-T01",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"RULEWORK-1016050-11-R02",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"RULEWORK-1016050-11-T02",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"RULEWORK-1016050-11-R03",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"RULEWORK-1016050-11-T03",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"RULEWORK-1016050-12",</a:t>
            </a:r>
          </a:p>
          <a:p xmlns:a="http://schemas.openxmlformats.org/drawingml/2006/main">
            <a:r>
              <a:t>          "text": "10. 업무분장 조정‧관리",</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"RULEWORK-1016050-12-R01",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"RULEWORK-1016050-12-T01",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"RULEWORK-1016050-12-R02",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"RULEWORK-1016050-12-T02",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"RULEWORK-1016050-12-R03",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"RULEWORK-1016050-12-T03",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"발령·인사정보 관리",</a:t>
            </a:r>
          </a:p>
          <a:p xmlns:a="http://schemas.openxmlformats.org/drawingml/2006/main">
            <a:r>
              <a:t>      "indices": [</a:t>
            </a:r>
          </a:p>
          <a:p xmlns:a="http://schemas.openxmlformats.org/drawingml/2006/main">
            <a:r>
              <a:t>        2,</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"6. 인사통계자료․인사정보 관리 및 인사 관련 제증명 발급"</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"RULEWORK-1018037-3",</a:t>
            </a:r>
          </a:p>
          <a:p xmlns:a="http://schemas.openxmlformats.org/drawingml/2006/main">
            <a:r>
              <a:t>          "text": "3. 직원의 채용, 승진, 전보 등 임용 및 보직에 관한 업무",</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"RULEWORK-1018037-6",</a:t>
            </a:r>
          </a:p>
          <a:p xmlns:a="http://schemas.openxmlformats.org/drawingml/2006/main">
            <a:r>
              <a:t>          "text": "6. 인사통계자료․인사정보 관리 및 인사 관련 제증명 발급",</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"RULEWORK-1018037-6-R01",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"RULEWORK-1018037-6-T01",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"RULEWORK-1018037-6-R02",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"RULEWORK-1018037-6-T02",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"정보화·데이터 품질",</a:t>
            </a:r>
          </a:p>
          <a:p xmlns:a="http://schemas.openxmlformats.org/drawingml/2006/main">
            <a:r>
              <a:t>      "indices": [</a:t>
            </a:r>
          </a:p>
          <a:p xmlns:a="http://schemas.openxmlformats.org/drawingml/2006/main">
            <a:r>
              <a:t>        12,</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"13. 정보화사업 사전검토(과업지시서 등) 및 시스템 구축 지원(기술분야)",</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"RULEWORK-1019300-13",</a:t>
            </a:r>
          </a:p>
          <a:p xmlns:a="http://schemas.openxmlformats.org/drawingml/2006/main">
            <a:r>
              <a:t>          "text": "13. 정보화사업 사전검토(과업지시서 등) 및 시스템 구축 지원(기술분야)",</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"RULEWORK-1019300-13-R01",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"RULEWORK-1019300-13-T01",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"RULEWORK-1019300-13-R02",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"RULEWORK-1019300-13-T02",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"RULEWORK-1019300-13-R03",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"RULEWORK-1019300-13-T03",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"RULEWORK-1019300-20",</a:t>
            </a:r>
          </a:p>
          <a:p xmlns:a="http://schemas.openxmlformats.org/drawingml/2006/main">
            <a:r>
              <a:t>          "text": "20. 데이터 품질관리",</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"RULEWORK-1019300-20-R01",</a:t>
            </a:r>
          </a:p>
          <a:p xmlns:a="http://schemas.openxmlformats.org/drawingml/2006/main">
            <a:r>
              <a:t>              "title": "업무 맥락·전용 지식 구성",</a:t>
            </a:r>
          </a:p>
          <a:p xmlns:a="http://schemas.openxmlformats.org/drawingml/2006/main">
            <a:r>
              <a:t>              "development": "시스템·변경·업무건 관계 추적",</a:t>
            </a:r>
          </a:p>
          <a:p xmlns:a="http://schemas.openxmlformats.org/drawingml/2006/main">
            <a:r>
              <a:t>              "output": "영향분석·조치·복구·대사 기록",</a:t>
            </a:r>
          </a:p>
          <a:p xmlns:a="http://schemas.openxmlformats.org/drawingml/2006/main">
            <a:r>
              <a:t>              "testId": "RULEWORK-1019300-20-T01",</a:t>
            </a:r>
          </a:p>
          <a:p xmlns:a="http://schemas.openxmlformats.org/drawingml/2006/main">
            <a:r>
              <a:t>              "criterion": "중복·누락·순서 역전·장애 사례의 결과 대조"</a:t>
            </a:r>
          </a:p>
          <a:p xmlns:a="http://schemas.openxmlformats.org/drawingml/2006/main">
            <a:r>
              <a:t>            },</a:t>
            </a:r>
          </a:p>
          <a:p xmlns:a="http://schemas.openxmlformats.org/drawingml/2006/main">
            <a:r>
              <a:t>            {</a:t>
            </a:r>
          </a:p>
          <a:p xmlns:a="http://schemas.openxmlformats.org/drawingml/2006/main">
            <a:r>
              <a:t>              "id": "RULEWORK-1019300-20-R02",</a:t>
            </a:r>
          </a:p>
          <a:p xmlns:a="http://schemas.openxmlformats.org/drawingml/2006/main">
            <a:r>
              <a:t>              "title": "업무건·역할·시스템 연결",</a:t>
            </a:r>
          </a:p>
          <a:p xmlns:a="http://schemas.openxmlformats.org/drawingml/2006/main">
            <a:r>
              <a:t>              "development": "멱등 요청·오류 재처리·승인된 연계 어댑터",</a:t>
            </a:r>
          </a:p>
          <a:p xmlns:a="http://schemas.openxmlformats.org/drawingml/2006/main">
            <a:r>
              <a:t>              "output": "업무건·원천·역할·변경 연결 명세",</a:t>
            </a:r>
          </a:p>
          <a:p xmlns:a="http://schemas.openxmlformats.org/drawingml/2006/main">
            <a:r>
              <a:t>              "testId": "RULEWORK-1019300-20-T02",</a:t>
            </a:r>
          </a:p>
          <a:p xmlns:a="http://schemas.openxmlformats.org/drawingml/2006/main">
            <a:r>
              <a:t>              "criterion": "무승인 변경·중복 실행 차단 및 복구 검증"</a:t>
            </a:r>
          </a:p>
          <a:p xmlns:a="http://schemas.openxmlformats.org/drawingml/2006/main">
            <a:r>
              <a:t>            },</a:t>
            </a:r>
          </a:p>
          <a:p xmlns:a="http://schemas.openxmlformats.org/drawingml/2006/main">
            <a:r>
              <a:t>            {</a:t>
            </a:r>
          </a:p>
          <a:p xmlns:a="http://schemas.openxmlformats.org/drawingml/2006/main">
            <a:r>
              <a:t>              "id": "RULEWORK-1019300-20-R03",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"RULEWORK-1019300-20-T03",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"보안·개인정보 관리",</a:t>
            </a:r>
          </a:p>
          <a:p xmlns:a="http://schemas.openxmlformats.org/drawingml/2006/main">
            <a:r>
              <a:t>      "indices": [</a:t>
            </a:r>
          </a:p>
          <a:p xmlns:a="http://schemas.openxmlformats.org/drawingml/2006/main">
            <a:r>
              <a:t>        0,</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"1. 정보보안 업무총괄 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"RULEWORK-1019500-1",</a:t>
            </a:r>
          </a:p>
          <a:p xmlns:a="http://schemas.openxmlformats.org/drawingml/2006/main">
            <a:r>
              <a:t>          "text": "1. 정보보안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"RULEWORK-1019500-10",</a:t>
            </a:r>
          </a:p>
          <a:p xmlns:a="http://schemas.openxmlformats.org/drawingml/2006/main">
            <a:r>
              <a:t>          "text": "10. 개인정보보호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"RULEWORK-1019500-10-R01",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"RULEWORK-1019500-10-T01",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"RULEWORK-1019500-10-R02",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"RULEWORK-1019500-10-T02",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대화·검색·서식·스킬"</a:t>
            </a:r>
          </a:p>
          <a:p xmlns:a="http://schemas.openxmlformats.org/drawingml/2006/main">
            <a:r>
              <a:t>    },</a:t>
            </a:r>
          </a:p>
          <a:p xmlns:a="http://schemas.openxmlformats.org/drawingml/2006/main">
            <a:r>
              <a:t>    {</a:t>
            </a:r>
          </a:p>
          <a:p xmlns:a="http://schemas.openxmlformats.org/drawingml/2006/main">
            <a:r>
              <a:t>      "assetId": "CCK-03",</a:t>
            </a:r>
          </a:p>
          <a:p xmlns:a="http://schemas.openxmlformats.org/drawingml/2006/main">
            <a:r>
              <a:t>      "use": "Connor 명세의 실행·로그 경계"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"사람–조직–직무–업무 관계·효력일 모델",</a:t>
            </a:r>
          </a:p>
          <a:p xmlns:a="http://schemas.openxmlformats.org/drawingml/2006/main">
            <a:r>
              <a:t>    "업무 분류기·검색 전 정책 집행 연결"</a:t>
            </a:r>
          </a:p>
          <a:p xmlns:a="http://schemas.openxmlformats.org/drawingml/2006/main">
            <a:r>
              <a:t>  ],</a:t>
            </a:r>
          </a:p>
          <a:p xmlns:a="http://schemas.openxmlformats.org/drawingml/2006/main">
            <a:r>
              <a:t>  "acceptancePlan": {</a:t>
            </a:r>
          </a:p>
          <a:p xmlns:a="http://schemas.openxmlformats.org/drawingml/2006/main">
            <a:r>
              <a:t>    "sample": "동명이인·겸직·전보·회수 전후 동일 요청",</a:t>
            </a:r>
          </a:p>
          <a:p xmlns:a="http://schemas.openxmlformats.org/drawingml/2006/main">
            <a:r>
              <a:t>    "criterion": "정답 조직·업무·서식 일치, 모호한 식별 보류, 비인가 노출·실행 0건 기준안",</a:t>
            </a:r>
          </a:p>
          <a:p xmlns:a="http://schemas.openxmlformats.org/drawingml/2006/main">
            <a:r>
              <a:t>    "evidence": "신원 매핑 정답셋·교차권한 결과·변경 전파·복구 기록",</a:t>
            </a:r>
          </a:p>
          <a:p xmlns:a="http://schemas.openxmlformats.org/drawingml/2006/main">
            <a:r>
              <a:t>    "execution": "미실행"</a:t>
            </a:r>
          </a:p>
          <a:p xmlns:a="http://schemas.openxmlformats.org/drawingml/2006/main">
            <a:r>
              <a:t>  },</a:t>
            </a:r>
          </a:p>
          <a:p xmlns:a="http://schemas.openxmlformats.org/drawingml/2006/main">
            <a:r>
              <a:t>  "formula": "직무·업무 분류 정답 건수 ÷ 평가 건수 / 변경 전파 지연 / 비인가 노출 건수",</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"PF-R03",</a:t>
            </a:r>
          </a:p>
          <a:p xmlns:a="http://schemas.openxmlformats.org/drawingml/2006/main">
            <a:r>
              <a:t>    "PF-R04",</a:t>
            </a:r>
          </a:p>
          <a:p xmlns:a="http://schemas.openxmlformats.org/drawingml/2006/main">
            <a:r>
              <a:t>    "PF-R09",</a:t>
            </a:r>
          </a:p>
          <a:p xmlns:a="http://schemas.openxmlformats.org/drawingml/2006/main">
            <a:r>
              <a:t>    "PF01",</a:t>
            </a:r>
          </a:p>
          <a:p xmlns:a="http://schemas.openxmlformats.org/drawingml/2006/main">
            <a:r>
              <a:t>    "PF-A03",</a:t>
            </a:r>
          </a:p>
          <a:p xmlns:a="http://schemas.openxmlformats.org/drawingml/2006/main">
            <a:r>
              <a:t>    "PF04",</a:t>
            </a:r>
          </a:p>
          <a:p xmlns:a="http://schemas.openxmlformats.org/drawingml/2006/main">
            <a:r>
              <a:t>    "PF-A06",</a:t>
            </a:r>
          </a:p>
          <a:p xmlns:a="http://schemas.openxmlformats.org/drawingml/2006/main">
            <a:r>
              <a:t>    "PF05",</a:t>
            </a:r>
          </a:p>
          <a:p xmlns:a="http://schemas.openxmlformats.org/drawingml/2006/main">
            <a:r>
              <a:t>    "PF-A08",</a:t>
            </a:r>
          </a:p>
          <a:p xmlns:a="http://schemas.openxmlformats.org/drawingml/2006/main">
            <a:r>
              <a:t>    "PF06",</a:t>
            </a:r>
          </a:p>
          <a:p xmlns:a="http://schemas.openxmlformats.org/drawingml/2006/main">
            <a:r>
              <a:t>    "PF-A16",</a:t>
            </a:r>
          </a:p>
          <a:p xmlns:a="http://schemas.openxmlformats.org/drawingml/2006/main">
            <a:r>
              <a:t>    "PF-A18",</a:t>
            </a:r>
          </a:p>
          <a:p xmlns:a="http://schemas.openxmlformats.org/drawingml/2006/main">
            <a:r>
              <a:t>    "PF-C01",</a:t>
            </a:r>
          </a:p>
          <a:p xmlns:a="http://schemas.openxmlformats.org/drawingml/2006/main">
            <a:r>
              <a:t>    "PF-C02",</a:t>
            </a:r>
          </a:p>
          <a:p xmlns:a="http://schemas.openxmlformats.org/drawingml/2006/main">
            <a:r>
              <a:t>    "PF31"</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"ST-04",</a:t>
            </a:r>
          </a:p>
          <a:p xmlns:a="http://schemas.openxmlformats.org/drawingml/2006/main">
            <a:r>
              <a:t>  "number": 4,</a:t>
            </a:r>
          </a:p>
          <a:p xmlns:a="http://schemas.openxmlformats.org/drawingml/2006/main">
            <a:r>
              <a:t>  "direction": "지능형 미래 모빌리티 혁신",</a:t>
            </a:r>
          </a:p>
          <a:p xmlns:a="http://schemas.openxmlformats.org/drawingml/2006/main">
            <a:r>
              <a:t>  "strategy": "교통안전체계 인공지능 대전환",</a:t>
            </a:r>
          </a:p>
          <a:p xmlns:a="http://schemas.openxmlformats.org/drawingml/2006/main">
            <a:r>
              <a:t>  "solution": "TS 조직 네이티브 AI 공통플랫폼",</a:t>
            </a:r>
          </a:p>
          <a:p xmlns:a="http://schemas.openxmlformats.org/drawingml/2006/main">
            <a:r>
              <a:t>  "lawIds": [],</a:t>
            </a:r>
          </a:p>
          <a:p xmlns:a="http://schemas.openxmlformats.org/drawingml/2006/main">
            <a:r>
              <a:t>  "codes": [</a:t>
            </a:r>
          </a:p>
          <a:p xmlns:a="http://schemas.openxmlformats.org/drawingml/2006/main">
            <a:r>
              <a:t>    "1010100",</a:t>
            </a:r>
          </a:p>
          <a:p xmlns:a="http://schemas.openxmlformats.org/drawingml/2006/main">
            <a:r>
              <a:t>    "1019600",</a:t>
            </a:r>
          </a:p>
          <a:p xmlns:a="http://schemas.openxmlformats.org/drawingml/2006/main">
            <a:r>
              <a:t>    "1019700",</a:t>
            </a:r>
          </a:p>
          <a:p xmlns:a="http://schemas.openxmlformats.org/drawingml/2006/main">
            <a:r>
              <a:t>    "1016050",</a:t>
            </a:r>
          </a:p>
          <a:p xmlns:a="http://schemas.openxmlformats.org/drawingml/2006/main">
            <a:r>
              <a:t>    "1018037",</a:t>
            </a:r>
          </a:p>
          <a:p xmlns:a="http://schemas.openxmlformats.org/drawingml/2006/main">
            <a:r>
              <a:t>    "1019300",</a:t>
            </a:r>
          </a:p>
          <a:p xmlns:a="http://schemas.openxmlformats.org/drawingml/2006/main">
            <a:r>
              <a:t>    "1019500"</a:t>
            </a:r>
          </a:p>
          <a:p xmlns:a="http://schemas.openxmlformats.org/drawingml/2006/main">
            <a:r>
              <a:t>  ],</a:t>
            </a:r>
          </a:p>
          <a:p xmlns:a="http://schemas.openxmlformats.org/drawingml/2006/main">
            <a:r>
              <a:t>  "work": "공식 조직·직무·역할 기반의 사용자 인식 및 업무 맥락 분류",</a:t>
            </a:r>
          </a:p>
          <a:p xmlns:a="http://schemas.openxmlformats.org/drawingml/2006/main">
            <a:r>
              <a:t>  "features": [</a:t>
            </a:r>
          </a:p>
          <a:p xmlns:a="http://schemas.openxmlformats.org/drawingml/2006/main">
            <a:r>
              <a:t>    "로그인 ID·조직·담당업무·효력일 매핑",</a:t>
            </a:r>
          </a:p>
          <a:p xmlns:a="http://schemas.openxmlformats.org/drawingml/2006/main">
            <a:r>
              <a:t>    "업무별 지식·절차·서식 선택과 접근정책 집행"</a:t>
            </a:r>
          </a:p>
          <a:p xmlns:a="http://schemas.openxmlformats.org/drawingml/2006/main">
            <a:r>
              <a:t>  ],</a:t>
            </a:r>
          </a:p>
          <a:p xmlns:a="http://schemas.openxmlformats.org/drawingml/2006/main">
            <a:r>
              <a:t>  "output": "조직·업무 사전·정책표·기관 인수본",</a:t>
            </a:r>
          </a:p>
          <a:p xmlns:a="http://schemas.openxmlformats.org/drawingml/2006/main">
            <a:r>
              <a:t>  "acceptance": "GAI-R01~R12와 GAI-T01~T12의 독립 인수 기준 적용",</a:t>
            </a:r>
          </a:p>
          <a:p xmlns:a="http://schemas.openxmlformats.org/drawingml/2006/main">
            <a:r>
              <a:t>  "phase": "1차 공통 기반",</a:t>
            </a:r>
          </a:p>
          <a:p xmlns:a="http://schemas.openxmlformats.org/drawingml/2006/main">
            <a:r>
              <a:t>  "packages": [</a:t>
            </a:r>
          </a:p>
          <a:p xmlns:a="http://schemas.openxmlformats.org/drawingml/2006/main">
            <a:r>
              <a:t>    "ON-W01",</a:t>
            </a:r>
          </a:p>
          <a:p xmlns:a="http://schemas.openxmlformats.org/drawingml/2006/main">
            <a:r>
              <a:t>    "ON-W02",</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"GAI-T01",</a:t>
            </a:r>
          </a:p>
          <a:p xmlns:a="http://schemas.openxmlformats.org/drawingml/2006/main">
            <a:r>
              <a:t>    "GAI-T02",</a:t>
            </a:r>
          </a:p>
          <a:p xmlns:a="http://schemas.openxmlformats.org/drawingml/2006/main">
            <a:r>
              <a:t>    "GAI-T03",</a:t>
            </a:r>
          </a:p>
          <a:p xmlns:a="http://schemas.openxmlformats.org/drawingml/2006/main">
            <a:r>
              <a:t>    "GAI-T04",</a:t>
            </a:r>
          </a:p>
          <a:p xmlns:a="http://schemas.openxmlformats.org/drawingml/2006/main">
            <a:r>
              <a:t>    "GAI-T05",</a:t>
            </a:r>
          </a:p>
          <a:p xmlns:a="http://schemas.openxmlformats.org/drawingml/2006/main">
            <a:r>
              <a:t>    "GAI-T06",</a:t>
            </a:r>
          </a:p>
          <a:p xmlns:a="http://schemas.openxmlformats.org/drawingml/2006/main">
            <a:r>
              <a:t>    "GAI-T07",</a:t>
            </a:r>
          </a:p>
          <a:p xmlns:a="http://schemas.openxmlformats.org/drawingml/2006/main">
            <a:r>
              <a:t>    "GAI-T08",</a:t>
            </a:r>
          </a:p>
          <a:p xmlns:a="http://schemas.openxmlformats.org/drawingml/2006/main">
            <a:r>
              <a:t>    "GAI-T09",</a:t>
            </a:r>
          </a:p>
          <a:p xmlns:a="http://schemas.openxmlformats.org/drawingml/2006/main">
            <a:r>
              <a:t>    "GAI-T10",</a:t>
            </a:r>
          </a:p>
          <a:p xmlns:a="http://schemas.openxmlformats.org/drawingml/2006/main">
            <a:r>
              <a:t>    "GAI-T11",</a:t>
            </a:r>
          </a:p>
          <a:p xmlns:a="http://schemas.openxmlformats.org/drawingml/2006/main">
            <a:r>
              <a:t>    "GAI-T12"</a:t>
            </a:r>
          </a:p>
          <a:p xmlns:a="http://schemas.openxmlformats.org/drawingml/2006/main">
            <a:r>
              <a:t>  ],</a:t>
            </a:r>
          </a:p>
          <a:p xmlns:a="http://schemas.openxmlformats.org/drawingml/2006/main">
            <a:r>
              <a:t>  "status": "솔루션·조직·범위 연결안",</a:t>
            </a:r>
          </a:p>
          <a:p xmlns:a="http://schemas.openxmlformats.org/drawingml/2006/main">
            <a:r>
              <a:t>  "basis": "설립법·직제시행세칙 기반 경영지원 업무",</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"1010100",</a:t>
            </a:r>
          </a:p>
          <a:p xmlns:a="http://schemas.openxmlformats.org/drawingml/2006/main">
            <a:r>
              <a:t>      "name": "AI미래전략실",</a:t>
            </a:r>
          </a:p>
          <a:p xmlns:a="http://schemas.openxmlformats.org/drawingml/2006/main">
            <a:r>
              <a:t>      "job": "AI 전략·윤리",</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인공지능(AI) 전환 전략 수립․조정",</a:t>
            </a:r>
          </a:p>
          <a:p xmlns:a="http://schemas.openxmlformats.org/drawingml/2006/main">
            <a:r>
              <a:t>        "6. 인공지능(AI) 제도 및 지침, 윤리기준 관리"</a:t>
            </a:r>
          </a:p>
          <a:p xmlns:a="http://schemas.openxmlformats.org/drawingml/2006/main">
            <a:r>
              <a:t>      ],</a:t>
            </a:r>
          </a:p>
          <a:p xmlns:a="http://schemas.openxmlformats.org/drawingml/2006/main">
            <a:r>
              <a:t>      "locator": "별표4 · T34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사업 조정·데이터 표준",</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인공지능(AI) 활용 서비스 구축 지원 및 성과관리",</a:t>
            </a:r>
          </a:p>
          <a:p xmlns:a="http://schemas.openxmlformats.org/drawingml/2006/main">
            <a:r>
              <a:t>        "3. 인공지능(AI) 데이터 표준화 및 데이터 스페이스 구축"</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"1019700",</a:t>
            </a:r>
          </a:p>
          <a:p xmlns:a="http://schemas.openxmlformats.org/drawingml/2006/main">
            <a:r>
              <a:t>      "name": "AI서비스개발팀",</a:t>
            </a:r>
          </a:p>
          <a:p xmlns:a="http://schemas.openxmlformats.org/drawingml/2006/main">
            <a:r>
              <a:t>      "job": "공통플랫폼·모델 품질",</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인공지능(AI) 공통플랫폼 구축․운영 인공지능(AI) 모델 고도화․품질관리",</a:t>
            </a:r>
          </a:p>
          <a:p xmlns:a="http://schemas.openxmlformats.org/drawingml/2006/main">
            <a:r>
              <a:t>        "2. 인공지능(AI) 시범 서비스(PoC) 추진"</a:t>
            </a:r>
          </a:p>
          <a:p xmlns:a="http://schemas.openxmlformats.org/drawingml/2006/main">
            <a:r>
              <a:t>      ],</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"조직·분장·전결 관리",</a:t>
            </a:r>
          </a:p>
          <a:p xmlns:a="http://schemas.openxmlformats.org/drawingml/2006/main">
            <a:r>
              <a:t>      "indices": [</a:t>
            </a:r>
          </a:p>
          <a:p xmlns:a="http://schemas.openxmlformats.org/drawingml/2006/main">
            <a:r>
              <a:t>        7,</a:t>
            </a:r>
          </a:p>
          <a:p xmlns:a="http://schemas.openxmlformats.org/drawingml/2006/main">
            <a:r>
              <a:t>        10,</a:t>
            </a:r>
          </a:p>
          <a:p xmlns:a="http://schemas.openxmlformats.org/drawingml/2006/main">
            <a:r>
              <a:t>        11</a:t>
            </a:r>
          </a:p>
          <a:p xmlns:a="http://schemas.openxmlformats.org/drawingml/2006/main">
            <a:r>
              <a:t>      ],</a:t>
            </a:r>
          </a:p>
          <a:p xmlns:a="http://schemas.openxmlformats.org/drawingml/2006/main">
            <a:r>
              <a:t>      "duties": [</a:t>
            </a:r>
          </a:p>
          <a:p xmlns:a="http://schemas.openxmlformats.org/drawingml/2006/main">
            <a:r>
              <a:t>        "8. 조직 및 정원관리 총괄",</a:t>
            </a:r>
          </a:p>
          <a:p xmlns:a="http://schemas.openxmlformats.org/drawingml/2006/main">
            <a:r>
              <a:t>        "9. 위임전결에 관한 사항",</a:t>
            </a:r>
          </a:p>
          <a:p xmlns:a="http://schemas.openxmlformats.org/drawingml/2006/main">
            <a:r>
              <a:t>        "10. 업무분장 조정‧관리"</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"발령·인사정보 관리",</a:t>
            </a:r>
          </a:p>
          <a:p xmlns:a="http://schemas.openxmlformats.org/drawingml/2006/main">
            <a:r>
              <a:t>      "indices": [</a:t>
            </a:r>
          </a:p>
          <a:p xmlns:a="http://schemas.openxmlformats.org/drawingml/2006/main">
            <a:r>
              <a:t>        2,</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"6. 인사통계자료․인사정보 관리 및 인사 관련 제증명 발급"</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"정보화·데이터 품질",</a:t>
            </a:r>
          </a:p>
          <a:p xmlns:a="http://schemas.openxmlformats.org/drawingml/2006/main">
            <a:r>
              <a:t>      "indices": [</a:t>
            </a:r>
          </a:p>
          <a:p xmlns:a="http://schemas.openxmlformats.org/drawingml/2006/main">
            <a:r>
              <a:t>        12,</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"13. 정보화사업 사전검토(과업지시서 등) 및 시스템 구축 지원(기술분야)",</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"보안·개인정보 관리",</a:t>
            </a:r>
          </a:p>
          <a:p xmlns:a="http://schemas.openxmlformats.org/drawingml/2006/main">
            <a:r>
              <a:t>      "indices": [</a:t>
            </a:r>
          </a:p>
          <a:p xmlns:a="http://schemas.openxmlformats.org/drawingml/2006/main">
            <a:r>
              <a:t>        0,</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"1. 정보보안 업무총괄 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"설립법·별표4 내부 업무분장 / 인사·재무·계약·전결 등 업무별 규정의 별도 확인",</a:t>
            </a:r>
          </a:p>
          <a:p xmlns:a="http://schemas.openxmlformats.org/drawingml/2006/main">
            <a:r>
              <a:t>  "caseRefs": [</a:t>
            </a:r>
          </a:p>
          <a:p xmlns:a="http://schemas.openxmlformats.org/drawingml/2006/main">
            <a:r>
              <a:t>    {</a:t>
            </a:r>
          </a:p>
          <a:p xmlns:a="http://schemas.openxmlformats.org/drawingml/2006/main">
            <a:r>
              <a:t>      "caseId": "AX04",</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"AX22",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"조직 네이티브 공통 기반",</a:t>
            </a:r>
          </a:p>
          <a:p xmlns:a="http://schemas.openxmlformats.org/drawingml/2006/main">
            <a:r>
              <a:t>  "delta": "공식 ID·효력일·역할·업무 분류·권한 집행",</a:t>
            </a:r>
          </a:p>
          <a:p xmlns:a="http://schemas.openxmlformats.org/drawingml/2006/main">
            <a:r>
              <a:t>  "kpi": "직무 분류 정확도 / 비인가 노출 건수",</a:t>
            </a:r>
          </a:p>
          <a:p xmlns:a="http://schemas.openxmlformats.org/drawingml/2006/main">
            <a:r>
              <a:t>  "validation": "인사이동·동명이인·권한 회수·동일 요청 교차 시험",</a:t>
            </a:r>
          </a:p>
          <a:p xmlns:a="http://schemas.openxmlformats.org/drawingml/2006/main">
            <a:r>
              <a:t>  "requirement": "BM-ST-04-R01",</a:t>
            </a:r>
          </a:p>
          <a:p xmlns:a="http://schemas.openxmlformats.org/drawingml/2006/main">
            <a:r>
              <a:t>  "test": "BM-ST-04-T01",</a:t>
            </a:r>
          </a:p>
          <a:p xmlns:a="http://schemas.openxmlformats.org/drawingml/2006/main">
            <a:r>
              <a:t>  "effectStatus": "기대 방향 · TS 실측 전",</a:t>
            </a:r>
          </a:p>
          <a:p xmlns:a="http://schemas.openxmlformats.org/drawingml/2006/main">
            <a:r>
              <a:t>  "effect": "반복 맥락 입력·부서 간 오인계 감소",</a:t>
            </a:r>
          </a:p>
          <a:p xmlns:a="http://schemas.openxmlformats.org/drawingml/2006/main">
            <a:r>
              <a:t>  "reuse": "ON27-BASE / C27-COM + CCK 재사용 판정 기능",</a:t>
            </a:r>
          </a:p>
          <a:p xmlns:a="http://schemas.openxmlformats.org/drawingml/2006/main">
            <a:r>
              <a:t>  "input": "공식 직원 ID, 조직도·업무분장, 효력일, 원천 접근정책",</a:t>
            </a:r>
          </a:p>
          <a:p xmlns:a="http://schemas.openxmlformats.org/drawingml/2006/main">
            <a:r>
              <a:t>  "steps": [</a:t>
            </a:r>
          </a:p>
          <a:p xmlns:a="http://schemas.openxmlformats.org/drawingml/2006/main">
            <a:r>
              <a:t>    "로그인 ID–조직 연결",</a:t>
            </a:r>
          </a:p>
          <a:p xmlns:a="http://schemas.openxmlformats.org/drawingml/2006/main">
            <a:r>
              <a:t>    "인물·부서·직무 관계 식별",</a:t>
            </a:r>
          </a:p>
          <a:p xmlns:a="http://schemas.openxmlformats.org/drawingml/2006/main">
            <a:r>
              <a:t>    "업무 맥락·지식·서식 선택",</a:t>
            </a:r>
          </a:p>
          <a:p xmlns:a="http://schemas.openxmlformats.org/drawingml/2006/main">
            <a:r>
              <a:t>    "권한 재검증·결과 근거 기록"</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"1010100",</a:t>
            </a:r>
          </a:p>
          <a:p xmlns:a="http://schemas.openxmlformats.org/drawingml/2006/main">
            <a:r>
              <a:t>      "name": "AI미래전략실",</a:t>
            </a:r>
          </a:p>
          <a:p xmlns:a="http://schemas.openxmlformats.org/drawingml/2006/main">
            <a:r>
              <a:t>      "job": "AI 전략·윤리",</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인공지능(AI) 전환 전략 수립․조정",</a:t>
            </a:r>
          </a:p>
          <a:p xmlns:a="http://schemas.openxmlformats.org/drawingml/2006/main">
            <a:r>
              <a:t>        "6. 인공지능(AI) 제도 및 지침, 윤리기준 관리"</a:t>
            </a:r>
          </a:p>
          <a:p xmlns:a="http://schemas.openxmlformats.org/drawingml/2006/main">
            <a:r>
              <a:t>      ],</a:t>
            </a:r>
          </a:p>
          <a:p xmlns:a="http://schemas.openxmlformats.org/drawingml/2006/main">
            <a:r>
              <a:t>      "locator": "별표4 · T34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"RULEWORK-1010100-4",</a:t>
            </a:r>
          </a:p>
          <a:p xmlns:a="http://schemas.openxmlformats.org/drawingml/2006/main">
            <a:r>
              <a:t>          "text": "4. 인공지능(AI) 전환 전략 수립․조정",</a:t>
            </a:r>
          </a:p>
          <a:p xmlns:a="http://schemas.openxmlformats.org/drawingml/2006/main">
            <a:r>
              <a:t>          "locator": "별표4 · T34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"RULEWORK-1010100-4-R01",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"RULEWORK-1010100-4-T01",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"RULEWORK-1010100-4-R02",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"RULEWORK-1010100-4-T02",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"RULEWORK-1010100-4-R03",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"RULEWORK-1010100-4-T03",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"RULEWORK-1010100-6",</a:t>
            </a:r>
          </a:p>
          <a:p xmlns:a="http://schemas.openxmlformats.org/drawingml/2006/main">
            <a:r>
              <a:t>          "text": "6. 인공지능(AI) 제도 및 지침, 윤리기준 관리",</a:t>
            </a:r>
          </a:p>
          <a:p xmlns:a="http://schemas.openxmlformats.org/drawingml/2006/main">
            <a:r>
              <a:t>          "locator": "별표4 · T34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"RULEWORK-1010100-6-R01",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"RULEWORK-1010100-6-T01",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"RULEWORK-1010100-6-R02",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"RULEWORK-1010100-6-T02",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"RULEWORK-1010100-6-R03",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"RULEWORK-1010100-6-T03",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사업 조정·데이터 표준",</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인공지능(AI) 활용 서비스 구축 지원 및 성과관리",</a:t>
            </a:r>
          </a:p>
          <a:p xmlns:a="http://schemas.openxmlformats.org/drawingml/2006/main">
            <a:r>
              <a:t>        "3. 인공지능(AI) 데이터 표준화 및 데이터 스페이스 구축"</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"RULEWORK-1019600-1",</a:t>
            </a:r>
          </a:p>
          <a:p xmlns:a="http://schemas.openxmlformats.org/drawingml/2006/main">
            <a:r>
              <a:t>          "text": "1. 인공지능(AI) 활용 서비스 구축 지원 및 성과관리",</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"RULEWORK-1019600-1-R01",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"RULEWORK-1019600-1-T01",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"RULEWORK-1019600-1-R02",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"RULEWORK-1019600-1-T02",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"RULEWORK-1019600-1-R03",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"RULEWORK-1019600-3",</a:t>
            </a:r>
          </a:p>
          <a:p xmlns:a="http://schemas.openxmlformats.org/drawingml/2006/main">
            <a:r>
              <a:t>          "text": "3. 인공지능(AI) 데이터 표준화 및 데이터 스페이스 구축",</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"RULEWORK-1019600-3-T01",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"RULEWORK-1019600-3-R02",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"RULEWORK-1019600-3-T02",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"RULEWORK-1019600-3-R03",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"1019700",</a:t>
            </a:r>
          </a:p>
          <a:p xmlns:a="http://schemas.openxmlformats.org/drawingml/2006/main">
            <a:r>
              <a:t>      "name": "AI서비스개발팀",</a:t>
            </a:r>
          </a:p>
          <a:p xmlns:a="http://schemas.openxmlformats.org/drawingml/2006/main">
            <a:r>
              <a:t>      "job": "공통플랫폼·모델 품질",</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인공지능(AI) 공통플랫폼 구축․운영 인공지능(AI) 모델 고도화․품질관리",</a:t>
            </a:r>
          </a:p>
          <a:p xmlns:a="http://schemas.openxmlformats.org/drawingml/2006/main">
            <a:r>
              <a:t>        "2. 인공지능(AI) 시범 서비스(PoC) 추진"</a:t>
            </a:r>
          </a:p>
          <a:p xmlns:a="http://schemas.openxmlformats.org/drawingml/2006/main">
            <a:r>
              <a:t>      ],</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"RULEWORK-1019700-1",</a:t>
            </a:r>
          </a:p>
          <a:p xmlns:a="http://schemas.openxmlformats.org/drawingml/2006/main">
            <a:r>
              <a:t>          "text": "1. 인공지능(AI) 공통플랫폼 구축․운영 인공지능(AI) 모델 고도화․품질관리",</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"requirements": [</a:t>
            </a:r>
          </a:p>
          <a:p xmlns:a="http://schemas.openxmlformats.org/drawingml/2006/main">
            <a:r>
              <a:t>            {</a:t>
            </a:r>
          </a:p>
          <a:p xmlns:a="http://schemas.openxmlformats.org/drawingml/2006/main">
            <a:r>
              <a:t>              "id": "RULEWORK-1019700-1-R01",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"RULEWORK-1019700-1-T01",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"RULEWORK-1019700-1-R02",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"RULEWORK-1019700-1-T02",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"RULEWORK-1019700-1-R03",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"RULEWORK-1019700-1-T03",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"RULEWORK-1019700-2",</a:t>
            </a:r>
          </a:p>
          <a:p xmlns:a="http://schemas.openxmlformats.org/drawingml/2006/main">
            <a:r>
              <a:t>          "text": "2. 인공지능(AI) 시범 서비스(PoC) 추진",</a:t>
            </a:r>
          </a:p>
          <a:p xmlns:a="http://schemas.openxmlformats.org/drawingml/2006/main">
            <a:r>
              <a:t>          "locator": "별표4 · T37 · 4행 · 업무분장 열",</a:t>
            </a:r>
          </a:p>
          <a:p xmlns:a="http://schemas.openxmlformats.org/drawingml/2006/main">
            <a:r>
              <a:t>          "restriction": "부칙 제1·2조: 팀장 최초 인사발령일부터 시행 · 발령일 미확인 · 시행 전 AI혁신처 관련 업무·정원 담당",</a:t>
            </a:r>
          </a:p>
          <a:p xmlns:a="http://schemas.openxmlformats.org/drawingml/2006/main">
            <a:r>
              <a:t>          "requirements": [</a:t>
            </a:r>
          </a:p>
          <a:p xmlns:a="http://schemas.openxmlformats.org/drawingml/2006/main">
            <a:r>
              <a:t>            {</a:t>
            </a:r>
          </a:p>
          <a:p xmlns:a="http://schemas.openxmlformats.org/drawingml/2006/main">
            <a:r>
              <a:t>              "id": "RULEWORK-1019700-2-R01",</a:t>
            </a:r>
          </a:p>
          <a:p xmlns:a="http://schemas.openxmlformats.org/drawingml/2006/main">
            <a:r>
              <a:t>              "title": "업무 맥락·전용 지식 구성",</a:t>
            </a:r>
          </a:p>
          <a:p xmlns:a="http://schemas.openxmlformats.org/drawingml/2006/main">
            <a:r>
              <a:t>              "development": "직무·업무건 기반 검색·응답 구성",</a:t>
            </a:r>
          </a:p>
          <a:p xmlns:a="http://schemas.openxmlformats.org/drawingml/2006/main">
            <a:r>
              <a:t>              "output": "부서별 구성·평가·배포 명세",</a:t>
            </a:r>
          </a:p>
          <a:p xmlns:a="http://schemas.openxmlformats.org/drawingml/2006/main">
            <a:r>
              <a:t>              "testId": "RULEWORK-1019700-2-T01",</a:t>
            </a:r>
          </a:p>
          <a:p xmlns:a="http://schemas.openxmlformats.org/drawingml/2006/main">
            <a:r>
              <a:t>              "criterion": "동일 요청의 부서·역할별 결과·근거 대조"</a:t>
            </a:r>
          </a:p>
          <a:p xmlns:a="http://schemas.openxmlformats.org/drawingml/2006/main">
            <a:r>
              <a:t>            },</a:t>
            </a:r>
          </a:p>
          <a:p xmlns:a="http://schemas.openxmlformats.org/drawingml/2006/main">
            <a:r>
              <a:t>            {</a:t>
            </a:r>
          </a:p>
          <a:p xmlns:a="http://schemas.openxmlformats.org/drawingml/2006/main">
            <a:r>
              <a:t>              "id": "RULEWORK-1019700-2-R02",</a:t>
            </a:r>
          </a:p>
          <a:p xmlns:a="http://schemas.openxmlformats.org/drawingml/2006/main">
            <a:r>
              <a:t>              "title": "업무건·역할·시스템 연결",</a:t>
            </a:r>
          </a:p>
          <a:p xmlns:a="http://schemas.openxmlformats.org/drawingml/2006/main">
            <a:r>
              <a:t>              "development": "모델·정책·지식 판본별 운영·복구 연계",</a:t>
            </a:r>
          </a:p>
          <a:p xmlns:a="http://schemas.openxmlformats.org/drawingml/2006/main">
            <a:r>
              <a:t>              "output": "업무건·원천·역할·변경 연결 명세",</a:t>
            </a:r>
          </a:p>
          <a:p xmlns:a="http://schemas.openxmlformats.org/drawingml/2006/main">
            <a:r>
              <a:t>              "testId": "RULEWORK-1019700-2-T02",</a:t>
            </a:r>
          </a:p>
          <a:p xmlns:a="http://schemas.openxmlformats.org/drawingml/2006/main">
            <a:r>
              <a:t>              "criterion": "배포 판본 변경·롤백·필수 거부 시험"</a:t>
            </a:r>
          </a:p>
          <a:p xmlns:a="http://schemas.openxmlformats.org/drawingml/2006/main">
            <a:r>
              <a:t>            },</a:t>
            </a:r>
          </a:p>
          <a:p xmlns:a="http://schemas.openxmlformats.org/drawingml/2006/main">
            <a:r>
              <a:t>            {</a:t>
            </a:r>
          </a:p>
          <a:p xmlns:a="http://schemas.openxmlformats.org/drawingml/2006/main">
            <a:r>
              <a:t>              "id": "RULEWORK-1019700-2-R03",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"RULEWORK-1019700-2-T03",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"조직·분장·전결 관리",</a:t>
            </a:r>
          </a:p>
          <a:p xmlns:a="http://schemas.openxmlformats.org/drawingml/2006/main">
            <a:r>
              <a:t>      "indices": [</a:t>
            </a:r>
          </a:p>
          <a:p xmlns:a="http://schemas.openxmlformats.org/drawingml/2006/main">
            <a:r>
              <a:t>        7,</a:t>
            </a:r>
          </a:p>
          <a:p xmlns:a="http://schemas.openxmlformats.org/drawingml/2006/main">
            <a:r>
              <a:t>        10,</a:t>
            </a:r>
          </a:p>
          <a:p xmlns:a="http://schemas.openxmlformats.org/drawingml/2006/main">
            <a:r>
              <a:t>        11</a:t>
            </a:r>
          </a:p>
          <a:p xmlns:a="http://schemas.openxmlformats.org/drawingml/2006/main">
            <a:r>
              <a:t>      ],</a:t>
            </a:r>
          </a:p>
          <a:p xmlns:a="http://schemas.openxmlformats.org/drawingml/2006/main">
            <a:r>
              <a:t>      "duties": [</a:t>
            </a:r>
          </a:p>
          <a:p xmlns:a="http://schemas.openxmlformats.org/drawingml/2006/main">
            <a:r>
              <a:t>        "8. 조직 및 정원관리 총괄",</a:t>
            </a:r>
          </a:p>
          <a:p xmlns:a="http://schemas.openxmlformats.org/drawingml/2006/main">
            <a:r>
              <a:t>        "9. 위임전결에 관한 사항",</a:t>
            </a:r>
          </a:p>
          <a:p xmlns:a="http://schemas.openxmlformats.org/drawingml/2006/main">
            <a:r>
              <a:t>        "10. 업무분장 조정‧관리"</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"RULEWORK-1016050-8",</a:t>
            </a:r>
          </a:p>
          <a:p xmlns:a="http://schemas.openxmlformats.org/drawingml/2006/main">
            <a:r>
              <a:t>          "text": "8. 조직 및 정원관리 총괄",</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"RULEWORK-1016050-8-R01",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"RULEWORK-1016050-8-T01",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"RULEWORK-1016050-8-R02",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"RULEWORK-1016050-8-T02",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"RULEWORK-1016050-11",</a:t>
            </a:r>
          </a:p>
          <a:p xmlns:a="http://schemas.openxmlformats.org/drawingml/2006/main">
            <a:r>
              <a:t>          "text": "9. 위임전결에 관한 사항",</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"RULEWORK-1016050-11-R01",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"RULEWORK-1016050-11-T01",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"RULEWORK-1016050-11-R02",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"RULEWORK-1016050-11-T02",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"RULEWORK-1016050-11-R03",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"RULEWORK-1016050-11-T03",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"RULEWORK-1016050-12",</a:t>
            </a:r>
          </a:p>
          <a:p xmlns:a="http://schemas.openxmlformats.org/drawingml/2006/main">
            <a:r>
              <a:t>          "text": "10. 업무분장 조정‧관리",</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"RULEWORK-1016050-12-R01",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"RULEWORK-1016050-12-T01",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"RULEWORK-1016050-12-R02",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"RULEWORK-1016050-12-T02",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"RULEWORK-1016050-12-R03",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"RULEWORK-1016050-12-T03",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"발령·인사정보 관리",</a:t>
            </a:r>
          </a:p>
          <a:p xmlns:a="http://schemas.openxmlformats.org/drawingml/2006/main">
            <a:r>
              <a:t>      "indices": [</a:t>
            </a:r>
          </a:p>
          <a:p xmlns:a="http://schemas.openxmlformats.org/drawingml/2006/main">
            <a:r>
              <a:t>        2,</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"6. 인사통계자료․인사정보 관리 및 인사 관련 제증명 발급"</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"RULEWORK-1018037-3",</a:t>
            </a:r>
          </a:p>
          <a:p xmlns:a="http://schemas.openxmlformats.org/drawingml/2006/main">
            <a:r>
              <a:t>          "text": "3. 직원의 채용, 승진, 전보 등 임용 및 보직에 관한 업무",</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"RULEWORK-1018037-6",</a:t>
            </a:r>
          </a:p>
          <a:p xmlns:a="http://schemas.openxmlformats.org/drawingml/2006/main">
            <a:r>
              <a:t>          "text": "6. 인사통계자료․인사정보 관리 및 인사 관련 제증명 발급",</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"RULEWORK-1018037-6-R01",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"RULEWORK-1018037-6-T01",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"RULEWORK-1018037-6-R02",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"RULEWORK-1018037-6-T02",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"정보화·데이터 품질",</a:t>
            </a:r>
          </a:p>
          <a:p xmlns:a="http://schemas.openxmlformats.org/drawingml/2006/main">
            <a:r>
              <a:t>      "indices": [</a:t>
            </a:r>
          </a:p>
          <a:p xmlns:a="http://schemas.openxmlformats.org/drawingml/2006/main">
            <a:r>
              <a:t>        12,</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"13. 정보화사업 사전검토(과업지시서 등) 및 시스템 구축 지원(기술분야)",</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"RULEWORK-1019300-13",</a:t>
            </a:r>
          </a:p>
          <a:p xmlns:a="http://schemas.openxmlformats.org/drawingml/2006/main">
            <a:r>
              <a:t>          "text": "13. 정보화사업 사전검토(과업지시서 등) 및 시스템 구축 지원(기술분야)",</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"RULEWORK-1019300-13-R01",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"RULEWORK-1019300-13-T01",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"RULEWORK-1019300-13-R02",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"RULEWORK-1019300-13-T02",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"RULEWORK-1019300-13-R03",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"RULEWORK-1019300-13-T03",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"RULEWORK-1019300-20",</a:t>
            </a:r>
          </a:p>
          <a:p xmlns:a="http://schemas.openxmlformats.org/drawingml/2006/main">
            <a:r>
              <a:t>          "text": "20. 데이터 품질관리",</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"RULEWORK-1019300-20-R01",</a:t>
            </a:r>
          </a:p>
          <a:p xmlns:a="http://schemas.openxmlformats.org/drawingml/2006/main">
            <a:r>
              <a:t>              "title": "업무 맥락·전용 지식 구성",</a:t>
            </a:r>
          </a:p>
          <a:p xmlns:a="http://schemas.openxmlformats.org/drawingml/2006/main">
            <a:r>
              <a:t>              "development": "시스템·변경·업무건 관계 추적",</a:t>
            </a:r>
          </a:p>
          <a:p xmlns:a="http://schemas.openxmlformats.org/drawingml/2006/main">
            <a:r>
              <a:t>              "output": "영향분석·조치·복구·대사 기록",</a:t>
            </a:r>
          </a:p>
          <a:p xmlns:a="http://schemas.openxmlformats.org/drawingml/2006/main">
            <a:r>
              <a:t>              "testId": "RULEWORK-1019300-20-T01",</a:t>
            </a:r>
          </a:p>
          <a:p xmlns:a="http://schemas.openxmlformats.org/drawingml/2006/main">
            <a:r>
              <a:t>              "criterion": "중복·누락·순서 역전·장애 사례의 결과 대조"</a:t>
            </a:r>
          </a:p>
          <a:p xmlns:a="http://schemas.openxmlformats.org/drawingml/2006/main">
            <a:r>
              <a:t>            },</a:t>
            </a:r>
          </a:p>
          <a:p xmlns:a="http://schemas.openxmlformats.org/drawingml/2006/main">
            <a:r>
              <a:t>            {</a:t>
            </a:r>
          </a:p>
          <a:p xmlns:a="http://schemas.openxmlformats.org/drawingml/2006/main">
            <a:r>
              <a:t>              "id": "RULEWORK-1019300-20-R02",</a:t>
            </a:r>
          </a:p>
          <a:p xmlns:a="http://schemas.openxmlformats.org/drawingml/2006/main">
            <a:r>
              <a:t>              "title": "업무건·역할·시스템 연결",</a:t>
            </a:r>
          </a:p>
          <a:p xmlns:a="http://schemas.openxmlformats.org/drawingml/2006/main">
            <a:r>
              <a:t>              "development": "멱등 요청·오류 재처리·승인된 연계 어댑터",</a:t>
            </a:r>
          </a:p>
          <a:p xmlns:a="http://schemas.openxmlformats.org/drawingml/2006/main">
            <a:r>
              <a:t>              "output": "업무건·원천·역할·변경 연결 명세",</a:t>
            </a:r>
          </a:p>
          <a:p xmlns:a="http://schemas.openxmlformats.org/drawingml/2006/main">
            <a:r>
              <a:t>              "testId": "RULEWORK-1019300-20-T02",</a:t>
            </a:r>
          </a:p>
          <a:p xmlns:a="http://schemas.openxmlformats.org/drawingml/2006/main">
            <a:r>
              <a:t>              "criterion": "무승인 변경·중복 실행 차단 및 복구 검증"</a:t>
            </a:r>
          </a:p>
          <a:p xmlns:a="http://schemas.openxmlformats.org/drawingml/2006/main">
            <a:r>
              <a:t>            },</a:t>
            </a:r>
          </a:p>
          <a:p xmlns:a="http://schemas.openxmlformats.org/drawingml/2006/main">
            <a:r>
              <a:t>            {</a:t>
            </a:r>
          </a:p>
          <a:p xmlns:a="http://schemas.openxmlformats.org/drawingml/2006/main">
            <a:r>
              <a:t>              "id": "RULEWORK-1019300-20-R03",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"RULEWORK-1019300-20-T03",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"보안·개인정보 관리",</a:t>
            </a:r>
          </a:p>
          <a:p xmlns:a="http://schemas.openxmlformats.org/drawingml/2006/main">
            <a:r>
              <a:t>      "indices": [</a:t>
            </a:r>
          </a:p>
          <a:p xmlns:a="http://schemas.openxmlformats.org/drawingml/2006/main">
            <a:r>
              <a:t>        0,</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"1. 정보보안 업무총괄 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"RULEWORK-1019500-1",</a:t>
            </a:r>
          </a:p>
          <a:p xmlns:a="http://schemas.openxmlformats.org/drawingml/2006/main">
            <a:r>
              <a:t>          "text": "1. 정보보안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"RULEWORK-1019500-10",</a:t>
            </a:r>
          </a:p>
          <a:p xmlns:a="http://schemas.openxmlformats.org/drawingml/2006/main">
            <a:r>
              <a:t>          "text": "10. 개인정보보호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"RULEWORK-1019500-10-R01",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"RULEWORK-1019500-10-T01",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"RULEWORK-1019500-10-R02",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"RULEWORK-1019500-10-T02",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대화·검색·서식·스킬"</a:t>
            </a:r>
          </a:p>
          <a:p xmlns:a="http://schemas.openxmlformats.org/drawingml/2006/main">
            <a:r>
              <a:t>    },</a:t>
            </a:r>
          </a:p>
          <a:p xmlns:a="http://schemas.openxmlformats.org/drawingml/2006/main">
            <a:r>
              <a:t>    {</a:t>
            </a:r>
          </a:p>
          <a:p xmlns:a="http://schemas.openxmlformats.org/drawingml/2006/main">
            <a:r>
              <a:t>      "assetId": "CCK-03",</a:t>
            </a:r>
          </a:p>
          <a:p xmlns:a="http://schemas.openxmlformats.org/drawingml/2006/main">
            <a:r>
              <a:t>      "use": "Connor 명세의 실행·로그 경계"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"사람–조직–직무–업무 관계·효력일 모델",</a:t>
            </a:r>
          </a:p>
          <a:p xmlns:a="http://schemas.openxmlformats.org/drawingml/2006/main">
            <a:r>
              <a:t>    "업무 분류기·검색 전 정책 집행 연결"</a:t>
            </a:r>
          </a:p>
          <a:p xmlns:a="http://schemas.openxmlformats.org/drawingml/2006/main">
            <a:r>
              <a:t>  ],</a:t>
            </a:r>
          </a:p>
          <a:p xmlns:a="http://schemas.openxmlformats.org/drawingml/2006/main">
            <a:r>
              <a:t>  "acceptancePlan": {</a:t>
            </a:r>
          </a:p>
          <a:p xmlns:a="http://schemas.openxmlformats.org/drawingml/2006/main">
            <a:r>
              <a:t>    "sample": "동명이인·겸직·전보·회수 전후 동일 요청",</a:t>
            </a:r>
          </a:p>
          <a:p xmlns:a="http://schemas.openxmlformats.org/drawingml/2006/main">
            <a:r>
              <a:t>    "criterion": "정답 조직·업무·서식 일치, 모호한 식별 보류, 비인가 노출·실행 0건 기준안",</a:t>
            </a:r>
          </a:p>
          <a:p xmlns:a="http://schemas.openxmlformats.org/drawingml/2006/main">
            <a:r>
              <a:t>    "evidence": "신원 매핑 정답셋·교차권한 결과·변경 전파·복구 기록",</a:t>
            </a:r>
          </a:p>
          <a:p xmlns:a="http://schemas.openxmlformats.org/drawingml/2006/main">
            <a:r>
              <a:t>    "execution": "미실행"</a:t>
            </a:r>
          </a:p>
          <a:p xmlns:a="http://schemas.openxmlformats.org/drawingml/2006/main">
            <a:r>
              <a:t>  },</a:t>
            </a:r>
          </a:p>
          <a:p xmlns:a="http://schemas.openxmlformats.org/drawingml/2006/main">
            <a:r>
              <a:t>  "formula": "직무·업무 분류 정답 건수 ÷ 평가 건수 / 변경 전파 지연 / 비인가 노출 건수",</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"PF-R03",</a:t>
            </a:r>
          </a:p>
          <a:p xmlns:a="http://schemas.openxmlformats.org/drawingml/2006/main">
            <a:r>
              <a:t>    "PF-R04",</a:t>
            </a:r>
          </a:p>
          <a:p xmlns:a="http://schemas.openxmlformats.org/drawingml/2006/main">
            <a:r>
              <a:t>    "PF-R09",</a:t>
            </a:r>
          </a:p>
          <a:p xmlns:a="http://schemas.openxmlformats.org/drawingml/2006/main">
            <a:r>
              <a:t>    "PF01",</a:t>
            </a:r>
          </a:p>
          <a:p xmlns:a="http://schemas.openxmlformats.org/drawingml/2006/main">
            <a:r>
              <a:t>    "PF-A03",</a:t>
            </a:r>
          </a:p>
          <a:p xmlns:a="http://schemas.openxmlformats.org/drawingml/2006/main">
            <a:r>
              <a:t>    "PF04",</a:t>
            </a:r>
          </a:p>
          <a:p xmlns:a="http://schemas.openxmlformats.org/drawingml/2006/main">
            <a:r>
              <a:t>    "PF-A06",</a:t>
            </a:r>
          </a:p>
          <a:p xmlns:a="http://schemas.openxmlformats.org/drawingml/2006/main">
            <a:r>
              <a:t>    "PF05",</a:t>
            </a:r>
          </a:p>
          <a:p xmlns:a="http://schemas.openxmlformats.org/drawingml/2006/main">
            <a:r>
              <a:t>    "PF-A08",</a:t>
            </a:r>
          </a:p>
          <a:p xmlns:a="http://schemas.openxmlformats.org/drawingml/2006/main">
            <a:r>
              <a:t>    "PF06",</a:t>
            </a:r>
          </a:p>
          <a:p xmlns:a="http://schemas.openxmlformats.org/drawingml/2006/main">
            <a:r>
              <a:t>    "PF-A16",</a:t>
            </a:r>
          </a:p>
          <a:p xmlns:a="http://schemas.openxmlformats.org/drawingml/2006/main">
            <a:r>
              <a:t>    "PF-A18",</a:t>
            </a:r>
          </a:p>
          <a:p xmlns:a="http://schemas.openxmlformats.org/drawingml/2006/main">
            <a:r>
              <a:t>    "PF-C01",</a:t>
            </a:r>
          </a:p>
          <a:p xmlns:a="http://schemas.openxmlformats.org/drawingml/2006/main">
            <a:r>
              <a:t>    "PF-C02",</a:t>
            </a:r>
          </a:p>
          <a:p xmlns:a="http://schemas.openxmlformats.org/drawingml/2006/main">
            <a:r>
              <a:t>    "PF31"</a:t>
            </a:r>
          </a:p>
          <a:p xmlns:a="http://schemas.openxmlformats.org/drawingml/2006/main">
            <a:r>
              <a:t>  ]</a:t>
            </a:r>
          </a:p>
          <a:p xmlns:a="http://schemas.openxmlformats.org/drawingml/2006/main">
            <a:r>
              <a:t>}</a:t>
            </a:r>
          </a:p>
          <a:p xmlns:a="http://schemas.openxmlformats.org/drawingml/2006/main">
            <a:r>
              <a:t>CCK-01: NOA 사용자 가이드 확인. 설치본 기능시험 필요.</a:t>
            </a:r>
          </a:p>
          <a:p xmlns:a="http://schemas.openxmlformats.org/drawingml/2006/main">
            <a:r>
              <a:t>CCK-02/03: 명세 기반 재사용 후보. 실물 기능검증 필요.</a:t>
            </a:r>
          </a:p>
          <a:p xmlns:a="http://schemas.openxmlformats.org/drawingml/2006/main">
            <a:r>
              <a:t>기존 SSO·RAG·권한·로그·연계 범위 대조 후 추가분 산정.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"ST-05",</a:t>
            </a:r>
          </a:p>
          <a:p xmlns:a="http://schemas.openxmlformats.org/drawingml/2006/main">
            <a:r>
              <a:t>  "number": 5,</a:t>
            </a:r>
          </a:p>
          <a:p xmlns:a="http://schemas.openxmlformats.org/drawingml/2006/main">
            <a:r>
              <a:t>  "direction": "지능형 미래 모빌리티 혁신",</a:t>
            </a:r>
          </a:p>
          <a:p xmlns:a="http://schemas.openxmlformats.org/drawingml/2006/main">
            <a:r>
              <a:t>  "strategy": "K-AI 기반 안전한 미래 모빌리티 실현",</a:t>
            </a:r>
          </a:p>
          <a:p xmlns:a="http://schemas.openxmlformats.org/drawingml/2006/main">
            <a:r>
              <a:t>  "solution": "미래 모빌리티 검증·실증 지원",</a:t>
            </a:r>
          </a:p>
          <a:p xmlns:a="http://schemas.openxmlformats.org/drawingml/2006/main">
            <a:r>
              <a:t>  "lawIds": [</a:t>
            </a:r>
          </a:p>
          <a:p xmlns:a="http://schemas.openxmlformats.org/drawingml/2006/main">
            <a:r>
              <a:t>    "L09",</a:t>
            </a:r>
          </a:p>
          <a:p xmlns:a="http://schemas.openxmlformats.org/drawingml/2006/main">
            <a:r>
              <a:t>    "L18",</a:t>
            </a:r>
          </a:p>
          <a:p xmlns:a="http://schemas.openxmlformats.org/drawingml/2006/main">
            <a:r>
              <a:t>    "L19",</a:t>
            </a:r>
          </a:p>
          <a:p xmlns:a="http://schemas.openxmlformats.org/drawingml/2006/main">
            <a:r>
              <a:t>    "L27"</a:t>
            </a:r>
          </a:p>
          <a:p xmlns:a="http://schemas.openxmlformats.org/drawingml/2006/main">
            <a:r>
              <a:t>  ],</a:t>
            </a:r>
          </a:p>
          <a:p xmlns:a="http://schemas.openxmlformats.org/drawingml/2006/main">
            <a:r>
              <a:t>  "codes": [</a:t>
            </a:r>
          </a:p>
          <a:p xmlns:a="http://schemas.openxmlformats.org/drawingml/2006/main">
            <a:r>
              <a:t>    "7000000",</a:t>
            </a:r>
          </a:p>
          <a:p xmlns:a="http://schemas.openxmlformats.org/drawingml/2006/main">
            <a:r>
              <a:t>    "1029020",</a:t>
            </a:r>
          </a:p>
          <a:p xmlns:a="http://schemas.openxmlformats.org/drawingml/2006/main">
            <a:r>
              <a:t>    "1021020",</a:t>
            </a:r>
          </a:p>
          <a:p xmlns:a="http://schemas.openxmlformats.org/drawingml/2006/main">
            <a:r>
              <a:t>    "1021030",</a:t>
            </a:r>
          </a:p>
          <a:p xmlns:a="http://schemas.openxmlformats.org/drawingml/2006/main">
            <a:r>
              <a:t>    "1211290"</a:t>
            </a:r>
          </a:p>
          <a:p xmlns:a="http://schemas.openxmlformats.org/drawingml/2006/main">
            <a:r>
              <a:t>  ],</a:t>
            </a:r>
          </a:p>
          <a:p xmlns:a="http://schemas.openxmlformats.org/drawingml/2006/main">
            <a:r>
              <a:t>  "work": "미래차·드론·모빌리티 실증의 기준·시험·검토 업무",</a:t>
            </a:r>
          </a:p>
          <a:p xmlns:a="http://schemas.openxmlformats.org/drawingml/2006/main">
            <a:r>
              <a:t>  "features": [</a:t>
            </a:r>
          </a:p>
          <a:p xmlns:a="http://schemas.openxmlformats.org/drawingml/2006/main">
            <a:r>
              <a:t>    "기술유형별 요구조건·시험계획·증빙 구조화",</a:t>
            </a:r>
          </a:p>
          <a:p xmlns:a="http://schemas.openxmlformats.org/drawingml/2006/main">
            <a:r>
              <a:t>    "조건 변경에 따른 검증 항목 재구성"</a:t>
            </a:r>
          </a:p>
          <a:p xmlns:a="http://schemas.openxmlformats.org/drawingml/2006/main">
            <a:r>
              <a:t>  ],</a:t>
            </a:r>
          </a:p>
          <a:p xmlns:a="http://schemas.openxmlformats.org/drawingml/2006/main">
            <a:r>
              <a:t>  "output": "시험·실증 근거 패키지",</a:t>
            </a:r>
          </a:p>
          <a:p xmlns:a="http://schemas.openxmlformats.org/drawingml/2006/main">
            <a:r>
              <a:t>  "acceptance": "요구조건–시험–증거 추적과 변경 후 재검토 여부 확인",</a:t>
            </a:r>
          </a:p>
          <a:p xmlns:a="http://schemas.openxmlformats.org/drawingml/2006/main">
            <a:r>
              <a:t>  "phase": "공통 기반 인수 후 부서별 적용",</a:t>
            </a:r>
          </a:p>
          <a:p xmlns:a="http://schemas.openxmlformats.org/drawingml/2006/main">
            <a:r>
              <a:t>  "packages": [</a:t>
            </a:r>
          </a:p>
          <a:p xmlns:a="http://schemas.openxmlformats.org/drawingml/2006/main">
            <a:r>
              <a:t>    "ON-W04",</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"GAI-T05",</a:t>
            </a:r>
          </a:p>
          <a:p xmlns:a="http://schemas.openxmlformats.org/drawingml/2006/main">
            <a:r>
              <a:t>    "GAI-T06",</a:t>
            </a:r>
          </a:p>
          <a:p xmlns:a="http://schemas.openxmlformats.org/drawingml/2006/main">
            <a:r>
              <a:t>    "GAI-T09",</a:t>
            </a:r>
          </a:p>
          <a:p xmlns:a="http://schemas.openxmlformats.org/drawingml/2006/main">
            <a:r>
              <a:t>    "GAI-T12"</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"7000000",</a:t>
            </a:r>
          </a:p>
          <a:p xmlns:a="http://schemas.openxmlformats.org/drawingml/2006/main">
            <a:r>
              <a:t>      "name": "자동차안전연구원",</a:t>
            </a:r>
          </a:p>
          <a:p xmlns:a="http://schemas.openxmlformats.org/drawingml/2006/main">
            <a:r>
              <a:t>      "job": "미래차 안전 연구·평가",</a:t>
            </a:r>
          </a:p>
          <a:p xmlns:a="http://schemas.openxmlformats.org/drawingml/2006/main">
            <a:r>
              <a:t>      "indices": [],</a:t>
            </a:r>
          </a:p>
          <a:p xmlns:a="http://schemas.openxmlformats.org/drawingml/2006/main">
            <a:r>
              <a:t>      "duties": [],</a:t>
            </a:r>
          </a:p>
          <a:p xmlns:a="http://schemas.openxmlformats.org/drawingml/2006/main">
            <a:r>
              <a:t>      "locator": "자동차안전연구원 별도 직제시행세칙 대조 대상",</a:t>
            </a:r>
          </a:p>
          <a:p xmlns:a="http://schemas.openxmlformats.org/drawingml/2006/main">
            <a:r>
              <a:t>      "restriction": "별표4 부설기관: 자동차안전연구원 직제시행세칙에 따름 · 하부조직·직무·업무분장 별도 확인 필요",</a:t>
            </a:r>
          </a:p>
          <a:p xmlns:a="http://schemas.openxmlformats.org/drawingml/2006/main">
            <a:r>
              <a:t>      "status": "법령·업무 원장 기반 요약 / 세부 직제 확인"</a:t>
            </a:r>
          </a:p>
          <a:p xmlns:a="http://schemas.openxmlformats.org/drawingml/2006/main">
            <a:r>
              <a:t>    },</a:t>
            </a:r>
          </a:p>
          <a:p xmlns:a="http://schemas.openxmlformats.org/drawingml/2006/main">
            <a:r>
              <a:t>    {</a:t>
            </a:r>
          </a:p>
          <a:p xmlns:a="http://schemas.openxmlformats.org/drawingml/2006/main">
            <a:r>
              <a:t>      "code": "1029020",</a:t>
            </a:r>
          </a:p>
          <a:p xmlns:a="http://schemas.openxmlformats.org/drawingml/2006/main">
            <a:r>
              <a:t>      "name": "첨단연구개발처",</a:t>
            </a:r>
          </a:p>
          <a:p xmlns:a="http://schemas.openxmlformats.org/drawingml/2006/main">
            <a:r>
              <a:t>      "job": "미래차 검사기술 연구",</a:t>
            </a:r>
          </a:p>
          <a:p xmlns:a="http://schemas.openxmlformats.org/drawingml/2006/main">
            <a:r>
              <a:t>      "indices": [</a:t>
            </a:r>
          </a:p>
          <a:p xmlns:a="http://schemas.openxmlformats.org/drawingml/2006/main">
            <a:r>
              <a:t>        4,</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"5. 검사기준 및 검사방법 개발에 관한 업무",</a:t>
            </a:r>
          </a:p>
          <a:p xmlns:a="http://schemas.openxmlformats.org/drawingml/2006/main">
            <a:r>
              <a:t>        "8. 자율주행자동차 등 검사기술 개발"</a:t>
            </a:r>
          </a:p>
          <a:p xmlns:a="http://schemas.openxmlformats.org/drawingml/2006/main">
            <a:r>
              <a:t>      ],</a:t>
            </a:r>
          </a:p>
          <a:p xmlns:a="http://schemas.openxmlformats.org/drawingml/2006/main">
            <a:r>
              <a:t>      "locator": "별표4 · T43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"1021020",</a:t>
            </a:r>
          </a:p>
          <a:p xmlns:a="http://schemas.openxmlformats.org/drawingml/2006/main">
            <a:r>
              <a:t>      "name": "규제혁신처",</a:t>
            </a:r>
          </a:p>
          <a:p xmlns:a="http://schemas.openxmlformats.org/drawingml/2006/main">
            <a:r>
              <a:t>      "job": "실증특례 접수·승인 지원",</a:t>
            </a:r>
          </a:p>
          <a:p xmlns:a="http://schemas.openxmlformats.org/drawingml/2006/main">
            <a:r>
              <a:t>      "indices": [</a:t>
            </a:r>
          </a:p>
          <a:p xmlns:a="http://schemas.openxmlformats.org/drawingml/2006/main">
            <a:r>
              <a:t>        1,</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"2. 모빌리티 실증특례 접수 및 승인 지원",</a:t>
            </a:r>
          </a:p>
          <a:p xmlns:a="http://schemas.openxmlformats.org/drawingml/2006/main">
            <a:r>
              <a:t>        "8. 실증특례 통합검토위원회 구성, 운영"</a:t>
            </a:r>
          </a:p>
          <a:p xmlns:a="http://schemas.openxmlformats.org/drawingml/2006/main">
            <a:r>
              <a:t>      ],</a:t>
            </a:r>
          </a:p>
          <a:p xmlns:a="http://schemas.openxmlformats.org/drawingml/2006/main">
            <a:r>
              <a:t>      "locator": "별표4 · T41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"특화도시·시범사업 지원",</a:t>
            </a:r>
          </a:p>
          <a:p xmlns:a="http://schemas.openxmlformats.org/drawingml/2006/main">
            <a:r>
              <a:t>      "indices": [</a:t>
            </a:r>
          </a:p>
          <a:p xmlns:a="http://schemas.openxmlformats.org/drawingml/2006/main">
            <a:r>
              <a:t>        0,</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"1. 모빌리티 특화도시 사업지원",</a:t>
            </a:r>
          </a:p>
          <a:p xmlns:a="http://schemas.openxmlformats.org/drawingml/2006/main">
            <a:r>
              <a:t>        "6. 첨단모빌리티 시범사업과 대상지역 지정요청 접수"</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"1211290",</a:t>
            </a:r>
          </a:p>
          <a:p xmlns:a="http://schemas.openxmlformats.org/drawingml/2006/main">
            <a:r>
              <a:t>      "name": "드론관리처",</a:t>
            </a:r>
          </a:p>
          <a:p xmlns:a="http://schemas.openxmlformats.org/drawingml/2006/main">
            <a:r>
              <a:t>      "job": "드론 안전관리·연구",</a:t>
            </a:r>
          </a:p>
          <a:p xmlns:a="http://schemas.openxmlformats.org/drawingml/2006/main">
            <a:r>
              <a:t>      "indices": [</a:t>
            </a:r>
          </a:p>
          <a:p xmlns:a="http://schemas.openxmlformats.org/drawingml/2006/main">
            <a:r>
              <a:t>        1,</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"2. 초경량비행장치 사용사업체 안전관리 및 지도점검",</a:t>
            </a:r>
          </a:p>
          <a:p xmlns:a="http://schemas.openxmlformats.org/drawingml/2006/main">
            <a:r>
              <a:t>        "5. 무인비행장치(드론) 관련 신규사업 개발 및 안전연구(UTM, 안티드론, 드론택시․택배 등)"</a:t>
            </a:r>
          </a:p>
          <a:p xmlns:a="http://schemas.openxmlformats.org/drawingml/2006/main">
            <a:r>
              <a:t>      ],</a:t>
            </a:r>
          </a:p>
          <a:p xmlns:a="http://schemas.openxmlformats.org/drawingml/2006/main">
            <a:r>
              <a:t>      "locator": "별표4 · T45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"연결 법령 원장의 결함조사·실증·드론 신고 업무 활용 / 시험·인증 권한과 연구원 세부 직제의 별도 확인",</a:t>
            </a:r>
          </a:p>
          <a:p xmlns:a="http://schemas.openxmlformats.org/drawingml/2006/main">
            <a:r>
              <a:t>  "caseRefs": [</a:t>
            </a:r>
          </a:p>
          <a:p xmlns:a="http://schemas.openxmlformats.org/drawingml/2006/main">
            <a:r>
              <a:t>    {</a:t>
            </a:r>
          </a:p>
          <a:p xmlns:a="http://schemas.openxmlformats.org/drawingml/2006/main">
            <a:r>
              <a:t>      "caseId": "AX08",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"AX10",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"AX16",</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"AX17",</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"모빌리티 실증 증거·안전 검증",</a:t>
            </a:r>
          </a:p>
          <a:p xmlns:a="http://schemas.openxmlformats.org/drawingml/2006/main">
            <a:r>
              <a:t>  "delta": "실증 데이터·시험조건·사건 보고의 근거 연결",</a:t>
            </a:r>
          </a:p>
          <a:p xmlns:a="http://schemas.openxmlformats.org/drawingml/2006/main">
            <a:r>
              <a:t>  "kpi": "시험 증거 누락률 / 재현 성공률",</a:t>
            </a:r>
          </a:p>
          <a:p xmlns:a="http://schemas.openxmlformats.org/drawingml/2006/main">
            <a:r>
              <a:t>  "validation": "실증 조건·원시 로그·보고서 불일치 탐지",</a:t>
            </a:r>
          </a:p>
          <a:p xmlns:a="http://schemas.openxmlformats.org/drawingml/2006/main">
            <a:r>
              <a:t>  "requirement": "BM-ST-05-R01",</a:t>
            </a:r>
          </a:p>
          <a:p xmlns:a="http://schemas.openxmlformats.org/drawingml/2006/main">
            <a:r>
              <a:t>  "test": "BM-ST-05-T01",</a:t>
            </a:r>
          </a:p>
          <a:p xmlns:a="http://schemas.openxmlformats.org/drawingml/2006/main">
            <a:r>
              <a:t>  "effectStatus": "기대 방향 · TS 실측 전",</a:t>
            </a:r>
          </a:p>
          <a:p xmlns:a="http://schemas.openxmlformats.org/drawingml/2006/main">
            <a:r>
              <a:t>  "effect": "실증 검토 재작업·시험 증거 누락 감소",</a:t>
            </a:r>
          </a:p>
          <a:p xmlns:a="http://schemas.openxmlformats.org/drawingml/2006/main">
            <a:r>
              <a:t>  "reuse": "ON27-BASE / C27-COM + CCK 재사용 판정 기능",</a:t>
            </a:r>
          </a:p>
          <a:p xmlns:a="http://schemas.openxmlformats.org/drawingml/2006/main">
            <a:r>
              <a:t>  "input": "실증계획, 기술유형·운행조건, 시험결과, 사고 원시자료",</a:t>
            </a:r>
          </a:p>
          <a:p xmlns:a="http://schemas.openxmlformats.org/drawingml/2006/main">
            <a:r>
              <a:t>  "steps": [</a:t>
            </a:r>
          </a:p>
          <a:p xmlns:a="http://schemas.openxmlformats.org/drawingml/2006/main">
            <a:r>
              <a:t>    "기술·실증조건 분류",</a:t>
            </a:r>
          </a:p>
          <a:p xmlns:a="http://schemas.openxmlformats.org/drawingml/2006/main">
            <a:r>
              <a:t>    "요구조건–시험 연결",</a:t>
            </a:r>
          </a:p>
          <a:p xmlns:a="http://schemas.openxmlformats.org/drawingml/2006/main">
            <a:r>
              <a:t>    "결과·증거 완전성 점검",</a:t>
            </a:r>
          </a:p>
          <a:p xmlns:a="http://schemas.openxmlformats.org/drawingml/2006/main">
            <a:r>
              <a:t>    "조건 변경 후 재검토"</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"7000000",</a:t>
            </a:r>
          </a:p>
          <a:p xmlns:a="http://schemas.openxmlformats.org/drawingml/2006/main">
            <a:r>
              <a:t>      "name": "자동차안전연구원",</a:t>
            </a:r>
          </a:p>
          <a:p xmlns:a="http://schemas.openxmlformats.org/drawingml/2006/main">
            <a:r>
              <a:t>      "job": "미래차 안전 연구·평가",</a:t>
            </a:r>
          </a:p>
          <a:p xmlns:a="http://schemas.openxmlformats.org/drawingml/2006/main">
            <a:r>
              <a:t>      "indices": [],</a:t>
            </a:r>
          </a:p>
          <a:p xmlns:a="http://schemas.openxmlformats.org/drawingml/2006/main">
            <a:r>
              <a:t>      "duties": [],</a:t>
            </a:r>
          </a:p>
          <a:p xmlns:a="http://schemas.openxmlformats.org/drawingml/2006/main">
            <a:r>
              <a:t>      "locator": "자동차안전연구원 별도 직제시행세칙 대조 대상",</a:t>
            </a:r>
          </a:p>
          <a:p xmlns:a="http://schemas.openxmlformats.org/drawingml/2006/main">
            <a:r>
              <a:t>      "restriction": "별표4 부설기관: 자동차안전연구원 직제시행세칙에 따름 · 하부조직·직무·업무분장 별도 확인 필요",</a:t>
            </a:r>
          </a:p>
          <a:p xmlns:a="http://schemas.openxmlformats.org/drawingml/2006/main">
            <a:r>
              <a:t>      "status": "법령·업무 원장 기반 요약 / 세부 직제 확인",</a:t>
            </a:r>
          </a:p>
          <a:p xmlns:a="http://schemas.openxmlformats.org/drawingml/2006/main">
            <a:r>
              <a:t>      "workItems": []</a:t>
            </a:r>
          </a:p>
          <a:p xmlns:a="http://schemas.openxmlformats.org/drawingml/2006/main">
            <a:r>
              <a:t>    },</a:t>
            </a:r>
          </a:p>
          <a:p xmlns:a="http://schemas.openxmlformats.org/drawingml/2006/main">
            <a:r>
              <a:t>    {</a:t>
            </a:r>
          </a:p>
          <a:p xmlns:a="http://schemas.openxmlformats.org/drawingml/2006/main">
            <a:r>
              <a:t>      "code": "1029020",</a:t>
            </a:r>
          </a:p>
          <a:p xmlns:a="http://schemas.openxmlformats.org/drawingml/2006/main">
            <a:r>
              <a:t>      "name": "첨단연구개발처",</a:t>
            </a:r>
          </a:p>
          <a:p xmlns:a="http://schemas.openxmlformats.org/drawingml/2006/main">
            <a:r>
              <a:t>      "job": "미래차 검사기술 연구",</a:t>
            </a:r>
          </a:p>
          <a:p xmlns:a="http://schemas.openxmlformats.org/drawingml/2006/main">
            <a:r>
              <a:t>      "indices": [</a:t>
            </a:r>
          </a:p>
          <a:p xmlns:a="http://schemas.openxmlformats.org/drawingml/2006/main">
            <a:r>
              <a:t>        4,</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"5. 검사기준 및 검사방법 개발에 관한 업무",</a:t>
            </a:r>
          </a:p>
          <a:p xmlns:a="http://schemas.openxmlformats.org/drawingml/2006/main">
            <a:r>
              <a:t>        "8. 자율주행자동차 등 검사기술 개발"</a:t>
            </a:r>
          </a:p>
          <a:p xmlns:a="http://schemas.openxmlformats.org/drawingml/2006/main">
            <a:r>
              <a:t>      ],</a:t>
            </a:r>
          </a:p>
          <a:p xmlns:a="http://schemas.openxmlformats.org/drawingml/2006/main">
            <a:r>
              <a:t>      "locator": "별표4 · T43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"RULEWORK-1029020-5",</a:t>
            </a:r>
          </a:p>
          <a:p xmlns:a="http://schemas.openxmlformats.org/drawingml/2006/main">
            <a:r>
              <a:t>          "text": "5. 검사기준 및 검사방법 개발에 관한 업무",</a:t>
            </a:r>
          </a:p>
          <a:p xmlns:a="http://schemas.openxmlformats.org/drawingml/2006/main">
            <a:r>
              <a:t>          "locator": "별표4 · T43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"RULEWORK-1029020-5-R01",</a:t>
            </a:r>
          </a:p>
          <a:p xmlns:a="http://schemas.openxmlformats.org/drawingml/2006/main">
            <a:r>
              <a:t>              "title": "업무 맥락·전용 지식 구성",</a:t>
            </a:r>
          </a:p>
          <a:p xmlns:a="http://schemas.openxmlformats.org/drawingml/2006/main">
            <a:r>
              <a:t>              "development": "연구대상·가설·기준별 근거·시험항목 구성",</a:t>
            </a:r>
          </a:p>
          <a:p xmlns:a="http://schemas.openxmlformats.org/drawingml/2006/main">
            <a:r>
              <a:t>              "output": "기술 검토·시험 근거·연구 추적표",</a:t>
            </a:r>
          </a:p>
          <a:p xmlns:a="http://schemas.openxmlformats.org/drawingml/2006/main">
            <a:r>
              <a:t>              "testId": "RULEWORK-1029020-5-T01",</a:t>
            </a:r>
          </a:p>
          <a:p xmlns:a="http://schemas.openxmlformats.org/drawingml/2006/main">
            <a:r>
              <a:t>              "criterion": "인용 원문·시험 조건·계산·단위 대조"</a:t>
            </a:r>
          </a:p>
          <a:p xmlns:a="http://schemas.openxmlformats.org/drawingml/2006/main">
            <a:r>
              <a:t>            },</a:t>
            </a:r>
          </a:p>
          <a:p xmlns:a="http://schemas.openxmlformats.org/drawingml/2006/main">
            <a:r>
              <a:t>            {</a:t>
            </a:r>
          </a:p>
          <a:p xmlns:a="http://schemas.openxmlformats.org/drawingml/2006/main">
            <a:r>
              <a:t>              "id": "RULEWORK-1029020-5-R02",</a:t>
            </a:r>
          </a:p>
          <a:p xmlns:a="http://schemas.openxmlformats.org/drawingml/2006/main">
            <a:r>
              <a:t>              "title": "업무건·역할·시스템 연결",</a:t>
            </a:r>
          </a:p>
          <a:p xmlns:a="http://schemas.openxmlformats.org/drawingml/2006/main">
            <a:r>
              <a:t>              "development": "과제·실증 조건·시험자료·판본 추적",</a:t>
            </a:r>
          </a:p>
          <a:p xmlns:a="http://schemas.openxmlformats.org/drawingml/2006/main">
            <a:r>
              <a:t>              "output": "업무건·원천·역할·변경 연결 명세",</a:t>
            </a:r>
          </a:p>
          <a:p xmlns:a="http://schemas.openxmlformats.org/drawingml/2006/main">
            <a:r>
              <a:t>              "testId": "RULEWORK-1029020-5-T02",</a:t>
            </a:r>
          </a:p>
          <a:p xmlns:a="http://schemas.openxmlformats.org/drawingml/2006/main">
            <a:r>
              <a:t>              "criterion": "실험 미수행 결과·근거 없는 성능 확정 차단"</a:t>
            </a:r>
          </a:p>
          <a:p xmlns:a="http://schemas.openxmlformats.org/drawingml/2006/main">
            <a:r>
              <a:t>            },</a:t>
            </a:r>
          </a:p>
          <a:p xmlns:a="http://schemas.openxmlformats.org/drawingml/2006/main">
            <a:r>
              <a:t>            {</a:t>
            </a:r>
          </a:p>
          <a:p xmlns:a="http://schemas.openxmlformats.org/drawingml/2006/main">
            <a:r>
              <a:t>              "id": "RULEWORK-1029020-5-R03",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"RULEWORK-1029020-5-T03",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"RULEWORK-1029020-8",</a:t>
            </a:r>
          </a:p>
          <a:p xmlns:a="http://schemas.openxmlformats.org/drawingml/2006/main">
            <a:r>
              <a:t>          "text": "8. 자율주행자동차 등 검사기술 개발",</a:t>
            </a:r>
          </a:p>
          <a:p xmlns:a="http://schemas.openxmlformats.org/drawingml/2006/main">
            <a:r>
              <a:t>          "locator": "별표4 · T43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"RULEWORK-1029020-8-R01",</a:t>
            </a:r>
          </a:p>
          <a:p xmlns:a="http://schemas.openxmlformats.org/drawingml/2006/main">
            <a:r>
              <a:t>              "title": "업무 맥락·전용 지식 구성",</a:t>
            </a:r>
          </a:p>
          <a:p xmlns:a="http://schemas.openxmlformats.org/drawingml/2006/main">
            <a:r>
              <a:t>              "development": "차량·변경 유형별 기준·제출자료 선택",</a:t>
            </a:r>
          </a:p>
          <a:p xmlns:a="http://schemas.openxmlformats.org/drawingml/2006/main">
            <a:r>
              <a:t>              "output": "요건 대조표·보완·검사 인계 기록",</a:t>
            </a:r>
          </a:p>
          <a:p xmlns:a="http://schemas.openxmlformats.org/drawingml/2006/main">
            <a:r>
              <a:t>              "testId": "RULEWORK-1029020-8-T01",</a:t>
            </a:r>
          </a:p>
          <a:p xmlns:a="http://schemas.openxmlformats.org/drawingml/2006/main">
            <a:r>
              <a:t>              "criterion": "누락·상충·판본별 요건 정답셋 대조"</a:t>
            </a:r>
          </a:p>
          <a:p xmlns:a="http://schemas.openxmlformats.org/drawingml/2006/main">
            <a:r>
              <a:t>            },</a:t>
            </a:r>
          </a:p>
          <a:p xmlns:a="http://schemas.openxmlformats.org/drawingml/2006/main">
            <a:r>
              <a:t>            {</a:t>
            </a:r>
          </a:p>
          <a:p xmlns:a="http://schemas.openxmlformats.org/drawingml/2006/main">
            <a:r>
              <a:t>              "id": "RULEWORK-1029020-8-R02",</a:t>
            </a:r>
          </a:p>
          <a:p xmlns:a="http://schemas.openxmlformats.org/drawingml/2006/main">
            <a:r>
              <a:t>              "title": "업무건·역할·시스템 연결",</a:t>
            </a:r>
          </a:p>
          <a:p xmlns:a="http://schemas.openxmlformats.org/drawingml/2006/main">
            <a:r>
              <a:t>              "development": "신청–보완–검사–결과의 업무건·판본 연결",</a:t>
            </a:r>
          </a:p>
          <a:p xmlns:a="http://schemas.openxmlformats.org/drawingml/2006/main">
            <a:r>
              <a:t>              "output": "업무건·원천·역할·변경 연결 명세",</a:t>
            </a:r>
          </a:p>
          <a:p xmlns:a="http://schemas.openxmlformats.org/drawingml/2006/main">
            <a:r>
              <a:t>              "testId": "RULEWORK-1029020-8-T02",</a:t>
            </a:r>
          </a:p>
          <a:p xmlns:a="http://schemas.openxmlformats.org/drawingml/2006/main">
            <a:r>
              <a:t>              "criterion": "문서 검토와 현장 검사·공식 판정의 구분"</a:t>
            </a:r>
          </a:p>
          <a:p xmlns:a="http://schemas.openxmlformats.org/drawingml/2006/main">
            <a:r>
              <a:t>            },</a:t>
            </a:r>
          </a:p>
          <a:p xmlns:a="http://schemas.openxmlformats.org/drawingml/2006/main">
            <a:r>
              <a:t>            {</a:t>
            </a:r>
          </a:p>
          <a:p xmlns:a="http://schemas.openxmlformats.org/drawingml/2006/main">
            <a:r>
              <a:t>              "id": "RULEWORK-1029020-8-R03",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"RULEWORK-1029020-8-T03",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"1021020",</a:t>
            </a:r>
          </a:p>
          <a:p xmlns:a="http://schemas.openxmlformats.org/drawingml/2006/main">
            <a:r>
              <a:t>      "name": "규제혁신처",</a:t>
            </a:r>
          </a:p>
          <a:p xmlns:a="http://schemas.openxmlformats.org/drawingml/2006/main">
            <a:r>
              <a:t>      "job": "실증특례 접수·승인 지원",</a:t>
            </a:r>
          </a:p>
          <a:p xmlns:a="http://schemas.openxmlformats.org/drawingml/2006/main">
            <a:r>
              <a:t>      "indices": [</a:t>
            </a:r>
          </a:p>
          <a:p xmlns:a="http://schemas.openxmlformats.org/drawingml/2006/main">
            <a:r>
              <a:t>        1,</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"2. 모빌리티 실증특례 접수 및 승인 지원",</a:t>
            </a:r>
          </a:p>
          <a:p xmlns:a="http://schemas.openxmlformats.org/drawingml/2006/main">
            <a:r>
              <a:t>        "8. 실증특례 통합검토위원회 구성, 운영"</a:t>
            </a:r>
          </a:p>
          <a:p xmlns:a="http://schemas.openxmlformats.org/drawingml/2006/main">
            <a:r>
              <a:t>      ],</a:t>
            </a:r>
          </a:p>
          <a:p xmlns:a="http://schemas.openxmlformats.org/drawingml/2006/main">
            <a:r>
              <a:t>      "locator": "별표4 · T41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"RULEWORK-1021020-2",</a:t>
            </a:r>
          </a:p>
          <a:p xmlns:a="http://schemas.openxmlformats.org/drawingml/2006/main">
            <a:r>
              <a:t>          "text": "2. 모빌리티 실증특례 접수 및 승인 지원",</a:t>
            </a:r>
          </a:p>
          <a:p xmlns:a="http://schemas.openxmlformats.org/drawingml/2006/main">
            <a:r>
              <a:t>          "locator": "별표4 · T41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"RULEWORK-1021020-2-R01",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"RULEWORK-1021020-2-T01",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"RULEWORK-1021020-2-R02",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"RULEWORK-1021020-2-T02",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"RULEWORK-1021020-2-R03",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"RULEWORK-1021020-2-T03",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"RULEWORK-1021020-8",</a:t>
            </a:r>
          </a:p>
          <a:p xmlns:a="http://schemas.openxmlformats.org/drawingml/2006/main">
            <a:r>
              <a:t>          "text": "8. 실증특례 통합검토위원회 구성, 운영",</a:t>
            </a:r>
          </a:p>
          <a:p xmlns:a="http://schemas.openxmlformats.org/drawingml/2006/main">
            <a:r>
              <a:t>          "locator": "별표4 · T41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"RULEWORK-1021020-8-R01",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"RULEWORK-1021020-8-T01",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"RULEWORK-1021020-8-R02",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"RULEWORK-1021020-8-T02",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"RULEWORK-1021020-8-R03",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"RULEWORK-1021020-8-T03",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"특화도시·시범사업 지원",</a:t>
            </a:r>
          </a:p>
          <a:p xmlns:a="http://schemas.openxmlformats.org/drawingml/2006/main">
            <a:r>
              <a:t>      "indices": [</a:t>
            </a:r>
          </a:p>
          <a:p xmlns:a="http://schemas.openxmlformats.org/drawingml/2006/main">
            <a:r>
              <a:t>        0,</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"1. 모빌리티 특화도시 사업지원",</a:t>
            </a:r>
          </a:p>
          <a:p xmlns:a="http://schemas.openxmlformats.org/drawingml/2006/main">
            <a:r>
              <a:t>        "6. 첨단모빌리티 시범사업과 대상지역 지정요청 접수"</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"RULEWORK-1021030-1",</a:t>
            </a:r>
          </a:p>
          <a:p xmlns:a="http://schemas.openxmlformats.org/drawingml/2006/main">
            <a:r>
              <a:t>          "text": "1. 모빌리티 특화도시 사업지원",</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"RULEWORK-1021030-1-R01",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"RULEWORK-1021030-1-T01",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"RULEWORK-1021030-1-R02",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"RULEWORK-1021030-1-T02",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"RULEWORK-1021030-6",</a:t>
            </a:r>
          </a:p>
          <a:p xmlns:a="http://schemas.openxmlformats.org/drawingml/2006/main">
            <a:r>
              <a:t>          "text": "6. 첨단모빌리티 시범사업과 대상지역 지정요청 접수",</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"RULEWORK-1021030-6-R01",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"RULEWORK-1021030-6-T01",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"RULEWORK-1021030-6-R02",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"RULEWORK-1021030-6-T02",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"1211290",</a:t>
            </a:r>
          </a:p>
          <a:p xmlns:a="http://schemas.openxmlformats.org/drawingml/2006/main">
            <a:r>
              <a:t>      "name": "드론관리처",</a:t>
            </a:r>
          </a:p>
          <a:p xmlns:a="http://schemas.openxmlformats.org/drawingml/2006/main">
            <a:r>
              <a:t>      "job": "드론 안전관리·연구",</a:t>
            </a:r>
          </a:p>
          <a:p xmlns:a="http://schemas.openxmlformats.org/drawingml/2006/main">
            <a:r>
              <a:t>      "indices": [</a:t>
            </a:r>
          </a:p>
          <a:p xmlns:a="http://schemas.openxmlformats.org/drawingml/2006/main">
            <a:r>
              <a:t>        1,</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"2. 초경량비행장치 사용사업체 안전관리 및 지도점검",</a:t>
            </a:r>
          </a:p>
          <a:p xmlns:a="http://schemas.openxmlformats.org/drawingml/2006/main">
            <a:r>
              <a:t>        "5. 무인비행장치(드론) 관련 신규사업 개발 및 안전연구(UTM, 안티드론, 드론택시․택배 등)"</a:t>
            </a:r>
          </a:p>
          <a:p xmlns:a="http://schemas.openxmlformats.org/drawingml/2006/main">
            <a:r>
              <a:t>      ],</a:t>
            </a:r>
          </a:p>
          <a:p xmlns:a="http://schemas.openxmlformats.org/drawingml/2006/main">
            <a:r>
              <a:t>      "locator": "별표4 · T45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"RULEWORK-1211290-2",</a:t>
            </a:r>
          </a:p>
          <a:p xmlns:a="http://schemas.openxmlformats.org/drawingml/2006/main">
            <a:r>
              <a:t>          "text": "2. 초경량비행장치 사용사업체 안전관리 및 지도점검",</a:t>
            </a:r>
          </a:p>
          <a:p xmlns:a="http://schemas.openxmlformats.org/drawingml/2006/main">
            <a:r>
              <a:t>          "locator": "별표4 · T45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"RULEWORK-1211290-2-R01",</a:t>
            </a:r>
          </a:p>
          <a:p xmlns:a="http://schemas.openxmlformats.org/drawingml/2006/main">
            <a:r>
              <a:t>              "title": "업무 맥락·전용 지식 구성",</a:t>
            </a:r>
          </a:p>
          <a:p xmlns:a="http://schemas.openxmlformats.org/drawingml/2006/main">
            <a:r>
              <a:t>              "development": "기체·임무·운영 범위별 요건 분류",</a:t>
            </a:r>
          </a:p>
          <a:p xmlns:a="http://schemas.openxmlformats.org/drawingml/2006/main">
            <a:r>
              <a:t>              "output": "요건·위험·보완·인계 검토자료",</a:t>
            </a:r>
          </a:p>
          <a:p xmlns:a="http://schemas.openxmlformats.org/drawingml/2006/main">
            <a:r>
              <a:t>              "testId": "RULEWORK-1211290-2-T01",</a:t>
            </a:r>
          </a:p>
          <a:p xmlns:a="http://schemas.openxmlformats.org/drawingml/2006/main">
            <a:r>
              <a:t>              "criterion": "운영 조건·서류 요건·근거 조항 대조"</a:t>
            </a:r>
          </a:p>
          <a:p xmlns:a="http://schemas.openxmlformats.org/drawingml/2006/main">
            <a:r>
              <a:t>            },</a:t>
            </a:r>
          </a:p>
          <a:p xmlns:a="http://schemas.openxmlformats.org/drawingml/2006/main">
            <a:r>
              <a:t>            {</a:t>
            </a:r>
          </a:p>
          <a:p xmlns:a="http://schemas.openxmlformats.org/drawingml/2006/main">
            <a:r>
              <a:t>              "id": "RULEWORK-1211290-2-R02",</a:t>
            </a:r>
          </a:p>
          <a:p xmlns:a="http://schemas.openxmlformats.org/drawingml/2006/main">
            <a:r>
              <a:t>              "title": "업무건·역할·시스템 연결",</a:t>
            </a:r>
          </a:p>
          <a:p xmlns:a="http://schemas.openxmlformats.org/drawingml/2006/main">
            <a:r>
              <a:t>              "development": "신고·검토·보완·공식 결과의 판본 추적",</a:t>
            </a:r>
          </a:p>
          <a:p xmlns:a="http://schemas.openxmlformats.org/drawingml/2006/main">
            <a:r>
              <a:t>              "output": "업무건·원천·역할·변경 연결 명세",</a:t>
            </a:r>
          </a:p>
          <a:p xmlns:a="http://schemas.openxmlformats.org/drawingml/2006/main">
            <a:r>
              <a:t>              "testId": "RULEWORK-1211290-2-T02",</a:t>
            </a:r>
          </a:p>
          <a:p xmlns:a="http://schemas.openxmlformats.org/drawingml/2006/main">
            <a:r>
              <a:t>              "criterion": "공식 비행 허가·안전 판정의 자동 확정 차단"</a:t>
            </a:r>
          </a:p>
          <a:p xmlns:a="http://schemas.openxmlformats.org/drawingml/2006/main">
            <a:r>
              <a:t>            },</a:t>
            </a:r>
          </a:p>
          <a:p xmlns:a="http://schemas.openxmlformats.org/drawingml/2006/main">
            <a:r>
              <a:t>            {</a:t>
            </a:r>
          </a:p>
          <a:p xmlns:a="http://schemas.openxmlformats.org/drawingml/2006/main">
            <a:r>
              <a:t>              "id": "RULEWORK-1211290-2-R03",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"RULEWORK-1211290-2-T03",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"RULEWORK-1211290-5",</a:t>
            </a:r>
          </a:p>
          <a:p xmlns:a="http://schemas.openxmlformats.org/drawingml/2006/main">
            <a:r>
              <a:t>          "text": "5. 무인비행장치(드론) 관련 신규사업 개발 및 안전연구(UTM, 안티드론, 드론택시․택배 등)",</a:t>
            </a:r>
          </a:p>
          <a:p xmlns:a="http://schemas.openxmlformats.org/drawingml/2006/main">
            <a:r>
              <a:t>          "locator": "별표4 · T45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"RULEWORK-1211290-5-R01",</a:t>
            </a:r>
          </a:p>
          <a:p xmlns:a="http://schemas.openxmlformats.org/drawingml/2006/main">
            <a:r>
              <a:t>              "title": "업무 맥락·전용 지식 구성",</a:t>
            </a:r>
          </a:p>
          <a:p xmlns:a="http://schemas.openxmlformats.org/drawingml/2006/main">
            <a:r>
              <a:t>              "development": "기체·임무·운영 범위별 요건 분류",</a:t>
            </a:r>
          </a:p>
          <a:p xmlns:a="http://schemas.openxmlformats.org/drawingml/2006/main">
            <a:r>
              <a:t>              "output": "요건·위험·보완·인계 검토자료",</a:t>
            </a:r>
          </a:p>
          <a:p xmlns:a="http://schemas.openxmlformats.org/drawingml/2006/main">
            <a:r>
              <a:t>              "testId": "RULEWORK-1211290-5-T01",</a:t>
            </a:r>
          </a:p>
          <a:p xmlns:a="http://schemas.openxmlformats.org/drawingml/2006/main">
            <a:r>
              <a:t>              "criterion": "운영 조건·서류 요건·근거 조항 대조"</a:t>
            </a:r>
          </a:p>
          <a:p xmlns:a="http://schemas.openxmlformats.org/drawingml/2006/main">
            <a:r>
              <a:t>            },</a:t>
            </a:r>
          </a:p>
          <a:p xmlns:a="http://schemas.openxmlformats.org/drawingml/2006/main">
            <a:r>
              <a:t>            {</a:t>
            </a:r>
          </a:p>
          <a:p xmlns:a="http://schemas.openxmlformats.org/drawingml/2006/main">
            <a:r>
              <a:t>              "id": "RULEWORK-1211290-5-R02",</a:t>
            </a:r>
          </a:p>
          <a:p xmlns:a="http://schemas.openxmlformats.org/drawingml/2006/main">
            <a:r>
              <a:t>              "title": "업무건·역할·시스템 연결",</a:t>
            </a:r>
          </a:p>
          <a:p xmlns:a="http://schemas.openxmlformats.org/drawingml/2006/main">
            <a:r>
              <a:t>              "development": "신고·검토·보완·공식 결과의 판본 추적",</a:t>
            </a:r>
          </a:p>
          <a:p xmlns:a="http://schemas.openxmlformats.org/drawingml/2006/main">
            <a:r>
              <a:t>              "output": "업무건·원천·역할·변경 연결 명세",</a:t>
            </a:r>
          </a:p>
          <a:p xmlns:a="http://schemas.openxmlformats.org/drawingml/2006/main">
            <a:r>
              <a:t>              "testId": "RULEWORK-1211290-5-T02",</a:t>
            </a:r>
          </a:p>
          <a:p xmlns:a="http://schemas.openxmlformats.org/drawingml/2006/main">
            <a:r>
              <a:t>              "criterion": "공식 비행 허가·안전 판정의 자동 확정 차단"</a:t>
            </a:r>
          </a:p>
          <a:p xmlns:a="http://schemas.openxmlformats.org/drawingml/2006/main">
            <a:r>
              <a:t>            },</a:t>
            </a:r>
          </a:p>
          <a:p xmlns:a="http://schemas.openxmlformats.org/drawingml/2006/main">
            <a:r>
              <a:t>            {</a:t>
            </a:r>
          </a:p>
          <a:p xmlns:a="http://schemas.openxmlformats.org/drawingml/2006/main">
            <a:r>
              <a:t>              "id": "RULEWORK-1211290-5-R03",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"RULEWORK-1211290-5-T03",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기술 기준 검색"</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"JET·Audin의 구조화 검토·증거 대사"</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"실증조건–요구조건–시험 ID 연결",</a:t>
            </a:r>
          </a:p>
          <a:p xmlns:a="http://schemas.openxmlformats.org/drawingml/2006/main">
            <a:r>
              <a:t>    "조건 변경 영향·재검증 목록"</a:t>
            </a:r>
          </a:p>
          <a:p xmlns:a="http://schemas.openxmlformats.org/drawingml/2006/main">
            <a:r>
              <a:t>  ],</a:t>
            </a:r>
          </a:p>
          <a:p xmlns:a="http://schemas.openxmlformats.org/drawingml/2006/main">
            <a:r>
              <a:t>  "acceptancePlan": {</a:t>
            </a:r>
          </a:p>
          <a:p xmlns:a="http://schemas.openxmlformats.org/drawingml/2006/main">
            <a:r>
              <a:t>    "sample": "운행조건 변경, 로그 누락, 시험판본 불일치",</a:t>
            </a:r>
          </a:p>
          <a:p xmlns:a="http://schemas.openxmlformats.org/drawingml/2006/main">
            <a:r>
              <a:t>    "criterion": "변경 영향 시험 재선정·증거 미비 보류",</a:t>
            </a:r>
          </a:p>
          <a:p xmlns:a="http://schemas.openxmlformats.org/drawingml/2006/main">
            <a:r>
              <a:t>    "evidence": "요구–시험–증거 추적표·재검증 결과",</a:t>
            </a:r>
          </a:p>
          <a:p xmlns:a="http://schemas.openxmlformats.org/drawingml/2006/main">
            <a:r>
              <a:t>    "execution": "미실행"</a:t>
            </a:r>
          </a:p>
          <a:p xmlns:a="http://schemas.openxmlformats.org/drawingml/2006/main">
            <a:r>
              <a:t>  },</a:t>
            </a:r>
          </a:p>
          <a:p xmlns:a="http://schemas.openxmlformats.org/drawingml/2006/main">
            <a:r>
              <a:t>  "formula": "증거 연결 완료 시험 수 ÷ 대상 시험 수 / 변경 후 재검토 소요시간",</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"ST-05",</a:t>
            </a:r>
          </a:p>
          <a:p xmlns:a="http://schemas.openxmlformats.org/drawingml/2006/main">
            <a:r>
              <a:t>  "number": 5,</a:t>
            </a:r>
          </a:p>
          <a:p xmlns:a="http://schemas.openxmlformats.org/drawingml/2006/main">
            <a:r>
              <a:t>  "direction": "지능형 미래 모빌리티 혁신",</a:t>
            </a:r>
          </a:p>
          <a:p xmlns:a="http://schemas.openxmlformats.org/drawingml/2006/main">
            <a:r>
              <a:t>  "strategy": "K-AI 기반 안전한 미래 모빌리티 실현",</a:t>
            </a:r>
          </a:p>
          <a:p xmlns:a="http://schemas.openxmlformats.org/drawingml/2006/main">
            <a:r>
              <a:t>  "solution": "미래 모빌리티 검증·실증 지원",</a:t>
            </a:r>
          </a:p>
          <a:p xmlns:a="http://schemas.openxmlformats.org/drawingml/2006/main">
            <a:r>
              <a:t>  "lawIds": [</a:t>
            </a:r>
          </a:p>
          <a:p xmlns:a="http://schemas.openxmlformats.org/drawingml/2006/main">
            <a:r>
              <a:t>    "L09",</a:t>
            </a:r>
          </a:p>
          <a:p xmlns:a="http://schemas.openxmlformats.org/drawingml/2006/main">
            <a:r>
              <a:t>    "L18",</a:t>
            </a:r>
          </a:p>
          <a:p xmlns:a="http://schemas.openxmlformats.org/drawingml/2006/main">
            <a:r>
              <a:t>    "L19",</a:t>
            </a:r>
          </a:p>
          <a:p xmlns:a="http://schemas.openxmlformats.org/drawingml/2006/main">
            <a:r>
              <a:t>    "L27"</a:t>
            </a:r>
          </a:p>
          <a:p xmlns:a="http://schemas.openxmlformats.org/drawingml/2006/main">
            <a:r>
              <a:t>  ],</a:t>
            </a:r>
          </a:p>
          <a:p xmlns:a="http://schemas.openxmlformats.org/drawingml/2006/main">
            <a:r>
              <a:t>  "codes": [</a:t>
            </a:r>
          </a:p>
          <a:p xmlns:a="http://schemas.openxmlformats.org/drawingml/2006/main">
            <a:r>
              <a:t>    "7000000",</a:t>
            </a:r>
          </a:p>
          <a:p xmlns:a="http://schemas.openxmlformats.org/drawingml/2006/main">
            <a:r>
              <a:t>    "1029020",</a:t>
            </a:r>
          </a:p>
          <a:p xmlns:a="http://schemas.openxmlformats.org/drawingml/2006/main">
            <a:r>
              <a:t>    "1021020",</a:t>
            </a:r>
          </a:p>
          <a:p xmlns:a="http://schemas.openxmlformats.org/drawingml/2006/main">
            <a:r>
              <a:t>    "1021030",</a:t>
            </a:r>
          </a:p>
          <a:p xmlns:a="http://schemas.openxmlformats.org/drawingml/2006/main">
            <a:r>
              <a:t>    "1211290"</a:t>
            </a:r>
          </a:p>
          <a:p xmlns:a="http://schemas.openxmlformats.org/drawingml/2006/main">
            <a:r>
              <a:t>  ],</a:t>
            </a:r>
          </a:p>
          <a:p xmlns:a="http://schemas.openxmlformats.org/drawingml/2006/main">
            <a:r>
              <a:t>  "work": "미래차·드론·모빌리티 실증의 기준·시험·검토 업무",</a:t>
            </a:r>
          </a:p>
          <a:p xmlns:a="http://schemas.openxmlformats.org/drawingml/2006/main">
            <a:r>
              <a:t>  "features": [</a:t>
            </a:r>
          </a:p>
          <a:p xmlns:a="http://schemas.openxmlformats.org/drawingml/2006/main">
            <a:r>
              <a:t>    "기술유형별 요구조건·시험계획·증빙 구조화",</a:t>
            </a:r>
          </a:p>
          <a:p xmlns:a="http://schemas.openxmlformats.org/drawingml/2006/main">
            <a:r>
              <a:t>    "조건 변경에 따른 검증 항목 재구성"</a:t>
            </a:r>
          </a:p>
          <a:p xmlns:a="http://schemas.openxmlformats.org/drawingml/2006/main">
            <a:r>
              <a:t>  ],</a:t>
            </a:r>
          </a:p>
          <a:p xmlns:a="http://schemas.openxmlformats.org/drawingml/2006/main">
            <a:r>
              <a:t>  "output": "시험·실증 근거 패키지",</a:t>
            </a:r>
          </a:p>
          <a:p xmlns:a="http://schemas.openxmlformats.org/drawingml/2006/main">
            <a:r>
              <a:t>  "acceptance": "요구조건–시험–증거 추적과 변경 후 재검토 여부 확인",</a:t>
            </a:r>
          </a:p>
          <a:p xmlns:a="http://schemas.openxmlformats.org/drawingml/2006/main">
            <a:r>
              <a:t>  "phase": "공통 기반 인수 후 부서별 적용",</a:t>
            </a:r>
          </a:p>
          <a:p xmlns:a="http://schemas.openxmlformats.org/drawingml/2006/main">
            <a:r>
              <a:t>  "packages": [</a:t>
            </a:r>
          </a:p>
          <a:p xmlns:a="http://schemas.openxmlformats.org/drawingml/2006/main">
            <a:r>
              <a:t>    "ON-W04",</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"GAI-T05",</a:t>
            </a:r>
          </a:p>
          <a:p xmlns:a="http://schemas.openxmlformats.org/drawingml/2006/main">
            <a:r>
              <a:t>    "GAI-T06",</a:t>
            </a:r>
          </a:p>
          <a:p xmlns:a="http://schemas.openxmlformats.org/drawingml/2006/main">
            <a:r>
              <a:t>    "GAI-T09",</a:t>
            </a:r>
          </a:p>
          <a:p xmlns:a="http://schemas.openxmlformats.org/drawingml/2006/main">
            <a:r>
              <a:t>    "GAI-T12"</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"7000000",</a:t>
            </a:r>
          </a:p>
          <a:p xmlns:a="http://schemas.openxmlformats.org/drawingml/2006/main">
            <a:r>
              <a:t>      "name": "자동차안전연구원",</a:t>
            </a:r>
          </a:p>
          <a:p xmlns:a="http://schemas.openxmlformats.org/drawingml/2006/main">
            <a:r>
              <a:t>      "job": "미래차 안전 연구·평가",</a:t>
            </a:r>
          </a:p>
          <a:p xmlns:a="http://schemas.openxmlformats.org/drawingml/2006/main">
            <a:r>
              <a:t>      "indices": [],</a:t>
            </a:r>
          </a:p>
          <a:p xmlns:a="http://schemas.openxmlformats.org/drawingml/2006/main">
            <a:r>
              <a:t>      "duties": [],</a:t>
            </a:r>
          </a:p>
          <a:p xmlns:a="http://schemas.openxmlformats.org/drawingml/2006/main">
            <a:r>
              <a:t>      "locator": "자동차안전연구원 별도 직제시행세칙 대조 대상",</a:t>
            </a:r>
          </a:p>
          <a:p xmlns:a="http://schemas.openxmlformats.org/drawingml/2006/main">
            <a:r>
              <a:t>      "restriction": "별표4 부설기관: 자동차안전연구원 직제시행세칙에 따름 · 하부조직·직무·업무분장 별도 확인 필요",</a:t>
            </a:r>
          </a:p>
          <a:p xmlns:a="http://schemas.openxmlformats.org/drawingml/2006/main">
            <a:r>
              <a:t>      "status": "법령·업무 원장 기반 요약 / 세부 직제 확인"</a:t>
            </a:r>
          </a:p>
          <a:p xmlns:a="http://schemas.openxmlformats.org/drawingml/2006/main">
            <a:r>
              <a:t>    },</a:t>
            </a:r>
          </a:p>
          <a:p xmlns:a="http://schemas.openxmlformats.org/drawingml/2006/main">
            <a:r>
              <a:t>    {</a:t>
            </a:r>
          </a:p>
          <a:p xmlns:a="http://schemas.openxmlformats.org/drawingml/2006/main">
            <a:r>
              <a:t>      "code": "1029020",</a:t>
            </a:r>
          </a:p>
          <a:p xmlns:a="http://schemas.openxmlformats.org/drawingml/2006/main">
            <a:r>
              <a:t>      "name": "첨단연구개발처",</a:t>
            </a:r>
          </a:p>
          <a:p xmlns:a="http://schemas.openxmlformats.org/drawingml/2006/main">
            <a:r>
              <a:t>      "job": "미래차 검사기술 연구",</a:t>
            </a:r>
          </a:p>
          <a:p xmlns:a="http://schemas.openxmlformats.org/drawingml/2006/main">
            <a:r>
              <a:t>      "indices": [</a:t>
            </a:r>
          </a:p>
          <a:p xmlns:a="http://schemas.openxmlformats.org/drawingml/2006/main">
            <a:r>
              <a:t>        4,</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"5. 검사기준 및 검사방법 개발에 관한 업무",</a:t>
            </a:r>
          </a:p>
          <a:p xmlns:a="http://schemas.openxmlformats.org/drawingml/2006/main">
            <a:r>
              <a:t>        "8. 자율주행자동차 등 검사기술 개발"</a:t>
            </a:r>
          </a:p>
          <a:p xmlns:a="http://schemas.openxmlformats.org/drawingml/2006/main">
            <a:r>
              <a:t>      ],</a:t>
            </a:r>
          </a:p>
          <a:p xmlns:a="http://schemas.openxmlformats.org/drawingml/2006/main">
            <a:r>
              <a:t>      "locator": "별표4 · T43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"1021020",</a:t>
            </a:r>
          </a:p>
          <a:p xmlns:a="http://schemas.openxmlformats.org/drawingml/2006/main">
            <a:r>
              <a:t>      "name": "규제혁신처",</a:t>
            </a:r>
          </a:p>
          <a:p xmlns:a="http://schemas.openxmlformats.org/drawingml/2006/main">
            <a:r>
              <a:t>      "job": "실증특례 접수·승인 지원",</a:t>
            </a:r>
          </a:p>
          <a:p xmlns:a="http://schemas.openxmlformats.org/drawingml/2006/main">
            <a:r>
              <a:t>      "indices": [</a:t>
            </a:r>
          </a:p>
          <a:p xmlns:a="http://schemas.openxmlformats.org/drawingml/2006/main">
            <a:r>
              <a:t>        1,</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"2. 모빌리티 실증특례 접수 및 승인 지원",</a:t>
            </a:r>
          </a:p>
          <a:p xmlns:a="http://schemas.openxmlformats.org/drawingml/2006/main">
            <a:r>
              <a:t>        "8. 실증특례 통합검토위원회 구성, 운영"</a:t>
            </a:r>
          </a:p>
          <a:p xmlns:a="http://schemas.openxmlformats.org/drawingml/2006/main">
            <a:r>
              <a:t>      ],</a:t>
            </a:r>
          </a:p>
          <a:p xmlns:a="http://schemas.openxmlformats.org/drawingml/2006/main">
            <a:r>
              <a:t>      "locator": "별표4 · T41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"특화도시·시범사업 지원",</a:t>
            </a:r>
          </a:p>
          <a:p xmlns:a="http://schemas.openxmlformats.org/drawingml/2006/main">
            <a:r>
              <a:t>      "indices": [</a:t>
            </a:r>
          </a:p>
          <a:p xmlns:a="http://schemas.openxmlformats.org/drawingml/2006/main">
            <a:r>
              <a:t>        0,</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"1. 모빌리티 특화도시 사업지원",</a:t>
            </a:r>
          </a:p>
          <a:p xmlns:a="http://schemas.openxmlformats.org/drawingml/2006/main">
            <a:r>
              <a:t>        "6. 첨단모빌리티 시범사업과 대상지역 지정요청 접수"</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"1211290",</a:t>
            </a:r>
          </a:p>
          <a:p xmlns:a="http://schemas.openxmlformats.org/drawingml/2006/main">
            <a:r>
              <a:t>      "name": "드론관리처",</a:t>
            </a:r>
          </a:p>
          <a:p xmlns:a="http://schemas.openxmlformats.org/drawingml/2006/main">
            <a:r>
              <a:t>      "job": "드론 안전관리·연구",</a:t>
            </a:r>
          </a:p>
          <a:p xmlns:a="http://schemas.openxmlformats.org/drawingml/2006/main">
            <a:r>
              <a:t>      "indices": [</a:t>
            </a:r>
          </a:p>
          <a:p xmlns:a="http://schemas.openxmlformats.org/drawingml/2006/main">
            <a:r>
              <a:t>        1,</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"2. 초경량비행장치 사용사업체 안전관리 및 지도점검",</a:t>
            </a:r>
          </a:p>
          <a:p xmlns:a="http://schemas.openxmlformats.org/drawingml/2006/main">
            <a:r>
              <a:t>        "5. 무인비행장치(드론) 관련 신규사업 개발 및 안전연구(UTM, 안티드론, 드론택시․택배 등)"</a:t>
            </a:r>
          </a:p>
          <a:p xmlns:a="http://schemas.openxmlformats.org/drawingml/2006/main">
            <a:r>
              <a:t>      ],</a:t>
            </a:r>
          </a:p>
          <a:p xmlns:a="http://schemas.openxmlformats.org/drawingml/2006/main">
            <a:r>
              <a:t>      "locator": "별표4 · T45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"연결 법령 원장의 결함조사·실증·드론 신고 업무 활용 / 시험·인증 권한과 연구원 세부 직제의 별도 확인",</a:t>
            </a:r>
          </a:p>
          <a:p xmlns:a="http://schemas.openxmlformats.org/drawingml/2006/main">
            <a:r>
              <a:t>  "caseRefs": [</a:t>
            </a:r>
          </a:p>
          <a:p xmlns:a="http://schemas.openxmlformats.org/drawingml/2006/main">
            <a:r>
              <a:t>    {</a:t>
            </a:r>
          </a:p>
          <a:p xmlns:a="http://schemas.openxmlformats.org/drawingml/2006/main">
            <a:r>
              <a:t>      "caseId": "AX08",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"AX10",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"AX16",</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"AX17",</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"모빌리티 실증 증거·안전 검증",</a:t>
            </a:r>
          </a:p>
          <a:p xmlns:a="http://schemas.openxmlformats.org/drawingml/2006/main">
            <a:r>
              <a:t>  "delta": "실증 데이터·시험조건·사건 보고의 근거 연결",</a:t>
            </a:r>
          </a:p>
          <a:p xmlns:a="http://schemas.openxmlformats.org/drawingml/2006/main">
            <a:r>
              <a:t>  "kpi": "시험 증거 누락률 / 재현 성공률",</a:t>
            </a:r>
          </a:p>
          <a:p xmlns:a="http://schemas.openxmlformats.org/drawingml/2006/main">
            <a:r>
              <a:t>  "validation": "실증 조건·원시 로그·보고서 불일치 탐지",</a:t>
            </a:r>
          </a:p>
          <a:p xmlns:a="http://schemas.openxmlformats.org/drawingml/2006/main">
            <a:r>
              <a:t>  "requirement": "BM-ST-05-R01",</a:t>
            </a:r>
          </a:p>
          <a:p xmlns:a="http://schemas.openxmlformats.org/drawingml/2006/main">
            <a:r>
              <a:t>  "test": "BM-ST-05-T01",</a:t>
            </a:r>
          </a:p>
          <a:p xmlns:a="http://schemas.openxmlformats.org/drawingml/2006/main">
            <a:r>
              <a:t>  "effectStatus": "기대 방향 · TS 실측 전",</a:t>
            </a:r>
          </a:p>
          <a:p xmlns:a="http://schemas.openxmlformats.org/drawingml/2006/main">
            <a:r>
              <a:t>  "effect": "실증 검토 재작업·시험 증거 누락 감소",</a:t>
            </a:r>
          </a:p>
          <a:p xmlns:a="http://schemas.openxmlformats.org/drawingml/2006/main">
            <a:r>
              <a:t>  "reuse": "ON27-BASE / C27-COM + CCK 재사용 판정 기능",</a:t>
            </a:r>
          </a:p>
          <a:p xmlns:a="http://schemas.openxmlformats.org/drawingml/2006/main">
            <a:r>
              <a:t>  "input": "실증계획, 기술유형·운행조건, 시험결과, 사고 원시자료",</a:t>
            </a:r>
          </a:p>
          <a:p xmlns:a="http://schemas.openxmlformats.org/drawingml/2006/main">
            <a:r>
              <a:t>  "steps": [</a:t>
            </a:r>
          </a:p>
          <a:p xmlns:a="http://schemas.openxmlformats.org/drawingml/2006/main">
            <a:r>
              <a:t>    "기술·실증조건 분류",</a:t>
            </a:r>
          </a:p>
          <a:p xmlns:a="http://schemas.openxmlformats.org/drawingml/2006/main">
            <a:r>
              <a:t>    "요구조건–시험 연결",</a:t>
            </a:r>
          </a:p>
          <a:p xmlns:a="http://schemas.openxmlformats.org/drawingml/2006/main">
            <a:r>
              <a:t>    "결과·증거 완전성 점검",</a:t>
            </a:r>
          </a:p>
          <a:p xmlns:a="http://schemas.openxmlformats.org/drawingml/2006/main">
            <a:r>
              <a:t>    "조건 변경 후 재검토"</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"7000000",</a:t>
            </a:r>
          </a:p>
          <a:p xmlns:a="http://schemas.openxmlformats.org/drawingml/2006/main">
            <a:r>
              <a:t>      "name": "자동차안전연구원",</a:t>
            </a:r>
          </a:p>
          <a:p xmlns:a="http://schemas.openxmlformats.org/drawingml/2006/main">
            <a:r>
              <a:t>      "job": "미래차 안전 연구·평가",</a:t>
            </a:r>
          </a:p>
          <a:p xmlns:a="http://schemas.openxmlformats.org/drawingml/2006/main">
            <a:r>
              <a:t>      "indices": [],</a:t>
            </a:r>
          </a:p>
          <a:p xmlns:a="http://schemas.openxmlformats.org/drawingml/2006/main">
            <a:r>
              <a:t>      "duties": [],</a:t>
            </a:r>
          </a:p>
          <a:p xmlns:a="http://schemas.openxmlformats.org/drawingml/2006/main">
            <a:r>
              <a:t>      "locator": "자동차안전연구원 별도 직제시행세칙 대조 대상",</a:t>
            </a:r>
          </a:p>
          <a:p xmlns:a="http://schemas.openxmlformats.org/drawingml/2006/main">
            <a:r>
              <a:t>      "restriction": "별표4 부설기관: 자동차안전연구원 직제시행세칙에 따름 · 하부조직·직무·업무분장 별도 확인 필요",</a:t>
            </a:r>
          </a:p>
          <a:p xmlns:a="http://schemas.openxmlformats.org/drawingml/2006/main">
            <a:r>
              <a:t>      "status": "법령·업무 원장 기반 요약 / 세부 직제 확인",</a:t>
            </a:r>
          </a:p>
          <a:p xmlns:a="http://schemas.openxmlformats.org/drawingml/2006/main">
            <a:r>
              <a:t>      "workItems": []</a:t>
            </a:r>
          </a:p>
          <a:p xmlns:a="http://schemas.openxmlformats.org/drawingml/2006/main">
            <a:r>
              <a:t>    },</a:t>
            </a:r>
          </a:p>
          <a:p xmlns:a="http://schemas.openxmlformats.org/drawingml/2006/main">
            <a:r>
              <a:t>    {</a:t>
            </a:r>
          </a:p>
          <a:p xmlns:a="http://schemas.openxmlformats.org/drawingml/2006/main">
            <a:r>
              <a:t>      "code": "1029020",</a:t>
            </a:r>
          </a:p>
          <a:p xmlns:a="http://schemas.openxmlformats.org/drawingml/2006/main">
            <a:r>
              <a:t>      "name": "첨단연구개발처",</a:t>
            </a:r>
          </a:p>
          <a:p xmlns:a="http://schemas.openxmlformats.org/drawingml/2006/main">
            <a:r>
              <a:t>      "job": "미래차 검사기술 연구",</a:t>
            </a:r>
          </a:p>
          <a:p xmlns:a="http://schemas.openxmlformats.org/drawingml/2006/main">
            <a:r>
              <a:t>      "indices": [</a:t>
            </a:r>
          </a:p>
          <a:p xmlns:a="http://schemas.openxmlformats.org/drawingml/2006/main">
            <a:r>
              <a:t>        4,</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"5. 검사기준 및 검사방법 개발에 관한 업무",</a:t>
            </a:r>
          </a:p>
          <a:p xmlns:a="http://schemas.openxmlformats.org/drawingml/2006/main">
            <a:r>
              <a:t>        "8. 자율주행자동차 등 검사기술 개발"</a:t>
            </a:r>
          </a:p>
          <a:p xmlns:a="http://schemas.openxmlformats.org/drawingml/2006/main">
            <a:r>
              <a:t>      ],</a:t>
            </a:r>
          </a:p>
          <a:p xmlns:a="http://schemas.openxmlformats.org/drawingml/2006/main">
            <a:r>
              <a:t>      "locator": "별표4 · T43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"RULEWORK-1029020-5",</a:t>
            </a:r>
          </a:p>
          <a:p xmlns:a="http://schemas.openxmlformats.org/drawingml/2006/main">
            <a:r>
              <a:t>          "text": "5. 검사기준 및 검사방법 개발에 관한 업무",</a:t>
            </a:r>
          </a:p>
          <a:p xmlns:a="http://schemas.openxmlformats.org/drawingml/2006/main">
            <a:r>
              <a:t>          "locator": "별표4 · T43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"RULEWORK-1029020-5-R01",</a:t>
            </a:r>
          </a:p>
          <a:p xmlns:a="http://schemas.openxmlformats.org/drawingml/2006/main">
            <a:r>
              <a:t>              "title": "업무 맥락·전용 지식 구성",</a:t>
            </a:r>
          </a:p>
          <a:p xmlns:a="http://schemas.openxmlformats.org/drawingml/2006/main">
            <a:r>
              <a:t>              "development": "연구대상·가설·기준별 근거·시험항목 구성",</a:t>
            </a:r>
          </a:p>
          <a:p xmlns:a="http://schemas.openxmlformats.org/drawingml/2006/main">
            <a:r>
              <a:t>              "output": "기술 검토·시험 근거·연구 추적표",</a:t>
            </a:r>
          </a:p>
          <a:p xmlns:a="http://schemas.openxmlformats.org/drawingml/2006/main">
            <a:r>
              <a:t>              "testId": "RULEWORK-1029020-5-T01",</a:t>
            </a:r>
          </a:p>
          <a:p xmlns:a="http://schemas.openxmlformats.org/drawingml/2006/main">
            <a:r>
              <a:t>              "criterion": "인용 원문·시험 조건·계산·단위 대조"</a:t>
            </a:r>
          </a:p>
          <a:p xmlns:a="http://schemas.openxmlformats.org/drawingml/2006/main">
            <a:r>
              <a:t>            },</a:t>
            </a:r>
          </a:p>
          <a:p xmlns:a="http://schemas.openxmlformats.org/drawingml/2006/main">
            <a:r>
              <a:t>            {</a:t>
            </a:r>
          </a:p>
          <a:p xmlns:a="http://schemas.openxmlformats.org/drawingml/2006/main">
            <a:r>
              <a:t>              "id": "RULEWORK-1029020-5-R02",</a:t>
            </a:r>
          </a:p>
          <a:p xmlns:a="http://schemas.openxmlformats.org/drawingml/2006/main">
            <a:r>
              <a:t>              "title": "업무건·역할·시스템 연결",</a:t>
            </a:r>
          </a:p>
          <a:p xmlns:a="http://schemas.openxmlformats.org/drawingml/2006/main">
            <a:r>
              <a:t>              "development": "과제·실증 조건·시험자료·판본 추적",</a:t>
            </a:r>
          </a:p>
          <a:p xmlns:a="http://schemas.openxmlformats.org/drawingml/2006/main">
            <a:r>
              <a:t>              "output": "업무건·원천·역할·변경 연결 명세",</a:t>
            </a:r>
          </a:p>
          <a:p xmlns:a="http://schemas.openxmlformats.org/drawingml/2006/main">
            <a:r>
              <a:t>              "testId": "RULEWORK-1029020-5-T02",</a:t>
            </a:r>
          </a:p>
          <a:p xmlns:a="http://schemas.openxmlformats.org/drawingml/2006/main">
            <a:r>
              <a:t>              "criterion": "실험 미수행 결과·근거 없는 성능 확정 차단"</a:t>
            </a:r>
          </a:p>
          <a:p xmlns:a="http://schemas.openxmlformats.org/drawingml/2006/main">
            <a:r>
              <a:t>            },</a:t>
            </a:r>
          </a:p>
          <a:p xmlns:a="http://schemas.openxmlformats.org/drawingml/2006/main">
            <a:r>
              <a:t>            {</a:t>
            </a:r>
          </a:p>
          <a:p xmlns:a="http://schemas.openxmlformats.org/drawingml/2006/main">
            <a:r>
              <a:t>              "id": "RULEWORK-1029020-5-R03",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"RULEWORK-1029020-5-T03",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"RULEWORK-1029020-8",</a:t>
            </a:r>
          </a:p>
          <a:p xmlns:a="http://schemas.openxmlformats.org/drawingml/2006/main">
            <a:r>
              <a:t>          "text": "8. 자율주행자동차 등 검사기술 개발",</a:t>
            </a:r>
          </a:p>
          <a:p xmlns:a="http://schemas.openxmlformats.org/drawingml/2006/main">
            <a:r>
              <a:t>          "locator": "별표4 · T43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"RULEWORK-1029020-8-R01",</a:t>
            </a:r>
          </a:p>
          <a:p xmlns:a="http://schemas.openxmlformats.org/drawingml/2006/main">
            <a:r>
              <a:t>              "title": "업무 맥락·전용 지식 구성",</a:t>
            </a:r>
          </a:p>
          <a:p xmlns:a="http://schemas.openxmlformats.org/drawingml/2006/main">
            <a:r>
              <a:t>              "development": "차량·변경 유형별 기준·제출자료 선택",</a:t>
            </a:r>
          </a:p>
          <a:p xmlns:a="http://schemas.openxmlformats.org/drawingml/2006/main">
            <a:r>
              <a:t>              "output": "요건 대조표·보완·검사 인계 기록",</a:t>
            </a:r>
          </a:p>
          <a:p xmlns:a="http://schemas.openxmlformats.org/drawingml/2006/main">
            <a:r>
              <a:t>              "testId": "RULEWORK-1029020-8-T01",</a:t>
            </a:r>
          </a:p>
          <a:p xmlns:a="http://schemas.openxmlformats.org/drawingml/2006/main">
            <a:r>
              <a:t>              "criterion": "누락·상충·판본별 요건 정답셋 대조"</a:t>
            </a:r>
          </a:p>
          <a:p xmlns:a="http://schemas.openxmlformats.org/drawingml/2006/main">
            <a:r>
              <a:t>            },</a:t>
            </a:r>
          </a:p>
          <a:p xmlns:a="http://schemas.openxmlformats.org/drawingml/2006/main">
            <a:r>
              <a:t>            {</a:t>
            </a:r>
          </a:p>
          <a:p xmlns:a="http://schemas.openxmlformats.org/drawingml/2006/main">
            <a:r>
              <a:t>              "id": "RULEWORK-1029020-8-R02",</a:t>
            </a:r>
          </a:p>
          <a:p xmlns:a="http://schemas.openxmlformats.org/drawingml/2006/main">
            <a:r>
              <a:t>              "title": "업무건·역할·시스템 연결",</a:t>
            </a:r>
          </a:p>
          <a:p xmlns:a="http://schemas.openxmlformats.org/drawingml/2006/main">
            <a:r>
              <a:t>              "development": "신청–보완–검사–결과의 업무건·판본 연결",</a:t>
            </a:r>
          </a:p>
          <a:p xmlns:a="http://schemas.openxmlformats.org/drawingml/2006/main">
            <a:r>
              <a:t>              "output": "업무건·원천·역할·변경 연결 명세",</a:t>
            </a:r>
          </a:p>
          <a:p xmlns:a="http://schemas.openxmlformats.org/drawingml/2006/main">
            <a:r>
              <a:t>              "testId": "RULEWORK-1029020-8-T02",</a:t>
            </a:r>
          </a:p>
          <a:p xmlns:a="http://schemas.openxmlformats.org/drawingml/2006/main">
            <a:r>
              <a:t>              "criterion": "문서 검토와 현장 검사·공식 판정의 구분"</a:t>
            </a:r>
          </a:p>
          <a:p xmlns:a="http://schemas.openxmlformats.org/drawingml/2006/main">
            <a:r>
              <a:t>            },</a:t>
            </a:r>
          </a:p>
          <a:p xmlns:a="http://schemas.openxmlformats.org/drawingml/2006/main">
            <a:r>
              <a:t>            {</a:t>
            </a:r>
          </a:p>
          <a:p xmlns:a="http://schemas.openxmlformats.org/drawingml/2006/main">
            <a:r>
              <a:t>              "id": "RULEWORK-1029020-8-R03",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"RULEWORK-1029020-8-T03",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"1021020",</a:t>
            </a:r>
          </a:p>
          <a:p xmlns:a="http://schemas.openxmlformats.org/drawingml/2006/main">
            <a:r>
              <a:t>      "name": "규제혁신처",</a:t>
            </a:r>
          </a:p>
          <a:p xmlns:a="http://schemas.openxmlformats.org/drawingml/2006/main">
            <a:r>
              <a:t>      "job": "실증특례 접수·승인 지원",</a:t>
            </a:r>
          </a:p>
          <a:p xmlns:a="http://schemas.openxmlformats.org/drawingml/2006/main">
            <a:r>
              <a:t>      "indices": [</a:t>
            </a:r>
          </a:p>
          <a:p xmlns:a="http://schemas.openxmlformats.org/drawingml/2006/main">
            <a:r>
              <a:t>        1,</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"2. 모빌리티 실증특례 접수 및 승인 지원",</a:t>
            </a:r>
          </a:p>
          <a:p xmlns:a="http://schemas.openxmlformats.org/drawingml/2006/main">
            <a:r>
              <a:t>        "8. 실증특례 통합검토위원회 구성, 운영"</a:t>
            </a:r>
          </a:p>
          <a:p xmlns:a="http://schemas.openxmlformats.org/drawingml/2006/main">
            <a:r>
              <a:t>      ],</a:t>
            </a:r>
          </a:p>
          <a:p xmlns:a="http://schemas.openxmlformats.org/drawingml/2006/main">
            <a:r>
              <a:t>      "locator": "별표4 · T41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"RULEWORK-1021020-2",</a:t>
            </a:r>
          </a:p>
          <a:p xmlns:a="http://schemas.openxmlformats.org/drawingml/2006/main">
            <a:r>
              <a:t>          "text": "2. 모빌리티 실증특례 접수 및 승인 지원",</a:t>
            </a:r>
          </a:p>
          <a:p xmlns:a="http://schemas.openxmlformats.org/drawingml/2006/main">
            <a:r>
              <a:t>          "locator": "별표4 · T41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"RULEWORK-1021020-2-R01",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"RULEWORK-1021020-2-T01",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"RULEWORK-1021020-2-R02",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"RULEWORK-1021020-2-T02",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"RULEWORK-1021020-2-R03",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"RULEWORK-1021020-2-T03",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"RULEWORK-1021020-8",</a:t>
            </a:r>
          </a:p>
          <a:p xmlns:a="http://schemas.openxmlformats.org/drawingml/2006/main">
            <a:r>
              <a:t>          "text": "8. 실증특례 통합검토위원회 구성, 운영",</a:t>
            </a:r>
          </a:p>
          <a:p xmlns:a="http://schemas.openxmlformats.org/drawingml/2006/main">
            <a:r>
              <a:t>          "locator": "별표4 · T41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"RULEWORK-1021020-8-R01",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"RULEWORK-1021020-8-T01",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"RULEWORK-1021020-8-R02",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"RULEWORK-1021020-8-T02",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"RULEWORK-1021020-8-R03",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"RULEWORK-1021020-8-T03",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"특화도시·시범사업 지원",</a:t>
            </a:r>
          </a:p>
          <a:p xmlns:a="http://schemas.openxmlformats.org/drawingml/2006/main">
            <a:r>
              <a:t>      "indices": [</a:t>
            </a:r>
          </a:p>
          <a:p xmlns:a="http://schemas.openxmlformats.org/drawingml/2006/main">
            <a:r>
              <a:t>        0,</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"1. 모빌리티 특화도시 사업지원",</a:t>
            </a:r>
          </a:p>
          <a:p xmlns:a="http://schemas.openxmlformats.org/drawingml/2006/main">
            <a:r>
              <a:t>        "6. 첨단모빌리티 시범사업과 대상지역 지정요청 접수"</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"RULEWORK-1021030-1",</a:t>
            </a:r>
          </a:p>
          <a:p xmlns:a="http://schemas.openxmlformats.org/drawingml/2006/main">
            <a:r>
              <a:t>          "text": "1. 모빌리티 특화도시 사업지원",</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"RULEWORK-1021030-1-R01",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"RULEWORK-1021030-1-T01",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"RULEWORK-1021030-1-R02",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"RULEWORK-1021030-1-T02",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"RULEWORK-1021030-6",</a:t>
            </a:r>
          </a:p>
          <a:p xmlns:a="http://schemas.openxmlformats.org/drawingml/2006/main">
            <a:r>
              <a:t>          "text": "6. 첨단모빌리티 시범사업과 대상지역 지정요청 접수",</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"RULEWORK-1021030-6-R01",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"RULEWORK-1021030-6-T01",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"RULEWORK-1021030-6-R02",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"RULEWORK-1021030-6-T02",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"1211290",</a:t>
            </a:r>
          </a:p>
          <a:p xmlns:a="http://schemas.openxmlformats.org/drawingml/2006/main">
            <a:r>
              <a:t>      "name": "드론관리처",</a:t>
            </a:r>
          </a:p>
          <a:p xmlns:a="http://schemas.openxmlformats.org/drawingml/2006/main">
            <a:r>
              <a:t>      "job": "드론 안전관리·연구",</a:t>
            </a:r>
          </a:p>
          <a:p xmlns:a="http://schemas.openxmlformats.org/drawingml/2006/main">
            <a:r>
              <a:t>      "indices": [</a:t>
            </a:r>
          </a:p>
          <a:p xmlns:a="http://schemas.openxmlformats.org/drawingml/2006/main">
            <a:r>
              <a:t>        1,</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"2. 초경량비행장치 사용사업체 안전관리 및 지도점검",</a:t>
            </a:r>
          </a:p>
          <a:p xmlns:a="http://schemas.openxmlformats.org/drawingml/2006/main">
            <a:r>
              <a:t>        "5. 무인비행장치(드론) 관련 신규사업 개발 및 안전연구(UTM, 안티드론, 드론택시․택배 등)"</a:t>
            </a:r>
          </a:p>
          <a:p xmlns:a="http://schemas.openxmlformats.org/drawingml/2006/main">
            <a:r>
              <a:t>      ],</a:t>
            </a:r>
          </a:p>
          <a:p xmlns:a="http://schemas.openxmlformats.org/drawingml/2006/main">
            <a:r>
              <a:t>      "locator": "별표4 · T45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"RULEWORK-1211290-2",</a:t>
            </a:r>
          </a:p>
          <a:p xmlns:a="http://schemas.openxmlformats.org/drawingml/2006/main">
            <a:r>
              <a:t>          "text": "2. 초경량비행장치 사용사업체 안전관리 및 지도점검",</a:t>
            </a:r>
          </a:p>
          <a:p xmlns:a="http://schemas.openxmlformats.org/drawingml/2006/main">
            <a:r>
              <a:t>          "locator": "별표4 · T45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"RULEWORK-1211290-2-R01",</a:t>
            </a:r>
          </a:p>
          <a:p xmlns:a="http://schemas.openxmlformats.org/drawingml/2006/main">
            <a:r>
              <a:t>              "title": "업무 맥락·전용 지식 구성",</a:t>
            </a:r>
          </a:p>
          <a:p xmlns:a="http://schemas.openxmlformats.org/drawingml/2006/main">
            <a:r>
              <a:t>              "development": "기체·임무·운영 범위별 요건 분류",</a:t>
            </a:r>
          </a:p>
          <a:p xmlns:a="http://schemas.openxmlformats.org/drawingml/2006/main">
            <a:r>
              <a:t>              "output": "요건·위험·보완·인계 검토자료",</a:t>
            </a:r>
          </a:p>
          <a:p xmlns:a="http://schemas.openxmlformats.org/drawingml/2006/main">
            <a:r>
              <a:t>              "testId": "RULEWORK-1211290-2-T01",</a:t>
            </a:r>
          </a:p>
          <a:p xmlns:a="http://schemas.openxmlformats.org/drawingml/2006/main">
            <a:r>
              <a:t>              "criterion": "운영 조건·서류 요건·근거 조항 대조"</a:t>
            </a:r>
          </a:p>
          <a:p xmlns:a="http://schemas.openxmlformats.org/drawingml/2006/main">
            <a:r>
              <a:t>            },</a:t>
            </a:r>
          </a:p>
          <a:p xmlns:a="http://schemas.openxmlformats.org/drawingml/2006/main">
            <a:r>
              <a:t>            {</a:t>
            </a:r>
          </a:p>
          <a:p xmlns:a="http://schemas.openxmlformats.org/drawingml/2006/main">
            <a:r>
              <a:t>              "id": "RULEWORK-1211290-2-R02",</a:t>
            </a:r>
          </a:p>
          <a:p xmlns:a="http://schemas.openxmlformats.org/drawingml/2006/main">
            <a:r>
              <a:t>              "title": "업무건·역할·시스템 연결",</a:t>
            </a:r>
          </a:p>
          <a:p xmlns:a="http://schemas.openxmlformats.org/drawingml/2006/main">
            <a:r>
              <a:t>              "development": "신고·검토·보완·공식 결과의 판본 추적",</a:t>
            </a:r>
          </a:p>
          <a:p xmlns:a="http://schemas.openxmlformats.org/drawingml/2006/main">
            <a:r>
              <a:t>              "output": "업무건·원천·역할·변경 연결 명세",</a:t>
            </a:r>
          </a:p>
          <a:p xmlns:a="http://schemas.openxmlformats.org/drawingml/2006/main">
            <a:r>
              <a:t>              "testId": "RULEWORK-1211290-2-T02",</a:t>
            </a:r>
          </a:p>
          <a:p xmlns:a="http://schemas.openxmlformats.org/drawingml/2006/main">
            <a:r>
              <a:t>              "criterion": "공식 비행 허가·안전 판정의 자동 확정 차단"</a:t>
            </a:r>
          </a:p>
          <a:p xmlns:a="http://schemas.openxmlformats.org/drawingml/2006/main">
            <a:r>
              <a:t>            },</a:t>
            </a:r>
          </a:p>
          <a:p xmlns:a="http://schemas.openxmlformats.org/drawingml/2006/main">
            <a:r>
              <a:t>            {</a:t>
            </a:r>
          </a:p>
          <a:p xmlns:a="http://schemas.openxmlformats.org/drawingml/2006/main">
            <a:r>
              <a:t>              "id": "RULEWORK-1211290-2-R03",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"RULEWORK-1211290-2-T03",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"RULEWORK-1211290-5",</a:t>
            </a:r>
          </a:p>
          <a:p xmlns:a="http://schemas.openxmlformats.org/drawingml/2006/main">
            <a:r>
              <a:t>          "text": "5. 무인비행장치(드론) 관련 신규사업 개발 및 안전연구(UTM, 안티드론, 드론택시․택배 등)",</a:t>
            </a:r>
          </a:p>
          <a:p xmlns:a="http://schemas.openxmlformats.org/drawingml/2006/main">
            <a:r>
              <a:t>          "locator": "별표4 · T45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"RULEWORK-1211290-5-R01",</a:t>
            </a:r>
          </a:p>
          <a:p xmlns:a="http://schemas.openxmlformats.org/drawingml/2006/main">
            <a:r>
              <a:t>              "title": "업무 맥락·전용 지식 구성",</a:t>
            </a:r>
          </a:p>
          <a:p xmlns:a="http://schemas.openxmlformats.org/drawingml/2006/main">
            <a:r>
              <a:t>              "development": "기체·임무·운영 범위별 요건 분류",</a:t>
            </a:r>
          </a:p>
          <a:p xmlns:a="http://schemas.openxmlformats.org/drawingml/2006/main">
            <a:r>
              <a:t>              "output": "요건·위험·보완·인계 검토자료",</a:t>
            </a:r>
          </a:p>
          <a:p xmlns:a="http://schemas.openxmlformats.org/drawingml/2006/main">
            <a:r>
              <a:t>              "testId": "RULEWORK-1211290-5-T01",</a:t>
            </a:r>
          </a:p>
          <a:p xmlns:a="http://schemas.openxmlformats.org/drawingml/2006/main">
            <a:r>
              <a:t>              "criterion": "운영 조건·서류 요건·근거 조항 대조"</a:t>
            </a:r>
          </a:p>
          <a:p xmlns:a="http://schemas.openxmlformats.org/drawingml/2006/main">
            <a:r>
              <a:t>            },</a:t>
            </a:r>
          </a:p>
          <a:p xmlns:a="http://schemas.openxmlformats.org/drawingml/2006/main">
            <a:r>
              <a:t>            {</a:t>
            </a:r>
          </a:p>
          <a:p xmlns:a="http://schemas.openxmlformats.org/drawingml/2006/main">
            <a:r>
              <a:t>              "id": "RULEWORK-1211290-5-R02",</a:t>
            </a:r>
          </a:p>
          <a:p xmlns:a="http://schemas.openxmlformats.org/drawingml/2006/main">
            <a:r>
              <a:t>              "title": "업무건·역할·시스템 연결",</a:t>
            </a:r>
          </a:p>
          <a:p xmlns:a="http://schemas.openxmlformats.org/drawingml/2006/main">
            <a:r>
              <a:t>              "development": "신고·검토·보완·공식 결과의 판본 추적",</a:t>
            </a:r>
          </a:p>
          <a:p xmlns:a="http://schemas.openxmlformats.org/drawingml/2006/main">
            <a:r>
              <a:t>              "output": "업무건·원천·역할·변경 연결 명세",</a:t>
            </a:r>
          </a:p>
          <a:p xmlns:a="http://schemas.openxmlformats.org/drawingml/2006/main">
            <a:r>
              <a:t>              "testId": "RULEWORK-1211290-5-T02",</a:t>
            </a:r>
          </a:p>
          <a:p xmlns:a="http://schemas.openxmlformats.org/drawingml/2006/main">
            <a:r>
              <a:t>              "criterion": "공식 비행 허가·안전 판정의 자동 확정 차단"</a:t>
            </a:r>
          </a:p>
          <a:p xmlns:a="http://schemas.openxmlformats.org/drawingml/2006/main">
            <a:r>
              <a:t>            },</a:t>
            </a:r>
          </a:p>
          <a:p xmlns:a="http://schemas.openxmlformats.org/drawingml/2006/main">
            <a:r>
              <a:t>            {</a:t>
            </a:r>
          </a:p>
          <a:p xmlns:a="http://schemas.openxmlformats.org/drawingml/2006/main">
            <a:r>
              <a:t>              "id": "RULEWORK-1211290-5-R03",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"RULEWORK-1211290-5-T03",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기술 기준 검색"</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"JET·Audin의 구조화 검토·증거 대사"</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"실증조건–요구조건–시험 ID 연결",</a:t>
            </a:r>
          </a:p>
          <a:p xmlns:a="http://schemas.openxmlformats.org/drawingml/2006/main">
            <a:r>
              <a:t>    "조건 변경 영향·재검증 목록"</a:t>
            </a:r>
          </a:p>
          <a:p xmlns:a="http://schemas.openxmlformats.org/drawingml/2006/main">
            <a:r>
              <a:t>  ],</a:t>
            </a:r>
          </a:p>
          <a:p xmlns:a="http://schemas.openxmlformats.org/drawingml/2006/main">
            <a:r>
              <a:t>  "acceptancePlan": {</a:t>
            </a:r>
          </a:p>
          <a:p xmlns:a="http://schemas.openxmlformats.org/drawingml/2006/main">
            <a:r>
              <a:t>    "sample": "운행조건 변경, 로그 누락, 시험판본 불일치",</a:t>
            </a:r>
          </a:p>
          <a:p xmlns:a="http://schemas.openxmlformats.org/drawingml/2006/main">
            <a:r>
              <a:t>    "criterion": "변경 영향 시험 재선정·증거 미비 보류",</a:t>
            </a:r>
          </a:p>
          <a:p xmlns:a="http://schemas.openxmlformats.org/drawingml/2006/main">
            <a:r>
              <a:t>    "evidence": "요구–시험–증거 추적표·재검증 결과",</a:t>
            </a:r>
          </a:p>
          <a:p xmlns:a="http://schemas.openxmlformats.org/drawingml/2006/main">
            <a:r>
              <a:t>    "execution": "미실행"</a:t>
            </a:r>
          </a:p>
          <a:p xmlns:a="http://schemas.openxmlformats.org/drawingml/2006/main">
            <a:r>
              <a:t>  },</a:t>
            </a:r>
          </a:p>
          <a:p xmlns:a="http://schemas.openxmlformats.org/drawingml/2006/main">
            <a:r>
              <a:t>  "formula": "증거 연결 완료 시험 수 ÷ 대상 시험 수 / 변경 후 재검토 소요시간",</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"ST-05",</a:t>
            </a:r>
          </a:p>
          <a:p xmlns:a="http://schemas.openxmlformats.org/drawingml/2006/main">
            <a:r>
              <a:t>  "number": 5,</a:t>
            </a:r>
          </a:p>
          <a:p xmlns:a="http://schemas.openxmlformats.org/drawingml/2006/main">
            <a:r>
              <a:t>  "direction": "지능형 미래 모빌리티 혁신",</a:t>
            </a:r>
          </a:p>
          <a:p xmlns:a="http://schemas.openxmlformats.org/drawingml/2006/main">
            <a:r>
              <a:t>  "strategy": "K-AI 기반 안전한 미래 모빌리티 실현",</a:t>
            </a:r>
          </a:p>
          <a:p xmlns:a="http://schemas.openxmlformats.org/drawingml/2006/main">
            <a:r>
              <a:t>  "solution": "미래 모빌리티 검증·실증 지원",</a:t>
            </a:r>
          </a:p>
          <a:p xmlns:a="http://schemas.openxmlformats.org/drawingml/2006/main">
            <a:r>
              <a:t>  "lawIds": [</a:t>
            </a:r>
          </a:p>
          <a:p xmlns:a="http://schemas.openxmlformats.org/drawingml/2006/main">
            <a:r>
              <a:t>    "L09",</a:t>
            </a:r>
          </a:p>
          <a:p xmlns:a="http://schemas.openxmlformats.org/drawingml/2006/main">
            <a:r>
              <a:t>    "L18",</a:t>
            </a:r>
          </a:p>
          <a:p xmlns:a="http://schemas.openxmlformats.org/drawingml/2006/main">
            <a:r>
              <a:t>    "L19",</a:t>
            </a:r>
          </a:p>
          <a:p xmlns:a="http://schemas.openxmlformats.org/drawingml/2006/main">
            <a:r>
              <a:t>    "L27"</a:t>
            </a:r>
          </a:p>
          <a:p xmlns:a="http://schemas.openxmlformats.org/drawingml/2006/main">
            <a:r>
              <a:t>  ],</a:t>
            </a:r>
          </a:p>
          <a:p xmlns:a="http://schemas.openxmlformats.org/drawingml/2006/main">
            <a:r>
              <a:t>  "codes": [</a:t>
            </a:r>
          </a:p>
          <a:p xmlns:a="http://schemas.openxmlformats.org/drawingml/2006/main">
            <a:r>
              <a:t>    "7000000",</a:t>
            </a:r>
          </a:p>
          <a:p xmlns:a="http://schemas.openxmlformats.org/drawingml/2006/main">
            <a:r>
              <a:t>    "1029020",</a:t>
            </a:r>
          </a:p>
          <a:p xmlns:a="http://schemas.openxmlformats.org/drawingml/2006/main">
            <a:r>
              <a:t>    "1021020",</a:t>
            </a:r>
          </a:p>
          <a:p xmlns:a="http://schemas.openxmlformats.org/drawingml/2006/main">
            <a:r>
              <a:t>    "1021030",</a:t>
            </a:r>
          </a:p>
          <a:p xmlns:a="http://schemas.openxmlformats.org/drawingml/2006/main">
            <a:r>
              <a:t>    "1211290"</a:t>
            </a:r>
          </a:p>
          <a:p xmlns:a="http://schemas.openxmlformats.org/drawingml/2006/main">
            <a:r>
              <a:t>  ],</a:t>
            </a:r>
          </a:p>
          <a:p xmlns:a="http://schemas.openxmlformats.org/drawingml/2006/main">
            <a:r>
              <a:t>  "work": "미래차·드론·모빌리티 실증의 기준·시험·검토 업무",</a:t>
            </a:r>
          </a:p>
          <a:p xmlns:a="http://schemas.openxmlformats.org/drawingml/2006/main">
            <a:r>
              <a:t>  "features": [</a:t>
            </a:r>
          </a:p>
          <a:p xmlns:a="http://schemas.openxmlformats.org/drawingml/2006/main">
            <a:r>
              <a:t>    "기술유형별 요구조건·시험계획·증빙 구조화",</a:t>
            </a:r>
          </a:p>
          <a:p xmlns:a="http://schemas.openxmlformats.org/drawingml/2006/main">
            <a:r>
              <a:t>    "조건 변경에 따른 검증 항목 재구성"</a:t>
            </a:r>
          </a:p>
          <a:p xmlns:a="http://schemas.openxmlformats.org/drawingml/2006/main">
            <a:r>
              <a:t>  ],</a:t>
            </a:r>
          </a:p>
          <a:p xmlns:a="http://schemas.openxmlformats.org/drawingml/2006/main">
            <a:r>
              <a:t>  "output": "시험·실증 근거 패키지",</a:t>
            </a:r>
          </a:p>
          <a:p xmlns:a="http://schemas.openxmlformats.org/drawingml/2006/main">
            <a:r>
              <a:t>  "acceptance": "요구조건–시험–증거 추적과 변경 후 재검토 여부 확인",</a:t>
            </a:r>
          </a:p>
          <a:p xmlns:a="http://schemas.openxmlformats.org/drawingml/2006/main">
            <a:r>
              <a:t>  "phase": "공통 기반 인수 후 부서별 적용",</a:t>
            </a:r>
          </a:p>
          <a:p xmlns:a="http://schemas.openxmlformats.org/drawingml/2006/main">
            <a:r>
              <a:t>  "packages": [</a:t>
            </a:r>
          </a:p>
          <a:p xmlns:a="http://schemas.openxmlformats.org/drawingml/2006/main">
            <a:r>
              <a:t>    "ON-W04",</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"GAI-T05",</a:t>
            </a:r>
          </a:p>
          <a:p xmlns:a="http://schemas.openxmlformats.org/drawingml/2006/main">
            <a:r>
              <a:t>    "GAI-T06",</a:t>
            </a:r>
          </a:p>
          <a:p xmlns:a="http://schemas.openxmlformats.org/drawingml/2006/main">
            <a:r>
              <a:t>    "GAI-T09",</a:t>
            </a:r>
          </a:p>
          <a:p xmlns:a="http://schemas.openxmlformats.org/drawingml/2006/main">
            <a:r>
              <a:t>    "GAI-T12"</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"7000000",</a:t>
            </a:r>
          </a:p>
          <a:p xmlns:a="http://schemas.openxmlformats.org/drawingml/2006/main">
            <a:r>
              <a:t>      "name": "자동차안전연구원",</a:t>
            </a:r>
          </a:p>
          <a:p xmlns:a="http://schemas.openxmlformats.org/drawingml/2006/main">
            <a:r>
              <a:t>      "job": "미래차 안전 연구·평가",</a:t>
            </a:r>
          </a:p>
          <a:p xmlns:a="http://schemas.openxmlformats.org/drawingml/2006/main">
            <a:r>
              <a:t>      "indices": [],</a:t>
            </a:r>
          </a:p>
          <a:p xmlns:a="http://schemas.openxmlformats.org/drawingml/2006/main">
            <a:r>
              <a:t>      "duties": [],</a:t>
            </a:r>
          </a:p>
          <a:p xmlns:a="http://schemas.openxmlformats.org/drawingml/2006/main">
            <a:r>
              <a:t>      "locator": "자동차안전연구원 별도 직제시행세칙 대조 대상",</a:t>
            </a:r>
          </a:p>
          <a:p xmlns:a="http://schemas.openxmlformats.org/drawingml/2006/main">
            <a:r>
              <a:t>      "restriction": "별표4 부설기관: 자동차안전연구원 직제시행세칙에 따름 · 하부조직·직무·업무분장 별도 확인 필요",</a:t>
            </a:r>
          </a:p>
          <a:p xmlns:a="http://schemas.openxmlformats.org/drawingml/2006/main">
            <a:r>
              <a:t>      "status": "법령·업무 원장 기반 요약 / 세부 직제 확인"</a:t>
            </a:r>
          </a:p>
          <a:p xmlns:a="http://schemas.openxmlformats.org/drawingml/2006/main">
            <a:r>
              <a:t>    },</a:t>
            </a:r>
          </a:p>
          <a:p xmlns:a="http://schemas.openxmlformats.org/drawingml/2006/main">
            <a:r>
              <a:t>    {</a:t>
            </a:r>
          </a:p>
          <a:p xmlns:a="http://schemas.openxmlformats.org/drawingml/2006/main">
            <a:r>
              <a:t>      "code": "1029020",</a:t>
            </a:r>
          </a:p>
          <a:p xmlns:a="http://schemas.openxmlformats.org/drawingml/2006/main">
            <a:r>
              <a:t>      "name": "첨단연구개발처",</a:t>
            </a:r>
          </a:p>
          <a:p xmlns:a="http://schemas.openxmlformats.org/drawingml/2006/main">
            <a:r>
              <a:t>      "job": "미래차 검사기술 연구",</a:t>
            </a:r>
          </a:p>
          <a:p xmlns:a="http://schemas.openxmlformats.org/drawingml/2006/main">
            <a:r>
              <a:t>      "indices": [</a:t>
            </a:r>
          </a:p>
          <a:p xmlns:a="http://schemas.openxmlformats.org/drawingml/2006/main">
            <a:r>
              <a:t>        4,</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"5. 검사기준 및 검사방법 개발에 관한 업무",</a:t>
            </a:r>
          </a:p>
          <a:p xmlns:a="http://schemas.openxmlformats.org/drawingml/2006/main">
            <a:r>
              <a:t>        "8. 자율주행자동차 등 검사기술 개발"</a:t>
            </a:r>
          </a:p>
          <a:p xmlns:a="http://schemas.openxmlformats.org/drawingml/2006/main">
            <a:r>
              <a:t>      ],</a:t>
            </a:r>
          </a:p>
          <a:p xmlns:a="http://schemas.openxmlformats.org/drawingml/2006/main">
            <a:r>
              <a:t>      "locator": "별표4 · T43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"1021020",</a:t>
            </a:r>
          </a:p>
          <a:p xmlns:a="http://schemas.openxmlformats.org/drawingml/2006/main">
            <a:r>
              <a:t>      "name": "규제혁신처",</a:t>
            </a:r>
          </a:p>
          <a:p xmlns:a="http://schemas.openxmlformats.org/drawingml/2006/main">
            <a:r>
              <a:t>      "job": "실증특례 접수·승인 지원",</a:t>
            </a:r>
          </a:p>
          <a:p xmlns:a="http://schemas.openxmlformats.org/drawingml/2006/main">
            <a:r>
              <a:t>      "indices": [</a:t>
            </a:r>
          </a:p>
          <a:p xmlns:a="http://schemas.openxmlformats.org/drawingml/2006/main">
            <a:r>
              <a:t>        1,</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"2. 모빌리티 실증특례 접수 및 승인 지원",</a:t>
            </a:r>
          </a:p>
          <a:p xmlns:a="http://schemas.openxmlformats.org/drawingml/2006/main">
            <a:r>
              <a:t>        "8. 실증특례 통합검토위원회 구성, 운영"</a:t>
            </a:r>
          </a:p>
          <a:p xmlns:a="http://schemas.openxmlformats.org/drawingml/2006/main">
            <a:r>
              <a:t>      ],</a:t>
            </a:r>
          </a:p>
          <a:p xmlns:a="http://schemas.openxmlformats.org/drawingml/2006/main">
            <a:r>
              <a:t>      "locator": "별표4 · T41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"특화도시·시범사업 지원",</a:t>
            </a:r>
          </a:p>
          <a:p xmlns:a="http://schemas.openxmlformats.org/drawingml/2006/main">
            <a:r>
              <a:t>      "indices": [</a:t>
            </a:r>
          </a:p>
          <a:p xmlns:a="http://schemas.openxmlformats.org/drawingml/2006/main">
            <a:r>
              <a:t>        0,</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"1. 모빌리티 특화도시 사업지원",</a:t>
            </a:r>
          </a:p>
          <a:p xmlns:a="http://schemas.openxmlformats.org/drawingml/2006/main">
            <a:r>
              <a:t>        "6. 첨단모빌리티 시범사업과 대상지역 지정요청 접수"</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"1211290",</a:t>
            </a:r>
          </a:p>
          <a:p xmlns:a="http://schemas.openxmlformats.org/drawingml/2006/main">
            <a:r>
              <a:t>      "name": "드론관리처",</a:t>
            </a:r>
          </a:p>
          <a:p xmlns:a="http://schemas.openxmlformats.org/drawingml/2006/main">
            <a:r>
              <a:t>      "job": "드론 안전관리·연구",</a:t>
            </a:r>
          </a:p>
          <a:p xmlns:a="http://schemas.openxmlformats.org/drawingml/2006/main">
            <a:r>
              <a:t>      "indices": [</a:t>
            </a:r>
          </a:p>
          <a:p xmlns:a="http://schemas.openxmlformats.org/drawingml/2006/main">
            <a:r>
              <a:t>        1,</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"2. 초경량비행장치 사용사업체 안전관리 및 지도점검",</a:t>
            </a:r>
          </a:p>
          <a:p xmlns:a="http://schemas.openxmlformats.org/drawingml/2006/main">
            <a:r>
              <a:t>        "5. 무인비행장치(드론) 관련 신규사업 개발 및 안전연구(UTM, 안티드론, 드론택시․택배 등)"</a:t>
            </a:r>
          </a:p>
          <a:p xmlns:a="http://schemas.openxmlformats.org/drawingml/2006/main">
            <a:r>
              <a:t>      ],</a:t>
            </a:r>
          </a:p>
          <a:p xmlns:a="http://schemas.openxmlformats.org/drawingml/2006/main">
            <a:r>
              <a:t>      "locator": "별표4 · T45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"연결 법령 원장의 결함조사·실증·드론 신고 업무 활용 / 시험·인증 권한과 연구원 세부 직제의 별도 확인",</a:t>
            </a:r>
          </a:p>
          <a:p xmlns:a="http://schemas.openxmlformats.org/drawingml/2006/main">
            <a:r>
              <a:t>  "caseRefs": [</a:t>
            </a:r>
          </a:p>
          <a:p xmlns:a="http://schemas.openxmlformats.org/drawingml/2006/main">
            <a:r>
              <a:t>    {</a:t>
            </a:r>
          </a:p>
          <a:p xmlns:a="http://schemas.openxmlformats.org/drawingml/2006/main">
            <a:r>
              <a:t>      "caseId": "AX08",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"AX10",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"AX16",</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"AX17",</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"AX18",</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"모빌리티 실증 증거·안전 검증",</a:t>
            </a:r>
          </a:p>
          <a:p xmlns:a="http://schemas.openxmlformats.org/drawingml/2006/main">
            <a:r>
              <a:t>  "delta": "실증 데이터·시험조건·사건 보고의 근거 연결",</a:t>
            </a:r>
          </a:p>
          <a:p xmlns:a="http://schemas.openxmlformats.org/drawingml/2006/main">
            <a:r>
              <a:t>  "kpi": "시험 증거 누락률 / 재현 성공률",</a:t>
            </a:r>
          </a:p>
          <a:p xmlns:a="http://schemas.openxmlformats.org/drawingml/2006/main">
            <a:r>
              <a:t>  "validation": "실증 조건·원시 로그·보고서 불일치 탐지",</a:t>
            </a:r>
          </a:p>
          <a:p xmlns:a="http://schemas.openxmlformats.org/drawingml/2006/main">
            <a:r>
              <a:t>  "requirement": "BM-ST-05-R01",</a:t>
            </a:r>
          </a:p>
          <a:p xmlns:a="http://schemas.openxmlformats.org/drawingml/2006/main">
            <a:r>
              <a:t>  "test": "BM-ST-05-T01",</a:t>
            </a:r>
          </a:p>
          <a:p xmlns:a="http://schemas.openxmlformats.org/drawingml/2006/main">
            <a:r>
              <a:t>  "effectStatus": "기대 방향 · TS 실측 전",</a:t>
            </a:r>
          </a:p>
          <a:p xmlns:a="http://schemas.openxmlformats.org/drawingml/2006/main">
            <a:r>
              <a:t>  "effect": "실증 검토 재작업·시험 증거 누락 감소",</a:t>
            </a:r>
          </a:p>
          <a:p xmlns:a="http://schemas.openxmlformats.org/drawingml/2006/main">
            <a:r>
              <a:t>  "reuse": "ON27-BASE / C27-COM + CCK 재사용 판정 기능",</a:t>
            </a:r>
          </a:p>
          <a:p xmlns:a="http://schemas.openxmlformats.org/drawingml/2006/main">
            <a:r>
              <a:t>  "input": "실증계획, 기술유형·운행조건, 시험결과, 사고 원시자료",</a:t>
            </a:r>
          </a:p>
          <a:p xmlns:a="http://schemas.openxmlformats.org/drawingml/2006/main">
            <a:r>
              <a:t>  "steps": [</a:t>
            </a:r>
          </a:p>
          <a:p xmlns:a="http://schemas.openxmlformats.org/drawingml/2006/main">
            <a:r>
              <a:t>    "기술·실증조건 분류",</a:t>
            </a:r>
          </a:p>
          <a:p xmlns:a="http://schemas.openxmlformats.org/drawingml/2006/main">
            <a:r>
              <a:t>    "요구조건–시험 연결",</a:t>
            </a:r>
          </a:p>
          <a:p xmlns:a="http://schemas.openxmlformats.org/drawingml/2006/main">
            <a:r>
              <a:t>    "결과·증거 완전성 점검",</a:t>
            </a:r>
          </a:p>
          <a:p xmlns:a="http://schemas.openxmlformats.org/drawingml/2006/main">
            <a:r>
              <a:t>    "조건 변경 후 재검토"</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"7000000",</a:t>
            </a:r>
          </a:p>
          <a:p xmlns:a="http://schemas.openxmlformats.org/drawingml/2006/main">
            <a:r>
              <a:t>      "name": "자동차안전연구원",</a:t>
            </a:r>
          </a:p>
          <a:p xmlns:a="http://schemas.openxmlformats.org/drawingml/2006/main">
            <a:r>
              <a:t>      "job": "미래차 안전 연구·평가",</a:t>
            </a:r>
          </a:p>
          <a:p xmlns:a="http://schemas.openxmlformats.org/drawingml/2006/main">
            <a:r>
              <a:t>      "indices": [],</a:t>
            </a:r>
          </a:p>
          <a:p xmlns:a="http://schemas.openxmlformats.org/drawingml/2006/main">
            <a:r>
              <a:t>      "duties": [],</a:t>
            </a:r>
          </a:p>
          <a:p xmlns:a="http://schemas.openxmlformats.org/drawingml/2006/main">
            <a:r>
              <a:t>      "locator": "자동차안전연구원 별도 직제시행세칙 대조 대상",</a:t>
            </a:r>
          </a:p>
          <a:p xmlns:a="http://schemas.openxmlformats.org/drawingml/2006/main">
            <a:r>
              <a:t>      "restriction": "별표4 부설기관: 자동차안전연구원 직제시행세칙에 따름 · 하부조직·직무·업무분장 별도 확인 필요",</a:t>
            </a:r>
          </a:p>
          <a:p xmlns:a="http://schemas.openxmlformats.org/drawingml/2006/main">
            <a:r>
              <a:t>      "status": "법령·업무 원장 기반 요약 / 세부 직제 확인",</a:t>
            </a:r>
          </a:p>
          <a:p xmlns:a="http://schemas.openxmlformats.org/drawingml/2006/main">
            <a:r>
              <a:t>      "workItems": []</a:t>
            </a:r>
          </a:p>
          <a:p xmlns:a="http://schemas.openxmlformats.org/drawingml/2006/main">
            <a:r>
              <a:t>    },</a:t>
            </a:r>
          </a:p>
          <a:p xmlns:a="http://schemas.openxmlformats.org/drawingml/2006/main">
            <a:r>
              <a:t>    {</a:t>
            </a:r>
          </a:p>
          <a:p xmlns:a="http://schemas.openxmlformats.org/drawingml/2006/main">
            <a:r>
              <a:t>      "code": "1029020",</a:t>
            </a:r>
          </a:p>
          <a:p xmlns:a="http://schemas.openxmlformats.org/drawingml/2006/main">
            <a:r>
              <a:t>      "name": "첨단연구개발처",</a:t>
            </a:r>
          </a:p>
          <a:p xmlns:a="http://schemas.openxmlformats.org/drawingml/2006/main">
            <a:r>
              <a:t>      "job": "미래차 검사기술 연구",</a:t>
            </a:r>
          </a:p>
          <a:p xmlns:a="http://schemas.openxmlformats.org/drawingml/2006/main">
            <a:r>
              <a:t>      "indices": [</a:t>
            </a:r>
          </a:p>
          <a:p xmlns:a="http://schemas.openxmlformats.org/drawingml/2006/main">
            <a:r>
              <a:t>        4,</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"5. 검사기준 및 검사방법 개발에 관한 업무",</a:t>
            </a:r>
          </a:p>
          <a:p xmlns:a="http://schemas.openxmlformats.org/drawingml/2006/main">
            <a:r>
              <a:t>        "8. 자율주행자동차 등 검사기술 개발"</a:t>
            </a:r>
          </a:p>
          <a:p xmlns:a="http://schemas.openxmlformats.org/drawingml/2006/main">
            <a:r>
              <a:t>      ],</a:t>
            </a:r>
          </a:p>
          <a:p xmlns:a="http://schemas.openxmlformats.org/drawingml/2006/main">
            <a:r>
              <a:t>      "locator": "별표4 · T43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"RULEWORK-1029020-5",</a:t>
            </a:r>
          </a:p>
          <a:p xmlns:a="http://schemas.openxmlformats.org/drawingml/2006/main">
            <a:r>
              <a:t>          "text": "5. 검사기준 및 검사방법 개발에 관한 업무",</a:t>
            </a:r>
          </a:p>
          <a:p xmlns:a="http://schemas.openxmlformats.org/drawingml/2006/main">
            <a:r>
              <a:t>          "locator": "별표4 · T43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"RULEWORK-1029020-5-R01",</a:t>
            </a:r>
          </a:p>
          <a:p xmlns:a="http://schemas.openxmlformats.org/drawingml/2006/main">
            <a:r>
              <a:t>              "title": "업무 맥락·전용 지식 구성",</a:t>
            </a:r>
          </a:p>
          <a:p xmlns:a="http://schemas.openxmlformats.org/drawingml/2006/main">
            <a:r>
              <a:t>              "development": "연구대상·가설·기준별 근거·시험항목 구성",</a:t>
            </a:r>
          </a:p>
          <a:p xmlns:a="http://schemas.openxmlformats.org/drawingml/2006/main">
            <a:r>
              <a:t>              "output": "기술 검토·시험 근거·연구 추적표",</a:t>
            </a:r>
          </a:p>
          <a:p xmlns:a="http://schemas.openxmlformats.org/drawingml/2006/main">
            <a:r>
              <a:t>              "testId": "RULEWORK-1029020-5-T01",</a:t>
            </a:r>
          </a:p>
          <a:p xmlns:a="http://schemas.openxmlformats.org/drawingml/2006/main">
            <a:r>
              <a:t>              "criterion": "인용 원문·시험 조건·계산·단위 대조"</a:t>
            </a:r>
          </a:p>
          <a:p xmlns:a="http://schemas.openxmlformats.org/drawingml/2006/main">
            <a:r>
              <a:t>            },</a:t>
            </a:r>
          </a:p>
          <a:p xmlns:a="http://schemas.openxmlformats.org/drawingml/2006/main">
            <a:r>
              <a:t>            {</a:t>
            </a:r>
          </a:p>
          <a:p xmlns:a="http://schemas.openxmlformats.org/drawingml/2006/main">
            <a:r>
              <a:t>              "id": "RULEWORK-1029020-5-R02",</a:t>
            </a:r>
          </a:p>
          <a:p xmlns:a="http://schemas.openxmlformats.org/drawingml/2006/main">
            <a:r>
              <a:t>              "title": "업무건·역할·시스템 연결",</a:t>
            </a:r>
          </a:p>
          <a:p xmlns:a="http://schemas.openxmlformats.org/drawingml/2006/main">
            <a:r>
              <a:t>              "development": "과제·실증 조건·시험자료·판본 추적",</a:t>
            </a:r>
          </a:p>
          <a:p xmlns:a="http://schemas.openxmlformats.org/drawingml/2006/main">
            <a:r>
              <a:t>              "output": "업무건·원천·역할·변경 연결 명세",</a:t>
            </a:r>
          </a:p>
          <a:p xmlns:a="http://schemas.openxmlformats.org/drawingml/2006/main">
            <a:r>
              <a:t>              "testId": "RULEWORK-1029020-5-T02",</a:t>
            </a:r>
          </a:p>
          <a:p xmlns:a="http://schemas.openxmlformats.org/drawingml/2006/main">
            <a:r>
              <a:t>              "criterion": "실험 미수행 결과·근거 없는 성능 확정 차단"</a:t>
            </a:r>
          </a:p>
          <a:p xmlns:a="http://schemas.openxmlformats.org/drawingml/2006/main">
            <a:r>
              <a:t>            },</a:t>
            </a:r>
          </a:p>
          <a:p xmlns:a="http://schemas.openxmlformats.org/drawingml/2006/main">
            <a:r>
              <a:t>            {</a:t>
            </a:r>
          </a:p>
          <a:p xmlns:a="http://schemas.openxmlformats.org/drawingml/2006/main">
            <a:r>
              <a:t>              "id": "RULEWORK-1029020-5-R03",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"RULEWORK-1029020-5-T03",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"RULEWORK-1029020-8",</a:t>
            </a:r>
          </a:p>
          <a:p xmlns:a="http://schemas.openxmlformats.org/drawingml/2006/main">
            <a:r>
              <a:t>          "text": "8. 자율주행자동차 등 검사기술 개발",</a:t>
            </a:r>
          </a:p>
          <a:p xmlns:a="http://schemas.openxmlformats.org/drawingml/2006/main">
            <a:r>
              <a:t>          "locator": "별표4 · T43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"RULEWORK-1029020-8-R01",</a:t>
            </a:r>
          </a:p>
          <a:p xmlns:a="http://schemas.openxmlformats.org/drawingml/2006/main">
            <a:r>
              <a:t>              "title": "업무 맥락·전용 지식 구성",</a:t>
            </a:r>
          </a:p>
          <a:p xmlns:a="http://schemas.openxmlformats.org/drawingml/2006/main">
            <a:r>
              <a:t>              "development": "차량·변경 유형별 기준·제출자료 선택",</a:t>
            </a:r>
          </a:p>
          <a:p xmlns:a="http://schemas.openxmlformats.org/drawingml/2006/main">
            <a:r>
              <a:t>              "output": "요건 대조표·보완·검사 인계 기록",</a:t>
            </a:r>
          </a:p>
          <a:p xmlns:a="http://schemas.openxmlformats.org/drawingml/2006/main">
            <a:r>
              <a:t>              "testId": "RULEWORK-1029020-8-T01",</a:t>
            </a:r>
          </a:p>
          <a:p xmlns:a="http://schemas.openxmlformats.org/drawingml/2006/main">
            <a:r>
              <a:t>              "criterion": "누락·상충·판본별 요건 정답셋 대조"</a:t>
            </a:r>
          </a:p>
          <a:p xmlns:a="http://schemas.openxmlformats.org/drawingml/2006/main">
            <a:r>
              <a:t>            },</a:t>
            </a:r>
          </a:p>
          <a:p xmlns:a="http://schemas.openxmlformats.org/drawingml/2006/main">
            <a:r>
              <a:t>            {</a:t>
            </a:r>
          </a:p>
          <a:p xmlns:a="http://schemas.openxmlformats.org/drawingml/2006/main">
            <a:r>
              <a:t>              "id": "RULEWORK-1029020-8-R02",</a:t>
            </a:r>
          </a:p>
          <a:p xmlns:a="http://schemas.openxmlformats.org/drawingml/2006/main">
            <a:r>
              <a:t>              "title": "업무건·역할·시스템 연결",</a:t>
            </a:r>
          </a:p>
          <a:p xmlns:a="http://schemas.openxmlformats.org/drawingml/2006/main">
            <a:r>
              <a:t>              "development": "신청–보완–검사–결과의 업무건·판본 연결",</a:t>
            </a:r>
          </a:p>
          <a:p xmlns:a="http://schemas.openxmlformats.org/drawingml/2006/main">
            <a:r>
              <a:t>              "output": "업무건·원천·역할·변경 연결 명세",</a:t>
            </a:r>
          </a:p>
          <a:p xmlns:a="http://schemas.openxmlformats.org/drawingml/2006/main">
            <a:r>
              <a:t>              "testId": "RULEWORK-1029020-8-T02",</a:t>
            </a:r>
          </a:p>
          <a:p xmlns:a="http://schemas.openxmlformats.org/drawingml/2006/main">
            <a:r>
              <a:t>              "criterion": "문서 검토와 현장 검사·공식 판정의 구분"</a:t>
            </a:r>
          </a:p>
          <a:p xmlns:a="http://schemas.openxmlformats.org/drawingml/2006/main">
            <a:r>
              <a:t>            },</a:t>
            </a:r>
          </a:p>
          <a:p xmlns:a="http://schemas.openxmlformats.org/drawingml/2006/main">
            <a:r>
              <a:t>            {</a:t>
            </a:r>
          </a:p>
          <a:p xmlns:a="http://schemas.openxmlformats.org/drawingml/2006/main">
            <a:r>
              <a:t>              "id": "RULEWORK-1029020-8-R03",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"RULEWORK-1029020-8-T03",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"1021020",</a:t>
            </a:r>
          </a:p>
          <a:p xmlns:a="http://schemas.openxmlformats.org/drawingml/2006/main">
            <a:r>
              <a:t>      "name": "규제혁신처",</a:t>
            </a:r>
          </a:p>
          <a:p xmlns:a="http://schemas.openxmlformats.org/drawingml/2006/main">
            <a:r>
              <a:t>      "job": "실증특례 접수·승인 지원",</a:t>
            </a:r>
          </a:p>
          <a:p xmlns:a="http://schemas.openxmlformats.org/drawingml/2006/main">
            <a:r>
              <a:t>      "indices": [</a:t>
            </a:r>
          </a:p>
          <a:p xmlns:a="http://schemas.openxmlformats.org/drawingml/2006/main">
            <a:r>
              <a:t>        1,</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"2. 모빌리티 실증특례 접수 및 승인 지원",</a:t>
            </a:r>
          </a:p>
          <a:p xmlns:a="http://schemas.openxmlformats.org/drawingml/2006/main">
            <a:r>
              <a:t>        "8. 실증특례 통합검토위원회 구성, 운영"</a:t>
            </a:r>
          </a:p>
          <a:p xmlns:a="http://schemas.openxmlformats.org/drawingml/2006/main">
            <a:r>
              <a:t>      ],</a:t>
            </a:r>
          </a:p>
          <a:p xmlns:a="http://schemas.openxmlformats.org/drawingml/2006/main">
            <a:r>
              <a:t>      "locator": "별표4 · T41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"RULEWORK-1021020-2",</a:t>
            </a:r>
          </a:p>
          <a:p xmlns:a="http://schemas.openxmlformats.org/drawingml/2006/main">
            <a:r>
              <a:t>          "text": "2. 모빌리티 실증특례 접수 및 승인 지원",</a:t>
            </a:r>
          </a:p>
          <a:p xmlns:a="http://schemas.openxmlformats.org/drawingml/2006/main">
            <a:r>
              <a:t>          "locator": "별표4 · T41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"RULEWORK-1021020-2-R01",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"RULEWORK-1021020-2-T01",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"RULEWORK-1021020-2-R02",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"RULEWORK-1021020-2-T02",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"RULEWORK-1021020-2-R03",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"RULEWORK-1021020-2-T03",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"RULEWORK-1021020-8",</a:t>
            </a:r>
          </a:p>
          <a:p xmlns:a="http://schemas.openxmlformats.org/drawingml/2006/main">
            <a:r>
              <a:t>          "text": "8. 실증특례 통합검토위원회 구성, 운영",</a:t>
            </a:r>
          </a:p>
          <a:p xmlns:a="http://schemas.openxmlformats.org/drawingml/2006/main">
            <a:r>
              <a:t>          "locator": "별표4 · T41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"RULEWORK-1021020-8-R01",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"RULEWORK-1021020-8-T01",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"RULEWORK-1021020-8-R02",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"RULEWORK-1021020-8-T02",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"RULEWORK-1021020-8-R03",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"RULEWORK-1021020-8-T03",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"특화도시·시범사업 지원",</a:t>
            </a:r>
          </a:p>
          <a:p xmlns:a="http://schemas.openxmlformats.org/drawingml/2006/main">
            <a:r>
              <a:t>      "indices": [</a:t>
            </a:r>
          </a:p>
          <a:p xmlns:a="http://schemas.openxmlformats.org/drawingml/2006/main">
            <a:r>
              <a:t>        0,</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"1. 모빌리티 특화도시 사업지원",</a:t>
            </a:r>
          </a:p>
          <a:p xmlns:a="http://schemas.openxmlformats.org/drawingml/2006/main">
            <a:r>
              <a:t>        "6. 첨단모빌리티 시범사업과 대상지역 지정요청 접수"</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"RULEWORK-1021030-1",</a:t>
            </a:r>
          </a:p>
          <a:p xmlns:a="http://schemas.openxmlformats.org/drawingml/2006/main">
            <a:r>
              <a:t>          "text": "1. 모빌리티 특화도시 사업지원",</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"RULEWORK-1021030-1-R01",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"RULEWORK-1021030-1-T01",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"RULEWORK-1021030-1-R02",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"RULEWORK-1021030-1-T02",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"RULEWORK-1021030-6",</a:t>
            </a:r>
          </a:p>
          <a:p xmlns:a="http://schemas.openxmlformats.org/drawingml/2006/main">
            <a:r>
              <a:t>          "text": "6. 첨단모빌리티 시범사업과 대상지역 지정요청 접수",</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"RULEWORK-1021030-6-R01",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"RULEWORK-1021030-6-T01",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"RULEWORK-1021030-6-R02",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"RULEWORK-1021030-6-T02",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"1211290",</a:t>
            </a:r>
          </a:p>
          <a:p xmlns:a="http://schemas.openxmlformats.org/drawingml/2006/main">
            <a:r>
              <a:t>      "name": "드론관리처",</a:t>
            </a:r>
          </a:p>
          <a:p xmlns:a="http://schemas.openxmlformats.org/drawingml/2006/main">
            <a:r>
              <a:t>      "job": "드론 안전관리·연구",</a:t>
            </a:r>
          </a:p>
          <a:p xmlns:a="http://schemas.openxmlformats.org/drawingml/2006/main">
            <a:r>
              <a:t>      "indices": [</a:t>
            </a:r>
          </a:p>
          <a:p xmlns:a="http://schemas.openxmlformats.org/drawingml/2006/main">
            <a:r>
              <a:t>        1,</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"2. 초경량비행장치 사용사업체 안전관리 및 지도점검",</a:t>
            </a:r>
          </a:p>
          <a:p xmlns:a="http://schemas.openxmlformats.org/drawingml/2006/main">
            <a:r>
              <a:t>        "5. 무인비행장치(드론) 관련 신규사업 개발 및 안전연구(UTM, 안티드론, 드론택시․택배 등)"</a:t>
            </a:r>
          </a:p>
          <a:p xmlns:a="http://schemas.openxmlformats.org/drawingml/2006/main">
            <a:r>
              <a:t>      ],</a:t>
            </a:r>
          </a:p>
          <a:p xmlns:a="http://schemas.openxmlformats.org/drawingml/2006/main">
            <a:r>
              <a:t>      "locator": "별표4 · T45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"RULEWORK-1211290-2",</a:t>
            </a:r>
          </a:p>
          <a:p xmlns:a="http://schemas.openxmlformats.org/drawingml/2006/main">
            <a:r>
              <a:t>          "text": "2. 초경량비행장치 사용사업체 안전관리 및 지도점검",</a:t>
            </a:r>
          </a:p>
          <a:p xmlns:a="http://schemas.openxmlformats.org/drawingml/2006/main">
            <a:r>
              <a:t>          "locator": "별표4 · T45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"RULEWORK-1211290-2-R01",</a:t>
            </a:r>
          </a:p>
          <a:p xmlns:a="http://schemas.openxmlformats.org/drawingml/2006/main">
            <a:r>
              <a:t>              "title": "업무 맥락·전용 지식 구성",</a:t>
            </a:r>
          </a:p>
          <a:p xmlns:a="http://schemas.openxmlformats.org/drawingml/2006/main">
            <a:r>
              <a:t>              "development": "기체·임무·운영 범위별 요건 분류",</a:t>
            </a:r>
          </a:p>
          <a:p xmlns:a="http://schemas.openxmlformats.org/drawingml/2006/main">
            <a:r>
              <a:t>              "output": "요건·위험·보완·인계 검토자료",</a:t>
            </a:r>
          </a:p>
          <a:p xmlns:a="http://schemas.openxmlformats.org/drawingml/2006/main">
            <a:r>
              <a:t>              "testId": "RULEWORK-1211290-2-T01",</a:t>
            </a:r>
          </a:p>
          <a:p xmlns:a="http://schemas.openxmlformats.org/drawingml/2006/main">
            <a:r>
              <a:t>              "criterion": "운영 조건·서류 요건·근거 조항 대조"</a:t>
            </a:r>
          </a:p>
          <a:p xmlns:a="http://schemas.openxmlformats.org/drawingml/2006/main">
            <a:r>
              <a:t>            },</a:t>
            </a:r>
          </a:p>
          <a:p xmlns:a="http://schemas.openxmlformats.org/drawingml/2006/main">
            <a:r>
              <a:t>            {</a:t>
            </a:r>
          </a:p>
          <a:p xmlns:a="http://schemas.openxmlformats.org/drawingml/2006/main">
            <a:r>
              <a:t>              "id": "RULEWORK-1211290-2-R02",</a:t>
            </a:r>
          </a:p>
          <a:p xmlns:a="http://schemas.openxmlformats.org/drawingml/2006/main">
            <a:r>
              <a:t>              "title": "업무건·역할·시스템 연결",</a:t>
            </a:r>
          </a:p>
          <a:p xmlns:a="http://schemas.openxmlformats.org/drawingml/2006/main">
            <a:r>
              <a:t>              "development": "신고·검토·보완·공식 결과의 판본 추적",</a:t>
            </a:r>
          </a:p>
          <a:p xmlns:a="http://schemas.openxmlformats.org/drawingml/2006/main">
            <a:r>
              <a:t>              "output": "업무건·원천·역할·변경 연결 명세",</a:t>
            </a:r>
          </a:p>
          <a:p xmlns:a="http://schemas.openxmlformats.org/drawingml/2006/main">
            <a:r>
              <a:t>              "testId": "RULEWORK-1211290-2-T02",</a:t>
            </a:r>
          </a:p>
          <a:p xmlns:a="http://schemas.openxmlformats.org/drawingml/2006/main">
            <a:r>
              <a:t>              "criterion": "공식 비행 허가·안전 판정의 자동 확정 차단"</a:t>
            </a:r>
          </a:p>
          <a:p xmlns:a="http://schemas.openxmlformats.org/drawingml/2006/main">
            <a:r>
              <a:t>            },</a:t>
            </a:r>
          </a:p>
          <a:p xmlns:a="http://schemas.openxmlformats.org/drawingml/2006/main">
            <a:r>
              <a:t>            {</a:t>
            </a:r>
          </a:p>
          <a:p xmlns:a="http://schemas.openxmlformats.org/drawingml/2006/main">
            <a:r>
              <a:t>              "id": "RULEWORK-1211290-2-R03",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"RULEWORK-1211290-2-T03",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"RULEWORK-1211290-5",</a:t>
            </a:r>
          </a:p>
          <a:p xmlns:a="http://schemas.openxmlformats.org/drawingml/2006/main">
            <a:r>
              <a:t>          "text": "5. 무인비행장치(드론) 관련 신규사업 개발 및 안전연구(UTM, 안티드론, 드론택시․택배 등)",</a:t>
            </a:r>
          </a:p>
          <a:p xmlns:a="http://schemas.openxmlformats.org/drawingml/2006/main">
            <a:r>
              <a:t>          "locator": "별표4 · T45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"RULEWORK-1211290-5-R01",</a:t>
            </a:r>
          </a:p>
          <a:p xmlns:a="http://schemas.openxmlformats.org/drawingml/2006/main">
            <a:r>
              <a:t>              "title": "업무 맥락·전용 지식 구성",</a:t>
            </a:r>
          </a:p>
          <a:p xmlns:a="http://schemas.openxmlformats.org/drawingml/2006/main">
            <a:r>
              <a:t>              "development": "기체·임무·운영 범위별 요건 분류",</a:t>
            </a:r>
          </a:p>
          <a:p xmlns:a="http://schemas.openxmlformats.org/drawingml/2006/main">
            <a:r>
              <a:t>              "output": "요건·위험·보완·인계 검토자료",</a:t>
            </a:r>
          </a:p>
          <a:p xmlns:a="http://schemas.openxmlformats.org/drawingml/2006/main">
            <a:r>
              <a:t>              "testId": "RULEWORK-1211290-5-T01",</a:t>
            </a:r>
          </a:p>
          <a:p xmlns:a="http://schemas.openxmlformats.org/drawingml/2006/main">
            <a:r>
              <a:t>              "criterion": "운영 조건·서류 요건·근거 조항 대조"</a:t>
            </a:r>
          </a:p>
          <a:p xmlns:a="http://schemas.openxmlformats.org/drawingml/2006/main">
            <a:r>
              <a:t>            },</a:t>
            </a:r>
          </a:p>
          <a:p xmlns:a="http://schemas.openxmlformats.org/drawingml/2006/main">
            <a:r>
              <a:t>            {</a:t>
            </a:r>
          </a:p>
          <a:p xmlns:a="http://schemas.openxmlformats.org/drawingml/2006/main">
            <a:r>
              <a:t>              "id": "RULEWORK-1211290-5-R02",</a:t>
            </a:r>
          </a:p>
          <a:p xmlns:a="http://schemas.openxmlformats.org/drawingml/2006/main">
            <a:r>
              <a:t>              "title": "업무건·역할·시스템 연결",</a:t>
            </a:r>
          </a:p>
          <a:p xmlns:a="http://schemas.openxmlformats.org/drawingml/2006/main">
            <a:r>
              <a:t>              "development": "신고·검토·보완·공식 결과의 판본 추적",</a:t>
            </a:r>
          </a:p>
          <a:p xmlns:a="http://schemas.openxmlformats.org/drawingml/2006/main">
            <a:r>
              <a:t>              "output": "업무건·원천·역할·변경 연결 명세",</a:t>
            </a:r>
          </a:p>
          <a:p xmlns:a="http://schemas.openxmlformats.org/drawingml/2006/main">
            <a:r>
              <a:t>              "testId": "RULEWORK-1211290-5-T02",</a:t>
            </a:r>
          </a:p>
          <a:p xmlns:a="http://schemas.openxmlformats.org/drawingml/2006/main">
            <a:r>
              <a:t>              "criterion": "공식 비행 허가·안전 판정의 자동 확정 차단"</a:t>
            </a:r>
          </a:p>
          <a:p xmlns:a="http://schemas.openxmlformats.org/drawingml/2006/main">
            <a:r>
              <a:t>            },</a:t>
            </a:r>
          </a:p>
          <a:p xmlns:a="http://schemas.openxmlformats.org/drawingml/2006/main">
            <a:r>
              <a:t>            {</a:t>
            </a:r>
          </a:p>
          <a:p xmlns:a="http://schemas.openxmlformats.org/drawingml/2006/main">
            <a:r>
              <a:t>              "id": "RULEWORK-1211290-5-R03",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"RULEWORK-1211290-5-T03",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기술 기준 검색"</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"JET·Audin의 구조화 검토·증거 대사"</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"실증조건–요구조건–시험 ID 연결",</a:t>
            </a:r>
          </a:p>
          <a:p xmlns:a="http://schemas.openxmlformats.org/drawingml/2006/main">
            <a:r>
              <a:t>    "조건 변경 영향·재검증 목록"</a:t>
            </a:r>
          </a:p>
          <a:p xmlns:a="http://schemas.openxmlformats.org/drawingml/2006/main">
            <a:r>
              <a:t>  ],</a:t>
            </a:r>
          </a:p>
          <a:p xmlns:a="http://schemas.openxmlformats.org/drawingml/2006/main">
            <a:r>
              <a:t>  "acceptancePlan": {</a:t>
            </a:r>
          </a:p>
          <a:p xmlns:a="http://schemas.openxmlformats.org/drawingml/2006/main">
            <a:r>
              <a:t>    "sample": "운행조건 변경, 로그 누락, 시험판본 불일치",</a:t>
            </a:r>
          </a:p>
          <a:p xmlns:a="http://schemas.openxmlformats.org/drawingml/2006/main">
            <a:r>
              <a:t>    "criterion": "변경 영향 시험 재선정·증거 미비 보류",</a:t>
            </a:r>
          </a:p>
          <a:p xmlns:a="http://schemas.openxmlformats.org/drawingml/2006/main">
            <a:r>
              <a:t>    "evidence": "요구–시험–증거 추적표·재검증 결과",</a:t>
            </a:r>
          </a:p>
          <a:p xmlns:a="http://schemas.openxmlformats.org/drawingml/2006/main">
            <a:r>
              <a:t>    "execution": "미실행"</a:t>
            </a:r>
          </a:p>
          <a:p xmlns:a="http://schemas.openxmlformats.org/drawingml/2006/main">
            <a:r>
              <a:t>  },</a:t>
            </a:r>
          </a:p>
          <a:p xmlns:a="http://schemas.openxmlformats.org/drawingml/2006/main">
            <a:r>
              <a:t>  "formula": "증거 연결 완료 시험 수 ÷ 대상 시험 수 / 변경 후 재검토 소요시간",</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a:t>
            </a:r>
          </a:p>
          <a:p xmlns:a="http://schemas.openxmlformats.org/drawingml/2006/main">
            <a:r>
              <a:t>CCK-01: NOA 사용자 가이드 확인. 설치본 기능시험 필요.</a:t>
            </a:r>
          </a:p>
          <a:p xmlns:a="http://schemas.openxmlformats.org/drawingml/2006/main">
            <a:r>
              <a:t>CCK-02/03: 명세 기반 재사용 후보. 실물 기능검증 필요.</a:t>
            </a:r>
          </a:p>
          <a:p xmlns:a="http://schemas.openxmlformats.org/drawingml/2006/main">
            <a:r>
              <a:t>기존 SSO·RAG·권한·로그·연계 범위 대조 후 추가분 산정.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"ST-06",</a:t>
            </a:r>
          </a:p>
          <a:p xmlns:a="http://schemas.openxmlformats.org/drawingml/2006/main">
            <a:r>
              <a:t>  "number": 6,</a:t>
            </a:r>
          </a:p>
          <a:p xmlns:a="http://schemas.openxmlformats.org/drawingml/2006/main">
            <a:r>
              <a:t>  "direction": "지능형 미래 모빌리티 혁신",</a:t>
            </a:r>
          </a:p>
          <a:p xmlns:a="http://schemas.openxmlformats.org/drawingml/2006/main">
            <a:r>
              <a:t>  "strategy": "기후위기 대응 친환경 전환 가속화",</a:t>
            </a:r>
          </a:p>
          <a:p xmlns:a="http://schemas.openxmlformats.org/drawingml/2006/main">
            <a:r>
              <a:t>  "solution": "친환경 교통·탄소 업무지원",</a:t>
            </a:r>
          </a:p>
          <a:p xmlns:a="http://schemas.openxmlformats.org/drawingml/2006/main">
            <a:r>
              <a:t>  "lawIds": [</a:t>
            </a:r>
          </a:p>
          <a:p xmlns:a="http://schemas.openxmlformats.org/drawingml/2006/main">
            <a:r>
              <a:t>    "L13"</a:t>
            </a:r>
          </a:p>
          <a:p xmlns:a="http://schemas.openxmlformats.org/drawingml/2006/main">
            <a:r>
              <a:t>  ],</a:t>
            </a:r>
          </a:p>
          <a:p xmlns:a="http://schemas.openxmlformats.org/drawingml/2006/main">
            <a:r>
              <a:t>  "codes": [</a:t>
            </a:r>
          </a:p>
          <a:p xmlns:a="http://schemas.openxmlformats.org/drawingml/2006/main">
            <a:r>
              <a:t>    "1019040",</a:t>
            </a:r>
          </a:p>
          <a:p xmlns:a="http://schemas.openxmlformats.org/drawingml/2006/main">
            <a:r>
              <a:t>    "1019041",</a:t>
            </a:r>
          </a:p>
          <a:p xmlns:a="http://schemas.openxmlformats.org/drawingml/2006/main">
            <a:r>
              <a:t>    "1019030"</a:t>
            </a:r>
          </a:p>
          <a:p xmlns:a="http://schemas.openxmlformats.org/drawingml/2006/main">
            <a:r>
              <a:t>  ],</a:t>
            </a:r>
          </a:p>
          <a:p xmlns:a="http://schemas.openxmlformats.org/drawingml/2006/main">
            <a:r>
              <a:t>  "work": "교통물류·탄소중립 정책 및 친환경 전환 자료 관리",</a:t>
            </a:r>
          </a:p>
          <a:p xmlns:a="http://schemas.openxmlformats.org/drawingml/2006/main">
            <a:r>
              <a:t>  "features": [</a:t>
            </a:r>
          </a:p>
          <a:p xmlns:a="http://schemas.openxmlformats.org/drawingml/2006/main">
            <a:r>
              <a:t>    "활동자료·계수·산정기간·원천 판본 연결",</a:t>
            </a:r>
          </a:p>
          <a:p xmlns:a="http://schemas.openxmlformats.org/drawingml/2006/main">
            <a:r>
              <a:t>    "부서·사업별 실적 증빙과 보고서 작성 지원"</a:t>
            </a:r>
          </a:p>
          <a:p xmlns:a="http://schemas.openxmlformats.org/drawingml/2006/main">
            <a:r>
              <a:t>  ],</a:t>
            </a:r>
          </a:p>
          <a:p xmlns:a="http://schemas.openxmlformats.org/drawingml/2006/main">
            <a:r>
              <a:t>  "output": "탄소 산정 대사표·개선 권고 초안",</a:t>
            </a:r>
          </a:p>
          <a:p xmlns:a="http://schemas.openxmlformats.org/drawingml/2006/main">
            <a:r>
              <a:t>  "acceptance": "산정 입력·계수·기간의 재현성 및 누락 자료의 보류 처리",</a:t>
            </a:r>
          </a:p>
          <a:p xmlns:a="http://schemas.openxmlformats.org/drawingml/2006/main">
            <a:r>
              <a:t>  "phase": "공통 기반 인수 후 부서별 적용",</a:t>
            </a:r>
          </a:p>
          <a:p xmlns:a="http://schemas.openxmlformats.org/drawingml/2006/main">
            <a:r>
              <a:t>  "packages": [</a:t>
            </a:r>
          </a:p>
          <a:p xmlns:a="http://schemas.openxmlformats.org/drawingml/2006/main">
            <a:r>
              <a:t>    "ON-W01",</a:t>
            </a:r>
          </a:p>
          <a:p xmlns:a="http://schemas.openxmlformats.org/drawingml/2006/main">
            <a:r>
              <a:t>    "ON-W04",</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"GAI-T02",</a:t>
            </a:r>
          </a:p>
          <a:p xmlns:a="http://schemas.openxmlformats.org/drawingml/2006/main">
            <a:r>
              <a:t>    "GAI-T06",</a:t>
            </a:r>
          </a:p>
          <a:p xmlns:a="http://schemas.openxmlformats.org/drawingml/2006/main">
            <a:r>
              <a:t>    "GAI-T09"</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"1019040",</a:t>
            </a:r>
          </a:p>
          <a:p xmlns:a="http://schemas.openxmlformats.org/drawingml/2006/main">
            <a:r>
              <a:t>      "name": "기후탄소물류처",</a:t>
            </a:r>
          </a:p>
          <a:p xmlns:a="http://schemas.openxmlformats.org/drawingml/2006/main">
            <a:r>
              <a:t>      "job": "교통물류 정책·실적 관리",</a:t>
            </a:r>
          </a:p>
          <a:p xmlns:a="http://schemas.openxmlformats.org/drawingml/2006/main">
            <a:r>
              <a:t>      "indices": [</a:t>
            </a:r>
          </a:p>
          <a:p xmlns:a="http://schemas.openxmlformats.org/drawingml/2006/main">
            <a:r>
              <a:t>        1,</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"2. 화물운송실적관리시스템 운영에 관한 업무",</a:t>
            </a:r>
          </a:p>
          <a:p xmlns:a="http://schemas.openxmlformats.org/drawingml/2006/main">
            <a:r>
              <a:t>        "6. 교통물류 정책관련 연구‧사업 업무"</a:t>
            </a:r>
          </a:p>
          <a:p xmlns:a="http://schemas.openxmlformats.org/drawingml/2006/main">
            <a:r>
              <a:t>      ],</a:t>
            </a:r>
          </a:p>
          <a:p xmlns:a="http://schemas.openxmlformats.org/drawingml/2006/main">
            <a:r>
              <a:t>      "locator": "별표4 · T40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"1019041",</a:t>
            </a:r>
          </a:p>
          <a:p xmlns:a="http://schemas.openxmlformats.org/drawingml/2006/main">
            <a:r>
              <a:t>      "name": "탄소중립정책팀",</a:t>
            </a:r>
          </a:p>
          <a:p xmlns:a="http://schemas.openxmlformats.org/drawingml/2006/main">
            <a:r>
              <a:t>      "job": "온실가스 조사·감축지원",</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교통부문 온실가스 배출량 조사사업(배출량 조사, 계수개발, 목표관리제, KOTEMS 등) 운영 및 관리 업무",</a:t>
            </a:r>
          </a:p>
          <a:p xmlns:a="http://schemas.openxmlformats.org/drawingml/2006/main">
            <a:r>
              <a:t>        "3. 교통부문 온실가스 감축 추진 등을 위한 배출권거래제 외부사업, 국제항공탄소 상쇄제도 및 국제감축 등 감축지원 사업 발굴, 운영·관리 업무"</a:t>
            </a:r>
          </a:p>
          <a:p xmlns:a="http://schemas.openxmlformats.org/drawingml/2006/main">
            <a:r>
              <a:t>      ],</a:t>
            </a:r>
          </a:p>
          <a:p xmlns:a="http://schemas.openxmlformats.org/drawingml/2006/main">
            <a:r>
              <a:t>      "locator": "별표4 · T40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"친환경차 안전 정책",</a:t>
            </a:r>
          </a:p>
          <a:p xmlns:a="http://schemas.openxmlformats.org/drawingml/2006/main">
            <a:r>
              <a:t>      "indices": [</a:t>
            </a:r>
          </a:p>
          <a:p xmlns:a="http://schemas.openxmlformats.org/drawingml/2006/main">
            <a:r>
              <a:t>        17</a:t>
            </a:r>
          </a:p>
          <a:p xmlns:a="http://schemas.openxmlformats.org/drawingml/2006/main">
            <a:r>
              <a:t>      ],</a:t>
            </a:r>
          </a:p>
          <a:p xmlns:a="http://schemas.openxmlformats.org/drawingml/2006/main">
            <a:r>
              <a:t>      "duties": [</a:t>
            </a:r>
          </a:p>
          <a:p xmlns:a="http://schemas.openxmlformats.org/drawingml/2006/main">
            <a:r>
              <a:t>        "18. 사업부서 추진 중 친환경차 안전확보 업무에 대한 총괄 정책 업무"</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"L13: 화물운송실적 업무에 한정 / 온실가스 조사·계수·감축지원: 별표4 T40 탄소중립정책팀 업무 / 탄소 산정 관련 개별 법령·기준 추가 대조",</a:t>
            </a:r>
          </a:p>
          <a:p xmlns:a="http://schemas.openxmlformats.org/drawingml/2006/main">
            <a:r>
              <a:t>  "caseRefs": [</a:t>
            </a:r>
          </a:p>
          <a:p xmlns:a="http://schemas.openxmlformats.org/drawingml/2006/main">
            <a:r>
              <a:t>    {</a:t>
            </a:r>
          </a:p>
          <a:p xmlns:a="http://schemas.openxmlformats.org/drawingml/2006/main">
            <a:r>
              <a:t>      "caseId": "AX05",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"AX11",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"친환경 운행·탄소 검증 지원",</a:t>
            </a:r>
          </a:p>
          <a:p xmlns:a="http://schemas.openxmlformats.org/drawingml/2006/main">
            <a:r>
              <a:t>  "delta": "활동량·계수·산식 검증과 개선 권고",</a:t>
            </a:r>
          </a:p>
          <a:p xmlns:a="http://schemas.openxmlformats.org/drawingml/2006/main">
            <a:r>
              <a:t>  "kpi": "활동량당 에너지 / 산식 오류율",</a:t>
            </a:r>
          </a:p>
          <a:p xmlns:a="http://schemas.openxmlformats.org/drawingml/2006/main">
            <a:r>
              <a:t>  "validation": "같은 계절·운행 조건 비교 및 계수 판본 재계산",</a:t>
            </a:r>
          </a:p>
          <a:p xmlns:a="http://schemas.openxmlformats.org/drawingml/2006/main">
            <a:r>
              <a:t>  "requirement": "BM-ST-06-R01",</a:t>
            </a:r>
          </a:p>
          <a:p xmlns:a="http://schemas.openxmlformats.org/drawingml/2006/main">
            <a:r>
              <a:t>  "test": "BM-ST-06-T01",</a:t>
            </a:r>
          </a:p>
          <a:p xmlns:a="http://schemas.openxmlformats.org/drawingml/2006/main">
            <a:r>
              <a:t>  "effectStatus": "기대 방향 · TS 실측 전",</a:t>
            </a:r>
          </a:p>
          <a:p xmlns:a="http://schemas.openxmlformats.org/drawingml/2006/main">
            <a:r>
              <a:t>  "effect": "보고 재계산·산식 오류 감소",</a:t>
            </a:r>
          </a:p>
          <a:p xmlns:a="http://schemas.openxmlformats.org/drawingml/2006/main">
            <a:r>
              <a:t>  "reuse": "ON27-BASE / C27-COM + CCK 재사용 판정 기능",</a:t>
            </a:r>
          </a:p>
          <a:p xmlns:a="http://schemas.openxmlformats.org/drawingml/2006/main">
            <a:r>
              <a:t>  "input": "운행·연료 등 활동량, 배출계수 판본, 산정기간·경계",</a:t>
            </a:r>
          </a:p>
          <a:p xmlns:a="http://schemas.openxmlformats.org/drawingml/2006/main">
            <a:r>
              <a:t>  "steps": [</a:t>
            </a:r>
          </a:p>
          <a:p xmlns:a="http://schemas.openxmlformats.org/drawingml/2006/main">
            <a:r>
              <a:t>    "단위·기간 정규화",</a:t>
            </a:r>
          </a:p>
          <a:p xmlns:a="http://schemas.openxmlformats.org/drawingml/2006/main">
            <a:r>
              <a:t>    "계수·산식 대조",</a:t>
            </a:r>
          </a:p>
          <a:p xmlns:a="http://schemas.openxmlformats.org/drawingml/2006/main">
            <a:r>
              <a:t>    "검증 계산·이상값 보류",</a:t>
            </a:r>
          </a:p>
          <a:p xmlns:a="http://schemas.openxmlformats.org/drawingml/2006/main">
            <a:r>
              <a:t>    "부서별 개선 권고 검토"</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"1019040",</a:t>
            </a:r>
          </a:p>
          <a:p xmlns:a="http://schemas.openxmlformats.org/drawingml/2006/main">
            <a:r>
              <a:t>      "name": "기후탄소물류처",</a:t>
            </a:r>
          </a:p>
          <a:p xmlns:a="http://schemas.openxmlformats.org/drawingml/2006/main">
            <a:r>
              <a:t>      "job": "교통물류 정책·실적 관리",</a:t>
            </a:r>
          </a:p>
          <a:p xmlns:a="http://schemas.openxmlformats.org/drawingml/2006/main">
            <a:r>
              <a:t>      "indices": [</a:t>
            </a:r>
          </a:p>
          <a:p xmlns:a="http://schemas.openxmlformats.org/drawingml/2006/main">
            <a:r>
              <a:t>        1,</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"2. 화물운송실적관리시스템 운영에 관한 업무",</a:t>
            </a:r>
          </a:p>
          <a:p xmlns:a="http://schemas.openxmlformats.org/drawingml/2006/main">
            <a:r>
              <a:t>        "6. 교통물류 정책관련 연구‧사업 업무"</a:t>
            </a:r>
          </a:p>
          <a:p xmlns:a="http://schemas.openxmlformats.org/drawingml/2006/main">
            <a:r>
              <a:t>      ],</a:t>
            </a:r>
          </a:p>
          <a:p xmlns:a="http://schemas.openxmlformats.org/drawingml/2006/main">
            <a:r>
              <a:t>      "locator": "별표4 · T40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"RULEWORK-1019040-2",</a:t>
            </a:r>
          </a:p>
          <a:p xmlns:a="http://schemas.openxmlformats.org/drawingml/2006/main">
            <a:r>
              <a:t>          "text": "2. 화물운송실적관리시스템 운영에 관한 업무",</a:t>
            </a:r>
          </a:p>
          <a:p xmlns:a="http://schemas.openxmlformats.org/drawingml/2006/main">
            <a:r>
              <a:t>          "locator": "별표4 · T40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"RULEWORK-1019040-2-R01",</a:t>
            </a:r>
          </a:p>
          <a:p xmlns:a="http://schemas.openxmlformats.org/drawingml/2006/main">
            <a:r>
              <a:t>              "title": "업무 맥락·전용 지식 구성",</a:t>
            </a:r>
          </a:p>
          <a:p xmlns:a="http://schemas.openxmlformats.org/drawingml/2006/main">
            <a:r>
              <a:t>              "development": "경계·단위·계수 판본별 산정자료 분류",</a:t>
            </a:r>
          </a:p>
          <a:p xmlns:a="http://schemas.openxmlformats.org/drawingml/2006/main">
            <a:r>
              <a:t>              "output": "산식·실적·누락·감축 검토표",</a:t>
            </a:r>
          </a:p>
          <a:p xmlns:a="http://schemas.openxmlformats.org/drawingml/2006/main">
            <a:r>
              <a:t>              "testId": "RULEWORK-1019040-2-T01",</a:t>
            </a:r>
          </a:p>
          <a:p xmlns:a="http://schemas.openxmlformats.org/drawingml/2006/main">
            <a:r>
              <a:t>              "criterion": "단위·산정 경계·중복 실적·계수 대조"</a:t>
            </a:r>
          </a:p>
          <a:p xmlns:a="http://schemas.openxmlformats.org/drawingml/2006/main">
            <a:r>
              <a:t>            },</a:t>
            </a:r>
          </a:p>
          <a:p xmlns:a="http://schemas.openxmlformats.org/drawingml/2006/main">
            <a:r>
              <a:t>            {</a:t>
            </a:r>
          </a:p>
          <a:p xmlns:a="http://schemas.openxmlformats.org/drawingml/2006/main">
            <a:r>
              <a:t>              "id": "RULEWORK-1019040-2-R02",</a:t>
            </a:r>
          </a:p>
          <a:p xmlns:a="http://schemas.openxmlformats.org/drawingml/2006/main">
            <a:r>
              <a:t>              "title": "업무건·역할·시스템 연결",</a:t>
            </a:r>
          </a:p>
          <a:p xmlns:a="http://schemas.openxmlformats.org/drawingml/2006/main">
            <a:r>
              <a:t>              "development": "실적 원장·계수·검토·승인 판본 연결",</a:t>
            </a:r>
          </a:p>
          <a:p xmlns:a="http://schemas.openxmlformats.org/drawingml/2006/main">
            <a:r>
              <a:t>              "output": "업무건·원천·역할·변경 연결 명세",</a:t>
            </a:r>
          </a:p>
          <a:p xmlns:a="http://schemas.openxmlformats.org/drawingml/2006/main">
            <a:r>
              <a:t>              "testId": "RULEWORK-1019040-2-T02",</a:t>
            </a:r>
          </a:p>
          <a:p xmlns:a="http://schemas.openxmlformats.org/drawingml/2006/main">
            <a:r>
              <a:t>              "criterion": "근거 없는 감축량·인증 결과 확정 차단"</a:t>
            </a:r>
          </a:p>
          <a:p xmlns:a="http://schemas.openxmlformats.org/drawingml/2006/main">
            <a:r>
              <a:t>            },</a:t>
            </a:r>
          </a:p>
          <a:p xmlns:a="http://schemas.openxmlformats.org/drawingml/2006/main">
            <a:r>
              <a:t>            {</a:t>
            </a:r>
          </a:p>
          <a:p xmlns:a="http://schemas.openxmlformats.org/drawingml/2006/main">
            <a:r>
              <a:t>              "id": "RULEWORK-1019040-2-R03",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"RULEWORK-1019040-2-T03",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"RULEWORK-1019040-6",</a:t>
            </a:r>
          </a:p>
          <a:p xmlns:a="http://schemas.openxmlformats.org/drawingml/2006/main">
            <a:r>
              <a:t>          "text": "6. 교통물류 정책관련 연구‧사업 업무",</a:t>
            </a:r>
          </a:p>
          <a:p xmlns:a="http://schemas.openxmlformats.org/drawingml/2006/main">
            <a:r>
              <a:t>          "locator": "별표4 · T40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"RULEWORK-1019040-6-R01",</a:t>
            </a:r>
          </a:p>
          <a:p xmlns:a="http://schemas.openxmlformats.org/drawingml/2006/main">
            <a:r>
              <a:t>              "title": "업무 맥락·전용 지식 구성",</a:t>
            </a:r>
          </a:p>
          <a:p xmlns:a="http://schemas.openxmlformats.org/drawingml/2006/main">
            <a:r>
              <a:t>              "development": "경계·단위·계수 판본별 산정자료 분류",</a:t>
            </a:r>
          </a:p>
          <a:p xmlns:a="http://schemas.openxmlformats.org/drawingml/2006/main">
            <a:r>
              <a:t>              "output": "산식·실적·누락·감축 검토표",</a:t>
            </a:r>
          </a:p>
          <a:p xmlns:a="http://schemas.openxmlformats.org/drawingml/2006/main">
            <a:r>
              <a:t>              "testId": "RULEWORK-1019040-6-T01",</a:t>
            </a:r>
          </a:p>
          <a:p xmlns:a="http://schemas.openxmlformats.org/drawingml/2006/main">
            <a:r>
              <a:t>              "criterion": "단위·산정 경계·중복 실적·계수 대조"</a:t>
            </a:r>
          </a:p>
          <a:p xmlns:a="http://schemas.openxmlformats.org/drawingml/2006/main">
            <a:r>
              <a:t>            },</a:t>
            </a:r>
          </a:p>
          <a:p xmlns:a="http://schemas.openxmlformats.org/drawingml/2006/main">
            <a:r>
              <a:t>            {</a:t>
            </a:r>
          </a:p>
          <a:p xmlns:a="http://schemas.openxmlformats.org/drawingml/2006/main">
            <a:r>
              <a:t>              "id": "RULEWORK-1019040-6-R02",</a:t>
            </a:r>
          </a:p>
          <a:p xmlns:a="http://schemas.openxmlformats.org/drawingml/2006/main">
            <a:r>
              <a:t>              "title": "업무건·역할·시스템 연결",</a:t>
            </a:r>
          </a:p>
          <a:p xmlns:a="http://schemas.openxmlformats.org/drawingml/2006/main">
            <a:r>
              <a:t>              "development": "실적 원장·계수·검토·승인 판본 연결",</a:t>
            </a:r>
          </a:p>
          <a:p xmlns:a="http://schemas.openxmlformats.org/drawingml/2006/main">
            <a:r>
              <a:t>              "output": "업무건·원천·역할·변경 연결 명세",</a:t>
            </a:r>
          </a:p>
          <a:p xmlns:a="http://schemas.openxmlformats.org/drawingml/2006/main">
            <a:r>
              <a:t>              "testId": "RULEWORK-1019040-6-T02",</a:t>
            </a:r>
          </a:p>
          <a:p xmlns:a="http://schemas.openxmlformats.org/drawingml/2006/main">
            <a:r>
              <a:t>              "criterion": "근거 없는 감축량·인증 결과 확정 차단"</a:t>
            </a:r>
          </a:p>
          <a:p xmlns:a="http://schemas.openxmlformats.org/drawingml/2006/main">
            <a:r>
              <a:t>            },</a:t>
            </a:r>
          </a:p>
          <a:p xmlns:a="http://schemas.openxmlformats.org/drawingml/2006/main">
            <a:r>
              <a:t>            {</a:t>
            </a:r>
          </a:p>
          <a:p xmlns:a="http://schemas.openxmlformats.org/drawingml/2006/main">
            <a:r>
              <a:t>              "id": "RULEWORK-1019040-6-R03",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"RULEWORK-1019040-6-T03",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"1019041",</a:t>
            </a:r>
          </a:p>
          <a:p xmlns:a="http://schemas.openxmlformats.org/drawingml/2006/main">
            <a:r>
              <a:t>      "name": "탄소중립정책팀",</a:t>
            </a:r>
          </a:p>
          <a:p xmlns:a="http://schemas.openxmlformats.org/drawingml/2006/main">
            <a:r>
              <a:t>      "job": "온실가스 조사·감축지원",</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교통부문 온실가스 배출량 조사사업(배출량 조사, 계수개발, 목표관리제, KOTEMS 등) 운영 및 관리 업무",</a:t>
            </a:r>
          </a:p>
          <a:p xmlns:a="http://schemas.openxmlformats.org/drawingml/2006/main">
            <a:r>
              <a:t>        "3. 교통부문 온실가스 감축 추진 등을 위한 배출권거래제 외부사업, 국제항공탄소 상쇄제도 및 국제감축 등 감축지원 사업 발굴, 운영·관리 업무"</a:t>
            </a:r>
          </a:p>
          <a:p xmlns:a="http://schemas.openxmlformats.org/drawingml/2006/main">
            <a:r>
              <a:t>      ],</a:t>
            </a:r>
          </a:p>
          <a:p xmlns:a="http://schemas.openxmlformats.org/drawingml/2006/main">
            <a:r>
              <a:t>      "locator": "별표4 · T40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"RULEWORK-1019041-1",</a:t>
            </a:r>
          </a:p>
          <a:p xmlns:a="http://schemas.openxmlformats.org/drawingml/2006/main">
            <a:r>
              <a:t>          "text": "1. 교통부문 온실가스 배출량 조사사업(배출량 조사, 계수개발, 목표관리제, KOTEMS 등) 운영 및 관리 업무",</a:t>
            </a:r>
          </a:p>
          <a:p xmlns:a="http://schemas.openxmlformats.org/drawingml/2006/main">
            <a:r>
              <a:t>          "locator": "별표4 · T40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"RULEWORK-1019041-1-R01",</a:t>
            </a:r>
          </a:p>
          <a:p xmlns:a="http://schemas.openxmlformats.org/drawingml/2006/main">
            <a:r>
              <a:t>              "title": "업무 맥락·전용 지식 구성",</a:t>
            </a:r>
          </a:p>
          <a:p xmlns:a="http://schemas.openxmlformats.org/drawingml/2006/main">
            <a:r>
              <a:t>              "development": "경계·단위·계수 판본별 산정자료 분류",</a:t>
            </a:r>
          </a:p>
          <a:p xmlns:a="http://schemas.openxmlformats.org/drawingml/2006/main">
            <a:r>
              <a:t>              "output": "산식·실적·누락·감축 검토표",</a:t>
            </a:r>
          </a:p>
          <a:p xmlns:a="http://schemas.openxmlformats.org/drawingml/2006/main">
            <a:r>
              <a:t>              "testId": "RULEWORK-1019041-1-T01",</a:t>
            </a:r>
          </a:p>
          <a:p xmlns:a="http://schemas.openxmlformats.org/drawingml/2006/main">
            <a:r>
              <a:t>              "criterion": "단위·산정 경계·중복 실적·계수 대조"</a:t>
            </a:r>
          </a:p>
          <a:p xmlns:a="http://schemas.openxmlformats.org/drawingml/2006/main">
            <a:r>
              <a:t>            },</a:t>
            </a:r>
          </a:p>
          <a:p xmlns:a="http://schemas.openxmlformats.org/drawingml/2006/main">
            <a:r>
              <a:t>            {</a:t>
            </a:r>
          </a:p>
          <a:p xmlns:a="http://schemas.openxmlformats.org/drawingml/2006/main">
            <a:r>
              <a:t>              "id": "RULEWORK-1019041-1-R02",</a:t>
            </a:r>
          </a:p>
          <a:p xmlns:a="http://schemas.openxmlformats.org/drawingml/2006/main">
            <a:r>
              <a:t>              "title": "업무건·역할·시스템 연결",</a:t>
            </a:r>
          </a:p>
          <a:p xmlns:a="http://schemas.openxmlformats.org/drawingml/2006/main">
            <a:r>
              <a:t>              "development": "실적 원장·계수·검토·승인 판본 연결",</a:t>
            </a:r>
          </a:p>
          <a:p xmlns:a="http://schemas.openxmlformats.org/drawingml/2006/main">
            <a:r>
              <a:t>              "output": "업무건·원천·역할·변경 연결 명세",</a:t>
            </a:r>
          </a:p>
          <a:p xmlns:a="http://schemas.openxmlformats.org/drawingml/2006/main">
            <a:r>
              <a:t>              "testId": "RULEWORK-1019041-1-T02",</a:t>
            </a:r>
          </a:p>
          <a:p xmlns:a="http://schemas.openxmlformats.org/drawingml/2006/main">
            <a:r>
              <a:t>              "criterion": "근거 없는 감축량·인증 결과 확정 차단"</a:t>
            </a:r>
          </a:p>
          <a:p xmlns:a="http://schemas.openxmlformats.org/drawingml/2006/main">
            <a:r>
              <a:t>            },</a:t>
            </a:r>
          </a:p>
          <a:p xmlns:a="http://schemas.openxmlformats.org/drawingml/2006/main">
            <a:r>
              <a:t>            {</a:t>
            </a:r>
          </a:p>
          <a:p xmlns:a="http://schemas.openxmlformats.org/drawingml/2006/main">
            <a:r>
              <a:t>              "id": "RULEWORK-1019041-1-R03",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"RULEWORK-1019041-1-T03",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"RULEWORK-1019041-3",</a:t>
            </a:r>
          </a:p>
          <a:p xmlns:a="http://schemas.openxmlformats.org/drawingml/2006/main">
            <a:r>
              <a:t>          "text": "3. 교통부문 온실가스 감축 추진 등을 위한 배출권거래제 외부사업, 국제항공탄소 상쇄제도 및 국제감축 등 감축지원 사업 발굴, 운영·관리 업무",</a:t>
            </a:r>
          </a:p>
          <a:p xmlns:a="http://schemas.openxmlformats.org/drawingml/2006/main">
            <a:r>
              <a:t>          "locator": "별표4 · T40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"RULEWORK-1019041-3-R01",</a:t>
            </a:r>
          </a:p>
          <a:p xmlns:a="http://schemas.openxmlformats.org/drawingml/2006/main">
            <a:r>
              <a:t>              "title": "업무 맥락·전용 지식 구성",</a:t>
            </a:r>
          </a:p>
          <a:p xmlns:a="http://schemas.openxmlformats.org/drawingml/2006/main">
            <a:r>
              <a:t>              "development": "경계·단위·계수 판본별 산정자료 분류",</a:t>
            </a:r>
          </a:p>
          <a:p xmlns:a="http://schemas.openxmlformats.org/drawingml/2006/main">
            <a:r>
              <a:t>              "output": "산식·실적·누락·감축 검토표",</a:t>
            </a:r>
          </a:p>
          <a:p xmlns:a="http://schemas.openxmlformats.org/drawingml/2006/main">
            <a:r>
              <a:t>              "testId": "RULEWORK-1019041-3-T01",</a:t>
            </a:r>
          </a:p>
          <a:p xmlns:a="http://schemas.openxmlformats.org/drawingml/2006/main">
            <a:r>
              <a:t>              "criterion": "단위·산정 경계·중복 실적·계수 대조"</a:t>
            </a:r>
          </a:p>
          <a:p xmlns:a="http://schemas.openxmlformats.org/drawingml/2006/main">
            <a:r>
              <a:t>            },</a:t>
            </a:r>
          </a:p>
          <a:p xmlns:a="http://schemas.openxmlformats.org/drawingml/2006/main">
            <a:r>
              <a:t>            {</a:t>
            </a:r>
          </a:p>
          <a:p xmlns:a="http://schemas.openxmlformats.org/drawingml/2006/main">
            <a:r>
              <a:t>              "id": "RULEWORK-1019041-3-R02",</a:t>
            </a:r>
          </a:p>
          <a:p xmlns:a="http://schemas.openxmlformats.org/drawingml/2006/main">
            <a:r>
              <a:t>              "title": "업무건·역할·시스템 연결",</a:t>
            </a:r>
          </a:p>
          <a:p xmlns:a="http://schemas.openxmlformats.org/drawingml/2006/main">
            <a:r>
              <a:t>              "development": "실적 원장·계수·검토·승인 판본 연결",</a:t>
            </a:r>
          </a:p>
          <a:p xmlns:a="http://schemas.openxmlformats.org/drawingml/2006/main">
            <a:r>
              <a:t>              "output": "업무건·원천·역할·변경 연결 명세",</a:t>
            </a:r>
          </a:p>
          <a:p xmlns:a="http://schemas.openxmlformats.org/drawingml/2006/main">
            <a:r>
              <a:t>              "testId": "RULEWORK-1019041-3-T02",</a:t>
            </a:r>
          </a:p>
          <a:p xmlns:a="http://schemas.openxmlformats.org/drawingml/2006/main">
            <a:r>
              <a:t>              "criterion": "근거 없는 감축량·인증 결과 확정 차단"</a:t>
            </a:r>
          </a:p>
          <a:p xmlns:a="http://schemas.openxmlformats.org/drawingml/2006/main">
            <a:r>
              <a:t>            },</a:t>
            </a:r>
          </a:p>
          <a:p xmlns:a="http://schemas.openxmlformats.org/drawingml/2006/main">
            <a:r>
              <a:t>            {</a:t>
            </a:r>
          </a:p>
          <a:p xmlns:a="http://schemas.openxmlformats.org/drawingml/2006/main">
            <a:r>
              <a:t>              "id": "RULEWORK-1019041-3-R03",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"RULEWORK-1019041-3-T03",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"친환경차 안전 정책",</a:t>
            </a:r>
          </a:p>
          <a:p xmlns:a="http://schemas.openxmlformats.org/drawingml/2006/main">
            <a:r>
              <a:t>      "indices": [</a:t>
            </a:r>
          </a:p>
          <a:p xmlns:a="http://schemas.openxmlformats.org/drawingml/2006/main">
            <a:r>
              <a:t>        17</a:t>
            </a:r>
          </a:p>
          <a:p xmlns:a="http://schemas.openxmlformats.org/drawingml/2006/main">
            <a:r>
              <a:t>      ],</a:t>
            </a:r>
          </a:p>
          <a:p xmlns:a="http://schemas.openxmlformats.org/drawingml/2006/main">
            <a:r>
              <a:t>      "duties": [</a:t>
            </a:r>
          </a:p>
          <a:p xmlns:a="http://schemas.openxmlformats.org/drawingml/2006/main">
            <a:r>
              <a:t>        "18. 사업부서 추진 중 친환경차 안전확보 업무에 대한 총괄 정책 업무"</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"RULEWORK-1019030-18",</a:t>
            </a:r>
          </a:p>
          <a:p xmlns:a="http://schemas.openxmlformats.org/drawingml/2006/main">
            <a:r>
              <a:t>          "text": "18. 사업부서 추진 중 친환경차 안전확보 업무에 대한 총괄 정책 업무",</a:t>
            </a:r>
          </a:p>
          <a:p xmlns:a="http://schemas.openxmlformats.org/drawingml/2006/main">
            <a:r>
              <a:t>          "locator": "별표4 · T39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"RULEWORK-1019030-18-R01",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"RULEWORK-1019030-18-T01",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"RULEWORK-1019030-18-R02",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"RULEWORK-1019030-18-T02",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"RULEWORK-1019030-18-R03",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"RULEWORK-1019030-18-T03",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근거 검색·보고 초안"</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"Audin·JET의 수치 근거 구조화"</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"활동량–계수–산식 버전 연결",</a:t>
            </a:r>
          </a:p>
          <a:p xmlns:a="http://schemas.openxmlformats.org/drawingml/2006/main">
            <a:r>
              <a:t>    "독립 재계산·결측 판정 모듈"</a:t>
            </a:r>
          </a:p>
          <a:p xmlns:a="http://schemas.openxmlformats.org/drawingml/2006/main">
            <a:r>
              <a:t>  ],</a:t>
            </a:r>
          </a:p>
          <a:p xmlns:a="http://schemas.openxmlformats.org/drawingml/2006/main">
            <a:r>
              <a:t>  "acceptancePlan": {</a:t>
            </a:r>
          </a:p>
          <a:p xmlns:a="http://schemas.openxmlformats.org/drawingml/2006/main">
            <a:r>
              <a:t>    "sample": "단위 변환 오류, 기간 중복, 계수 개정, 결측값",</a:t>
            </a:r>
          </a:p>
          <a:p xmlns:a="http://schemas.openxmlformats.org/drawingml/2006/main">
            <a:r>
              <a:t>    "criterion": "독립 계산 일치·누락/이상값 보류",</a:t>
            </a:r>
          </a:p>
          <a:p xmlns:a="http://schemas.openxmlformats.org/drawingml/2006/main">
            <a:r>
              <a:t>    "evidence": "입력·계수 판본표·계산 대사·검토 기록",</a:t>
            </a:r>
          </a:p>
          <a:p xmlns:a="http://schemas.openxmlformats.org/drawingml/2006/main">
            <a:r>
              <a:t>    "execution": "미실행"</a:t>
            </a:r>
          </a:p>
          <a:p xmlns:a="http://schemas.openxmlformats.org/drawingml/2006/main">
            <a:r>
              <a:t>  },</a:t>
            </a:r>
          </a:p>
          <a:p xmlns:a="http://schemas.openxmlformats.org/drawingml/2006/main">
            <a:r>
              <a:t>  "formula": "산식 오류 건수 ÷ 산정 건수 / 산정 검토시간; 에너지·탄소 효과는 별도 실측",</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"ST-06",</a:t>
            </a:r>
          </a:p>
          <a:p xmlns:a="http://schemas.openxmlformats.org/drawingml/2006/main">
            <a:r>
              <a:t>  "number": 6,</a:t>
            </a:r>
          </a:p>
          <a:p xmlns:a="http://schemas.openxmlformats.org/drawingml/2006/main">
            <a:r>
              <a:t>  "direction": "지능형 미래 모빌리티 혁신",</a:t>
            </a:r>
          </a:p>
          <a:p xmlns:a="http://schemas.openxmlformats.org/drawingml/2006/main">
            <a:r>
              <a:t>  "strategy": "기후위기 대응 친환경 전환 가속화",</a:t>
            </a:r>
          </a:p>
          <a:p xmlns:a="http://schemas.openxmlformats.org/drawingml/2006/main">
            <a:r>
              <a:t>  "solution": "친환경 교통·탄소 업무지원",</a:t>
            </a:r>
          </a:p>
          <a:p xmlns:a="http://schemas.openxmlformats.org/drawingml/2006/main">
            <a:r>
              <a:t>  "lawIds": [</a:t>
            </a:r>
          </a:p>
          <a:p xmlns:a="http://schemas.openxmlformats.org/drawingml/2006/main">
            <a:r>
              <a:t>    "L13"</a:t>
            </a:r>
          </a:p>
          <a:p xmlns:a="http://schemas.openxmlformats.org/drawingml/2006/main">
            <a:r>
              <a:t>  ],</a:t>
            </a:r>
          </a:p>
          <a:p xmlns:a="http://schemas.openxmlformats.org/drawingml/2006/main">
            <a:r>
              <a:t>  "codes": [</a:t>
            </a:r>
          </a:p>
          <a:p xmlns:a="http://schemas.openxmlformats.org/drawingml/2006/main">
            <a:r>
              <a:t>    "1019040",</a:t>
            </a:r>
          </a:p>
          <a:p xmlns:a="http://schemas.openxmlformats.org/drawingml/2006/main">
            <a:r>
              <a:t>    "1019041",</a:t>
            </a:r>
          </a:p>
          <a:p xmlns:a="http://schemas.openxmlformats.org/drawingml/2006/main">
            <a:r>
              <a:t>    "1019030"</a:t>
            </a:r>
          </a:p>
          <a:p xmlns:a="http://schemas.openxmlformats.org/drawingml/2006/main">
            <a:r>
              <a:t>  ],</a:t>
            </a:r>
          </a:p>
          <a:p xmlns:a="http://schemas.openxmlformats.org/drawingml/2006/main">
            <a:r>
              <a:t>  "work": "교통물류·탄소중립 정책 및 친환경 전환 자료 관리",</a:t>
            </a:r>
          </a:p>
          <a:p xmlns:a="http://schemas.openxmlformats.org/drawingml/2006/main">
            <a:r>
              <a:t>  "features": [</a:t>
            </a:r>
          </a:p>
          <a:p xmlns:a="http://schemas.openxmlformats.org/drawingml/2006/main">
            <a:r>
              <a:t>    "활동자료·계수·산정기간·원천 판본 연결",</a:t>
            </a:r>
          </a:p>
          <a:p xmlns:a="http://schemas.openxmlformats.org/drawingml/2006/main">
            <a:r>
              <a:t>    "부서·사업별 실적 증빙과 보고서 작성 지원"</a:t>
            </a:r>
          </a:p>
          <a:p xmlns:a="http://schemas.openxmlformats.org/drawingml/2006/main">
            <a:r>
              <a:t>  ],</a:t>
            </a:r>
          </a:p>
          <a:p xmlns:a="http://schemas.openxmlformats.org/drawingml/2006/main">
            <a:r>
              <a:t>  "output": "탄소 산정 대사표·개선 권고 초안",</a:t>
            </a:r>
          </a:p>
          <a:p xmlns:a="http://schemas.openxmlformats.org/drawingml/2006/main">
            <a:r>
              <a:t>  "acceptance": "산정 입력·계수·기간의 재현성 및 누락 자료의 보류 처리",</a:t>
            </a:r>
          </a:p>
          <a:p xmlns:a="http://schemas.openxmlformats.org/drawingml/2006/main">
            <a:r>
              <a:t>  "phase": "공통 기반 인수 후 부서별 적용",</a:t>
            </a:r>
          </a:p>
          <a:p xmlns:a="http://schemas.openxmlformats.org/drawingml/2006/main">
            <a:r>
              <a:t>  "packages": [</a:t>
            </a:r>
          </a:p>
          <a:p xmlns:a="http://schemas.openxmlformats.org/drawingml/2006/main">
            <a:r>
              <a:t>    "ON-W01",</a:t>
            </a:r>
          </a:p>
          <a:p xmlns:a="http://schemas.openxmlformats.org/drawingml/2006/main">
            <a:r>
              <a:t>    "ON-W04",</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"GAI-T02",</a:t>
            </a:r>
          </a:p>
          <a:p xmlns:a="http://schemas.openxmlformats.org/drawingml/2006/main">
            <a:r>
              <a:t>    "GAI-T06",</a:t>
            </a:r>
          </a:p>
          <a:p xmlns:a="http://schemas.openxmlformats.org/drawingml/2006/main">
            <a:r>
              <a:t>    "GAI-T09"</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"1019040",</a:t>
            </a:r>
          </a:p>
          <a:p xmlns:a="http://schemas.openxmlformats.org/drawingml/2006/main">
            <a:r>
              <a:t>      "name": "기후탄소물류처",</a:t>
            </a:r>
          </a:p>
          <a:p xmlns:a="http://schemas.openxmlformats.org/drawingml/2006/main">
            <a:r>
              <a:t>      "job": "교통물류 정책·실적 관리",</a:t>
            </a:r>
          </a:p>
          <a:p xmlns:a="http://schemas.openxmlformats.org/drawingml/2006/main">
            <a:r>
              <a:t>      "indices": [</a:t>
            </a:r>
          </a:p>
          <a:p xmlns:a="http://schemas.openxmlformats.org/drawingml/2006/main">
            <a:r>
              <a:t>        1,</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"2. 화물운송실적관리시스템 운영에 관한 업무",</a:t>
            </a:r>
          </a:p>
          <a:p xmlns:a="http://schemas.openxmlformats.org/drawingml/2006/main">
            <a:r>
              <a:t>        "6. 교통물류 정책관련 연구‧사업 업무"</a:t>
            </a:r>
          </a:p>
          <a:p xmlns:a="http://schemas.openxmlformats.org/drawingml/2006/main">
            <a:r>
              <a:t>      ],</a:t>
            </a:r>
          </a:p>
          <a:p xmlns:a="http://schemas.openxmlformats.org/drawingml/2006/main">
            <a:r>
              <a:t>      "locator": "별표4 · T40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"1019041",</a:t>
            </a:r>
          </a:p>
          <a:p xmlns:a="http://schemas.openxmlformats.org/drawingml/2006/main">
            <a:r>
              <a:t>      "name": "탄소중립정책팀",</a:t>
            </a:r>
          </a:p>
          <a:p xmlns:a="http://schemas.openxmlformats.org/drawingml/2006/main">
            <a:r>
              <a:t>      "job": "온실가스 조사·감축지원",</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교통부문 온실가스 배출량 조사사업(배출량 조사, 계수개발, 목표관리제, KOTEMS 등) 운영 및 관리 업무",</a:t>
            </a:r>
          </a:p>
          <a:p xmlns:a="http://schemas.openxmlformats.org/drawingml/2006/main">
            <a:r>
              <a:t>        "3. 교통부문 온실가스 감축 추진 등을 위한 배출권거래제 외부사업, 국제항공탄소 상쇄제도 및 국제감축 등 감축지원 사업 발굴, 운영·관리 업무"</a:t>
            </a:r>
          </a:p>
          <a:p xmlns:a="http://schemas.openxmlformats.org/drawingml/2006/main">
            <a:r>
              <a:t>      ],</a:t>
            </a:r>
          </a:p>
          <a:p xmlns:a="http://schemas.openxmlformats.org/drawingml/2006/main">
            <a:r>
              <a:t>      "locator": "별표4 · T40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"친환경차 안전 정책",</a:t>
            </a:r>
          </a:p>
          <a:p xmlns:a="http://schemas.openxmlformats.org/drawingml/2006/main">
            <a:r>
              <a:t>      "indices": [</a:t>
            </a:r>
          </a:p>
          <a:p xmlns:a="http://schemas.openxmlformats.org/drawingml/2006/main">
            <a:r>
              <a:t>        17</a:t>
            </a:r>
          </a:p>
          <a:p xmlns:a="http://schemas.openxmlformats.org/drawingml/2006/main">
            <a:r>
              <a:t>      ],</a:t>
            </a:r>
          </a:p>
          <a:p xmlns:a="http://schemas.openxmlformats.org/drawingml/2006/main">
            <a:r>
              <a:t>      "duties": [</a:t>
            </a:r>
          </a:p>
          <a:p xmlns:a="http://schemas.openxmlformats.org/drawingml/2006/main">
            <a:r>
              <a:t>        "18. 사업부서 추진 중 친환경차 안전확보 업무에 대한 총괄 정책 업무"</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"L13: 화물운송실적 업무에 한정 / 온실가스 조사·계수·감축지원: 별표4 T40 탄소중립정책팀 업무 / 탄소 산정 관련 개별 법령·기준 추가 대조",</a:t>
            </a:r>
          </a:p>
          <a:p xmlns:a="http://schemas.openxmlformats.org/drawingml/2006/main">
            <a:r>
              <a:t>  "caseRefs": [</a:t>
            </a:r>
          </a:p>
          <a:p xmlns:a="http://schemas.openxmlformats.org/drawingml/2006/main">
            <a:r>
              <a:t>    {</a:t>
            </a:r>
          </a:p>
          <a:p xmlns:a="http://schemas.openxmlformats.org/drawingml/2006/main">
            <a:r>
              <a:t>      "caseId": "AX05",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"AX11",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"친환경 운행·탄소 검증 지원",</a:t>
            </a:r>
          </a:p>
          <a:p xmlns:a="http://schemas.openxmlformats.org/drawingml/2006/main">
            <a:r>
              <a:t>  "delta": "활동량·계수·산식 검증과 개선 권고",</a:t>
            </a:r>
          </a:p>
          <a:p xmlns:a="http://schemas.openxmlformats.org/drawingml/2006/main">
            <a:r>
              <a:t>  "kpi": "활동량당 에너지 / 산식 오류율",</a:t>
            </a:r>
          </a:p>
          <a:p xmlns:a="http://schemas.openxmlformats.org/drawingml/2006/main">
            <a:r>
              <a:t>  "validation": "같은 계절·운행 조건 비교 및 계수 판본 재계산",</a:t>
            </a:r>
          </a:p>
          <a:p xmlns:a="http://schemas.openxmlformats.org/drawingml/2006/main">
            <a:r>
              <a:t>  "requirement": "BM-ST-06-R01",</a:t>
            </a:r>
          </a:p>
          <a:p xmlns:a="http://schemas.openxmlformats.org/drawingml/2006/main">
            <a:r>
              <a:t>  "test": "BM-ST-06-T01",</a:t>
            </a:r>
          </a:p>
          <a:p xmlns:a="http://schemas.openxmlformats.org/drawingml/2006/main">
            <a:r>
              <a:t>  "effectStatus": "기대 방향 · TS 실측 전",</a:t>
            </a:r>
          </a:p>
          <a:p xmlns:a="http://schemas.openxmlformats.org/drawingml/2006/main">
            <a:r>
              <a:t>  "effect": "보고 재계산·산식 오류 감소",</a:t>
            </a:r>
          </a:p>
          <a:p xmlns:a="http://schemas.openxmlformats.org/drawingml/2006/main">
            <a:r>
              <a:t>  "reuse": "ON27-BASE / C27-COM + CCK 재사용 판정 기능",</a:t>
            </a:r>
          </a:p>
          <a:p xmlns:a="http://schemas.openxmlformats.org/drawingml/2006/main">
            <a:r>
              <a:t>  "input": "운행·연료 등 활동량, 배출계수 판본, 산정기간·경계",</a:t>
            </a:r>
          </a:p>
          <a:p xmlns:a="http://schemas.openxmlformats.org/drawingml/2006/main">
            <a:r>
              <a:t>  "steps": [</a:t>
            </a:r>
          </a:p>
          <a:p xmlns:a="http://schemas.openxmlformats.org/drawingml/2006/main">
            <a:r>
              <a:t>    "단위·기간 정규화",</a:t>
            </a:r>
          </a:p>
          <a:p xmlns:a="http://schemas.openxmlformats.org/drawingml/2006/main">
            <a:r>
              <a:t>    "계수·산식 대조",</a:t>
            </a:r>
          </a:p>
          <a:p xmlns:a="http://schemas.openxmlformats.org/drawingml/2006/main">
            <a:r>
              <a:t>    "검증 계산·이상값 보류",</a:t>
            </a:r>
          </a:p>
          <a:p xmlns:a="http://schemas.openxmlformats.org/drawingml/2006/main">
            <a:r>
              <a:t>    "부서별 개선 권고 검토"</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"1019040",</a:t>
            </a:r>
          </a:p>
          <a:p xmlns:a="http://schemas.openxmlformats.org/drawingml/2006/main">
            <a:r>
              <a:t>      "name": "기후탄소물류처",</a:t>
            </a:r>
          </a:p>
          <a:p xmlns:a="http://schemas.openxmlformats.org/drawingml/2006/main">
            <a:r>
              <a:t>      "job": "교통물류 정책·실적 관리",</a:t>
            </a:r>
          </a:p>
          <a:p xmlns:a="http://schemas.openxmlformats.org/drawingml/2006/main">
            <a:r>
              <a:t>      "indices": [</a:t>
            </a:r>
          </a:p>
          <a:p xmlns:a="http://schemas.openxmlformats.org/drawingml/2006/main">
            <a:r>
              <a:t>        1,</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"2. 화물운송실적관리시스템 운영에 관한 업무",</a:t>
            </a:r>
          </a:p>
          <a:p xmlns:a="http://schemas.openxmlformats.org/drawingml/2006/main">
            <a:r>
              <a:t>        "6. 교통물류 정책관련 연구‧사업 업무"</a:t>
            </a:r>
          </a:p>
          <a:p xmlns:a="http://schemas.openxmlformats.org/drawingml/2006/main">
            <a:r>
              <a:t>      ],</a:t>
            </a:r>
          </a:p>
          <a:p xmlns:a="http://schemas.openxmlformats.org/drawingml/2006/main">
            <a:r>
              <a:t>      "locator": "별표4 · T40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"RULEWORK-1019040-2",</a:t>
            </a:r>
          </a:p>
          <a:p xmlns:a="http://schemas.openxmlformats.org/drawingml/2006/main">
            <a:r>
              <a:t>          "text": "2. 화물운송실적관리시스템 운영에 관한 업무",</a:t>
            </a:r>
          </a:p>
          <a:p xmlns:a="http://schemas.openxmlformats.org/drawingml/2006/main">
            <a:r>
              <a:t>          "locator": "별표4 · T40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"RULEWORK-1019040-2-R01",</a:t>
            </a:r>
          </a:p>
          <a:p xmlns:a="http://schemas.openxmlformats.org/drawingml/2006/main">
            <a:r>
              <a:t>              "title": "업무 맥락·전용 지식 구성",</a:t>
            </a:r>
          </a:p>
          <a:p xmlns:a="http://schemas.openxmlformats.org/drawingml/2006/main">
            <a:r>
              <a:t>              "development": "경계·단위·계수 판본별 산정자료 분류",</a:t>
            </a:r>
          </a:p>
          <a:p xmlns:a="http://schemas.openxmlformats.org/drawingml/2006/main">
            <a:r>
              <a:t>              "output": "산식·실적·누락·감축 검토표",</a:t>
            </a:r>
          </a:p>
          <a:p xmlns:a="http://schemas.openxmlformats.org/drawingml/2006/main">
            <a:r>
              <a:t>              "testId": "RULEWORK-1019040-2-T01",</a:t>
            </a:r>
          </a:p>
          <a:p xmlns:a="http://schemas.openxmlformats.org/drawingml/2006/main">
            <a:r>
              <a:t>              "criterion": "단위·산정 경계·중복 실적·계수 대조"</a:t>
            </a:r>
          </a:p>
          <a:p xmlns:a="http://schemas.openxmlformats.org/drawingml/2006/main">
            <a:r>
              <a:t>            },</a:t>
            </a:r>
          </a:p>
          <a:p xmlns:a="http://schemas.openxmlformats.org/drawingml/2006/main">
            <a:r>
              <a:t>            {</a:t>
            </a:r>
          </a:p>
          <a:p xmlns:a="http://schemas.openxmlformats.org/drawingml/2006/main">
            <a:r>
              <a:t>              "id": "RULEWORK-1019040-2-R02",</a:t>
            </a:r>
          </a:p>
          <a:p xmlns:a="http://schemas.openxmlformats.org/drawingml/2006/main">
            <a:r>
              <a:t>              "title": "업무건·역할·시스템 연결",</a:t>
            </a:r>
          </a:p>
          <a:p xmlns:a="http://schemas.openxmlformats.org/drawingml/2006/main">
            <a:r>
              <a:t>              "development": "실적 원장·계수·검토·승인 판본 연결",</a:t>
            </a:r>
          </a:p>
          <a:p xmlns:a="http://schemas.openxmlformats.org/drawingml/2006/main">
            <a:r>
              <a:t>              "output": "업무건·원천·역할·변경 연결 명세",</a:t>
            </a:r>
          </a:p>
          <a:p xmlns:a="http://schemas.openxmlformats.org/drawingml/2006/main">
            <a:r>
              <a:t>              "testId": "RULEWORK-1019040-2-T02",</a:t>
            </a:r>
          </a:p>
          <a:p xmlns:a="http://schemas.openxmlformats.org/drawingml/2006/main">
            <a:r>
              <a:t>              "criterion": "근거 없는 감축량·인증 결과 확정 차단"</a:t>
            </a:r>
          </a:p>
          <a:p xmlns:a="http://schemas.openxmlformats.org/drawingml/2006/main">
            <a:r>
              <a:t>            },</a:t>
            </a:r>
          </a:p>
          <a:p xmlns:a="http://schemas.openxmlformats.org/drawingml/2006/main">
            <a:r>
              <a:t>            {</a:t>
            </a:r>
          </a:p>
          <a:p xmlns:a="http://schemas.openxmlformats.org/drawingml/2006/main">
            <a:r>
              <a:t>              "id": "RULEWORK-1019040-2-R03",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"RULEWORK-1019040-2-T03",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"RULEWORK-1019040-6",</a:t>
            </a:r>
          </a:p>
          <a:p xmlns:a="http://schemas.openxmlformats.org/drawingml/2006/main">
            <a:r>
              <a:t>          "text": "6. 교통물류 정책관련 연구‧사업 업무",</a:t>
            </a:r>
          </a:p>
          <a:p xmlns:a="http://schemas.openxmlformats.org/drawingml/2006/main">
            <a:r>
              <a:t>          "locator": "별표4 · T40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"RULEWORK-1019040-6-R01",</a:t>
            </a:r>
          </a:p>
          <a:p xmlns:a="http://schemas.openxmlformats.org/drawingml/2006/main">
            <a:r>
              <a:t>              "title": "업무 맥락·전용 지식 구성",</a:t>
            </a:r>
          </a:p>
          <a:p xmlns:a="http://schemas.openxmlformats.org/drawingml/2006/main">
            <a:r>
              <a:t>              "development": "경계·단위·계수 판본별 산정자료 분류",</a:t>
            </a:r>
          </a:p>
          <a:p xmlns:a="http://schemas.openxmlformats.org/drawingml/2006/main">
            <a:r>
              <a:t>              "output": "산식·실적·누락·감축 검토표",</a:t>
            </a:r>
          </a:p>
          <a:p xmlns:a="http://schemas.openxmlformats.org/drawingml/2006/main">
            <a:r>
              <a:t>              "testId": "RULEWORK-1019040-6-T01",</a:t>
            </a:r>
          </a:p>
          <a:p xmlns:a="http://schemas.openxmlformats.org/drawingml/2006/main">
            <a:r>
              <a:t>              "criterion": "단위·산정 경계·중복 실적·계수 대조"</a:t>
            </a:r>
          </a:p>
          <a:p xmlns:a="http://schemas.openxmlformats.org/drawingml/2006/main">
            <a:r>
              <a:t>            },</a:t>
            </a:r>
          </a:p>
          <a:p xmlns:a="http://schemas.openxmlformats.org/drawingml/2006/main">
            <a:r>
              <a:t>            {</a:t>
            </a:r>
          </a:p>
          <a:p xmlns:a="http://schemas.openxmlformats.org/drawingml/2006/main">
            <a:r>
              <a:t>              "id": "RULEWORK-1019040-6-R02",</a:t>
            </a:r>
          </a:p>
          <a:p xmlns:a="http://schemas.openxmlformats.org/drawingml/2006/main">
            <a:r>
              <a:t>              "title": "업무건·역할·시스템 연결",</a:t>
            </a:r>
          </a:p>
          <a:p xmlns:a="http://schemas.openxmlformats.org/drawingml/2006/main">
            <a:r>
              <a:t>              "development": "실적 원장·계수·검토·승인 판본 연결",</a:t>
            </a:r>
          </a:p>
          <a:p xmlns:a="http://schemas.openxmlformats.org/drawingml/2006/main">
            <a:r>
              <a:t>              "output": "업무건·원천·역할·변경 연결 명세",</a:t>
            </a:r>
          </a:p>
          <a:p xmlns:a="http://schemas.openxmlformats.org/drawingml/2006/main">
            <a:r>
              <a:t>              "testId": "RULEWORK-1019040-6-T02",</a:t>
            </a:r>
          </a:p>
          <a:p xmlns:a="http://schemas.openxmlformats.org/drawingml/2006/main">
            <a:r>
              <a:t>              "criterion": "근거 없는 감축량·인증 결과 확정 차단"</a:t>
            </a:r>
          </a:p>
          <a:p xmlns:a="http://schemas.openxmlformats.org/drawingml/2006/main">
            <a:r>
              <a:t>            },</a:t>
            </a:r>
          </a:p>
          <a:p xmlns:a="http://schemas.openxmlformats.org/drawingml/2006/main">
            <a:r>
              <a:t>            {</a:t>
            </a:r>
          </a:p>
          <a:p xmlns:a="http://schemas.openxmlformats.org/drawingml/2006/main">
            <a:r>
              <a:t>              "id": "RULEWORK-1019040-6-R03",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"RULEWORK-1019040-6-T03",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"1019041",</a:t>
            </a:r>
          </a:p>
          <a:p xmlns:a="http://schemas.openxmlformats.org/drawingml/2006/main">
            <a:r>
              <a:t>      "name": "탄소중립정책팀",</a:t>
            </a:r>
          </a:p>
          <a:p xmlns:a="http://schemas.openxmlformats.org/drawingml/2006/main">
            <a:r>
              <a:t>      "job": "온실가스 조사·감축지원",</a:t>
            </a:r>
          </a:p>
          <a:p xmlns:a="http://schemas.openxmlformats.org/drawingml/2006/main">
            <a:r>
              <a:t>      "indices": [</a:t>
            </a:r>
          </a:p>
          <a:p xmlns:a="http://schemas.openxmlformats.org/drawingml/2006/main">
            <a:r>
              <a:t>        0,</a:t>
            </a:r>
          </a:p>
          <a:p xmlns:a="http://schemas.openxmlformats.org/drawingml/2006/main">
            <a:r>
              <a:t>        2</a:t>
            </a:r>
          </a:p>
          <a:p xmlns:a="http://schemas.openxmlformats.org/drawingml/2006/main">
            <a:r>
              <a:t>      ],</a:t>
            </a:r>
          </a:p>
          <a:p xmlns:a="http://schemas.openxmlformats.org/drawingml/2006/main">
            <a:r>
              <a:t>      "duties": [</a:t>
            </a:r>
          </a:p>
          <a:p xmlns:a="http://schemas.openxmlformats.org/drawingml/2006/main">
            <a:r>
              <a:t>        "1. 교통부문 온실가스 배출량 조사사업(배출량 조사, 계수개발, 목표관리제, KOTEMS 등) 운영 및 관리 업무",</a:t>
            </a:r>
          </a:p>
          <a:p xmlns:a="http://schemas.openxmlformats.org/drawingml/2006/main">
            <a:r>
              <a:t>        "3. 교통부문 온실가스 감축 추진 등을 위한 배출권거래제 외부사업, 국제항공탄소 상쇄제도 및 국제감축 등 감축지원 사업 발굴, 운영·관리 업무"</a:t>
            </a:r>
          </a:p>
          <a:p xmlns:a="http://schemas.openxmlformats.org/drawingml/2006/main">
            <a:r>
              <a:t>      ],</a:t>
            </a:r>
          </a:p>
          <a:p xmlns:a="http://schemas.openxmlformats.org/drawingml/2006/main">
            <a:r>
              <a:t>      "locator": "별표4 · T40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"RULEWORK-1019041-1",</a:t>
            </a:r>
          </a:p>
          <a:p xmlns:a="http://schemas.openxmlformats.org/drawingml/2006/main">
            <a:r>
              <a:t>          "text": "1. 교통부문 온실가스 배출량 조사사업(배출량 조사, 계수개발, 목표관리제, KOTEMS 등) 운영 및 관리 업무",</a:t>
            </a:r>
          </a:p>
          <a:p xmlns:a="http://schemas.openxmlformats.org/drawingml/2006/main">
            <a:r>
              <a:t>          "locator": "별표4 · T40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"RULEWORK-1019041-1-R01",</a:t>
            </a:r>
          </a:p>
          <a:p xmlns:a="http://schemas.openxmlformats.org/drawingml/2006/main">
            <a:r>
              <a:t>              "title": "업무 맥락·전용 지식 구성",</a:t>
            </a:r>
          </a:p>
          <a:p xmlns:a="http://schemas.openxmlformats.org/drawingml/2006/main">
            <a:r>
              <a:t>              "development": "경계·단위·계수 판본별 산정자료 분류",</a:t>
            </a:r>
          </a:p>
          <a:p xmlns:a="http://schemas.openxmlformats.org/drawingml/2006/main">
            <a:r>
              <a:t>              "output": "산식·실적·누락·감축 검토표",</a:t>
            </a:r>
          </a:p>
          <a:p xmlns:a="http://schemas.openxmlformats.org/drawingml/2006/main">
            <a:r>
              <a:t>              "testId": "RULEWORK-1019041-1-T01",</a:t>
            </a:r>
          </a:p>
          <a:p xmlns:a="http://schemas.openxmlformats.org/drawingml/2006/main">
            <a:r>
              <a:t>              "criterion": "단위·산정 경계·중복 실적·계수 대조"</a:t>
            </a:r>
          </a:p>
          <a:p xmlns:a="http://schemas.openxmlformats.org/drawingml/2006/main">
            <a:r>
              <a:t>            },</a:t>
            </a:r>
          </a:p>
          <a:p xmlns:a="http://schemas.openxmlformats.org/drawingml/2006/main">
            <a:r>
              <a:t>            {</a:t>
            </a:r>
          </a:p>
          <a:p xmlns:a="http://schemas.openxmlformats.org/drawingml/2006/main">
            <a:r>
              <a:t>              "id": "RULEWORK-1019041-1-R02",</a:t>
            </a:r>
          </a:p>
          <a:p xmlns:a="http://schemas.openxmlformats.org/drawingml/2006/main">
            <a:r>
              <a:t>              "title": "업무건·역할·시스템 연결",</a:t>
            </a:r>
          </a:p>
          <a:p xmlns:a="http://schemas.openxmlformats.org/drawingml/2006/main">
            <a:r>
              <a:t>              "development": "실적 원장·계수·검토·승인 판본 연결",</a:t>
            </a:r>
          </a:p>
          <a:p xmlns:a="http://schemas.openxmlformats.org/drawingml/2006/main">
            <a:r>
              <a:t>              "output": "업무건·원천·역할·변경 연결 명세",</a:t>
            </a:r>
          </a:p>
          <a:p xmlns:a="http://schemas.openxmlformats.org/drawingml/2006/main">
            <a:r>
              <a:t>              "testId": "RULEWORK-1019041-1-T02",</a:t>
            </a:r>
          </a:p>
          <a:p xmlns:a="http://schemas.openxmlformats.org/drawingml/2006/main">
            <a:r>
              <a:t>              "criterion": "근거 없는 감축량·인증 결과 확정 차단"</a:t>
            </a:r>
          </a:p>
          <a:p xmlns:a="http://schemas.openxmlformats.org/drawingml/2006/main">
            <a:r>
              <a:t>            },</a:t>
            </a:r>
          </a:p>
          <a:p xmlns:a="http://schemas.openxmlformats.org/drawingml/2006/main">
            <a:r>
              <a:t>            {</a:t>
            </a:r>
          </a:p>
          <a:p xmlns:a="http://schemas.openxmlformats.org/drawingml/2006/main">
            <a:r>
              <a:t>              "id": "RULEWORK-1019041-1-R03",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"RULEWORK-1019041-1-T03",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"RULEWORK-1019041-3",</a:t>
            </a:r>
          </a:p>
          <a:p xmlns:a="http://schemas.openxmlformats.org/drawingml/2006/main">
            <a:r>
              <a:t>          "text": "3. 교통부문 온실가스 감축 추진 등을 위한 배출권거래제 외부사업, 국제항공탄소 상쇄제도 및 국제감축 등 감축지원 사업 발굴, 운영·관리 업무",</a:t>
            </a:r>
          </a:p>
          <a:p xmlns:a="http://schemas.openxmlformats.org/drawingml/2006/main">
            <a:r>
              <a:t>          "locator": "별표4 · T40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"RULEWORK-1019041-3-R01",</a:t>
            </a:r>
          </a:p>
          <a:p xmlns:a="http://schemas.openxmlformats.org/drawingml/2006/main">
            <a:r>
              <a:t>              "title": "업무 맥락·전용 지식 구성",</a:t>
            </a:r>
          </a:p>
          <a:p xmlns:a="http://schemas.openxmlformats.org/drawingml/2006/main">
            <a:r>
              <a:t>              "development": "경계·단위·계수 판본별 산정자료 분류",</a:t>
            </a:r>
          </a:p>
          <a:p xmlns:a="http://schemas.openxmlformats.org/drawingml/2006/main">
            <a:r>
              <a:t>              "output": "산식·실적·누락·감축 검토표",</a:t>
            </a:r>
          </a:p>
          <a:p xmlns:a="http://schemas.openxmlformats.org/drawingml/2006/main">
            <a:r>
              <a:t>              "testId": "RULEWORK-1019041-3-T01",</a:t>
            </a:r>
          </a:p>
          <a:p xmlns:a="http://schemas.openxmlformats.org/drawingml/2006/main">
            <a:r>
              <a:t>              "criterion": "단위·산정 경계·중복 실적·계수 대조"</a:t>
            </a:r>
          </a:p>
          <a:p xmlns:a="http://schemas.openxmlformats.org/drawingml/2006/main">
            <a:r>
              <a:t>            },</a:t>
            </a:r>
          </a:p>
          <a:p xmlns:a="http://schemas.openxmlformats.org/drawingml/2006/main">
            <a:r>
              <a:t>            {</a:t>
            </a:r>
          </a:p>
          <a:p xmlns:a="http://schemas.openxmlformats.org/drawingml/2006/main">
            <a:r>
              <a:t>              "id": "RULEWORK-1019041-3-R02",</a:t>
            </a:r>
          </a:p>
          <a:p xmlns:a="http://schemas.openxmlformats.org/drawingml/2006/main">
            <a:r>
              <a:t>              "title": "업무건·역할·시스템 연결",</a:t>
            </a:r>
          </a:p>
          <a:p xmlns:a="http://schemas.openxmlformats.org/drawingml/2006/main">
            <a:r>
              <a:t>              "development": "실적 원장·계수·검토·승인 판본 연결",</a:t>
            </a:r>
          </a:p>
          <a:p xmlns:a="http://schemas.openxmlformats.org/drawingml/2006/main">
            <a:r>
              <a:t>              "output": "업무건·원천·역할·변경 연결 명세",</a:t>
            </a:r>
          </a:p>
          <a:p xmlns:a="http://schemas.openxmlformats.org/drawingml/2006/main">
            <a:r>
              <a:t>              "testId": "RULEWORK-1019041-3-T02",</a:t>
            </a:r>
          </a:p>
          <a:p xmlns:a="http://schemas.openxmlformats.org/drawingml/2006/main">
            <a:r>
              <a:t>              "criterion": "근거 없는 감축량·인증 결과 확정 차단"</a:t>
            </a:r>
          </a:p>
          <a:p xmlns:a="http://schemas.openxmlformats.org/drawingml/2006/main">
            <a:r>
              <a:t>            },</a:t>
            </a:r>
          </a:p>
          <a:p xmlns:a="http://schemas.openxmlformats.org/drawingml/2006/main">
            <a:r>
              <a:t>            {</a:t>
            </a:r>
          </a:p>
          <a:p xmlns:a="http://schemas.openxmlformats.org/drawingml/2006/main">
            <a:r>
              <a:t>              "id": "RULEWORK-1019041-3-R03",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"RULEWORK-1019041-3-T03",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"친환경차 안전 정책",</a:t>
            </a:r>
          </a:p>
          <a:p xmlns:a="http://schemas.openxmlformats.org/drawingml/2006/main">
            <a:r>
              <a:t>      "indices": [</a:t>
            </a:r>
          </a:p>
          <a:p xmlns:a="http://schemas.openxmlformats.org/drawingml/2006/main">
            <a:r>
              <a:t>        17</a:t>
            </a:r>
          </a:p>
          <a:p xmlns:a="http://schemas.openxmlformats.org/drawingml/2006/main">
            <a:r>
              <a:t>      ],</a:t>
            </a:r>
          </a:p>
          <a:p xmlns:a="http://schemas.openxmlformats.org/drawingml/2006/main">
            <a:r>
              <a:t>      "duties": [</a:t>
            </a:r>
          </a:p>
          <a:p xmlns:a="http://schemas.openxmlformats.org/drawingml/2006/main">
            <a:r>
              <a:t>        "18. 사업부서 추진 중 친환경차 안전확보 업무에 대한 총괄 정책 업무"</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"RULEWORK-1019030-18",</a:t>
            </a:r>
          </a:p>
          <a:p xmlns:a="http://schemas.openxmlformats.org/drawingml/2006/main">
            <a:r>
              <a:t>          "text": "18. 사업부서 추진 중 친환경차 안전확보 업무에 대한 총괄 정책 업무",</a:t>
            </a:r>
          </a:p>
          <a:p xmlns:a="http://schemas.openxmlformats.org/drawingml/2006/main">
            <a:r>
              <a:t>          "locator": "별표4 · T39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"RULEWORK-1019030-18-R01",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"RULEWORK-1019030-18-T01",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"RULEWORK-1019030-18-R02",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"RULEWORK-1019030-18-T02",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"RULEWORK-1019030-18-R03",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"RULEWORK-1019030-18-T03",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근거 검색·보고 초안"</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"Audin·JET의 수치 근거 구조화"</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"활동량–계수–산식 버전 연결",</a:t>
            </a:r>
          </a:p>
          <a:p xmlns:a="http://schemas.openxmlformats.org/drawingml/2006/main">
            <a:r>
              <a:t>    "독립 재계산·결측 판정 모듈"</a:t>
            </a:r>
          </a:p>
          <a:p xmlns:a="http://schemas.openxmlformats.org/drawingml/2006/main">
            <a:r>
              <a:t>  ],</a:t>
            </a:r>
          </a:p>
          <a:p xmlns:a="http://schemas.openxmlformats.org/drawingml/2006/main">
            <a:r>
              <a:t>  "acceptancePlan": {</a:t>
            </a:r>
          </a:p>
          <a:p xmlns:a="http://schemas.openxmlformats.org/drawingml/2006/main">
            <a:r>
              <a:t>    "sample": "단위 변환 오류, 기간 중복, 계수 개정, 결측값",</a:t>
            </a:r>
          </a:p>
          <a:p xmlns:a="http://schemas.openxmlformats.org/drawingml/2006/main">
            <a:r>
              <a:t>    "criterion": "독립 계산 일치·누락/이상값 보류",</a:t>
            </a:r>
          </a:p>
          <a:p xmlns:a="http://schemas.openxmlformats.org/drawingml/2006/main">
            <a:r>
              <a:t>    "evidence": "입력·계수 판본표·계산 대사·검토 기록",</a:t>
            </a:r>
          </a:p>
          <a:p xmlns:a="http://schemas.openxmlformats.org/drawingml/2006/main">
            <a:r>
              <a:t>    "execution": "미실행"</a:t>
            </a:r>
          </a:p>
          <a:p xmlns:a="http://schemas.openxmlformats.org/drawingml/2006/main">
            <a:r>
              <a:t>  },</a:t>
            </a:r>
          </a:p>
          <a:p xmlns:a="http://schemas.openxmlformats.org/drawingml/2006/main">
            <a:r>
              <a:t>  "formula": "산식 오류 건수 ÷ 산정 건수 / 산정 검토시간; 에너지·탄소 효과는 별도 실측",</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a:t>
            </a:r>
          </a:p>
          <a:p xmlns:a="http://schemas.openxmlformats.org/drawingml/2006/main">
            <a:r>
              <a:t>CCK-01: NOA 사용자 가이드 확인. 설치본 기능시험 필요.</a:t>
            </a:r>
          </a:p>
          <a:p xmlns:a="http://schemas.openxmlformats.org/drawingml/2006/main">
            <a:r>
              <a:t>CCK-02/03: 명세 기반 재사용 후보. 실물 기능검증 필요.</a:t>
            </a:r>
          </a:p>
          <a:p xmlns:a="http://schemas.openxmlformats.org/drawingml/2006/main">
            <a:r>
              <a:t>기존 SSO·RAG·권한·로그·연계 범위 대조 후 추가분 산정.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"ST-07",</a:t>
            </a:r>
          </a:p>
          <a:p xmlns:a="http://schemas.openxmlformats.org/drawingml/2006/main">
            <a:r>
              <a:t>  "number": 7,</a:t>
            </a:r>
          </a:p>
          <a:p xmlns:a="http://schemas.openxmlformats.org/drawingml/2006/main">
            <a:r>
              <a:t>  "direction": "균형있는 국민체감 서비스 실현",</a:t>
            </a:r>
          </a:p>
          <a:p xmlns:a="http://schemas.openxmlformats.org/drawingml/2006/main">
            <a:r>
              <a:t>  "strategy": "교통데이터 개방·연계 기반 서비스 편익 증대",</a:t>
            </a:r>
          </a:p>
          <a:p xmlns:a="http://schemas.openxmlformats.org/drawingml/2006/main">
            <a:r>
              <a:t>  "solution": "교통데이터 카탈로그·연계 지원",</a:t>
            </a:r>
          </a:p>
          <a:p xmlns:a="http://schemas.openxmlformats.org/drawingml/2006/main">
            <a:r>
              <a:t>  "lawIds": [</a:t>
            </a:r>
          </a:p>
          <a:p xmlns:a="http://schemas.openxmlformats.org/drawingml/2006/main">
            <a:r>
              <a:t>    "L04",</a:t>
            </a:r>
          </a:p>
          <a:p xmlns:a="http://schemas.openxmlformats.org/drawingml/2006/main">
            <a:r>
              <a:t>    "L10",</a:t>
            </a:r>
          </a:p>
          <a:p xmlns:a="http://schemas.openxmlformats.org/drawingml/2006/main">
            <a:r>
              <a:t>    "L15",</a:t>
            </a:r>
          </a:p>
          <a:p xmlns:a="http://schemas.openxmlformats.org/drawingml/2006/main">
            <a:r>
              <a:t>    "L16"</a:t>
            </a:r>
          </a:p>
          <a:p xmlns:a="http://schemas.openxmlformats.org/drawingml/2006/main">
            <a:r>
              <a:t>  ],</a:t>
            </a:r>
          </a:p>
          <a:p xmlns:a="http://schemas.openxmlformats.org/drawingml/2006/main">
            <a:r>
              <a:t>  "codes": [</a:t>
            </a:r>
          </a:p>
          <a:p xmlns:a="http://schemas.openxmlformats.org/drawingml/2006/main">
            <a:r>
              <a:t>    "1019600",</a:t>
            </a:r>
          </a:p>
          <a:p xmlns:a="http://schemas.openxmlformats.org/drawingml/2006/main">
            <a:r>
              <a:t>    "1019030",</a:t>
            </a:r>
          </a:p>
          <a:p xmlns:a="http://schemas.openxmlformats.org/drawingml/2006/main">
            <a:r>
              <a:t>    "1019400",</a:t>
            </a:r>
          </a:p>
          <a:p xmlns:a="http://schemas.openxmlformats.org/drawingml/2006/main">
            <a:r>
              <a:t>    "1019020",</a:t>
            </a:r>
          </a:p>
          <a:p xmlns:a="http://schemas.openxmlformats.org/drawingml/2006/main">
            <a:r>
              <a:t>    "1019010",</a:t>
            </a:r>
          </a:p>
          <a:p xmlns:a="http://schemas.openxmlformats.org/drawingml/2006/main">
            <a:r>
              <a:t>    "1019300",</a:t>
            </a:r>
          </a:p>
          <a:p xmlns:a="http://schemas.openxmlformats.org/drawingml/2006/main">
            <a:r>
              <a:t>    "1019500"</a:t>
            </a:r>
          </a:p>
          <a:p xmlns:a="http://schemas.openxmlformats.org/drawingml/2006/main">
            <a:r>
              <a:t>  ],</a:t>
            </a:r>
          </a:p>
          <a:p xmlns:a="http://schemas.openxmlformats.org/drawingml/2006/main">
            <a:r>
              <a:t>  "work": "교통·차량 데이터의 소재·권리·품질·활용 관리",</a:t>
            </a:r>
          </a:p>
          <a:p xmlns:a="http://schemas.openxmlformats.org/drawingml/2006/main">
            <a:r>
              <a:t>  "features": [</a:t>
            </a:r>
          </a:p>
          <a:p xmlns:a="http://schemas.openxmlformats.org/drawingml/2006/main">
            <a:r>
              <a:t>    "데이터 정의·소유부서·용도·권한 카탈로그 구성",</a:t>
            </a:r>
          </a:p>
          <a:p xmlns:a="http://schemas.openxmlformats.org/drawingml/2006/main">
            <a:r>
              <a:t>    "기관 간 요청·승인·제공·결과 대사"</a:t>
            </a:r>
          </a:p>
          <a:p xmlns:a="http://schemas.openxmlformats.org/drawingml/2006/main">
            <a:r>
              <a:t>  ],</a:t>
            </a:r>
          </a:p>
          <a:p xmlns:a="http://schemas.openxmlformats.org/drawingml/2006/main">
            <a:r>
              <a:t>  "output": "데이터 카탈로그·제공 대사표",</a:t>
            </a:r>
          </a:p>
          <a:p xmlns:a="http://schemas.openxmlformats.org/drawingml/2006/main">
            <a:r>
              <a:t>  "acceptance": "권한별 검색 결과 분리·계약 필드 대사·회수 후 재접근 차단",</a:t>
            </a:r>
          </a:p>
          <a:p xmlns:a="http://schemas.openxmlformats.org/drawingml/2006/main">
            <a:r>
              <a:t>  "phase": "공통 기반 인수 후 부서별 적용",</a:t>
            </a:r>
          </a:p>
          <a:p xmlns:a="http://schemas.openxmlformats.org/drawingml/2006/main">
            <a:r>
              <a:t>  "packages": [</a:t>
            </a:r>
          </a:p>
          <a:p xmlns:a="http://schemas.openxmlformats.org/drawingml/2006/main">
            <a:r>
              <a:t>    "ON-W01",</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"GAI-T04",</a:t>
            </a:r>
          </a:p>
          <a:p xmlns:a="http://schemas.openxmlformats.org/drawingml/2006/main">
            <a:r>
              <a:t>    "GAI-T06",</a:t>
            </a:r>
          </a:p>
          <a:p xmlns:a="http://schemas.openxmlformats.org/drawingml/2006/main">
            <a:r>
              <a:t>    "GAI-T09",</a:t>
            </a:r>
          </a:p>
          <a:p xmlns:a="http://schemas.openxmlformats.org/drawingml/2006/main">
            <a:r>
              <a:t>    "GAI-T11"</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"공공데이터 개방·표준",</a:t>
            </a:r>
          </a:p>
          <a:p xmlns:a="http://schemas.openxmlformats.org/drawingml/2006/main">
            <a:r>
              <a:t>      "indices":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"3. 인공지능(AI) 데이터 표준화 및 데이터 스페이스 구축",</a:t>
            </a:r>
          </a:p>
          <a:p xmlns:a="http://schemas.openxmlformats.org/drawingml/2006/main">
            <a:r>
              <a:t>        "5. 공공데이터 개방 및 관련 시스템 구축․관리, 공공데이터 활용성과 평가 대응"</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"교통데이터 분석·결합",</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운행기록데이터 관리·분석·활용 및 정책지원",</a:t>
            </a:r>
          </a:p>
          <a:p xmlns:a="http://schemas.openxmlformats.org/drawingml/2006/main">
            <a:r>
              <a:t>        "8. 빅데이터 결합 ․분석․활용 및 교통 빅데이터 플랫폼 구축사업"</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"1019400",</a:t>
            </a:r>
          </a:p>
          <a:p xmlns:a="http://schemas.openxmlformats.org/drawingml/2006/main">
            <a:r>
              <a:t>      "name": "자동차정보처",</a:t>
            </a:r>
          </a:p>
          <a:p xmlns:a="http://schemas.openxmlformats.org/drawingml/2006/main">
            <a:r>
              <a:t>      "job": "자동차 통합정보 제공",</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자동차토털이력관리시스템 운영",</a:t>
            </a:r>
          </a:p>
          <a:p xmlns:a="http://schemas.openxmlformats.org/drawingml/2006/main">
            <a:r>
              <a:t>        "8. 자동차정보 통합서비스 제공 업무"</a:t>
            </a:r>
          </a:p>
          <a:p xmlns:a="http://schemas.openxmlformats.org/drawingml/2006/main">
            <a:r>
              <a:t>      ],</a:t>
            </a:r>
          </a:p>
          <a:p xmlns:a="http://schemas.openxmlformats.org/drawingml/2006/main">
            <a:r>
              <a:t>      "locator": "별표4 · T37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"택시·대중교통 정보 운영",</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택시 운행정보 관리시스템 구축 및 운영",</a:t>
            </a:r>
          </a:p>
          <a:p xmlns:a="http://schemas.openxmlformats.org/drawingml/2006/main">
            <a:r>
              <a:t>        "10. 대중교통정보시스템(TAGO) 운영 등 ITS 관련 업무"</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"현황조사·데이터 관리",</a:t>
            </a:r>
          </a:p>
          <a:p xmlns:a="http://schemas.openxmlformats.org/drawingml/2006/main">
            <a:r>
              <a:t>      "indices":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"7. 대중교통 현황조사에 관한 업무",</a:t>
            </a:r>
          </a:p>
          <a:p xmlns:a="http://schemas.openxmlformats.org/drawingml/2006/main">
            <a:r>
              <a:t>        "9. 첨단모빌리티 데이터 수집관리 지원"</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"데이터 품질관리",</a:t>
            </a:r>
          </a:p>
          <a:p xmlns:a="http://schemas.openxmlformats.org/drawingml/2006/main">
            <a:r>
              <a:t>      "indices": [</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"개인정보·접근 보안",</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정보보안 및 개인정보보호 관련 제도 및 지침관리",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"연결 법령의 해당 사무 + 참여 부서별 별표4 업무분장 / 개인별 전결·권한의 별도 매핑",</a:t>
            </a:r>
          </a:p>
          <a:p xmlns:a="http://schemas.openxmlformats.org/drawingml/2006/main">
            <a:r>
              <a:t>  "caseRefs": [</a:t>
            </a:r>
          </a:p>
          <a:p xmlns:a="http://schemas.openxmlformats.org/drawingml/2006/main">
            <a:r>
              <a:t>    {</a:t>
            </a:r>
          </a:p>
          <a:p xmlns:a="http://schemas.openxmlformats.org/drawingml/2006/main">
            <a:r>
              <a:t>      "caseId": "AX01",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"AX23",</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"교통데이터 제공·연계 지원",</a:t>
            </a:r>
          </a:p>
          <a:p xmlns:a="http://schemas.openxmlformats.org/drawingml/2006/main">
            <a:r>
              <a:t>  "delta": "공개 가능 필드·데이터 사전·API 요청 연결",</a:t>
            </a:r>
          </a:p>
          <a:p xmlns:a="http://schemas.openxmlformats.org/drawingml/2006/main">
            <a:r>
              <a:t>  "kpi": "연계 성공률 / 목적 외 노출 건수",</a:t>
            </a:r>
          </a:p>
          <a:p xmlns:a="http://schemas.openxmlformats.org/drawingml/2006/main">
            <a:r>
              <a:t>  "validation": "공개·내부 필드 혼합과 재식별 위험 입력 검증",</a:t>
            </a:r>
          </a:p>
          <a:p xmlns:a="http://schemas.openxmlformats.org/drawingml/2006/main">
            <a:r>
              <a:t>  "requirement": "BM-ST-07-R01",</a:t>
            </a:r>
          </a:p>
          <a:p xmlns:a="http://schemas.openxmlformats.org/drawingml/2006/main">
            <a:r>
              <a:t>  "test": "BM-ST-07-T01",</a:t>
            </a:r>
          </a:p>
          <a:p xmlns:a="http://schemas.openxmlformats.org/drawingml/2006/main">
            <a:r>
              <a:t>  "effectStatus": "기대 방향 · TS 실측 전",</a:t>
            </a:r>
          </a:p>
          <a:p xmlns:a="http://schemas.openxmlformats.org/drawingml/2006/main">
            <a:r>
              <a:t>  "effect": "데이터 탐색·연계 보완시간 감소",</a:t>
            </a:r>
          </a:p>
          <a:p xmlns:a="http://schemas.openxmlformats.org/drawingml/2006/main">
            <a:r>
              <a:t>  "reuse": "ON27-BASE / C27-COM + CCK 재사용 판정 기능",</a:t>
            </a:r>
          </a:p>
          <a:p xmlns:a="http://schemas.openxmlformats.org/drawingml/2006/main">
            <a:r>
              <a:t>  "input": "데이터 정의·필드, 소유부서, 제공목적·권한, 연계 명세",</a:t>
            </a:r>
          </a:p>
          <a:p xmlns:a="http://schemas.openxmlformats.org/drawingml/2006/main">
            <a:r>
              <a:t>  "steps": [</a:t>
            </a:r>
          </a:p>
          <a:p xmlns:a="http://schemas.openxmlformats.org/drawingml/2006/main">
            <a:r>
              <a:t>    "요청 목적·소관 분류",</a:t>
            </a:r>
          </a:p>
          <a:p xmlns:a="http://schemas.openxmlformats.org/drawingml/2006/main">
            <a:r>
              <a:t>    "필드·품질·제공조건 대조",</a:t>
            </a:r>
          </a:p>
          <a:p xmlns:a="http://schemas.openxmlformats.org/drawingml/2006/main">
            <a:r>
              <a:t>    "승인된 제공경로 연결",</a:t>
            </a:r>
          </a:p>
          <a:p xmlns:a="http://schemas.openxmlformats.org/drawingml/2006/main">
            <a:r>
              <a:t>    "수신 대사·회수 반영"</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"공공데이터 개방·표준",</a:t>
            </a:r>
          </a:p>
          <a:p xmlns:a="http://schemas.openxmlformats.org/drawingml/2006/main">
            <a:r>
              <a:t>      "indices":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"3. 인공지능(AI) 데이터 표준화 및 데이터 스페이스 구축",</a:t>
            </a:r>
          </a:p>
          <a:p xmlns:a="http://schemas.openxmlformats.org/drawingml/2006/main">
            <a:r>
              <a:t>        "5. 공공데이터 개방 및 관련 시스템 구축․관리, 공공데이터 활용성과 평가 대응"</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"RULEWORK-1019600-3",</a:t>
            </a:r>
          </a:p>
          <a:p xmlns:a="http://schemas.openxmlformats.org/drawingml/2006/main">
            <a:r>
              <a:t>          "text": "3. 인공지능(AI) 데이터 표준화 및 데이터 스페이스 구축",</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"RULEWORK-1019600-3-T01",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"RULEWORK-1019600-3-R02",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"RULEWORK-1019600-3-T02",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"RULEWORK-1019600-3-R03",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"RULEWORK-1019600-5",</a:t>
            </a:r>
          </a:p>
          <a:p xmlns:a="http://schemas.openxmlformats.org/drawingml/2006/main">
            <a:r>
              <a:t>          "text": "5. 공공데이터 개방 및 관련 시스템 구축․관리, 공공데이터 활용성과 평가 대응",</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"RULEWORK-1019600-5-R01",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"RULEWORK-1019600-5-T01",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"RULEWORK-1019600-5-R02",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"RULEWORK-1019600-5-T02",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"RULEWORK-1019600-5-R03",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"교통데이터 분석·결합",</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운행기록데이터 관리·분석·활용 및 정책지원",</a:t>
            </a:r>
          </a:p>
          <a:p xmlns:a="http://schemas.openxmlformats.org/drawingml/2006/main">
            <a:r>
              <a:t>        "8. 빅데이터 결합 ․분석․활용 및 교통 빅데이터 플랫폼 구축사업"</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"RULEWORK-1019030-3",</a:t>
            </a:r>
          </a:p>
          <a:p xmlns:a="http://schemas.openxmlformats.org/drawingml/2006/main">
            <a:r>
              <a:t>          "text": "3. 운행기록데이터 관리·분석·활용 및 정책지원",</a:t>
            </a:r>
          </a:p>
          <a:p xmlns:a="http://schemas.openxmlformats.org/drawingml/2006/main">
            <a:r>
              <a:t>          "locator": "별표4 · T39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"RULEWORK-1019030-3-R01",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"RULEWORK-1019030-3-T01",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"RULEWORK-1019030-3-R02",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"RULEWORK-1019030-3-T02",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"RULEWORK-1019030-3-R03",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"RULEWORK-1019030-3-T03",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"RULEWORK-1019030-8",</a:t>
            </a:r>
          </a:p>
          <a:p xmlns:a="http://schemas.openxmlformats.org/drawingml/2006/main">
            <a:r>
              <a:t>          "text": "8. 빅데이터 결합 ․분석․활용 및 교통 빅데이터 플랫폼 구축사업",</a:t>
            </a:r>
          </a:p>
          <a:p xmlns:a="http://schemas.openxmlformats.org/drawingml/2006/main">
            <a:r>
              <a:t>          "locator": "별표4 · T39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"RULEWORK-1019030-8-R01",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"RULEWORK-1019030-8-T01",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"RULEWORK-1019030-8-R02",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"RULEWORK-1019030-8-T02",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"RULEWORK-1019030-8-R03",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"RULEWORK-1019030-8-T03",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"1019400",</a:t>
            </a:r>
          </a:p>
          <a:p xmlns:a="http://schemas.openxmlformats.org/drawingml/2006/main">
            <a:r>
              <a:t>      "name": "자동차정보처",</a:t>
            </a:r>
          </a:p>
          <a:p xmlns:a="http://schemas.openxmlformats.org/drawingml/2006/main">
            <a:r>
              <a:t>      "job": "자동차 통합정보 제공",</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자동차토털이력관리시스템 운영",</a:t>
            </a:r>
          </a:p>
          <a:p xmlns:a="http://schemas.openxmlformats.org/drawingml/2006/main">
            <a:r>
              <a:t>        "8. 자동차정보 통합서비스 제공 업무"</a:t>
            </a:r>
          </a:p>
          <a:p xmlns:a="http://schemas.openxmlformats.org/drawingml/2006/main">
            <a:r>
              <a:t>      ],</a:t>
            </a:r>
          </a:p>
          <a:p xmlns:a="http://schemas.openxmlformats.org/drawingml/2006/main">
            <a:r>
              <a:t>      "locator": "별표4 · T37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"RULEWORK-1019400-3",</a:t>
            </a:r>
          </a:p>
          <a:p xmlns:a="http://schemas.openxmlformats.org/drawingml/2006/main">
            <a:r>
              <a:t>          "text": "3. 자동차토털이력관리시스템 운영",</a:t>
            </a:r>
          </a:p>
          <a:p xmlns:a="http://schemas.openxmlformats.org/drawingml/2006/main">
            <a:r>
              <a:t>          "locator": "별표4 · T37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"RULEWORK-1019400-3-R01",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"RULEWORK-1019400-3-T01",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"RULEWORK-1019400-3-R02",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"RULEWORK-1019400-3-T02",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"RULEWORK-1019400-3-R03",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"RULEWORK-1019400-3-T03",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"RULEWORK-1019400-8",</a:t>
            </a:r>
          </a:p>
          <a:p xmlns:a="http://schemas.openxmlformats.org/drawingml/2006/main">
            <a:r>
              <a:t>          "text": "8. 자동차정보 통합서비스 제공 업무",</a:t>
            </a:r>
          </a:p>
          <a:p xmlns:a="http://schemas.openxmlformats.org/drawingml/2006/main">
            <a:r>
              <a:t>          "locator": "별표4 · T37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"RULEWORK-1019400-8-R01",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"RULEWORK-1019400-8-T01",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"RULEWORK-1019400-8-R02",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"RULEWORK-1019400-8-T02",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"RULEWORK-1019400-8-R03",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"RULEWORK-1019400-8-T03",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"택시·대중교통 정보 운영",</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택시 운행정보 관리시스템 구축 및 운영",</a:t>
            </a:r>
          </a:p>
          <a:p xmlns:a="http://schemas.openxmlformats.org/drawingml/2006/main">
            <a:r>
              <a:t>        "10. 대중교통정보시스템(TAGO) 운영 등 ITS 관련 업무"</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"RULEWORK-1019020-2",</a:t>
            </a:r>
          </a:p>
          <a:p xmlns:a="http://schemas.openxmlformats.org/drawingml/2006/main">
            <a:r>
              <a:t>          "text": "2. 택시 운행정보 관리시스템 구축 및 운영",</a:t>
            </a:r>
          </a:p>
          <a:p xmlns:a="http://schemas.openxmlformats.org/drawingml/2006/main">
            <a:r>
              <a:t>          "locator": "별표4 · T39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"RULEWORK-1019020-2-R01",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"RULEWORK-1019020-2-T01",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"RULEWORK-1019020-2-R02",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"RULEWORK-1019020-2-T02",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"RULEWORK-1019020-2-R03",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"RULEWORK-1019020-2-T03",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"RULEWORK-1019020-10",</a:t>
            </a:r>
          </a:p>
          <a:p xmlns:a="http://schemas.openxmlformats.org/drawingml/2006/main">
            <a:r>
              <a:t>          "text": "10. 대중교통정보시스템(TAGO) 운영 등 ITS 관련 업무",</a:t>
            </a:r>
          </a:p>
          <a:p xmlns:a="http://schemas.openxmlformats.org/drawingml/2006/main">
            <a:r>
              <a:t>          "locator": "별표4 · T39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"RULEWORK-1019020-10-R01",</a:t>
            </a:r>
          </a:p>
          <a:p xmlns:a="http://schemas.openxmlformats.org/drawingml/2006/main">
            <a:r>
              <a:t>              "title": "업무 맥락·전용 지식 구성",</a:t>
            </a:r>
          </a:p>
          <a:p xmlns:a="http://schemas.openxmlformats.org/drawingml/2006/main">
            <a:r>
              <a:t>              "development": "지역·시간·배차 제약과 요청 맥락 분류",</a:t>
            </a:r>
          </a:p>
          <a:p xmlns:a="http://schemas.openxmlformats.org/drawingml/2006/main">
            <a:r>
              <a:t>              "output": "조건·예외·변경 요청·결과 대사표",</a:t>
            </a:r>
          </a:p>
          <a:p xmlns:a="http://schemas.openxmlformats.org/drawingml/2006/main">
            <a:r>
              <a:t>              "testId": "RULEWORK-1019020-10-T01",</a:t>
            </a:r>
          </a:p>
          <a:p xmlns:a="http://schemas.openxmlformats.org/drawingml/2006/main">
            <a:r>
              <a:t>              "criterion": "운영 상태·조건별 가능한 후보와 예외 정답 대조"</a:t>
            </a:r>
          </a:p>
          <a:p xmlns:a="http://schemas.openxmlformats.org/drawingml/2006/main">
            <a:r>
              <a:t>            },</a:t>
            </a:r>
          </a:p>
          <a:p xmlns:a="http://schemas.openxmlformats.org/drawingml/2006/main">
            <a:r>
              <a:t>            {</a:t>
            </a:r>
          </a:p>
          <a:p xmlns:a="http://schemas.openxmlformats.org/drawingml/2006/main">
            <a:r>
              <a:t>              "id": "RULEWORK-1019020-10-R02",</a:t>
            </a:r>
          </a:p>
          <a:p xmlns:a="http://schemas.openxmlformats.org/drawingml/2006/main">
            <a:r>
              <a:t>              "title": "업무건·역할·시스템 연결",</a:t>
            </a:r>
          </a:p>
          <a:p xmlns:a="http://schemas.openxmlformats.org/drawingml/2006/main">
            <a:r>
              <a:t>              "development": "기존 운영시스템 조회·승인 후 변경 결과 대사",</a:t>
            </a:r>
          </a:p>
          <a:p xmlns:a="http://schemas.openxmlformats.org/drawingml/2006/main">
            <a:r>
              <a:t>              "output": "업무건·원천·역할·변경 연결 명세",</a:t>
            </a:r>
          </a:p>
          <a:p xmlns:a="http://schemas.openxmlformats.org/drawingml/2006/main">
            <a:r>
              <a:t>              "testId": "RULEWORK-1019020-10-T02",</a:t>
            </a:r>
          </a:p>
          <a:p xmlns:a="http://schemas.openxmlformats.org/drawingml/2006/main">
            <a:r>
              <a:t>              "criterion": "운영자 확인 전 변경 및 중복 배차 요청 차단"</a:t>
            </a:r>
          </a:p>
          <a:p xmlns:a="http://schemas.openxmlformats.org/drawingml/2006/main">
            <a:r>
              <a:t>            },</a:t>
            </a:r>
          </a:p>
          <a:p xmlns:a="http://schemas.openxmlformats.org/drawingml/2006/main">
            <a:r>
              <a:t>            {</a:t>
            </a:r>
          </a:p>
          <a:p xmlns:a="http://schemas.openxmlformats.org/drawingml/2006/main">
            <a:r>
              <a:t>              "id": "RULEWORK-1019020-10-R03",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"RULEWORK-1019020-10-T03",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"현황조사·데이터 관리",</a:t>
            </a:r>
          </a:p>
          <a:p xmlns:a="http://schemas.openxmlformats.org/drawingml/2006/main">
            <a:r>
              <a:t>      "indices":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"7. 대중교통 현황조사에 관한 업무",</a:t>
            </a:r>
          </a:p>
          <a:p xmlns:a="http://schemas.openxmlformats.org/drawingml/2006/main">
            <a:r>
              <a:t>        "9. 첨단모빌리티 데이터 수집관리 지원"</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"RULEWORK-1019010-7",</a:t>
            </a:r>
          </a:p>
          <a:p xmlns:a="http://schemas.openxmlformats.org/drawingml/2006/main">
            <a:r>
              <a:t>          "text": "7. 대중교통 현황조사에 관한 업무",</a:t>
            </a:r>
          </a:p>
          <a:p xmlns:a="http://schemas.openxmlformats.org/drawingml/2006/main">
            <a:r>
              <a:t>          "locator": "별표4 · T41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"RULEWORK-1019010-7-R01",</a:t>
            </a:r>
          </a:p>
          <a:p xmlns:a="http://schemas.openxmlformats.org/drawingml/2006/main">
            <a:r>
              <a:t>              "title": "업무 맥락·전용 지식 구성",</a:t>
            </a:r>
          </a:p>
          <a:p xmlns:a="http://schemas.openxmlformats.org/drawingml/2006/main">
            <a:r>
              <a:t>              "development": "대상·항목·분모·기간별 자료 정합성 점검",</a:t>
            </a:r>
          </a:p>
          <a:p xmlns:a="http://schemas.openxmlformats.org/drawingml/2006/main">
            <a:r>
              <a:t>              "output": "증빙·보완·분석·공표 검토자료",</a:t>
            </a:r>
          </a:p>
          <a:p xmlns:a="http://schemas.openxmlformats.org/drawingml/2006/main">
            <a:r>
              <a:t>              "testId": "RULEWORK-1019010-7-T01",</a:t>
            </a:r>
          </a:p>
          <a:p xmlns:a="http://schemas.openxmlformats.org/drawingml/2006/main">
            <a:r>
              <a:t>              "criterion": "표본·분모·단위·기간과 분석 결과 재현"</a:t>
            </a:r>
          </a:p>
          <a:p xmlns:a="http://schemas.openxmlformats.org/drawingml/2006/main">
            <a:r>
              <a:t>            },</a:t>
            </a:r>
          </a:p>
          <a:p xmlns:a="http://schemas.openxmlformats.org/drawingml/2006/main">
            <a:r>
              <a:t>            {</a:t>
            </a:r>
          </a:p>
          <a:p xmlns:a="http://schemas.openxmlformats.org/drawingml/2006/main">
            <a:r>
              <a:t>              "id": "RULEWORK-1019010-7-R02",</a:t>
            </a:r>
          </a:p>
          <a:p xmlns:a="http://schemas.openxmlformats.org/drawingml/2006/main">
            <a:r>
              <a:t>              "title": "업무건·역할·시스템 연결",</a:t>
            </a:r>
          </a:p>
          <a:p xmlns:a="http://schemas.openxmlformats.org/drawingml/2006/main">
            <a:r>
              <a:t>              "development": "조사 원장·원본 증빙·공표 판본 연결",</a:t>
            </a:r>
          </a:p>
          <a:p xmlns:a="http://schemas.openxmlformats.org/drawingml/2006/main">
            <a:r>
              <a:t>              "output": "업무건·원천·역할·변경 연결 명세",</a:t>
            </a:r>
          </a:p>
          <a:p xmlns:a="http://schemas.openxmlformats.org/drawingml/2006/main">
            <a:r>
              <a:t>              "testId": "RULEWORK-1019010-7-T02",</a:t>
            </a:r>
          </a:p>
          <a:p xmlns:a="http://schemas.openxmlformats.org/drawingml/2006/main">
            <a:r>
              <a:t>              "criterion": "공식 공표 승인·개인정보 제한 검증"</a:t>
            </a:r>
          </a:p>
          <a:p xmlns:a="http://schemas.openxmlformats.org/drawingml/2006/main">
            <a:r>
              <a:t>            },</a:t>
            </a:r>
          </a:p>
          <a:p xmlns:a="http://schemas.openxmlformats.org/drawingml/2006/main">
            <a:r>
              <a:t>            {</a:t>
            </a:r>
          </a:p>
          <a:p xmlns:a="http://schemas.openxmlformats.org/drawingml/2006/main">
            <a:r>
              <a:t>              "id": "RULEWORK-1019010-7-R03",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"RULEWORK-1019010-7-T03",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"RULEWORK-1019010-8",</a:t>
            </a:r>
          </a:p>
          <a:p xmlns:a="http://schemas.openxmlformats.org/drawingml/2006/main">
            <a:r>
              <a:t>          "text": "9. 첨단모빌리티 데이터 수집관리 지원",</a:t>
            </a:r>
          </a:p>
          <a:p xmlns:a="http://schemas.openxmlformats.org/drawingml/2006/main">
            <a:r>
              <a:t>          "locator": "별표4 · T41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"RULEWORK-1019010-8-R01",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"RULEWORK-1019010-8-T01",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"RULEWORK-1019010-8-R02",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"RULEWORK-1019010-8-T02",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"RULEWORK-1019010-8-R03",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"RULEWORK-1019010-8-T03",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"데이터 품질관리",</a:t>
            </a:r>
          </a:p>
          <a:p xmlns:a="http://schemas.openxmlformats.org/drawingml/2006/main">
            <a:r>
              <a:t>      "indices": [</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"RULEWORK-1019300-20",</a:t>
            </a:r>
          </a:p>
          <a:p xmlns:a="http://schemas.openxmlformats.org/drawingml/2006/main">
            <a:r>
              <a:t>          "text": "20. 데이터 품질관리",</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"RULEWORK-1019300-20-R01",</a:t>
            </a:r>
          </a:p>
          <a:p xmlns:a="http://schemas.openxmlformats.org/drawingml/2006/main">
            <a:r>
              <a:t>              "title": "업무 맥락·전용 지식 구성",</a:t>
            </a:r>
          </a:p>
          <a:p xmlns:a="http://schemas.openxmlformats.org/drawingml/2006/main">
            <a:r>
              <a:t>              "development": "시스템·변경·업무건 관계 추적",</a:t>
            </a:r>
          </a:p>
          <a:p xmlns:a="http://schemas.openxmlformats.org/drawingml/2006/main">
            <a:r>
              <a:t>              "output": "영향분석·조치·복구·대사 기록",</a:t>
            </a:r>
          </a:p>
          <a:p xmlns:a="http://schemas.openxmlformats.org/drawingml/2006/main">
            <a:r>
              <a:t>              "testId": "RULEWORK-1019300-20-T01",</a:t>
            </a:r>
          </a:p>
          <a:p xmlns:a="http://schemas.openxmlformats.org/drawingml/2006/main">
            <a:r>
              <a:t>              "criterion": "중복·누락·순서 역전·장애 사례의 결과 대조"</a:t>
            </a:r>
          </a:p>
          <a:p xmlns:a="http://schemas.openxmlformats.org/drawingml/2006/main">
            <a:r>
              <a:t>            },</a:t>
            </a:r>
          </a:p>
          <a:p xmlns:a="http://schemas.openxmlformats.org/drawingml/2006/main">
            <a:r>
              <a:t>            {</a:t>
            </a:r>
          </a:p>
          <a:p xmlns:a="http://schemas.openxmlformats.org/drawingml/2006/main">
            <a:r>
              <a:t>              "id": "RULEWORK-1019300-20-R02",</a:t>
            </a:r>
          </a:p>
          <a:p xmlns:a="http://schemas.openxmlformats.org/drawingml/2006/main">
            <a:r>
              <a:t>              "title": "업무건·역할·시스템 연결",</a:t>
            </a:r>
          </a:p>
          <a:p xmlns:a="http://schemas.openxmlformats.org/drawingml/2006/main">
            <a:r>
              <a:t>              "development": "멱등 요청·오류 재처리·승인된 연계 어댑터",</a:t>
            </a:r>
          </a:p>
          <a:p xmlns:a="http://schemas.openxmlformats.org/drawingml/2006/main">
            <a:r>
              <a:t>              "output": "업무건·원천·역할·변경 연결 명세",</a:t>
            </a:r>
          </a:p>
          <a:p xmlns:a="http://schemas.openxmlformats.org/drawingml/2006/main">
            <a:r>
              <a:t>              "testId": "RULEWORK-1019300-20-T02",</a:t>
            </a:r>
          </a:p>
          <a:p xmlns:a="http://schemas.openxmlformats.org/drawingml/2006/main">
            <a:r>
              <a:t>              "criterion": "무승인 변경·중복 실행 차단 및 복구 검증"</a:t>
            </a:r>
          </a:p>
          <a:p xmlns:a="http://schemas.openxmlformats.org/drawingml/2006/main">
            <a:r>
              <a:t>            },</a:t>
            </a:r>
          </a:p>
          <a:p xmlns:a="http://schemas.openxmlformats.org/drawingml/2006/main">
            <a:r>
              <a:t>            {</a:t>
            </a:r>
          </a:p>
          <a:p xmlns:a="http://schemas.openxmlformats.org/drawingml/2006/main">
            <a:r>
              <a:t>              "id": "RULEWORK-1019300-20-R03",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"RULEWORK-1019300-20-T03",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"개인정보·접근 보안",</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정보보안 및 개인정보보호 관련 제도 및 지침관리",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"RULEWORK-1019500-2",</a:t>
            </a:r>
          </a:p>
          <a:p xmlns:a="http://schemas.openxmlformats.org/drawingml/2006/main">
            <a:r>
              <a:t>          "text": "2. 정보보안 및 개인정보보호 관련 제도 및 지침관리",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"RULEWORK-1019500-2-R01",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"RULEWORK-1019500-2-T01",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"RULEWORK-1019500-2-R02",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"RULEWORK-1019500-2-T02",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"RULEWORK-1019500-10",</a:t>
            </a:r>
          </a:p>
          <a:p xmlns:a="http://schemas.openxmlformats.org/drawingml/2006/main">
            <a:r>
              <a:t>          "text": "10. 개인정보보호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"RULEWORK-1019500-10-R01",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"RULEWORK-1019500-10-T01",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"RULEWORK-1019500-10-R02",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"RULEWORK-1019500-10-T02",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자료 검색·질의 지원"</a:t>
            </a:r>
          </a:p>
          <a:p xmlns:a="http://schemas.openxmlformats.org/drawingml/2006/main">
            <a:r>
              <a:t>    },</a:t>
            </a:r>
          </a:p>
          <a:p xmlns:a="http://schemas.openxmlformats.org/drawingml/2006/main">
            <a:r>
              <a:t>    {</a:t>
            </a:r>
          </a:p>
          <a:p xmlns:a="http://schemas.openxmlformats.org/drawingml/2006/main">
            <a:r>
              <a:t>      "assetId": "CCK-03",</a:t>
            </a:r>
          </a:p>
          <a:p xmlns:a="http://schemas.openxmlformats.org/drawingml/2006/main">
            <a:r>
              <a:t>      "use": "Connor 명세의 실행·로그 경계"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"목적·필드별 정책 카탈로그",</a:t>
            </a:r>
          </a:p>
          <a:p xmlns:a="http://schemas.openxmlformats.org/drawingml/2006/main">
            <a:r>
              <a:t>    "요청–승인–제공–회수 연결 어댑터"</a:t>
            </a:r>
          </a:p>
          <a:p xmlns:a="http://schemas.openxmlformats.org/drawingml/2006/main">
            <a:r>
              <a:t>  ],</a:t>
            </a:r>
          </a:p>
          <a:p xmlns:a="http://schemas.openxmlformats.org/drawingml/2006/main">
            <a:r>
              <a:t>  "acceptancePlan": {</a:t>
            </a:r>
          </a:p>
          <a:p xmlns:a="http://schemas.openxmlformats.org/drawingml/2006/main">
            <a:r>
              <a:t>    "sample": "공개/내부 필드 혼합, 스키마 변경, 권한 회수",</a:t>
            </a:r>
          </a:p>
          <a:p xmlns:a="http://schemas.openxmlformats.org/drawingml/2006/main">
            <a:r>
              <a:t>    "criterion": "허용 필드만 제공·불일치 보류·회수 후 캐시 차단",</a:t>
            </a:r>
          </a:p>
          <a:p xmlns:a="http://schemas.openxmlformats.org/drawingml/2006/main">
            <a:r>
              <a:t>    "evidence": "필드 대사표·거부셋 결과·회수 로그",</a:t>
            </a:r>
          </a:p>
          <a:p xmlns:a="http://schemas.openxmlformats.org/drawingml/2006/main">
            <a:r>
              <a:t>    "execution": "미실행"</a:t>
            </a:r>
          </a:p>
          <a:p xmlns:a="http://schemas.openxmlformats.org/drawingml/2006/main">
            <a:r>
              <a:t>  },</a:t>
            </a:r>
          </a:p>
          <a:p xmlns:a="http://schemas.openxmlformats.org/drawingml/2006/main">
            <a:r>
              <a:t>  "formula": "승인 조건 충족 연계 수 ÷ 연계 시도 수 / 목적 외 노출 건수",</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"PF-R07",</a:t>
            </a:r>
          </a:p>
          <a:p xmlns:a="http://schemas.openxmlformats.org/drawingml/2006/main">
            <a:r>
              <a:t>    "PF-R08",</a:t>
            </a:r>
          </a:p>
          <a:p xmlns:a="http://schemas.openxmlformats.org/drawingml/2006/main">
            <a:r>
              <a:t>    "PF03",</a:t>
            </a:r>
          </a:p>
          <a:p xmlns:a="http://schemas.openxmlformats.org/drawingml/2006/main">
            <a:r>
              <a:t>    "PF06"</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"ST-07",</a:t>
            </a:r>
          </a:p>
          <a:p xmlns:a="http://schemas.openxmlformats.org/drawingml/2006/main">
            <a:r>
              <a:t>  "number": 7,</a:t>
            </a:r>
          </a:p>
          <a:p xmlns:a="http://schemas.openxmlformats.org/drawingml/2006/main">
            <a:r>
              <a:t>  "direction": "균형있는 국민체감 서비스 실현",</a:t>
            </a:r>
          </a:p>
          <a:p xmlns:a="http://schemas.openxmlformats.org/drawingml/2006/main">
            <a:r>
              <a:t>  "strategy": "교통데이터 개방·연계 기반 서비스 편익 증대",</a:t>
            </a:r>
          </a:p>
          <a:p xmlns:a="http://schemas.openxmlformats.org/drawingml/2006/main">
            <a:r>
              <a:t>  "solution": "교통데이터 카탈로그·연계 지원",</a:t>
            </a:r>
          </a:p>
          <a:p xmlns:a="http://schemas.openxmlformats.org/drawingml/2006/main">
            <a:r>
              <a:t>  "lawIds": [</a:t>
            </a:r>
          </a:p>
          <a:p xmlns:a="http://schemas.openxmlformats.org/drawingml/2006/main">
            <a:r>
              <a:t>    "L04",</a:t>
            </a:r>
          </a:p>
          <a:p xmlns:a="http://schemas.openxmlformats.org/drawingml/2006/main">
            <a:r>
              <a:t>    "L10",</a:t>
            </a:r>
          </a:p>
          <a:p xmlns:a="http://schemas.openxmlformats.org/drawingml/2006/main">
            <a:r>
              <a:t>    "L15",</a:t>
            </a:r>
          </a:p>
          <a:p xmlns:a="http://schemas.openxmlformats.org/drawingml/2006/main">
            <a:r>
              <a:t>    "L16"</a:t>
            </a:r>
          </a:p>
          <a:p xmlns:a="http://schemas.openxmlformats.org/drawingml/2006/main">
            <a:r>
              <a:t>  ],</a:t>
            </a:r>
          </a:p>
          <a:p xmlns:a="http://schemas.openxmlformats.org/drawingml/2006/main">
            <a:r>
              <a:t>  "codes": [</a:t>
            </a:r>
          </a:p>
          <a:p xmlns:a="http://schemas.openxmlformats.org/drawingml/2006/main">
            <a:r>
              <a:t>    "1019600",</a:t>
            </a:r>
          </a:p>
          <a:p xmlns:a="http://schemas.openxmlformats.org/drawingml/2006/main">
            <a:r>
              <a:t>    "1019030",</a:t>
            </a:r>
          </a:p>
          <a:p xmlns:a="http://schemas.openxmlformats.org/drawingml/2006/main">
            <a:r>
              <a:t>    "1019400",</a:t>
            </a:r>
          </a:p>
          <a:p xmlns:a="http://schemas.openxmlformats.org/drawingml/2006/main">
            <a:r>
              <a:t>    "1019020",</a:t>
            </a:r>
          </a:p>
          <a:p xmlns:a="http://schemas.openxmlformats.org/drawingml/2006/main">
            <a:r>
              <a:t>    "1019010",</a:t>
            </a:r>
          </a:p>
          <a:p xmlns:a="http://schemas.openxmlformats.org/drawingml/2006/main">
            <a:r>
              <a:t>    "1019300",</a:t>
            </a:r>
          </a:p>
          <a:p xmlns:a="http://schemas.openxmlformats.org/drawingml/2006/main">
            <a:r>
              <a:t>    "1019500"</a:t>
            </a:r>
          </a:p>
          <a:p xmlns:a="http://schemas.openxmlformats.org/drawingml/2006/main">
            <a:r>
              <a:t>  ],</a:t>
            </a:r>
          </a:p>
          <a:p xmlns:a="http://schemas.openxmlformats.org/drawingml/2006/main">
            <a:r>
              <a:t>  "work": "교통·차량 데이터의 소재·권리·품질·활용 관리",</a:t>
            </a:r>
          </a:p>
          <a:p xmlns:a="http://schemas.openxmlformats.org/drawingml/2006/main">
            <a:r>
              <a:t>  "features": [</a:t>
            </a:r>
          </a:p>
          <a:p xmlns:a="http://schemas.openxmlformats.org/drawingml/2006/main">
            <a:r>
              <a:t>    "데이터 정의·소유부서·용도·권한 카탈로그 구성",</a:t>
            </a:r>
          </a:p>
          <a:p xmlns:a="http://schemas.openxmlformats.org/drawingml/2006/main">
            <a:r>
              <a:t>    "기관 간 요청·승인·제공·결과 대사"</a:t>
            </a:r>
          </a:p>
          <a:p xmlns:a="http://schemas.openxmlformats.org/drawingml/2006/main">
            <a:r>
              <a:t>  ],</a:t>
            </a:r>
          </a:p>
          <a:p xmlns:a="http://schemas.openxmlformats.org/drawingml/2006/main">
            <a:r>
              <a:t>  "output": "데이터 카탈로그·제공 대사표",</a:t>
            </a:r>
          </a:p>
          <a:p xmlns:a="http://schemas.openxmlformats.org/drawingml/2006/main">
            <a:r>
              <a:t>  "acceptance": "권한별 검색 결과 분리·계약 필드 대사·회수 후 재접근 차단",</a:t>
            </a:r>
          </a:p>
          <a:p xmlns:a="http://schemas.openxmlformats.org/drawingml/2006/main">
            <a:r>
              <a:t>  "phase": "공통 기반 인수 후 부서별 적용",</a:t>
            </a:r>
          </a:p>
          <a:p xmlns:a="http://schemas.openxmlformats.org/drawingml/2006/main">
            <a:r>
              <a:t>  "packages": [</a:t>
            </a:r>
          </a:p>
          <a:p xmlns:a="http://schemas.openxmlformats.org/drawingml/2006/main">
            <a:r>
              <a:t>    "ON-W01",</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"GAI-T04",</a:t>
            </a:r>
          </a:p>
          <a:p xmlns:a="http://schemas.openxmlformats.org/drawingml/2006/main">
            <a:r>
              <a:t>    "GAI-T06",</a:t>
            </a:r>
          </a:p>
          <a:p xmlns:a="http://schemas.openxmlformats.org/drawingml/2006/main">
            <a:r>
              <a:t>    "GAI-T09",</a:t>
            </a:r>
          </a:p>
          <a:p xmlns:a="http://schemas.openxmlformats.org/drawingml/2006/main">
            <a:r>
              <a:t>    "GAI-T11"</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"공공데이터 개방·표준",</a:t>
            </a:r>
          </a:p>
          <a:p xmlns:a="http://schemas.openxmlformats.org/drawingml/2006/main">
            <a:r>
              <a:t>      "indices":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"3. 인공지능(AI) 데이터 표준화 및 데이터 스페이스 구축",</a:t>
            </a:r>
          </a:p>
          <a:p xmlns:a="http://schemas.openxmlformats.org/drawingml/2006/main">
            <a:r>
              <a:t>        "5. 공공데이터 개방 및 관련 시스템 구축․관리, 공공데이터 활용성과 평가 대응"</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"교통데이터 분석·결합",</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운행기록데이터 관리·분석·활용 및 정책지원",</a:t>
            </a:r>
          </a:p>
          <a:p xmlns:a="http://schemas.openxmlformats.org/drawingml/2006/main">
            <a:r>
              <a:t>        "8. 빅데이터 결합 ․분석․활용 및 교통 빅데이터 플랫폼 구축사업"</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"1019400",</a:t>
            </a:r>
          </a:p>
          <a:p xmlns:a="http://schemas.openxmlformats.org/drawingml/2006/main">
            <a:r>
              <a:t>      "name": "자동차정보처",</a:t>
            </a:r>
          </a:p>
          <a:p xmlns:a="http://schemas.openxmlformats.org/drawingml/2006/main">
            <a:r>
              <a:t>      "job": "자동차 통합정보 제공",</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자동차토털이력관리시스템 운영",</a:t>
            </a:r>
          </a:p>
          <a:p xmlns:a="http://schemas.openxmlformats.org/drawingml/2006/main">
            <a:r>
              <a:t>        "8. 자동차정보 통합서비스 제공 업무"</a:t>
            </a:r>
          </a:p>
          <a:p xmlns:a="http://schemas.openxmlformats.org/drawingml/2006/main">
            <a:r>
              <a:t>      ],</a:t>
            </a:r>
          </a:p>
          <a:p xmlns:a="http://schemas.openxmlformats.org/drawingml/2006/main">
            <a:r>
              <a:t>      "locator": "별표4 · T37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"택시·대중교통 정보 운영",</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택시 운행정보 관리시스템 구축 및 운영",</a:t>
            </a:r>
          </a:p>
          <a:p xmlns:a="http://schemas.openxmlformats.org/drawingml/2006/main">
            <a:r>
              <a:t>        "10. 대중교통정보시스템(TAGO) 운영 등 ITS 관련 업무"</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"현황조사·데이터 관리",</a:t>
            </a:r>
          </a:p>
          <a:p xmlns:a="http://schemas.openxmlformats.org/drawingml/2006/main">
            <a:r>
              <a:t>      "indices":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"7. 대중교통 현황조사에 관한 업무",</a:t>
            </a:r>
          </a:p>
          <a:p xmlns:a="http://schemas.openxmlformats.org/drawingml/2006/main">
            <a:r>
              <a:t>        "9. 첨단모빌리티 데이터 수집관리 지원"</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"데이터 품질관리",</a:t>
            </a:r>
          </a:p>
          <a:p xmlns:a="http://schemas.openxmlformats.org/drawingml/2006/main">
            <a:r>
              <a:t>      "indices": [</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"개인정보·접근 보안",</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정보보안 및 개인정보보호 관련 제도 및 지침관리",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"연결 법령의 해당 사무 + 참여 부서별 별표4 업무분장 / 개인별 전결·권한의 별도 매핑",</a:t>
            </a:r>
          </a:p>
          <a:p xmlns:a="http://schemas.openxmlformats.org/drawingml/2006/main">
            <a:r>
              <a:t>  "caseRefs": [</a:t>
            </a:r>
          </a:p>
          <a:p xmlns:a="http://schemas.openxmlformats.org/drawingml/2006/main">
            <a:r>
              <a:t>    {</a:t>
            </a:r>
          </a:p>
          <a:p xmlns:a="http://schemas.openxmlformats.org/drawingml/2006/main">
            <a:r>
              <a:t>      "caseId": "AX01",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"AX23",</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"교통데이터 제공·연계 지원",</a:t>
            </a:r>
          </a:p>
          <a:p xmlns:a="http://schemas.openxmlformats.org/drawingml/2006/main">
            <a:r>
              <a:t>  "delta": "공개 가능 필드·데이터 사전·API 요청 연결",</a:t>
            </a:r>
          </a:p>
          <a:p xmlns:a="http://schemas.openxmlformats.org/drawingml/2006/main">
            <a:r>
              <a:t>  "kpi": "연계 성공률 / 목적 외 노출 건수",</a:t>
            </a:r>
          </a:p>
          <a:p xmlns:a="http://schemas.openxmlformats.org/drawingml/2006/main">
            <a:r>
              <a:t>  "validation": "공개·내부 필드 혼합과 재식별 위험 입력 검증",</a:t>
            </a:r>
          </a:p>
          <a:p xmlns:a="http://schemas.openxmlformats.org/drawingml/2006/main">
            <a:r>
              <a:t>  "requirement": "BM-ST-07-R01",</a:t>
            </a:r>
          </a:p>
          <a:p xmlns:a="http://schemas.openxmlformats.org/drawingml/2006/main">
            <a:r>
              <a:t>  "test": "BM-ST-07-T01",</a:t>
            </a:r>
          </a:p>
          <a:p xmlns:a="http://schemas.openxmlformats.org/drawingml/2006/main">
            <a:r>
              <a:t>  "effectStatus": "기대 방향 · TS 실측 전",</a:t>
            </a:r>
          </a:p>
          <a:p xmlns:a="http://schemas.openxmlformats.org/drawingml/2006/main">
            <a:r>
              <a:t>  "effect": "데이터 탐색·연계 보완시간 감소",</a:t>
            </a:r>
          </a:p>
          <a:p xmlns:a="http://schemas.openxmlformats.org/drawingml/2006/main">
            <a:r>
              <a:t>  "reuse": "ON27-BASE / C27-COM + CCK 재사용 판정 기능",</a:t>
            </a:r>
          </a:p>
          <a:p xmlns:a="http://schemas.openxmlformats.org/drawingml/2006/main">
            <a:r>
              <a:t>  "input": "데이터 정의·필드, 소유부서, 제공목적·권한, 연계 명세",</a:t>
            </a:r>
          </a:p>
          <a:p xmlns:a="http://schemas.openxmlformats.org/drawingml/2006/main">
            <a:r>
              <a:t>  "steps": [</a:t>
            </a:r>
          </a:p>
          <a:p xmlns:a="http://schemas.openxmlformats.org/drawingml/2006/main">
            <a:r>
              <a:t>    "요청 목적·소관 분류",</a:t>
            </a:r>
          </a:p>
          <a:p xmlns:a="http://schemas.openxmlformats.org/drawingml/2006/main">
            <a:r>
              <a:t>    "필드·품질·제공조건 대조",</a:t>
            </a:r>
          </a:p>
          <a:p xmlns:a="http://schemas.openxmlformats.org/drawingml/2006/main">
            <a:r>
              <a:t>    "승인된 제공경로 연결",</a:t>
            </a:r>
          </a:p>
          <a:p xmlns:a="http://schemas.openxmlformats.org/drawingml/2006/main">
            <a:r>
              <a:t>    "수신 대사·회수 반영"</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"공공데이터 개방·표준",</a:t>
            </a:r>
          </a:p>
          <a:p xmlns:a="http://schemas.openxmlformats.org/drawingml/2006/main">
            <a:r>
              <a:t>      "indices":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"3. 인공지능(AI) 데이터 표준화 및 데이터 스페이스 구축",</a:t>
            </a:r>
          </a:p>
          <a:p xmlns:a="http://schemas.openxmlformats.org/drawingml/2006/main">
            <a:r>
              <a:t>        "5. 공공데이터 개방 및 관련 시스템 구축․관리, 공공데이터 활용성과 평가 대응"</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"RULEWORK-1019600-3",</a:t>
            </a:r>
          </a:p>
          <a:p xmlns:a="http://schemas.openxmlformats.org/drawingml/2006/main">
            <a:r>
              <a:t>          "text": "3. 인공지능(AI) 데이터 표준화 및 데이터 스페이스 구축",</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"RULEWORK-1019600-3-T01",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"RULEWORK-1019600-3-R02",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"RULEWORK-1019600-3-T02",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"RULEWORK-1019600-3-R03",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"RULEWORK-1019600-5",</a:t>
            </a:r>
          </a:p>
          <a:p xmlns:a="http://schemas.openxmlformats.org/drawingml/2006/main">
            <a:r>
              <a:t>          "text": "5. 공공데이터 개방 및 관련 시스템 구축․관리, 공공데이터 활용성과 평가 대응",</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"RULEWORK-1019600-5-R01",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"RULEWORK-1019600-5-T01",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"RULEWORK-1019600-5-R02",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"RULEWORK-1019600-5-T02",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"RULEWORK-1019600-5-R03",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"교통데이터 분석·결합",</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운행기록데이터 관리·분석·활용 및 정책지원",</a:t>
            </a:r>
          </a:p>
          <a:p xmlns:a="http://schemas.openxmlformats.org/drawingml/2006/main">
            <a:r>
              <a:t>        "8. 빅데이터 결합 ․분석․활용 및 교통 빅데이터 플랫폼 구축사업"</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"RULEWORK-1019030-3",</a:t>
            </a:r>
          </a:p>
          <a:p xmlns:a="http://schemas.openxmlformats.org/drawingml/2006/main">
            <a:r>
              <a:t>          "text": "3. 운행기록데이터 관리·분석·활용 및 정책지원",</a:t>
            </a:r>
          </a:p>
          <a:p xmlns:a="http://schemas.openxmlformats.org/drawingml/2006/main">
            <a:r>
              <a:t>          "locator": "별표4 · T39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"RULEWORK-1019030-3-R01",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"RULEWORK-1019030-3-T01",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"RULEWORK-1019030-3-R02",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"RULEWORK-1019030-3-T02",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"RULEWORK-1019030-3-R03",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"RULEWORK-1019030-3-T03",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"RULEWORK-1019030-8",</a:t>
            </a:r>
          </a:p>
          <a:p xmlns:a="http://schemas.openxmlformats.org/drawingml/2006/main">
            <a:r>
              <a:t>          "text": "8. 빅데이터 결합 ․분석․활용 및 교통 빅데이터 플랫폼 구축사업",</a:t>
            </a:r>
          </a:p>
          <a:p xmlns:a="http://schemas.openxmlformats.org/drawingml/2006/main">
            <a:r>
              <a:t>          "locator": "별표4 · T39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"RULEWORK-1019030-8-R01",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"RULEWORK-1019030-8-T01",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"RULEWORK-1019030-8-R02",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"RULEWORK-1019030-8-T02",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"RULEWORK-1019030-8-R03",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"RULEWORK-1019030-8-T03",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"1019400",</a:t>
            </a:r>
          </a:p>
          <a:p xmlns:a="http://schemas.openxmlformats.org/drawingml/2006/main">
            <a:r>
              <a:t>      "name": "자동차정보처",</a:t>
            </a:r>
          </a:p>
          <a:p xmlns:a="http://schemas.openxmlformats.org/drawingml/2006/main">
            <a:r>
              <a:t>      "job": "자동차 통합정보 제공",</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자동차토털이력관리시스템 운영",</a:t>
            </a:r>
          </a:p>
          <a:p xmlns:a="http://schemas.openxmlformats.org/drawingml/2006/main">
            <a:r>
              <a:t>        "8. 자동차정보 통합서비스 제공 업무"</a:t>
            </a:r>
          </a:p>
          <a:p xmlns:a="http://schemas.openxmlformats.org/drawingml/2006/main">
            <a:r>
              <a:t>      ],</a:t>
            </a:r>
          </a:p>
          <a:p xmlns:a="http://schemas.openxmlformats.org/drawingml/2006/main">
            <a:r>
              <a:t>      "locator": "별표4 · T37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"RULEWORK-1019400-3",</a:t>
            </a:r>
          </a:p>
          <a:p xmlns:a="http://schemas.openxmlformats.org/drawingml/2006/main">
            <a:r>
              <a:t>          "text": "3. 자동차토털이력관리시스템 운영",</a:t>
            </a:r>
          </a:p>
          <a:p xmlns:a="http://schemas.openxmlformats.org/drawingml/2006/main">
            <a:r>
              <a:t>          "locator": "별표4 · T37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"RULEWORK-1019400-3-R01",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"RULEWORK-1019400-3-T01",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"RULEWORK-1019400-3-R02",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"RULEWORK-1019400-3-T02",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"RULEWORK-1019400-3-R03",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"RULEWORK-1019400-3-T03",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"RULEWORK-1019400-8",</a:t>
            </a:r>
          </a:p>
          <a:p xmlns:a="http://schemas.openxmlformats.org/drawingml/2006/main">
            <a:r>
              <a:t>          "text": "8. 자동차정보 통합서비스 제공 업무",</a:t>
            </a:r>
          </a:p>
          <a:p xmlns:a="http://schemas.openxmlformats.org/drawingml/2006/main">
            <a:r>
              <a:t>          "locator": "별표4 · T37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"RULEWORK-1019400-8-R01",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"RULEWORK-1019400-8-T01",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"RULEWORK-1019400-8-R02",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"RULEWORK-1019400-8-T02",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"RULEWORK-1019400-8-R03",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"RULEWORK-1019400-8-T03",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"택시·대중교통 정보 운영",</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택시 운행정보 관리시스템 구축 및 운영",</a:t>
            </a:r>
          </a:p>
          <a:p xmlns:a="http://schemas.openxmlformats.org/drawingml/2006/main">
            <a:r>
              <a:t>        "10. 대중교통정보시스템(TAGO) 운영 등 ITS 관련 업무"</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"RULEWORK-1019020-2",</a:t>
            </a:r>
          </a:p>
          <a:p xmlns:a="http://schemas.openxmlformats.org/drawingml/2006/main">
            <a:r>
              <a:t>          "text": "2. 택시 운행정보 관리시스템 구축 및 운영",</a:t>
            </a:r>
          </a:p>
          <a:p xmlns:a="http://schemas.openxmlformats.org/drawingml/2006/main">
            <a:r>
              <a:t>          "locator": "별표4 · T39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"RULEWORK-1019020-2-R01",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"RULEWORK-1019020-2-T01",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"RULEWORK-1019020-2-R02",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"RULEWORK-1019020-2-T02",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"RULEWORK-1019020-2-R03",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"RULEWORK-1019020-2-T03",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"RULEWORK-1019020-10",</a:t>
            </a:r>
          </a:p>
          <a:p xmlns:a="http://schemas.openxmlformats.org/drawingml/2006/main">
            <a:r>
              <a:t>          "text": "10. 대중교통정보시스템(TAGO) 운영 등 ITS 관련 업무",</a:t>
            </a:r>
          </a:p>
          <a:p xmlns:a="http://schemas.openxmlformats.org/drawingml/2006/main">
            <a:r>
              <a:t>          "locator": "별표4 · T39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"RULEWORK-1019020-10-R01",</a:t>
            </a:r>
          </a:p>
          <a:p xmlns:a="http://schemas.openxmlformats.org/drawingml/2006/main">
            <a:r>
              <a:t>              "title": "업무 맥락·전용 지식 구성",</a:t>
            </a:r>
          </a:p>
          <a:p xmlns:a="http://schemas.openxmlformats.org/drawingml/2006/main">
            <a:r>
              <a:t>              "development": "지역·시간·배차 제약과 요청 맥락 분류",</a:t>
            </a:r>
          </a:p>
          <a:p xmlns:a="http://schemas.openxmlformats.org/drawingml/2006/main">
            <a:r>
              <a:t>              "output": "조건·예외·변경 요청·결과 대사표",</a:t>
            </a:r>
          </a:p>
          <a:p xmlns:a="http://schemas.openxmlformats.org/drawingml/2006/main">
            <a:r>
              <a:t>              "testId": "RULEWORK-1019020-10-T01",</a:t>
            </a:r>
          </a:p>
          <a:p xmlns:a="http://schemas.openxmlformats.org/drawingml/2006/main">
            <a:r>
              <a:t>              "criterion": "운영 상태·조건별 가능한 후보와 예외 정답 대조"</a:t>
            </a:r>
          </a:p>
          <a:p xmlns:a="http://schemas.openxmlformats.org/drawingml/2006/main">
            <a:r>
              <a:t>            },</a:t>
            </a:r>
          </a:p>
          <a:p xmlns:a="http://schemas.openxmlformats.org/drawingml/2006/main">
            <a:r>
              <a:t>            {</a:t>
            </a:r>
          </a:p>
          <a:p xmlns:a="http://schemas.openxmlformats.org/drawingml/2006/main">
            <a:r>
              <a:t>              "id": "RULEWORK-1019020-10-R02",</a:t>
            </a:r>
          </a:p>
          <a:p xmlns:a="http://schemas.openxmlformats.org/drawingml/2006/main">
            <a:r>
              <a:t>              "title": "업무건·역할·시스템 연결",</a:t>
            </a:r>
          </a:p>
          <a:p xmlns:a="http://schemas.openxmlformats.org/drawingml/2006/main">
            <a:r>
              <a:t>              "development": "기존 운영시스템 조회·승인 후 변경 결과 대사",</a:t>
            </a:r>
          </a:p>
          <a:p xmlns:a="http://schemas.openxmlformats.org/drawingml/2006/main">
            <a:r>
              <a:t>              "output": "업무건·원천·역할·변경 연결 명세",</a:t>
            </a:r>
          </a:p>
          <a:p xmlns:a="http://schemas.openxmlformats.org/drawingml/2006/main">
            <a:r>
              <a:t>              "testId": "RULEWORK-1019020-10-T02",</a:t>
            </a:r>
          </a:p>
          <a:p xmlns:a="http://schemas.openxmlformats.org/drawingml/2006/main">
            <a:r>
              <a:t>              "criterion": "운영자 확인 전 변경 및 중복 배차 요청 차단"</a:t>
            </a:r>
          </a:p>
          <a:p xmlns:a="http://schemas.openxmlformats.org/drawingml/2006/main">
            <a:r>
              <a:t>            },</a:t>
            </a:r>
          </a:p>
          <a:p xmlns:a="http://schemas.openxmlformats.org/drawingml/2006/main">
            <a:r>
              <a:t>            {</a:t>
            </a:r>
          </a:p>
          <a:p xmlns:a="http://schemas.openxmlformats.org/drawingml/2006/main">
            <a:r>
              <a:t>              "id": "RULEWORK-1019020-10-R03",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"RULEWORK-1019020-10-T03",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"현황조사·데이터 관리",</a:t>
            </a:r>
          </a:p>
          <a:p xmlns:a="http://schemas.openxmlformats.org/drawingml/2006/main">
            <a:r>
              <a:t>      "indices":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"7. 대중교통 현황조사에 관한 업무",</a:t>
            </a:r>
          </a:p>
          <a:p xmlns:a="http://schemas.openxmlformats.org/drawingml/2006/main">
            <a:r>
              <a:t>        "9. 첨단모빌리티 데이터 수집관리 지원"</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"RULEWORK-1019010-7",</a:t>
            </a:r>
          </a:p>
          <a:p xmlns:a="http://schemas.openxmlformats.org/drawingml/2006/main">
            <a:r>
              <a:t>          "text": "7. 대중교통 현황조사에 관한 업무",</a:t>
            </a:r>
          </a:p>
          <a:p xmlns:a="http://schemas.openxmlformats.org/drawingml/2006/main">
            <a:r>
              <a:t>          "locator": "별표4 · T41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"RULEWORK-1019010-7-R01",</a:t>
            </a:r>
          </a:p>
          <a:p xmlns:a="http://schemas.openxmlformats.org/drawingml/2006/main">
            <a:r>
              <a:t>              "title": "업무 맥락·전용 지식 구성",</a:t>
            </a:r>
          </a:p>
          <a:p xmlns:a="http://schemas.openxmlformats.org/drawingml/2006/main">
            <a:r>
              <a:t>              "development": "대상·항목·분모·기간별 자료 정합성 점검",</a:t>
            </a:r>
          </a:p>
          <a:p xmlns:a="http://schemas.openxmlformats.org/drawingml/2006/main">
            <a:r>
              <a:t>              "output": "증빙·보완·분석·공표 검토자료",</a:t>
            </a:r>
          </a:p>
          <a:p xmlns:a="http://schemas.openxmlformats.org/drawingml/2006/main">
            <a:r>
              <a:t>              "testId": "RULEWORK-1019010-7-T01",</a:t>
            </a:r>
          </a:p>
          <a:p xmlns:a="http://schemas.openxmlformats.org/drawingml/2006/main">
            <a:r>
              <a:t>              "criterion": "표본·분모·단위·기간과 분석 결과 재현"</a:t>
            </a:r>
          </a:p>
          <a:p xmlns:a="http://schemas.openxmlformats.org/drawingml/2006/main">
            <a:r>
              <a:t>            },</a:t>
            </a:r>
          </a:p>
          <a:p xmlns:a="http://schemas.openxmlformats.org/drawingml/2006/main">
            <a:r>
              <a:t>            {</a:t>
            </a:r>
          </a:p>
          <a:p xmlns:a="http://schemas.openxmlformats.org/drawingml/2006/main">
            <a:r>
              <a:t>              "id": "RULEWORK-1019010-7-R02",</a:t>
            </a:r>
          </a:p>
          <a:p xmlns:a="http://schemas.openxmlformats.org/drawingml/2006/main">
            <a:r>
              <a:t>              "title": "업무건·역할·시스템 연결",</a:t>
            </a:r>
          </a:p>
          <a:p xmlns:a="http://schemas.openxmlformats.org/drawingml/2006/main">
            <a:r>
              <a:t>              "development": "조사 원장·원본 증빙·공표 판본 연결",</a:t>
            </a:r>
          </a:p>
          <a:p xmlns:a="http://schemas.openxmlformats.org/drawingml/2006/main">
            <a:r>
              <a:t>              "output": "업무건·원천·역할·변경 연결 명세",</a:t>
            </a:r>
          </a:p>
          <a:p xmlns:a="http://schemas.openxmlformats.org/drawingml/2006/main">
            <a:r>
              <a:t>              "testId": "RULEWORK-1019010-7-T02",</a:t>
            </a:r>
          </a:p>
          <a:p xmlns:a="http://schemas.openxmlformats.org/drawingml/2006/main">
            <a:r>
              <a:t>              "criterion": "공식 공표 승인·개인정보 제한 검증"</a:t>
            </a:r>
          </a:p>
          <a:p xmlns:a="http://schemas.openxmlformats.org/drawingml/2006/main">
            <a:r>
              <a:t>            },</a:t>
            </a:r>
          </a:p>
          <a:p xmlns:a="http://schemas.openxmlformats.org/drawingml/2006/main">
            <a:r>
              <a:t>            {</a:t>
            </a:r>
          </a:p>
          <a:p xmlns:a="http://schemas.openxmlformats.org/drawingml/2006/main">
            <a:r>
              <a:t>              "id": "RULEWORK-1019010-7-R03",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"RULEWORK-1019010-7-T03",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"RULEWORK-1019010-8",</a:t>
            </a:r>
          </a:p>
          <a:p xmlns:a="http://schemas.openxmlformats.org/drawingml/2006/main">
            <a:r>
              <a:t>          "text": "9. 첨단모빌리티 데이터 수집관리 지원",</a:t>
            </a:r>
          </a:p>
          <a:p xmlns:a="http://schemas.openxmlformats.org/drawingml/2006/main">
            <a:r>
              <a:t>          "locator": "별표4 · T41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"RULEWORK-1019010-8-R01",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"RULEWORK-1019010-8-T01",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"RULEWORK-1019010-8-R02",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"RULEWORK-1019010-8-T02",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"RULEWORK-1019010-8-R03",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"RULEWORK-1019010-8-T03",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"데이터 품질관리",</a:t>
            </a:r>
          </a:p>
          <a:p xmlns:a="http://schemas.openxmlformats.org/drawingml/2006/main">
            <a:r>
              <a:t>      "indices": [</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"RULEWORK-1019300-20",</a:t>
            </a:r>
          </a:p>
          <a:p xmlns:a="http://schemas.openxmlformats.org/drawingml/2006/main">
            <a:r>
              <a:t>          "text": "20. 데이터 품질관리",</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"RULEWORK-1019300-20-R01",</a:t>
            </a:r>
          </a:p>
          <a:p xmlns:a="http://schemas.openxmlformats.org/drawingml/2006/main">
            <a:r>
              <a:t>              "title": "업무 맥락·전용 지식 구성",</a:t>
            </a:r>
          </a:p>
          <a:p xmlns:a="http://schemas.openxmlformats.org/drawingml/2006/main">
            <a:r>
              <a:t>              "development": "시스템·변경·업무건 관계 추적",</a:t>
            </a:r>
          </a:p>
          <a:p xmlns:a="http://schemas.openxmlformats.org/drawingml/2006/main">
            <a:r>
              <a:t>              "output": "영향분석·조치·복구·대사 기록",</a:t>
            </a:r>
          </a:p>
          <a:p xmlns:a="http://schemas.openxmlformats.org/drawingml/2006/main">
            <a:r>
              <a:t>              "testId": "RULEWORK-1019300-20-T01",</a:t>
            </a:r>
          </a:p>
          <a:p xmlns:a="http://schemas.openxmlformats.org/drawingml/2006/main">
            <a:r>
              <a:t>              "criterion": "중복·누락·순서 역전·장애 사례의 결과 대조"</a:t>
            </a:r>
          </a:p>
          <a:p xmlns:a="http://schemas.openxmlformats.org/drawingml/2006/main">
            <a:r>
              <a:t>            },</a:t>
            </a:r>
          </a:p>
          <a:p xmlns:a="http://schemas.openxmlformats.org/drawingml/2006/main">
            <a:r>
              <a:t>            {</a:t>
            </a:r>
          </a:p>
          <a:p xmlns:a="http://schemas.openxmlformats.org/drawingml/2006/main">
            <a:r>
              <a:t>              "id": "RULEWORK-1019300-20-R02",</a:t>
            </a:r>
          </a:p>
          <a:p xmlns:a="http://schemas.openxmlformats.org/drawingml/2006/main">
            <a:r>
              <a:t>              "title": "업무건·역할·시스템 연결",</a:t>
            </a:r>
          </a:p>
          <a:p xmlns:a="http://schemas.openxmlformats.org/drawingml/2006/main">
            <a:r>
              <a:t>              "development": "멱등 요청·오류 재처리·승인된 연계 어댑터",</a:t>
            </a:r>
          </a:p>
          <a:p xmlns:a="http://schemas.openxmlformats.org/drawingml/2006/main">
            <a:r>
              <a:t>              "output": "업무건·원천·역할·변경 연결 명세",</a:t>
            </a:r>
          </a:p>
          <a:p xmlns:a="http://schemas.openxmlformats.org/drawingml/2006/main">
            <a:r>
              <a:t>              "testId": "RULEWORK-1019300-20-T02",</a:t>
            </a:r>
          </a:p>
          <a:p xmlns:a="http://schemas.openxmlformats.org/drawingml/2006/main">
            <a:r>
              <a:t>              "criterion": "무승인 변경·중복 실행 차단 및 복구 검증"</a:t>
            </a:r>
          </a:p>
          <a:p xmlns:a="http://schemas.openxmlformats.org/drawingml/2006/main">
            <a:r>
              <a:t>            },</a:t>
            </a:r>
          </a:p>
          <a:p xmlns:a="http://schemas.openxmlformats.org/drawingml/2006/main">
            <a:r>
              <a:t>            {</a:t>
            </a:r>
          </a:p>
          <a:p xmlns:a="http://schemas.openxmlformats.org/drawingml/2006/main">
            <a:r>
              <a:t>              "id": "RULEWORK-1019300-20-R03",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"RULEWORK-1019300-20-T03",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"개인정보·접근 보안",</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정보보안 및 개인정보보호 관련 제도 및 지침관리",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"RULEWORK-1019500-2",</a:t>
            </a:r>
          </a:p>
          <a:p xmlns:a="http://schemas.openxmlformats.org/drawingml/2006/main">
            <a:r>
              <a:t>          "text": "2. 정보보안 및 개인정보보호 관련 제도 및 지침관리",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"RULEWORK-1019500-2-R01",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"RULEWORK-1019500-2-T01",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"RULEWORK-1019500-2-R02",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"RULEWORK-1019500-2-T02",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"RULEWORK-1019500-10",</a:t>
            </a:r>
          </a:p>
          <a:p xmlns:a="http://schemas.openxmlformats.org/drawingml/2006/main">
            <a:r>
              <a:t>          "text": "10. 개인정보보호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"RULEWORK-1019500-10-R01",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"RULEWORK-1019500-10-T01",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"RULEWORK-1019500-10-R02",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"RULEWORK-1019500-10-T02",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자료 검색·질의 지원"</a:t>
            </a:r>
          </a:p>
          <a:p xmlns:a="http://schemas.openxmlformats.org/drawingml/2006/main">
            <a:r>
              <a:t>    },</a:t>
            </a:r>
          </a:p>
          <a:p xmlns:a="http://schemas.openxmlformats.org/drawingml/2006/main">
            <a:r>
              <a:t>    {</a:t>
            </a:r>
          </a:p>
          <a:p xmlns:a="http://schemas.openxmlformats.org/drawingml/2006/main">
            <a:r>
              <a:t>      "assetId": "CCK-03",</a:t>
            </a:r>
          </a:p>
          <a:p xmlns:a="http://schemas.openxmlformats.org/drawingml/2006/main">
            <a:r>
              <a:t>      "use": "Connor 명세의 실행·로그 경계"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"목적·필드별 정책 카탈로그",</a:t>
            </a:r>
          </a:p>
          <a:p xmlns:a="http://schemas.openxmlformats.org/drawingml/2006/main">
            <a:r>
              <a:t>    "요청–승인–제공–회수 연결 어댑터"</a:t>
            </a:r>
          </a:p>
          <a:p xmlns:a="http://schemas.openxmlformats.org/drawingml/2006/main">
            <a:r>
              <a:t>  ],</a:t>
            </a:r>
          </a:p>
          <a:p xmlns:a="http://schemas.openxmlformats.org/drawingml/2006/main">
            <a:r>
              <a:t>  "acceptancePlan": {</a:t>
            </a:r>
          </a:p>
          <a:p xmlns:a="http://schemas.openxmlformats.org/drawingml/2006/main">
            <a:r>
              <a:t>    "sample": "공개/내부 필드 혼합, 스키마 변경, 권한 회수",</a:t>
            </a:r>
          </a:p>
          <a:p xmlns:a="http://schemas.openxmlformats.org/drawingml/2006/main">
            <a:r>
              <a:t>    "criterion": "허용 필드만 제공·불일치 보류·회수 후 캐시 차단",</a:t>
            </a:r>
          </a:p>
          <a:p xmlns:a="http://schemas.openxmlformats.org/drawingml/2006/main">
            <a:r>
              <a:t>    "evidence": "필드 대사표·거부셋 결과·회수 로그",</a:t>
            </a:r>
          </a:p>
          <a:p xmlns:a="http://schemas.openxmlformats.org/drawingml/2006/main">
            <a:r>
              <a:t>    "execution": "미실행"</a:t>
            </a:r>
          </a:p>
          <a:p xmlns:a="http://schemas.openxmlformats.org/drawingml/2006/main">
            <a:r>
              <a:t>  },</a:t>
            </a:r>
          </a:p>
          <a:p xmlns:a="http://schemas.openxmlformats.org/drawingml/2006/main">
            <a:r>
              <a:t>  "formula": "승인 조건 충족 연계 수 ÷ 연계 시도 수 / 목적 외 노출 건수",</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"PF-R07",</a:t>
            </a:r>
          </a:p>
          <a:p xmlns:a="http://schemas.openxmlformats.org/drawingml/2006/main">
            <a:r>
              <a:t>    "PF-R08",</a:t>
            </a:r>
          </a:p>
          <a:p xmlns:a="http://schemas.openxmlformats.org/drawingml/2006/main">
            <a:r>
              <a:t>    "PF03",</a:t>
            </a:r>
          </a:p>
          <a:p xmlns:a="http://schemas.openxmlformats.org/drawingml/2006/main">
            <a:r>
              <a:t>    "PF06"</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"ST-07",</a:t>
            </a:r>
          </a:p>
          <a:p xmlns:a="http://schemas.openxmlformats.org/drawingml/2006/main">
            <a:r>
              <a:t>  "number": 7,</a:t>
            </a:r>
          </a:p>
          <a:p xmlns:a="http://schemas.openxmlformats.org/drawingml/2006/main">
            <a:r>
              <a:t>  "direction": "균형있는 국민체감 서비스 실현",</a:t>
            </a:r>
          </a:p>
          <a:p xmlns:a="http://schemas.openxmlformats.org/drawingml/2006/main">
            <a:r>
              <a:t>  "strategy": "교통데이터 개방·연계 기반 서비스 편익 증대",</a:t>
            </a:r>
          </a:p>
          <a:p xmlns:a="http://schemas.openxmlformats.org/drawingml/2006/main">
            <a:r>
              <a:t>  "solution": "교통데이터 카탈로그·연계 지원",</a:t>
            </a:r>
          </a:p>
          <a:p xmlns:a="http://schemas.openxmlformats.org/drawingml/2006/main">
            <a:r>
              <a:t>  "lawIds": [</a:t>
            </a:r>
          </a:p>
          <a:p xmlns:a="http://schemas.openxmlformats.org/drawingml/2006/main">
            <a:r>
              <a:t>    "L04",</a:t>
            </a:r>
          </a:p>
          <a:p xmlns:a="http://schemas.openxmlformats.org/drawingml/2006/main">
            <a:r>
              <a:t>    "L10",</a:t>
            </a:r>
          </a:p>
          <a:p xmlns:a="http://schemas.openxmlformats.org/drawingml/2006/main">
            <a:r>
              <a:t>    "L15",</a:t>
            </a:r>
          </a:p>
          <a:p xmlns:a="http://schemas.openxmlformats.org/drawingml/2006/main">
            <a:r>
              <a:t>    "L16"</a:t>
            </a:r>
          </a:p>
          <a:p xmlns:a="http://schemas.openxmlformats.org/drawingml/2006/main">
            <a:r>
              <a:t>  ],</a:t>
            </a:r>
          </a:p>
          <a:p xmlns:a="http://schemas.openxmlformats.org/drawingml/2006/main">
            <a:r>
              <a:t>  "codes": [</a:t>
            </a:r>
          </a:p>
          <a:p xmlns:a="http://schemas.openxmlformats.org/drawingml/2006/main">
            <a:r>
              <a:t>    "1019600",</a:t>
            </a:r>
          </a:p>
          <a:p xmlns:a="http://schemas.openxmlformats.org/drawingml/2006/main">
            <a:r>
              <a:t>    "1019030",</a:t>
            </a:r>
          </a:p>
          <a:p xmlns:a="http://schemas.openxmlformats.org/drawingml/2006/main">
            <a:r>
              <a:t>    "1019400",</a:t>
            </a:r>
          </a:p>
          <a:p xmlns:a="http://schemas.openxmlformats.org/drawingml/2006/main">
            <a:r>
              <a:t>    "1019020",</a:t>
            </a:r>
          </a:p>
          <a:p xmlns:a="http://schemas.openxmlformats.org/drawingml/2006/main">
            <a:r>
              <a:t>    "1019010",</a:t>
            </a:r>
          </a:p>
          <a:p xmlns:a="http://schemas.openxmlformats.org/drawingml/2006/main">
            <a:r>
              <a:t>    "1019300",</a:t>
            </a:r>
          </a:p>
          <a:p xmlns:a="http://schemas.openxmlformats.org/drawingml/2006/main">
            <a:r>
              <a:t>    "1019500"</a:t>
            </a:r>
          </a:p>
          <a:p xmlns:a="http://schemas.openxmlformats.org/drawingml/2006/main">
            <a:r>
              <a:t>  ],</a:t>
            </a:r>
          </a:p>
          <a:p xmlns:a="http://schemas.openxmlformats.org/drawingml/2006/main">
            <a:r>
              <a:t>  "work": "교통·차량 데이터의 소재·권리·품질·활용 관리",</a:t>
            </a:r>
          </a:p>
          <a:p xmlns:a="http://schemas.openxmlformats.org/drawingml/2006/main">
            <a:r>
              <a:t>  "features": [</a:t>
            </a:r>
          </a:p>
          <a:p xmlns:a="http://schemas.openxmlformats.org/drawingml/2006/main">
            <a:r>
              <a:t>    "데이터 정의·소유부서·용도·권한 카탈로그 구성",</a:t>
            </a:r>
          </a:p>
          <a:p xmlns:a="http://schemas.openxmlformats.org/drawingml/2006/main">
            <a:r>
              <a:t>    "기관 간 요청·승인·제공·결과 대사"</a:t>
            </a:r>
          </a:p>
          <a:p xmlns:a="http://schemas.openxmlformats.org/drawingml/2006/main">
            <a:r>
              <a:t>  ],</a:t>
            </a:r>
          </a:p>
          <a:p xmlns:a="http://schemas.openxmlformats.org/drawingml/2006/main">
            <a:r>
              <a:t>  "output": "데이터 카탈로그·제공 대사표",</a:t>
            </a:r>
          </a:p>
          <a:p xmlns:a="http://schemas.openxmlformats.org/drawingml/2006/main">
            <a:r>
              <a:t>  "acceptance": "권한별 검색 결과 분리·계약 필드 대사·회수 후 재접근 차단",</a:t>
            </a:r>
          </a:p>
          <a:p xmlns:a="http://schemas.openxmlformats.org/drawingml/2006/main">
            <a:r>
              <a:t>  "phase": "공통 기반 인수 후 부서별 적용",</a:t>
            </a:r>
          </a:p>
          <a:p xmlns:a="http://schemas.openxmlformats.org/drawingml/2006/main">
            <a:r>
              <a:t>  "packages": [</a:t>
            </a:r>
          </a:p>
          <a:p xmlns:a="http://schemas.openxmlformats.org/drawingml/2006/main">
            <a:r>
              <a:t>    "ON-W01",</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"GAI-T04",</a:t>
            </a:r>
          </a:p>
          <a:p xmlns:a="http://schemas.openxmlformats.org/drawingml/2006/main">
            <a:r>
              <a:t>    "GAI-T06",</a:t>
            </a:r>
          </a:p>
          <a:p xmlns:a="http://schemas.openxmlformats.org/drawingml/2006/main">
            <a:r>
              <a:t>    "GAI-T09",</a:t>
            </a:r>
          </a:p>
          <a:p xmlns:a="http://schemas.openxmlformats.org/drawingml/2006/main">
            <a:r>
              <a:t>    "GAI-T11"</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"공공데이터 개방·표준",</a:t>
            </a:r>
          </a:p>
          <a:p xmlns:a="http://schemas.openxmlformats.org/drawingml/2006/main">
            <a:r>
              <a:t>      "indices":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"3. 인공지능(AI) 데이터 표준화 및 데이터 스페이스 구축",</a:t>
            </a:r>
          </a:p>
          <a:p xmlns:a="http://schemas.openxmlformats.org/drawingml/2006/main">
            <a:r>
              <a:t>        "5. 공공데이터 개방 및 관련 시스템 구축․관리, 공공데이터 활용성과 평가 대응"</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"교통데이터 분석·결합",</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운행기록데이터 관리·분석·활용 및 정책지원",</a:t>
            </a:r>
          </a:p>
          <a:p xmlns:a="http://schemas.openxmlformats.org/drawingml/2006/main">
            <a:r>
              <a:t>        "8. 빅데이터 결합 ․분석․활용 및 교통 빅데이터 플랫폼 구축사업"</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"1019400",</a:t>
            </a:r>
          </a:p>
          <a:p xmlns:a="http://schemas.openxmlformats.org/drawingml/2006/main">
            <a:r>
              <a:t>      "name": "자동차정보처",</a:t>
            </a:r>
          </a:p>
          <a:p xmlns:a="http://schemas.openxmlformats.org/drawingml/2006/main">
            <a:r>
              <a:t>      "job": "자동차 통합정보 제공",</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자동차토털이력관리시스템 운영",</a:t>
            </a:r>
          </a:p>
          <a:p xmlns:a="http://schemas.openxmlformats.org/drawingml/2006/main">
            <a:r>
              <a:t>        "8. 자동차정보 통합서비스 제공 업무"</a:t>
            </a:r>
          </a:p>
          <a:p xmlns:a="http://schemas.openxmlformats.org/drawingml/2006/main">
            <a:r>
              <a:t>      ],</a:t>
            </a:r>
          </a:p>
          <a:p xmlns:a="http://schemas.openxmlformats.org/drawingml/2006/main">
            <a:r>
              <a:t>      "locator": "별표4 · T37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"택시·대중교통 정보 운영",</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택시 운행정보 관리시스템 구축 및 운영",</a:t>
            </a:r>
          </a:p>
          <a:p xmlns:a="http://schemas.openxmlformats.org/drawingml/2006/main">
            <a:r>
              <a:t>        "10. 대중교통정보시스템(TAGO) 운영 등 ITS 관련 업무"</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"현황조사·데이터 관리",</a:t>
            </a:r>
          </a:p>
          <a:p xmlns:a="http://schemas.openxmlformats.org/drawingml/2006/main">
            <a:r>
              <a:t>      "indices":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"7. 대중교통 현황조사에 관한 업무",</a:t>
            </a:r>
          </a:p>
          <a:p xmlns:a="http://schemas.openxmlformats.org/drawingml/2006/main">
            <a:r>
              <a:t>        "9. 첨단모빌리티 데이터 수집관리 지원"</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"데이터 품질관리",</a:t>
            </a:r>
          </a:p>
          <a:p xmlns:a="http://schemas.openxmlformats.org/drawingml/2006/main">
            <a:r>
              <a:t>      "indices": [</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"개인정보·접근 보안",</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정보보안 및 개인정보보호 관련 제도 및 지침관리",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"연결 법령의 해당 사무 + 참여 부서별 별표4 업무분장 / 개인별 전결·권한의 별도 매핑",</a:t>
            </a:r>
          </a:p>
          <a:p xmlns:a="http://schemas.openxmlformats.org/drawingml/2006/main">
            <a:r>
              <a:t>  "caseRefs": [</a:t>
            </a:r>
          </a:p>
          <a:p xmlns:a="http://schemas.openxmlformats.org/drawingml/2006/main">
            <a:r>
              <a:t>    {</a:t>
            </a:r>
          </a:p>
          <a:p xmlns:a="http://schemas.openxmlformats.org/drawingml/2006/main">
            <a:r>
              <a:t>      "caseId": "AX01",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"AX23",</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"교통데이터 제공·연계 지원",</a:t>
            </a:r>
          </a:p>
          <a:p xmlns:a="http://schemas.openxmlformats.org/drawingml/2006/main">
            <a:r>
              <a:t>  "delta": "공개 가능 필드·데이터 사전·API 요청 연결",</a:t>
            </a:r>
          </a:p>
          <a:p xmlns:a="http://schemas.openxmlformats.org/drawingml/2006/main">
            <a:r>
              <a:t>  "kpi": "연계 성공률 / 목적 외 노출 건수",</a:t>
            </a:r>
          </a:p>
          <a:p xmlns:a="http://schemas.openxmlformats.org/drawingml/2006/main">
            <a:r>
              <a:t>  "validation": "공개·내부 필드 혼합과 재식별 위험 입력 검증",</a:t>
            </a:r>
          </a:p>
          <a:p xmlns:a="http://schemas.openxmlformats.org/drawingml/2006/main">
            <a:r>
              <a:t>  "requirement": "BM-ST-07-R01",</a:t>
            </a:r>
          </a:p>
          <a:p xmlns:a="http://schemas.openxmlformats.org/drawingml/2006/main">
            <a:r>
              <a:t>  "test": "BM-ST-07-T01",</a:t>
            </a:r>
          </a:p>
          <a:p xmlns:a="http://schemas.openxmlformats.org/drawingml/2006/main">
            <a:r>
              <a:t>  "effectStatus": "기대 방향 · TS 실측 전",</a:t>
            </a:r>
          </a:p>
          <a:p xmlns:a="http://schemas.openxmlformats.org/drawingml/2006/main">
            <a:r>
              <a:t>  "effect": "데이터 탐색·연계 보완시간 감소",</a:t>
            </a:r>
          </a:p>
          <a:p xmlns:a="http://schemas.openxmlformats.org/drawingml/2006/main">
            <a:r>
              <a:t>  "reuse": "ON27-BASE / C27-COM + CCK 재사용 판정 기능",</a:t>
            </a:r>
          </a:p>
          <a:p xmlns:a="http://schemas.openxmlformats.org/drawingml/2006/main">
            <a:r>
              <a:t>  "input": "데이터 정의·필드, 소유부서, 제공목적·권한, 연계 명세",</a:t>
            </a:r>
          </a:p>
          <a:p xmlns:a="http://schemas.openxmlformats.org/drawingml/2006/main">
            <a:r>
              <a:t>  "steps": [</a:t>
            </a:r>
          </a:p>
          <a:p xmlns:a="http://schemas.openxmlformats.org/drawingml/2006/main">
            <a:r>
              <a:t>    "요청 목적·소관 분류",</a:t>
            </a:r>
          </a:p>
          <a:p xmlns:a="http://schemas.openxmlformats.org/drawingml/2006/main">
            <a:r>
              <a:t>    "필드·품질·제공조건 대조",</a:t>
            </a:r>
          </a:p>
          <a:p xmlns:a="http://schemas.openxmlformats.org/drawingml/2006/main">
            <a:r>
              <a:t>    "승인된 제공경로 연결",</a:t>
            </a:r>
          </a:p>
          <a:p xmlns:a="http://schemas.openxmlformats.org/drawingml/2006/main">
            <a:r>
              <a:t>    "수신 대사·회수 반영"</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"공공데이터 개방·표준",</a:t>
            </a:r>
          </a:p>
          <a:p xmlns:a="http://schemas.openxmlformats.org/drawingml/2006/main">
            <a:r>
              <a:t>      "indices": [</a:t>
            </a:r>
          </a:p>
          <a:p xmlns:a="http://schemas.openxmlformats.org/drawingml/2006/main">
            <a:r>
              <a:t>        2,</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"3. 인공지능(AI) 데이터 표준화 및 데이터 스페이스 구축",</a:t>
            </a:r>
          </a:p>
          <a:p xmlns:a="http://schemas.openxmlformats.org/drawingml/2006/main">
            <a:r>
              <a:t>        "5. 공공데이터 개방 및 관련 시스템 구축․관리, 공공데이터 활용성과 평가 대응"</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"RULEWORK-1019600-3",</a:t>
            </a:r>
          </a:p>
          <a:p xmlns:a="http://schemas.openxmlformats.org/drawingml/2006/main">
            <a:r>
              <a:t>          "text": "3. 인공지능(AI) 데이터 표준화 및 데이터 스페이스 구축",</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"RULEWORK-1019600-3-T01",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"RULEWORK-1019600-3-R02",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"RULEWORK-1019600-3-T02",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"RULEWORK-1019600-3-R03",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"RULEWORK-1019600-5",</a:t>
            </a:r>
          </a:p>
          <a:p xmlns:a="http://schemas.openxmlformats.org/drawingml/2006/main">
            <a:r>
              <a:t>          "text": "5. 공공데이터 개방 및 관련 시스템 구축․관리, 공공데이터 활용성과 평가 대응",</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"RULEWORK-1019600-5-R01",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"RULEWORK-1019600-5-T01",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"RULEWORK-1019600-5-R02",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"RULEWORK-1019600-5-T02",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"RULEWORK-1019600-5-R03",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"1019030",</a:t>
            </a:r>
          </a:p>
          <a:p xmlns:a="http://schemas.openxmlformats.org/drawingml/2006/main">
            <a:r>
              <a:t>      "name": "데이터융복합처",</a:t>
            </a:r>
          </a:p>
          <a:p xmlns:a="http://schemas.openxmlformats.org/drawingml/2006/main">
            <a:r>
              <a:t>      "job": "교통데이터 분석·결합",</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운행기록데이터 관리·분석·활용 및 정책지원",</a:t>
            </a:r>
          </a:p>
          <a:p xmlns:a="http://schemas.openxmlformats.org/drawingml/2006/main">
            <a:r>
              <a:t>        "8. 빅데이터 결합 ․분석․활용 및 교통 빅데이터 플랫폼 구축사업"</a:t>
            </a:r>
          </a:p>
          <a:p xmlns:a="http://schemas.openxmlformats.org/drawingml/2006/main">
            <a:r>
              <a:t>      ],</a:t>
            </a:r>
          </a:p>
          <a:p xmlns:a="http://schemas.openxmlformats.org/drawingml/2006/main">
            <a:r>
              <a:t>      "locator": "별표4 · T39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"RULEWORK-1019030-3",</a:t>
            </a:r>
          </a:p>
          <a:p xmlns:a="http://schemas.openxmlformats.org/drawingml/2006/main">
            <a:r>
              <a:t>          "text": "3. 운행기록데이터 관리·분석·활용 및 정책지원",</a:t>
            </a:r>
          </a:p>
          <a:p xmlns:a="http://schemas.openxmlformats.org/drawingml/2006/main">
            <a:r>
              <a:t>          "locator": "별표4 · T39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"RULEWORK-1019030-3-R01",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"RULEWORK-1019030-3-T01",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"RULEWORK-1019030-3-R02",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"RULEWORK-1019030-3-T02",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"RULEWORK-1019030-3-R03",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"RULEWORK-1019030-3-T03",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"RULEWORK-1019030-8",</a:t>
            </a:r>
          </a:p>
          <a:p xmlns:a="http://schemas.openxmlformats.org/drawingml/2006/main">
            <a:r>
              <a:t>          "text": "8. 빅데이터 결합 ․분석․활용 및 교통 빅데이터 플랫폼 구축사업",</a:t>
            </a:r>
          </a:p>
          <a:p xmlns:a="http://schemas.openxmlformats.org/drawingml/2006/main">
            <a:r>
              <a:t>          "locator": "별표4 · T39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"RULEWORK-1019030-8-R01",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"RULEWORK-1019030-8-T01",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"RULEWORK-1019030-8-R02",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"RULEWORK-1019030-8-T02",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"RULEWORK-1019030-8-R03",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"RULEWORK-1019030-8-T03",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"1019400",</a:t>
            </a:r>
          </a:p>
          <a:p xmlns:a="http://schemas.openxmlformats.org/drawingml/2006/main">
            <a:r>
              <a:t>      "name": "자동차정보처",</a:t>
            </a:r>
          </a:p>
          <a:p xmlns:a="http://schemas.openxmlformats.org/drawingml/2006/main">
            <a:r>
              <a:t>      "job": "자동차 통합정보 제공",</a:t>
            </a:r>
          </a:p>
          <a:p xmlns:a="http://schemas.openxmlformats.org/drawingml/2006/main">
            <a:r>
              <a:t>      "indices": [</a:t>
            </a:r>
          </a:p>
          <a:p xmlns:a="http://schemas.openxmlformats.org/drawingml/2006/main">
            <a:r>
              <a:t>        2,</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"3. 자동차토털이력관리시스템 운영",</a:t>
            </a:r>
          </a:p>
          <a:p xmlns:a="http://schemas.openxmlformats.org/drawingml/2006/main">
            <a:r>
              <a:t>        "8. 자동차정보 통합서비스 제공 업무"</a:t>
            </a:r>
          </a:p>
          <a:p xmlns:a="http://schemas.openxmlformats.org/drawingml/2006/main">
            <a:r>
              <a:t>      ],</a:t>
            </a:r>
          </a:p>
          <a:p xmlns:a="http://schemas.openxmlformats.org/drawingml/2006/main">
            <a:r>
              <a:t>      "locator": "별표4 · T37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"RULEWORK-1019400-3",</a:t>
            </a:r>
          </a:p>
          <a:p xmlns:a="http://schemas.openxmlformats.org/drawingml/2006/main">
            <a:r>
              <a:t>          "text": "3. 자동차토털이력관리시스템 운영",</a:t>
            </a:r>
          </a:p>
          <a:p xmlns:a="http://schemas.openxmlformats.org/drawingml/2006/main">
            <a:r>
              <a:t>          "locator": "별표4 · T37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"RULEWORK-1019400-3-R01",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"RULEWORK-1019400-3-T01",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"RULEWORK-1019400-3-R02",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"RULEWORK-1019400-3-T02",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"RULEWORK-1019400-3-R03",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"RULEWORK-1019400-3-T03",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"RULEWORK-1019400-8",</a:t>
            </a:r>
          </a:p>
          <a:p xmlns:a="http://schemas.openxmlformats.org/drawingml/2006/main">
            <a:r>
              <a:t>          "text": "8. 자동차정보 통합서비스 제공 업무",</a:t>
            </a:r>
          </a:p>
          <a:p xmlns:a="http://schemas.openxmlformats.org/drawingml/2006/main">
            <a:r>
              <a:t>          "locator": "별표4 · T37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"RULEWORK-1019400-8-R01",</a:t>
            </a:r>
          </a:p>
          <a:p xmlns:a="http://schemas.openxmlformats.org/drawingml/2006/main">
            <a:r>
              <a:t>              "title": "업무 맥락·전용 지식 구성",</a:t>
            </a:r>
          </a:p>
          <a:p xmlns:a="http://schemas.openxmlformats.org/drawingml/2006/main">
            <a:r>
              <a:t>              "development": "용어·필드·판본·품질 규칙 대응",</a:t>
            </a:r>
          </a:p>
          <a:p xmlns:a="http://schemas.openxmlformats.org/drawingml/2006/main">
            <a:r>
              <a:t>              "output": "품질 점검표·제공 명세·변경 이력",</a:t>
            </a:r>
          </a:p>
          <a:p xmlns:a="http://schemas.openxmlformats.org/drawingml/2006/main">
            <a:r>
              <a:t>              "testId": "RULEWORK-1019400-8-T01",</a:t>
            </a:r>
          </a:p>
          <a:p xmlns:a="http://schemas.openxmlformats.org/drawingml/2006/main">
            <a:r>
              <a:t>              "criterion": "누락·중복·단위·기간·정의의 원천 대조"</a:t>
            </a:r>
          </a:p>
          <a:p xmlns:a="http://schemas.openxmlformats.org/drawingml/2006/main">
            <a:r>
              <a:t>            },</a:t>
            </a:r>
          </a:p>
          <a:p xmlns:a="http://schemas.openxmlformats.org/drawingml/2006/main">
            <a:r>
              <a:t>            {</a:t>
            </a:r>
          </a:p>
          <a:p xmlns:a="http://schemas.openxmlformats.org/drawingml/2006/main">
            <a:r>
              <a:t>              "id": "RULEWORK-1019400-8-R02",</a:t>
            </a:r>
          </a:p>
          <a:p xmlns:a="http://schemas.openxmlformats.org/drawingml/2006/main">
            <a:r>
              <a:t>              "title": "업무건·역할·시스템 연결",</a:t>
            </a:r>
          </a:p>
          <a:p xmlns:a="http://schemas.openxmlformats.org/drawingml/2006/main">
            <a:r>
              <a:t>              "development": "소유부서 승인·제공 이력·접근정책 연계",</a:t>
            </a:r>
          </a:p>
          <a:p xmlns:a="http://schemas.openxmlformats.org/drawingml/2006/main">
            <a:r>
              <a:t>              "output": "업무건·원천·역할·변경 연결 명세",</a:t>
            </a:r>
          </a:p>
          <a:p xmlns:a="http://schemas.openxmlformats.org/drawingml/2006/main">
            <a:r>
              <a:t>              "testId": "RULEWORK-1019400-8-T02",</a:t>
            </a:r>
          </a:p>
          <a:p xmlns:a="http://schemas.openxmlformats.org/drawingml/2006/main">
            <a:r>
              <a:t>              "criterion": "공개 제한 필드·만료된 제공 승인 차단"</a:t>
            </a:r>
          </a:p>
          <a:p xmlns:a="http://schemas.openxmlformats.org/drawingml/2006/main">
            <a:r>
              <a:t>            },</a:t>
            </a:r>
          </a:p>
          <a:p xmlns:a="http://schemas.openxmlformats.org/drawingml/2006/main">
            <a:r>
              <a:t>            {</a:t>
            </a:r>
          </a:p>
          <a:p xmlns:a="http://schemas.openxmlformats.org/drawingml/2006/main">
            <a:r>
              <a:t>              "id": "RULEWORK-1019400-8-R03",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"RULEWORK-1019400-8-T03",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"택시·대중교통 정보 운영",</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택시 운행정보 관리시스템 구축 및 운영",</a:t>
            </a:r>
          </a:p>
          <a:p xmlns:a="http://schemas.openxmlformats.org/drawingml/2006/main">
            <a:r>
              <a:t>        "10. 대중교통정보시스템(TAGO) 운영 등 ITS 관련 업무"</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"RULEWORK-1019020-2",</a:t>
            </a:r>
          </a:p>
          <a:p xmlns:a="http://schemas.openxmlformats.org/drawingml/2006/main">
            <a:r>
              <a:t>          "text": "2. 택시 운행정보 관리시스템 구축 및 운영",</a:t>
            </a:r>
          </a:p>
          <a:p xmlns:a="http://schemas.openxmlformats.org/drawingml/2006/main">
            <a:r>
              <a:t>          "locator": "별표4 · T39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"RULEWORK-1019020-2-R01",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"RULEWORK-1019020-2-T01",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"RULEWORK-1019020-2-R02",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"RULEWORK-1019020-2-T02",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"RULEWORK-1019020-2-R03",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"RULEWORK-1019020-2-T03",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"RULEWORK-1019020-10",</a:t>
            </a:r>
          </a:p>
          <a:p xmlns:a="http://schemas.openxmlformats.org/drawingml/2006/main">
            <a:r>
              <a:t>          "text": "10. 대중교통정보시스템(TAGO) 운영 등 ITS 관련 업무",</a:t>
            </a:r>
          </a:p>
          <a:p xmlns:a="http://schemas.openxmlformats.org/drawingml/2006/main">
            <a:r>
              <a:t>          "locator": "별표4 · T39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"RULEWORK-1019020-10-R01",</a:t>
            </a:r>
          </a:p>
          <a:p xmlns:a="http://schemas.openxmlformats.org/drawingml/2006/main">
            <a:r>
              <a:t>              "title": "업무 맥락·전용 지식 구성",</a:t>
            </a:r>
          </a:p>
          <a:p xmlns:a="http://schemas.openxmlformats.org/drawingml/2006/main">
            <a:r>
              <a:t>              "development": "지역·시간·배차 제약과 요청 맥락 분류",</a:t>
            </a:r>
          </a:p>
          <a:p xmlns:a="http://schemas.openxmlformats.org/drawingml/2006/main">
            <a:r>
              <a:t>              "output": "조건·예외·변경 요청·결과 대사표",</a:t>
            </a:r>
          </a:p>
          <a:p xmlns:a="http://schemas.openxmlformats.org/drawingml/2006/main">
            <a:r>
              <a:t>              "testId": "RULEWORK-1019020-10-T01",</a:t>
            </a:r>
          </a:p>
          <a:p xmlns:a="http://schemas.openxmlformats.org/drawingml/2006/main">
            <a:r>
              <a:t>              "criterion": "운영 상태·조건별 가능한 후보와 예외 정답 대조"</a:t>
            </a:r>
          </a:p>
          <a:p xmlns:a="http://schemas.openxmlformats.org/drawingml/2006/main">
            <a:r>
              <a:t>            },</a:t>
            </a:r>
          </a:p>
          <a:p xmlns:a="http://schemas.openxmlformats.org/drawingml/2006/main">
            <a:r>
              <a:t>            {</a:t>
            </a:r>
          </a:p>
          <a:p xmlns:a="http://schemas.openxmlformats.org/drawingml/2006/main">
            <a:r>
              <a:t>              "id": "RULEWORK-1019020-10-R02",</a:t>
            </a:r>
          </a:p>
          <a:p xmlns:a="http://schemas.openxmlformats.org/drawingml/2006/main">
            <a:r>
              <a:t>              "title": "업무건·역할·시스템 연결",</a:t>
            </a:r>
          </a:p>
          <a:p xmlns:a="http://schemas.openxmlformats.org/drawingml/2006/main">
            <a:r>
              <a:t>              "development": "기존 운영시스템 조회·승인 후 변경 결과 대사",</a:t>
            </a:r>
          </a:p>
          <a:p xmlns:a="http://schemas.openxmlformats.org/drawingml/2006/main">
            <a:r>
              <a:t>              "output": "업무건·원천·역할·변경 연결 명세",</a:t>
            </a:r>
          </a:p>
          <a:p xmlns:a="http://schemas.openxmlformats.org/drawingml/2006/main">
            <a:r>
              <a:t>              "testId": "RULEWORK-1019020-10-T02",</a:t>
            </a:r>
          </a:p>
          <a:p xmlns:a="http://schemas.openxmlformats.org/drawingml/2006/main">
            <a:r>
              <a:t>              "criterion": "운영자 확인 전 변경 및 중복 배차 요청 차단"</a:t>
            </a:r>
          </a:p>
          <a:p xmlns:a="http://schemas.openxmlformats.org/drawingml/2006/main">
            <a:r>
              <a:t>            },</a:t>
            </a:r>
          </a:p>
          <a:p xmlns:a="http://schemas.openxmlformats.org/drawingml/2006/main">
            <a:r>
              <a:t>            {</a:t>
            </a:r>
          </a:p>
          <a:p xmlns:a="http://schemas.openxmlformats.org/drawingml/2006/main">
            <a:r>
              <a:t>              "id": "RULEWORK-1019020-10-R03",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"RULEWORK-1019020-10-T03",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"현황조사·데이터 관리",</a:t>
            </a:r>
          </a:p>
          <a:p xmlns:a="http://schemas.openxmlformats.org/drawingml/2006/main">
            <a:r>
              <a:t>      "indices": [</a:t>
            </a:r>
          </a:p>
          <a:p xmlns:a="http://schemas.openxmlformats.org/drawingml/2006/main">
            <a:r>
              <a:t>        6,</a:t>
            </a:r>
          </a:p>
          <a:p xmlns:a="http://schemas.openxmlformats.org/drawingml/2006/main">
            <a:r>
              <a:t>        7</a:t>
            </a:r>
          </a:p>
          <a:p xmlns:a="http://schemas.openxmlformats.org/drawingml/2006/main">
            <a:r>
              <a:t>      ],</a:t>
            </a:r>
          </a:p>
          <a:p xmlns:a="http://schemas.openxmlformats.org/drawingml/2006/main">
            <a:r>
              <a:t>      "duties": [</a:t>
            </a:r>
          </a:p>
          <a:p xmlns:a="http://schemas.openxmlformats.org/drawingml/2006/main">
            <a:r>
              <a:t>        "7. 대중교통 현황조사에 관한 업무",</a:t>
            </a:r>
          </a:p>
          <a:p xmlns:a="http://schemas.openxmlformats.org/drawingml/2006/main">
            <a:r>
              <a:t>        "9. 첨단모빌리티 데이터 수집관리 지원"</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"RULEWORK-1019010-7",</a:t>
            </a:r>
          </a:p>
          <a:p xmlns:a="http://schemas.openxmlformats.org/drawingml/2006/main">
            <a:r>
              <a:t>          "text": "7. 대중교통 현황조사에 관한 업무",</a:t>
            </a:r>
          </a:p>
          <a:p xmlns:a="http://schemas.openxmlformats.org/drawingml/2006/main">
            <a:r>
              <a:t>          "locator": "별표4 · T41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"RULEWORK-1019010-7-R01",</a:t>
            </a:r>
          </a:p>
          <a:p xmlns:a="http://schemas.openxmlformats.org/drawingml/2006/main">
            <a:r>
              <a:t>              "title": "업무 맥락·전용 지식 구성",</a:t>
            </a:r>
          </a:p>
          <a:p xmlns:a="http://schemas.openxmlformats.org/drawingml/2006/main">
            <a:r>
              <a:t>              "development": "대상·항목·분모·기간별 자료 정합성 점검",</a:t>
            </a:r>
          </a:p>
          <a:p xmlns:a="http://schemas.openxmlformats.org/drawingml/2006/main">
            <a:r>
              <a:t>              "output": "증빙·보완·분석·공표 검토자료",</a:t>
            </a:r>
          </a:p>
          <a:p xmlns:a="http://schemas.openxmlformats.org/drawingml/2006/main">
            <a:r>
              <a:t>              "testId": "RULEWORK-1019010-7-T01",</a:t>
            </a:r>
          </a:p>
          <a:p xmlns:a="http://schemas.openxmlformats.org/drawingml/2006/main">
            <a:r>
              <a:t>              "criterion": "표본·분모·단위·기간과 분석 결과 재현"</a:t>
            </a:r>
          </a:p>
          <a:p xmlns:a="http://schemas.openxmlformats.org/drawingml/2006/main">
            <a:r>
              <a:t>            },</a:t>
            </a:r>
          </a:p>
          <a:p xmlns:a="http://schemas.openxmlformats.org/drawingml/2006/main">
            <a:r>
              <a:t>            {</a:t>
            </a:r>
          </a:p>
          <a:p xmlns:a="http://schemas.openxmlformats.org/drawingml/2006/main">
            <a:r>
              <a:t>              "id": "RULEWORK-1019010-7-R02",</a:t>
            </a:r>
          </a:p>
          <a:p xmlns:a="http://schemas.openxmlformats.org/drawingml/2006/main">
            <a:r>
              <a:t>              "title": "업무건·역할·시스템 연결",</a:t>
            </a:r>
          </a:p>
          <a:p xmlns:a="http://schemas.openxmlformats.org/drawingml/2006/main">
            <a:r>
              <a:t>              "development": "조사 원장·원본 증빙·공표 판본 연결",</a:t>
            </a:r>
          </a:p>
          <a:p xmlns:a="http://schemas.openxmlformats.org/drawingml/2006/main">
            <a:r>
              <a:t>              "output": "업무건·원천·역할·변경 연결 명세",</a:t>
            </a:r>
          </a:p>
          <a:p xmlns:a="http://schemas.openxmlformats.org/drawingml/2006/main">
            <a:r>
              <a:t>              "testId": "RULEWORK-1019010-7-T02",</a:t>
            </a:r>
          </a:p>
          <a:p xmlns:a="http://schemas.openxmlformats.org/drawingml/2006/main">
            <a:r>
              <a:t>              "criterion": "공식 공표 승인·개인정보 제한 검증"</a:t>
            </a:r>
          </a:p>
          <a:p xmlns:a="http://schemas.openxmlformats.org/drawingml/2006/main">
            <a:r>
              <a:t>            },</a:t>
            </a:r>
          </a:p>
          <a:p xmlns:a="http://schemas.openxmlformats.org/drawingml/2006/main">
            <a:r>
              <a:t>            {</a:t>
            </a:r>
          </a:p>
          <a:p xmlns:a="http://schemas.openxmlformats.org/drawingml/2006/main">
            <a:r>
              <a:t>              "id": "RULEWORK-1019010-7-R03",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"RULEWORK-1019010-7-T03",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"RULEWORK-1019010-8",</a:t>
            </a:r>
          </a:p>
          <a:p xmlns:a="http://schemas.openxmlformats.org/drawingml/2006/main">
            <a:r>
              <a:t>          "text": "9. 첨단모빌리티 데이터 수집관리 지원",</a:t>
            </a:r>
          </a:p>
          <a:p xmlns:a="http://schemas.openxmlformats.org/drawingml/2006/main">
            <a:r>
              <a:t>          "locator": "별표4 · T41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"RULEWORK-1019010-8-R01",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"RULEWORK-1019010-8-T01",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"RULEWORK-1019010-8-R02",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"RULEWORK-1019010-8-T02",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"RULEWORK-1019010-8-R03",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"RULEWORK-1019010-8-T03",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"1019300",</a:t>
            </a:r>
          </a:p>
          <a:p xmlns:a="http://schemas.openxmlformats.org/drawingml/2006/main">
            <a:r>
              <a:t>      "name": "디지털기획처",</a:t>
            </a:r>
          </a:p>
          <a:p xmlns:a="http://schemas.openxmlformats.org/drawingml/2006/main">
            <a:r>
              <a:t>      "job": "데이터 품질관리",</a:t>
            </a:r>
          </a:p>
          <a:p xmlns:a="http://schemas.openxmlformats.org/drawingml/2006/main">
            <a:r>
              <a:t>      "indices": [</a:t>
            </a:r>
          </a:p>
          <a:p xmlns:a="http://schemas.openxmlformats.org/drawingml/2006/main">
            <a:r>
              <a:t>        19</a:t>
            </a:r>
          </a:p>
          <a:p xmlns:a="http://schemas.openxmlformats.org/drawingml/2006/main">
            <a:r>
              <a:t>      ],</a:t>
            </a:r>
          </a:p>
          <a:p xmlns:a="http://schemas.openxmlformats.org/drawingml/2006/main">
            <a:r>
              <a:t>      "duties": [</a:t>
            </a:r>
          </a:p>
          <a:p xmlns:a="http://schemas.openxmlformats.org/drawingml/2006/main">
            <a:r>
              <a:t>        "20. 데이터 품질관리"</a:t>
            </a:r>
          </a:p>
          <a:p xmlns:a="http://schemas.openxmlformats.org/drawingml/2006/main">
            <a:r>
              <a:t>      ],</a:t>
            </a:r>
          </a:p>
          <a:p xmlns:a="http://schemas.openxmlformats.org/drawingml/2006/main">
            <a:r>
              <a:t>      "locator": "별표4 · T37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"RULEWORK-1019300-20",</a:t>
            </a:r>
          </a:p>
          <a:p xmlns:a="http://schemas.openxmlformats.org/drawingml/2006/main">
            <a:r>
              <a:t>          "text": "20. 데이터 품질관리",</a:t>
            </a:r>
          </a:p>
          <a:p xmlns:a="http://schemas.openxmlformats.org/drawingml/2006/main">
            <a:r>
              <a:t>          "locator": "별표4 · T37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"RULEWORK-1019300-20-R01",</a:t>
            </a:r>
          </a:p>
          <a:p xmlns:a="http://schemas.openxmlformats.org/drawingml/2006/main">
            <a:r>
              <a:t>              "title": "업무 맥락·전용 지식 구성",</a:t>
            </a:r>
          </a:p>
          <a:p xmlns:a="http://schemas.openxmlformats.org/drawingml/2006/main">
            <a:r>
              <a:t>              "development": "시스템·변경·업무건 관계 추적",</a:t>
            </a:r>
          </a:p>
          <a:p xmlns:a="http://schemas.openxmlformats.org/drawingml/2006/main">
            <a:r>
              <a:t>              "output": "영향분석·조치·복구·대사 기록",</a:t>
            </a:r>
          </a:p>
          <a:p xmlns:a="http://schemas.openxmlformats.org/drawingml/2006/main">
            <a:r>
              <a:t>              "testId": "RULEWORK-1019300-20-T01",</a:t>
            </a:r>
          </a:p>
          <a:p xmlns:a="http://schemas.openxmlformats.org/drawingml/2006/main">
            <a:r>
              <a:t>              "criterion": "중복·누락·순서 역전·장애 사례의 결과 대조"</a:t>
            </a:r>
          </a:p>
          <a:p xmlns:a="http://schemas.openxmlformats.org/drawingml/2006/main">
            <a:r>
              <a:t>            },</a:t>
            </a:r>
          </a:p>
          <a:p xmlns:a="http://schemas.openxmlformats.org/drawingml/2006/main">
            <a:r>
              <a:t>            {</a:t>
            </a:r>
          </a:p>
          <a:p xmlns:a="http://schemas.openxmlformats.org/drawingml/2006/main">
            <a:r>
              <a:t>              "id": "RULEWORK-1019300-20-R02",</a:t>
            </a:r>
          </a:p>
          <a:p xmlns:a="http://schemas.openxmlformats.org/drawingml/2006/main">
            <a:r>
              <a:t>              "title": "업무건·역할·시스템 연결",</a:t>
            </a:r>
          </a:p>
          <a:p xmlns:a="http://schemas.openxmlformats.org/drawingml/2006/main">
            <a:r>
              <a:t>              "development": "멱등 요청·오류 재처리·승인된 연계 어댑터",</a:t>
            </a:r>
          </a:p>
          <a:p xmlns:a="http://schemas.openxmlformats.org/drawingml/2006/main">
            <a:r>
              <a:t>              "output": "업무건·원천·역할·변경 연결 명세",</a:t>
            </a:r>
          </a:p>
          <a:p xmlns:a="http://schemas.openxmlformats.org/drawingml/2006/main">
            <a:r>
              <a:t>              "testId": "RULEWORK-1019300-20-T02",</a:t>
            </a:r>
          </a:p>
          <a:p xmlns:a="http://schemas.openxmlformats.org/drawingml/2006/main">
            <a:r>
              <a:t>              "criterion": "무승인 변경·중복 실행 차단 및 복구 검증"</a:t>
            </a:r>
          </a:p>
          <a:p xmlns:a="http://schemas.openxmlformats.org/drawingml/2006/main">
            <a:r>
              <a:t>            },</a:t>
            </a:r>
          </a:p>
          <a:p xmlns:a="http://schemas.openxmlformats.org/drawingml/2006/main">
            <a:r>
              <a:t>            {</a:t>
            </a:r>
          </a:p>
          <a:p xmlns:a="http://schemas.openxmlformats.org/drawingml/2006/main">
            <a:r>
              <a:t>              "id": "RULEWORK-1019300-20-R03",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"RULEWORK-1019300-20-T03",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"1019500",</a:t>
            </a:r>
          </a:p>
          <a:p xmlns:a="http://schemas.openxmlformats.org/drawingml/2006/main">
            <a:r>
              <a:t>      "name": "정보보안처",</a:t>
            </a:r>
          </a:p>
          <a:p xmlns:a="http://schemas.openxmlformats.org/drawingml/2006/main">
            <a:r>
              <a:t>      "job": "개인정보·접근 보안",</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정보보안 및 개인정보보호 관련 제도 및 지침관리",</a:t>
            </a:r>
          </a:p>
          <a:p xmlns:a="http://schemas.openxmlformats.org/drawingml/2006/main">
            <a:r>
              <a:t>        "10. 개인정보보호 업무총괄 관리"</a:t>
            </a:r>
          </a:p>
          <a:p xmlns:a="http://schemas.openxmlformats.org/drawingml/2006/main">
            <a:r>
              <a:t>      ],</a:t>
            </a:r>
          </a:p>
          <a:p xmlns:a="http://schemas.openxmlformats.org/drawingml/2006/main">
            <a:r>
              <a:t>      "locator": "별표4 · T37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"RULEWORK-1019500-2",</a:t>
            </a:r>
          </a:p>
          <a:p xmlns:a="http://schemas.openxmlformats.org/drawingml/2006/main">
            <a:r>
              <a:t>          "text": "2. 정보보안 및 개인정보보호 관련 제도 및 지침관리",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"RULEWORK-1019500-2-R01",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"RULEWORK-1019500-2-T01",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"RULEWORK-1019500-2-R02",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"RULEWORK-1019500-2-T02",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"RULEWORK-1019500-10",</a:t>
            </a:r>
          </a:p>
          <a:p xmlns:a="http://schemas.openxmlformats.org/drawingml/2006/main">
            <a:r>
              <a:t>          "text": "10. 개인정보보호 업무총괄 관리",</a:t>
            </a:r>
          </a:p>
          <a:p xmlns:a="http://schemas.openxmlformats.org/drawingml/2006/main">
            <a:r>
              <a:t>          "locator": "별표4 · T37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"RULEWORK-1019500-10-R01",</a:t>
            </a:r>
          </a:p>
          <a:p xmlns:a="http://schemas.openxmlformats.org/drawingml/2006/main">
            <a:r>
              <a:t>              "title": "업무 맥락·전용 지식 구성",</a:t>
            </a:r>
          </a:p>
          <a:p xmlns:a="http://schemas.openxmlformats.org/drawingml/2006/main">
            <a:r>
              <a:t>              "development": "문서·필드·행위별 제한 분류",</a:t>
            </a:r>
          </a:p>
          <a:p xmlns:a="http://schemas.openxmlformats.org/drawingml/2006/main">
            <a:r>
              <a:t>              "output": "통제항목·허용·거부·보완 대장",</a:t>
            </a:r>
          </a:p>
          <a:p xmlns:a="http://schemas.openxmlformats.org/drawingml/2006/main">
            <a:r>
              <a:t>              "testId": "RULEWORK-1019500-10-T01",</a:t>
            </a:r>
          </a:p>
          <a:p xmlns:a="http://schemas.openxmlformats.org/drawingml/2006/main">
            <a:r>
              <a:t>              "criterion": "민감 필드 누락·과잉 마스킹·근거 위치 대조"</a:t>
            </a:r>
          </a:p>
          <a:p xmlns:a="http://schemas.openxmlformats.org/drawingml/2006/main">
            <a:r>
              <a:t>            },</a:t>
            </a:r>
          </a:p>
          <a:p xmlns:a="http://schemas.openxmlformats.org/drawingml/2006/main">
            <a:r>
              <a:t>            {</a:t>
            </a:r>
          </a:p>
          <a:p xmlns:a="http://schemas.openxmlformats.org/drawingml/2006/main">
            <a:r>
              <a:t>              "id": "RULEWORK-1019500-10-R02",</a:t>
            </a:r>
          </a:p>
          <a:p xmlns:a="http://schemas.openxmlformats.org/drawingml/2006/main">
            <a:r>
              <a:t>              "title": "업무건·역할·시스템 연결",</a:t>
            </a:r>
          </a:p>
          <a:p xmlns:a="http://schemas.openxmlformats.org/drawingml/2006/main">
            <a:r>
              <a:t>              "development": "검색·생성·반출·대기 작업의 정책 재검증",</a:t>
            </a:r>
          </a:p>
          <a:p xmlns:a="http://schemas.openxmlformats.org/drawingml/2006/main">
            <a:r>
              <a:t>              "output": "업무건·원천·역할·변경 연결 명세",</a:t>
            </a:r>
          </a:p>
          <a:p xmlns:a="http://schemas.openxmlformats.org/drawingml/2006/main">
            <a:r>
              <a:t>              "testId": "RULEWORK-1019500-10-T02",</a:t>
            </a:r>
          </a:p>
          <a:p xmlns:a="http://schemas.openxmlformats.org/drawingml/2006/main">
            <a:r>
              <a:t>              "criterion": "비인가 노출·실행 0건 및 회수 후 재접근 차단"</a:t>
            </a:r>
          </a:p>
          <a:p xmlns:a="http://schemas.openxmlformats.org/drawingml/2006/main">
            <a:r>
              <a:t>            },</a:t>
            </a:r>
          </a:p>
          <a:p xmlns:a="http://schemas.openxmlformats.org/drawingml/2006/main">
            <a:r>
              <a:t>            {</a:t>
            </a:r>
          </a:p>
          <a:p xmlns:a="http://schemas.openxmlformats.org/drawingml/2006/main">
            <a:r>
              <a:t>              "id": "RULEWORK-1019500-10-R03",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"RULEWORK-1019500-10-T03",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자료 검색·질의 지원"</a:t>
            </a:r>
          </a:p>
          <a:p xmlns:a="http://schemas.openxmlformats.org/drawingml/2006/main">
            <a:r>
              <a:t>    },</a:t>
            </a:r>
          </a:p>
          <a:p xmlns:a="http://schemas.openxmlformats.org/drawingml/2006/main">
            <a:r>
              <a:t>    {</a:t>
            </a:r>
          </a:p>
          <a:p xmlns:a="http://schemas.openxmlformats.org/drawingml/2006/main">
            <a:r>
              <a:t>      "assetId": "CCK-03",</a:t>
            </a:r>
          </a:p>
          <a:p xmlns:a="http://schemas.openxmlformats.org/drawingml/2006/main">
            <a:r>
              <a:t>      "use": "Connor 명세의 실행·로그 경계"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"목적·필드별 정책 카탈로그",</a:t>
            </a:r>
          </a:p>
          <a:p xmlns:a="http://schemas.openxmlformats.org/drawingml/2006/main">
            <a:r>
              <a:t>    "요청–승인–제공–회수 연결 어댑터"</a:t>
            </a:r>
          </a:p>
          <a:p xmlns:a="http://schemas.openxmlformats.org/drawingml/2006/main">
            <a:r>
              <a:t>  ],</a:t>
            </a:r>
          </a:p>
          <a:p xmlns:a="http://schemas.openxmlformats.org/drawingml/2006/main">
            <a:r>
              <a:t>  "acceptancePlan": {</a:t>
            </a:r>
          </a:p>
          <a:p xmlns:a="http://schemas.openxmlformats.org/drawingml/2006/main">
            <a:r>
              <a:t>    "sample": "공개/내부 필드 혼합, 스키마 변경, 권한 회수",</a:t>
            </a:r>
          </a:p>
          <a:p xmlns:a="http://schemas.openxmlformats.org/drawingml/2006/main">
            <a:r>
              <a:t>    "criterion": "허용 필드만 제공·불일치 보류·회수 후 캐시 차단",</a:t>
            </a:r>
          </a:p>
          <a:p xmlns:a="http://schemas.openxmlformats.org/drawingml/2006/main">
            <a:r>
              <a:t>    "evidence": "필드 대사표·거부셋 결과·회수 로그",</a:t>
            </a:r>
          </a:p>
          <a:p xmlns:a="http://schemas.openxmlformats.org/drawingml/2006/main">
            <a:r>
              <a:t>    "execution": "미실행"</a:t>
            </a:r>
          </a:p>
          <a:p xmlns:a="http://schemas.openxmlformats.org/drawingml/2006/main">
            <a:r>
              <a:t>  },</a:t>
            </a:r>
          </a:p>
          <a:p xmlns:a="http://schemas.openxmlformats.org/drawingml/2006/main">
            <a:r>
              <a:t>  "formula": "승인 조건 충족 연계 수 ÷ 연계 시도 수 / 목적 외 노출 건수",</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"PF-R07",</a:t>
            </a:r>
          </a:p>
          <a:p xmlns:a="http://schemas.openxmlformats.org/drawingml/2006/main">
            <a:r>
              <a:t>    "PF-R08",</a:t>
            </a:r>
          </a:p>
          <a:p xmlns:a="http://schemas.openxmlformats.org/drawingml/2006/main">
            <a:r>
              <a:t>    "PF03",</a:t>
            </a:r>
          </a:p>
          <a:p xmlns:a="http://schemas.openxmlformats.org/drawingml/2006/main">
            <a:r>
              <a:t>    "PF06"</a:t>
            </a:r>
          </a:p>
          <a:p xmlns:a="http://schemas.openxmlformats.org/drawingml/2006/main">
            <a:r>
              <a:t>  ]</a:t>
            </a:r>
          </a:p>
          <a:p xmlns:a="http://schemas.openxmlformats.org/drawingml/2006/main">
            <a:r>
              <a:t>}</a:t>
            </a:r>
          </a:p>
          <a:p xmlns:a="http://schemas.openxmlformats.org/drawingml/2006/main">
            <a:r>
              <a:t>CCK-01: NOA 사용자 가이드 확인. 설치본 기능시험 필요.</a:t>
            </a:r>
          </a:p>
          <a:p xmlns:a="http://schemas.openxmlformats.org/drawingml/2006/main">
            <a:r>
              <a:t>CCK-02/03: 명세 기반 재사용 후보. 실물 기능검증 필요.</a:t>
            </a:r>
          </a:p>
          <a:p xmlns:a="http://schemas.openxmlformats.org/drawingml/2006/main">
            <a:r>
              <a:t>기존 SSO·RAG·권한·로그·연계 범위 대조 후 추가분 산정.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"ST-08",</a:t>
            </a:r>
          </a:p>
          <a:p xmlns:a="http://schemas.openxmlformats.org/drawingml/2006/main">
            <a:r>
              <a:t>  "number": 8,</a:t>
            </a:r>
          </a:p>
          <a:p xmlns:a="http://schemas.openxmlformats.org/drawingml/2006/main">
            <a:r>
              <a:t>  "direction": "균형있는 국민체감 서비스 실현",</a:t>
            </a:r>
          </a:p>
          <a:p xmlns:a="http://schemas.openxmlformats.org/drawingml/2006/main">
            <a:r>
              <a:t>  "strategy": "생활 밀착형 이동 서비스 확대",</a:t>
            </a:r>
          </a:p>
          <a:p xmlns:a="http://schemas.openxmlformats.org/drawingml/2006/main">
            <a:r>
              <a:t>  "solution": "국민 이동·신청 절차 지원",</a:t>
            </a:r>
          </a:p>
          <a:p xmlns:a="http://schemas.openxmlformats.org/drawingml/2006/main">
            <a:r>
              <a:t>  "lawIds": [</a:t>
            </a:r>
          </a:p>
          <a:p xmlns:a="http://schemas.openxmlformats.org/drawingml/2006/main">
            <a:r>
              <a:t>    "L11",</a:t>
            </a:r>
          </a:p>
          <a:p xmlns:a="http://schemas.openxmlformats.org/drawingml/2006/main">
            <a:r>
              <a:t>    "L15",</a:t>
            </a:r>
          </a:p>
          <a:p xmlns:a="http://schemas.openxmlformats.org/drawingml/2006/main">
            <a:r>
              <a:t>    "L16",</a:t>
            </a:r>
          </a:p>
          <a:p xmlns:a="http://schemas.openxmlformats.org/drawingml/2006/main">
            <a:r>
              <a:t>    "L17"</a:t>
            </a:r>
          </a:p>
          <a:p xmlns:a="http://schemas.openxmlformats.org/drawingml/2006/main">
            <a:r>
              <a:t>  ],</a:t>
            </a:r>
          </a:p>
          <a:p xmlns:a="http://schemas.openxmlformats.org/drawingml/2006/main">
            <a:r>
              <a:t>  "codes": [</a:t>
            </a:r>
          </a:p>
          <a:p xmlns:a="http://schemas.openxmlformats.org/drawingml/2006/main">
            <a:r>
              <a:t>    "1019020",</a:t>
            </a:r>
          </a:p>
          <a:p xmlns:a="http://schemas.openxmlformats.org/drawingml/2006/main">
            <a:r>
              <a:t>    "1019010",</a:t>
            </a:r>
          </a:p>
          <a:p xmlns:a="http://schemas.openxmlformats.org/drawingml/2006/main">
            <a:r>
              <a:t>    "1022030",</a:t>
            </a:r>
          </a:p>
          <a:p xmlns:a="http://schemas.openxmlformats.org/drawingml/2006/main">
            <a:r>
              <a:t>    "1022010"</a:t>
            </a:r>
          </a:p>
          <a:p xmlns:a="http://schemas.openxmlformats.org/drawingml/2006/main">
            <a:r>
              <a:t>  ],</a:t>
            </a:r>
          </a:p>
          <a:p xmlns:a="http://schemas.openxmlformats.org/drawingml/2006/main">
            <a:r>
              <a:t>  "work": "이동정보·교통약자·자격·현장 서비스의 안내·인계",</a:t>
            </a:r>
          </a:p>
          <a:p xmlns:a="http://schemas.openxmlformats.org/drawingml/2006/main">
            <a:r>
              <a:t>  "features": [</a:t>
            </a:r>
          </a:p>
          <a:p xmlns:a="http://schemas.openxmlformats.org/drawingml/2006/main">
            <a:r>
              <a:t>    "이용 목적·지역별 절차·서류·담당 창구 구성",</a:t>
            </a:r>
          </a:p>
          <a:p xmlns:a="http://schemas.openxmlformats.org/drawingml/2006/main">
            <a:r>
              <a:t>    "국민 문의와 소관 부서 처리상태 연결"</a:t>
            </a:r>
          </a:p>
          <a:p xmlns:a="http://schemas.openxmlformats.org/drawingml/2006/main">
            <a:r>
              <a:t>  ],</a:t>
            </a:r>
          </a:p>
          <a:p xmlns:a="http://schemas.openxmlformats.org/drawingml/2006/main">
            <a:r>
              <a:t>  "output": "목적별 안내·필수서류·인계 기록",</a:t>
            </a:r>
          </a:p>
          <a:p xmlns:a="http://schemas.openxmlformats.org/drawingml/2006/main">
            <a:r>
              <a:t>  "acceptance": "공개 지식만 사용한 안내·기관 내부정보 차단·담당 창구 일치 확인",</a:t>
            </a:r>
          </a:p>
          <a:p xmlns:a="http://schemas.openxmlformats.org/drawingml/2006/main">
            <a:r>
              <a:t>  "phase": "공통 기반 인수 후 부서별 적용",</a:t>
            </a:r>
          </a:p>
          <a:p xmlns:a="http://schemas.openxmlformats.org/drawingml/2006/main">
            <a:r>
              <a:t>  "packages": [</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"GAI-T04",</a:t>
            </a:r>
          </a:p>
          <a:p xmlns:a="http://schemas.openxmlformats.org/drawingml/2006/main">
            <a:r>
              <a:t>    "GAI-T05",</a:t>
            </a:r>
          </a:p>
          <a:p xmlns:a="http://schemas.openxmlformats.org/drawingml/2006/main">
            <a:r>
              <a:t>    "GAI-T07"</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"이동정보·교통약자 조사",</a:t>
            </a:r>
          </a:p>
          <a:p xmlns:a="http://schemas.openxmlformats.org/drawingml/2006/main">
            <a:r>
              <a:t>      "indices": [</a:t>
            </a:r>
          </a:p>
          <a:p xmlns:a="http://schemas.openxmlformats.org/drawingml/2006/main">
            <a:r>
              <a:t>        2,</a:t>
            </a:r>
          </a:p>
          <a:p xmlns:a="http://schemas.openxmlformats.org/drawingml/2006/main">
            <a:r>
              <a:t>        22</a:t>
            </a:r>
          </a:p>
          <a:p xmlns:a="http://schemas.openxmlformats.org/drawingml/2006/main">
            <a:r>
              <a:t>      ],</a:t>
            </a:r>
          </a:p>
          <a:p xmlns:a="http://schemas.openxmlformats.org/drawingml/2006/main">
            <a:r>
              <a:t>      "duties": [</a:t>
            </a:r>
          </a:p>
          <a:p xmlns:a="http://schemas.openxmlformats.org/drawingml/2006/main">
            <a:r>
              <a:t>        "3. 수요응답형(DRT) 대중교통 시스템 구축 및 운영",</a:t>
            </a:r>
          </a:p>
          <a:p xmlns:a="http://schemas.openxmlformats.org/drawingml/2006/main">
            <a:r>
              <a:t>        "23. 교통약자 이동편의실태조사 및 자료관리"</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"대중교통 현황조사",</a:t>
            </a:r>
          </a:p>
          <a:p xmlns:a="http://schemas.openxmlformats.org/drawingml/2006/main">
            <a:r>
              <a:t>      "indices": [</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"7. 대중교통 현황조사에 관한 업무"</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"운수종사자 관리",</a:t>
            </a:r>
          </a:p>
          <a:p xmlns:a="http://schemas.openxmlformats.org/drawingml/2006/main">
            <a:r>
              <a:t>      "indices": [</a:t>
            </a:r>
          </a:p>
          <a:p xmlns:a="http://schemas.openxmlformats.org/drawingml/2006/main">
            <a:r>
              <a:t>        7,</a:t>
            </a:r>
          </a:p>
          <a:p xmlns:a="http://schemas.openxmlformats.org/drawingml/2006/main">
            <a:r>
              <a:t>        8</a:t>
            </a:r>
          </a:p>
          <a:p xmlns:a="http://schemas.openxmlformats.org/drawingml/2006/main">
            <a:r>
              <a:t>      ],</a:t>
            </a:r>
          </a:p>
          <a:p xmlns:a="http://schemas.openxmlformats.org/drawingml/2006/main">
            <a:r>
              <a:t>      "duties": [</a:t>
            </a:r>
          </a:p>
          <a:p xmlns:a="http://schemas.openxmlformats.org/drawingml/2006/main">
            <a:r>
              <a:t>        "8. 운수종사자 입․퇴사 정보, 교통사고정보 관리 및 부적격운전자 통보",</a:t>
            </a:r>
          </a:p>
          <a:p xmlns:a="http://schemas.openxmlformats.org/drawingml/2006/main">
            <a:r>
              <a:t>        "9. 운수종사자관리정보시스템 운영 및 관리"</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"1022010",</a:t>
            </a:r>
          </a:p>
          <a:p xmlns:a="http://schemas.openxmlformats.org/drawingml/2006/main">
            <a:r>
              <a:t>      "name": "자격교육처",</a:t>
            </a:r>
          </a:p>
          <a:p xmlns:a="http://schemas.openxmlformats.org/drawingml/2006/main">
            <a:r>
              <a:t>      "job": "자격·적성검사 운영",</a:t>
            </a:r>
          </a:p>
          <a:p xmlns:a="http://schemas.openxmlformats.org/drawingml/2006/main">
            <a:r>
              <a:t>      "indices": [</a:t>
            </a:r>
          </a:p>
          <a:p xmlns:a="http://schemas.openxmlformats.org/drawingml/2006/main">
            <a:r>
              <a:t>        20,</a:t>
            </a:r>
          </a:p>
          <a:p xmlns:a="http://schemas.openxmlformats.org/drawingml/2006/main">
            <a:r>
              <a:t>        31</a:t>
            </a:r>
          </a:p>
          <a:p xmlns:a="http://schemas.openxmlformats.org/drawingml/2006/main">
            <a:r>
              <a:t>      ],</a:t>
            </a:r>
          </a:p>
          <a:p xmlns:a="http://schemas.openxmlformats.org/drawingml/2006/main">
            <a:r>
              <a:t>      "duties": [</a:t>
            </a:r>
          </a:p>
          <a:p xmlns:a="http://schemas.openxmlformats.org/drawingml/2006/main">
            <a:r>
              <a:t>        "21. 운전적성정밀검사(신규, 특별, 버스‧택시‧화물 자격유지 등), 국가자격시험(버스, 화물, 택시, 교통안전관리자), 사업계획 수립 및 관련법령 개정 등 제도개선",</a:t>
            </a:r>
          </a:p>
          <a:p xmlns:a="http://schemas.openxmlformats.org/drawingml/2006/main">
            <a:r>
              <a:t>        "32. 화물․버스․택시 운전 및 교통안전관리자 자격증 발급 및 관리"</a:t>
            </a:r>
          </a:p>
          <a:p xmlns:a="http://schemas.openxmlformats.org/drawingml/2006/main">
            <a:r>
              <a:t>      ],</a:t>
            </a:r>
          </a:p>
          <a:p xmlns:a="http://schemas.openxmlformats.org/drawingml/2006/main">
            <a:r>
              <a:t>      "locator": "별표4 · T40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"법정 자격·조사·운행정보 업무의 안내·인계 지원 / 개별 지원사업 자격·지급 판정은 별도 과업",</a:t>
            </a:r>
          </a:p>
          <a:p xmlns:a="http://schemas.openxmlformats.org/drawingml/2006/main">
            <a:r>
              <a:t>  "caseRefs": [</a:t>
            </a:r>
          </a:p>
          <a:p xmlns:a="http://schemas.openxmlformats.org/drawingml/2006/main">
            <a:r>
              <a:t>    {</a:t>
            </a:r>
          </a:p>
          <a:p xmlns:a="http://schemas.openxmlformats.org/drawingml/2006/main">
            <a:r>
              <a:t>      "caseId": "AX01",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"AX02",</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"AX11",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"AX19",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"자연어·음성 이동 서비스 접점",</a:t>
            </a:r>
          </a:p>
          <a:p xmlns:a="http://schemas.openxmlformats.org/drawingml/2006/main">
            <a:r>
              <a:t>  "delta": "발화 정리·필수 항목 확인·소관 서비스 연결",</a:t>
            </a:r>
          </a:p>
          <a:p xmlns:a="http://schemas.openxmlformats.org/drawingml/2006/main">
            <a:r>
              <a:t>  "kpi": "정보약자 도달률 / 포기율",</a:t>
            </a:r>
          </a:p>
          <a:p xmlns:a="http://schemas.openxmlformats.org/drawingml/2006/main">
            <a:r>
              <a:t>  "validation": "기존 메뉴와 사용자군별 과업 비교·상담 전환",</a:t>
            </a:r>
          </a:p>
          <a:p xmlns:a="http://schemas.openxmlformats.org/drawingml/2006/main">
            <a:r>
              <a:t>  "requirement": "BM-ST-08-R01",</a:t>
            </a:r>
          </a:p>
          <a:p xmlns:a="http://schemas.openxmlformats.org/drawingml/2006/main">
            <a:r>
              <a:t>  "test": "BM-ST-08-T01",</a:t>
            </a:r>
          </a:p>
          <a:p xmlns:a="http://schemas.openxmlformats.org/drawingml/2006/main">
            <a:r>
              <a:t>  "effectStatus": "기대 방향 · TS 실측 전",</a:t>
            </a:r>
          </a:p>
          <a:p xmlns:a="http://schemas.openxmlformats.org/drawingml/2006/main">
            <a:r>
              <a:t>  "effect": "국민의 서비스 탐색·발화 재입력 감소",</a:t>
            </a:r>
          </a:p>
          <a:p xmlns:a="http://schemas.openxmlformats.org/drawingml/2006/main">
            <a:r>
              <a:t>  "reuse": "ON27-BASE / C27-COM + CCK 재사용 판정 기능",</a:t>
            </a:r>
          </a:p>
          <a:p xmlns:a="http://schemas.openxmlformats.org/drawingml/2006/main">
            <a:r>
              <a:t>  "input": "공개 서비스 목록, 지역·대상·필수서류, 텍스트·음성 요청",</a:t>
            </a:r>
          </a:p>
          <a:p xmlns:a="http://schemas.openxmlformats.org/drawingml/2006/main">
            <a:r>
              <a:t>  "steps": [</a:t>
            </a:r>
          </a:p>
          <a:p xmlns:a="http://schemas.openxmlformats.org/drawingml/2006/main">
            <a:r>
              <a:t>    "발화·업무 목적 정리",</a:t>
            </a:r>
          </a:p>
          <a:p xmlns:a="http://schemas.openxmlformats.org/drawingml/2006/main">
            <a:r>
              <a:t>    "이용자 필수 항목 확인",</a:t>
            </a:r>
          </a:p>
          <a:p xmlns:a="http://schemas.openxmlformats.org/drawingml/2006/main">
            <a:r>
              <a:t>    "소관·공식 서비스 연결",</a:t>
            </a:r>
          </a:p>
          <a:p xmlns:a="http://schemas.openxmlformats.org/drawingml/2006/main">
            <a:r>
              <a:t>    "인증·상담 인계·완료 확인"</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"이동정보·교통약자 조사",</a:t>
            </a:r>
          </a:p>
          <a:p xmlns:a="http://schemas.openxmlformats.org/drawingml/2006/main">
            <a:r>
              <a:t>      "indices": [</a:t>
            </a:r>
          </a:p>
          <a:p xmlns:a="http://schemas.openxmlformats.org/drawingml/2006/main">
            <a:r>
              <a:t>        2,</a:t>
            </a:r>
          </a:p>
          <a:p xmlns:a="http://schemas.openxmlformats.org/drawingml/2006/main">
            <a:r>
              <a:t>        22</a:t>
            </a:r>
          </a:p>
          <a:p xmlns:a="http://schemas.openxmlformats.org/drawingml/2006/main">
            <a:r>
              <a:t>      ],</a:t>
            </a:r>
          </a:p>
          <a:p xmlns:a="http://schemas.openxmlformats.org/drawingml/2006/main">
            <a:r>
              <a:t>      "duties": [</a:t>
            </a:r>
          </a:p>
          <a:p xmlns:a="http://schemas.openxmlformats.org/drawingml/2006/main">
            <a:r>
              <a:t>        "3. 수요응답형(DRT) 대중교통 시스템 구축 및 운영",</a:t>
            </a:r>
          </a:p>
          <a:p xmlns:a="http://schemas.openxmlformats.org/drawingml/2006/main">
            <a:r>
              <a:t>        "23. 교통약자 이동편의실태조사 및 자료관리"</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"RULEWORK-1019020-3",</a:t>
            </a:r>
          </a:p>
          <a:p xmlns:a="http://schemas.openxmlformats.org/drawingml/2006/main">
            <a:r>
              <a:t>          "text": "3. 수요응답형(DRT) 대중교통 시스템 구축 및 운영",</a:t>
            </a:r>
          </a:p>
          <a:p xmlns:a="http://schemas.openxmlformats.org/drawingml/2006/main">
            <a:r>
              <a:t>          "locator": "별표4 · T39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"RULEWORK-1019020-3-R01",</a:t>
            </a:r>
          </a:p>
          <a:p xmlns:a="http://schemas.openxmlformats.org/drawingml/2006/main">
            <a:r>
              <a:t>              "title": "업무 맥락·전용 지식 구성",</a:t>
            </a:r>
          </a:p>
          <a:p xmlns:a="http://schemas.openxmlformats.org/drawingml/2006/main">
            <a:r>
              <a:t>              "development": "지역·시간·배차 제약과 요청 맥락 분류",</a:t>
            </a:r>
          </a:p>
          <a:p xmlns:a="http://schemas.openxmlformats.org/drawingml/2006/main">
            <a:r>
              <a:t>              "output": "조건·예외·변경 요청·결과 대사표",</a:t>
            </a:r>
          </a:p>
          <a:p xmlns:a="http://schemas.openxmlformats.org/drawingml/2006/main">
            <a:r>
              <a:t>              "testId": "RULEWORK-1019020-3-T01",</a:t>
            </a:r>
          </a:p>
          <a:p xmlns:a="http://schemas.openxmlformats.org/drawingml/2006/main">
            <a:r>
              <a:t>              "criterion": "운영 상태·조건별 가능한 후보와 예외 정답 대조"</a:t>
            </a:r>
          </a:p>
          <a:p xmlns:a="http://schemas.openxmlformats.org/drawingml/2006/main">
            <a:r>
              <a:t>            },</a:t>
            </a:r>
          </a:p>
          <a:p xmlns:a="http://schemas.openxmlformats.org/drawingml/2006/main">
            <a:r>
              <a:t>            {</a:t>
            </a:r>
          </a:p>
          <a:p xmlns:a="http://schemas.openxmlformats.org/drawingml/2006/main">
            <a:r>
              <a:t>              "id": "RULEWORK-1019020-3-R02",</a:t>
            </a:r>
          </a:p>
          <a:p xmlns:a="http://schemas.openxmlformats.org/drawingml/2006/main">
            <a:r>
              <a:t>              "title": "업무건·역할·시스템 연결",</a:t>
            </a:r>
          </a:p>
          <a:p xmlns:a="http://schemas.openxmlformats.org/drawingml/2006/main">
            <a:r>
              <a:t>              "development": "기존 운영시스템 조회·승인 후 변경 결과 대사",</a:t>
            </a:r>
          </a:p>
          <a:p xmlns:a="http://schemas.openxmlformats.org/drawingml/2006/main">
            <a:r>
              <a:t>              "output": "업무건·원천·역할·변경 연결 명세",</a:t>
            </a:r>
          </a:p>
          <a:p xmlns:a="http://schemas.openxmlformats.org/drawingml/2006/main">
            <a:r>
              <a:t>              "testId": "RULEWORK-1019020-3-T02",</a:t>
            </a:r>
          </a:p>
          <a:p xmlns:a="http://schemas.openxmlformats.org/drawingml/2006/main">
            <a:r>
              <a:t>              "criterion": "운영자 확인 전 변경 및 중복 배차 요청 차단"</a:t>
            </a:r>
          </a:p>
          <a:p xmlns:a="http://schemas.openxmlformats.org/drawingml/2006/main">
            <a:r>
              <a:t>            },</a:t>
            </a:r>
          </a:p>
          <a:p xmlns:a="http://schemas.openxmlformats.org/drawingml/2006/main">
            <a:r>
              <a:t>            {</a:t>
            </a:r>
          </a:p>
          <a:p xmlns:a="http://schemas.openxmlformats.org/drawingml/2006/main">
            <a:r>
              <a:t>              "id": "RULEWORK-1019020-3-R03",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"RULEWORK-1019020-3-T03",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"RULEWORK-1019020-23",</a:t>
            </a:r>
          </a:p>
          <a:p xmlns:a="http://schemas.openxmlformats.org/drawingml/2006/main">
            <a:r>
              <a:t>          "text": "23. 교통약자 이동편의실태조사 및 자료관리",</a:t>
            </a:r>
          </a:p>
          <a:p xmlns:a="http://schemas.openxmlformats.org/drawingml/2006/main">
            <a:r>
              <a:t>          "locator": "별표4 · T39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"RULEWORK-1019020-23-R01",</a:t>
            </a:r>
          </a:p>
          <a:p xmlns:a="http://schemas.openxmlformats.org/drawingml/2006/main">
            <a:r>
              <a:t>              "title": "업무 맥락·전용 지식 구성",</a:t>
            </a:r>
          </a:p>
          <a:p xmlns:a="http://schemas.openxmlformats.org/drawingml/2006/main">
            <a:r>
              <a:t>              "development": "대상·항목·분모·기간별 자료 정합성 점검",</a:t>
            </a:r>
          </a:p>
          <a:p xmlns:a="http://schemas.openxmlformats.org/drawingml/2006/main">
            <a:r>
              <a:t>              "output": "증빙·보완·분석·공표 검토자료",</a:t>
            </a:r>
          </a:p>
          <a:p xmlns:a="http://schemas.openxmlformats.org/drawingml/2006/main">
            <a:r>
              <a:t>              "testId": "RULEWORK-1019020-23-T01",</a:t>
            </a:r>
          </a:p>
          <a:p xmlns:a="http://schemas.openxmlformats.org/drawingml/2006/main">
            <a:r>
              <a:t>              "criterion": "표본·분모·단위·기간과 분석 결과 재현"</a:t>
            </a:r>
          </a:p>
          <a:p xmlns:a="http://schemas.openxmlformats.org/drawingml/2006/main">
            <a:r>
              <a:t>            },</a:t>
            </a:r>
          </a:p>
          <a:p xmlns:a="http://schemas.openxmlformats.org/drawingml/2006/main">
            <a:r>
              <a:t>            {</a:t>
            </a:r>
          </a:p>
          <a:p xmlns:a="http://schemas.openxmlformats.org/drawingml/2006/main">
            <a:r>
              <a:t>              "id": "RULEWORK-1019020-23-R02",</a:t>
            </a:r>
          </a:p>
          <a:p xmlns:a="http://schemas.openxmlformats.org/drawingml/2006/main">
            <a:r>
              <a:t>              "title": "업무건·역할·시스템 연결",</a:t>
            </a:r>
          </a:p>
          <a:p xmlns:a="http://schemas.openxmlformats.org/drawingml/2006/main">
            <a:r>
              <a:t>              "development": "조사 원장·원본 증빙·공표 판본 연결",</a:t>
            </a:r>
          </a:p>
          <a:p xmlns:a="http://schemas.openxmlformats.org/drawingml/2006/main">
            <a:r>
              <a:t>              "output": "업무건·원천·역할·변경 연결 명세",</a:t>
            </a:r>
          </a:p>
          <a:p xmlns:a="http://schemas.openxmlformats.org/drawingml/2006/main">
            <a:r>
              <a:t>              "testId": "RULEWORK-1019020-23-T02",</a:t>
            </a:r>
          </a:p>
          <a:p xmlns:a="http://schemas.openxmlformats.org/drawingml/2006/main">
            <a:r>
              <a:t>              "criterion": "공식 공표 승인·개인정보 제한 검증"</a:t>
            </a:r>
          </a:p>
          <a:p xmlns:a="http://schemas.openxmlformats.org/drawingml/2006/main">
            <a:r>
              <a:t>            },</a:t>
            </a:r>
          </a:p>
          <a:p xmlns:a="http://schemas.openxmlformats.org/drawingml/2006/main">
            <a:r>
              <a:t>            {</a:t>
            </a:r>
          </a:p>
          <a:p xmlns:a="http://schemas.openxmlformats.org/drawingml/2006/main">
            <a:r>
              <a:t>              "id": "RULEWORK-1019020-23-R03",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"RULEWORK-1019020-23-T03",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"대중교통 현황조사",</a:t>
            </a:r>
          </a:p>
          <a:p xmlns:a="http://schemas.openxmlformats.org/drawingml/2006/main">
            <a:r>
              <a:t>      "indices": [</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"7. 대중교통 현황조사에 관한 업무"</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"RULEWORK-1019010-7",</a:t>
            </a:r>
          </a:p>
          <a:p xmlns:a="http://schemas.openxmlformats.org/drawingml/2006/main">
            <a:r>
              <a:t>          "text": "7. 대중교통 현황조사에 관한 업무",</a:t>
            </a:r>
          </a:p>
          <a:p xmlns:a="http://schemas.openxmlformats.org/drawingml/2006/main">
            <a:r>
              <a:t>          "locator": "별표4 · T41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"RULEWORK-1019010-7-R01",</a:t>
            </a:r>
          </a:p>
          <a:p xmlns:a="http://schemas.openxmlformats.org/drawingml/2006/main">
            <a:r>
              <a:t>              "title": "업무 맥락·전용 지식 구성",</a:t>
            </a:r>
          </a:p>
          <a:p xmlns:a="http://schemas.openxmlformats.org/drawingml/2006/main">
            <a:r>
              <a:t>              "development": "대상·항목·분모·기간별 자료 정합성 점검",</a:t>
            </a:r>
          </a:p>
          <a:p xmlns:a="http://schemas.openxmlformats.org/drawingml/2006/main">
            <a:r>
              <a:t>              "output": "증빙·보완·분석·공표 검토자료",</a:t>
            </a:r>
          </a:p>
          <a:p xmlns:a="http://schemas.openxmlformats.org/drawingml/2006/main">
            <a:r>
              <a:t>              "testId": "RULEWORK-1019010-7-T01",</a:t>
            </a:r>
          </a:p>
          <a:p xmlns:a="http://schemas.openxmlformats.org/drawingml/2006/main">
            <a:r>
              <a:t>              "criterion": "표본·분모·단위·기간과 분석 결과 재현"</a:t>
            </a:r>
          </a:p>
          <a:p xmlns:a="http://schemas.openxmlformats.org/drawingml/2006/main">
            <a:r>
              <a:t>            },</a:t>
            </a:r>
          </a:p>
          <a:p xmlns:a="http://schemas.openxmlformats.org/drawingml/2006/main">
            <a:r>
              <a:t>            {</a:t>
            </a:r>
          </a:p>
          <a:p xmlns:a="http://schemas.openxmlformats.org/drawingml/2006/main">
            <a:r>
              <a:t>              "id": "RULEWORK-1019010-7-R02",</a:t>
            </a:r>
          </a:p>
          <a:p xmlns:a="http://schemas.openxmlformats.org/drawingml/2006/main">
            <a:r>
              <a:t>              "title": "업무건·역할·시스템 연결",</a:t>
            </a:r>
          </a:p>
          <a:p xmlns:a="http://schemas.openxmlformats.org/drawingml/2006/main">
            <a:r>
              <a:t>              "development": "조사 원장·원본 증빙·공표 판본 연결",</a:t>
            </a:r>
          </a:p>
          <a:p xmlns:a="http://schemas.openxmlformats.org/drawingml/2006/main">
            <a:r>
              <a:t>              "output": "업무건·원천·역할·변경 연결 명세",</a:t>
            </a:r>
          </a:p>
          <a:p xmlns:a="http://schemas.openxmlformats.org/drawingml/2006/main">
            <a:r>
              <a:t>              "testId": "RULEWORK-1019010-7-T02",</a:t>
            </a:r>
          </a:p>
          <a:p xmlns:a="http://schemas.openxmlformats.org/drawingml/2006/main">
            <a:r>
              <a:t>              "criterion": "공식 공표 승인·개인정보 제한 검증"</a:t>
            </a:r>
          </a:p>
          <a:p xmlns:a="http://schemas.openxmlformats.org/drawingml/2006/main">
            <a:r>
              <a:t>            },</a:t>
            </a:r>
          </a:p>
          <a:p xmlns:a="http://schemas.openxmlformats.org/drawingml/2006/main">
            <a:r>
              <a:t>            {</a:t>
            </a:r>
          </a:p>
          <a:p xmlns:a="http://schemas.openxmlformats.org/drawingml/2006/main">
            <a:r>
              <a:t>              "id": "RULEWORK-1019010-7-R03",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"RULEWORK-1019010-7-T03",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"운수종사자 관리",</a:t>
            </a:r>
          </a:p>
          <a:p xmlns:a="http://schemas.openxmlformats.org/drawingml/2006/main">
            <a:r>
              <a:t>      "indices": [</a:t>
            </a:r>
          </a:p>
          <a:p xmlns:a="http://schemas.openxmlformats.org/drawingml/2006/main">
            <a:r>
              <a:t>        7,</a:t>
            </a:r>
          </a:p>
          <a:p xmlns:a="http://schemas.openxmlformats.org/drawingml/2006/main">
            <a:r>
              <a:t>        8</a:t>
            </a:r>
          </a:p>
          <a:p xmlns:a="http://schemas.openxmlformats.org/drawingml/2006/main">
            <a:r>
              <a:t>      ],</a:t>
            </a:r>
          </a:p>
          <a:p xmlns:a="http://schemas.openxmlformats.org/drawingml/2006/main">
            <a:r>
              <a:t>      "duties": [</a:t>
            </a:r>
          </a:p>
          <a:p xmlns:a="http://schemas.openxmlformats.org/drawingml/2006/main">
            <a:r>
              <a:t>        "8. 운수종사자 입․퇴사 정보, 교통사고정보 관리 및 부적격운전자 통보",</a:t>
            </a:r>
          </a:p>
          <a:p xmlns:a="http://schemas.openxmlformats.org/drawingml/2006/main">
            <a:r>
              <a:t>        "9. 운수종사자관리정보시스템 운영 및 관리"</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"RULEWORK-1022030-8",</a:t>
            </a:r>
          </a:p>
          <a:p xmlns:a="http://schemas.openxmlformats.org/drawingml/2006/main">
            <a:r>
              <a:t>          "text": "8. 운수종사자 입․퇴사 정보, 교통사고정보 관리 및 부적격운전자 통보",</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"RULEWORK-1022030-8-R01",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"RULEWORK-1022030-8-T01",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"RULEWORK-1022030-8-R02",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"RULEWORK-1022030-8-T02",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"RULEWORK-1022030-8-R03",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"RULEWORK-1022030-9",</a:t>
            </a:r>
          </a:p>
          <a:p xmlns:a="http://schemas.openxmlformats.org/drawingml/2006/main">
            <a:r>
              <a:t>          "text": "9. 운수종사자관리정보시스템 운영 및 관리",</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"RULEWORK-1022030-9-R01",</a:t>
            </a:r>
          </a:p>
          <a:p xmlns:a="http://schemas.openxmlformats.org/drawingml/2006/main">
            <a:r>
              <a:t>              "title": "업무 맥락·전용 지식 구성",</a:t>
            </a:r>
          </a:p>
          <a:p xmlns:a="http://schemas.openxmlformats.org/drawingml/2006/main">
            <a:r>
              <a:t>              "development": "시스템·변경·업무건 관계 추적",</a:t>
            </a:r>
          </a:p>
          <a:p xmlns:a="http://schemas.openxmlformats.org/drawingml/2006/main">
            <a:r>
              <a:t>              "output": "영향분석·조치·복구·대사 기록",</a:t>
            </a:r>
          </a:p>
          <a:p xmlns:a="http://schemas.openxmlformats.org/drawingml/2006/main">
            <a:r>
              <a:t>              "testId": "RULEWORK-1022030-9-T01",</a:t>
            </a:r>
          </a:p>
          <a:p xmlns:a="http://schemas.openxmlformats.org/drawingml/2006/main">
            <a:r>
              <a:t>              "criterion": "중복·누락·순서 역전·장애 사례의 결과 대조"</a:t>
            </a:r>
          </a:p>
          <a:p xmlns:a="http://schemas.openxmlformats.org/drawingml/2006/main">
            <a:r>
              <a:t>            },</a:t>
            </a:r>
          </a:p>
          <a:p xmlns:a="http://schemas.openxmlformats.org/drawingml/2006/main">
            <a:r>
              <a:t>            {</a:t>
            </a:r>
          </a:p>
          <a:p xmlns:a="http://schemas.openxmlformats.org/drawingml/2006/main">
            <a:r>
              <a:t>              "id": "RULEWORK-1022030-9-R02",</a:t>
            </a:r>
          </a:p>
          <a:p xmlns:a="http://schemas.openxmlformats.org/drawingml/2006/main">
            <a:r>
              <a:t>              "title": "업무건·역할·시스템 연결",</a:t>
            </a:r>
          </a:p>
          <a:p xmlns:a="http://schemas.openxmlformats.org/drawingml/2006/main">
            <a:r>
              <a:t>              "development": "멱등 요청·오류 재처리·승인된 연계 어댑터",</a:t>
            </a:r>
          </a:p>
          <a:p xmlns:a="http://schemas.openxmlformats.org/drawingml/2006/main">
            <a:r>
              <a:t>              "output": "업무건·원천·역할·변경 연결 명세",</a:t>
            </a:r>
          </a:p>
          <a:p xmlns:a="http://schemas.openxmlformats.org/drawingml/2006/main">
            <a:r>
              <a:t>              "testId": "RULEWORK-1022030-9-T02",</a:t>
            </a:r>
          </a:p>
          <a:p xmlns:a="http://schemas.openxmlformats.org/drawingml/2006/main">
            <a:r>
              <a:t>              "criterion": "무승인 변경·중복 실행 차단 및 복구 검증"</a:t>
            </a:r>
          </a:p>
          <a:p xmlns:a="http://schemas.openxmlformats.org/drawingml/2006/main">
            <a:r>
              <a:t>            },</a:t>
            </a:r>
          </a:p>
          <a:p xmlns:a="http://schemas.openxmlformats.org/drawingml/2006/main">
            <a:r>
              <a:t>            {</a:t>
            </a:r>
          </a:p>
          <a:p xmlns:a="http://schemas.openxmlformats.org/drawingml/2006/main">
            <a:r>
              <a:t>              "id": "RULEWORK-1022030-9-R03",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"RULEWORK-1022030-9-T03",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"1022010",</a:t>
            </a:r>
          </a:p>
          <a:p xmlns:a="http://schemas.openxmlformats.org/drawingml/2006/main">
            <a:r>
              <a:t>      "name": "자격교육처",</a:t>
            </a:r>
          </a:p>
          <a:p xmlns:a="http://schemas.openxmlformats.org/drawingml/2006/main">
            <a:r>
              <a:t>      "job": "자격·적성검사 운영",</a:t>
            </a:r>
          </a:p>
          <a:p xmlns:a="http://schemas.openxmlformats.org/drawingml/2006/main">
            <a:r>
              <a:t>      "indices": [</a:t>
            </a:r>
          </a:p>
          <a:p xmlns:a="http://schemas.openxmlformats.org/drawingml/2006/main">
            <a:r>
              <a:t>        20,</a:t>
            </a:r>
          </a:p>
          <a:p xmlns:a="http://schemas.openxmlformats.org/drawingml/2006/main">
            <a:r>
              <a:t>        31</a:t>
            </a:r>
          </a:p>
          <a:p xmlns:a="http://schemas.openxmlformats.org/drawingml/2006/main">
            <a:r>
              <a:t>      ],</a:t>
            </a:r>
          </a:p>
          <a:p xmlns:a="http://schemas.openxmlformats.org/drawingml/2006/main">
            <a:r>
              <a:t>      "duties": [</a:t>
            </a:r>
          </a:p>
          <a:p xmlns:a="http://schemas.openxmlformats.org/drawingml/2006/main">
            <a:r>
              <a:t>        "21. 운전적성정밀검사(신규, 특별, 버스‧택시‧화물 자격유지 등), 국가자격시험(버스, 화물, 택시, 교통안전관리자), 사업계획 수립 및 관련법령 개정 등 제도개선",</a:t>
            </a:r>
          </a:p>
          <a:p xmlns:a="http://schemas.openxmlformats.org/drawingml/2006/main">
            <a:r>
              <a:t>        "32. 화물․버스․택시 운전 및 교통안전관리자 자격증 발급 및 관리"</a:t>
            </a:r>
          </a:p>
          <a:p xmlns:a="http://schemas.openxmlformats.org/drawingml/2006/main">
            <a:r>
              <a:t>      ],</a:t>
            </a:r>
          </a:p>
          <a:p xmlns:a="http://schemas.openxmlformats.org/drawingml/2006/main">
            <a:r>
              <a:t>      "locator": "별표4 · T40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"RULEWORK-1022010-21",</a:t>
            </a:r>
          </a:p>
          <a:p xmlns:a="http://schemas.openxmlformats.org/drawingml/2006/main">
            <a:r>
              <a:t>          "text": "21. 운전적성정밀검사(신규, 특별, 버스‧택시‧화물 자격유지 등), 국가자격시험(버스, 화물, 택시, 교통안전관리자), 사업계획 수립 및 관련법령 개정 등 제도개선",</a:t>
            </a:r>
          </a:p>
          <a:p xmlns:a="http://schemas.openxmlformats.org/drawingml/2006/main">
            <a:r>
              <a:t>          "locator": "별표4 · T40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"RULEWORK-1022010-21-R01",</a:t>
            </a:r>
          </a:p>
          <a:p xmlns:a="http://schemas.openxmlformats.org/drawingml/2006/main">
            <a:r>
              <a:t>              "title": "업무 맥락·전용 지식 구성",</a:t>
            </a:r>
          </a:p>
          <a:p xmlns:a="http://schemas.openxmlformats.org/drawingml/2006/main">
            <a:r>
              <a:t>              "development": "종목·대상·기간별 요건·교육 안내 구성",</a:t>
            </a:r>
          </a:p>
          <a:p xmlns:a="http://schemas.openxmlformats.org/drawingml/2006/main">
            <a:r>
              <a:t>              "output": "요건·보완·일정·이수 확인표",</a:t>
            </a:r>
          </a:p>
          <a:p xmlns:a="http://schemas.openxmlformats.org/drawingml/2006/main">
            <a:r>
              <a:t>              "testId": "RULEWORK-1022010-21-T01",</a:t>
            </a:r>
          </a:p>
          <a:p xmlns:a="http://schemas.openxmlformats.org/drawingml/2006/main">
            <a:r>
              <a:t>              "criterion": "자격 요건·면제·기간·이수 기준 대조"</a:t>
            </a:r>
          </a:p>
          <a:p xmlns:a="http://schemas.openxmlformats.org/drawingml/2006/main">
            <a:r>
              <a:t>            },</a:t>
            </a:r>
          </a:p>
          <a:p xmlns:a="http://schemas.openxmlformats.org/drawingml/2006/main">
            <a:r>
              <a:t>            {</a:t>
            </a:r>
          </a:p>
          <a:p xmlns:a="http://schemas.openxmlformats.org/drawingml/2006/main">
            <a:r>
              <a:t>              "id": "RULEWORK-1022010-21-R02",</a:t>
            </a:r>
          </a:p>
          <a:p xmlns:a="http://schemas.openxmlformats.org/drawingml/2006/main">
            <a:r>
              <a:t>              "title": "업무건·역할·시스템 연결",</a:t>
            </a:r>
          </a:p>
          <a:p xmlns:a="http://schemas.openxmlformats.org/drawingml/2006/main">
            <a:r>
              <a:t>              "development": "접수–심사–시험–이수·발급 이력 연결",</a:t>
            </a:r>
          </a:p>
          <a:p xmlns:a="http://schemas.openxmlformats.org/drawingml/2006/main">
            <a:r>
              <a:t>              "output": "업무건·원천·역할·변경 연결 명세",</a:t>
            </a:r>
          </a:p>
          <a:p xmlns:a="http://schemas.openxmlformats.org/drawingml/2006/main">
            <a:r>
              <a:t>              "testId": "RULEWORK-1022010-21-T02",</a:t>
            </a:r>
          </a:p>
          <a:p xmlns:a="http://schemas.openxmlformats.org/drawingml/2006/main">
            <a:r>
              <a:t>              "criterion": "AI에 의한 응시 적격·성적·자격 발급 확정 차단"</a:t>
            </a:r>
          </a:p>
          <a:p xmlns:a="http://schemas.openxmlformats.org/drawingml/2006/main">
            <a:r>
              <a:t>            },</a:t>
            </a:r>
          </a:p>
          <a:p xmlns:a="http://schemas.openxmlformats.org/drawingml/2006/main">
            <a:r>
              <a:t>            {</a:t>
            </a:r>
          </a:p>
          <a:p xmlns:a="http://schemas.openxmlformats.org/drawingml/2006/main">
            <a:r>
              <a:t>              "id": "RULEWORK-1022010-21-R03",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"RULEWORK-1022010-21-T03",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"RULEWORK-1022010-32",</a:t>
            </a:r>
          </a:p>
          <a:p xmlns:a="http://schemas.openxmlformats.org/drawingml/2006/main">
            <a:r>
              <a:t>          "text": "32. 화물․버스․택시 운전 및 교통안전관리자 자격증 발급 및 관리",</a:t>
            </a:r>
          </a:p>
          <a:p xmlns:a="http://schemas.openxmlformats.org/drawingml/2006/main">
            <a:r>
              <a:t>          "locator": "별표4 · T40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"RULEWORK-1022010-32-R01",</a:t>
            </a:r>
          </a:p>
          <a:p xmlns:a="http://schemas.openxmlformats.org/drawingml/2006/main">
            <a:r>
              <a:t>              "title": "업무 맥락·전용 지식 구성",</a:t>
            </a:r>
          </a:p>
          <a:p xmlns:a="http://schemas.openxmlformats.org/drawingml/2006/main">
            <a:r>
              <a:t>              "development": "종목·대상·기간별 요건·교육 안내 구성",</a:t>
            </a:r>
          </a:p>
          <a:p xmlns:a="http://schemas.openxmlformats.org/drawingml/2006/main">
            <a:r>
              <a:t>              "output": "요건·보완·일정·이수 확인표",</a:t>
            </a:r>
          </a:p>
          <a:p xmlns:a="http://schemas.openxmlformats.org/drawingml/2006/main">
            <a:r>
              <a:t>              "testId": "RULEWORK-1022010-32-T01",</a:t>
            </a:r>
          </a:p>
          <a:p xmlns:a="http://schemas.openxmlformats.org/drawingml/2006/main">
            <a:r>
              <a:t>              "criterion": "자격 요건·면제·기간·이수 기준 대조"</a:t>
            </a:r>
          </a:p>
          <a:p xmlns:a="http://schemas.openxmlformats.org/drawingml/2006/main">
            <a:r>
              <a:t>            },</a:t>
            </a:r>
          </a:p>
          <a:p xmlns:a="http://schemas.openxmlformats.org/drawingml/2006/main">
            <a:r>
              <a:t>            {</a:t>
            </a:r>
          </a:p>
          <a:p xmlns:a="http://schemas.openxmlformats.org/drawingml/2006/main">
            <a:r>
              <a:t>              "id": "RULEWORK-1022010-32-R02",</a:t>
            </a:r>
          </a:p>
          <a:p xmlns:a="http://schemas.openxmlformats.org/drawingml/2006/main">
            <a:r>
              <a:t>              "title": "업무건·역할·시스템 연결",</a:t>
            </a:r>
          </a:p>
          <a:p xmlns:a="http://schemas.openxmlformats.org/drawingml/2006/main">
            <a:r>
              <a:t>              "development": "접수–심사–시험–이수·발급 이력 연결",</a:t>
            </a:r>
          </a:p>
          <a:p xmlns:a="http://schemas.openxmlformats.org/drawingml/2006/main">
            <a:r>
              <a:t>              "output": "업무건·원천·역할·변경 연결 명세",</a:t>
            </a:r>
          </a:p>
          <a:p xmlns:a="http://schemas.openxmlformats.org/drawingml/2006/main">
            <a:r>
              <a:t>              "testId": "RULEWORK-1022010-32-T02",</a:t>
            </a:r>
          </a:p>
          <a:p xmlns:a="http://schemas.openxmlformats.org/drawingml/2006/main">
            <a:r>
              <a:t>              "criterion": "AI에 의한 응시 적격·성적·자격 발급 확정 차단"</a:t>
            </a:r>
          </a:p>
          <a:p xmlns:a="http://schemas.openxmlformats.org/drawingml/2006/main">
            <a:r>
              <a:t>            },</a:t>
            </a:r>
          </a:p>
          <a:p xmlns:a="http://schemas.openxmlformats.org/drawingml/2006/main">
            <a:r>
              <a:t>            {</a:t>
            </a:r>
          </a:p>
          <a:p xmlns:a="http://schemas.openxmlformats.org/drawingml/2006/main">
            <a:r>
              <a:t>              "id": "RULEWORK-1022010-32-R03",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"RULEWORK-1022010-32-T03",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공개지식 검색·대화"</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"JET·Foundry의 필수 입력·절차 설계"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"음성 입력·발화 정리 연계",</a:t>
            </a:r>
          </a:p>
          <a:p xmlns:a="http://schemas.openxmlformats.org/drawingml/2006/main">
            <a:r>
              <a:t>    "서비스 라우터·메뉴/상담 복귀 경로"</a:t>
            </a:r>
          </a:p>
          <a:p xmlns:a="http://schemas.openxmlformats.org/drawingml/2006/main">
            <a:r>
              <a:t>  ],</a:t>
            </a:r>
          </a:p>
          <a:p xmlns:a="http://schemas.openxmlformats.org/drawingml/2006/main">
            <a:r>
              <a:t>  "acceptancePlan": {</a:t>
            </a:r>
          </a:p>
          <a:p xmlns:a="http://schemas.openxmlformats.org/drawingml/2006/main">
            <a:r>
              <a:t>    "sample": "고령·방언·소음·범위 밖 요청과 일반 사용자 과업",</a:t>
            </a:r>
          </a:p>
          <a:p xmlns:a="http://schemas.openxmlformats.org/drawingml/2006/main">
            <a:r>
              <a:t>    "criterion": "정확한 창구 연결·사용자 확인·내부자료 차단·상담 전환",</a:t>
            </a:r>
          </a:p>
          <a:p xmlns:a="http://schemas.openxmlformats.org/drawingml/2006/main">
            <a:r>
              <a:t>    "evidence": "사용자군별 과업 기록·도달률·오인계 결과",</a:t>
            </a:r>
          </a:p>
          <a:p xmlns:a="http://schemas.openxmlformats.org/drawingml/2006/main">
            <a:r>
              <a:t>    "execution": "미실행"</a:t>
            </a:r>
          </a:p>
          <a:p xmlns:a="http://schemas.openxmlformats.org/drawingml/2006/main">
            <a:r>
              <a:t>  },</a:t>
            </a:r>
          </a:p>
          <a:p xmlns:a="http://schemas.openxmlformats.org/drawingml/2006/main">
            <a:r>
              <a:t>  "formula": "정확한 서비스 도달 수 ÷ 전체 시도 수 / 사용자군별 완료시간·포기율",</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"PF-R02",</a:t>
            </a:r>
          </a:p>
          <a:p xmlns:a="http://schemas.openxmlformats.org/drawingml/2006/main">
            <a:r>
              <a:t>    "PF-R05",</a:t>
            </a:r>
          </a:p>
          <a:p xmlns:a="http://schemas.openxmlformats.org/drawingml/2006/main">
            <a:r>
              <a:t>    "PF-R07",</a:t>
            </a:r>
          </a:p>
          <a:p xmlns:a="http://schemas.openxmlformats.org/drawingml/2006/main">
            <a:r>
              <a:t>    "PF03",</a:t>
            </a:r>
          </a:p>
          <a:p xmlns:a="http://schemas.openxmlformats.org/drawingml/2006/main">
            <a:r>
              <a:t>    "PF07",</a:t>
            </a:r>
          </a:p>
          <a:p xmlns:a="http://schemas.openxmlformats.org/drawingml/2006/main">
            <a:r>
              <a:t>    "PF-A12",</a:t>
            </a:r>
          </a:p>
          <a:p xmlns:a="http://schemas.openxmlformats.org/drawingml/2006/main">
            <a:r>
              <a:t>    "PF31"</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"ST-08",</a:t>
            </a:r>
          </a:p>
          <a:p xmlns:a="http://schemas.openxmlformats.org/drawingml/2006/main">
            <a:r>
              <a:t>  "number": 8,</a:t>
            </a:r>
          </a:p>
          <a:p xmlns:a="http://schemas.openxmlformats.org/drawingml/2006/main">
            <a:r>
              <a:t>  "direction": "균형있는 국민체감 서비스 실현",</a:t>
            </a:r>
          </a:p>
          <a:p xmlns:a="http://schemas.openxmlformats.org/drawingml/2006/main">
            <a:r>
              <a:t>  "strategy": "생활 밀착형 이동 서비스 확대",</a:t>
            </a:r>
          </a:p>
          <a:p xmlns:a="http://schemas.openxmlformats.org/drawingml/2006/main">
            <a:r>
              <a:t>  "solution": "국민 이동·신청 절차 지원",</a:t>
            </a:r>
          </a:p>
          <a:p xmlns:a="http://schemas.openxmlformats.org/drawingml/2006/main">
            <a:r>
              <a:t>  "lawIds": [</a:t>
            </a:r>
          </a:p>
          <a:p xmlns:a="http://schemas.openxmlformats.org/drawingml/2006/main">
            <a:r>
              <a:t>    "L11",</a:t>
            </a:r>
          </a:p>
          <a:p xmlns:a="http://schemas.openxmlformats.org/drawingml/2006/main">
            <a:r>
              <a:t>    "L15",</a:t>
            </a:r>
          </a:p>
          <a:p xmlns:a="http://schemas.openxmlformats.org/drawingml/2006/main">
            <a:r>
              <a:t>    "L16",</a:t>
            </a:r>
          </a:p>
          <a:p xmlns:a="http://schemas.openxmlformats.org/drawingml/2006/main">
            <a:r>
              <a:t>    "L17"</a:t>
            </a:r>
          </a:p>
          <a:p xmlns:a="http://schemas.openxmlformats.org/drawingml/2006/main">
            <a:r>
              <a:t>  ],</a:t>
            </a:r>
          </a:p>
          <a:p xmlns:a="http://schemas.openxmlformats.org/drawingml/2006/main">
            <a:r>
              <a:t>  "codes": [</a:t>
            </a:r>
          </a:p>
          <a:p xmlns:a="http://schemas.openxmlformats.org/drawingml/2006/main">
            <a:r>
              <a:t>    "1019020",</a:t>
            </a:r>
          </a:p>
          <a:p xmlns:a="http://schemas.openxmlformats.org/drawingml/2006/main">
            <a:r>
              <a:t>    "1019010",</a:t>
            </a:r>
          </a:p>
          <a:p xmlns:a="http://schemas.openxmlformats.org/drawingml/2006/main">
            <a:r>
              <a:t>    "1022030",</a:t>
            </a:r>
          </a:p>
          <a:p xmlns:a="http://schemas.openxmlformats.org/drawingml/2006/main">
            <a:r>
              <a:t>    "1022010"</a:t>
            </a:r>
          </a:p>
          <a:p xmlns:a="http://schemas.openxmlformats.org/drawingml/2006/main">
            <a:r>
              <a:t>  ],</a:t>
            </a:r>
          </a:p>
          <a:p xmlns:a="http://schemas.openxmlformats.org/drawingml/2006/main">
            <a:r>
              <a:t>  "work": "이동정보·교통약자·자격·현장 서비스의 안내·인계",</a:t>
            </a:r>
          </a:p>
          <a:p xmlns:a="http://schemas.openxmlformats.org/drawingml/2006/main">
            <a:r>
              <a:t>  "features": [</a:t>
            </a:r>
          </a:p>
          <a:p xmlns:a="http://schemas.openxmlformats.org/drawingml/2006/main">
            <a:r>
              <a:t>    "이용 목적·지역별 절차·서류·담당 창구 구성",</a:t>
            </a:r>
          </a:p>
          <a:p xmlns:a="http://schemas.openxmlformats.org/drawingml/2006/main">
            <a:r>
              <a:t>    "국민 문의와 소관 부서 처리상태 연결"</a:t>
            </a:r>
          </a:p>
          <a:p xmlns:a="http://schemas.openxmlformats.org/drawingml/2006/main">
            <a:r>
              <a:t>  ],</a:t>
            </a:r>
          </a:p>
          <a:p xmlns:a="http://schemas.openxmlformats.org/drawingml/2006/main">
            <a:r>
              <a:t>  "output": "목적별 안내·필수서류·인계 기록",</a:t>
            </a:r>
          </a:p>
          <a:p xmlns:a="http://schemas.openxmlformats.org/drawingml/2006/main">
            <a:r>
              <a:t>  "acceptance": "공개 지식만 사용한 안내·기관 내부정보 차단·담당 창구 일치 확인",</a:t>
            </a:r>
          </a:p>
          <a:p xmlns:a="http://schemas.openxmlformats.org/drawingml/2006/main">
            <a:r>
              <a:t>  "phase": "공통 기반 인수 후 부서별 적용",</a:t>
            </a:r>
          </a:p>
          <a:p xmlns:a="http://schemas.openxmlformats.org/drawingml/2006/main">
            <a:r>
              <a:t>  "packages": [</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"GAI-T04",</a:t>
            </a:r>
          </a:p>
          <a:p xmlns:a="http://schemas.openxmlformats.org/drawingml/2006/main">
            <a:r>
              <a:t>    "GAI-T05",</a:t>
            </a:r>
          </a:p>
          <a:p xmlns:a="http://schemas.openxmlformats.org/drawingml/2006/main">
            <a:r>
              <a:t>    "GAI-T07"</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"이동정보·교통약자 조사",</a:t>
            </a:r>
          </a:p>
          <a:p xmlns:a="http://schemas.openxmlformats.org/drawingml/2006/main">
            <a:r>
              <a:t>      "indices": [</a:t>
            </a:r>
          </a:p>
          <a:p xmlns:a="http://schemas.openxmlformats.org/drawingml/2006/main">
            <a:r>
              <a:t>        2,</a:t>
            </a:r>
          </a:p>
          <a:p xmlns:a="http://schemas.openxmlformats.org/drawingml/2006/main">
            <a:r>
              <a:t>        22</a:t>
            </a:r>
          </a:p>
          <a:p xmlns:a="http://schemas.openxmlformats.org/drawingml/2006/main">
            <a:r>
              <a:t>      ],</a:t>
            </a:r>
          </a:p>
          <a:p xmlns:a="http://schemas.openxmlformats.org/drawingml/2006/main">
            <a:r>
              <a:t>      "duties": [</a:t>
            </a:r>
          </a:p>
          <a:p xmlns:a="http://schemas.openxmlformats.org/drawingml/2006/main">
            <a:r>
              <a:t>        "3. 수요응답형(DRT) 대중교통 시스템 구축 및 운영",</a:t>
            </a:r>
          </a:p>
          <a:p xmlns:a="http://schemas.openxmlformats.org/drawingml/2006/main">
            <a:r>
              <a:t>        "23. 교통약자 이동편의실태조사 및 자료관리"</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"대중교통 현황조사",</a:t>
            </a:r>
          </a:p>
          <a:p xmlns:a="http://schemas.openxmlformats.org/drawingml/2006/main">
            <a:r>
              <a:t>      "indices": [</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"7. 대중교통 현황조사에 관한 업무"</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"운수종사자 관리",</a:t>
            </a:r>
          </a:p>
          <a:p xmlns:a="http://schemas.openxmlformats.org/drawingml/2006/main">
            <a:r>
              <a:t>      "indices": [</a:t>
            </a:r>
          </a:p>
          <a:p xmlns:a="http://schemas.openxmlformats.org/drawingml/2006/main">
            <a:r>
              <a:t>        7,</a:t>
            </a:r>
          </a:p>
          <a:p xmlns:a="http://schemas.openxmlformats.org/drawingml/2006/main">
            <a:r>
              <a:t>        8</a:t>
            </a:r>
          </a:p>
          <a:p xmlns:a="http://schemas.openxmlformats.org/drawingml/2006/main">
            <a:r>
              <a:t>      ],</a:t>
            </a:r>
          </a:p>
          <a:p xmlns:a="http://schemas.openxmlformats.org/drawingml/2006/main">
            <a:r>
              <a:t>      "duties": [</a:t>
            </a:r>
          </a:p>
          <a:p xmlns:a="http://schemas.openxmlformats.org/drawingml/2006/main">
            <a:r>
              <a:t>        "8. 운수종사자 입․퇴사 정보, 교통사고정보 관리 및 부적격운전자 통보",</a:t>
            </a:r>
          </a:p>
          <a:p xmlns:a="http://schemas.openxmlformats.org/drawingml/2006/main">
            <a:r>
              <a:t>        "9. 운수종사자관리정보시스템 운영 및 관리"</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"1022010",</a:t>
            </a:r>
          </a:p>
          <a:p xmlns:a="http://schemas.openxmlformats.org/drawingml/2006/main">
            <a:r>
              <a:t>      "name": "자격교육처",</a:t>
            </a:r>
          </a:p>
          <a:p xmlns:a="http://schemas.openxmlformats.org/drawingml/2006/main">
            <a:r>
              <a:t>      "job": "자격·적성검사 운영",</a:t>
            </a:r>
          </a:p>
          <a:p xmlns:a="http://schemas.openxmlformats.org/drawingml/2006/main">
            <a:r>
              <a:t>      "indices": [</a:t>
            </a:r>
          </a:p>
          <a:p xmlns:a="http://schemas.openxmlformats.org/drawingml/2006/main">
            <a:r>
              <a:t>        20,</a:t>
            </a:r>
          </a:p>
          <a:p xmlns:a="http://schemas.openxmlformats.org/drawingml/2006/main">
            <a:r>
              <a:t>        31</a:t>
            </a:r>
          </a:p>
          <a:p xmlns:a="http://schemas.openxmlformats.org/drawingml/2006/main">
            <a:r>
              <a:t>      ],</a:t>
            </a:r>
          </a:p>
          <a:p xmlns:a="http://schemas.openxmlformats.org/drawingml/2006/main">
            <a:r>
              <a:t>      "duties": [</a:t>
            </a:r>
          </a:p>
          <a:p xmlns:a="http://schemas.openxmlformats.org/drawingml/2006/main">
            <a:r>
              <a:t>        "21. 운전적성정밀검사(신규, 특별, 버스‧택시‧화물 자격유지 등), 국가자격시험(버스, 화물, 택시, 교통안전관리자), 사업계획 수립 및 관련법령 개정 등 제도개선",</a:t>
            </a:r>
          </a:p>
          <a:p xmlns:a="http://schemas.openxmlformats.org/drawingml/2006/main">
            <a:r>
              <a:t>        "32. 화물․버스․택시 운전 및 교통안전관리자 자격증 발급 및 관리"</a:t>
            </a:r>
          </a:p>
          <a:p xmlns:a="http://schemas.openxmlformats.org/drawingml/2006/main">
            <a:r>
              <a:t>      ],</a:t>
            </a:r>
          </a:p>
          <a:p xmlns:a="http://schemas.openxmlformats.org/drawingml/2006/main">
            <a:r>
              <a:t>      "locator": "별표4 · T40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"법정 자격·조사·운행정보 업무의 안내·인계 지원 / 개별 지원사업 자격·지급 판정은 별도 과업",</a:t>
            </a:r>
          </a:p>
          <a:p xmlns:a="http://schemas.openxmlformats.org/drawingml/2006/main">
            <a:r>
              <a:t>  "caseRefs": [</a:t>
            </a:r>
          </a:p>
          <a:p xmlns:a="http://schemas.openxmlformats.org/drawingml/2006/main">
            <a:r>
              <a:t>    {</a:t>
            </a:r>
          </a:p>
          <a:p xmlns:a="http://schemas.openxmlformats.org/drawingml/2006/main">
            <a:r>
              <a:t>      "caseId": "AX01",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"AX02",</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"AX11",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"AX19",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"자연어·음성 이동 서비스 접점",</a:t>
            </a:r>
          </a:p>
          <a:p xmlns:a="http://schemas.openxmlformats.org/drawingml/2006/main">
            <a:r>
              <a:t>  "delta": "발화 정리·필수 항목 확인·소관 서비스 연결",</a:t>
            </a:r>
          </a:p>
          <a:p xmlns:a="http://schemas.openxmlformats.org/drawingml/2006/main">
            <a:r>
              <a:t>  "kpi": "정보약자 도달률 / 포기율",</a:t>
            </a:r>
          </a:p>
          <a:p xmlns:a="http://schemas.openxmlformats.org/drawingml/2006/main">
            <a:r>
              <a:t>  "validation": "기존 메뉴와 사용자군별 과업 비교·상담 전환",</a:t>
            </a:r>
          </a:p>
          <a:p xmlns:a="http://schemas.openxmlformats.org/drawingml/2006/main">
            <a:r>
              <a:t>  "requirement": "BM-ST-08-R01",</a:t>
            </a:r>
          </a:p>
          <a:p xmlns:a="http://schemas.openxmlformats.org/drawingml/2006/main">
            <a:r>
              <a:t>  "test": "BM-ST-08-T01",</a:t>
            </a:r>
          </a:p>
          <a:p xmlns:a="http://schemas.openxmlformats.org/drawingml/2006/main">
            <a:r>
              <a:t>  "effectStatus": "기대 방향 · TS 실측 전",</a:t>
            </a:r>
          </a:p>
          <a:p xmlns:a="http://schemas.openxmlformats.org/drawingml/2006/main">
            <a:r>
              <a:t>  "effect": "국민의 서비스 탐색·발화 재입력 감소",</a:t>
            </a:r>
          </a:p>
          <a:p xmlns:a="http://schemas.openxmlformats.org/drawingml/2006/main">
            <a:r>
              <a:t>  "reuse": "ON27-BASE / C27-COM + CCK 재사용 판정 기능",</a:t>
            </a:r>
          </a:p>
          <a:p xmlns:a="http://schemas.openxmlformats.org/drawingml/2006/main">
            <a:r>
              <a:t>  "input": "공개 서비스 목록, 지역·대상·필수서류, 텍스트·음성 요청",</a:t>
            </a:r>
          </a:p>
          <a:p xmlns:a="http://schemas.openxmlformats.org/drawingml/2006/main">
            <a:r>
              <a:t>  "steps": [</a:t>
            </a:r>
          </a:p>
          <a:p xmlns:a="http://schemas.openxmlformats.org/drawingml/2006/main">
            <a:r>
              <a:t>    "발화·업무 목적 정리",</a:t>
            </a:r>
          </a:p>
          <a:p xmlns:a="http://schemas.openxmlformats.org/drawingml/2006/main">
            <a:r>
              <a:t>    "이용자 필수 항목 확인",</a:t>
            </a:r>
          </a:p>
          <a:p xmlns:a="http://schemas.openxmlformats.org/drawingml/2006/main">
            <a:r>
              <a:t>    "소관·공식 서비스 연결",</a:t>
            </a:r>
          </a:p>
          <a:p xmlns:a="http://schemas.openxmlformats.org/drawingml/2006/main">
            <a:r>
              <a:t>    "인증·상담 인계·완료 확인"</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"1019020",</a:t>
            </a:r>
          </a:p>
          <a:p xmlns:a="http://schemas.openxmlformats.org/drawingml/2006/main">
            <a:r>
              <a:t>      "name": "모빌리티연구처",</a:t>
            </a:r>
          </a:p>
          <a:p xmlns:a="http://schemas.openxmlformats.org/drawingml/2006/main">
            <a:r>
              <a:t>      "job": "이동정보·교통약자 조사",</a:t>
            </a:r>
          </a:p>
          <a:p xmlns:a="http://schemas.openxmlformats.org/drawingml/2006/main">
            <a:r>
              <a:t>      "indices": [</a:t>
            </a:r>
          </a:p>
          <a:p xmlns:a="http://schemas.openxmlformats.org/drawingml/2006/main">
            <a:r>
              <a:t>        2,</a:t>
            </a:r>
          </a:p>
          <a:p xmlns:a="http://schemas.openxmlformats.org/drawingml/2006/main">
            <a:r>
              <a:t>        22</a:t>
            </a:r>
          </a:p>
          <a:p xmlns:a="http://schemas.openxmlformats.org/drawingml/2006/main">
            <a:r>
              <a:t>      ],</a:t>
            </a:r>
          </a:p>
          <a:p xmlns:a="http://schemas.openxmlformats.org/drawingml/2006/main">
            <a:r>
              <a:t>      "duties": [</a:t>
            </a:r>
          </a:p>
          <a:p xmlns:a="http://schemas.openxmlformats.org/drawingml/2006/main">
            <a:r>
              <a:t>        "3. 수요응답형(DRT) 대중교통 시스템 구축 및 운영",</a:t>
            </a:r>
          </a:p>
          <a:p xmlns:a="http://schemas.openxmlformats.org/drawingml/2006/main">
            <a:r>
              <a:t>        "23. 교통약자 이동편의실태조사 및 자료관리"</a:t>
            </a:r>
          </a:p>
          <a:p xmlns:a="http://schemas.openxmlformats.org/drawingml/2006/main">
            <a:r>
              <a:t>      ],</a:t>
            </a:r>
          </a:p>
          <a:p xmlns:a="http://schemas.openxmlformats.org/drawingml/2006/main">
            <a:r>
              <a:t>      "locator": "별표4 · T39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"RULEWORK-1019020-3",</a:t>
            </a:r>
          </a:p>
          <a:p xmlns:a="http://schemas.openxmlformats.org/drawingml/2006/main">
            <a:r>
              <a:t>          "text": "3. 수요응답형(DRT) 대중교통 시스템 구축 및 운영",</a:t>
            </a:r>
          </a:p>
          <a:p xmlns:a="http://schemas.openxmlformats.org/drawingml/2006/main">
            <a:r>
              <a:t>          "locator": "별표4 · T39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"RULEWORK-1019020-3-R01",</a:t>
            </a:r>
          </a:p>
          <a:p xmlns:a="http://schemas.openxmlformats.org/drawingml/2006/main">
            <a:r>
              <a:t>              "title": "업무 맥락·전용 지식 구성",</a:t>
            </a:r>
          </a:p>
          <a:p xmlns:a="http://schemas.openxmlformats.org/drawingml/2006/main">
            <a:r>
              <a:t>              "development": "지역·시간·배차 제약과 요청 맥락 분류",</a:t>
            </a:r>
          </a:p>
          <a:p xmlns:a="http://schemas.openxmlformats.org/drawingml/2006/main">
            <a:r>
              <a:t>              "output": "조건·예외·변경 요청·결과 대사표",</a:t>
            </a:r>
          </a:p>
          <a:p xmlns:a="http://schemas.openxmlformats.org/drawingml/2006/main">
            <a:r>
              <a:t>              "testId": "RULEWORK-1019020-3-T01",</a:t>
            </a:r>
          </a:p>
          <a:p xmlns:a="http://schemas.openxmlformats.org/drawingml/2006/main">
            <a:r>
              <a:t>              "criterion": "운영 상태·조건별 가능한 후보와 예외 정답 대조"</a:t>
            </a:r>
          </a:p>
          <a:p xmlns:a="http://schemas.openxmlformats.org/drawingml/2006/main">
            <a:r>
              <a:t>            },</a:t>
            </a:r>
          </a:p>
          <a:p xmlns:a="http://schemas.openxmlformats.org/drawingml/2006/main">
            <a:r>
              <a:t>            {</a:t>
            </a:r>
          </a:p>
          <a:p xmlns:a="http://schemas.openxmlformats.org/drawingml/2006/main">
            <a:r>
              <a:t>              "id": "RULEWORK-1019020-3-R02",</a:t>
            </a:r>
          </a:p>
          <a:p xmlns:a="http://schemas.openxmlformats.org/drawingml/2006/main">
            <a:r>
              <a:t>              "title": "업무건·역할·시스템 연결",</a:t>
            </a:r>
          </a:p>
          <a:p xmlns:a="http://schemas.openxmlformats.org/drawingml/2006/main">
            <a:r>
              <a:t>              "development": "기존 운영시스템 조회·승인 후 변경 결과 대사",</a:t>
            </a:r>
          </a:p>
          <a:p xmlns:a="http://schemas.openxmlformats.org/drawingml/2006/main">
            <a:r>
              <a:t>              "output": "업무건·원천·역할·변경 연결 명세",</a:t>
            </a:r>
          </a:p>
          <a:p xmlns:a="http://schemas.openxmlformats.org/drawingml/2006/main">
            <a:r>
              <a:t>              "testId": "RULEWORK-1019020-3-T02",</a:t>
            </a:r>
          </a:p>
          <a:p xmlns:a="http://schemas.openxmlformats.org/drawingml/2006/main">
            <a:r>
              <a:t>              "criterion": "운영자 확인 전 변경 및 중복 배차 요청 차단"</a:t>
            </a:r>
          </a:p>
          <a:p xmlns:a="http://schemas.openxmlformats.org/drawingml/2006/main">
            <a:r>
              <a:t>            },</a:t>
            </a:r>
          </a:p>
          <a:p xmlns:a="http://schemas.openxmlformats.org/drawingml/2006/main">
            <a:r>
              <a:t>            {</a:t>
            </a:r>
          </a:p>
          <a:p xmlns:a="http://schemas.openxmlformats.org/drawingml/2006/main">
            <a:r>
              <a:t>              "id": "RULEWORK-1019020-3-R03",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"RULEWORK-1019020-3-T03",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"RULEWORK-1019020-23",</a:t>
            </a:r>
          </a:p>
          <a:p xmlns:a="http://schemas.openxmlformats.org/drawingml/2006/main">
            <a:r>
              <a:t>          "text": "23. 교통약자 이동편의실태조사 및 자료관리",</a:t>
            </a:r>
          </a:p>
          <a:p xmlns:a="http://schemas.openxmlformats.org/drawingml/2006/main">
            <a:r>
              <a:t>          "locator": "별표4 · T39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"RULEWORK-1019020-23-R01",</a:t>
            </a:r>
          </a:p>
          <a:p xmlns:a="http://schemas.openxmlformats.org/drawingml/2006/main">
            <a:r>
              <a:t>              "title": "업무 맥락·전용 지식 구성",</a:t>
            </a:r>
          </a:p>
          <a:p xmlns:a="http://schemas.openxmlformats.org/drawingml/2006/main">
            <a:r>
              <a:t>              "development": "대상·항목·분모·기간별 자료 정합성 점검",</a:t>
            </a:r>
          </a:p>
          <a:p xmlns:a="http://schemas.openxmlformats.org/drawingml/2006/main">
            <a:r>
              <a:t>              "output": "증빙·보완·분석·공표 검토자료",</a:t>
            </a:r>
          </a:p>
          <a:p xmlns:a="http://schemas.openxmlformats.org/drawingml/2006/main">
            <a:r>
              <a:t>              "testId": "RULEWORK-1019020-23-T01",</a:t>
            </a:r>
          </a:p>
          <a:p xmlns:a="http://schemas.openxmlformats.org/drawingml/2006/main">
            <a:r>
              <a:t>              "criterion": "표본·분모·단위·기간과 분석 결과 재현"</a:t>
            </a:r>
          </a:p>
          <a:p xmlns:a="http://schemas.openxmlformats.org/drawingml/2006/main">
            <a:r>
              <a:t>            },</a:t>
            </a:r>
          </a:p>
          <a:p xmlns:a="http://schemas.openxmlformats.org/drawingml/2006/main">
            <a:r>
              <a:t>            {</a:t>
            </a:r>
          </a:p>
          <a:p xmlns:a="http://schemas.openxmlformats.org/drawingml/2006/main">
            <a:r>
              <a:t>              "id": "RULEWORK-1019020-23-R02",</a:t>
            </a:r>
          </a:p>
          <a:p xmlns:a="http://schemas.openxmlformats.org/drawingml/2006/main">
            <a:r>
              <a:t>              "title": "업무건·역할·시스템 연결",</a:t>
            </a:r>
          </a:p>
          <a:p xmlns:a="http://schemas.openxmlformats.org/drawingml/2006/main">
            <a:r>
              <a:t>              "development": "조사 원장·원본 증빙·공표 판본 연결",</a:t>
            </a:r>
          </a:p>
          <a:p xmlns:a="http://schemas.openxmlformats.org/drawingml/2006/main">
            <a:r>
              <a:t>              "output": "업무건·원천·역할·변경 연결 명세",</a:t>
            </a:r>
          </a:p>
          <a:p xmlns:a="http://schemas.openxmlformats.org/drawingml/2006/main">
            <a:r>
              <a:t>              "testId": "RULEWORK-1019020-23-T02",</a:t>
            </a:r>
          </a:p>
          <a:p xmlns:a="http://schemas.openxmlformats.org/drawingml/2006/main">
            <a:r>
              <a:t>              "criterion": "공식 공표 승인·개인정보 제한 검증"</a:t>
            </a:r>
          </a:p>
          <a:p xmlns:a="http://schemas.openxmlformats.org/drawingml/2006/main">
            <a:r>
              <a:t>            },</a:t>
            </a:r>
          </a:p>
          <a:p xmlns:a="http://schemas.openxmlformats.org/drawingml/2006/main">
            <a:r>
              <a:t>            {</a:t>
            </a:r>
          </a:p>
          <a:p xmlns:a="http://schemas.openxmlformats.org/drawingml/2006/main">
            <a:r>
              <a:t>              "id": "RULEWORK-1019020-23-R03",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"RULEWORK-1019020-23-T03",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"대중교통 현황조사",</a:t>
            </a:r>
          </a:p>
          <a:p xmlns:a="http://schemas.openxmlformats.org/drawingml/2006/main">
            <a:r>
              <a:t>      "indices": [</a:t>
            </a:r>
          </a:p>
          <a:p xmlns:a="http://schemas.openxmlformats.org/drawingml/2006/main">
            <a:r>
              <a:t>        6</a:t>
            </a:r>
          </a:p>
          <a:p xmlns:a="http://schemas.openxmlformats.org/drawingml/2006/main">
            <a:r>
              <a:t>      ],</a:t>
            </a:r>
          </a:p>
          <a:p xmlns:a="http://schemas.openxmlformats.org/drawingml/2006/main">
            <a:r>
              <a:t>      "duties": [</a:t>
            </a:r>
          </a:p>
          <a:p xmlns:a="http://schemas.openxmlformats.org/drawingml/2006/main">
            <a:r>
              <a:t>        "7. 대중교통 현황조사에 관한 업무"</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"RULEWORK-1019010-7",</a:t>
            </a:r>
          </a:p>
          <a:p xmlns:a="http://schemas.openxmlformats.org/drawingml/2006/main">
            <a:r>
              <a:t>          "text": "7. 대중교통 현황조사에 관한 업무",</a:t>
            </a:r>
          </a:p>
          <a:p xmlns:a="http://schemas.openxmlformats.org/drawingml/2006/main">
            <a:r>
              <a:t>          "locator": "별표4 · T41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"RULEWORK-1019010-7-R01",</a:t>
            </a:r>
          </a:p>
          <a:p xmlns:a="http://schemas.openxmlformats.org/drawingml/2006/main">
            <a:r>
              <a:t>              "title": "업무 맥락·전용 지식 구성",</a:t>
            </a:r>
          </a:p>
          <a:p xmlns:a="http://schemas.openxmlformats.org/drawingml/2006/main">
            <a:r>
              <a:t>              "development": "대상·항목·분모·기간별 자료 정합성 점검",</a:t>
            </a:r>
          </a:p>
          <a:p xmlns:a="http://schemas.openxmlformats.org/drawingml/2006/main">
            <a:r>
              <a:t>              "output": "증빙·보완·분석·공표 검토자료",</a:t>
            </a:r>
          </a:p>
          <a:p xmlns:a="http://schemas.openxmlformats.org/drawingml/2006/main">
            <a:r>
              <a:t>              "testId": "RULEWORK-1019010-7-T01",</a:t>
            </a:r>
          </a:p>
          <a:p xmlns:a="http://schemas.openxmlformats.org/drawingml/2006/main">
            <a:r>
              <a:t>              "criterion": "표본·분모·단위·기간과 분석 결과 재현"</a:t>
            </a:r>
          </a:p>
          <a:p xmlns:a="http://schemas.openxmlformats.org/drawingml/2006/main">
            <a:r>
              <a:t>            },</a:t>
            </a:r>
          </a:p>
          <a:p xmlns:a="http://schemas.openxmlformats.org/drawingml/2006/main">
            <a:r>
              <a:t>            {</a:t>
            </a:r>
          </a:p>
          <a:p xmlns:a="http://schemas.openxmlformats.org/drawingml/2006/main">
            <a:r>
              <a:t>              "id": "RULEWORK-1019010-7-R02",</a:t>
            </a:r>
          </a:p>
          <a:p xmlns:a="http://schemas.openxmlformats.org/drawingml/2006/main">
            <a:r>
              <a:t>              "title": "업무건·역할·시스템 연결",</a:t>
            </a:r>
          </a:p>
          <a:p xmlns:a="http://schemas.openxmlformats.org/drawingml/2006/main">
            <a:r>
              <a:t>              "development": "조사 원장·원본 증빙·공표 판본 연결",</a:t>
            </a:r>
          </a:p>
          <a:p xmlns:a="http://schemas.openxmlformats.org/drawingml/2006/main">
            <a:r>
              <a:t>              "output": "업무건·원천·역할·변경 연결 명세",</a:t>
            </a:r>
          </a:p>
          <a:p xmlns:a="http://schemas.openxmlformats.org/drawingml/2006/main">
            <a:r>
              <a:t>              "testId": "RULEWORK-1019010-7-T02",</a:t>
            </a:r>
          </a:p>
          <a:p xmlns:a="http://schemas.openxmlformats.org/drawingml/2006/main">
            <a:r>
              <a:t>              "criterion": "공식 공표 승인·개인정보 제한 검증"</a:t>
            </a:r>
          </a:p>
          <a:p xmlns:a="http://schemas.openxmlformats.org/drawingml/2006/main">
            <a:r>
              <a:t>            },</a:t>
            </a:r>
          </a:p>
          <a:p xmlns:a="http://schemas.openxmlformats.org/drawingml/2006/main">
            <a:r>
              <a:t>            {</a:t>
            </a:r>
          </a:p>
          <a:p xmlns:a="http://schemas.openxmlformats.org/drawingml/2006/main">
            <a:r>
              <a:t>              "id": "RULEWORK-1019010-7-R03",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"RULEWORK-1019010-7-T03",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"1022030",</a:t>
            </a:r>
          </a:p>
          <a:p xmlns:a="http://schemas.openxmlformats.org/drawingml/2006/main">
            <a:r>
              <a:t>      "name": "교통안전처",</a:t>
            </a:r>
          </a:p>
          <a:p xmlns:a="http://schemas.openxmlformats.org/drawingml/2006/main">
            <a:r>
              <a:t>      "job": "운수종사자 관리",</a:t>
            </a:r>
          </a:p>
          <a:p xmlns:a="http://schemas.openxmlformats.org/drawingml/2006/main">
            <a:r>
              <a:t>      "indices": [</a:t>
            </a:r>
          </a:p>
          <a:p xmlns:a="http://schemas.openxmlformats.org/drawingml/2006/main">
            <a:r>
              <a:t>        7,</a:t>
            </a:r>
          </a:p>
          <a:p xmlns:a="http://schemas.openxmlformats.org/drawingml/2006/main">
            <a:r>
              <a:t>        8</a:t>
            </a:r>
          </a:p>
          <a:p xmlns:a="http://schemas.openxmlformats.org/drawingml/2006/main">
            <a:r>
              <a:t>      ],</a:t>
            </a:r>
          </a:p>
          <a:p xmlns:a="http://schemas.openxmlformats.org/drawingml/2006/main">
            <a:r>
              <a:t>      "duties": [</a:t>
            </a:r>
          </a:p>
          <a:p xmlns:a="http://schemas.openxmlformats.org/drawingml/2006/main">
            <a:r>
              <a:t>        "8. 운수종사자 입․퇴사 정보, 교통사고정보 관리 및 부적격운전자 통보",</a:t>
            </a:r>
          </a:p>
          <a:p xmlns:a="http://schemas.openxmlformats.org/drawingml/2006/main">
            <a:r>
              <a:t>        "9. 운수종사자관리정보시스템 운영 및 관리"</a:t>
            </a:r>
          </a:p>
          <a:p xmlns:a="http://schemas.openxmlformats.org/drawingml/2006/main">
            <a:r>
              <a:t>      ],</a:t>
            </a:r>
          </a:p>
          <a:p xmlns:a="http://schemas.openxmlformats.org/drawingml/2006/main">
            <a:r>
              <a:t>      "locator": "별표4 · T40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"RULEWORK-1022030-8",</a:t>
            </a:r>
          </a:p>
          <a:p xmlns:a="http://schemas.openxmlformats.org/drawingml/2006/main">
            <a:r>
              <a:t>          "text": "8. 운수종사자 입․퇴사 정보, 교통사고정보 관리 및 부적격운전자 통보",</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"RULEWORK-1022030-8-R01",</a:t>
            </a:r>
          </a:p>
          <a:p xmlns:a="http://schemas.openxmlformats.org/drawingml/2006/main">
            <a:r>
              <a:t>              "title": "업무 맥락·전용 지식 구성",</a:t>
            </a:r>
          </a:p>
          <a:p xmlns:a="http://schemas.openxmlformats.org/drawingml/2006/main">
            <a:r>
              <a:t>              "development": "대상·관할별 위험·점검 항목 대응",</a:t>
            </a:r>
          </a:p>
          <a:p xmlns:a="http://schemas.openxmlformats.org/drawingml/2006/main">
            <a:r>
              <a:t>              "output": "지적·개선·인계·재확인 대장",</a:t>
            </a:r>
          </a:p>
          <a:p xmlns:a="http://schemas.openxmlformats.org/drawingml/2006/main">
            <a:r>
              <a:t>              "testId": "RULEWORK-1022030-8-T01",</a:t>
            </a:r>
          </a:p>
          <a:p xmlns:a="http://schemas.openxmlformats.org/drawingml/2006/main">
            <a:r>
              <a:t>              "criterion": "지적별 원문 증거·관할·누락 항목 대조"</a:t>
            </a:r>
          </a:p>
          <a:p xmlns:a="http://schemas.openxmlformats.org/drawingml/2006/main">
            <a:r>
              <a:t>            },</a:t>
            </a:r>
          </a:p>
          <a:p xmlns:a="http://schemas.openxmlformats.org/drawingml/2006/main">
            <a:r>
              <a:t>            {</a:t>
            </a:r>
          </a:p>
          <a:p xmlns:a="http://schemas.openxmlformats.org/drawingml/2006/main">
            <a:r>
              <a:t>              "id": "RULEWORK-1022030-8-R02",</a:t>
            </a:r>
          </a:p>
          <a:p xmlns:a="http://schemas.openxmlformats.org/drawingml/2006/main">
            <a:r>
              <a:t>              "title": "업무건·역할·시스템 연결",</a:t>
            </a:r>
          </a:p>
          <a:p xmlns:a="http://schemas.openxmlformats.org/drawingml/2006/main">
            <a:r>
              <a:t>              "development": "지적–조치–수락–재점검 이력 연결",</a:t>
            </a:r>
          </a:p>
          <a:p xmlns:a="http://schemas.openxmlformats.org/drawingml/2006/main">
            <a:r>
              <a:t>              "output": "업무건·원천·역할·변경 연결 명세",</a:t>
            </a:r>
          </a:p>
          <a:p xmlns:a="http://schemas.openxmlformats.org/drawingml/2006/main">
            <a:r>
              <a:t>              "testId": "RULEWORK-1022030-8-T02",</a:t>
            </a:r>
          </a:p>
          <a:p xmlns:a="http://schemas.openxmlformats.org/drawingml/2006/main">
            <a:r>
              <a:t>              "criterion": "미완료 조치·근거 없는 종결 차단"</a:t>
            </a:r>
          </a:p>
          <a:p xmlns:a="http://schemas.openxmlformats.org/drawingml/2006/main">
            <a:r>
              <a:t>            },</a:t>
            </a:r>
          </a:p>
          <a:p xmlns:a="http://schemas.openxmlformats.org/drawingml/2006/main">
            <a:r>
              <a:t>            {</a:t>
            </a:r>
          </a:p>
          <a:p xmlns:a="http://schemas.openxmlformats.org/drawingml/2006/main">
            <a:r>
              <a:t>              "id": "RULEWORK-1022030-8-R03",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"RULEWORK-1022030-8-T03",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"RULEWORK-1022030-9",</a:t>
            </a:r>
          </a:p>
          <a:p xmlns:a="http://schemas.openxmlformats.org/drawingml/2006/main">
            <a:r>
              <a:t>          "text": "9. 운수종사자관리정보시스템 운영 및 관리",</a:t>
            </a:r>
          </a:p>
          <a:p xmlns:a="http://schemas.openxmlformats.org/drawingml/2006/main">
            <a:r>
              <a:t>          "locator": "별표4 · T40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"RULEWORK-1022030-9-R01",</a:t>
            </a:r>
          </a:p>
          <a:p xmlns:a="http://schemas.openxmlformats.org/drawingml/2006/main">
            <a:r>
              <a:t>              "title": "업무 맥락·전용 지식 구성",</a:t>
            </a:r>
          </a:p>
          <a:p xmlns:a="http://schemas.openxmlformats.org/drawingml/2006/main">
            <a:r>
              <a:t>              "development": "시스템·변경·업무건 관계 추적",</a:t>
            </a:r>
          </a:p>
          <a:p xmlns:a="http://schemas.openxmlformats.org/drawingml/2006/main">
            <a:r>
              <a:t>              "output": "영향분석·조치·복구·대사 기록",</a:t>
            </a:r>
          </a:p>
          <a:p xmlns:a="http://schemas.openxmlformats.org/drawingml/2006/main">
            <a:r>
              <a:t>              "testId": "RULEWORK-1022030-9-T01",</a:t>
            </a:r>
          </a:p>
          <a:p xmlns:a="http://schemas.openxmlformats.org/drawingml/2006/main">
            <a:r>
              <a:t>              "criterion": "중복·누락·순서 역전·장애 사례의 결과 대조"</a:t>
            </a:r>
          </a:p>
          <a:p xmlns:a="http://schemas.openxmlformats.org/drawingml/2006/main">
            <a:r>
              <a:t>            },</a:t>
            </a:r>
          </a:p>
          <a:p xmlns:a="http://schemas.openxmlformats.org/drawingml/2006/main">
            <a:r>
              <a:t>            {</a:t>
            </a:r>
          </a:p>
          <a:p xmlns:a="http://schemas.openxmlformats.org/drawingml/2006/main">
            <a:r>
              <a:t>              "id": "RULEWORK-1022030-9-R02",</a:t>
            </a:r>
          </a:p>
          <a:p xmlns:a="http://schemas.openxmlformats.org/drawingml/2006/main">
            <a:r>
              <a:t>              "title": "업무건·역할·시스템 연결",</a:t>
            </a:r>
          </a:p>
          <a:p xmlns:a="http://schemas.openxmlformats.org/drawingml/2006/main">
            <a:r>
              <a:t>              "development": "멱등 요청·오류 재처리·승인된 연계 어댑터",</a:t>
            </a:r>
          </a:p>
          <a:p xmlns:a="http://schemas.openxmlformats.org/drawingml/2006/main">
            <a:r>
              <a:t>              "output": "업무건·원천·역할·변경 연결 명세",</a:t>
            </a:r>
          </a:p>
          <a:p xmlns:a="http://schemas.openxmlformats.org/drawingml/2006/main">
            <a:r>
              <a:t>              "testId": "RULEWORK-1022030-9-T02",</a:t>
            </a:r>
          </a:p>
          <a:p xmlns:a="http://schemas.openxmlformats.org/drawingml/2006/main">
            <a:r>
              <a:t>              "criterion": "무승인 변경·중복 실행 차단 및 복구 검증"</a:t>
            </a:r>
          </a:p>
          <a:p xmlns:a="http://schemas.openxmlformats.org/drawingml/2006/main">
            <a:r>
              <a:t>            },</a:t>
            </a:r>
          </a:p>
          <a:p xmlns:a="http://schemas.openxmlformats.org/drawingml/2006/main">
            <a:r>
              <a:t>            {</a:t>
            </a:r>
          </a:p>
          <a:p xmlns:a="http://schemas.openxmlformats.org/drawingml/2006/main">
            <a:r>
              <a:t>              "id": "RULEWORK-1022030-9-R03",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"RULEWORK-1022030-9-T03",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"1022010",</a:t>
            </a:r>
          </a:p>
          <a:p xmlns:a="http://schemas.openxmlformats.org/drawingml/2006/main">
            <a:r>
              <a:t>      "name": "자격교육처",</a:t>
            </a:r>
          </a:p>
          <a:p xmlns:a="http://schemas.openxmlformats.org/drawingml/2006/main">
            <a:r>
              <a:t>      "job": "자격·적성검사 운영",</a:t>
            </a:r>
          </a:p>
          <a:p xmlns:a="http://schemas.openxmlformats.org/drawingml/2006/main">
            <a:r>
              <a:t>      "indices": [</a:t>
            </a:r>
          </a:p>
          <a:p xmlns:a="http://schemas.openxmlformats.org/drawingml/2006/main">
            <a:r>
              <a:t>        20,</a:t>
            </a:r>
          </a:p>
          <a:p xmlns:a="http://schemas.openxmlformats.org/drawingml/2006/main">
            <a:r>
              <a:t>        31</a:t>
            </a:r>
          </a:p>
          <a:p xmlns:a="http://schemas.openxmlformats.org/drawingml/2006/main">
            <a:r>
              <a:t>      ],</a:t>
            </a:r>
          </a:p>
          <a:p xmlns:a="http://schemas.openxmlformats.org/drawingml/2006/main">
            <a:r>
              <a:t>      "duties": [</a:t>
            </a:r>
          </a:p>
          <a:p xmlns:a="http://schemas.openxmlformats.org/drawingml/2006/main">
            <a:r>
              <a:t>        "21. 운전적성정밀검사(신규, 특별, 버스‧택시‧화물 자격유지 등), 국가자격시험(버스, 화물, 택시, 교통안전관리자), 사업계획 수립 및 관련법령 개정 등 제도개선",</a:t>
            </a:r>
          </a:p>
          <a:p xmlns:a="http://schemas.openxmlformats.org/drawingml/2006/main">
            <a:r>
              <a:t>        "32. 화물․버스․택시 운전 및 교통안전관리자 자격증 발급 및 관리"</a:t>
            </a:r>
          </a:p>
          <a:p xmlns:a="http://schemas.openxmlformats.org/drawingml/2006/main">
            <a:r>
              <a:t>      ],</a:t>
            </a:r>
          </a:p>
          <a:p xmlns:a="http://schemas.openxmlformats.org/drawingml/2006/main">
            <a:r>
              <a:t>      "locator": "별표4 · T40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"RULEWORK-1022010-21",</a:t>
            </a:r>
          </a:p>
          <a:p xmlns:a="http://schemas.openxmlformats.org/drawingml/2006/main">
            <a:r>
              <a:t>          "text": "21. 운전적성정밀검사(신규, 특별, 버스‧택시‧화물 자격유지 등), 국가자격시험(버스, 화물, 택시, 교통안전관리자), 사업계획 수립 및 관련법령 개정 등 제도개선",</a:t>
            </a:r>
          </a:p>
          <a:p xmlns:a="http://schemas.openxmlformats.org/drawingml/2006/main">
            <a:r>
              <a:t>          "locator": "별표4 · T40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"RULEWORK-1022010-21-R01",</a:t>
            </a:r>
          </a:p>
          <a:p xmlns:a="http://schemas.openxmlformats.org/drawingml/2006/main">
            <a:r>
              <a:t>              "title": "업무 맥락·전용 지식 구성",</a:t>
            </a:r>
          </a:p>
          <a:p xmlns:a="http://schemas.openxmlformats.org/drawingml/2006/main">
            <a:r>
              <a:t>              "development": "종목·대상·기간별 요건·교육 안내 구성",</a:t>
            </a:r>
          </a:p>
          <a:p xmlns:a="http://schemas.openxmlformats.org/drawingml/2006/main">
            <a:r>
              <a:t>              "output": "요건·보완·일정·이수 확인표",</a:t>
            </a:r>
          </a:p>
          <a:p xmlns:a="http://schemas.openxmlformats.org/drawingml/2006/main">
            <a:r>
              <a:t>              "testId": "RULEWORK-1022010-21-T01",</a:t>
            </a:r>
          </a:p>
          <a:p xmlns:a="http://schemas.openxmlformats.org/drawingml/2006/main">
            <a:r>
              <a:t>              "criterion": "자격 요건·면제·기간·이수 기준 대조"</a:t>
            </a:r>
          </a:p>
          <a:p xmlns:a="http://schemas.openxmlformats.org/drawingml/2006/main">
            <a:r>
              <a:t>            },</a:t>
            </a:r>
          </a:p>
          <a:p xmlns:a="http://schemas.openxmlformats.org/drawingml/2006/main">
            <a:r>
              <a:t>            {</a:t>
            </a:r>
          </a:p>
          <a:p xmlns:a="http://schemas.openxmlformats.org/drawingml/2006/main">
            <a:r>
              <a:t>              "id": "RULEWORK-1022010-21-R02",</a:t>
            </a:r>
          </a:p>
          <a:p xmlns:a="http://schemas.openxmlformats.org/drawingml/2006/main">
            <a:r>
              <a:t>              "title": "업무건·역할·시스템 연결",</a:t>
            </a:r>
          </a:p>
          <a:p xmlns:a="http://schemas.openxmlformats.org/drawingml/2006/main">
            <a:r>
              <a:t>              "development": "접수–심사–시험–이수·발급 이력 연결",</a:t>
            </a:r>
          </a:p>
          <a:p xmlns:a="http://schemas.openxmlformats.org/drawingml/2006/main">
            <a:r>
              <a:t>              "output": "업무건·원천·역할·변경 연결 명세",</a:t>
            </a:r>
          </a:p>
          <a:p xmlns:a="http://schemas.openxmlformats.org/drawingml/2006/main">
            <a:r>
              <a:t>              "testId": "RULEWORK-1022010-21-T02",</a:t>
            </a:r>
          </a:p>
          <a:p xmlns:a="http://schemas.openxmlformats.org/drawingml/2006/main">
            <a:r>
              <a:t>              "criterion": "AI에 의한 응시 적격·성적·자격 발급 확정 차단"</a:t>
            </a:r>
          </a:p>
          <a:p xmlns:a="http://schemas.openxmlformats.org/drawingml/2006/main">
            <a:r>
              <a:t>            },</a:t>
            </a:r>
          </a:p>
          <a:p xmlns:a="http://schemas.openxmlformats.org/drawingml/2006/main">
            <a:r>
              <a:t>            {</a:t>
            </a:r>
          </a:p>
          <a:p xmlns:a="http://schemas.openxmlformats.org/drawingml/2006/main">
            <a:r>
              <a:t>              "id": "RULEWORK-1022010-21-R03",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"RULEWORK-1022010-21-T03",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"RULEWORK-1022010-32",</a:t>
            </a:r>
          </a:p>
          <a:p xmlns:a="http://schemas.openxmlformats.org/drawingml/2006/main">
            <a:r>
              <a:t>          "text": "32. 화물․버스․택시 운전 및 교통안전관리자 자격증 발급 및 관리",</a:t>
            </a:r>
          </a:p>
          <a:p xmlns:a="http://schemas.openxmlformats.org/drawingml/2006/main">
            <a:r>
              <a:t>          "locator": "별표4 · T40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"RULEWORK-1022010-32-R01",</a:t>
            </a:r>
          </a:p>
          <a:p xmlns:a="http://schemas.openxmlformats.org/drawingml/2006/main">
            <a:r>
              <a:t>              "title": "업무 맥락·전용 지식 구성",</a:t>
            </a:r>
          </a:p>
          <a:p xmlns:a="http://schemas.openxmlformats.org/drawingml/2006/main">
            <a:r>
              <a:t>              "development": "종목·대상·기간별 요건·교육 안내 구성",</a:t>
            </a:r>
          </a:p>
          <a:p xmlns:a="http://schemas.openxmlformats.org/drawingml/2006/main">
            <a:r>
              <a:t>              "output": "요건·보완·일정·이수 확인표",</a:t>
            </a:r>
          </a:p>
          <a:p xmlns:a="http://schemas.openxmlformats.org/drawingml/2006/main">
            <a:r>
              <a:t>              "testId": "RULEWORK-1022010-32-T01",</a:t>
            </a:r>
          </a:p>
          <a:p xmlns:a="http://schemas.openxmlformats.org/drawingml/2006/main">
            <a:r>
              <a:t>              "criterion": "자격 요건·면제·기간·이수 기준 대조"</a:t>
            </a:r>
          </a:p>
          <a:p xmlns:a="http://schemas.openxmlformats.org/drawingml/2006/main">
            <a:r>
              <a:t>            },</a:t>
            </a:r>
          </a:p>
          <a:p xmlns:a="http://schemas.openxmlformats.org/drawingml/2006/main">
            <a:r>
              <a:t>            {</a:t>
            </a:r>
          </a:p>
          <a:p xmlns:a="http://schemas.openxmlformats.org/drawingml/2006/main">
            <a:r>
              <a:t>              "id": "RULEWORK-1022010-32-R02",</a:t>
            </a:r>
          </a:p>
          <a:p xmlns:a="http://schemas.openxmlformats.org/drawingml/2006/main">
            <a:r>
              <a:t>              "title": "업무건·역할·시스템 연결",</a:t>
            </a:r>
          </a:p>
          <a:p xmlns:a="http://schemas.openxmlformats.org/drawingml/2006/main">
            <a:r>
              <a:t>              "development": "접수–심사–시험–이수·발급 이력 연결",</a:t>
            </a:r>
          </a:p>
          <a:p xmlns:a="http://schemas.openxmlformats.org/drawingml/2006/main">
            <a:r>
              <a:t>              "output": "업무건·원천·역할·변경 연결 명세",</a:t>
            </a:r>
          </a:p>
          <a:p xmlns:a="http://schemas.openxmlformats.org/drawingml/2006/main">
            <a:r>
              <a:t>              "testId": "RULEWORK-1022010-32-T02",</a:t>
            </a:r>
          </a:p>
          <a:p xmlns:a="http://schemas.openxmlformats.org/drawingml/2006/main">
            <a:r>
              <a:t>              "criterion": "AI에 의한 응시 적격·성적·자격 발급 확정 차단"</a:t>
            </a:r>
          </a:p>
          <a:p xmlns:a="http://schemas.openxmlformats.org/drawingml/2006/main">
            <a:r>
              <a:t>            },</a:t>
            </a:r>
          </a:p>
          <a:p xmlns:a="http://schemas.openxmlformats.org/drawingml/2006/main">
            <a:r>
              <a:t>            {</a:t>
            </a:r>
          </a:p>
          <a:p xmlns:a="http://schemas.openxmlformats.org/drawingml/2006/main">
            <a:r>
              <a:t>              "id": "RULEWORK-1022010-32-R03",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"RULEWORK-1022010-32-T03",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공개지식 검색·대화"</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"JET·Foundry의 필수 입력·절차 설계"</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"음성 입력·발화 정리 연계",</a:t>
            </a:r>
          </a:p>
          <a:p xmlns:a="http://schemas.openxmlformats.org/drawingml/2006/main">
            <a:r>
              <a:t>    "서비스 라우터·메뉴/상담 복귀 경로"</a:t>
            </a:r>
          </a:p>
          <a:p xmlns:a="http://schemas.openxmlformats.org/drawingml/2006/main">
            <a:r>
              <a:t>  ],</a:t>
            </a:r>
          </a:p>
          <a:p xmlns:a="http://schemas.openxmlformats.org/drawingml/2006/main">
            <a:r>
              <a:t>  "acceptancePlan": {</a:t>
            </a:r>
          </a:p>
          <a:p xmlns:a="http://schemas.openxmlformats.org/drawingml/2006/main">
            <a:r>
              <a:t>    "sample": "고령·방언·소음·범위 밖 요청과 일반 사용자 과업",</a:t>
            </a:r>
          </a:p>
          <a:p xmlns:a="http://schemas.openxmlformats.org/drawingml/2006/main">
            <a:r>
              <a:t>    "criterion": "정확한 창구 연결·사용자 확인·내부자료 차단·상담 전환",</a:t>
            </a:r>
          </a:p>
          <a:p xmlns:a="http://schemas.openxmlformats.org/drawingml/2006/main">
            <a:r>
              <a:t>    "evidence": "사용자군별 과업 기록·도달률·오인계 결과",</a:t>
            </a:r>
          </a:p>
          <a:p xmlns:a="http://schemas.openxmlformats.org/drawingml/2006/main">
            <a:r>
              <a:t>    "execution": "미실행"</a:t>
            </a:r>
          </a:p>
          <a:p xmlns:a="http://schemas.openxmlformats.org/drawingml/2006/main">
            <a:r>
              <a:t>  },</a:t>
            </a:r>
          </a:p>
          <a:p xmlns:a="http://schemas.openxmlformats.org/drawingml/2006/main">
            <a:r>
              <a:t>  "formula": "정확한 서비스 도달 수 ÷ 전체 시도 수 / 사용자군별 완료시간·포기율",</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"PF-R02",</a:t>
            </a:r>
          </a:p>
          <a:p xmlns:a="http://schemas.openxmlformats.org/drawingml/2006/main">
            <a:r>
              <a:t>    "PF-R05",</a:t>
            </a:r>
          </a:p>
          <a:p xmlns:a="http://schemas.openxmlformats.org/drawingml/2006/main">
            <a:r>
              <a:t>    "PF-R07",</a:t>
            </a:r>
          </a:p>
          <a:p xmlns:a="http://schemas.openxmlformats.org/drawingml/2006/main">
            <a:r>
              <a:t>    "PF03",</a:t>
            </a:r>
          </a:p>
          <a:p xmlns:a="http://schemas.openxmlformats.org/drawingml/2006/main">
            <a:r>
              <a:t>    "PF07",</a:t>
            </a:r>
          </a:p>
          <a:p xmlns:a="http://schemas.openxmlformats.org/drawingml/2006/main">
            <a:r>
              <a:t>    "PF-A12",</a:t>
            </a:r>
          </a:p>
          <a:p xmlns:a="http://schemas.openxmlformats.org/drawingml/2006/main">
            <a:r>
              <a:t>    "PF31"</a:t>
            </a:r>
          </a:p>
          <a:p xmlns:a="http://schemas.openxmlformats.org/drawingml/2006/main">
            <a:r>
              <a:t>  ]</a:t>
            </a:r>
          </a:p>
          <a:p xmlns:a="http://schemas.openxmlformats.org/drawingml/2006/main">
            <a:r>
              <a:t>}</a:t>
            </a:r>
          </a:p>
          <a:p xmlns:a="http://schemas.openxmlformats.org/drawingml/2006/main">
            <a:r>
              <a:t>CCK-01: NOA 사용자 가이드 확인. 설치본 기능시험 필요.</a:t>
            </a:r>
          </a:p>
          <a:p xmlns:a="http://schemas.openxmlformats.org/drawingml/2006/main">
            <a:r>
              <a:t>CCK-02/03: 명세 기반 재사용 후보. 실물 기능검증 필요.</a:t>
            </a:r>
          </a:p>
          <a:p xmlns:a="http://schemas.openxmlformats.org/drawingml/2006/main">
            <a:r>
              <a:t>기존 SSO·RAG·권한·로그·연계 범위 대조 후 추가분 산정.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"ST-09",</a:t>
            </a:r>
          </a:p>
          <a:p xmlns:a="http://schemas.openxmlformats.org/drawingml/2006/main">
            <a:r>
              <a:t>  "number": 9,</a:t>
            </a:r>
          </a:p>
          <a:p xmlns:a="http://schemas.openxmlformats.org/drawingml/2006/main">
            <a:r>
              <a:t>  "direction": "균형있는 국민체감 서비스 실현",</a:t>
            </a:r>
          </a:p>
          <a:p xmlns:a="http://schemas.openxmlformats.org/drawingml/2006/main">
            <a:r>
              <a:t>  "strategy": "민간·지역·산업 균형 성장 역동성 지원",</a:t>
            </a:r>
          </a:p>
          <a:p xmlns:a="http://schemas.openxmlformats.org/drawingml/2006/main">
            <a:r>
              <a:t>  "solution": "기업·지역 모빌리티 사업지원",</a:t>
            </a:r>
          </a:p>
          <a:p xmlns:a="http://schemas.openxmlformats.org/drawingml/2006/main">
            <a:r>
              <a:t>  "lawIds": [</a:t>
            </a:r>
          </a:p>
          <a:p xmlns:a="http://schemas.openxmlformats.org/drawingml/2006/main">
            <a:r>
              <a:t>    "L18",</a:t>
            </a:r>
          </a:p>
          <a:p xmlns:a="http://schemas.openxmlformats.org/drawingml/2006/main">
            <a:r>
              <a:t>    "L19"</a:t>
            </a:r>
          </a:p>
          <a:p xmlns:a="http://schemas.openxmlformats.org/drawingml/2006/main">
            <a:r>
              <a:t>  ],</a:t>
            </a:r>
          </a:p>
          <a:p xmlns:a="http://schemas.openxmlformats.org/drawingml/2006/main">
            <a:r>
              <a:t>  "codes": [</a:t>
            </a:r>
          </a:p>
          <a:p xmlns:a="http://schemas.openxmlformats.org/drawingml/2006/main">
            <a:r>
              <a:t>    "1019010",</a:t>
            </a:r>
          </a:p>
          <a:p xmlns:a="http://schemas.openxmlformats.org/drawingml/2006/main">
            <a:r>
              <a:t>    "1021020",</a:t>
            </a:r>
          </a:p>
          <a:p xmlns:a="http://schemas.openxmlformats.org/drawingml/2006/main">
            <a:r>
              <a:t>    "1021030"</a:t>
            </a:r>
          </a:p>
          <a:p xmlns:a="http://schemas.openxmlformats.org/drawingml/2006/main">
            <a:r>
              <a:t>  ],</a:t>
            </a:r>
          </a:p>
          <a:p xmlns:a="http://schemas.openxmlformats.org/drawingml/2006/main">
            <a:r>
              <a:t>  "work": "기업·지자체의 모빌리티 정책·규제특례·실증 지원",</a:t>
            </a:r>
          </a:p>
          <a:p xmlns:a="http://schemas.openxmlformats.org/drawingml/2006/main">
            <a:r>
              <a:t>  "features": [</a:t>
            </a:r>
          </a:p>
          <a:p xmlns:a="http://schemas.openxmlformats.org/drawingml/2006/main">
            <a:r>
              <a:t>    "사업유형별 신청요건·절차·증빙 점검",</a:t>
            </a:r>
          </a:p>
          <a:p xmlns:a="http://schemas.openxmlformats.org/drawingml/2006/main">
            <a:r>
              <a:t>    "기업·지역·본사 간 보완·검토·인계 추적"</a:t>
            </a:r>
          </a:p>
          <a:p xmlns:a="http://schemas.openxmlformats.org/drawingml/2006/main">
            <a:r>
              <a:t>  ],</a:t>
            </a:r>
          </a:p>
          <a:p xmlns:a="http://schemas.openxmlformats.org/drawingml/2006/main">
            <a:r>
              <a:t>  "output": "사업 준비·특례 검토 패키지",</a:t>
            </a:r>
          </a:p>
          <a:p xmlns:a="http://schemas.openxmlformats.org/drawingml/2006/main">
            <a:r>
              <a:t>  "acceptance": "기업·지역·사업별 제출요건 분류와 검토/승인 분리 확인",</a:t>
            </a:r>
          </a:p>
          <a:p xmlns:a="http://schemas.openxmlformats.org/drawingml/2006/main">
            <a:r>
              <a:t>  "phase": "공통 기반 인수 후 부서별 적용",</a:t>
            </a:r>
          </a:p>
          <a:p xmlns:a="http://schemas.openxmlformats.org/drawingml/2006/main">
            <a:r>
              <a:t>  "packages": [</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"GAI-T05",</a:t>
            </a:r>
          </a:p>
          <a:p xmlns:a="http://schemas.openxmlformats.org/drawingml/2006/main">
            <a:r>
              <a:t>    "GAI-T07",</a:t>
            </a:r>
          </a:p>
          <a:p xmlns:a="http://schemas.openxmlformats.org/drawingml/2006/main">
            <a:r>
              <a:t>    "GAI-T08"</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"모빌리티 정책·산업 지원",</a:t>
            </a:r>
          </a:p>
          <a:p xmlns:a="http://schemas.openxmlformats.org/drawingml/2006/main">
            <a:r>
              <a:t>      "indices":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"3. 모빌리티 정책지원 및 연구수행",</a:t>
            </a:r>
          </a:p>
          <a:p xmlns:a="http://schemas.openxmlformats.org/drawingml/2006/main">
            <a:r>
              <a:t>        "11. 모빌리티 산업활성화 지원 관련 협력 업무"</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"1021020",</a:t>
            </a:r>
          </a:p>
          <a:p xmlns:a="http://schemas.openxmlformats.org/drawingml/2006/main">
            <a:r>
              <a:t>      "name": "규제혁신처",</a:t>
            </a:r>
          </a:p>
          <a:p xmlns:a="http://schemas.openxmlformats.org/drawingml/2006/main">
            <a:r>
              <a:t>      "job": "기업 실증특례 지원",</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모빌리티 실증특례 접수 및 승인 지원",</a:t>
            </a:r>
          </a:p>
          <a:p xmlns:a="http://schemas.openxmlformats.org/drawingml/2006/main">
            <a:r>
              <a:t>        "10. 모빌리티 실증특례 사업지원"</a:t>
            </a:r>
          </a:p>
          <a:p xmlns:a="http://schemas.openxmlformats.org/drawingml/2006/main">
            <a:r>
              <a:t>      ],</a:t>
            </a:r>
          </a:p>
          <a:p xmlns:a="http://schemas.openxmlformats.org/drawingml/2006/main">
            <a:r>
              <a:t>      "locator": "별표4 · T41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"지역 특화·시범사업 지원",</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모빌리티 특화도시 사업지원",</a:t>
            </a:r>
          </a:p>
          <a:p xmlns:a="http://schemas.openxmlformats.org/drawingml/2006/main">
            <a:r>
              <a:t>        "2. 모빌리티 시범도시 사업지원"</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"연결 법령의 해당 사무 + 참여 부서별 별표4 업무분장 / 개인별 전결·권한의 별도 매핑",</a:t>
            </a:r>
          </a:p>
          <a:p xmlns:a="http://schemas.openxmlformats.org/drawingml/2006/main">
            <a:r>
              <a:t>  "caseRefs": [</a:t>
            </a:r>
          </a:p>
          <a:p xmlns:a="http://schemas.openxmlformats.org/drawingml/2006/main">
            <a:r>
              <a:t>    {</a:t>
            </a:r>
          </a:p>
          <a:p xmlns:a="http://schemas.openxmlformats.org/drawingml/2006/main">
            <a:r>
              <a:t>      "caseId": "AX01",</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"AX07",</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"AX24",</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"지역·산업 지원 검토 근거",</a:t>
            </a:r>
          </a:p>
          <a:p xmlns:a="http://schemas.openxmlformats.org/drawingml/2006/main">
            <a:r>
              <a:t>  "delta": "지역 수요·지원 조건·실증 증빙 매핑",</a:t>
            </a:r>
          </a:p>
          <a:p xmlns:a="http://schemas.openxmlformats.org/drawingml/2006/main">
            <a:r>
              <a:t>  "kpi": "검토시간 / 근거 누락률",</a:t>
            </a:r>
          </a:p>
          <a:p xmlns:a="http://schemas.openxmlformats.org/drawingml/2006/main">
            <a:r>
              <a:t>  "validation": "지역별 기준·지원조건 차이와 보류 처리 검증",</a:t>
            </a:r>
          </a:p>
          <a:p xmlns:a="http://schemas.openxmlformats.org/drawingml/2006/main">
            <a:r>
              <a:t>  "requirement": "BM-ST-09-R01",</a:t>
            </a:r>
          </a:p>
          <a:p xmlns:a="http://schemas.openxmlformats.org/drawingml/2006/main">
            <a:r>
              <a:t>  "test": "BM-ST-09-T01",</a:t>
            </a:r>
          </a:p>
          <a:p xmlns:a="http://schemas.openxmlformats.org/drawingml/2006/main">
            <a:r>
              <a:t>  "effectStatus": "기대 방향 · TS 실측 전",</a:t>
            </a:r>
          </a:p>
          <a:p xmlns:a="http://schemas.openxmlformats.org/drawingml/2006/main">
            <a:r>
              <a:t>  "effect": "신청 보완 반복·지원 검토시간 감소",</a:t>
            </a:r>
          </a:p>
          <a:p xmlns:a="http://schemas.openxmlformats.org/drawingml/2006/main">
            <a:r>
              <a:t>  "reuse": "ON27-BASE / C27-COM + CCK 재사용 판정 기능",</a:t>
            </a:r>
          </a:p>
          <a:p xmlns:a="http://schemas.openxmlformats.org/drawingml/2006/main">
            <a:r>
              <a:t>  "input": "지역·기업 신청자료, 규제특례 조건, 실증계획·보완 이력",</a:t>
            </a:r>
          </a:p>
          <a:p xmlns:a="http://schemas.openxmlformats.org/drawingml/2006/main">
            <a:r>
              <a:t>  "steps": [</a:t>
            </a:r>
          </a:p>
          <a:p xmlns:a="http://schemas.openxmlformats.org/drawingml/2006/main">
            <a:r>
              <a:t>    "지역·사업 유형 분류",</a:t>
            </a:r>
          </a:p>
          <a:p xmlns:a="http://schemas.openxmlformats.org/drawingml/2006/main">
            <a:r>
              <a:t>    "해당 신청요건 대조",</a:t>
            </a:r>
          </a:p>
          <a:p xmlns:a="http://schemas.openxmlformats.org/drawingml/2006/main">
            <a:r>
              <a:t>    "누락·조건 충돌 확인",</a:t>
            </a:r>
          </a:p>
          <a:p xmlns:a="http://schemas.openxmlformats.org/drawingml/2006/main">
            <a:r>
              <a:t>    "담당 검토·보완 인계"</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"모빌리티 정책·산업 지원",</a:t>
            </a:r>
          </a:p>
          <a:p xmlns:a="http://schemas.openxmlformats.org/drawingml/2006/main">
            <a:r>
              <a:t>      "indices":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"3. 모빌리티 정책지원 및 연구수행",</a:t>
            </a:r>
          </a:p>
          <a:p xmlns:a="http://schemas.openxmlformats.org/drawingml/2006/main">
            <a:r>
              <a:t>        "11. 모빌리티 산업활성화 지원 관련 협력 업무"</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"RULEWORK-1019010-3",</a:t>
            </a:r>
          </a:p>
          <a:p xmlns:a="http://schemas.openxmlformats.org/drawingml/2006/main">
            <a:r>
              <a:t>          "text": "3. 모빌리티 정책지원 및 연구수행",</a:t>
            </a:r>
          </a:p>
          <a:p xmlns:a="http://schemas.openxmlformats.org/drawingml/2006/main">
            <a:r>
              <a:t>          "locator": "별표4 · T41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"RULEWORK-1019010-3-R01",</a:t>
            </a:r>
          </a:p>
          <a:p xmlns:a="http://schemas.openxmlformats.org/drawingml/2006/main">
            <a:r>
              <a:t>              "title": "업무 맥락·전용 지식 구성",</a:t>
            </a:r>
          </a:p>
          <a:p xmlns:a="http://schemas.openxmlformats.org/drawingml/2006/main">
            <a:r>
              <a:t>              "development": "대상·항목·분모·기간별 자료 정합성 점검",</a:t>
            </a:r>
          </a:p>
          <a:p xmlns:a="http://schemas.openxmlformats.org/drawingml/2006/main">
            <a:r>
              <a:t>              "output": "증빙·보완·분석·공표 검토자료",</a:t>
            </a:r>
          </a:p>
          <a:p xmlns:a="http://schemas.openxmlformats.org/drawingml/2006/main">
            <a:r>
              <a:t>              "testId": "RULEWORK-1019010-3-T01",</a:t>
            </a:r>
          </a:p>
          <a:p xmlns:a="http://schemas.openxmlformats.org/drawingml/2006/main">
            <a:r>
              <a:t>              "criterion": "표본·분모·단위·기간과 분석 결과 재현"</a:t>
            </a:r>
          </a:p>
          <a:p xmlns:a="http://schemas.openxmlformats.org/drawingml/2006/main">
            <a:r>
              <a:t>            },</a:t>
            </a:r>
          </a:p>
          <a:p xmlns:a="http://schemas.openxmlformats.org/drawingml/2006/main">
            <a:r>
              <a:t>            {</a:t>
            </a:r>
          </a:p>
          <a:p xmlns:a="http://schemas.openxmlformats.org/drawingml/2006/main">
            <a:r>
              <a:t>              "id": "RULEWORK-1019010-3-R02",</a:t>
            </a:r>
          </a:p>
          <a:p xmlns:a="http://schemas.openxmlformats.org/drawingml/2006/main">
            <a:r>
              <a:t>              "title": "업무건·역할·시스템 연결",</a:t>
            </a:r>
          </a:p>
          <a:p xmlns:a="http://schemas.openxmlformats.org/drawingml/2006/main">
            <a:r>
              <a:t>              "development": "조사 원장·원본 증빙·공표 판본 연결",</a:t>
            </a:r>
          </a:p>
          <a:p xmlns:a="http://schemas.openxmlformats.org/drawingml/2006/main">
            <a:r>
              <a:t>              "output": "업무건·원천·역할·변경 연결 명세",</a:t>
            </a:r>
          </a:p>
          <a:p xmlns:a="http://schemas.openxmlformats.org/drawingml/2006/main">
            <a:r>
              <a:t>              "testId": "RULEWORK-1019010-3-T02",</a:t>
            </a:r>
          </a:p>
          <a:p xmlns:a="http://schemas.openxmlformats.org/drawingml/2006/main">
            <a:r>
              <a:t>              "criterion": "공식 공표 승인·개인정보 제한 검증"</a:t>
            </a:r>
          </a:p>
          <a:p xmlns:a="http://schemas.openxmlformats.org/drawingml/2006/main">
            <a:r>
              <a:t>            },</a:t>
            </a:r>
          </a:p>
          <a:p xmlns:a="http://schemas.openxmlformats.org/drawingml/2006/main">
            <a:r>
              <a:t>            {</a:t>
            </a:r>
          </a:p>
          <a:p xmlns:a="http://schemas.openxmlformats.org/drawingml/2006/main">
            <a:r>
              <a:t>              "id": "RULEWORK-1019010-3-R03",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"RULEWORK-1019010-3-T03",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"RULEWORK-1019010-10",</a:t>
            </a:r>
          </a:p>
          <a:p xmlns:a="http://schemas.openxmlformats.org/drawingml/2006/main">
            <a:r>
              <a:t>          "text": "11. 모빌리티 산업활성화 지원 관련 협력 업무",</a:t>
            </a:r>
          </a:p>
          <a:p xmlns:a="http://schemas.openxmlformats.org/drawingml/2006/main">
            <a:r>
              <a:t>          "locator": "별표4 · T41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"RULEWORK-1019010-10-R01",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"RULEWORK-1019010-10-T01",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"RULEWORK-1019010-10-R02",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"RULEWORK-1019010-10-T02",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"RULEWORK-1019010-10-R03",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"RULEWORK-1019010-10-T03",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"1021020",</a:t>
            </a:r>
          </a:p>
          <a:p xmlns:a="http://schemas.openxmlformats.org/drawingml/2006/main">
            <a:r>
              <a:t>      "name": "규제혁신처",</a:t>
            </a:r>
          </a:p>
          <a:p xmlns:a="http://schemas.openxmlformats.org/drawingml/2006/main">
            <a:r>
              <a:t>      "job": "기업 실증특례 지원",</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모빌리티 실증특례 접수 및 승인 지원",</a:t>
            </a:r>
          </a:p>
          <a:p xmlns:a="http://schemas.openxmlformats.org/drawingml/2006/main">
            <a:r>
              <a:t>        "10. 모빌리티 실증특례 사업지원"</a:t>
            </a:r>
          </a:p>
          <a:p xmlns:a="http://schemas.openxmlformats.org/drawingml/2006/main">
            <a:r>
              <a:t>      ],</a:t>
            </a:r>
          </a:p>
          <a:p xmlns:a="http://schemas.openxmlformats.org/drawingml/2006/main">
            <a:r>
              <a:t>      "locator": "별표4 · T41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"RULEWORK-1021020-2",</a:t>
            </a:r>
          </a:p>
          <a:p xmlns:a="http://schemas.openxmlformats.org/drawingml/2006/main">
            <a:r>
              <a:t>          "text": "2. 모빌리티 실증특례 접수 및 승인 지원",</a:t>
            </a:r>
          </a:p>
          <a:p xmlns:a="http://schemas.openxmlformats.org/drawingml/2006/main">
            <a:r>
              <a:t>          "locator": "별표4 · T41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"RULEWORK-1021020-2-R01",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"RULEWORK-1021020-2-T01",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"RULEWORK-1021020-2-R02",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"RULEWORK-1021020-2-T02",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"RULEWORK-1021020-2-R03",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"RULEWORK-1021020-2-T03",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"RULEWORK-1021020-10",</a:t>
            </a:r>
          </a:p>
          <a:p xmlns:a="http://schemas.openxmlformats.org/drawingml/2006/main">
            <a:r>
              <a:t>          "text": "10. 모빌리티 실증특례 사업지원",</a:t>
            </a:r>
          </a:p>
          <a:p xmlns:a="http://schemas.openxmlformats.org/drawingml/2006/main">
            <a:r>
              <a:t>          "locator": "별표4 · T41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"RULEWORK-1021020-10-R01",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"RULEWORK-1021020-10-T01",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"RULEWORK-1021020-10-R02",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"RULEWORK-1021020-10-T02",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"RULEWORK-1021020-10-R03",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"RULEWORK-1021020-10-T03",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"지역 특화·시범사업 지원",</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모빌리티 특화도시 사업지원",</a:t>
            </a:r>
          </a:p>
          <a:p xmlns:a="http://schemas.openxmlformats.org/drawingml/2006/main">
            <a:r>
              <a:t>        "2. 모빌리티 시범도시 사업지원"</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"RULEWORK-1021030-1",</a:t>
            </a:r>
          </a:p>
          <a:p xmlns:a="http://schemas.openxmlformats.org/drawingml/2006/main">
            <a:r>
              <a:t>          "text": "1. 모빌리티 특화도시 사업지원",</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"RULEWORK-1021030-1-R01",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"RULEWORK-1021030-1-T01",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"RULEWORK-1021030-1-R02",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"RULEWORK-1021030-1-T02",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"RULEWORK-1021030-2",</a:t>
            </a:r>
          </a:p>
          <a:p xmlns:a="http://schemas.openxmlformats.org/drawingml/2006/main">
            <a:r>
              <a:t>          "text": "2. 모빌리티 시범도시 사업지원",</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"RULEWORK-1021030-2-R01",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"RULEWORK-1021030-2-T01",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"RULEWORK-1021030-2-R02",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"RULEWORK-1021030-2-T02",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요건 검색·서식 초안"</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"Audin·Foundry의 증빙·절차 검토"</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"지역·사업별 적용요건 사전",</a:t>
            </a:r>
          </a:p>
          <a:p xmlns:a="http://schemas.openxmlformats.org/drawingml/2006/main">
            <a:r>
              <a:t>    "신청–보완–검토 사건 연결"</a:t>
            </a:r>
          </a:p>
          <a:p xmlns:a="http://schemas.openxmlformats.org/drawingml/2006/main">
            <a:r>
              <a:t>  ],</a:t>
            </a:r>
          </a:p>
          <a:p xmlns:a="http://schemas.openxmlformats.org/drawingml/2006/main">
            <a:r>
              <a:t>  "acceptancePlan": {</a:t>
            </a:r>
          </a:p>
          <a:p xmlns:a="http://schemas.openxmlformats.org/drawingml/2006/main">
            <a:r>
              <a:t>    "sample": "다른 지역 요건, 만료 특례, 누락 실증자료",</a:t>
            </a:r>
          </a:p>
          <a:p xmlns:a="http://schemas.openxmlformats.org/drawingml/2006/main">
            <a:r>
              <a:t>    "criterion": "해당 조건만 적용·근거 제시·판정 보류",</a:t>
            </a:r>
          </a:p>
          <a:p xmlns:a="http://schemas.openxmlformats.org/drawingml/2006/main">
            <a:r>
              <a:t>    "evidence": "요건 대조표·보완 이력·검토자 기록",</a:t>
            </a:r>
          </a:p>
          <a:p xmlns:a="http://schemas.openxmlformats.org/drawingml/2006/main">
            <a:r>
              <a:t>    "execution": "미실행"</a:t>
            </a:r>
          </a:p>
          <a:p xmlns:a="http://schemas.openxmlformats.org/drawingml/2006/main">
            <a:r>
              <a:t>  },</a:t>
            </a:r>
          </a:p>
          <a:p xmlns:a="http://schemas.openxmlformats.org/drawingml/2006/main">
            <a:r>
              <a:t>  "formula": "신청건당 보완 횟수 / 검토 완료시간; 지역경제 효과는 별도 평가",</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"PF-R05",</a:t>
            </a:r>
          </a:p>
          <a:p xmlns:a="http://schemas.openxmlformats.org/drawingml/2006/main">
            <a:r>
              <a:t>    "PF-A03",</a:t>
            </a:r>
          </a:p>
          <a:p xmlns:a="http://schemas.openxmlformats.org/drawingml/2006/main">
            <a:r>
              <a:t>    "PF-A14"</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"ST-09",</a:t>
            </a:r>
          </a:p>
          <a:p xmlns:a="http://schemas.openxmlformats.org/drawingml/2006/main">
            <a:r>
              <a:t>  "number": 9,</a:t>
            </a:r>
          </a:p>
          <a:p xmlns:a="http://schemas.openxmlformats.org/drawingml/2006/main">
            <a:r>
              <a:t>  "direction": "균형있는 국민체감 서비스 실현",</a:t>
            </a:r>
          </a:p>
          <a:p xmlns:a="http://schemas.openxmlformats.org/drawingml/2006/main">
            <a:r>
              <a:t>  "strategy": "민간·지역·산업 균형 성장 역동성 지원",</a:t>
            </a:r>
          </a:p>
          <a:p xmlns:a="http://schemas.openxmlformats.org/drawingml/2006/main">
            <a:r>
              <a:t>  "solution": "기업·지역 모빌리티 사업지원",</a:t>
            </a:r>
          </a:p>
          <a:p xmlns:a="http://schemas.openxmlformats.org/drawingml/2006/main">
            <a:r>
              <a:t>  "lawIds": [</a:t>
            </a:r>
          </a:p>
          <a:p xmlns:a="http://schemas.openxmlformats.org/drawingml/2006/main">
            <a:r>
              <a:t>    "L18",</a:t>
            </a:r>
          </a:p>
          <a:p xmlns:a="http://schemas.openxmlformats.org/drawingml/2006/main">
            <a:r>
              <a:t>    "L19"</a:t>
            </a:r>
          </a:p>
          <a:p xmlns:a="http://schemas.openxmlformats.org/drawingml/2006/main">
            <a:r>
              <a:t>  ],</a:t>
            </a:r>
          </a:p>
          <a:p xmlns:a="http://schemas.openxmlformats.org/drawingml/2006/main">
            <a:r>
              <a:t>  "codes": [</a:t>
            </a:r>
          </a:p>
          <a:p xmlns:a="http://schemas.openxmlformats.org/drawingml/2006/main">
            <a:r>
              <a:t>    "1019010",</a:t>
            </a:r>
          </a:p>
          <a:p xmlns:a="http://schemas.openxmlformats.org/drawingml/2006/main">
            <a:r>
              <a:t>    "1021020",</a:t>
            </a:r>
          </a:p>
          <a:p xmlns:a="http://schemas.openxmlformats.org/drawingml/2006/main">
            <a:r>
              <a:t>    "1021030"</a:t>
            </a:r>
          </a:p>
          <a:p xmlns:a="http://schemas.openxmlformats.org/drawingml/2006/main">
            <a:r>
              <a:t>  ],</a:t>
            </a:r>
          </a:p>
          <a:p xmlns:a="http://schemas.openxmlformats.org/drawingml/2006/main">
            <a:r>
              <a:t>  "work": "기업·지자체의 모빌리티 정책·규제특례·실증 지원",</a:t>
            </a:r>
          </a:p>
          <a:p xmlns:a="http://schemas.openxmlformats.org/drawingml/2006/main">
            <a:r>
              <a:t>  "features": [</a:t>
            </a:r>
          </a:p>
          <a:p xmlns:a="http://schemas.openxmlformats.org/drawingml/2006/main">
            <a:r>
              <a:t>    "사업유형별 신청요건·절차·증빙 점검",</a:t>
            </a:r>
          </a:p>
          <a:p xmlns:a="http://schemas.openxmlformats.org/drawingml/2006/main">
            <a:r>
              <a:t>    "기업·지역·본사 간 보완·검토·인계 추적"</a:t>
            </a:r>
          </a:p>
          <a:p xmlns:a="http://schemas.openxmlformats.org/drawingml/2006/main">
            <a:r>
              <a:t>  ],</a:t>
            </a:r>
          </a:p>
          <a:p xmlns:a="http://schemas.openxmlformats.org/drawingml/2006/main">
            <a:r>
              <a:t>  "output": "사업 준비·특례 검토 패키지",</a:t>
            </a:r>
          </a:p>
          <a:p xmlns:a="http://schemas.openxmlformats.org/drawingml/2006/main">
            <a:r>
              <a:t>  "acceptance": "기업·지역·사업별 제출요건 분류와 검토/승인 분리 확인",</a:t>
            </a:r>
          </a:p>
          <a:p xmlns:a="http://schemas.openxmlformats.org/drawingml/2006/main">
            <a:r>
              <a:t>  "phase": "공통 기반 인수 후 부서별 적용",</a:t>
            </a:r>
          </a:p>
          <a:p xmlns:a="http://schemas.openxmlformats.org/drawingml/2006/main">
            <a:r>
              <a:t>  "packages": [</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"GAI-T05",</a:t>
            </a:r>
          </a:p>
          <a:p xmlns:a="http://schemas.openxmlformats.org/drawingml/2006/main">
            <a:r>
              <a:t>    "GAI-T07",</a:t>
            </a:r>
          </a:p>
          <a:p xmlns:a="http://schemas.openxmlformats.org/drawingml/2006/main">
            <a:r>
              <a:t>    "GAI-T08"</a:t>
            </a:r>
          </a:p>
          <a:p xmlns:a="http://schemas.openxmlformats.org/drawingml/2006/main">
            <a:r>
              <a:t>  ],</a:t>
            </a:r>
          </a:p>
          <a:p xmlns:a="http://schemas.openxmlformats.org/drawingml/2006/main">
            <a:r>
              <a:t>  "status": "솔루션·조직·범위 연결안",</a:t>
            </a:r>
          </a:p>
          <a:p xmlns:a="http://schemas.openxmlformats.org/drawingml/2006/main">
            <a:r>
              <a:t>  "basis": "관계법령·법정업무 + 직제시행세칙",</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"모빌리티 정책·산업 지원",</a:t>
            </a:r>
          </a:p>
          <a:p xmlns:a="http://schemas.openxmlformats.org/drawingml/2006/main">
            <a:r>
              <a:t>      "indices":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"3. 모빌리티 정책지원 및 연구수행",</a:t>
            </a:r>
          </a:p>
          <a:p xmlns:a="http://schemas.openxmlformats.org/drawingml/2006/main">
            <a:r>
              <a:t>        "11. 모빌리티 산업활성화 지원 관련 협력 업무"</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"1021020",</a:t>
            </a:r>
          </a:p>
          <a:p xmlns:a="http://schemas.openxmlformats.org/drawingml/2006/main">
            <a:r>
              <a:t>      "name": "규제혁신처",</a:t>
            </a:r>
          </a:p>
          <a:p xmlns:a="http://schemas.openxmlformats.org/drawingml/2006/main">
            <a:r>
              <a:t>      "job": "기업 실증특례 지원",</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모빌리티 실증특례 접수 및 승인 지원",</a:t>
            </a:r>
          </a:p>
          <a:p xmlns:a="http://schemas.openxmlformats.org/drawingml/2006/main">
            <a:r>
              <a:t>        "10. 모빌리티 실증특례 사업지원"</a:t>
            </a:r>
          </a:p>
          <a:p xmlns:a="http://schemas.openxmlformats.org/drawingml/2006/main">
            <a:r>
              <a:t>      ],</a:t>
            </a:r>
          </a:p>
          <a:p xmlns:a="http://schemas.openxmlformats.org/drawingml/2006/main">
            <a:r>
              <a:t>      "locator": "별표4 · T41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"지역 특화·시범사업 지원",</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모빌리티 특화도시 사업지원",</a:t>
            </a:r>
          </a:p>
          <a:p xmlns:a="http://schemas.openxmlformats.org/drawingml/2006/main">
            <a:r>
              <a:t>        "2. 모빌리티 시범도시 사업지원"</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"연결 법령의 해당 사무 + 참여 부서별 별표4 업무분장 / 개인별 전결·권한의 별도 매핑",</a:t>
            </a:r>
          </a:p>
          <a:p xmlns:a="http://schemas.openxmlformats.org/drawingml/2006/main">
            <a:r>
              <a:t>  "caseRefs": [</a:t>
            </a:r>
          </a:p>
          <a:p xmlns:a="http://schemas.openxmlformats.org/drawingml/2006/main">
            <a:r>
              <a:t>    {</a:t>
            </a:r>
          </a:p>
          <a:p xmlns:a="http://schemas.openxmlformats.org/drawingml/2006/main">
            <a:r>
              <a:t>      "caseId": "AX01",</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"AX07",</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"AX24",</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"지역·산업 지원 검토 근거",</a:t>
            </a:r>
          </a:p>
          <a:p xmlns:a="http://schemas.openxmlformats.org/drawingml/2006/main">
            <a:r>
              <a:t>  "delta": "지역 수요·지원 조건·실증 증빙 매핑",</a:t>
            </a:r>
          </a:p>
          <a:p xmlns:a="http://schemas.openxmlformats.org/drawingml/2006/main">
            <a:r>
              <a:t>  "kpi": "검토시간 / 근거 누락률",</a:t>
            </a:r>
          </a:p>
          <a:p xmlns:a="http://schemas.openxmlformats.org/drawingml/2006/main">
            <a:r>
              <a:t>  "validation": "지역별 기준·지원조건 차이와 보류 처리 검증",</a:t>
            </a:r>
          </a:p>
          <a:p xmlns:a="http://schemas.openxmlformats.org/drawingml/2006/main">
            <a:r>
              <a:t>  "requirement": "BM-ST-09-R01",</a:t>
            </a:r>
          </a:p>
          <a:p xmlns:a="http://schemas.openxmlformats.org/drawingml/2006/main">
            <a:r>
              <a:t>  "test": "BM-ST-09-T01",</a:t>
            </a:r>
          </a:p>
          <a:p xmlns:a="http://schemas.openxmlformats.org/drawingml/2006/main">
            <a:r>
              <a:t>  "effectStatus": "기대 방향 · TS 실측 전",</a:t>
            </a:r>
          </a:p>
          <a:p xmlns:a="http://schemas.openxmlformats.org/drawingml/2006/main">
            <a:r>
              <a:t>  "effect": "신청 보완 반복·지원 검토시간 감소",</a:t>
            </a:r>
          </a:p>
          <a:p xmlns:a="http://schemas.openxmlformats.org/drawingml/2006/main">
            <a:r>
              <a:t>  "reuse": "ON27-BASE / C27-COM + CCK 재사용 판정 기능",</a:t>
            </a:r>
          </a:p>
          <a:p xmlns:a="http://schemas.openxmlformats.org/drawingml/2006/main">
            <a:r>
              <a:t>  "input": "지역·기업 신청자료, 규제특례 조건, 실증계획·보완 이력",</a:t>
            </a:r>
          </a:p>
          <a:p xmlns:a="http://schemas.openxmlformats.org/drawingml/2006/main">
            <a:r>
              <a:t>  "steps": [</a:t>
            </a:r>
          </a:p>
          <a:p xmlns:a="http://schemas.openxmlformats.org/drawingml/2006/main">
            <a:r>
              <a:t>    "지역·사업 유형 분류",</a:t>
            </a:r>
          </a:p>
          <a:p xmlns:a="http://schemas.openxmlformats.org/drawingml/2006/main">
            <a:r>
              <a:t>    "해당 신청요건 대조",</a:t>
            </a:r>
          </a:p>
          <a:p xmlns:a="http://schemas.openxmlformats.org/drawingml/2006/main">
            <a:r>
              <a:t>    "누락·조건 충돌 확인",</a:t>
            </a:r>
          </a:p>
          <a:p xmlns:a="http://schemas.openxmlformats.org/drawingml/2006/main">
            <a:r>
              <a:t>    "담당 검토·보완 인계"</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"1019010",</a:t>
            </a:r>
          </a:p>
          <a:p xmlns:a="http://schemas.openxmlformats.org/drawingml/2006/main">
            <a:r>
              <a:t>      "name": "정책지원처",</a:t>
            </a:r>
          </a:p>
          <a:p xmlns:a="http://schemas.openxmlformats.org/drawingml/2006/main">
            <a:r>
              <a:t>      "job": "모빌리티 정책·산업 지원",</a:t>
            </a:r>
          </a:p>
          <a:p xmlns:a="http://schemas.openxmlformats.org/drawingml/2006/main">
            <a:r>
              <a:t>      "indices": [</a:t>
            </a:r>
          </a:p>
          <a:p xmlns:a="http://schemas.openxmlformats.org/drawingml/2006/main">
            <a:r>
              <a:t>        2,</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"3. 모빌리티 정책지원 및 연구수행",</a:t>
            </a:r>
          </a:p>
          <a:p xmlns:a="http://schemas.openxmlformats.org/drawingml/2006/main">
            <a:r>
              <a:t>        "11. 모빌리티 산업활성화 지원 관련 협력 업무"</a:t>
            </a:r>
          </a:p>
          <a:p xmlns:a="http://schemas.openxmlformats.org/drawingml/2006/main">
            <a:r>
              <a:t>      ],</a:t>
            </a:r>
          </a:p>
          <a:p xmlns:a="http://schemas.openxmlformats.org/drawingml/2006/main">
            <a:r>
              <a:t>      "locator": "별표4 · T41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"RULEWORK-1019010-3",</a:t>
            </a:r>
          </a:p>
          <a:p xmlns:a="http://schemas.openxmlformats.org/drawingml/2006/main">
            <a:r>
              <a:t>          "text": "3. 모빌리티 정책지원 및 연구수행",</a:t>
            </a:r>
          </a:p>
          <a:p xmlns:a="http://schemas.openxmlformats.org/drawingml/2006/main">
            <a:r>
              <a:t>          "locator": "별표4 · T41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"RULEWORK-1019010-3-R01",</a:t>
            </a:r>
          </a:p>
          <a:p xmlns:a="http://schemas.openxmlformats.org/drawingml/2006/main">
            <a:r>
              <a:t>              "title": "업무 맥락·전용 지식 구성",</a:t>
            </a:r>
          </a:p>
          <a:p xmlns:a="http://schemas.openxmlformats.org/drawingml/2006/main">
            <a:r>
              <a:t>              "development": "대상·항목·분모·기간별 자료 정합성 점검",</a:t>
            </a:r>
          </a:p>
          <a:p xmlns:a="http://schemas.openxmlformats.org/drawingml/2006/main">
            <a:r>
              <a:t>              "output": "증빙·보완·분석·공표 검토자료",</a:t>
            </a:r>
          </a:p>
          <a:p xmlns:a="http://schemas.openxmlformats.org/drawingml/2006/main">
            <a:r>
              <a:t>              "testId": "RULEWORK-1019010-3-T01",</a:t>
            </a:r>
          </a:p>
          <a:p xmlns:a="http://schemas.openxmlformats.org/drawingml/2006/main">
            <a:r>
              <a:t>              "criterion": "표본·분모·단위·기간과 분석 결과 재현"</a:t>
            </a:r>
          </a:p>
          <a:p xmlns:a="http://schemas.openxmlformats.org/drawingml/2006/main">
            <a:r>
              <a:t>            },</a:t>
            </a:r>
          </a:p>
          <a:p xmlns:a="http://schemas.openxmlformats.org/drawingml/2006/main">
            <a:r>
              <a:t>            {</a:t>
            </a:r>
          </a:p>
          <a:p xmlns:a="http://schemas.openxmlformats.org/drawingml/2006/main">
            <a:r>
              <a:t>              "id": "RULEWORK-1019010-3-R02",</a:t>
            </a:r>
          </a:p>
          <a:p xmlns:a="http://schemas.openxmlformats.org/drawingml/2006/main">
            <a:r>
              <a:t>              "title": "업무건·역할·시스템 연결",</a:t>
            </a:r>
          </a:p>
          <a:p xmlns:a="http://schemas.openxmlformats.org/drawingml/2006/main">
            <a:r>
              <a:t>              "development": "조사 원장·원본 증빙·공표 판본 연결",</a:t>
            </a:r>
          </a:p>
          <a:p xmlns:a="http://schemas.openxmlformats.org/drawingml/2006/main">
            <a:r>
              <a:t>              "output": "업무건·원천·역할·변경 연결 명세",</a:t>
            </a:r>
          </a:p>
          <a:p xmlns:a="http://schemas.openxmlformats.org/drawingml/2006/main">
            <a:r>
              <a:t>              "testId": "RULEWORK-1019010-3-T02",</a:t>
            </a:r>
          </a:p>
          <a:p xmlns:a="http://schemas.openxmlformats.org/drawingml/2006/main">
            <a:r>
              <a:t>              "criterion": "공식 공표 승인·개인정보 제한 검증"</a:t>
            </a:r>
          </a:p>
          <a:p xmlns:a="http://schemas.openxmlformats.org/drawingml/2006/main">
            <a:r>
              <a:t>            },</a:t>
            </a:r>
          </a:p>
          <a:p xmlns:a="http://schemas.openxmlformats.org/drawingml/2006/main">
            <a:r>
              <a:t>            {</a:t>
            </a:r>
          </a:p>
          <a:p xmlns:a="http://schemas.openxmlformats.org/drawingml/2006/main">
            <a:r>
              <a:t>              "id": "RULEWORK-1019010-3-R03",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"RULEWORK-1019010-3-T03",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"RULEWORK-1019010-10",</a:t>
            </a:r>
          </a:p>
          <a:p xmlns:a="http://schemas.openxmlformats.org/drawingml/2006/main">
            <a:r>
              <a:t>          "text": "11. 모빌리티 산업활성화 지원 관련 협력 업무",</a:t>
            </a:r>
          </a:p>
          <a:p xmlns:a="http://schemas.openxmlformats.org/drawingml/2006/main">
            <a:r>
              <a:t>          "locator": "별표4 · T41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"RULEWORK-1019010-10-R01",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"RULEWORK-1019010-10-T01",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"RULEWORK-1019010-10-R02",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"RULEWORK-1019010-10-T02",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"RULEWORK-1019010-10-R03",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"RULEWORK-1019010-10-T03",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"1021020",</a:t>
            </a:r>
          </a:p>
          <a:p xmlns:a="http://schemas.openxmlformats.org/drawingml/2006/main">
            <a:r>
              <a:t>      "name": "규제혁신처",</a:t>
            </a:r>
          </a:p>
          <a:p xmlns:a="http://schemas.openxmlformats.org/drawingml/2006/main">
            <a:r>
              <a:t>      "job": "기업 실증특례 지원",</a:t>
            </a:r>
          </a:p>
          <a:p xmlns:a="http://schemas.openxmlformats.org/drawingml/2006/main">
            <a:r>
              <a:t>      "indices": [</a:t>
            </a:r>
          </a:p>
          <a:p xmlns:a="http://schemas.openxmlformats.org/drawingml/2006/main">
            <a:r>
              <a:t>        1,</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"2. 모빌리티 실증특례 접수 및 승인 지원",</a:t>
            </a:r>
          </a:p>
          <a:p xmlns:a="http://schemas.openxmlformats.org/drawingml/2006/main">
            <a:r>
              <a:t>        "10. 모빌리티 실증특례 사업지원"</a:t>
            </a:r>
          </a:p>
          <a:p xmlns:a="http://schemas.openxmlformats.org/drawingml/2006/main">
            <a:r>
              <a:t>      ],</a:t>
            </a:r>
          </a:p>
          <a:p xmlns:a="http://schemas.openxmlformats.org/drawingml/2006/main">
            <a:r>
              <a:t>      "locator": "별표4 · T41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"RULEWORK-1021020-2",</a:t>
            </a:r>
          </a:p>
          <a:p xmlns:a="http://schemas.openxmlformats.org/drawingml/2006/main">
            <a:r>
              <a:t>          "text": "2. 모빌리티 실증특례 접수 및 승인 지원",</a:t>
            </a:r>
          </a:p>
          <a:p xmlns:a="http://schemas.openxmlformats.org/drawingml/2006/main">
            <a:r>
              <a:t>          "locator": "별표4 · T41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"RULEWORK-1021020-2-R01",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"RULEWORK-1021020-2-T01",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"RULEWORK-1021020-2-R02",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"RULEWORK-1021020-2-T02",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"RULEWORK-1021020-2-R03",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"RULEWORK-1021020-2-T03",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"RULEWORK-1021020-10",</a:t>
            </a:r>
          </a:p>
          <a:p xmlns:a="http://schemas.openxmlformats.org/drawingml/2006/main">
            <a:r>
              <a:t>          "text": "10. 모빌리티 실증특례 사업지원",</a:t>
            </a:r>
          </a:p>
          <a:p xmlns:a="http://schemas.openxmlformats.org/drawingml/2006/main">
            <a:r>
              <a:t>          "locator": "별표4 · T41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"RULEWORK-1021020-10-R01",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"RULEWORK-1021020-10-T01",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"RULEWORK-1021020-10-R02",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"RULEWORK-1021020-10-T02",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"RULEWORK-1021020-10-R03",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"RULEWORK-1021020-10-T03",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"1021030",</a:t>
            </a:r>
          </a:p>
          <a:p xmlns:a="http://schemas.openxmlformats.org/drawingml/2006/main">
            <a:r>
              <a:t>      "name": "실증사업처",</a:t>
            </a:r>
          </a:p>
          <a:p xmlns:a="http://schemas.openxmlformats.org/drawingml/2006/main">
            <a:r>
              <a:t>      "job": "지역 특화·시범사업 지원",</a:t>
            </a:r>
          </a:p>
          <a:p xmlns:a="http://schemas.openxmlformats.org/drawingml/2006/main">
            <a:r>
              <a:t>      "indices": [</a:t>
            </a:r>
          </a:p>
          <a:p xmlns:a="http://schemas.openxmlformats.org/drawingml/2006/main">
            <a:r>
              <a:t>        0,</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"1. 모빌리티 특화도시 사업지원",</a:t>
            </a:r>
          </a:p>
          <a:p xmlns:a="http://schemas.openxmlformats.org/drawingml/2006/main">
            <a:r>
              <a:t>        "2. 모빌리티 시범도시 사업지원"</a:t>
            </a:r>
          </a:p>
          <a:p xmlns:a="http://schemas.openxmlformats.org/drawingml/2006/main">
            <a:r>
              <a:t>      ],</a:t>
            </a:r>
          </a:p>
          <a:p xmlns:a="http://schemas.openxmlformats.org/drawingml/2006/main">
            <a:r>
              <a:t>      "locator": "별표4 · T41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"RULEWORK-1021030-1",</a:t>
            </a:r>
          </a:p>
          <a:p xmlns:a="http://schemas.openxmlformats.org/drawingml/2006/main">
            <a:r>
              <a:t>          "text": "1. 모빌리티 특화도시 사업지원",</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"RULEWORK-1021030-1-R01",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"RULEWORK-1021030-1-T01",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"RULEWORK-1021030-1-R02",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"RULEWORK-1021030-1-T02",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"RULEWORK-1021030-2",</a:t>
            </a:r>
          </a:p>
          <a:p xmlns:a="http://schemas.openxmlformats.org/drawingml/2006/main">
            <a:r>
              <a:t>          "text": "2. 모빌리티 시범도시 사업지원",</a:t>
            </a:r>
          </a:p>
          <a:p xmlns:a="http://schemas.openxmlformats.org/drawingml/2006/main">
            <a:r>
              <a:t>          "locator": "별표4 · T41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"RULEWORK-1021030-2-R01",</a:t>
            </a:r>
          </a:p>
          <a:p xmlns:a="http://schemas.openxmlformats.org/drawingml/2006/main">
            <a:r>
              <a:t>              "title": "업무 맥락·전용 지식 구성",</a:t>
            </a:r>
          </a:p>
          <a:p xmlns:a="http://schemas.openxmlformats.org/drawingml/2006/main">
            <a:r>
              <a:t>              "development": "사업·신청 유형별 적용 조건 선택",</a:t>
            </a:r>
          </a:p>
          <a:p xmlns:a="http://schemas.openxmlformats.org/drawingml/2006/main">
            <a:r>
              <a:t>              "output": "요건·보완·지원·이행 검토표",</a:t>
            </a:r>
          </a:p>
          <a:p xmlns:a="http://schemas.openxmlformats.org/drawingml/2006/main">
            <a:r>
              <a:t>              "testId": "RULEWORK-1021030-2-T01",</a:t>
            </a:r>
          </a:p>
          <a:p xmlns:a="http://schemas.openxmlformats.org/drawingml/2006/main">
            <a:r>
              <a:t>              "criterion": "대상·기간·예외·지원 조건 정답 대조"</a:t>
            </a:r>
          </a:p>
          <a:p xmlns:a="http://schemas.openxmlformats.org/drawingml/2006/main">
            <a:r>
              <a:t>            },</a:t>
            </a:r>
          </a:p>
          <a:p xmlns:a="http://schemas.openxmlformats.org/drawingml/2006/main">
            <a:r>
              <a:t>            {</a:t>
            </a:r>
          </a:p>
          <a:p xmlns:a="http://schemas.openxmlformats.org/drawingml/2006/main">
            <a:r>
              <a:t>              "id": "RULEWORK-1021030-2-R02",</a:t>
            </a:r>
          </a:p>
          <a:p xmlns:a="http://schemas.openxmlformats.org/drawingml/2006/main">
            <a:r>
              <a:t>              "title": "업무건·역할·시스템 연결",</a:t>
            </a:r>
          </a:p>
          <a:p xmlns:a="http://schemas.openxmlformats.org/drawingml/2006/main">
            <a:r>
              <a:t>              "development": "신청–보완–심의–조건 이행 이력 연결",</a:t>
            </a:r>
          </a:p>
          <a:p xmlns:a="http://schemas.openxmlformats.org/drawingml/2006/main">
            <a:r>
              <a:t>              "output": "업무건·원천·역할·변경 연결 명세",</a:t>
            </a:r>
          </a:p>
          <a:p xmlns:a="http://schemas.openxmlformats.org/drawingml/2006/main">
            <a:r>
              <a:t>              "testId": "RULEWORK-1021030-2-T02",</a:t>
            </a:r>
          </a:p>
          <a:p xmlns:a="http://schemas.openxmlformats.org/drawingml/2006/main">
            <a:r>
              <a:t>              "criterion": "기관의 선정·허가·지원금 결정 자동화 차단"</a:t>
            </a:r>
          </a:p>
          <a:p xmlns:a="http://schemas.openxmlformats.org/drawingml/2006/main">
            <a:r>
              <a:t>            },</a:t>
            </a:r>
          </a:p>
          <a:p xmlns:a="http://schemas.openxmlformats.org/drawingml/2006/main">
            <a:r>
              <a:t>            {</a:t>
            </a:r>
          </a:p>
          <a:p xmlns:a="http://schemas.openxmlformats.org/drawingml/2006/main">
            <a:r>
              <a:t>              "id": "RULEWORK-1021030-2-R03",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"RULEWORK-1021030-2-T03",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요건 검색·서식 초안"</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"Audin·Foundry의 증빙·절차 검토"</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"지역·사업별 적용요건 사전",</a:t>
            </a:r>
          </a:p>
          <a:p xmlns:a="http://schemas.openxmlformats.org/drawingml/2006/main">
            <a:r>
              <a:t>    "신청–보완–검토 사건 연결"</a:t>
            </a:r>
          </a:p>
          <a:p xmlns:a="http://schemas.openxmlformats.org/drawingml/2006/main">
            <a:r>
              <a:t>  ],</a:t>
            </a:r>
          </a:p>
          <a:p xmlns:a="http://schemas.openxmlformats.org/drawingml/2006/main">
            <a:r>
              <a:t>  "acceptancePlan": {</a:t>
            </a:r>
          </a:p>
          <a:p xmlns:a="http://schemas.openxmlformats.org/drawingml/2006/main">
            <a:r>
              <a:t>    "sample": "다른 지역 요건, 만료 특례, 누락 실증자료",</a:t>
            </a:r>
          </a:p>
          <a:p xmlns:a="http://schemas.openxmlformats.org/drawingml/2006/main">
            <a:r>
              <a:t>    "criterion": "해당 조건만 적용·근거 제시·판정 보류",</a:t>
            </a:r>
          </a:p>
          <a:p xmlns:a="http://schemas.openxmlformats.org/drawingml/2006/main">
            <a:r>
              <a:t>    "evidence": "요건 대조표·보완 이력·검토자 기록",</a:t>
            </a:r>
          </a:p>
          <a:p xmlns:a="http://schemas.openxmlformats.org/drawingml/2006/main">
            <a:r>
              <a:t>    "execution": "미실행"</a:t>
            </a:r>
          </a:p>
          <a:p xmlns:a="http://schemas.openxmlformats.org/drawingml/2006/main">
            <a:r>
              <a:t>  },</a:t>
            </a:r>
          </a:p>
          <a:p xmlns:a="http://schemas.openxmlformats.org/drawingml/2006/main">
            <a:r>
              <a:t>  "formula": "신청건당 보완 횟수 / 검토 완료시간; 지역경제 효과는 별도 평가",</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"PF-R05",</a:t>
            </a:r>
          </a:p>
          <a:p xmlns:a="http://schemas.openxmlformats.org/drawingml/2006/main">
            <a:r>
              <a:t>    "PF-A03",</a:t>
            </a:r>
          </a:p>
          <a:p xmlns:a="http://schemas.openxmlformats.org/drawingml/2006/main">
            <a:r>
              <a:t>    "PF-A14"</a:t>
            </a:r>
          </a:p>
          <a:p xmlns:a="http://schemas.openxmlformats.org/drawingml/2006/main">
            <a:r>
              <a:t>  ]</a:t>
            </a:r>
          </a:p>
          <a:p xmlns:a="http://schemas.openxmlformats.org/drawingml/2006/main">
            <a:r>
              <a:t>}</a:t>
            </a:r>
          </a:p>
          <a:p xmlns:a="http://schemas.openxmlformats.org/drawingml/2006/main">
            <a:r>
              <a:t>CCK-01: NOA 사용자 가이드 확인. 설치본 기능시험 필요.</a:t>
            </a:r>
          </a:p>
          <a:p xmlns:a="http://schemas.openxmlformats.org/drawingml/2006/main">
            <a:r>
              <a:t>CCK-02/03: 명세 기반 재사용 후보. 실물 기능검증 필요.</a:t>
            </a:r>
          </a:p>
          <a:p xmlns:a="http://schemas.openxmlformats.org/drawingml/2006/main">
            <a:r>
              <a:t>기존 SSO·RAG·권한·로그·연계 범위 대조 후 추가분 산정.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"ST-10",</a:t>
            </a:r>
          </a:p>
          <a:p xmlns:a="http://schemas.openxmlformats.org/drawingml/2006/main">
            <a:r>
              <a:t>  "number": 10,</a:t>
            </a:r>
          </a:p>
          <a:p xmlns:a="http://schemas.openxmlformats.org/drawingml/2006/main">
            <a:r>
              <a:t>  "direction": "지속가능 책임경영 이행",</a:t>
            </a:r>
          </a:p>
          <a:p xmlns:a="http://schemas.openxmlformats.org/drawingml/2006/main">
            <a:r>
              <a:t>  "strategy": "실용·성과·효율 지향 경영체계 구축",</a:t>
            </a:r>
          </a:p>
          <a:p xmlns:a="http://schemas.openxmlformats.org/drawingml/2006/main">
            <a:r>
              <a:t>  "solution": "계획·예산·성과 업무지원",</a:t>
            </a:r>
          </a:p>
          <a:p xmlns:a="http://schemas.openxmlformats.org/drawingml/2006/main">
            <a:r>
              <a:t>  "lawIds": [],</a:t>
            </a:r>
          </a:p>
          <a:p xmlns:a="http://schemas.openxmlformats.org/drawingml/2006/main">
            <a:r>
              <a:t>  "codes": [</a:t>
            </a:r>
          </a:p>
          <a:p xmlns:a="http://schemas.openxmlformats.org/drawingml/2006/main">
            <a:r>
              <a:t>    "1016050",</a:t>
            </a:r>
          </a:p>
          <a:p xmlns:a="http://schemas.openxmlformats.org/drawingml/2006/main">
            <a:r>
              <a:t>    "1016042",</a:t>
            </a:r>
          </a:p>
          <a:p xmlns:a="http://schemas.openxmlformats.org/drawingml/2006/main">
            <a:r>
              <a:t>    "1018034",</a:t>
            </a:r>
          </a:p>
          <a:p xmlns:a="http://schemas.openxmlformats.org/drawingml/2006/main">
            <a:r>
              <a:t>    "1018030"</a:t>
            </a:r>
          </a:p>
          <a:p xmlns:a="http://schemas.openxmlformats.org/drawingml/2006/main">
            <a:r>
              <a:t>  ],</a:t>
            </a:r>
          </a:p>
          <a:p xmlns:a="http://schemas.openxmlformats.org/drawingml/2006/main">
            <a:r>
              <a:t>  "work": "부서별 계획·예산·계약·성과 증빙 관리",</a:t>
            </a:r>
          </a:p>
          <a:p xmlns:a="http://schemas.openxmlformats.org/drawingml/2006/main">
            <a:r>
              <a:t>  "features": [</a:t>
            </a:r>
          </a:p>
          <a:p xmlns:a="http://schemas.openxmlformats.org/drawingml/2006/main">
            <a:r>
              <a:t>    "계획–예산–집행–성과의 업무건 연결",</a:t>
            </a:r>
          </a:p>
          <a:p xmlns:a="http://schemas.openxmlformats.org/drawingml/2006/main">
            <a:r>
              <a:t>    "작성·검토·전결·결산 역할별 자료 구성"</a:t>
            </a:r>
          </a:p>
          <a:p xmlns:a="http://schemas.openxmlformats.org/drawingml/2006/main">
            <a:r>
              <a:t>  ],</a:t>
            </a:r>
          </a:p>
          <a:p xmlns:a="http://schemas.openxmlformats.org/drawingml/2006/main">
            <a:r>
              <a:t>  "output": "성과 근거표·경영 검토자료",</a:t>
            </a:r>
          </a:p>
          <a:p xmlns:a="http://schemas.openxmlformats.org/drawingml/2006/main">
            <a:r>
              <a:t>  "acceptance": "예산·집행·성과 원천 대사 및 전결·위임에 따른 접근/승인 확인",</a:t>
            </a:r>
          </a:p>
          <a:p xmlns:a="http://schemas.openxmlformats.org/drawingml/2006/main">
            <a:r>
              <a:t>  "phase": "공통 기반 인수 후 부서별 적용",</a:t>
            </a:r>
          </a:p>
          <a:p xmlns:a="http://schemas.openxmlformats.org/drawingml/2006/main">
            <a:r>
              <a:t>  "packages": [</a:t>
            </a:r>
          </a:p>
          <a:p xmlns:a="http://schemas.openxmlformats.org/drawingml/2006/main">
            <a:r>
              <a:t>    "ON-W01",</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"GAI-T05",</a:t>
            </a:r>
          </a:p>
          <a:p xmlns:a="http://schemas.openxmlformats.org/drawingml/2006/main">
            <a:r>
              <a:t>    "GAI-T08",</a:t>
            </a:r>
          </a:p>
          <a:p xmlns:a="http://schemas.openxmlformats.org/drawingml/2006/main">
            <a:r>
              <a:t>    "GAI-T09"</a:t>
            </a:r>
          </a:p>
          <a:p xmlns:a="http://schemas.openxmlformats.org/drawingml/2006/main">
            <a:r>
              <a:t>  ],</a:t>
            </a:r>
          </a:p>
          <a:p xmlns:a="http://schemas.openxmlformats.org/drawingml/2006/main">
            <a:r>
              <a:t>  "status": "솔루션·조직·범위 연결안",</a:t>
            </a:r>
          </a:p>
          <a:p xmlns:a="http://schemas.openxmlformats.org/drawingml/2006/main">
            <a:r>
              <a:t>  "basis": "설립법·직제시행세칙 기반 경영지원 업무",</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"예산 편성·집행 분석",</a:t>
            </a:r>
          </a:p>
          <a:p xmlns:a="http://schemas.openxmlformats.org/drawingml/2006/main">
            <a:r>
              <a:t>      "indices":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"duties": [</a:t>
            </a:r>
          </a:p>
          <a:p xmlns:a="http://schemas.openxmlformats.org/drawingml/2006/main">
            <a:r>
              <a:t>        "3. 예산의 편성‧집행‧운영 관리",</a:t>
            </a:r>
          </a:p>
          <a:p xmlns:a="http://schemas.openxmlformats.org/drawingml/2006/main">
            <a:r>
              <a:t>        "4. 예산집행실적 및 차이분석에 관한 사항"</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"1016042",</a:t>
            </a:r>
          </a:p>
          <a:p xmlns:a="http://schemas.openxmlformats.org/drawingml/2006/main">
            <a:r>
              <a:t>      "name": "혁신성과처",</a:t>
            </a:r>
          </a:p>
          <a:p xmlns:a="http://schemas.openxmlformats.org/drawingml/2006/main">
            <a:r>
              <a:t>      "job": "기관·부서 성과평가",</a:t>
            </a:r>
          </a:p>
          <a:p xmlns:a="http://schemas.openxmlformats.org/drawingml/2006/main">
            <a:r>
              <a:t>      "indices":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"duties": [</a:t>
            </a:r>
          </a:p>
          <a:p xmlns:a="http://schemas.openxmlformats.org/drawingml/2006/main">
            <a:r>
              <a:t>        "내부경영평가(BSC, MBO)에 관한 업무",</a:t>
            </a:r>
          </a:p>
          <a:p xmlns:a="http://schemas.openxmlformats.org/drawingml/2006/main">
            <a:r>
              <a:t>        "4. 임원, 부서장 경영계약 및 이행실적 평가에 관한 업무"</a:t>
            </a:r>
          </a:p>
          <a:p xmlns:a="http://schemas.openxmlformats.org/drawingml/2006/main">
            <a:r>
              <a:t>      ],</a:t>
            </a:r>
          </a:p>
          <a:p xmlns:a="http://schemas.openxmlformats.org/drawingml/2006/main">
            <a:r>
              <a:t>      "locator": "별표4 · T36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"1018034",</a:t>
            </a:r>
          </a:p>
          <a:p xmlns:a="http://schemas.openxmlformats.org/drawingml/2006/main">
            <a:r>
              <a:t>      "name": "재정회계처",</a:t>
            </a:r>
          </a:p>
          <a:p xmlns:a="http://schemas.openxmlformats.org/drawingml/2006/main">
            <a:r>
              <a:t>      "job": "계약·결산 관리",</a:t>
            </a:r>
          </a:p>
          <a:p xmlns:a="http://schemas.openxmlformats.org/drawingml/2006/main">
            <a:r>
              <a:t>      "indices":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"4. 연간·월간 회계결산 및 연차 결산보고서 작성 보고",</a:t>
            </a:r>
          </a:p>
          <a:p xmlns:a="http://schemas.openxmlformats.org/drawingml/2006/main">
            <a:r>
              <a:t>        "5. 구매․공사 및 용역 등의 계약에 관한 사항"</a:t>
            </a:r>
          </a:p>
          <a:p xmlns:a="http://schemas.openxmlformats.org/drawingml/2006/main">
            <a:r>
              <a:t>      ],</a:t>
            </a:r>
          </a:p>
          <a:p xmlns:a="http://schemas.openxmlformats.org/drawingml/2006/main">
            <a:r>
              <a:t>      "locator": "별표4 · T38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"1018030",</a:t>
            </a:r>
          </a:p>
          <a:p xmlns:a="http://schemas.openxmlformats.org/drawingml/2006/main">
            <a:r>
              <a:t>      "name": "운영지원처",</a:t>
            </a:r>
          </a:p>
          <a:p xmlns:a="http://schemas.openxmlformats.org/drawingml/2006/main">
            <a:r>
              <a:t>      "job": "문서·정보공개 관리",</a:t>
            </a:r>
          </a:p>
          <a:p xmlns:a="http://schemas.openxmlformats.org/drawingml/2006/main">
            <a:r>
              <a:t>      "indices":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"4. 문서의 접수·분류·수발·처리 및 보존관리",</a:t>
            </a:r>
          </a:p>
          <a:p xmlns:a="http://schemas.openxmlformats.org/drawingml/2006/main">
            <a:r>
              <a:t>        "5. 정보공개제도의 운영 및 관리"</a:t>
            </a:r>
          </a:p>
          <a:p xmlns:a="http://schemas.openxmlformats.org/drawingml/2006/main">
            <a:r>
              <a:t>      ],</a:t>
            </a:r>
          </a:p>
          <a:p xmlns:a="http://schemas.openxmlformats.org/drawingml/2006/main">
            <a:r>
              <a:t>      "locator": "별표4 · T38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"설립법·별표4 내부 업무분장 / 인사·재무·계약·전결 등 업무별 규정의 별도 확인",</a:t>
            </a:r>
          </a:p>
          <a:p xmlns:a="http://schemas.openxmlformats.org/drawingml/2006/main">
            <a:r>
              <a:t>  "caseRefs": [</a:t>
            </a:r>
          </a:p>
          <a:p xmlns:a="http://schemas.openxmlformats.org/drawingml/2006/main">
            <a:r>
              <a:t>    {</a:t>
            </a:r>
          </a:p>
          <a:p xmlns:a="http://schemas.openxmlformats.org/drawingml/2006/main">
            <a:r>
              <a:t>      "caseId": "AX04",</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"AX10",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"AX21",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"AX24",</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"성과·경영 문서 검토 지원",</a:t>
            </a:r>
          </a:p>
          <a:p xmlns:a="http://schemas.openxmlformats.org/drawingml/2006/main">
            <a:r>
              <a:t>  "delta": "근거 자료·산식·업무 수행시간 계측",</a:t>
            </a:r>
          </a:p>
          <a:p xmlns:a="http://schemas.openxmlformats.org/drawingml/2006/main">
            <a:r>
              <a:t>  "kpi": "완료시간 / 재작업률 / 업무당 비용",</a:t>
            </a:r>
          </a:p>
          <a:p xmlns:a="http://schemas.openxmlformats.org/drawingml/2006/main">
            <a:r>
              <a:t>  "validation": "동일 난도 비교군·검토시간 포함 평가",</a:t>
            </a:r>
          </a:p>
          <a:p xmlns:a="http://schemas.openxmlformats.org/drawingml/2006/main">
            <a:r>
              <a:t>  "requirement": "BM-ST-10-R01",</a:t>
            </a:r>
          </a:p>
          <a:p xmlns:a="http://schemas.openxmlformats.org/drawingml/2006/main">
            <a:r>
              <a:t>  "test": "BM-ST-10-T01",</a:t>
            </a:r>
          </a:p>
          <a:p xmlns:a="http://schemas.openxmlformats.org/drawingml/2006/main">
            <a:r>
              <a:t>  "effectStatus": "기대 방향 · TS 실측 전",</a:t>
            </a:r>
          </a:p>
          <a:p xmlns:a="http://schemas.openxmlformats.org/drawingml/2006/main">
            <a:r>
              <a:t>  "effect": "검토·재작업을 포함한 업무시간 감소",</a:t>
            </a:r>
          </a:p>
          <a:p xmlns:a="http://schemas.openxmlformats.org/drawingml/2006/main">
            <a:r>
              <a:t>  "reuse": "ON27-BASE / C27-COM + CCK 재사용 판정 기능",</a:t>
            </a:r>
          </a:p>
          <a:p xmlns:a="http://schemas.openxmlformats.org/drawingml/2006/main">
            <a:r>
              <a:t>  "input": "계획·예산·집행·계약·성과 자료, 지표 산식, 전결표",</a:t>
            </a:r>
          </a:p>
          <a:p xmlns:a="http://schemas.openxmlformats.org/drawingml/2006/main">
            <a:r>
              <a:t>  "steps": [</a:t>
            </a:r>
          </a:p>
          <a:p xmlns:a="http://schemas.openxmlformats.org/drawingml/2006/main">
            <a:r>
              <a:t>    "사업·업무건 식별",</a:t>
            </a:r>
          </a:p>
          <a:p xmlns:a="http://schemas.openxmlformats.org/drawingml/2006/main">
            <a:r>
              <a:t>    "계획–집행–성과 원천 대사",</a:t>
            </a:r>
          </a:p>
          <a:p xmlns:a="http://schemas.openxmlformats.org/drawingml/2006/main">
            <a:r>
              <a:t>    "산식·판본·전결 검토",</a:t>
            </a:r>
          </a:p>
          <a:p xmlns:a="http://schemas.openxmlformats.org/drawingml/2006/main">
            <a:r>
              <a:t>    "검토자료 작성·보완"</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"예산 편성·집행 분석",</a:t>
            </a:r>
          </a:p>
          <a:p xmlns:a="http://schemas.openxmlformats.org/drawingml/2006/main">
            <a:r>
              <a:t>      "indices":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"duties": [</a:t>
            </a:r>
          </a:p>
          <a:p xmlns:a="http://schemas.openxmlformats.org/drawingml/2006/main">
            <a:r>
              <a:t>        "3. 예산의 편성‧집행‧운영 관리",</a:t>
            </a:r>
          </a:p>
          <a:p xmlns:a="http://schemas.openxmlformats.org/drawingml/2006/main">
            <a:r>
              <a:t>        "4. 예산집행실적 및 차이분석에 관한 사항"</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"RULEWORK-1016050-3",</a:t>
            </a:r>
          </a:p>
          <a:p xmlns:a="http://schemas.openxmlformats.org/drawingml/2006/main">
            <a:r>
              <a:t>          "text": "3. 예산의 편성‧집행‧운영 관리",</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"RULEWORK-1016050-3-R01",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"RULEWORK-1016050-3-T01",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"RULEWORK-1016050-3-R02",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"RULEWORK-1016050-3-T02",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"RULEWORK-1016050-3-R03",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"RULEWORK-1016050-4",</a:t>
            </a:r>
          </a:p>
          <a:p xmlns:a="http://schemas.openxmlformats.org/drawingml/2006/main">
            <a:r>
              <a:t>          "text": "4. 예산집행실적 및 차이분석에 관한 사항",</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"RULEWORK-1016050-4-R01",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"RULEWORK-1016050-4-T01",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"RULEWORK-1016050-4-R02",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"RULEWORK-1016050-4-T02",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"RULEWORK-1016050-4-R03",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"1016042",</a:t>
            </a:r>
          </a:p>
          <a:p xmlns:a="http://schemas.openxmlformats.org/drawingml/2006/main">
            <a:r>
              <a:t>      "name": "혁신성과처",</a:t>
            </a:r>
          </a:p>
          <a:p xmlns:a="http://schemas.openxmlformats.org/drawingml/2006/main">
            <a:r>
              <a:t>      "job": "기관·부서 성과평가",</a:t>
            </a:r>
          </a:p>
          <a:p xmlns:a="http://schemas.openxmlformats.org/drawingml/2006/main">
            <a:r>
              <a:t>      "indices":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"duties": [</a:t>
            </a:r>
          </a:p>
          <a:p xmlns:a="http://schemas.openxmlformats.org/drawingml/2006/main">
            <a:r>
              <a:t>        "내부경영평가(BSC, MBO)에 관한 업무",</a:t>
            </a:r>
          </a:p>
          <a:p xmlns:a="http://schemas.openxmlformats.org/drawingml/2006/main">
            <a:r>
              <a:t>        "4. 임원, 부서장 경영계약 및 이행실적 평가에 관한 업무"</a:t>
            </a:r>
          </a:p>
          <a:p xmlns:a="http://schemas.openxmlformats.org/drawingml/2006/main">
            <a:r>
              <a:t>      ],</a:t>
            </a:r>
          </a:p>
          <a:p xmlns:a="http://schemas.openxmlformats.org/drawingml/2006/main">
            <a:r>
              <a:t>      "locator": "별표4 · T36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"RULEWORK-1016042-2",</a:t>
            </a:r>
          </a:p>
          <a:p xmlns:a="http://schemas.openxmlformats.org/drawingml/2006/main">
            <a:r>
              <a:t>          "text": "내부경영평가(BSC, MBO)에 관한 업무",</a:t>
            </a:r>
          </a:p>
          <a:p xmlns:a="http://schemas.openxmlformats.org/drawingml/2006/main">
            <a:r>
              <a:t>          "locator": "별표4 · T36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"RULEWORK-1016042-2-R01",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"RULEWORK-1016042-2-T01",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"RULEWORK-1016042-2-R02",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"RULEWORK-1016042-2-T02",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"RULEWORK-1016042-2-R03",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"RULEWORK-1016042-2-T03",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"RULEWORK-1016042-4",</a:t>
            </a:r>
          </a:p>
          <a:p xmlns:a="http://schemas.openxmlformats.org/drawingml/2006/main">
            <a:r>
              <a:t>          "text": "4. 임원, 부서장 경영계약 및 이행실적 평가에 관한 업무",</a:t>
            </a:r>
          </a:p>
          <a:p xmlns:a="http://schemas.openxmlformats.org/drawingml/2006/main">
            <a:r>
              <a:t>          "locator": "별표4 · T36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"RULEWORK-1016042-4-R01",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"RULEWORK-1016042-4-T01",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"RULEWORK-1016042-4-R02",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"RULEWORK-1016042-4-T02",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"RULEWORK-1016042-4-R03",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"RULEWORK-1016042-4-T03",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"1018034",</a:t>
            </a:r>
          </a:p>
          <a:p xmlns:a="http://schemas.openxmlformats.org/drawingml/2006/main">
            <a:r>
              <a:t>      "name": "재정회계처",</a:t>
            </a:r>
          </a:p>
          <a:p xmlns:a="http://schemas.openxmlformats.org/drawingml/2006/main">
            <a:r>
              <a:t>      "job": "계약·결산 관리",</a:t>
            </a:r>
          </a:p>
          <a:p xmlns:a="http://schemas.openxmlformats.org/drawingml/2006/main">
            <a:r>
              <a:t>      "indices":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"4. 연간·월간 회계결산 및 연차 결산보고서 작성 보고",</a:t>
            </a:r>
          </a:p>
          <a:p xmlns:a="http://schemas.openxmlformats.org/drawingml/2006/main">
            <a:r>
              <a:t>        "5. 구매․공사 및 용역 등의 계약에 관한 사항"</a:t>
            </a:r>
          </a:p>
          <a:p xmlns:a="http://schemas.openxmlformats.org/drawingml/2006/main">
            <a:r>
              <a:t>      ],</a:t>
            </a:r>
          </a:p>
          <a:p xmlns:a="http://schemas.openxmlformats.org/drawingml/2006/main">
            <a:r>
              <a:t>      "locator": "별표4 · T38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"RULEWORK-1018034-4",</a:t>
            </a:r>
          </a:p>
          <a:p xmlns:a="http://schemas.openxmlformats.org/drawingml/2006/main">
            <a:r>
              <a:t>          "text": "4. 연간·월간 회계결산 및 연차 결산보고서 작성 보고",</a:t>
            </a:r>
          </a:p>
          <a:p xmlns:a="http://schemas.openxmlformats.org/drawingml/2006/main">
            <a:r>
              <a:t>          "locator": "별표4 · T38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"RULEWORK-1018034-4-R01",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"RULEWORK-1018034-4-T01",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"RULEWORK-1018034-4-R02",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"RULEWORK-1018034-4-T02",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"RULEWORK-1018034-4-R03",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"RULEWORK-1018034-4-T03",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"RULEWORK-1018034-5",</a:t>
            </a:r>
          </a:p>
          <a:p xmlns:a="http://schemas.openxmlformats.org/drawingml/2006/main">
            <a:r>
              <a:t>          "text": "5. 구매․공사 및 용역 등의 계약에 관한 사항",</a:t>
            </a:r>
          </a:p>
          <a:p xmlns:a="http://schemas.openxmlformats.org/drawingml/2006/main">
            <a:r>
              <a:t>          "locator": "별표4 · T38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"RULEWORK-1018034-5-R01",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"RULEWORK-1018034-5-T01",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"RULEWORK-1018034-5-R02",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"RULEWORK-1018034-5-T02",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"RULEWORK-1018034-5-R03",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"RULEWORK-1018034-5-T03",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"1018030",</a:t>
            </a:r>
          </a:p>
          <a:p xmlns:a="http://schemas.openxmlformats.org/drawingml/2006/main">
            <a:r>
              <a:t>      "name": "운영지원처",</a:t>
            </a:r>
          </a:p>
          <a:p xmlns:a="http://schemas.openxmlformats.org/drawingml/2006/main">
            <a:r>
              <a:t>      "job": "문서·정보공개 관리",</a:t>
            </a:r>
          </a:p>
          <a:p xmlns:a="http://schemas.openxmlformats.org/drawingml/2006/main">
            <a:r>
              <a:t>      "indices":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"4. 문서의 접수·분류·수발·처리 및 보존관리",</a:t>
            </a:r>
          </a:p>
          <a:p xmlns:a="http://schemas.openxmlformats.org/drawingml/2006/main">
            <a:r>
              <a:t>        "5. 정보공개제도의 운영 및 관리"</a:t>
            </a:r>
          </a:p>
          <a:p xmlns:a="http://schemas.openxmlformats.org/drawingml/2006/main">
            <a:r>
              <a:t>      ],</a:t>
            </a:r>
          </a:p>
          <a:p xmlns:a="http://schemas.openxmlformats.org/drawingml/2006/main">
            <a:r>
              <a:t>      "locator": "별표4 · T38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"RULEWORK-1018030-4",</a:t>
            </a:r>
          </a:p>
          <a:p xmlns:a="http://schemas.openxmlformats.org/drawingml/2006/main">
            <a:r>
              <a:t>          "text": "4. 문서의 접수·분류·수발·처리 및 보존관리",</a:t>
            </a:r>
          </a:p>
          <a:p xmlns:a="http://schemas.openxmlformats.org/drawingml/2006/main">
            <a:r>
              <a:t>          "locator": "별표4 · T38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"RULEWORK-1018030-4-R01",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"RULEWORK-1018030-4-T01",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"RULEWORK-1018030-4-R02",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"RULEWORK-1018030-4-T02",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"RULEWORK-1018030-4-R03",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"RULEWORK-1018030-5",</a:t>
            </a:r>
          </a:p>
          <a:p xmlns:a="http://schemas.openxmlformats.org/drawingml/2006/main">
            <a:r>
              <a:t>          "text": "5. 정보공개제도의 운영 및 관리",</a:t>
            </a:r>
          </a:p>
          <a:p xmlns:a="http://schemas.openxmlformats.org/drawingml/2006/main">
            <a:r>
              <a:t>          "locator": "별표4 · T38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"RULEWORK-1018030-5-R01",</a:t>
            </a:r>
          </a:p>
          <a:p xmlns:a="http://schemas.openxmlformats.org/drawingml/2006/main">
            <a:r>
              <a:t>              "title": "업무 맥락·전용 지식 구성",</a:t>
            </a:r>
          </a:p>
          <a:p xmlns:a="http://schemas.openxmlformats.org/drawingml/2006/main">
            <a:r>
              <a:t>              "development": "문의 유형별 지식·소관·안내 서식 선택",</a:t>
            </a:r>
          </a:p>
          <a:p xmlns:a="http://schemas.openxmlformats.org/drawingml/2006/main">
            <a:r>
              <a:t>              "output": "분류·근거 답변·이관·처리 기록",</a:t>
            </a:r>
          </a:p>
          <a:p xmlns:a="http://schemas.openxmlformats.org/drawingml/2006/main">
            <a:r>
              <a:t>              "testId": "RULEWORK-1018030-5-T01",</a:t>
            </a:r>
          </a:p>
          <a:p xmlns:a="http://schemas.openxmlformats.org/drawingml/2006/main">
            <a:r>
              <a:t>              "criterion": "소관·기한·근거·안내 내용 정답 대조"</a:t>
            </a:r>
          </a:p>
          <a:p xmlns:a="http://schemas.openxmlformats.org/drawingml/2006/main">
            <a:r>
              <a:t>            },</a:t>
            </a:r>
          </a:p>
          <a:p xmlns:a="http://schemas.openxmlformats.org/drawingml/2006/main">
            <a:r>
              <a:t>            {</a:t>
            </a:r>
          </a:p>
          <a:p xmlns:a="http://schemas.openxmlformats.org/drawingml/2006/main">
            <a:r>
              <a:t>              "id": "RULEWORK-1018030-5-R02",</a:t>
            </a:r>
          </a:p>
          <a:p xmlns:a="http://schemas.openxmlformats.org/drawingml/2006/main">
            <a:r>
              <a:t>              "title": "업무건·역할·시스템 연결",</a:t>
            </a:r>
          </a:p>
          <a:p xmlns:a="http://schemas.openxmlformats.org/drawingml/2006/main">
            <a:r>
              <a:t>              "development": "접수–이관–수락–답변·민감정보 제한 연결",</a:t>
            </a:r>
          </a:p>
          <a:p xmlns:a="http://schemas.openxmlformats.org/drawingml/2006/main">
            <a:r>
              <a:t>              "output": "업무건·원천·역할·변경 연결 명세",</a:t>
            </a:r>
          </a:p>
          <a:p xmlns:a="http://schemas.openxmlformats.org/drawingml/2006/main">
            <a:r>
              <a:t>              "testId": "RULEWORK-1018030-5-T02",</a:t>
            </a:r>
          </a:p>
          <a:p xmlns:a="http://schemas.openxmlformats.org/drawingml/2006/main">
            <a:r>
              <a:t>              "criterion": "민감 원문 노출·무권한 약속·처분 확정 차단"</a:t>
            </a:r>
          </a:p>
          <a:p xmlns:a="http://schemas.openxmlformats.org/drawingml/2006/main">
            <a:r>
              <a:t>            },</a:t>
            </a:r>
          </a:p>
          <a:p xmlns:a="http://schemas.openxmlformats.org/drawingml/2006/main">
            <a:r>
              <a:t>            {</a:t>
            </a:r>
          </a:p>
          <a:p xmlns:a="http://schemas.openxmlformats.org/drawingml/2006/main">
            <a:r>
              <a:t>              "id": "RULEWORK-1018030-5-R03",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문서 검색·요약·서식"</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"Audin·JET의 증빙 검토·구조화"</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"사업–예산–성과 연결표",</a:t>
            </a:r>
          </a:p>
          <a:p xmlns:a="http://schemas.openxmlformats.org/drawingml/2006/main">
            <a:r>
              <a:t>    "지표 산식 검증·검토시간 계측"</a:t>
            </a:r>
          </a:p>
          <a:p xmlns:a="http://schemas.openxmlformats.org/drawingml/2006/main">
            <a:r>
              <a:t>  ],</a:t>
            </a:r>
          </a:p>
          <a:p xmlns:a="http://schemas.openxmlformats.org/drawingml/2006/main">
            <a:r>
              <a:t>  "acceptancePlan": {</a:t>
            </a:r>
          </a:p>
          <a:p xmlns:a="http://schemas.openxmlformats.org/drawingml/2006/main">
            <a:r>
              <a:t>    "sample": "집행 중복, 다른 보고기간, 산식 오류, 전결권 부재",</a:t>
            </a:r>
          </a:p>
          <a:p xmlns:a="http://schemas.openxmlformats.org/drawingml/2006/main">
            <a:r>
              <a:t>    "criterion": "원천 합계 일치·오류 보류·권한별 결과 분리",</a:t>
            </a:r>
          </a:p>
          <a:p xmlns:a="http://schemas.openxmlformats.org/drawingml/2006/main">
            <a:r>
              <a:t>    "evidence": "원천 대사표·업무시간 기록·보완 결과",</a:t>
            </a:r>
          </a:p>
          <a:p xmlns:a="http://schemas.openxmlformats.org/drawingml/2006/main">
            <a:r>
              <a:t>    "execution": "미실행"</a:t>
            </a:r>
          </a:p>
          <a:p xmlns:a="http://schemas.openxmlformats.org/drawingml/2006/main">
            <a:r>
              <a:t>  },</a:t>
            </a:r>
          </a:p>
          <a:p xmlns:a="http://schemas.openxmlformats.org/drawingml/2006/main">
            <a:r>
              <a:t>  "formula": "최종 검토까지 소요시간 중앙값 / 재작업 건수 ÷ 완료 건수 / 업무당 비용",</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"PF-R01",</a:t>
            </a:r>
          </a:p>
          <a:p xmlns:a="http://schemas.openxmlformats.org/drawingml/2006/main">
            <a:r>
              <a:t>    "PF-R03",</a:t>
            </a:r>
          </a:p>
          <a:p xmlns:a="http://schemas.openxmlformats.org/drawingml/2006/main">
            <a:r>
              <a:t>    "PF-R06",</a:t>
            </a:r>
          </a:p>
          <a:p xmlns:a="http://schemas.openxmlformats.org/drawingml/2006/main">
            <a:r>
              <a:t>    "PF-R08",</a:t>
            </a:r>
          </a:p>
          <a:p xmlns:a="http://schemas.openxmlformats.org/drawingml/2006/main">
            <a:r>
              <a:t>    "PF01",</a:t>
            </a:r>
          </a:p>
          <a:p xmlns:a="http://schemas.openxmlformats.org/drawingml/2006/main">
            <a:r>
              <a:t>    "PF02",</a:t>
            </a:r>
          </a:p>
          <a:p xmlns:a="http://schemas.openxmlformats.org/drawingml/2006/main">
            <a:r>
              <a:t>    "PF04",</a:t>
            </a:r>
          </a:p>
          <a:p xmlns:a="http://schemas.openxmlformats.org/drawingml/2006/main">
            <a:r>
              <a:t>    "PF-A09",</a:t>
            </a:r>
          </a:p>
          <a:p xmlns:a="http://schemas.openxmlformats.org/drawingml/2006/main">
            <a:r>
              <a:t>    "PF-A13",</a:t>
            </a:r>
          </a:p>
          <a:p xmlns:a="http://schemas.openxmlformats.org/drawingml/2006/main">
            <a:r>
              <a:t>    "PF-A15",</a:t>
            </a:r>
          </a:p>
          <a:p xmlns:a="http://schemas.openxmlformats.org/drawingml/2006/main">
            <a:r>
              <a:t>    "PF-A16",</a:t>
            </a:r>
          </a:p>
          <a:p xmlns:a="http://schemas.openxmlformats.org/drawingml/2006/main">
            <a:r>
              <a:t>    "PF08",</a:t>
            </a:r>
          </a:p>
          <a:p xmlns:a="http://schemas.openxmlformats.org/drawingml/2006/main">
            <a:r>
              <a:t>    "PF-A18",</a:t>
            </a:r>
          </a:p>
          <a:p xmlns:a="http://schemas.openxmlformats.org/drawingml/2006/main">
            <a:r>
              <a:t>    "PF-C03"</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"ST-10",</a:t>
            </a:r>
          </a:p>
          <a:p xmlns:a="http://schemas.openxmlformats.org/drawingml/2006/main">
            <a:r>
              <a:t>  "number": 10,</a:t>
            </a:r>
          </a:p>
          <a:p xmlns:a="http://schemas.openxmlformats.org/drawingml/2006/main">
            <a:r>
              <a:t>  "direction": "지속가능 책임경영 이행",</a:t>
            </a:r>
          </a:p>
          <a:p xmlns:a="http://schemas.openxmlformats.org/drawingml/2006/main">
            <a:r>
              <a:t>  "strategy": "실용·성과·효율 지향 경영체계 구축",</a:t>
            </a:r>
          </a:p>
          <a:p xmlns:a="http://schemas.openxmlformats.org/drawingml/2006/main">
            <a:r>
              <a:t>  "solution": "계획·예산·성과 업무지원",</a:t>
            </a:r>
          </a:p>
          <a:p xmlns:a="http://schemas.openxmlformats.org/drawingml/2006/main">
            <a:r>
              <a:t>  "lawIds": [],</a:t>
            </a:r>
          </a:p>
          <a:p xmlns:a="http://schemas.openxmlformats.org/drawingml/2006/main">
            <a:r>
              <a:t>  "codes": [</a:t>
            </a:r>
          </a:p>
          <a:p xmlns:a="http://schemas.openxmlformats.org/drawingml/2006/main">
            <a:r>
              <a:t>    "1016050",</a:t>
            </a:r>
          </a:p>
          <a:p xmlns:a="http://schemas.openxmlformats.org/drawingml/2006/main">
            <a:r>
              <a:t>    "1016042",</a:t>
            </a:r>
          </a:p>
          <a:p xmlns:a="http://schemas.openxmlformats.org/drawingml/2006/main">
            <a:r>
              <a:t>    "1018034",</a:t>
            </a:r>
          </a:p>
          <a:p xmlns:a="http://schemas.openxmlformats.org/drawingml/2006/main">
            <a:r>
              <a:t>    "1018030"</a:t>
            </a:r>
          </a:p>
          <a:p xmlns:a="http://schemas.openxmlformats.org/drawingml/2006/main">
            <a:r>
              <a:t>  ],</a:t>
            </a:r>
          </a:p>
          <a:p xmlns:a="http://schemas.openxmlformats.org/drawingml/2006/main">
            <a:r>
              <a:t>  "work": "부서별 계획·예산·계약·성과 증빙 관리",</a:t>
            </a:r>
          </a:p>
          <a:p xmlns:a="http://schemas.openxmlformats.org/drawingml/2006/main">
            <a:r>
              <a:t>  "features": [</a:t>
            </a:r>
          </a:p>
          <a:p xmlns:a="http://schemas.openxmlformats.org/drawingml/2006/main">
            <a:r>
              <a:t>    "계획–예산–집행–성과의 업무건 연결",</a:t>
            </a:r>
          </a:p>
          <a:p xmlns:a="http://schemas.openxmlformats.org/drawingml/2006/main">
            <a:r>
              <a:t>    "작성·검토·전결·결산 역할별 자료 구성"</a:t>
            </a:r>
          </a:p>
          <a:p xmlns:a="http://schemas.openxmlformats.org/drawingml/2006/main">
            <a:r>
              <a:t>  ],</a:t>
            </a:r>
          </a:p>
          <a:p xmlns:a="http://schemas.openxmlformats.org/drawingml/2006/main">
            <a:r>
              <a:t>  "output": "성과 근거표·경영 검토자료",</a:t>
            </a:r>
          </a:p>
          <a:p xmlns:a="http://schemas.openxmlformats.org/drawingml/2006/main">
            <a:r>
              <a:t>  "acceptance": "예산·집행·성과 원천 대사 및 전결·위임에 따른 접근/승인 확인",</a:t>
            </a:r>
          </a:p>
          <a:p xmlns:a="http://schemas.openxmlformats.org/drawingml/2006/main">
            <a:r>
              <a:t>  "phase": "공통 기반 인수 후 부서별 적용",</a:t>
            </a:r>
          </a:p>
          <a:p xmlns:a="http://schemas.openxmlformats.org/drawingml/2006/main">
            <a:r>
              <a:t>  "packages": [</a:t>
            </a:r>
          </a:p>
          <a:p xmlns:a="http://schemas.openxmlformats.org/drawingml/2006/main">
            <a:r>
              <a:t>    "ON-W01",</a:t>
            </a:r>
          </a:p>
          <a:p xmlns:a="http://schemas.openxmlformats.org/drawingml/2006/main">
            <a:r>
              <a:t>    "ON-W03",</a:t>
            </a:r>
          </a:p>
          <a:p xmlns:a="http://schemas.openxmlformats.org/drawingml/2006/main">
            <a:r>
              <a:t>    "ON-W04",</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"GAI-T05",</a:t>
            </a:r>
          </a:p>
          <a:p xmlns:a="http://schemas.openxmlformats.org/drawingml/2006/main">
            <a:r>
              <a:t>    "GAI-T08",</a:t>
            </a:r>
          </a:p>
          <a:p xmlns:a="http://schemas.openxmlformats.org/drawingml/2006/main">
            <a:r>
              <a:t>    "GAI-T09"</a:t>
            </a:r>
          </a:p>
          <a:p xmlns:a="http://schemas.openxmlformats.org/drawingml/2006/main">
            <a:r>
              <a:t>  ],</a:t>
            </a:r>
          </a:p>
          <a:p xmlns:a="http://schemas.openxmlformats.org/drawingml/2006/main">
            <a:r>
              <a:t>  "status": "솔루션·조직·범위 연결안",</a:t>
            </a:r>
          </a:p>
          <a:p xmlns:a="http://schemas.openxmlformats.org/drawingml/2006/main">
            <a:r>
              <a:t>  "basis": "설립법·직제시행세칙 기반 경영지원 업무",</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"예산 편성·집행 분석",</a:t>
            </a:r>
          </a:p>
          <a:p xmlns:a="http://schemas.openxmlformats.org/drawingml/2006/main">
            <a:r>
              <a:t>      "indices":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"duties": [</a:t>
            </a:r>
          </a:p>
          <a:p xmlns:a="http://schemas.openxmlformats.org/drawingml/2006/main">
            <a:r>
              <a:t>        "3. 예산의 편성‧집행‧운영 관리",</a:t>
            </a:r>
          </a:p>
          <a:p xmlns:a="http://schemas.openxmlformats.org/drawingml/2006/main">
            <a:r>
              <a:t>        "4. 예산집행실적 및 차이분석에 관한 사항"</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"1016042",</a:t>
            </a:r>
          </a:p>
          <a:p xmlns:a="http://schemas.openxmlformats.org/drawingml/2006/main">
            <a:r>
              <a:t>      "name": "혁신성과처",</a:t>
            </a:r>
          </a:p>
          <a:p xmlns:a="http://schemas.openxmlformats.org/drawingml/2006/main">
            <a:r>
              <a:t>      "job": "기관·부서 성과평가",</a:t>
            </a:r>
          </a:p>
          <a:p xmlns:a="http://schemas.openxmlformats.org/drawingml/2006/main">
            <a:r>
              <a:t>      "indices":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"duties": [</a:t>
            </a:r>
          </a:p>
          <a:p xmlns:a="http://schemas.openxmlformats.org/drawingml/2006/main">
            <a:r>
              <a:t>        "내부경영평가(BSC, MBO)에 관한 업무",</a:t>
            </a:r>
          </a:p>
          <a:p xmlns:a="http://schemas.openxmlformats.org/drawingml/2006/main">
            <a:r>
              <a:t>        "4. 임원, 부서장 경영계약 및 이행실적 평가에 관한 업무"</a:t>
            </a:r>
          </a:p>
          <a:p xmlns:a="http://schemas.openxmlformats.org/drawingml/2006/main">
            <a:r>
              <a:t>      ],</a:t>
            </a:r>
          </a:p>
          <a:p xmlns:a="http://schemas.openxmlformats.org/drawingml/2006/main">
            <a:r>
              <a:t>      "locator": "별표4 · T36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"1018034",</a:t>
            </a:r>
          </a:p>
          <a:p xmlns:a="http://schemas.openxmlformats.org/drawingml/2006/main">
            <a:r>
              <a:t>      "name": "재정회계처",</a:t>
            </a:r>
          </a:p>
          <a:p xmlns:a="http://schemas.openxmlformats.org/drawingml/2006/main">
            <a:r>
              <a:t>      "job": "계약·결산 관리",</a:t>
            </a:r>
          </a:p>
          <a:p xmlns:a="http://schemas.openxmlformats.org/drawingml/2006/main">
            <a:r>
              <a:t>      "indices":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"4. 연간·월간 회계결산 및 연차 결산보고서 작성 보고",</a:t>
            </a:r>
          </a:p>
          <a:p xmlns:a="http://schemas.openxmlformats.org/drawingml/2006/main">
            <a:r>
              <a:t>        "5. 구매․공사 및 용역 등의 계약에 관한 사항"</a:t>
            </a:r>
          </a:p>
          <a:p xmlns:a="http://schemas.openxmlformats.org/drawingml/2006/main">
            <a:r>
              <a:t>      ],</a:t>
            </a:r>
          </a:p>
          <a:p xmlns:a="http://schemas.openxmlformats.org/drawingml/2006/main">
            <a:r>
              <a:t>      "locator": "별표4 · T38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"1018030",</a:t>
            </a:r>
          </a:p>
          <a:p xmlns:a="http://schemas.openxmlformats.org/drawingml/2006/main">
            <a:r>
              <a:t>      "name": "운영지원처",</a:t>
            </a:r>
          </a:p>
          <a:p xmlns:a="http://schemas.openxmlformats.org/drawingml/2006/main">
            <a:r>
              <a:t>      "job": "문서·정보공개 관리",</a:t>
            </a:r>
          </a:p>
          <a:p xmlns:a="http://schemas.openxmlformats.org/drawingml/2006/main">
            <a:r>
              <a:t>      "indices":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"4. 문서의 접수·분류·수발·처리 및 보존관리",</a:t>
            </a:r>
          </a:p>
          <a:p xmlns:a="http://schemas.openxmlformats.org/drawingml/2006/main">
            <a:r>
              <a:t>        "5. 정보공개제도의 운영 및 관리"</a:t>
            </a:r>
          </a:p>
          <a:p xmlns:a="http://schemas.openxmlformats.org/drawingml/2006/main">
            <a:r>
              <a:t>      ],</a:t>
            </a:r>
          </a:p>
          <a:p xmlns:a="http://schemas.openxmlformats.org/drawingml/2006/main">
            <a:r>
              <a:t>      "locator": "별표4 · T38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"설립법·별표4 내부 업무분장 / 인사·재무·계약·전결 등 업무별 규정의 별도 확인",</a:t>
            </a:r>
          </a:p>
          <a:p xmlns:a="http://schemas.openxmlformats.org/drawingml/2006/main">
            <a:r>
              <a:t>  "caseRefs": [</a:t>
            </a:r>
          </a:p>
          <a:p xmlns:a="http://schemas.openxmlformats.org/drawingml/2006/main">
            <a:r>
              <a:t>    {</a:t>
            </a:r>
          </a:p>
          <a:p xmlns:a="http://schemas.openxmlformats.org/drawingml/2006/main">
            <a:r>
              <a:t>      "caseId": "AX04",</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"AX09",</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"AX10",</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"AX21",</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"AX24",</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"성과·경영 문서 검토 지원",</a:t>
            </a:r>
          </a:p>
          <a:p xmlns:a="http://schemas.openxmlformats.org/drawingml/2006/main">
            <a:r>
              <a:t>  "delta": "근거 자료·산식·업무 수행시간 계측",</a:t>
            </a:r>
          </a:p>
          <a:p xmlns:a="http://schemas.openxmlformats.org/drawingml/2006/main">
            <a:r>
              <a:t>  "kpi": "완료시간 / 재작업률 / 업무당 비용",</a:t>
            </a:r>
          </a:p>
          <a:p xmlns:a="http://schemas.openxmlformats.org/drawingml/2006/main">
            <a:r>
              <a:t>  "validation": "동일 난도 비교군·검토시간 포함 평가",</a:t>
            </a:r>
          </a:p>
          <a:p xmlns:a="http://schemas.openxmlformats.org/drawingml/2006/main">
            <a:r>
              <a:t>  "requirement": "BM-ST-10-R01",</a:t>
            </a:r>
          </a:p>
          <a:p xmlns:a="http://schemas.openxmlformats.org/drawingml/2006/main">
            <a:r>
              <a:t>  "test": "BM-ST-10-T01",</a:t>
            </a:r>
          </a:p>
          <a:p xmlns:a="http://schemas.openxmlformats.org/drawingml/2006/main">
            <a:r>
              <a:t>  "effectStatus": "기대 방향 · TS 실측 전",</a:t>
            </a:r>
          </a:p>
          <a:p xmlns:a="http://schemas.openxmlformats.org/drawingml/2006/main">
            <a:r>
              <a:t>  "effect": "검토·재작업을 포함한 업무시간 감소",</a:t>
            </a:r>
          </a:p>
          <a:p xmlns:a="http://schemas.openxmlformats.org/drawingml/2006/main">
            <a:r>
              <a:t>  "reuse": "ON27-BASE / C27-COM + CCK 재사용 판정 기능",</a:t>
            </a:r>
          </a:p>
          <a:p xmlns:a="http://schemas.openxmlformats.org/drawingml/2006/main">
            <a:r>
              <a:t>  "input": "계획·예산·집행·계약·성과 자료, 지표 산식, 전결표",</a:t>
            </a:r>
          </a:p>
          <a:p xmlns:a="http://schemas.openxmlformats.org/drawingml/2006/main">
            <a:r>
              <a:t>  "steps": [</a:t>
            </a:r>
          </a:p>
          <a:p xmlns:a="http://schemas.openxmlformats.org/drawingml/2006/main">
            <a:r>
              <a:t>    "사업·업무건 식별",</a:t>
            </a:r>
          </a:p>
          <a:p xmlns:a="http://schemas.openxmlformats.org/drawingml/2006/main">
            <a:r>
              <a:t>    "계획–집행–성과 원천 대사",</a:t>
            </a:r>
          </a:p>
          <a:p xmlns:a="http://schemas.openxmlformats.org/drawingml/2006/main">
            <a:r>
              <a:t>    "산식·판본·전결 검토",</a:t>
            </a:r>
          </a:p>
          <a:p xmlns:a="http://schemas.openxmlformats.org/drawingml/2006/main">
            <a:r>
              <a:t>    "검토자료 작성·보완"</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"1016050",</a:t>
            </a:r>
          </a:p>
          <a:p xmlns:a="http://schemas.openxmlformats.org/drawingml/2006/main">
            <a:r>
              <a:t>      "name": "예산처",</a:t>
            </a:r>
          </a:p>
          <a:p xmlns:a="http://schemas.openxmlformats.org/drawingml/2006/main">
            <a:r>
              <a:t>      "job": "예산 편성·집행 분석",</a:t>
            </a:r>
          </a:p>
          <a:p xmlns:a="http://schemas.openxmlformats.org/drawingml/2006/main">
            <a:r>
              <a:t>      "indices": [</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"duties": [</a:t>
            </a:r>
          </a:p>
          <a:p xmlns:a="http://schemas.openxmlformats.org/drawingml/2006/main">
            <a:r>
              <a:t>        "3. 예산의 편성‧집행‧운영 관리",</a:t>
            </a:r>
          </a:p>
          <a:p xmlns:a="http://schemas.openxmlformats.org/drawingml/2006/main">
            <a:r>
              <a:t>        "4. 예산집행실적 및 차이분석에 관한 사항"</a:t>
            </a:r>
          </a:p>
          <a:p xmlns:a="http://schemas.openxmlformats.org/drawingml/2006/main">
            <a:r>
              <a:t>      ],</a:t>
            </a:r>
          </a:p>
          <a:p xmlns:a="http://schemas.openxmlformats.org/drawingml/2006/main">
            <a:r>
              <a:t>      "locator": "별표4 · T36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"RULEWORK-1016050-3",</a:t>
            </a:r>
          </a:p>
          <a:p xmlns:a="http://schemas.openxmlformats.org/drawingml/2006/main">
            <a:r>
              <a:t>          "text": "3. 예산의 편성‧집행‧운영 관리",</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"RULEWORK-1016050-3-R01",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"RULEWORK-1016050-3-T01",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"RULEWORK-1016050-3-R02",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"RULEWORK-1016050-3-T02",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"RULEWORK-1016050-3-R03",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"RULEWORK-1016050-4",</a:t>
            </a:r>
          </a:p>
          <a:p xmlns:a="http://schemas.openxmlformats.org/drawingml/2006/main">
            <a:r>
              <a:t>          "text": "4. 예산집행실적 및 차이분석에 관한 사항",</a:t>
            </a:r>
          </a:p>
          <a:p xmlns:a="http://schemas.openxmlformats.org/drawingml/2006/main">
            <a:r>
              <a:t>          "locator": "별표4 · T36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"RULEWORK-1016050-4-R01",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"RULEWORK-1016050-4-T01",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"RULEWORK-1016050-4-R02",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"RULEWORK-1016050-4-T02",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"RULEWORK-1016050-4-R03",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"RULEWORK-1016050-4-T03",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"1016042",</a:t>
            </a:r>
          </a:p>
          <a:p xmlns:a="http://schemas.openxmlformats.org/drawingml/2006/main">
            <a:r>
              <a:t>      "name": "혁신성과처",</a:t>
            </a:r>
          </a:p>
          <a:p xmlns:a="http://schemas.openxmlformats.org/drawingml/2006/main">
            <a:r>
              <a:t>      "job": "기관·부서 성과평가",</a:t>
            </a:r>
          </a:p>
          <a:p xmlns:a="http://schemas.openxmlformats.org/drawingml/2006/main">
            <a:r>
              <a:t>      "indices": [</a:t>
            </a:r>
          </a:p>
          <a:p xmlns:a="http://schemas.openxmlformats.org/drawingml/2006/main">
            <a:r>
              <a:t>        1,</a:t>
            </a:r>
          </a:p>
          <a:p xmlns:a="http://schemas.openxmlformats.org/drawingml/2006/main">
            <a:r>
              <a:t>        3</a:t>
            </a:r>
          </a:p>
          <a:p xmlns:a="http://schemas.openxmlformats.org/drawingml/2006/main">
            <a:r>
              <a:t>      ],</a:t>
            </a:r>
          </a:p>
          <a:p xmlns:a="http://schemas.openxmlformats.org/drawingml/2006/main">
            <a:r>
              <a:t>      "duties": [</a:t>
            </a:r>
          </a:p>
          <a:p xmlns:a="http://schemas.openxmlformats.org/drawingml/2006/main">
            <a:r>
              <a:t>        "내부경영평가(BSC, MBO)에 관한 업무",</a:t>
            </a:r>
          </a:p>
          <a:p xmlns:a="http://schemas.openxmlformats.org/drawingml/2006/main">
            <a:r>
              <a:t>        "4. 임원, 부서장 경영계약 및 이행실적 평가에 관한 업무"</a:t>
            </a:r>
          </a:p>
          <a:p xmlns:a="http://schemas.openxmlformats.org/drawingml/2006/main">
            <a:r>
              <a:t>      ],</a:t>
            </a:r>
          </a:p>
          <a:p xmlns:a="http://schemas.openxmlformats.org/drawingml/2006/main">
            <a:r>
              <a:t>      "locator": "별표4 · T36 · 5행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"RULEWORK-1016042-2",</a:t>
            </a:r>
          </a:p>
          <a:p xmlns:a="http://schemas.openxmlformats.org/drawingml/2006/main">
            <a:r>
              <a:t>          "text": "내부경영평가(BSC, MBO)에 관한 업무",</a:t>
            </a:r>
          </a:p>
          <a:p xmlns:a="http://schemas.openxmlformats.org/drawingml/2006/main">
            <a:r>
              <a:t>          "locator": "별표4 · T36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"RULEWORK-1016042-2-R01",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"RULEWORK-1016042-2-T01",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"RULEWORK-1016042-2-R02",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"RULEWORK-1016042-2-T02",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"RULEWORK-1016042-2-R03",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"RULEWORK-1016042-2-T03",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"RULEWORK-1016042-4",</a:t>
            </a:r>
          </a:p>
          <a:p xmlns:a="http://schemas.openxmlformats.org/drawingml/2006/main">
            <a:r>
              <a:t>          "text": "4. 임원, 부서장 경영계약 및 이행실적 평가에 관한 업무",</a:t>
            </a:r>
          </a:p>
          <a:p xmlns:a="http://schemas.openxmlformats.org/drawingml/2006/main">
            <a:r>
              <a:t>          "locator": "별표4 · T36 · 5행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"RULEWORK-1016042-4-R01",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"RULEWORK-1016042-4-T01",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"RULEWORK-1016042-4-R02",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"RULEWORK-1016042-4-T02",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"RULEWORK-1016042-4-R03",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"RULEWORK-1016042-4-T03",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"1018034",</a:t>
            </a:r>
          </a:p>
          <a:p xmlns:a="http://schemas.openxmlformats.org/drawingml/2006/main">
            <a:r>
              <a:t>      "name": "재정회계처",</a:t>
            </a:r>
          </a:p>
          <a:p xmlns:a="http://schemas.openxmlformats.org/drawingml/2006/main">
            <a:r>
              <a:t>      "job": "계약·결산 관리",</a:t>
            </a:r>
          </a:p>
          <a:p xmlns:a="http://schemas.openxmlformats.org/drawingml/2006/main">
            <a:r>
              <a:t>      "indices":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"4. 연간·월간 회계결산 및 연차 결산보고서 작성 보고",</a:t>
            </a:r>
          </a:p>
          <a:p xmlns:a="http://schemas.openxmlformats.org/drawingml/2006/main">
            <a:r>
              <a:t>        "5. 구매․공사 및 용역 등의 계약에 관한 사항"</a:t>
            </a:r>
          </a:p>
          <a:p xmlns:a="http://schemas.openxmlformats.org/drawingml/2006/main">
            <a:r>
              <a:t>      ],</a:t>
            </a:r>
          </a:p>
          <a:p xmlns:a="http://schemas.openxmlformats.org/drawingml/2006/main">
            <a:r>
              <a:t>      "locator": "별표4 · T38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"RULEWORK-1018034-4",</a:t>
            </a:r>
          </a:p>
          <a:p xmlns:a="http://schemas.openxmlformats.org/drawingml/2006/main">
            <a:r>
              <a:t>          "text": "4. 연간·월간 회계결산 및 연차 결산보고서 작성 보고",</a:t>
            </a:r>
          </a:p>
          <a:p xmlns:a="http://schemas.openxmlformats.org/drawingml/2006/main">
            <a:r>
              <a:t>          "locator": "별표4 · T38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"RULEWORK-1018034-4-R01",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"RULEWORK-1018034-4-T01",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"RULEWORK-1018034-4-R02",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"RULEWORK-1018034-4-T02",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"RULEWORK-1018034-4-R03",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"RULEWORK-1018034-4-T03",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"RULEWORK-1018034-5",</a:t>
            </a:r>
          </a:p>
          <a:p xmlns:a="http://schemas.openxmlformats.org/drawingml/2006/main">
            <a:r>
              <a:t>          "text": "5. 구매․공사 및 용역 등의 계약에 관한 사항",</a:t>
            </a:r>
          </a:p>
          <a:p xmlns:a="http://schemas.openxmlformats.org/drawingml/2006/main">
            <a:r>
              <a:t>          "locator": "별표4 · T38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"RULEWORK-1018034-5-R01",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"RULEWORK-1018034-5-T01",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"RULEWORK-1018034-5-R02",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"RULEWORK-1018034-5-T02",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"RULEWORK-1018034-5-R03",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"RULEWORK-1018034-5-T03",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"1018030",</a:t>
            </a:r>
          </a:p>
          <a:p xmlns:a="http://schemas.openxmlformats.org/drawingml/2006/main">
            <a:r>
              <a:t>      "name": "운영지원처",</a:t>
            </a:r>
          </a:p>
          <a:p xmlns:a="http://schemas.openxmlformats.org/drawingml/2006/main">
            <a:r>
              <a:t>      "job": "문서·정보공개 관리",</a:t>
            </a:r>
          </a:p>
          <a:p xmlns:a="http://schemas.openxmlformats.org/drawingml/2006/main">
            <a:r>
              <a:t>      "indices": [</a:t>
            </a:r>
          </a:p>
          <a:p xmlns:a="http://schemas.openxmlformats.org/drawingml/2006/main">
            <a:r>
              <a:t>        3,</a:t>
            </a:r>
          </a:p>
          <a:p xmlns:a="http://schemas.openxmlformats.org/drawingml/2006/main">
            <a:r>
              <a:t>        4</a:t>
            </a:r>
          </a:p>
          <a:p xmlns:a="http://schemas.openxmlformats.org/drawingml/2006/main">
            <a:r>
              <a:t>      ],</a:t>
            </a:r>
          </a:p>
          <a:p xmlns:a="http://schemas.openxmlformats.org/drawingml/2006/main">
            <a:r>
              <a:t>      "duties": [</a:t>
            </a:r>
          </a:p>
          <a:p xmlns:a="http://schemas.openxmlformats.org/drawingml/2006/main">
            <a:r>
              <a:t>        "4. 문서의 접수·분류·수발·처리 및 보존관리",</a:t>
            </a:r>
          </a:p>
          <a:p xmlns:a="http://schemas.openxmlformats.org/drawingml/2006/main">
            <a:r>
              <a:t>        "5. 정보공개제도의 운영 및 관리"</a:t>
            </a:r>
          </a:p>
          <a:p xmlns:a="http://schemas.openxmlformats.org/drawingml/2006/main">
            <a:r>
              <a:t>      ],</a:t>
            </a:r>
          </a:p>
          <a:p xmlns:a="http://schemas.openxmlformats.org/drawingml/2006/main">
            <a:r>
              <a:t>      "locator": "별표4 · T38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"RULEWORK-1018030-4",</a:t>
            </a:r>
          </a:p>
          <a:p xmlns:a="http://schemas.openxmlformats.org/drawingml/2006/main">
            <a:r>
              <a:t>          "text": "4. 문서의 접수·분류·수발·처리 및 보존관리",</a:t>
            </a:r>
          </a:p>
          <a:p xmlns:a="http://schemas.openxmlformats.org/drawingml/2006/main">
            <a:r>
              <a:t>          "locator": "별표4 · T38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"RULEWORK-1018030-4-R01",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"RULEWORK-1018030-4-T01",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"RULEWORK-1018030-4-R02",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"RULEWORK-1018030-4-T02",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"RULEWORK-1018030-4-R03",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"RULEWORK-1018030-5",</a:t>
            </a:r>
          </a:p>
          <a:p xmlns:a="http://schemas.openxmlformats.org/drawingml/2006/main">
            <a:r>
              <a:t>          "text": "5. 정보공개제도의 운영 및 관리",</a:t>
            </a:r>
          </a:p>
          <a:p xmlns:a="http://schemas.openxmlformats.org/drawingml/2006/main">
            <a:r>
              <a:t>          "locator": "별표4 · T38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"RULEWORK-1018030-5-R01",</a:t>
            </a:r>
          </a:p>
          <a:p xmlns:a="http://schemas.openxmlformats.org/drawingml/2006/main">
            <a:r>
              <a:t>              "title": "업무 맥락·전용 지식 구성",</a:t>
            </a:r>
          </a:p>
          <a:p xmlns:a="http://schemas.openxmlformats.org/drawingml/2006/main">
            <a:r>
              <a:t>              "development": "문의 유형별 지식·소관·안내 서식 선택",</a:t>
            </a:r>
          </a:p>
          <a:p xmlns:a="http://schemas.openxmlformats.org/drawingml/2006/main">
            <a:r>
              <a:t>              "output": "분류·근거 답변·이관·처리 기록",</a:t>
            </a:r>
          </a:p>
          <a:p xmlns:a="http://schemas.openxmlformats.org/drawingml/2006/main">
            <a:r>
              <a:t>              "testId": "RULEWORK-1018030-5-T01",</a:t>
            </a:r>
          </a:p>
          <a:p xmlns:a="http://schemas.openxmlformats.org/drawingml/2006/main">
            <a:r>
              <a:t>              "criterion": "소관·기한·근거·안내 내용 정답 대조"</a:t>
            </a:r>
          </a:p>
          <a:p xmlns:a="http://schemas.openxmlformats.org/drawingml/2006/main">
            <a:r>
              <a:t>            },</a:t>
            </a:r>
          </a:p>
          <a:p xmlns:a="http://schemas.openxmlformats.org/drawingml/2006/main">
            <a:r>
              <a:t>            {</a:t>
            </a:r>
          </a:p>
          <a:p xmlns:a="http://schemas.openxmlformats.org/drawingml/2006/main">
            <a:r>
              <a:t>              "id": "RULEWORK-1018030-5-R02",</a:t>
            </a:r>
          </a:p>
          <a:p xmlns:a="http://schemas.openxmlformats.org/drawingml/2006/main">
            <a:r>
              <a:t>              "title": "업무건·역할·시스템 연결",</a:t>
            </a:r>
          </a:p>
          <a:p xmlns:a="http://schemas.openxmlformats.org/drawingml/2006/main">
            <a:r>
              <a:t>              "development": "접수–이관–수락–답변·민감정보 제한 연결",</a:t>
            </a:r>
          </a:p>
          <a:p xmlns:a="http://schemas.openxmlformats.org/drawingml/2006/main">
            <a:r>
              <a:t>              "output": "업무건·원천·역할·변경 연결 명세",</a:t>
            </a:r>
          </a:p>
          <a:p xmlns:a="http://schemas.openxmlformats.org/drawingml/2006/main">
            <a:r>
              <a:t>              "testId": "RULEWORK-1018030-5-T02",</a:t>
            </a:r>
          </a:p>
          <a:p xmlns:a="http://schemas.openxmlformats.org/drawingml/2006/main">
            <a:r>
              <a:t>              "criterion": "민감 원문 노출·무권한 약속·처분 확정 차단"</a:t>
            </a:r>
          </a:p>
          <a:p xmlns:a="http://schemas.openxmlformats.org/drawingml/2006/main">
            <a:r>
              <a:t>            },</a:t>
            </a:r>
          </a:p>
          <a:p xmlns:a="http://schemas.openxmlformats.org/drawingml/2006/main">
            <a:r>
              <a:t>            {</a:t>
            </a:r>
          </a:p>
          <a:p xmlns:a="http://schemas.openxmlformats.org/drawingml/2006/main">
            <a:r>
              <a:t>              "id": "RULEWORK-1018030-5-R03",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"RULEWORK-1018030-5-T03",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문서 검색·요약·서식"</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"Audin·JET의 증빙 검토·구조화"</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"사업–예산–성과 연결표",</a:t>
            </a:r>
          </a:p>
          <a:p xmlns:a="http://schemas.openxmlformats.org/drawingml/2006/main">
            <a:r>
              <a:t>    "지표 산식 검증·검토시간 계측"</a:t>
            </a:r>
          </a:p>
          <a:p xmlns:a="http://schemas.openxmlformats.org/drawingml/2006/main">
            <a:r>
              <a:t>  ],</a:t>
            </a:r>
          </a:p>
          <a:p xmlns:a="http://schemas.openxmlformats.org/drawingml/2006/main">
            <a:r>
              <a:t>  "acceptancePlan": {</a:t>
            </a:r>
          </a:p>
          <a:p xmlns:a="http://schemas.openxmlformats.org/drawingml/2006/main">
            <a:r>
              <a:t>    "sample": "집행 중복, 다른 보고기간, 산식 오류, 전결권 부재",</a:t>
            </a:r>
          </a:p>
          <a:p xmlns:a="http://schemas.openxmlformats.org/drawingml/2006/main">
            <a:r>
              <a:t>    "criterion": "원천 합계 일치·오류 보류·권한별 결과 분리",</a:t>
            </a:r>
          </a:p>
          <a:p xmlns:a="http://schemas.openxmlformats.org/drawingml/2006/main">
            <a:r>
              <a:t>    "evidence": "원천 대사표·업무시간 기록·보완 결과",</a:t>
            </a:r>
          </a:p>
          <a:p xmlns:a="http://schemas.openxmlformats.org/drawingml/2006/main">
            <a:r>
              <a:t>    "execution": "미실행"</a:t>
            </a:r>
          </a:p>
          <a:p xmlns:a="http://schemas.openxmlformats.org/drawingml/2006/main">
            <a:r>
              <a:t>  },</a:t>
            </a:r>
          </a:p>
          <a:p xmlns:a="http://schemas.openxmlformats.org/drawingml/2006/main">
            <a:r>
              <a:t>  "formula": "최종 검토까지 소요시간 중앙값 / 재작업 건수 ÷ 완료 건수 / 업무당 비용",</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"PF-R01",</a:t>
            </a:r>
          </a:p>
          <a:p xmlns:a="http://schemas.openxmlformats.org/drawingml/2006/main">
            <a:r>
              <a:t>    "PF-R03",</a:t>
            </a:r>
          </a:p>
          <a:p xmlns:a="http://schemas.openxmlformats.org/drawingml/2006/main">
            <a:r>
              <a:t>    "PF-R06",</a:t>
            </a:r>
          </a:p>
          <a:p xmlns:a="http://schemas.openxmlformats.org/drawingml/2006/main">
            <a:r>
              <a:t>    "PF-R08",</a:t>
            </a:r>
          </a:p>
          <a:p xmlns:a="http://schemas.openxmlformats.org/drawingml/2006/main">
            <a:r>
              <a:t>    "PF01",</a:t>
            </a:r>
          </a:p>
          <a:p xmlns:a="http://schemas.openxmlformats.org/drawingml/2006/main">
            <a:r>
              <a:t>    "PF02",</a:t>
            </a:r>
          </a:p>
          <a:p xmlns:a="http://schemas.openxmlformats.org/drawingml/2006/main">
            <a:r>
              <a:t>    "PF04",</a:t>
            </a:r>
          </a:p>
          <a:p xmlns:a="http://schemas.openxmlformats.org/drawingml/2006/main">
            <a:r>
              <a:t>    "PF-A09",</a:t>
            </a:r>
          </a:p>
          <a:p xmlns:a="http://schemas.openxmlformats.org/drawingml/2006/main">
            <a:r>
              <a:t>    "PF-A13",</a:t>
            </a:r>
          </a:p>
          <a:p xmlns:a="http://schemas.openxmlformats.org/drawingml/2006/main">
            <a:r>
              <a:t>    "PF-A15",</a:t>
            </a:r>
          </a:p>
          <a:p xmlns:a="http://schemas.openxmlformats.org/drawingml/2006/main">
            <a:r>
              <a:t>    "PF-A16",</a:t>
            </a:r>
          </a:p>
          <a:p xmlns:a="http://schemas.openxmlformats.org/drawingml/2006/main">
            <a:r>
              <a:t>    "PF08",</a:t>
            </a:r>
          </a:p>
          <a:p xmlns:a="http://schemas.openxmlformats.org/drawingml/2006/main">
            <a:r>
              <a:t>    "PF-A18",</a:t>
            </a:r>
          </a:p>
          <a:p xmlns:a="http://schemas.openxmlformats.org/drawingml/2006/main">
            <a:r>
              <a:t>    "PF-C03"</a:t>
            </a:r>
          </a:p>
          <a:p xmlns:a="http://schemas.openxmlformats.org/drawingml/2006/main">
            <a:r>
              <a:t>  ]</a:t>
            </a:r>
          </a:p>
          <a:p xmlns:a="http://schemas.openxmlformats.org/drawingml/2006/main">
            <a:r>
              <a:t>}</a:t>
            </a:r>
          </a:p>
          <a:p xmlns:a="http://schemas.openxmlformats.org/drawingml/2006/main">
            <a:r>
              <a:t>CCK-01: NOA 사용자 가이드 확인. 설치본 기능시험 필요.</a:t>
            </a:r>
          </a:p>
          <a:p xmlns:a="http://schemas.openxmlformats.org/drawingml/2006/main">
            <a:r>
              <a:t>CCK-02/03: 명세 기반 재사용 후보. 실물 기능검증 필요.</a:t>
            </a:r>
          </a:p>
          <a:p xmlns:a="http://schemas.openxmlformats.org/drawingml/2006/main">
            <a:r>
              <a:t>기존 SSO·RAG·권한·로그·연계 범위 대조 후 추가분 산정.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"ST-11",</a:t>
            </a:r>
          </a:p>
          <a:p xmlns:a="http://schemas.openxmlformats.org/drawingml/2006/main">
            <a:r>
              <a:t>  "number": 11,</a:t>
            </a:r>
          </a:p>
          <a:p xmlns:a="http://schemas.openxmlformats.org/drawingml/2006/main">
            <a:r>
              <a:t>  "direction": "지속가능 책임경영 이행",</a:t>
            </a:r>
          </a:p>
          <a:p xmlns:a="http://schemas.openxmlformats.org/drawingml/2006/main">
            <a:r>
              <a:t>  "strategy": "지속가능 ESG 경영성과 실현",</a:t>
            </a:r>
          </a:p>
          <a:p xmlns:a="http://schemas.openxmlformats.org/drawingml/2006/main">
            <a:r>
              <a:t>  "solution": "ESG 이행·증빙 관리",</a:t>
            </a:r>
          </a:p>
          <a:p xmlns:a="http://schemas.openxmlformats.org/drawingml/2006/main">
            <a:r>
              <a:t>  "lawIds": [],</a:t>
            </a:r>
          </a:p>
          <a:p xmlns:a="http://schemas.openxmlformats.org/drawingml/2006/main">
            <a:r>
              <a:t>  "codes": [</a:t>
            </a:r>
          </a:p>
          <a:p xmlns:a="http://schemas.openxmlformats.org/drawingml/2006/main">
            <a:r>
              <a:t>    "1016047",</a:t>
            </a:r>
          </a:p>
          <a:p xmlns:a="http://schemas.openxmlformats.org/drawingml/2006/main">
            <a:r>
              <a:t>    "1016043",</a:t>
            </a:r>
          </a:p>
          <a:p xmlns:a="http://schemas.openxmlformats.org/drawingml/2006/main">
            <a:r>
              <a:t>    "1019040",</a:t>
            </a:r>
          </a:p>
          <a:p xmlns:a="http://schemas.openxmlformats.org/drawingml/2006/main">
            <a:r>
              <a:t>    "1018034"</a:t>
            </a:r>
          </a:p>
          <a:p xmlns:a="http://schemas.openxmlformats.org/drawingml/2006/main">
            <a:r>
              <a:t>  ],</a:t>
            </a:r>
          </a:p>
          <a:p xmlns:a="http://schemas.openxmlformats.org/drawingml/2006/main">
            <a:r>
              <a:t>  "work": "ESG·사회가치·안전보건·환경 실적의 부서 협업",</a:t>
            </a:r>
          </a:p>
          <a:p xmlns:a="http://schemas.openxmlformats.org/drawingml/2006/main">
            <a:r>
              <a:t>  "features": [</a:t>
            </a:r>
          </a:p>
          <a:p xmlns:a="http://schemas.openxmlformats.org/drawingml/2006/main">
            <a:r>
              <a:t>    "지표별 정의·보고기간·증빙·책임자 연결",</a:t>
            </a:r>
          </a:p>
          <a:p xmlns:a="http://schemas.openxmlformats.org/drawingml/2006/main">
            <a:r>
              <a:t>    "이행과제·공시 항목·검토 이력 정리"</a:t>
            </a:r>
          </a:p>
          <a:p xmlns:a="http://schemas.openxmlformats.org/drawingml/2006/main">
            <a:r>
              <a:t>  ],</a:t>
            </a:r>
          </a:p>
          <a:p xmlns:a="http://schemas.openxmlformats.org/drawingml/2006/main">
            <a:r>
              <a:t>  "output": "ESG 증빙대장·공시 검토 초안",</a:t>
            </a:r>
          </a:p>
          <a:p xmlns:a="http://schemas.openxmlformats.org/drawingml/2006/main">
            <a:r>
              <a:t>  "acceptance": "공시 수치의 원천·판본 추적 및 누락/중복 증빙 식별",</a:t>
            </a:r>
          </a:p>
          <a:p xmlns:a="http://schemas.openxmlformats.org/drawingml/2006/main">
            <a:r>
              <a:t>  "phase": "공통 기반 인수 후 부서별 적용",</a:t>
            </a:r>
          </a:p>
          <a:p xmlns:a="http://schemas.openxmlformats.org/drawingml/2006/main">
            <a:r>
              <a:t>  "packages": [</a:t>
            </a:r>
          </a:p>
          <a:p xmlns:a="http://schemas.openxmlformats.org/drawingml/2006/main">
            <a:r>
              <a:t>    "ON-W01",</a:t>
            </a:r>
          </a:p>
          <a:p xmlns:a="http://schemas.openxmlformats.org/drawingml/2006/main">
            <a:r>
              <a:t>    "ON-W04",</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"GAI-T06",</a:t>
            </a:r>
          </a:p>
          <a:p xmlns:a="http://schemas.openxmlformats.org/drawingml/2006/main">
            <a:r>
              <a:t>    "GAI-T07",</a:t>
            </a:r>
          </a:p>
          <a:p xmlns:a="http://schemas.openxmlformats.org/drawingml/2006/main">
            <a:r>
              <a:t>    "GAI-T11"</a:t>
            </a:r>
          </a:p>
          <a:p xmlns:a="http://schemas.openxmlformats.org/drawingml/2006/main">
            <a:r>
              <a:t>  ],</a:t>
            </a:r>
          </a:p>
          <a:p xmlns:a="http://schemas.openxmlformats.org/drawingml/2006/main">
            <a:r>
              <a:t>  "status": "솔루션·조직·범위 연결안",</a:t>
            </a:r>
          </a:p>
          <a:p xmlns:a="http://schemas.openxmlformats.org/drawingml/2006/main">
            <a:r>
              <a:t>  "basis": "설립법·직제시행세칙 기반 경영지원 업무",</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"1016047",</a:t>
            </a:r>
          </a:p>
          <a:p xmlns:a="http://schemas.openxmlformats.org/drawingml/2006/main">
            <a:r>
              <a:t>      "name": "ESG경영처",</a:t>
            </a:r>
          </a:p>
          <a:p xmlns:a="http://schemas.openxmlformats.org/drawingml/2006/main">
            <a:r>
              <a:t>      "job": "ESG 총괄·보고서",</a:t>
            </a:r>
          </a:p>
          <a:p xmlns:a="http://schemas.openxmlformats.org/drawingml/2006/main">
            <a:r>
              <a:t>      "indices": [</a:t>
            </a:r>
          </a:p>
          <a:p xmlns:a="http://schemas.openxmlformats.org/drawingml/2006/main">
            <a:r>
              <a:t>        0,</a:t>
            </a:r>
          </a:p>
          <a:p xmlns:a="http://schemas.openxmlformats.org/drawingml/2006/main">
            <a:r>
              <a:t>        12</a:t>
            </a:r>
          </a:p>
          <a:p xmlns:a="http://schemas.openxmlformats.org/drawingml/2006/main">
            <a:r>
              <a:t>      ],</a:t>
            </a:r>
          </a:p>
          <a:p xmlns:a="http://schemas.openxmlformats.org/drawingml/2006/main">
            <a:r>
              <a:t>      "duties": [</a:t>
            </a:r>
          </a:p>
          <a:p xmlns:a="http://schemas.openxmlformats.org/drawingml/2006/main">
            <a:r>
              <a:t>        "1. ESG․지속가능․윤리․인권경영에 관한 업무 총괄",</a:t>
            </a:r>
          </a:p>
          <a:p xmlns:a="http://schemas.openxmlformats.org/drawingml/2006/main">
            <a:r>
              <a:t>        "10. 지속가능경영보고서(ESG보고서) 발간에 관한 업무"</a:t>
            </a:r>
          </a:p>
          <a:p xmlns:a="http://schemas.openxmlformats.org/drawingml/2006/main">
            <a:r>
              <a:t>      ],</a:t>
            </a:r>
          </a:p>
          <a:p xmlns:a="http://schemas.openxmlformats.org/drawingml/2006/main">
            <a:r>
              <a:t>      "locator": "별표4 · T36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"1016043",</a:t>
            </a:r>
          </a:p>
          <a:p xmlns:a="http://schemas.openxmlformats.org/drawingml/2006/main">
            <a:r>
              <a:t>      "name": "안전보건실",</a:t>
            </a:r>
          </a:p>
          <a:p xmlns:a="http://schemas.openxmlformats.org/drawingml/2006/main">
            <a:r>
              <a:t>      "job": "안전경영 성과관리",</a:t>
            </a:r>
          </a:p>
          <a:p xmlns:a="http://schemas.openxmlformats.org/drawingml/2006/main">
            <a:r>
              <a:t>      "indices": [</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"2. 안전경영 성과관리 및 안전촉진 활동에 관한 업무"</a:t>
            </a:r>
          </a:p>
          <a:p xmlns:a="http://schemas.openxmlformats.org/drawingml/2006/main">
            <a:r>
              <a:t>      ],</a:t>
            </a:r>
          </a:p>
          <a:p xmlns:a="http://schemas.openxmlformats.org/drawingml/2006/main">
            <a:r>
              <a:t>      "locator": "별표4 · T34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"1019040",</a:t>
            </a:r>
          </a:p>
          <a:p xmlns:a="http://schemas.openxmlformats.org/drawingml/2006/main">
            <a:r>
              <a:t>      "name": "기후탄소물류처",</a:t>
            </a:r>
          </a:p>
          <a:p xmlns:a="http://schemas.openxmlformats.org/drawingml/2006/main">
            <a:r>
              <a:t>      "job": "교통물류 정책자료",</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교통물류 정책관련 연구‧사업 업무"</a:t>
            </a:r>
          </a:p>
          <a:p xmlns:a="http://schemas.openxmlformats.org/drawingml/2006/main">
            <a:r>
              <a:t>      ],</a:t>
            </a:r>
          </a:p>
          <a:p xmlns:a="http://schemas.openxmlformats.org/drawingml/2006/main">
            <a:r>
              <a:t>      "locator": "별표4 · T40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"1018034",</a:t>
            </a:r>
          </a:p>
          <a:p xmlns:a="http://schemas.openxmlformats.org/drawingml/2006/main">
            <a:r>
              <a:t>      "name": "재정회계처",</a:t>
            </a:r>
          </a:p>
          <a:p xmlns:a="http://schemas.openxmlformats.org/drawingml/2006/main">
            <a:r>
              <a:t>      "job": "회계·계약 증빙",</a:t>
            </a:r>
          </a:p>
          <a:p xmlns:a="http://schemas.openxmlformats.org/drawingml/2006/main">
            <a:r>
              <a:t>      "indices": [</a:t>
            </a:r>
          </a:p>
          <a:p xmlns:a="http://schemas.openxmlformats.org/drawingml/2006/main">
            <a:r>
              <a:t>        3,</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"4. 연간·월간 회계결산 및 연차 결산보고서 작성 보고",</a:t>
            </a:r>
          </a:p>
          <a:p xmlns:a="http://schemas.openxmlformats.org/drawingml/2006/main">
            <a:r>
              <a:t>        "10. 회계․계약관련 제도개선 및 회계감사·세무조사에 관한 사항"</a:t>
            </a:r>
          </a:p>
          <a:p xmlns:a="http://schemas.openxmlformats.org/drawingml/2006/main">
            <a:r>
              <a:t>      ],</a:t>
            </a:r>
          </a:p>
          <a:p xmlns:a="http://schemas.openxmlformats.org/drawingml/2006/main">
            <a:r>
              <a:t>      "locator": "별표4 · T38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"설립법·별표4 내부 업무분장 / 인사·재무·계약·전결 등 업무별 규정의 별도 확인",</a:t>
            </a:r>
          </a:p>
          <a:p xmlns:a="http://schemas.openxmlformats.org/drawingml/2006/main">
            <a:r>
              <a:t>  "caseRefs": [</a:t>
            </a:r>
          </a:p>
          <a:p xmlns:a="http://schemas.openxmlformats.org/drawingml/2006/main">
            <a:r>
              <a:t>    {</a:t>
            </a:r>
          </a:p>
          <a:p xmlns:a="http://schemas.openxmlformats.org/drawingml/2006/main">
            <a:r>
              <a:t>      "caseId": "AX05",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"AX08",</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"AX14",</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"ESG 증빙·공시 검토 지원",</a:t>
            </a:r>
          </a:p>
          <a:p xmlns:a="http://schemas.openxmlformats.org/drawingml/2006/main">
            <a:r>
              <a:t>  "delta": "지표별 산식·원천·검토자·변경 이력 연결",</a:t>
            </a:r>
          </a:p>
          <a:p xmlns:a="http://schemas.openxmlformats.org/drawingml/2006/main">
            <a:r>
              <a:t>  "kpi": "증빙 누락률 / 공시 검토시간",</a:t>
            </a:r>
          </a:p>
          <a:p xmlns:a="http://schemas.openxmlformats.org/drawingml/2006/main">
            <a:r>
              <a:t>  "validation": "산식·원문 불일치와 보고 누락 주입 시험",</a:t>
            </a:r>
          </a:p>
          <a:p xmlns:a="http://schemas.openxmlformats.org/drawingml/2006/main">
            <a:r>
              <a:t>  "requirement": "BM-ST-11-R01",</a:t>
            </a:r>
          </a:p>
          <a:p xmlns:a="http://schemas.openxmlformats.org/drawingml/2006/main">
            <a:r>
              <a:t>  "test": "BM-ST-11-T01",</a:t>
            </a:r>
          </a:p>
          <a:p xmlns:a="http://schemas.openxmlformats.org/drawingml/2006/main">
            <a:r>
              <a:t>  "effectStatus": "기대 방향 · TS 실측 전",</a:t>
            </a:r>
          </a:p>
          <a:p xmlns:a="http://schemas.openxmlformats.org/drawingml/2006/main">
            <a:r>
              <a:t>  "effect": "공시 근거 누락·검토시간 감소",</a:t>
            </a:r>
          </a:p>
          <a:p xmlns:a="http://schemas.openxmlformats.org/drawingml/2006/main">
            <a:r>
              <a:t>  "reuse": "ON27-BASE / C27-COM + CCK 재사용 판정 기능",</a:t>
            </a:r>
          </a:p>
          <a:p xmlns:a="http://schemas.openxmlformats.org/drawingml/2006/main">
            <a:r>
              <a:t>  "input": "ESG 지표 정의, 환경·안전·사회가치 실적, 공시 근거",</a:t>
            </a:r>
          </a:p>
          <a:p xmlns:a="http://schemas.openxmlformats.org/drawingml/2006/main">
            <a:r>
              <a:t>  "steps": [</a:t>
            </a:r>
          </a:p>
          <a:p xmlns:a="http://schemas.openxmlformats.org/drawingml/2006/main">
            <a:r>
              <a:t>    "지표·기간·담당 연결",</a:t>
            </a:r>
          </a:p>
          <a:p xmlns:a="http://schemas.openxmlformats.org/drawingml/2006/main">
            <a:r>
              <a:t>    "원천 증빙 수집",</a:t>
            </a:r>
          </a:p>
          <a:p xmlns:a="http://schemas.openxmlformats.org/drawingml/2006/main">
            <a:r>
              <a:t>    "중복·산식 대사",</a:t>
            </a:r>
          </a:p>
          <a:p xmlns:a="http://schemas.openxmlformats.org/drawingml/2006/main">
            <a:r>
              <a:t>    "검토·공시 판본 관리"</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"1016047",</a:t>
            </a:r>
          </a:p>
          <a:p xmlns:a="http://schemas.openxmlformats.org/drawingml/2006/main">
            <a:r>
              <a:t>      "name": "ESG경영처",</a:t>
            </a:r>
          </a:p>
          <a:p xmlns:a="http://schemas.openxmlformats.org/drawingml/2006/main">
            <a:r>
              <a:t>      "job": "ESG 총괄·보고서",</a:t>
            </a:r>
          </a:p>
          <a:p xmlns:a="http://schemas.openxmlformats.org/drawingml/2006/main">
            <a:r>
              <a:t>      "indices": [</a:t>
            </a:r>
          </a:p>
          <a:p xmlns:a="http://schemas.openxmlformats.org/drawingml/2006/main">
            <a:r>
              <a:t>        0,</a:t>
            </a:r>
          </a:p>
          <a:p xmlns:a="http://schemas.openxmlformats.org/drawingml/2006/main">
            <a:r>
              <a:t>        12</a:t>
            </a:r>
          </a:p>
          <a:p xmlns:a="http://schemas.openxmlformats.org/drawingml/2006/main">
            <a:r>
              <a:t>      ],</a:t>
            </a:r>
          </a:p>
          <a:p xmlns:a="http://schemas.openxmlformats.org/drawingml/2006/main">
            <a:r>
              <a:t>      "duties": [</a:t>
            </a:r>
          </a:p>
          <a:p xmlns:a="http://schemas.openxmlformats.org/drawingml/2006/main">
            <a:r>
              <a:t>        "1. ESG․지속가능․윤리․인권경영에 관한 업무 총괄",</a:t>
            </a:r>
          </a:p>
          <a:p xmlns:a="http://schemas.openxmlformats.org/drawingml/2006/main">
            <a:r>
              <a:t>        "10. 지속가능경영보고서(ESG보고서) 발간에 관한 업무"</a:t>
            </a:r>
          </a:p>
          <a:p xmlns:a="http://schemas.openxmlformats.org/drawingml/2006/main">
            <a:r>
              <a:t>      ],</a:t>
            </a:r>
          </a:p>
          <a:p xmlns:a="http://schemas.openxmlformats.org/drawingml/2006/main">
            <a:r>
              <a:t>      "locator": "별표4 · T36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"RULEWORK-1016047-1",</a:t>
            </a:r>
          </a:p>
          <a:p xmlns:a="http://schemas.openxmlformats.org/drawingml/2006/main">
            <a:r>
              <a:t>          "text": "1. ESG․지속가능․윤리․인권경영에 관한 업무 총괄",</a:t>
            </a:r>
          </a:p>
          <a:p xmlns:a="http://schemas.openxmlformats.org/drawingml/2006/main">
            <a:r>
              <a:t>          "locator": "별표4 · T36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"RULEWORK-1016047-1-R01",</a:t>
            </a:r>
          </a:p>
          <a:p xmlns:a="http://schemas.openxmlformats.org/drawingml/2006/main">
            <a:r>
              <a:t>              "title": "업무 맥락·전용 지식 구성",</a:t>
            </a:r>
          </a:p>
          <a:p xmlns:a="http://schemas.openxmlformats.org/drawingml/2006/main">
            <a:r>
              <a:t>              "development": "지표 정의·기간별 실적·증빙 분류",</a:t>
            </a:r>
          </a:p>
          <a:p xmlns:a="http://schemas.openxmlformats.org/drawingml/2006/main">
            <a:r>
              <a:t>              "output": "지표·누락·개선·공시 검토자료",</a:t>
            </a:r>
          </a:p>
          <a:p xmlns:a="http://schemas.openxmlformats.org/drawingml/2006/main">
            <a:r>
              <a:t>              "testId": "RULEWORK-1016047-1-T01",</a:t>
            </a:r>
          </a:p>
          <a:p xmlns:a="http://schemas.openxmlformats.org/drawingml/2006/main">
            <a:r>
              <a:t>              "criterion": "분모·기간·중복 실적·주장별 증빙 대조"</a:t>
            </a:r>
          </a:p>
          <a:p xmlns:a="http://schemas.openxmlformats.org/drawingml/2006/main">
            <a:r>
              <a:t>            },</a:t>
            </a:r>
          </a:p>
          <a:p xmlns:a="http://schemas.openxmlformats.org/drawingml/2006/main">
            <a:r>
              <a:t>            {</a:t>
            </a:r>
          </a:p>
          <a:p xmlns:a="http://schemas.openxmlformats.org/drawingml/2006/main">
            <a:r>
              <a:t>              "id": "RULEWORK-1016047-1-R02",</a:t>
            </a:r>
          </a:p>
          <a:p xmlns:a="http://schemas.openxmlformats.org/drawingml/2006/main">
            <a:r>
              <a:t>              "title": "업무건·역할·시스템 연결",</a:t>
            </a:r>
          </a:p>
          <a:p xmlns:a="http://schemas.openxmlformats.org/drawingml/2006/main">
            <a:r>
              <a:t>              "development": "활동–성과–공시 근거·승인 판본 연결",</a:t>
            </a:r>
          </a:p>
          <a:p xmlns:a="http://schemas.openxmlformats.org/drawingml/2006/main">
            <a:r>
              <a:t>              "output": "업무건·원천·역할·변경 연결 명세",</a:t>
            </a:r>
          </a:p>
          <a:p xmlns:a="http://schemas.openxmlformats.org/drawingml/2006/main">
            <a:r>
              <a:t>              "testId": "RULEWORK-1016047-1-T02",</a:t>
            </a:r>
          </a:p>
          <a:p xmlns:a="http://schemas.openxmlformats.org/drawingml/2006/main">
            <a:r>
              <a:t>              "criterion": "미입증 성과·공시 수치의 확정 처리 차단"</a:t>
            </a:r>
          </a:p>
          <a:p xmlns:a="http://schemas.openxmlformats.org/drawingml/2006/main">
            <a:r>
              <a:t>            },</a:t>
            </a:r>
          </a:p>
          <a:p xmlns:a="http://schemas.openxmlformats.org/drawingml/2006/main">
            <a:r>
              <a:t>            {</a:t>
            </a:r>
          </a:p>
          <a:p xmlns:a="http://schemas.openxmlformats.org/drawingml/2006/main">
            <a:r>
              <a:t>              "id": "RULEWORK-1016047-1-R03",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"RULEWORK-1016047-1-T03",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"RULEWORK-1016047-13",</a:t>
            </a:r>
          </a:p>
          <a:p xmlns:a="http://schemas.openxmlformats.org/drawingml/2006/main">
            <a:r>
              <a:t>          "text": "10. 지속가능경영보고서(ESG보고서) 발간에 관한 업무",</a:t>
            </a:r>
          </a:p>
          <a:p xmlns:a="http://schemas.openxmlformats.org/drawingml/2006/main">
            <a:r>
              <a:t>          "locator": "별표4 · T36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"RULEWORK-1016047-13-R01",</a:t>
            </a:r>
          </a:p>
          <a:p xmlns:a="http://schemas.openxmlformats.org/drawingml/2006/main">
            <a:r>
              <a:t>              "title": "업무 맥락·전용 지식 구성",</a:t>
            </a:r>
          </a:p>
          <a:p xmlns:a="http://schemas.openxmlformats.org/drawingml/2006/main">
            <a:r>
              <a:t>              "development": "지표 정의·기간별 실적·증빙 분류",</a:t>
            </a:r>
          </a:p>
          <a:p xmlns:a="http://schemas.openxmlformats.org/drawingml/2006/main">
            <a:r>
              <a:t>              "output": "지표·누락·개선·공시 검토자료",</a:t>
            </a:r>
          </a:p>
          <a:p xmlns:a="http://schemas.openxmlformats.org/drawingml/2006/main">
            <a:r>
              <a:t>              "testId": "RULEWORK-1016047-13-T01",</a:t>
            </a:r>
          </a:p>
          <a:p xmlns:a="http://schemas.openxmlformats.org/drawingml/2006/main">
            <a:r>
              <a:t>              "criterion": "분모·기간·중복 실적·주장별 증빙 대조"</a:t>
            </a:r>
          </a:p>
          <a:p xmlns:a="http://schemas.openxmlformats.org/drawingml/2006/main">
            <a:r>
              <a:t>            },</a:t>
            </a:r>
          </a:p>
          <a:p xmlns:a="http://schemas.openxmlformats.org/drawingml/2006/main">
            <a:r>
              <a:t>            {</a:t>
            </a:r>
          </a:p>
          <a:p xmlns:a="http://schemas.openxmlformats.org/drawingml/2006/main">
            <a:r>
              <a:t>              "id": "RULEWORK-1016047-13-R02",</a:t>
            </a:r>
          </a:p>
          <a:p xmlns:a="http://schemas.openxmlformats.org/drawingml/2006/main">
            <a:r>
              <a:t>              "title": "업무건·역할·시스템 연결",</a:t>
            </a:r>
          </a:p>
          <a:p xmlns:a="http://schemas.openxmlformats.org/drawingml/2006/main">
            <a:r>
              <a:t>              "development": "활동–성과–공시 근거·승인 판본 연결",</a:t>
            </a:r>
          </a:p>
          <a:p xmlns:a="http://schemas.openxmlformats.org/drawingml/2006/main">
            <a:r>
              <a:t>              "output": "업무건·원천·역할·변경 연결 명세",</a:t>
            </a:r>
          </a:p>
          <a:p xmlns:a="http://schemas.openxmlformats.org/drawingml/2006/main">
            <a:r>
              <a:t>              "testId": "RULEWORK-1016047-13-T02",</a:t>
            </a:r>
          </a:p>
          <a:p xmlns:a="http://schemas.openxmlformats.org/drawingml/2006/main">
            <a:r>
              <a:t>              "criterion": "미입증 성과·공시 수치의 확정 처리 차단"</a:t>
            </a:r>
          </a:p>
          <a:p xmlns:a="http://schemas.openxmlformats.org/drawingml/2006/main">
            <a:r>
              <a:t>            },</a:t>
            </a:r>
          </a:p>
          <a:p xmlns:a="http://schemas.openxmlformats.org/drawingml/2006/main">
            <a:r>
              <a:t>            {</a:t>
            </a:r>
          </a:p>
          <a:p xmlns:a="http://schemas.openxmlformats.org/drawingml/2006/main">
            <a:r>
              <a:t>              "id": "RULEWORK-1016047-13-R03",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"RULEWORK-1016047-13-T03",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"1016043",</a:t>
            </a:r>
          </a:p>
          <a:p xmlns:a="http://schemas.openxmlformats.org/drawingml/2006/main">
            <a:r>
              <a:t>      "name": "안전보건실",</a:t>
            </a:r>
          </a:p>
          <a:p xmlns:a="http://schemas.openxmlformats.org/drawingml/2006/main">
            <a:r>
              <a:t>      "job": "안전경영 성과관리",</a:t>
            </a:r>
          </a:p>
          <a:p xmlns:a="http://schemas.openxmlformats.org/drawingml/2006/main">
            <a:r>
              <a:t>      "indices": [</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"2. 안전경영 성과관리 및 안전촉진 활동에 관한 업무"</a:t>
            </a:r>
          </a:p>
          <a:p xmlns:a="http://schemas.openxmlformats.org/drawingml/2006/main">
            <a:r>
              <a:t>      ],</a:t>
            </a:r>
          </a:p>
          <a:p xmlns:a="http://schemas.openxmlformats.org/drawingml/2006/main">
            <a:r>
              <a:t>      "locator": "별표4 · T34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"RULEWORK-1016043-2",</a:t>
            </a:r>
          </a:p>
          <a:p xmlns:a="http://schemas.openxmlformats.org/drawingml/2006/main">
            <a:r>
              <a:t>          "text": "2. 안전경영 성과관리 및 안전촉진 활동에 관한 업무",</a:t>
            </a:r>
          </a:p>
          <a:p xmlns:a="http://schemas.openxmlformats.org/drawingml/2006/main">
            <a:r>
              <a:t>          "locator": "별표4 · T34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"RULEWORK-1016043-2-R01",</a:t>
            </a:r>
          </a:p>
          <a:p xmlns:a="http://schemas.openxmlformats.org/drawingml/2006/main">
            <a:r>
              <a:t>              "title": "업무 맥락·전용 지식 구성",</a:t>
            </a:r>
          </a:p>
          <a:p xmlns:a="http://schemas.openxmlformats.org/drawingml/2006/main">
            <a:r>
              <a:t>              "development": "작업·위험 유형별 기준·증빙 분류",</a:t>
            </a:r>
          </a:p>
          <a:p xmlns:a="http://schemas.openxmlformats.org/drawingml/2006/main">
            <a:r>
              <a:t>              "output": "위험·예방조치·이행·재점검표",</a:t>
            </a:r>
          </a:p>
          <a:p xmlns:a="http://schemas.openxmlformats.org/drawingml/2006/main">
            <a:r>
              <a:t>              "testId": "RULEWORK-1016043-2-T01",</a:t>
            </a:r>
          </a:p>
          <a:p xmlns:a="http://schemas.openxmlformats.org/drawingml/2006/main">
            <a:r>
              <a:t>              "criterion": "중대 위험·미이행·반복 지적의 정답 대조"</a:t>
            </a:r>
          </a:p>
          <a:p xmlns:a="http://schemas.openxmlformats.org/drawingml/2006/main">
            <a:r>
              <a:t>            },</a:t>
            </a:r>
          </a:p>
          <a:p xmlns:a="http://schemas.openxmlformats.org/drawingml/2006/main">
            <a:r>
              <a:t>            {</a:t>
            </a:r>
          </a:p>
          <a:p xmlns:a="http://schemas.openxmlformats.org/drawingml/2006/main">
            <a:r>
              <a:t>              "id": "RULEWORK-1016043-2-R02",</a:t>
            </a:r>
          </a:p>
          <a:p xmlns:a="http://schemas.openxmlformats.org/drawingml/2006/main">
            <a:r>
              <a:t>              "title": "업무건·역할·시스템 연결",</a:t>
            </a:r>
          </a:p>
          <a:p xmlns:a="http://schemas.openxmlformats.org/drawingml/2006/main">
            <a:r>
              <a:t>              "development": "개선 책임·기한·이행·재확인 연결",</a:t>
            </a:r>
          </a:p>
          <a:p xmlns:a="http://schemas.openxmlformats.org/drawingml/2006/main">
            <a:r>
              <a:t>              "output": "업무건·원천·역할·변경 연결 명세",</a:t>
            </a:r>
          </a:p>
          <a:p xmlns:a="http://schemas.openxmlformats.org/drawingml/2006/main">
            <a:r>
              <a:t>              "testId": "RULEWORK-1016043-2-T02",</a:t>
            </a:r>
          </a:p>
          <a:p xmlns:a="http://schemas.openxmlformats.org/drawingml/2006/main">
            <a:r>
              <a:t>              "criterion": "필수 조치 미완료 건의 안전 확인 처리 차단"</a:t>
            </a:r>
          </a:p>
          <a:p xmlns:a="http://schemas.openxmlformats.org/drawingml/2006/main">
            <a:r>
              <a:t>            },</a:t>
            </a:r>
          </a:p>
          <a:p xmlns:a="http://schemas.openxmlformats.org/drawingml/2006/main">
            <a:r>
              <a:t>            {</a:t>
            </a:r>
          </a:p>
          <a:p xmlns:a="http://schemas.openxmlformats.org/drawingml/2006/main">
            <a:r>
              <a:t>              "id": "RULEWORK-1016043-2-R03",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"RULEWORK-1016043-2-T03",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"1019040",</a:t>
            </a:r>
          </a:p>
          <a:p xmlns:a="http://schemas.openxmlformats.org/drawingml/2006/main">
            <a:r>
              <a:t>      "name": "기후탄소물류처",</a:t>
            </a:r>
          </a:p>
          <a:p xmlns:a="http://schemas.openxmlformats.org/drawingml/2006/main">
            <a:r>
              <a:t>      "job": "교통물류 정책자료",</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교통물류 정책관련 연구‧사업 업무"</a:t>
            </a:r>
          </a:p>
          <a:p xmlns:a="http://schemas.openxmlformats.org/drawingml/2006/main">
            <a:r>
              <a:t>      ],</a:t>
            </a:r>
          </a:p>
          <a:p xmlns:a="http://schemas.openxmlformats.org/drawingml/2006/main">
            <a:r>
              <a:t>      "locator": "별표4 · T40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"RULEWORK-1019040-6",</a:t>
            </a:r>
          </a:p>
          <a:p xmlns:a="http://schemas.openxmlformats.org/drawingml/2006/main">
            <a:r>
              <a:t>          "text": "6. 교통물류 정책관련 연구‧사업 업무",</a:t>
            </a:r>
          </a:p>
          <a:p xmlns:a="http://schemas.openxmlformats.org/drawingml/2006/main">
            <a:r>
              <a:t>          "locator": "별표4 · T40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"RULEWORK-1019040-6-R01",</a:t>
            </a:r>
          </a:p>
          <a:p xmlns:a="http://schemas.openxmlformats.org/drawingml/2006/main">
            <a:r>
              <a:t>              "title": "업무 맥락·전용 지식 구성",</a:t>
            </a:r>
          </a:p>
          <a:p xmlns:a="http://schemas.openxmlformats.org/drawingml/2006/main">
            <a:r>
              <a:t>              "development": "경계·단위·계수 판본별 산정자료 분류",</a:t>
            </a:r>
          </a:p>
          <a:p xmlns:a="http://schemas.openxmlformats.org/drawingml/2006/main">
            <a:r>
              <a:t>              "output": "산식·실적·누락·감축 검토표",</a:t>
            </a:r>
          </a:p>
          <a:p xmlns:a="http://schemas.openxmlformats.org/drawingml/2006/main">
            <a:r>
              <a:t>              "testId": "RULEWORK-1019040-6-T01",</a:t>
            </a:r>
          </a:p>
          <a:p xmlns:a="http://schemas.openxmlformats.org/drawingml/2006/main">
            <a:r>
              <a:t>              "criterion": "단위·산정 경계·중복 실적·계수 대조"</a:t>
            </a:r>
          </a:p>
          <a:p xmlns:a="http://schemas.openxmlformats.org/drawingml/2006/main">
            <a:r>
              <a:t>            },</a:t>
            </a:r>
          </a:p>
          <a:p xmlns:a="http://schemas.openxmlformats.org/drawingml/2006/main">
            <a:r>
              <a:t>            {</a:t>
            </a:r>
          </a:p>
          <a:p xmlns:a="http://schemas.openxmlformats.org/drawingml/2006/main">
            <a:r>
              <a:t>              "id": "RULEWORK-1019040-6-R02",</a:t>
            </a:r>
          </a:p>
          <a:p xmlns:a="http://schemas.openxmlformats.org/drawingml/2006/main">
            <a:r>
              <a:t>              "title": "업무건·역할·시스템 연결",</a:t>
            </a:r>
          </a:p>
          <a:p xmlns:a="http://schemas.openxmlformats.org/drawingml/2006/main">
            <a:r>
              <a:t>              "development": "실적 원장·계수·검토·승인 판본 연결",</a:t>
            </a:r>
          </a:p>
          <a:p xmlns:a="http://schemas.openxmlformats.org/drawingml/2006/main">
            <a:r>
              <a:t>              "output": "업무건·원천·역할·변경 연결 명세",</a:t>
            </a:r>
          </a:p>
          <a:p xmlns:a="http://schemas.openxmlformats.org/drawingml/2006/main">
            <a:r>
              <a:t>              "testId": "RULEWORK-1019040-6-T02",</a:t>
            </a:r>
          </a:p>
          <a:p xmlns:a="http://schemas.openxmlformats.org/drawingml/2006/main">
            <a:r>
              <a:t>              "criterion": "근거 없는 감축량·인증 결과 확정 차단"</a:t>
            </a:r>
          </a:p>
          <a:p xmlns:a="http://schemas.openxmlformats.org/drawingml/2006/main">
            <a:r>
              <a:t>            },</a:t>
            </a:r>
          </a:p>
          <a:p xmlns:a="http://schemas.openxmlformats.org/drawingml/2006/main">
            <a:r>
              <a:t>            {</a:t>
            </a:r>
          </a:p>
          <a:p xmlns:a="http://schemas.openxmlformats.org/drawingml/2006/main">
            <a:r>
              <a:t>              "id": "RULEWORK-1019040-6-R03",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"RULEWORK-1019040-6-T03",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"1018034",</a:t>
            </a:r>
          </a:p>
          <a:p xmlns:a="http://schemas.openxmlformats.org/drawingml/2006/main">
            <a:r>
              <a:t>      "name": "재정회계처",</a:t>
            </a:r>
          </a:p>
          <a:p xmlns:a="http://schemas.openxmlformats.org/drawingml/2006/main">
            <a:r>
              <a:t>      "job": "회계·계약 증빙",</a:t>
            </a:r>
          </a:p>
          <a:p xmlns:a="http://schemas.openxmlformats.org/drawingml/2006/main">
            <a:r>
              <a:t>      "indices": [</a:t>
            </a:r>
          </a:p>
          <a:p xmlns:a="http://schemas.openxmlformats.org/drawingml/2006/main">
            <a:r>
              <a:t>        3,</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"4. 연간·월간 회계결산 및 연차 결산보고서 작성 보고",</a:t>
            </a:r>
          </a:p>
          <a:p xmlns:a="http://schemas.openxmlformats.org/drawingml/2006/main">
            <a:r>
              <a:t>        "10. 회계․계약관련 제도개선 및 회계감사·세무조사에 관한 사항"</a:t>
            </a:r>
          </a:p>
          <a:p xmlns:a="http://schemas.openxmlformats.org/drawingml/2006/main">
            <a:r>
              <a:t>      ],</a:t>
            </a:r>
          </a:p>
          <a:p xmlns:a="http://schemas.openxmlformats.org/drawingml/2006/main">
            <a:r>
              <a:t>      "locator": "별표4 · T38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"RULEWORK-1018034-4",</a:t>
            </a:r>
          </a:p>
          <a:p xmlns:a="http://schemas.openxmlformats.org/drawingml/2006/main">
            <a:r>
              <a:t>          "text": "4. 연간·월간 회계결산 및 연차 결산보고서 작성 보고",</a:t>
            </a:r>
          </a:p>
          <a:p xmlns:a="http://schemas.openxmlformats.org/drawingml/2006/main">
            <a:r>
              <a:t>          "locator": "별표4 · T38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"RULEWORK-1018034-4-R01",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"RULEWORK-1018034-4-T01",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"RULEWORK-1018034-4-R02",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"RULEWORK-1018034-4-T02",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"RULEWORK-1018034-4-R03",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"RULEWORK-1018034-4-T03",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"RULEWORK-1018034-10",</a:t>
            </a:r>
          </a:p>
          <a:p xmlns:a="http://schemas.openxmlformats.org/drawingml/2006/main">
            <a:r>
              <a:t>          "text": "10. 회계․계약관련 제도개선 및 회계감사·세무조사에 관한 사항",</a:t>
            </a:r>
          </a:p>
          <a:p xmlns:a="http://schemas.openxmlformats.org/drawingml/2006/main">
            <a:r>
              <a:t>          "locator": "별표4 · T38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"RULEWORK-1018034-10-R01",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"RULEWORK-1018034-10-T01",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"RULEWORK-1018034-10-R02",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"RULEWORK-1018034-10-T02",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"RULEWORK-1018034-10-R03",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"RULEWORK-1018034-10-T03",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공시 초안·근거 검색"</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"Audin·Torus의 증빙·검토 기록"</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"지표–원천–검토자 연결표",</a:t>
            </a:r>
          </a:p>
          <a:p xmlns:a="http://schemas.openxmlformats.org/drawingml/2006/main">
            <a:r>
              <a:t>    "중복 증빙·산식·공시 판본 검증"</a:t>
            </a:r>
          </a:p>
          <a:p xmlns:a="http://schemas.openxmlformats.org/drawingml/2006/main">
            <a:r>
              <a:t>  ],</a:t>
            </a:r>
          </a:p>
          <a:p xmlns:a="http://schemas.openxmlformats.org/drawingml/2006/main">
            <a:r>
              <a:t>  "acceptancePlan": {</a:t>
            </a:r>
          </a:p>
          <a:p xmlns:a="http://schemas.openxmlformats.org/drawingml/2006/main">
            <a:r>
              <a:t>    "sample": "중복 실적, 다른 기간 증빙, 근거 없는 수치",</a:t>
            </a:r>
          </a:p>
          <a:p xmlns:a="http://schemas.openxmlformats.org/drawingml/2006/main">
            <a:r>
              <a:t>    "criterion": "중복 제외·원천 재현·미비 공시 보류",</a:t>
            </a:r>
          </a:p>
          <a:p xmlns:a="http://schemas.openxmlformats.org/drawingml/2006/main">
            <a:r>
              <a:t>    "evidence": "지표별 증빙대장·계산 대사·검토 이력",</a:t>
            </a:r>
          </a:p>
          <a:p xmlns:a="http://schemas.openxmlformats.org/drawingml/2006/main">
            <a:r>
              <a:t>    "execution": "미실행"</a:t>
            </a:r>
          </a:p>
          <a:p xmlns:a="http://schemas.openxmlformats.org/drawingml/2006/main">
            <a:r>
              <a:t>  },</a:t>
            </a:r>
          </a:p>
          <a:p xmlns:a="http://schemas.openxmlformats.org/drawingml/2006/main">
            <a:r>
              <a:t>  "formula": "근거 추적 가능 지표 수 ÷ 대상 지표 수 / 공시 검토 소요시간",</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"ST-11",</a:t>
            </a:r>
          </a:p>
          <a:p xmlns:a="http://schemas.openxmlformats.org/drawingml/2006/main">
            <a:r>
              <a:t>  "number": 11,</a:t>
            </a:r>
          </a:p>
          <a:p xmlns:a="http://schemas.openxmlformats.org/drawingml/2006/main">
            <a:r>
              <a:t>  "direction": "지속가능 책임경영 이행",</a:t>
            </a:r>
          </a:p>
          <a:p xmlns:a="http://schemas.openxmlformats.org/drawingml/2006/main">
            <a:r>
              <a:t>  "strategy": "지속가능 ESG 경영성과 실현",</a:t>
            </a:r>
          </a:p>
          <a:p xmlns:a="http://schemas.openxmlformats.org/drawingml/2006/main">
            <a:r>
              <a:t>  "solution": "ESG 이행·증빙 관리",</a:t>
            </a:r>
          </a:p>
          <a:p xmlns:a="http://schemas.openxmlformats.org/drawingml/2006/main">
            <a:r>
              <a:t>  "lawIds": [],</a:t>
            </a:r>
          </a:p>
          <a:p xmlns:a="http://schemas.openxmlformats.org/drawingml/2006/main">
            <a:r>
              <a:t>  "codes": [</a:t>
            </a:r>
          </a:p>
          <a:p xmlns:a="http://schemas.openxmlformats.org/drawingml/2006/main">
            <a:r>
              <a:t>    "1016047",</a:t>
            </a:r>
          </a:p>
          <a:p xmlns:a="http://schemas.openxmlformats.org/drawingml/2006/main">
            <a:r>
              <a:t>    "1016043",</a:t>
            </a:r>
          </a:p>
          <a:p xmlns:a="http://schemas.openxmlformats.org/drawingml/2006/main">
            <a:r>
              <a:t>    "1019040",</a:t>
            </a:r>
          </a:p>
          <a:p xmlns:a="http://schemas.openxmlformats.org/drawingml/2006/main">
            <a:r>
              <a:t>    "1018034"</a:t>
            </a:r>
          </a:p>
          <a:p xmlns:a="http://schemas.openxmlformats.org/drawingml/2006/main">
            <a:r>
              <a:t>  ],</a:t>
            </a:r>
          </a:p>
          <a:p xmlns:a="http://schemas.openxmlformats.org/drawingml/2006/main">
            <a:r>
              <a:t>  "work": "ESG·사회가치·안전보건·환경 실적의 부서 협업",</a:t>
            </a:r>
          </a:p>
          <a:p xmlns:a="http://schemas.openxmlformats.org/drawingml/2006/main">
            <a:r>
              <a:t>  "features": [</a:t>
            </a:r>
          </a:p>
          <a:p xmlns:a="http://schemas.openxmlformats.org/drawingml/2006/main">
            <a:r>
              <a:t>    "지표별 정의·보고기간·증빙·책임자 연결",</a:t>
            </a:r>
          </a:p>
          <a:p xmlns:a="http://schemas.openxmlformats.org/drawingml/2006/main">
            <a:r>
              <a:t>    "이행과제·공시 항목·검토 이력 정리"</a:t>
            </a:r>
          </a:p>
          <a:p xmlns:a="http://schemas.openxmlformats.org/drawingml/2006/main">
            <a:r>
              <a:t>  ],</a:t>
            </a:r>
          </a:p>
          <a:p xmlns:a="http://schemas.openxmlformats.org/drawingml/2006/main">
            <a:r>
              <a:t>  "output": "ESG 증빙대장·공시 검토 초안",</a:t>
            </a:r>
          </a:p>
          <a:p xmlns:a="http://schemas.openxmlformats.org/drawingml/2006/main">
            <a:r>
              <a:t>  "acceptance": "공시 수치의 원천·판본 추적 및 누락/중복 증빙 식별",</a:t>
            </a:r>
          </a:p>
          <a:p xmlns:a="http://schemas.openxmlformats.org/drawingml/2006/main">
            <a:r>
              <a:t>  "phase": "공통 기반 인수 후 부서별 적용",</a:t>
            </a:r>
          </a:p>
          <a:p xmlns:a="http://schemas.openxmlformats.org/drawingml/2006/main">
            <a:r>
              <a:t>  "packages": [</a:t>
            </a:r>
          </a:p>
          <a:p xmlns:a="http://schemas.openxmlformats.org/drawingml/2006/main">
            <a:r>
              <a:t>    "ON-W01",</a:t>
            </a:r>
          </a:p>
          <a:p xmlns:a="http://schemas.openxmlformats.org/drawingml/2006/main">
            <a:r>
              <a:t>    "ON-W04",</a:t>
            </a:r>
          </a:p>
          <a:p xmlns:a="http://schemas.openxmlformats.org/drawingml/2006/main">
            <a:r>
              <a:t>    "ON-W05",</a:t>
            </a:r>
          </a:p>
          <a:p xmlns:a="http://schemas.openxmlformats.org/drawingml/2006/main">
            <a:r>
              <a:t>    "ON-W06"</a:t>
            </a:r>
          </a:p>
          <a:p xmlns:a="http://schemas.openxmlformats.org/drawingml/2006/main">
            <a:r>
              <a:t>  ],</a:t>
            </a:r>
          </a:p>
          <a:p xmlns:a="http://schemas.openxmlformats.org/drawingml/2006/main">
            <a:r>
              <a:t>  "tests": [</a:t>
            </a:r>
          </a:p>
          <a:p xmlns:a="http://schemas.openxmlformats.org/drawingml/2006/main">
            <a:r>
              <a:t>    "GAI-T06",</a:t>
            </a:r>
          </a:p>
          <a:p xmlns:a="http://schemas.openxmlformats.org/drawingml/2006/main">
            <a:r>
              <a:t>    "GAI-T07",</a:t>
            </a:r>
          </a:p>
          <a:p xmlns:a="http://schemas.openxmlformats.org/drawingml/2006/main">
            <a:r>
              <a:t>    "GAI-T11"</a:t>
            </a:r>
          </a:p>
          <a:p xmlns:a="http://schemas.openxmlformats.org/drawingml/2006/main">
            <a:r>
              <a:t>  ],</a:t>
            </a:r>
          </a:p>
          <a:p xmlns:a="http://schemas.openxmlformats.org/drawingml/2006/main">
            <a:r>
              <a:t>  "status": "솔루션·조직·범위 연결안",</a:t>
            </a:r>
          </a:p>
          <a:p xmlns:a="http://schemas.openxmlformats.org/drawingml/2006/main">
            <a:r>
              <a:t>  "basis": "설립법·직제시행세칙 기반 경영지원 업무",</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"1016047",</a:t>
            </a:r>
          </a:p>
          <a:p xmlns:a="http://schemas.openxmlformats.org/drawingml/2006/main">
            <a:r>
              <a:t>      "name": "ESG경영처",</a:t>
            </a:r>
          </a:p>
          <a:p xmlns:a="http://schemas.openxmlformats.org/drawingml/2006/main">
            <a:r>
              <a:t>      "job": "ESG 총괄·보고서",</a:t>
            </a:r>
          </a:p>
          <a:p xmlns:a="http://schemas.openxmlformats.org/drawingml/2006/main">
            <a:r>
              <a:t>      "indices": [</a:t>
            </a:r>
          </a:p>
          <a:p xmlns:a="http://schemas.openxmlformats.org/drawingml/2006/main">
            <a:r>
              <a:t>        0,</a:t>
            </a:r>
          </a:p>
          <a:p xmlns:a="http://schemas.openxmlformats.org/drawingml/2006/main">
            <a:r>
              <a:t>        12</a:t>
            </a:r>
          </a:p>
          <a:p xmlns:a="http://schemas.openxmlformats.org/drawingml/2006/main">
            <a:r>
              <a:t>      ],</a:t>
            </a:r>
          </a:p>
          <a:p xmlns:a="http://schemas.openxmlformats.org/drawingml/2006/main">
            <a:r>
              <a:t>      "duties": [</a:t>
            </a:r>
          </a:p>
          <a:p xmlns:a="http://schemas.openxmlformats.org/drawingml/2006/main">
            <a:r>
              <a:t>        "1. ESG․지속가능․윤리․인권경영에 관한 업무 총괄",</a:t>
            </a:r>
          </a:p>
          <a:p xmlns:a="http://schemas.openxmlformats.org/drawingml/2006/main">
            <a:r>
              <a:t>        "10. 지속가능경영보고서(ESG보고서) 발간에 관한 업무"</a:t>
            </a:r>
          </a:p>
          <a:p xmlns:a="http://schemas.openxmlformats.org/drawingml/2006/main">
            <a:r>
              <a:t>      ],</a:t>
            </a:r>
          </a:p>
          <a:p xmlns:a="http://schemas.openxmlformats.org/drawingml/2006/main">
            <a:r>
              <a:t>      "locator": "별표4 · T36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"1016043",</a:t>
            </a:r>
          </a:p>
          <a:p xmlns:a="http://schemas.openxmlformats.org/drawingml/2006/main">
            <a:r>
              <a:t>      "name": "안전보건실",</a:t>
            </a:r>
          </a:p>
          <a:p xmlns:a="http://schemas.openxmlformats.org/drawingml/2006/main">
            <a:r>
              <a:t>      "job": "안전경영 성과관리",</a:t>
            </a:r>
          </a:p>
          <a:p xmlns:a="http://schemas.openxmlformats.org/drawingml/2006/main">
            <a:r>
              <a:t>      "indices": [</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"2. 안전경영 성과관리 및 안전촉진 활동에 관한 업무"</a:t>
            </a:r>
          </a:p>
          <a:p xmlns:a="http://schemas.openxmlformats.org/drawingml/2006/main">
            <a:r>
              <a:t>      ],</a:t>
            </a:r>
          </a:p>
          <a:p xmlns:a="http://schemas.openxmlformats.org/drawingml/2006/main">
            <a:r>
              <a:t>      "locator": "별표4 · T34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"1019040",</a:t>
            </a:r>
          </a:p>
          <a:p xmlns:a="http://schemas.openxmlformats.org/drawingml/2006/main">
            <a:r>
              <a:t>      "name": "기후탄소물류처",</a:t>
            </a:r>
          </a:p>
          <a:p xmlns:a="http://schemas.openxmlformats.org/drawingml/2006/main">
            <a:r>
              <a:t>      "job": "교통물류 정책자료",</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교통물류 정책관련 연구‧사업 업무"</a:t>
            </a:r>
          </a:p>
          <a:p xmlns:a="http://schemas.openxmlformats.org/drawingml/2006/main">
            <a:r>
              <a:t>      ],</a:t>
            </a:r>
          </a:p>
          <a:p xmlns:a="http://schemas.openxmlformats.org/drawingml/2006/main">
            <a:r>
              <a:t>      "locator": "별표4 · T40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"1018034",</a:t>
            </a:r>
          </a:p>
          <a:p xmlns:a="http://schemas.openxmlformats.org/drawingml/2006/main">
            <a:r>
              <a:t>      "name": "재정회계처",</a:t>
            </a:r>
          </a:p>
          <a:p xmlns:a="http://schemas.openxmlformats.org/drawingml/2006/main">
            <a:r>
              <a:t>      "job": "회계·계약 증빙",</a:t>
            </a:r>
          </a:p>
          <a:p xmlns:a="http://schemas.openxmlformats.org/drawingml/2006/main">
            <a:r>
              <a:t>      "indices": [</a:t>
            </a:r>
          </a:p>
          <a:p xmlns:a="http://schemas.openxmlformats.org/drawingml/2006/main">
            <a:r>
              <a:t>        3,</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"4. 연간·월간 회계결산 및 연차 결산보고서 작성 보고",</a:t>
            </a:r>
          </a:p>
          <a:p xmlns:a="http://schemas.openxmlformats.org/drawingml/2006/main">
            <a:r>
              <a:t>        "10. 회계․계약관련 제도개선 및 회계감사·세무조사에 관한 사항"</a:t>
            </a:r>
          </a:p>
          <a:p xmlns:a="http://schemas.openxmlformats.org/drawingml/2006/main">
            <a:r>
              <a:t>      ],</a:t>
            </a:r>
          </a:p>
          <a:p xmlns:a="http://schemas.openxmlformats.org/drawingml/2006/main">
            <a:r>
              <a:t>      "locator": "별표4 · T38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"설립법·별표4 내부 업무분장 / 인사·재무·계약·전결 등 업무별 규정의 별도 확인",</a:t>
            </a:r>
          </a:p>
          <a:p xmlns:a="http://schemas.openxmlformats.org/drawingml/2006/main">
            <a:r>
              <a:t>  "caseRefs": [</a:t>
            </a:r>
          </a:p>
          <a:p xmlns:a="http://schemas.openxmlformats.org/drawingml/2006/main">
            <a:r>
              <a:t>    {</a:t>
            </a:r>
          </a:p>
          <a:p xmlns:a="http://schemas.openxmlformats.org/drawingml/2006/main">
            <a:r>
              <a:t>      "caseId": "AX05",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"AX08",</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"AX12",</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"caseId": "AX14",</a:t>
            </a:r>
          </a:p>
          <a:p xmlns:a="http://schemas.openxmlformats.org/drawingml/2006/main">
            <a:r>
              <a:t>      "type": "직접 업무 유사"</a:t>
            </a:r>
          </a:p>
          <a:p xmlns:a="http://schemas.openxmlformats.org/drawingml/2006/main">
            <a:r>
              <a:t>    }</a:t>
            </a:r>
          </a:p>
          <a:p xmlns:a="http://schemas.openxmlformats.org/drawingml/2006/main">
            <a:r>
              <a:t>  ],</a:t>
            </a:r>
          </a:p>
          <a:p xmlns:a="http://schemas.openxmlformats.org/drawingml/2006/main">
            <a:r>
              <a:t>  "plan": "ESG 증빙·공시 검토 지원",</a:t>
            </a:r>
          </a:p>
          <a:p xmlns:a="http://schemas.openxmlformats.org/drawingml/2006/main">
            <a:r>
              <a:t>  "delta": "지표별 산식·원천·검토자·변경 이력 연결",</a:t>
            </a:r>
          </a:p>
          <a:p xmlns:a="http://schemas.openxmlformats.org/drawingml/2006/main">
            <a:r>
              <a:t>  "kpi": "증빙 누락률 / 공시 검토시간",</a:t>
            </a:r>
          </a:p>
          <a:p xmlns:a="http://schemas.openxmlformats.org/drawingml/2006/main">
            <a:r>
              <a:t>  "validation": "산식·원문 불일치와 보고 누락 주입 시험",</a:t>
            </a:r>
          </a:p>
          <a:p xmlns:a="http://schemas.openxmlformats.org/drawingml/2006/main">
            <a:r>
              <a:t>  "requirement": "BM-ST-11-R01",</a:t>
            </a:r>
          </a:p>
          <a:p xmlns:a="http://schemas.openxmlformats.org/drawingml/2006/main">
            <a:r>
              <a:t>  "test": "BM-ST-11-T01",</a:t>
            </a:r>
          </a:p>
          <a:p xmlns:a="http://schemas.openxmlformats.org/drawingml/2006/main">
            <a:r>
              <a:t>  "effectStatus": "기대 방향 · TS 실측 전",</a:t>
            </a:r>
          </a:p>
          <a:p xmlns:a="http://schemas.openxmlformats.org/drawingml/2006/main">
            <a:r>
              <a:t>  "effect": "공시 근거 누락·검토시간 감소",</a:t>
            </a:r>
          </a:p>
          <a:p xmlns:a="http://schemas.openxmlformats.org/drawingml/2006/main">
            <a:r>
              <a:t>  "reuse": "ON27-BASE / C27-COM + CCK 재사용 판정 기능",</a:t>
            </a:r>
          </a:p>
          <a:p xmlns:a="http://schemas.openxmlformats.org/drawingml/2006/main">
            <a:r>
              <a:t>  "input": "ESG 지표 정의, 환경·안전·사회가치 실적, 공시 근거",</a:t>
            </a:r>
          </a:p>
          <a:p xmlns:a="http://schemas.openxmlformats.org/drawingml/2006/main">
            <a:r>
              <a:t>  "steps": [</a:t>
            </a:r>
          </a:p>
          <a:p xmlns:a="http://schemas.openxmlformats.org/drawingml/2006/main">
            <a:r>
              <a:t>    "지표·기간·담당 연결",</a:t>
            </a:r>
          </a:p>
          <a:p xmlns:a="http://schemas.openxmlformats.org/drawingml/2006/main">
            <a:r>
              <a:t>    "원천 증빙 수집",</a:t>
            </a:r>
          </a:p>
          <a:p xmlns:a="http://schemas.openxmlformats.org/drawingml/2006/main">
            <a:r>
              <a:t>    "중복·산식 대사",</a:t>
            </a:r>
          </a:p>
          <a:p xmlns:a="http://schemas.openxmlformats.org/drawingml/2006/main">
            <a:r>
              <a:t>    "검토·공시 판본 관리"</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"1016047",</a:t>
            </a:r>
          </a:p>
          <a:p xmlns:a="http://schemas.openxmlformats.org/drawingml/2006/main">
            <a:r>
              <a:t>      "name": "ESG경영처",</a:t>
            </a:r>
          </a:p>
          <a:p xmlns:a="http://schemas.openxmlformats.org/drawingml/2006/main">
            <a:r>
              <a:t>      "job": "ESG 총괄·보고서",</a:t>
            </a:r>
          </a:p>
          <a:p xmlns:a="http://schemas.openxmlformats.org/drawingml/2006/main">
            <a:r>
              <a:t>      "indices": [</a:t>
            </a:r>
          </a:p>
          <a:p xmlns:a="http://schemas.openxmlformats.org/drawingml/2006/main">
            <a:r>
              <a:t>        0,</a:t>
            </a:r>
          </a:p>
          <a:p xmlns:a="http://schemas.openxmlformats.org/drawingml/2006/main">
            <a:r>
              <a:t>        12</a:t>
            </a:r>
          </a:p>
          <a:p xmlns:a="http://schemas.openxmlformats.org/drawingml/2006/main">
            <a:r>
              <a:t>      ],</a:t>
            </a:r>
          </a:p>
          <a:p xmlns:a="http://schemas.openxmlformats.org/drawingml/2006/main">
            <a:r>
              <a:t>      "duties": [</a:t>
            </a:r>
          </a:p>
          <a:p xmlns:a="http://schemas.openxmlformats.org/drawingml/2006/main">
            <a:r>
              <a:t>        "1. ESG․지속가능․윤리․인권경영에 관한 업무 총괄",</a:t>
            </a:r>
          </a:p>
          <a:p xmlns:a="http://schemas.openxmlformats.org/drawingml/2006/main">
            <a:r>
              <a:t>        "10. 지속가능경영보고서(ESG보고서) 발간에 관한 업무"</a:t>
            </a:r>
          </a:p>
          <a:p xmlns:a="http://schemas.openxmlformats.org/drawingml/2006/main">
            <a:r>
              <a:t>      ],</a:t>
            </a:r>
          </a:p>
          <a:p xmlns:a="http://schemas.openxmlformats.org/drawingml/2006/main">
            <a:r>
              <a:t>      "locator": "별표4 · T36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"RULEWORK-1016047-1",</a:t>
            </a:r>
          </a:p>
          <a:p xmlns:a="http://schemas.openxmlformats.org/drawingml/2006/main">
            <a:r>
              <a:t>          "text": "1. ESG․지속가능․윤리․인권경영에 관한 업무 총괄",</a:t>
            </a:r>
          </a:p>
          <a:p xmlns:a="http://schemas.openxmlformats.org/drawingml/2006/main">
            <a:r>
              <a:t>          "locator": "별표4 · T36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"RULEWORK-1016047-1-R01",</a:t>
            </a:r>
          </a:p>
          <a:p xmlns:a="http://schemas.openxmlformats.org/drawingml/2006/main">
            <a:r>
              <a:t>              "title": "업무 맥락·전용 지식 구성",</a:t>
            </a:r>
          </a:p>
          <a:p xmlns:a="http://schemas.openxmlformats.org/drawingml/2006/main">
            <a:r>
              <a:t>              "development": "지표 정의·기간별 실적·증빙 분류",</a:t>
            </a:r>
          </a:p>
          <a:p xmlns:a="http://schemas.openxmlformats.org/drawingml/2006/main">
            <a:r>
              <a:t>              "output": "지표·누락·개선·공시 검토자료",</a:t>
            </a:r>
          </a:p>
          <a:p xmlns:a="http://schemas.openxmlformats.org/drawingml/2006/main">
            <a:r>
              <a:t>              "testId": "RULEWORK-1016047-1-T01",</a:t>
            </a:r>
          </a:p>
          <a:p xmlns:a="http://schemas.openxmlformats.org/drawingml/2006/main">
            <a:r>
              <a:t>              "criterion": "분모·기간·중복 실적·주장별 증빙 대조"</a:t>
            </a:r>
          </a:p>
          <a:p xmlns:a="http://schemas.openxmlformats.org/drawingml/2006/main">
            <a:r>
              <a:t>            },</a:t>
            </a:r>
          </a:p>
          <a:p xmlns:a="http://schemas.openxmlformats.org/drawingml/2006/main">
            <a:r>
              <a:t>            {</a:t>
            </a:r>
          </a:p>
          <a:p xmlns:a="http://schemas.openxmlformats.org/drawingml/2006/main">
            <a:r>
              <a:t>              "id": "RULEWORK-1016047-1-R02",</a:t>
            </a:r>
          </a:p>
          <a:p xmlns:a="http://schemas.openxmlformats.org/drawingml/2006/main">
            <a:r>
              <a:t>              "title": "업무건·역할·시스템 연결",</a:t>
            </a:r>
          </a:p>
          <a:p xmlns:a="http://schemas.openxmlformats.org/drawingml/2006/main">
            <a:r>
              <a:t>              "development": "활동–성과–공시 근거·승인 판본 연결",</a:t>
            </a:r>
          </a:p>
          <a:p xmlns:a="http://schemas.openxmlformats.org/drawingml/2006/main">
            <a:r>
              <a:t>              "output": "업무건·원천·역할·변경 연결 명세",</a:t>
            </a:r>
          </a:p>
          <a:p xmlns:a="http://schemas.openxmlformats.org/drawingml/2006/main">
            <a:r>
              <a:t>              "testId": "RULEWORK-1016047-1-T02",</a:t>
            </a:r>
          </a:p>
          <a:p xmlns:a="http://schemas.openxmlformats.org/drawingml/2006/main">
            <a:r>
              <a:t>              "criterion": "미입증 성과·공시 수치의 확정 처리 차단"</a:t>
            </a:r>
          </a:p>
          <a:p xmlns:a="http://schemas.openxmlformats.org/drawingml/2006/main">
            <a:r>
              <a:t>            },</a:t>
            </a:r>
          </a:p>
          <a:p xmlns:a="http://schemas.openxmlformats.org/drawingml/2006/main">
            <a:r>
              <a:t>            {</a:t>
            </a:r>
          </a:p>
          <a:p xmlns:a="http://schemas.openxmlformats.org/drawingml/2006/main">
            <a:r>
              <a:t>              "id": "RULEWORK-1016047-1-R03",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"RULEWORK-1016047-1-T03",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"RULEWORK-1016047-13",</a:t>
            </a:r>
          </a:p>
          <a:p xmlns:a="http://schemas.openxmlformats.org/drawingml/2006/main">
            <a:r>
              <a:t>          "text": "10. 지속가능경영보고서(ESG보고서) 발간에 관한 업무",</a:t>
            </a:r>
          </a:p>
          <a:p xmlns:a="http://schemas.openxmlformats.org/drawingml/2006/main">
            <a:r>
              <a:t>          "locator": "별표4 · T36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"RULEWORK-1016047-13-R01",</a:t>
            </a:r>
          </a:p>
          <a:p xmlns:a="http://schemas.openxmlformats.org/drawingml/2006/main">
            <a:r>
              <a:t>              "title": "업무 맥락·전용 지식 구성",</a:t>
            </a:r>
          </a:p>
          <a:p xmlns:a="http://schemas.openxmlformats.org/drawingml/2006/main">
            <a:r>
              <a:t>              "development": "지표 정의·기간별 실적·증빙 분류",</a:t>
            </a:r>
          </a:p>
          <a:p xmlns:a="http://schemas.openxmlformats.org/drawingml/2006/main">
            <a:r>
              <a:t>              "output": "지표·누락·개선·공시 검토자료",</a:t>
            </a:r>
          </a:p>
          <a:p xmlns:a="http://schemas.openxmlformats.org/drawingml/2006/main">
            <a:r>
              <a:t>              "testId": "RULEWORK-1016047-13-T01",</a:t>
            </a:r>
          </a:p>
          <a:p xmlns:a="http://schemas.openxmlformats.org/drawingml/2006/main">
            <a:r>
              <a:t>              "criterion": "분모·기간·중복 실적·주장별 증빙 대조"</a:t>
            </a:r>
          </a:p>
          <a:p xmlns:a="http://schemas.openxmlformats.org/drawingml/2006/main">
            <a:r>
              <a:t>            },</a:t>
            </a:r>
          </a:p>
          <a:p xmlns:a="http://schemas.openxmlformats.org/drawingml/2006/main">
            <a:r>
              <a:t>            {</a:t>
            </a:r>
          </a:p>
          <a:p xmlns:a="http://schemas.openxmlformats.org/drawingml/2006/main">
            <a:r>
              <a:t>              "id": "RULEWORK-1016047-13-R02",</a:t>
            </a:r>
          </a:p>
          <a:p xmlns:a="http://schemas.openxmlformats.org/drawingml/2006/main">
            <a:r>
              <a:t>              "title": "업무건·역할·시스템 연결",</a:t>
            </a:r>
          </a:p>
          <a:p xmlns:a="http://schemas.openxmlformats.org/drawingml/2006/main">
            <a:r>
              <a:t>              "development": "활동–성과–공시 근거·승인 판본 연결",</a:t>
            </a:r>
          </a:p>
          <a:p xmlns:a="http://schemas.openxmlformats.org/drawingml/2006/main">
            <a:r>
              <a:t>              "output": "업무건·원천·역할·변경 연결 명세",</a:t>
            </a:r>
          </a:p>
          <a:p xmlns:a="http://schemas.openxmlformats.org/drawingml/2006/main">
            <a:r>
              <a:t>              "testId": "RULEWORK-1016047-13-T02",</a:t>
            </a:r>
          </a:p>
          <a:p xmlns:a="http://schemas.openxmlformats.org/drawingml/2006/main">
            <a:r>
              <a:t>              "criterion": "미입증 성과·공시 수치의 확정 처리 차단"</a:t>
            </a:r>
          </a:p>
          <a:p xmlns:a="http://schemas.openxmlformats.org/drawingml/2006/main">
            <a:r>
              <a:t>            },</a:t>
            </a:r>
          </a:p>
          <a:p xmlns:a="http://schemas.openxmlformats.org/drawingml/2006/main">
            <a:r>
              <a:t>            {</a:t>
            </a:r>
          </a:p>
          <a:p xmlns:a="http://schemas.openxmlformats.org/drawingml/2006/main">
            <a:r>
              <a:t>              "id": "RULEWORK-1016047-13-R03",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"RULEWORK-1016047-13-T03",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"1016043",</a:t>
            </a:r>
          </a:p>
          <a:p xmlns:a="http://schemas.openxmlformats.org/drawingml/2006/main">
            <a:r>
              <a:t>      "name": "안전보건실",</a:t>
            </a:r>
          </a:p>
          <a:p xmlns:a="http://schemas.openxmlformats.org/drawingml/2006/main">
            <a:r>
              <a:t>      "job": "안전경영 성과관리",</a:t>
            </a:r>
          </a:p>
          <a:p xmlns:a="http://schemas.openxmlformats.org/drawingml/2006/main">
            <a:r>
              <a:t>      "indices": [</a:t>
            </a:r>
          </a:p>
          <a:p xmlns:a="http://schemas.openxmlformats.org/drawingml/2006/main">
            <a:r>
              <a:t>        1</a:t>
            </a:r>
          </a:p>
          <a:p xmlns:a="http://schemas.openxmlformats.org/drawingml/2006/main">
            <a:r>
              <a:t>      ],</a:t>
            </a:r>
          </a:p>
          <a:p xmlns:a="http://schemas.openxmlformats.org/drawingml/2006/main">
            <a:r>
              <a:t>      "duties": [</a:t>
            </a:r>
          </a:p>
          <a:p xmlns:a="http://schemas.openxmlformats.org/drawingml/2006/main">
            <a:r>
              <a:t>        "2. 안전경영 성과관리 및 안전촉진 활동에 관한 업무"</a:t>
            </a:r>
          </a:p>
          <a:p xmlns:a="http://schemas.openxmlformats.org/drawingml/2006/main">
            <a:r>
              <a:t>      ],</a:t>
            </a:r>
          </a:p>
          <a:p xmlns:a="http://schemas.openxmlformats.org/drawingml/2006/main">
            <a:r>
              <a:t>      "locator": "별표4 · T34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"RULEWORK-1016043-2",</a:t>
            </a:r>
          </a:p>
          <a:p xmlns:a="http://schemas.openxmlformats.org/drawingml/2006/main">
            <a:r>
              <a:t>          "text": "2. 안전경영 성과관리 및 안전촉진 활동에 관한 업무",</a:t>
            </a:r>
          </a:p>
          <a:p xmlns:a="http://schemas.openxmlformats.org/drawingml/2006/main">
            <a:r>
              <a:t>          "locator": "별표4 · T34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"RULEWORK-1016043-2-R01",</a:t>
            </a:r>
          </a:p>
          <a:p xmlns:a="http://schemas.openxmlformats.org/drawingml/2006/main">
            <a:r>
              <a:t>              "title": "업무 맥락·전용 지식 구성",</a:t>
            </a:r>
          </a:p>
          <a:p xmlns:a="http://schemas.openxmlformats.org/drawingml/2006/main">
            <a:r>
              <a:t>              "development": "작업·위험 유형별 기준·증빙 분류",</a:t>
            </a:r>
          </a:p>
          <a:p xmlns:a="http://schemas.openxmlformats.org/drawingml/2006/main">
            <a:r>
              <a:t>              "output": "위험·예방조치·이행·재점검표",</a:t>
            </a:r>
          </a:p>
          <a:p xmlns:a="http://schemas.openxmlformats.org/drawingml/2006/main">
            <a:r>
              <a:t>              "testId": "RULEWORK-1016043-2-T01",</a:t>
            </a:r>
          </a:p>
          <a:p xmlns:a="http://schemas.openxmlformats.org/drawingml/2006/main">
            <a:r>
              <a:t>              "criterion": "중대 위험·미이행·반복 지적의 정답 대조"</a:t>
            </a:r>
          </a:p>
          <a:p xmlns:a="http://schemas.openxmlformats.org/drawingml/2006/main">
            <a:r>
              <a:t>            },</a:t>
            </a:r>
          </a:p>
          <a:p xmlns:a="http://schemas.openxmlformats.org/drawingml/2006/main">
            <a:r>
              <a:t>            {</a:t>
            </a:r>
          </a:p>
          <a:p xmlns:a="http://schemas.openxmlformats.org/drawingml/2006/main">
            <a:r>
              <a:t>              "id": "RULEWORK-1016043-2-R02",</a:t>
            </a:r>
          </a:p>
          <a:p xmlns:a="http://schemas.openxmlformats.org/drawingml/2006/main">
            <a:r>
              <a:t>              "title": "업무건·역할·시스템 연결",</a:t>
            </a:r>
          </a:p>
          <a:p xmlns:a="http://schemas.openxmlformats.org/drawingml/2006/main">
            <a:r>
              <a:t>              "development": "개선 책임·기한·이행·재확인 연결",</a:t>
            </a:r>
          </a:p>
          <a:p xmlns:a="http://schemas.openxmlformats.org/drawingml/2006/main">
            <a:r>
              <a:t>              "output": "업무건·원천·역할·변경 연결 명세",</a:t>
            </a:r>
          </a:p>
          <a:p xmlns:a="http://schemas.openxmlformats.org/drawingml/2006/main">
            <a:r>
              <a:t>              "testId": "RULEWORK-1016043-2-T02",</a:t>
            </a:r>
          </a:p>
          <a:p xmlns:a="http://schemas.openxmlformats.org/drawingml/2006/main">
            <a:r>
              <a:t>              "criterion": "필수 조치 미완료 건의 안전 확인 처리 차단"</a:t>
            </a:r>
          </a:p>
          <a:p xmlns:a="http://schemas.openxmlformats.org/drawingml/2006/main">
            <a:r>
              <a:t>            },</a:t>
            </a:r>
          </a:p>
          <a:p xmlns:a="http://schemas.openxmlformats.org/drawingml/2006/main">
            <a:r>
              <a:t>            {</a:t>
            </a:r>
          </a:p>
          <a:p xmlns:a="http://schemas.openxmlformats.org/drawingml/2006/main">
            <a:r>
              <a:t>              "id": "RULEWORK-1016043-2-R03",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"RULEWORK-1016043-2-T03",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"1019040",</a:t>
            </a:r>
          </a:p>
          <a:p xmlns:a="http://schemas.openxmlformats.org/drawingml/2006/main">
            <a:r>
              <a:t>      "name": "기후탄소물류처",</a:t>
            </a:r>
          </a:p>
          <a:p xmlns:a="http://schemas.openxmlformats.org/drawingml/2006/main">
            <a:r>
              <a:t>      "job": "교통물류 정책자료",</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교통물류 정책관련 연구‧사업 업무"</a:t>
            </a:r>
          </a:p>
          <a:p xmlns:a="http://schemas.openxmlformats.org/drawingml/2006/main">
            <a:r>
              <a:t>      ],</a:t>
            </a:r>
          </a:p>
          <a:p xmlns:a="http://schemas.openxmlformats.org/drawingml/2006/main">
            <a:r>
              <a:t>      "locator": "별표4 · T40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"RULEWORK-1019040-6",</a:t>
            </a:r>
          </a:p>
          <a:p xmlns:a="http://schemas.openxmlformats.org/drawingml/2006/main">
            <a:r>
              <a:t>          "text": "6. 교통물류 정책관련 연구‧사업 업무",</a:t>
            </a:r>
          </a:p>
          <a:p xmlns:a="http://schemas.openxmlformats.org/drawingml/2006/main">
            <a:r>
              <a:t>          "locator": "별표4 · T40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"RULEWORK-1019040-6-R01",</a:t>
            </a:r>
          </a:p>
          <a:p xmlns:a="http://schemas.openxmlformats.org/drawingml/2006/main">
            <a:r>
              <a:t>              "title": "업무 맥락·전용 지식 구성",</a:t>
            </a:r>
          </a:p>
          <a:p xmlns:a="http://schemas.openxmlformats.org/drawingml/2006/main">
            <a:r>
              <a:t>              "development": "경계·단위·계수 판본별 산정자료 분류",</a:t>
            </a:r>
          </a:p>
          <a:p xmlns:a="http://schemas.openxmlformats.org/drawingml/2006/main">
            <a:r>
              <a:t>              "output": "산식·실적·누락·감축 검토표",</a:t>
            </a:r>
          </a:p>
          <a:p xmlns:a="http://schemas.openxmlformats.org/drawingml/2006/main">
            <a:r>
              <a:t>              "testId": "RULEWORK-1019040-6-T01",</a:t>
            </a:r>
          </a:p>
          <a:p xmlns:a="http://schemas.openxmlformats.org/drawingml/2006/main">
            <a:r>
              <a:t>              "criterion": "단위·산정 경계·중복 실적·계수 대조"</a:t>
            </a:r>
          </a:p>
          <a:p xmlns:a="http://schemas.openxmlformats.org/drawingml/2006/main">
            <a:r>
              <a:t>            },</a:t>
            </a:r>
          </a:p>
          <a:p xmlns:a="http://schemas.openxmlformats.org/drawingml/2006/main">
            <a:r>
              <a:t>            {</a:t>
            </a:r>
          </a:p>
          <a:p xmlns:a="http://schemas.openxmlformats.org/drawingml/2006/main">
            <a:r>
              <a:t>              "id": "RULEWORK-1019040-6-R02",</a:t>
            </a:r>
          </a:p>
          <a:p xmlns:a="http://schemas.openxmlformats.org/drawingml/2006/main">
            <a:r>
              <a:t>              "title": "업무건·역할·시스템 연결",</a:t>
            </a:r>
          </a:p>
          <a:p xmlns:a="http://schemas.openxmlformats.org/drawingml/2006/main">
            <a:r>
              <a:t>              "development": "실적 원장·계수·검토·승인 판본 연결",</a:t>
            </a:r>
          </a:p>
          <a:p xmlns:a="http://schemas.openxmlformats.org/drawingml/2006/main">
            <a:r>
              <a:t>              "output": "업무건·원천·역할·변경 연결 명세",</a:t>
            </a:r>
          </a:p>
          <a:p xmlns:a="http://schemas.openxmlformats.org/drawingml/2006/main">
            <a:r>
              <a:t>              "testId": "RULEWORK-1019040-6-T02",</a:t>
            </a:r>
          </a:p>
          <a:p xmlns:a="http://schemas.openxmlformats.org/drawingml/2006/main">
            <a:r>
              <a:t>              "criterion": "근거 없는 감축량·인증 결과 확정 차단"</a:t>
            </a:r>
          </a:p>
          <a:p xmlns:a="http://schemas.openxmlformats.org/drawingml/2006/main">
            <a:r>
              <a:t>            },</a:t>
            </a:r>
          </a:p>
          <a:p xmlns:a="http://schemas.openxmlformats.org/drawingml/2006/main">
            <a:r>
              <a:t>            {</a:t>
            </a:r>
          </a:p>
          <a:p xmlns:a="http://schemas.openxmlformats.org/drawingml/2006/main">
            <a:r>
              <a:t>              "id": "RULEWORK-1019040-6-R03",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"RULEWORK-1019040-6-T03",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"1018034",</a:t>
            </a:r>
          </a:p>
          <a:p xmlns:a="http://schemas.openxmlformats.org/drawingml/2006/main">
            <a:r>
              <a:t>      "name": "재정회계처",</a:t>
            </a:r>
          </a:p>
          <a:p xmlns:a="http://schemas.openxmlformats.org/drawingml/2006/main">
            <a:r>
              <a:t>      "job": "회계·계약 증빙",</a:t>
            </a:r>
          </a:p>
          <a:p xmlns:a="http://schemas.openxmlformats.org/drawingml/2006/main">
            <a:r>
              <a:t>      "indices": [</a:t>
            </a:r>
          </a:p>
          <a:p xmlns:a="http://schemas.openxmlformats.org/drawingml/2006/main">
            <a:r>
              <a:t>        3,</a:t>
            </a:r>
          </a:p>
          <a:p xmlns:a="http://schemas.openxmlformats.org/drawingml/2006/main">
            <a:r>
              <a:t>        9</a:t>
            </a:r>
          </a:p>
          <a:p xmlns:a="http://schemas.openxmlformats.org/drawingml/2006/main">
            <a:r>
              <a:t>      ],</a:t>
            </a:r>
          </a:p>
          <a:p xmlns:a="http://schemas.openxmlformats.org/drawingml/2006/main">
            <a:r>
              <a:t>      "duties": [</a:t>
            </a:r>
          </a:p>
          <a:p xmlns:a="http://schemas.openxmlformats.org/drawingml/2006/main">
            <a:r>
              <a:t>        "4. 연간·월간 회계결산 및 연차 결산보고서 작성 보고",</a:t>
            </a:r>
          </a:p>
          <a:p xmlns:a="http://schemas.openxmlformats.org/drawingml/2006/main">
            <a:r>
              <a:t>        "10. 회계․계약관련 제도개선 및 회계감사·세무조사에 관한 사항"</a:t>
            </a:r>
          </a:p>
          <a:p xmlns:a="http://schemas.openxmlformats.org/drawingml/2006/main">
            <a:r>
              <a:t>      ],</a:t>
            </a:r>
          </a:p>
          <a:p xmlns:a="http://schemas.openxmlformats.org/drawingml/2006/main">
            <a:r>
              <a:t>      "locator": "별표4 · T38 · 4행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"RULEWORK-1018034-4",</a:t>
            </a:r>
          </a:p>
          <a:p xmlns:a="http://schemas.openxmlformats.org/drawingml/2006/main">
            <a:r>
              <a:t>          "text": "4. 연간·월간 회계결산 및 연차 결산보고서 작성 보고",</a:t>
            </a:r>
          </a:p>
          <a:p xmlns:a="http://schemas.openxmlformats.org/drawingml/2006/main">
            <a:r>
              <a:t>          "locator": "별표4 · T38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"RULEWORK-1018034-4-R01",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"RULEWORK-1018034-4-T01",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"RULEWORK-1018034-4-R02",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"RULEWORK-1018034-4-T02",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"RULEWORK-1018034-4-R03",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"RULEWORK-1018034-4-T03",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"RULEWORK-1018034-10",</a:t>
            </a:r>
          </a:p>
          <a:p xmlns:a="http://schemas.openxmlformats.org/drawingml/2006/main">
            <a:r>
              <a:t>          "text": "10. 회계․계약관련 제도개선 및 회계감사·세무조사에 관한 사항",</a:t>
            </a:r>
          </a:p>
          <a:p xmlns:a="http://schemas.openxmlformats.org/drawingml/2006/main">
            <a:r>
              <a:t>          "locator": "별표4 · T38 · 4행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"RULEWORK-1018034-10-R01",</a:t>
            </a:r>
          </a:p>
          <a:p xmlns:a="http://schemas.openxmlformats.org/drawingml/2006/main">
            <a:r>
              <a:t>              "title": "업무 맥락·전용 지식 구성",</a:t>
            </a:r>
          </a:p>
          <a:p xmlns:a="http://schemas.openxmlformats.org/drawingml/2006/main">
            <a:r>
              <a:t>              "development": "과업·변경·검수·지급 조건 구조화",</a:t>
            </a:r>
          </a:p>
          <a:p xmlns:a="http://schemas.openxmlformats.org/drawingml/2006/main">
            <a:r>
              <a:t>              "output": "의무·검수·청구·지출 대조표",</a:t>
            </a:r>
          </a:p>
          <a:p xmlns:a="http://schemas.openxmlformats.org/drawingml/2006/main">
            <a:r>
              <a:t>              "testId": "RULEWORK-1018034-10-T01",</a:t>
            </a:r>
          </a:p>
          <a:p xmlns:a="http://schemas.openxmlformats.org/drawingml/2006/main">
            <a:r>
              <a:t>              "criterion": "원장 합계·의무·증빙·중복 청구 대조"</a:t>
            </a:r>
          </a:p>
          <a:p xmlns:a="http://schemas.openxmlformats.org/drawingml/2006/main">
            <a:r>
              <a:t>            },</a:t>
            </a:r>
          </a:p>
          <a:p xmlns:a="http://schemas.openxmlformats.org/drawingml/2006/main">
            <a:r>
              <a:t>            {</a:t>
            </a:r>
          </a:p>
          <a:p xmlns:a="http://schemas.openxmlformats.org/drawingml/2006/main">
            <a:r>
              <a:t>              "id": "RULEWORK-1018034-10-R02",</a:t>
            </a:r>
          </a:p>
          <a:p xmlns:a="http://schemas.openxmlformats.org/drawingml/2006/main">
            <a:r>
              <a:t>              "title": "업무건·역할·시스템 연결",</a:t>
            </a:r>
          </a:p>
          <a:p xmlns:a="http://schemas.openxmlformats.org/drawingml/2006/main">
            <a:r>
              <a:t>              "development": "계약–산출물–검수–청구의 ID·판본 연결",</a:t>
            </a:r>
          </a:p>
          <a:p xmlns:a="http://schemas.openxmlformats.org/drawingml/2006/main">
            <a:r>
              <a:t>              "output": "업무건·원천·역할·변경 연결 명세",</a:t>
            </a:r>
          </a:p>
          <a:p xmlns:a="http://schemas.openxmlformats.org/drawingml/2006/main">
            <a:r>
              <a:t>              "testId": "RULEWORK-1018034-10-T02",</a:t>
            </a:r>
          </a:p>
          <a:p xmlns:a="http://schemas.openxmlformats.org/drawingml/2006/main">
            <a:r>
              <a:t>              "criterion": "전결·검수 근거 없는 지급·공식 승인 차단"</a:t>
            </a:r>
          </a:p>
          <a:p xmlns:a="http://schemas.openxmlformats.org/drawingml/2006/main">
            <a:r>
              <a:t>            },</a:t>
            </a:r>
          </a:p>
          <a:p xmlns:a="http://schemas.openxmlformats.org/drawingml/2006/main">
            <a:r>
              <a:t>            {</a:t>
            </a:r>
          </a:p>
          <a:p xmlns:a="http://schemas.openxmlformats.org/drawingml/2006/main">
            <a:r>
              <a:t>              "id": "RULEWORK-1018034-10-R03",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"RULEWORK-1018034-10-T03",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공시 초안·근거 검색"</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"Audin·Torus의 증빙·검토 기록"</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"지표–원천–검토자 연결표",</a:t>
            </a:r>
          </a:p>
          <a:p xmlns:a="http://schemas.openxmlformats.org/drawingml/2006/main">
            <a:r>
              <a:t>    "중복 증빙·산식·공시 판본 검증"</a:t>
            </a:r>
          </a:p>
          <a:p xmlns:a="http://schemas.openxmlformats.org/drawingml/2006/main">
            <a:r>
              <a:t>  ],</a:t>
            </a:r>
          </a:p>
          <a:p xmlns:a="http://schemas.openxmlformats.org/drawingml/2006/main">
            <a:r>
              <a:t>  "acceptancePlan": {</a:t>
            </a:r>
          </a:p>
          <a:p xmlns:a="http://schemas.openxmlformats.org/drawingml/2006/main">
            <a:r>
              <a:t>    "sample": "중복 실적, 다른 기간 증빙, 근거 없는 수치",</a:t>
            </a:r>
          </a:p>
          <a:p xmlns:a="http://schemas.openxmlformats.org/drawingml/2006/main">
            <a:r>
              <a:t>    "criterion": "중복 제외·원천 재현·미비 공시 보류",</a:t>
            </a:r>
          </a:p>
          <a:p xmlns:a="http://schemas.openxmlformats.org/drawingml/2006/main">
            <a:r>
              <a:t>    "evidence": "지표별 증빙대장·계산 대사·검토 이력",</a:t>
            </a:r>
          </a:p>
          <a:p xmlns:a="http://schemas.openxmlformats.org/drawingml/2006/main">
            <a:r>
              <a:t>    "execution": "미실행"</a:t>
            </a:r>
          </a:p>
          <a:p xmlns:a="http://schemas.openxmlformats.org/drawingml/2006/main">
            <a:r>
              <a:t>  },</a:t>
            </a:r>
          </a:p>
          <a:p xmlns:a="http://schemas.openxmlformats.org/drawingml/2006/main">
            <a:r>
              <a:t>  "formula": "근거 추적 가능 지표 수 ÷ 대상 지표 수 / 공시 검토 소요시간",</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a:t>
            </a:r>
          </a:p>
          <a:p xmlns:a="http://schemas.openxmlformats.org/drawingml/2006/main">
            <a:r>
              <a:t>CCK-01: NOA 사용자 가이드 확인. 설치본 기능시험 필요.</a:t>
            </a:r>
          </a:p>
          <a:p xmlns:a="http://schemas.openxmlformats.org/drawingml/2006/main">
            <a:r>
              <a:t>CCK-02/03: 명세 기반 재사용 후보. 실물 기능검증 필요.</a:t>
            </a:r>
          </a:p>
          <a:p xmlns:a="http://schemas.openxmlformats.org/drawingml/2006/main">
            <a:r>
              <a:t>기존 SSO·RAG·권한·로그·연계 범위 대조 후 추가분 산정.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"ST-12",</a:t>
            </a:r>
          </a:p>
          <a:p xmlns:a="http://schemas.openxmlformats.org/drawingml/2006/main">
            <a:r>
              <a:t>  "number": 12,</a:t>
            </a:r>
          </a:p>
          <a:p xmlns:a="http://schemas.openxmlformats.org/drawingml/2006/main">
            <a:r>
              <a:t>  "direction": "지속가능 책임경영 이행",</a:t>
            </a:r>
          </a:p>
          <a:p xmlns:a="http://schemas.openxmlformats.org/drawingml/2006/main">
            <a:r>
              <a:t>  "strategy": "자율·참여·소통·공정 조직문화 조성",</a:t>
            </a:r>
          </a:p>
          <a:p xmlns:a="http://schemas.openxmlformats.org/drawingml/2006/main">
            <a:r>
              <a:t>  "solution": "조직 협업·인수인계 지원",</a:t>
            </a:r>
          </a:p>
          <a:p xmlns:a="http://schemas.openxmlformats.org/drawingml/2006/main">
            <a:r>
              <a:t>  "lawIds": [],</a:t>
            </a:r>
          </a:p>
          <a:p xmlns:a="http://schemas.openxmlformats.org/drawingml/2006/main">
            <a:r>
              <a:t>  "codes": [</a:t>
            </a:r>
          </a:p>
          <a:p xmlns:a="http://schemas.openxmlformats.org/drawingml/2006/main">
            <a:r>
              <a:t>    "1018037",</a:t>
            </a:r>
          </a:p>
          <a:p xmlns:a="http://schemas.openxmlformats.org/drawingml/2006/main">
            <a:r>
              <a:t>    "1018030",</a:t>
            </a:r>
          </a:p>
          <a:p xmlns:a="http://schemas.openxmlformats.org/drawingml/2006/main">
            <a:r>
              <a:t>    "1016047",</a:t>
            </a:r>
          </a:p>
          <a:p xmlns:a="http://schemas.openxmlformats.org/drawingml/2006/main">
            <a:r>
              <a:t>    "1019600"</a:t>
            </a:r>
          </a:p>
          <a:p xmlns:a="http://schemas.openxmlformats.org/drawingml/2006/main">
            <a:r>
              <a:t>  ],</a:t>
            </a:r>
          </a:p>
          <a:p xmlns:a="http://schemas.openxmlformats.org/drawingml/2006/main">
            <a:r>
              <a:t>  "work": "업무분장·담당자 탐색·인수인계·조직 지식 공유",</a:t>
            </a:r>
          </a:p>
          <a:p xmlns:a="http://schemas.openxmlformats.org/drawingml/2006/main">
            <a:r>
              <a:t>  "features": [</a:t>
            </a:r>
          </a:p>
          <a:p xmlns:a="http://schemas.openxmlformats.org/drawingml/2006/main">
            <a:r>
              <a:t>    "소속·직무·겸직에 따른 업무 지식 연결",</a:t>
            </a:r>
          </a:p>
          <a:p xmlns:a="http://schemas.openxmlformats.org/drawingml/2006/main">
            <a:r>
              <a:t>    "이동·대행·협업 요청의 인계·수락 관리"</a:t>
            </a:r>
          </a:p>
          <a:p xmlns:a="http://schemas.openxmlformats.org/drawingml/2006/main">
            <a:r>
              <a:t>  ],</a:t>
            </a:r>
          </a:p>
          <a:p xmlns:a="http://schemas.openxmlformats.org/drawingml/2006/main">
            <a:r>
              <a:t>  "output": "직무별 안내·인수인계 묶음",</a:t>
            </a:r>
          </a:p>
          <a:p xmlns:a="http://schemas.openxmlformats.org/drawingml/2006/main">
            <a:r>
              <a:t>  "acceptance": "인사이동 후 소속/권한 회수·겸직 맥락 확인·민감정보 최소수집 검증",</a:t>
            </a:r>
          </a:p>
          <a:p xmlns:a="http://schemas.openxmlformats.org/drawingml/2006/main">
            <a:r>
              <a:t>  "phase": "공통 기반 인수 후 부서별 적용",</a:t>
            </a:r>
          </a:p>
          <a:p xmlns:a="http://schemas.openxmlformats.org/drawingml/2006/main">
            <a:r>
              <a:t>  "packages": [</a:t>
            </a:r>
          </a:p>
          <a:p xmlns:a="http://schemas.openxmlformats.org/drawingml/2006/main">
            <a:r>
              <a:t>    "ON-W01",</a:t>
            </a:r>
          </a:p>
          <a:p xmlns:a="http://schemas.openxmlformats.org/drawingml/2006/main">
            <a:r>
              <a:t>    "ON-W02",</a:t>
            </a:r>
          </a:p>
          <a:p xmlns:a="http://schemas.openxmlformats.org/drawingml/2006/main">
            <a:r>
              <a:t>    "ON-W03",</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"GAI-T02",</a:t>
            </a:r>
          </a:p>
          <a:p xmlns:a="http://schemas.openxmlformats.org/drawingml/2006/main">
            <a:r>
              <a:t>    "GAI-T03",</a:t>
            </a:r>
          </a:p>
          <a:p xmlns:a="http://schemas.openxmlformats.org/drawingml/2006/main">
            <a:r>
              <a:t>    "GAI-T04",</a:t>
            </a:r>
          </a:p>
          <a:p xmlns:a="http://schemas.openxmlformats.org/drawingml/2006/main">
            <a:r>
              <a:t>    "GAI-T07"</a:t>
            </a:r>
          </a:p>
          <a:p xmlns:a="http://schemas.openxmlformats.org/drawingml/2006/main">
            <a:r>
              <a:t>  ],</a:t>
            </a:r>
          </a:p>
          <a:p xmlns:a="http://schemas.openxmlformats.org/drawingml/2006/main">
            <a:r>
              <a:t>  "status": "솔루션·조직·범위 연결안",</a:t>
            </a:r>
          </a:p>
          <a:p xmlns:a="http://schemas.openxmlformats.org/drawingml/2006/main">
            <a:r>
              <a:t>  "basis": "설립법·직제시행세칙 기반 경영지원 업무",</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"인사·직무교육",</a:t>
            </a:r>
          </a:p>
          <a:p xmlns:a="http://schemas.openxmlformats.org/drawingml/2006/main">
            <a:r>
              <a:t>      "indices": [</a:t>
            </a:r>
          </a:p>
          <a:p xmlns:a="http://schemas.openxmlformats.org/drawingml/2006/main">
            <a:r>
              <a:t>        2,</a:t>
            </a:r>
          </a:p>
          <a:p xmlns:a="http://schemas.openxmlformats.org/drawingml/2006/main">
            <a:r>
              <a:t>        8</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"9. 직무교육, 계층교육, 자기계발교육 등 교육훈련 업무 총괄"</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"1018030",</a:t>
            </a:r>
          </a:p>
          <a:p xmlns:a="http://schemas.openxmlformats.org/drawingml/2006/main">
            <a:r>
              <a:t>      "name": "운영지원처",</a:t>
            </a:r>
          </a:p>
          <a:p xmlns:a="http://schemas.openxmlformats.org/drawingml/2006/main">
            <a:r>
              <a:t>      "job": "문서·노사관계",</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문서의 접수·분류·수발·처리 및 보존관리",</a:t>
            </a:r>
          </a:p>
          <a:p xmlns:a="http://schemas.openxmlformats.org/drawingml/2006/main">
            <a:r>
              <a:t>        "6. 임금․단체협약 등 노사관계 업무에 관한 사항"</a:t>
            </a:r>
          </a:p>
          <a:p xmlns:a="http://schemas.openxmlformats.org/drawingml/2006/main">
            <a:r>
              <a:t>      ],</a:t>
            </a:r>
          </a:p>
          <a:p xmlns:a="http://schemas.openxmlformats.org/drawingml/2006/main">
            <a:r>
              <a:t>      "locator": "별표4 · T38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"1016047",</a:t>
            </a:r>
          </a:p>
          <a:p xmlns:a="http://schemas.openxmlformats.org/drawingml/2006/main">
            <a:r>
              <a:t>      "name": "ESG경영처",</a:t>
            </a:r>
          </a:p>
          <a:p xmlns:a="http://schemas.openxmlformats.org/drawingml/2006/main">
            <a:r>
              <a:t>      "job": "기업문화·내부 소통",</a:t>
            </a:r>
          </a:p>
          <a:p xmlns:a="http://schemas.openxmlformats.org/drawingml/2006/main">
            <a:r>
              <a:t>      "indices":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"duties": [</a:t>
            </a:r>
          </a:p>
          <a:p xmlns:a="http://schemas.openxmlformats.org/drawingml/2006/main">
            <a:r>
              <a:t>        "8. 기업문화에 관한 업무",</a:t>
            </a:r>
          </a:p>
          <a:p xmlns:a="http://schemas.openxmlformats.org/drawingml/2006/main">
            <a:r>
              <a:t>        "- 내부 소통 채널 운영"</a:t>
            </a:r>
          </a:p>
          <a:p xmlns:a="http://schemas.openxmlformats.org/drawingml/2006/main">
            <a:r>
              <a:t>      ],</a:t>
            </a:r>
          </a:p>
          <a:p xmlns:a="http://schemas.openxmlformats.org/drawingml/2006/main">
            <a:r>
              <a:t>      "locator": "별표4 · T36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역량강화",</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임직원 인공지능(AI) 역량강화 교육 및 역량진단"</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"설립법·별표4 내부 업무분장 / 인사·재무·계약·전결 등 업무별 규정의 별도 확인",</a:t>
            </a:r>
          </a:p>
          <a:p xmlns:a="http://schemas.openxmlformats.org/drawingml/2006/main">
            <a:r>
              <a:t>  "caseRefs": [</a:t>
            </a:r>
          </a:p>
          <a:p xmlns:a="http://schemas.openxmlformats.org/drawingml/2006/main">
            <a:r>
              <a:t>    {</a:t>
            </a:r>
          </a:p>
          <a:p xmlns:a="http://schemas.openxmlformats.org/drawingml/2006/main">
            <a:r>
              <a:t>      "caseId": "AX04",</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"AX02",</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"AX07",</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"조직 협업·참여·공정성 지원",</a:t>
            </a:r>
          </a:p>
          <a:p xmlns:a="http://schemas.openxmlformats.org/drawingml/2006/main">
            <a:r>
              <a:t>  "delta": "역할별 인계·평가 피드백·이의제기 보호",</a:t>
            </a:r>
          </a:p>
          <a:p xmlns:a="http://schemas.openxmlformats.org/drawingml/2006/main">
            <a:r>
              <a:t>  "kpi": "인계 완료시간 / 부서별 오류율 편차",</a:t>
            </a:r>
          </a:p>
          <a:p xmlns:a="http://schemas.openxmlformats.org/drawingml/2006/main">
            <a:r>
              <a:t>  "validation": "겸직·대행·전보·접근 회수·의견 보호 시험",</a:t>
            </a:r>
          </a:p>
          <a:p xmlns:a="http://schemas.openxmlformats.org/drawingml/2006/main">
            <a:r>
              <a:t>  "requirement": "BM-ST-12-R01",</a:t>
            </a:r>
          </a:p>
          <a:p xmlns:a="http://schemas.openxmlformats.org/drawingml/2006/main">
            <a:r>
              <a:t>  "test": "BM-ST-12-T01",</a:t>
            </a:r>
          </a:p>
          <a:p xmlns:a="http://schemas.openxmlformats.org/drawingml/2006/main">
            <a:r>
              <a:t>  "effectStatus": "기대 방향 · TS 실측 전",</a:t>
            </a:r>
          </a:p>
          <a:p xmlns:a="http://schemas.openxmlformats.org/drawingml/2006/main">
            <a:r>
              <a:t>  "effect": "인계 누락·담당자 탐색시간 감소",</a:t>
            </a:r>
          </a:p>
          <a:p xmlns:a="http://schemas.openxmlformats.org/drawingml/2006/main">
            <a:r>
              <a:t>  "reuse": "ON27-BASE / C27-COM + CCK 재사용 판정 기능",</a:t>
            </a:r>
          </a:p>
          <a:p xmlns:a="http://schemas.openxmlformats.org/drawingml/2006/main">
            <a:r>
              <a:t>  "input": "직무분장·인사변경, 인계 대상 업무, 교육·참여 기록",</a:t>
            </a:r>
          </a:p>
          <a:p xmlns:a="http://schemas.openxmlformats.org/drawingml/2006/main">
            <a:r>
              <a:t>  "steps": [</a:t>
            </a:r>
          </a:p>
          <a:p xmlns:a="http://schemas.openxmlformats.org/drawingml/2006/main">
            <a:r>
              <a:t>    "직무·역할·변경일 확인",</a:t>
            </a:r>
          </a:p>
          <a:p xmlns:a="http://schemas.openxmlformats.org/drawingml/2006/main">
            <a:r>
              <a:t>    "허용 인계자료 구성",</a:t>
            </a:r>
          </a:p>
          <a:p xmlns:a="http://schemas.openxmlformats.org/drawingml/2006/main">
            <a:r>
              <a:t>    "협업 요청·수락 추적",</a:t>
            </a:r>
          </a:p>
          <a:p xmlns:a="http://schemas.openxmlformats.org/drawingml/2006/main">
            <a:r>
              <a:t>    "권한 회수·이의 확인"</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"인사·직무교육",</a:t>
            </a:r>
          </a:p>
          <a:p xmlns:a="http://schemas.openxmlformats.org/drawingml/2006/main">
            <a:r>
              <a:t>      "indices": [</a:t>
            </a:r>
          </a:p>
          <a:p xmlns:a="http://schemas.openxmlformats.org/drawingml/2006/main">
            <a:r>
              <a:t>        2,</a:t>
            </a:r>
          </a:p>
          <a:p xmlns:a="http://schemas.openxmlformats.org/drawingml/2006/main">
            <a:r>
              <a:t>        8</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"9. 직무교육, 계층교육, 자기계발교육 등 교육훈련 업무 총괄"</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"RULEWORK-1018037-3",</a:t>
            </a:r>
          </a:p>
          <a:p xmlns:a="http://schemas.openxmlformats.org/drawingml/2006/main">
            <a:r>
              <a:t>          "text": "3. 직원의 채용, 승진, 전보 등 임용 및 보직에 관한 업무",</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"RULEWORK-1018037-9",</a:t>
            </a:r>
          </a:p>
          <a:p xmlns:a="http://schemas.openxmlformats.org/drawingml/2006/main">
            <a:r>
              <a:t>          "text": "9. 직무교육, 계층교육, 자기계발교육 등 교육훈련 업무 총괄",</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"RULEWORK-1018037-9-R01",</a:t>
            </a:r>
          </a:p>
          <a:p xmlns:a="http://schemas.openxmlformats.org/drawingml/2006/main">
            <a:r>
              <a:t>              "title": "업무 맥락·전용 지식 구성",</a:t>
            </a:r>
          </a:p>
          <a:p xmlns:a="http://schemas.openxmlformats.org/drawingml/2006/main">
            <a:r>
              <a:t>              "development": "대상·소속·시점별 규정·서식 선택",</a:t>
            </a:r>
          </a:p>
          <a:p xmlns:a="http://schemas.openxmlformats.org/drawingml/2006/main">
            <a:r>
              <a:t>              "output": "규정 안내·요건·교육·협의 자료",</a:t>
            </a:r>
          </a:p>
          <a:p xmlns:a="http://schemas.openxmlformats.org/drawingml/2006/main">
            <a:r>
              <a:t>              "testId": "RULEWORK-1018037-9-T01",</a:t>
            </a:r>
          </a:p>
          <a:p xmlns:a="http://schemas.openxmlformats.org/drawingml/2006/main">
            <a:r>
              <a:t>              "criterion": "규정 판본·적용 대상·예외 정답 대조"</a:t>
            </a:r>
          </a:p>
          <a:p xmlns:a="http://schemas.openxmlformats.org/drawingml/2006/main">
            <a:r>
              <a:t>            },</a:t>
            </a:r>
          </a:p>
          <a:p xmlns:a="http://schemas.openxmlformats.org/drawingml/2006/main">
            <a:r>
              <a:t>            {</a:t>
            </a:r>
          </a:p>
          <a:p xmlns:a="http://schemas.openxmlformats.org/drawingml/2006/main">
            <a:r>
              <a:t>              "id": "RULEWORK-1018037-9-R02",</a:t>
            </a:r>
          </a:p>
          <a:p xmlns:a="http://schemas.openxmlformats.org/drawingml/2006/main">
            <a:r>
              <a:t>              "title": "업무건·역할·시스템 연결",</a:t>
            </a:r>
          </a:p>
          <a:p xmlns:a="http://schemas.openxmlformats.org/drawingml/2006/main">
            <a:r>
              <a:t>              "development": "개인정보 최소화·유효 권한·확인 절차 연결",</a:t>
            </a:r>
          </a:p>
          <a:p xmlns:a="http://schemas.openxmlformats.org/drawingml/2006/main">
            <a:r>
              <a:t>              "output": "업무건·원천·역할·변경 연결 명세",</a:t>
            </a:r>
          </a:p>
          <a:p xmlns:a="http://schemas.openxmlformats.org/drawingml/2006/main">
            <a:r>
              <a:t>              "testId": "RULEWORK-1018037-9-T02",</a:t>
            </a:r>
          </a:p>
          <a:p xmlns:a="http://schemas.openxmlformats.org/drawingml/2006/main">
            <a:r>
              <a:t>              "criterion": "채용·평가·징계 등 인사 결정 자동 확정 차단"</a:t>
            </a:r>
          </a:p>
          <a:p xmlns:a="http://schemas.openxmlformats.org/drawingml/2006/main">
            <a:r>
              <a:t>            },</a:t>
            </a:r>
          </a:p>
          <a:p xmlns:a="http://schemas.openxmlformats.org/drawingml/2006/main">
            <a:r>
              <a:t>            {</a:t>
            </a:r>
          </a:p>
          <a:p xmlns:a="http://schemas.openxmlformats.org/drawingml/2006/main">
            <a:r>
              <a:t>              "id": "RULEWORK-1018037-9-R03",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"RULEWORK-1018037-9-T03",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"1018030",</a:t>
            </a:r>
          </a:p>
          <a:p xmlns:a="http://schemas.openxmlformats.org/drawingml/2006/main">
            <a:r>
              <a:t>      "name": "운영지원처",</a:t>
            </a:r>
          </a:p>
          <a:p xmlns:a="http://schemas.openxmlformats.org/drawingml/2006/main">
            <a:r>
              <a:t>      "job": "문서·노사관계",</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문서의 접수·분류·수발·처리 및 보존관리",</a:t>
            </a:r>
          </a:p>
          <a:p xmlns:a="http://schemas.openxmlformats.org/drawingml/2006/main">
            <a:r>
              <a:t>        "6. 임금․단체협약 등 노사관계 업무에 관한 사항"</a:t>
            </a:r>
          </a:p>
          <a:p xmlns:a="http://schemas.openxmlformats.org/drawingml/2006/main">
            <a:r>
              <a:t>      ],</a:t>
            </a:r>
          </a:p>
          <a:p xmlns:a="http://schemas.openxmlformats.org/drawingml/2006/main">
            <a:r>
              <a:t>      "locator": "별표4 · T38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"RULEWORK-1018030-4",</a:t>
            </a:r>
          </a:p>
          <a:p xmlns:a="http://schemas.openxmlformats.org/drawingml/2006/main">
            <a:r>
              <a:t>          "text": "4. 문서의 접수·분류·수발·처리 및 보존관리",</a:t>
            </a:r>
          </a:p>
          <a:p xmlns:a="http://schemas.openxmlformats.org/drawingml/2006/main">
            <a:r>
              <a:t>          "locator": "별표4 · T38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"RULEWORK-1018030-4-R01",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"RULEWORK-1018030-4-T01",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"RULEWORK-1018030-4-R02",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"RULEWORK-1018030-4-T02",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"RULEWORK-1018030-4-R03",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"RULEWORK-1018030-6",</a:t>
            </a:r>
          </a:p>
          <a:p xmlns:a="http://schemas.openxmlformats.org/drawingml/2006/main">
            <a:r>
              <a:t>          "text": "6. 임금․단체협약 등 노사관계 업무에 관한 사항",</a:t>
            </a:r>
          </a:p>
          <a:p xmlns:a="http://schemas.openxmlformats.org/drawingml/2006/main">
            <a:r>
              <a:t>          "locator": "별표4 · T38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"RULEWORK-1018030-6-R01",</a:t>
            </a:r>
          </a:p>
          <a:p xmlns:a="http://schemas.openxmlformats.org/drawingml/2006/main">
            <a:r>
              <a:t>              "title": "업무 맥락·전용 지식 구성",</a:t>
            </a:r>
          </a:p>
          <a:p xmlns:a="http://schemas.openxmlformats.org/drawingml/2006/main">
            <a:r>
              <a:t>              "development": "대상·소속·시점별 규정·서식 선택",</a:t>
            </a:r>
          </a:p>
          <a:p xmlns:a="http://schemas.openxmlformats.org/drawingml/2006/main">
            <a:r>
              <a:t>              "output": "규정 안내·요건·교육·협의 자료",</a:t>
            </a:r>
          </a:p>
          <a:p xmlns:a="http://schemas.openxmlformats.org/drawingml/2006/main">
            <a:r>
              <a:t>              "testId": "RULEWORK-1018030-6-T01",</a:t>
            </a:r>
          </a:p>
          <a:p xmlns:a="http://schemas.openxmlformats.org/drawingml/2006/main">
            <a:r>
              <a:t>              "criterion": "규정 판본·적용 대상·예외 정답 대조"</a:t>
            </a:r>
          </a:p>
          <a:p xmlns:a="http://schemas.openxmlformats.org/drawingml/2006/main">
            <a:r>
              <a:t>            },</a:t>
            </a:r>
          </a:p>
          <a:p xmlns:a="http://schemas.openxmlformats.org/drawingml/2006/main">
            <a:r>
              <a:t>            {</a:t>
            </a:r>
          </a:p>
          <a:p xmlns:a="http://schemas.openxmlformats.org/drawingml/2006/main">
            <a:r>
              <a:t>              "id": "RULEWORK-1018030-6-R02",</a:t>
            </a:r>
          </a:p>
          <a:p xmlns:a="http://schemas.openxmlformats.org/drawingml/2006/main">
            <a:r>
              <a:t>              "title": "업무건·역할·시스템 연결",</a:t>
            </a:r>
          </a:p>
          <a:p xmlns:a="http://schemas.openxmlformats.org/drawingml/2006/main">
            <a:r>
              <a:t>              "development": "개인정보 최소화·유효 권한·확인 절차 연결",</a:t>
            </a:r>
          </a:p>
          <a:p xmlns:a="http://schemas.openxmlformats.org/drawingml/2006/main">
            <a:r>
              <a:t>              "output": "업무건·원천·역할·변경 연결 명세",</a:t>
            </a:r>
          </a:p>
          <a:p xmlns:a="http://schemas.openxmlformats.org/drawingml/2006/main">
            <a:r>
              <a:t>              "testId": "RULEWORK-1018030-6-T02",</a:t>
            </a:r>
          </a:p>
          <a:p xmlns:a="http://schemas.openxmlformats.org/drawingml/2006/main">
            <a:r>
              <a:t>              "criterion": "채용·평가·징계 등 인사 결정 자동 확정 차단"</a:t>
            </a:r>
          </a:p>
          <a:p xmlns:a="http://schemas.openxmlformats.org/drawingml/2006/main">
            <a:r>
              <a:t>            },</a:t>
            </a:r>
          </a:p>
          <a:p xmlns:a="http://schemas.openxmlformats.org/drawingml/2006/main">
            <a:r>
              <a:t>            {</a:t>
            </a:r>
          </a:p>
          <a:p xmlns:a="http://schemas.openxmlformats.org/drawingml/2006/main">
            <a:r>
              <a:t>              "id": "RULEWORK-1018030-6-R03",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"1016047",</a:t>
            </a:r>
          </a:p>
          <a:p xmlns:a="http://schemas.openxmlformats.org/drawingml/2006/main">
            <a:r>
              <a:t>      "name": "ESG경영처",</a:t>
            </a:r>
          </a:p>
          <a:p xmlns:a="http://schemas.openxmlformats.org/drawingml/2006/main">
            <a:r>
              <a:t>      "job": "기업문화·내부 소통",</a:t>
            </a:r>
          </a:p>
          <a:p xmlns:a="http://schemas.openxmlformats.org/drawingml/2006/main">
            <a:r>
              <a:t>      "indices":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"duties": [</a:t>
            </a:r>
          </a:p>
          <a:p xmlns:a="http://schemas.openxmlformats.org/drawingml/2006/main">
            <a:r>
              <a:t>        "8. 기업문화에 관한 업무",</a:t>
            </a:r>
          </a:p>
          <a:p xmlns:a="http://schemas.openxmlformats.org/drawingml/2006/main">
            <a:r>
              <a:t>        "- 내부 소통 채널 운영"</a:t>
            </a:r>
          </a:p>
          <a:p xmlns:a="http://schemas.openxmlformats.org/drawingml/2006/main">
            <a:r>
              <a:t>      ],</a:t>
            </a:r>
          </a:p>
          <a:p xmlns:a="http://schemas.openxmlformats.org/drawingml/2006/main">
            <a:r>
              <a:t>      "locator": "별표4 · T36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"RULEWORK-1016047-10",</a:t>
            </a:r>
          </a:p>
          <a:p xmlns:a="http://schemas.openxmlformats.org/drawingml/2006/main">
            <a:r>
              <a:t>          "text": "8. 기업문화에 관한 업무",</a:t>
            </a:r>
          </a:p>
          <a:p xmlns:a="http://schemas.openxmlformats.org/drawingml/2006/main">
            <a:r>
              <a:t>          "locator": "별표4 · T36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"RULEWORK-1016047-10-R01",</a:t>
            </a:r>
          </a:p>
          <a:p xmlns:a="http://schemas.openxmlformats.org/drawingml/2006/main">
            <a:r>
              <a:t>              "title": "업무 맥락·전용 지식 구성",</a:t>
            </a:r>
          </a:p>
          <a:p xmlns:a="http://schemas.openxmlformats.org/drawingml/2006/main">
            <a:r>
              <a:t>              "development": "대상·소속·시점별 규정·서식 선택",</a:t>
            </a:r>
          </a:p>
          <a:p xmlns:a="http://schemas.openxmlformats.org/drawingml/2006/main">
            <a:r>
              <a:t>              "output": "규정 안내·요건·교육·협의 자료",</a:t>
            </a:r>
          </a:p>
          <a:p xmlns:a="http://schemas.openxmlformats.org/drawingml/2006/main">
            <a:r>
              <a:t>              "testId": "RULEWORK-1016047-10-T01",</a:t>
            </a:r>
          </a:p>
          <a:p xmlns:a="http://schemas.openxmlformats.org/drawingml/2006/main">
            <a:r>
              <a:t>              "criterion": "규정 판본·적용 대상·예외 정답 대조"</a:t>
            </a:r>
          </a:p>
          <a:p xmlns:a="http://schemas.openxmlformats.org/drawingml/2006/main">
            <a:r>
              <a:t>            },</a:t>
            </a:r>
          </a:p>
          <a:p xmlns:a="http://schemas.openxmlformats.org/drawingml/2006/main">
            <a:r>
              <a:t>            {</a:t>
            </a:r>
          </a:p>
          <a:p xmlns:a="http://schemas.openxmlformats.org/drawingml/2006/main">
            <a:r>
              <a:t>              "id": "RULEWORK-1016047-10-R02",</a:t>
            </a:r>
          </a:p>
          <a:p xmlns:a="http://schemas.openxmlformats.org/drawingml/2006/main">
            <a:r>
              <a:t>              "title": "업무건·역할·시스템 연결",</a:t>
            </a:r>
          </a:p>
          <a:p xmlns:a="http://schemas.openxmlformats.org/drawingml/2006/main">
            <a:r>
              <a:t>              "development": "개인정보 최소화·유효 권한·확인 절차 연결",</a:t>
            </a:r>
          </a:p>
          <a:p xmlns:a="http://schemas.openxmlformats.org/drawingml/2006/main">
            <a:r>
              <a:t>              "output": "업무건·원천·역할·변경 연결 명세",</a:t>
            </a:r>
          </a:p>
          <a:p xmlns:a="http://schemas.openxmlformats.org/drawingml/2006/main">
            <a:r>
              <a:t>              "testId": "RULEWORK-1016047-10-T02",</a:t>
            </a:r>
          </a:p>
          <a:p xmlns:a="http://schemas.openxmlformats.org/drawingml/2006/main">
            <a:r>
              <a:t>              "criterion": "채용·평가·징계 등 인사 결정 자동 확정 차단"</a:t>
            </a:r>
          </a:p>
          <a:p xmlns:a="http://schemas.openxmlformats.org/drawingml/2006/main">
            <a:r>
              <a:t>            },</a:t>
            </a:r>
          </a:p>
          <a:p xmlns:a="http://schemas.openxmlformats.org/drawingml/2006/main">
            <a:r>
              <a:t>            {</a:t>
            </a:r>
          </a:p>
          <a:p xmlns:a="http://schemas.openxmlformats.org/drawingml/2006/main">
            <a:r>
              <a:t>              "id": "RULEWORK-1016047-10-R03",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"RULEWORK-1016047-10-T03",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"RULEWORK-1016047-11",</a:t>
            </a:r>
          </a:p>
          <a:p xmlns:a="http://schemas.openxmlformats.org/drawingml/2006/main">
            <a:r>
              <a:t>          "text": "- 내부 소통 채널 운영",</a:t>
            </a:r>
          </a:p>
          <a:p xmlns:a="http://schemas.openxmlformats.org/drawingml/2006/main">
            <a:r>
              <a:t>          "locator": "별표4 · T36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"RULEWORK-1016047-11-R01",</a:t>
            </a:r>
          </a:p>
          <a:p xmlns:a="http://schemas.openxmlformats.org/drawingml/2006/main">
            <a:r>
              <a:t>              "title": "업무 맥락·전용 지식 구성",</a:t>
            </a:r>
          </a:p>
          <a:p xmlns:a="http://schemas.openxmlformats.org/drawingml/2006/main">
            <a:r>
              <a:t>              "development": "대상·소속·시점별 규정·서식 선택",</a:t>
            </a:r>
          </a:p>
          <a:p xmlns:a="http://schemas.openxmlformats.org/drawingml/2006/main">
            <a:r>
              <a:t>              "output": "규정 안내·요건·교육·협의 자료",</a:t>
            </a:r>
          </a:p>
          <a:p xmlns:a="http://schemas.openxmlformats.org/drawingml/2006/main">
            <a:r>
              <a:t>              "testId": "RULEWORK-1016047-11-T01",</a:t>
            </a:r>
          </a:p>
          <a:p xmlns:a="http://schemas.openxmlformats.org/drawingml/2006/main">
            <a:r>
              <a:t>              "criterion": "규정 판본·적용 대상·예외 정답 대조"</a:t>
            </a:r>
          </a:p>
          <a:p xmlns:a="http://schemas.openxmlformats.org/drawingml/2006/main">
            <a:r>
              <a:t>            },</a:t>
            </a:r>
          </a:p>
          <a:p xmlns:a="http://schemas.openxmlformats.org/drawingml/2006/main">
            <a:r>
              <a:t>            {</a:t>
            </a:r>
          </a:p>
          <a:p xmlns:a="http://schemas.openxmlformats.org/drawingml/2006/main">
            <a:r>
              <a:t>              "id": "RULEWORK-1016047-11-R02",</a:t>
            </a:r>
          </a:p>
          <a:p xmlns:a="http://schemas.openxmlformats.org/drawingml/2006/main">
            <a:r>
              <a:t>              "title": "업무건·역할·시스템 연결",</a:t>
            </a:r>
          </a:p>
          <a:p xmlns:a="http://schemas.openxmlformats.org/drawingml/2006/main">
            <a:r>
              <a:t>              "development": "개인정보 최소화·유효 권한·확인 절차 연결",</a:t>
            </a:r>
          </a:p>
          <a:p xmlns:a="http://schemas.openxmlformats.org/drawingml/2006/main">
            <a:r>
              <a:t>              "output": "업무건·원천·역할·변경 연결 명세",</a:t>
            </a:r>
          </a:p>
          <a:p xmlns:a="http://schemas.openxmlformats.org/drawingml/2006/main">
            <a:r>
              <a:t>              "testId": "RULEWORK-1016047-11-T02",</a:t>
            </a:r>
          </a:p>
          <a:p xmlns:a="http://schemas.openxmlformats.org/drawingml/2006/main">
            <a:r>
              <a:t>              "criterion": "채용·평가·징계 등 인사 결정 자동 확정 차단"</a:t>
            </a:r>
          </a:p>
          <a:p xmlns:a="http://schemas.openxmlformats.org/drawingml/2006/main">
            <a:r>
              <a:t>            },</a:t>
            </a:r>
          </a:p>
          <a:p xmlns:a="http://schemas.openxmlformats.org/drawingml/2006/main">
            <a:r>
              <a:t>            {</a:t>
            </a:r>
          </a:p>
          <a:p xmlns:a="http://schemas.openxmlformats.org/drawingml/2006/main">
            <a:r>
              <a:t>              "id": "RULEWORK-1016047-11-R03",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"RULEWORK-1016047-11-T03",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역량강화",</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임직원 인공지능(AI) 역량강화 교육 및 역량진단"</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"RULEWORK-1019600-6",</a:t>
            </a:r>
          </a:p>
          <a:p xmlns:a="http://schemas.openxmlformats.org/drawingml/2006/main">
            <a:r>
              <a:t>          "text": "6. 임직원 인공지능(AI) 역량강화 교육 및 역량진단",</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"RULEWORK-1019600-6-R01",</a:t>
            </a:r>
          </a:p>
          <a:p xmlns:a="http://schemas.openxmlformats.org/drawingml/2006/main">
            <a:r>
              <a:t>              "title": "업무 맥락·전용 지식 구성",</a:t>
            </a:r>
          </a:p>
          <a:p xmlns:a="http://schemas.openxmlformats.org/drawingml/2006/main">
            <a:r>
              <a:t>              "development": "대상·소속·시점별 규정·서식 선택",</a:t>
            </a:r>
          </a:p>
          <a:p xmlns:a="http://schemas.openxmlformats.org/drawingml/2006/main">
            <a:r>
              <a:t>              "output": "규정 안내·요건·교육·협의 자료",</a:t>
            </a:r>
          </a:p>
          <a:p xmlns:a="http://schemas.openxmlformats.org/drawingml/2006/main">
            <a:r>
              <a:t>              "testId": "RULEWORK-1019600-6-T01",</a:t>
            </a:r>
          </a:p>
          <a:p xmlns:a="http://schemas.openxmlformats.org/drawingml/2006/main">
            <a:r>
              <a:t>              "criterion": "규정 판본·적용 대상·예외 정답 대조"</a:t>
            </a:r>
          </a:p>
          <a:p xmlns:a="http://schemas.openxmlformats.org/drawingml/2006/main">
            <a:r>
              <a:t>            },</a:t>
            </a:r>
          </a:p>
          <a:p xmlns:a="http://schemas.openxmlformats.org/drawingml/2006/main">
            <a:r>
              <a:t>            {</a:t>
            </a:r>
          </a:p>
          <a:p xmlns:a="http://schemas.openxmlformats.org/drawingml/2006/main">
            <a:r>
              <a:t>              "id": "RULEWORK-1019600-6-R02",</a:t>
            </a:r>
          </a:p>
          <a:p xmlns:a="http://schemas.openxmlformats.org/drawingml/2006/main">
            <a:r>
              <a:t>              "title": "업무건·역할·시스템 연결",</a:t>
            </a:r>
          </a:p>
          <a:p xmlns:a="http://schemas.openxmlformats.org/drawingml/2006/main">
            <a:r>
              <a:t>              "development": "개인정보 최소화·유효 권한·확인 절차 연결",</a:t>
            </a:r>
          </a:p>
          <a:p xmlns:a="http://schemas.openxmlformats.org/drawingml/2006/main">
            <a:r>
              <a:t>              "output": "업무건·원천·역할·변경 연결 명세",</a:t>
            </a:r>
          </a:p>
          <a:p xmlns:a="http://schemas.openxmlformats.org/drawingml/2006/main">
            <a:r>
              <a:t>              "testId": "RULEWORK-1019600-6-T02",</a:t>
            </a:r>
          </a:p>
          <a:p xmlns:a="http://schemas.openxmlformats.org/drawingml/2006/main">
            <a:r>
              <a:t>              "criterion": "채용·평가·징계 등 인사 결정 자동 확정 차단"</a:t>
            </a:r>
          </a:p>
          <a:p xmlns:a="http://schemas.openxmlformats.org/drawingml/2006/main">
            <a:r>
              <a:t>            },</a:t>
            </a:r>
          </a:p>
          <a:p xmlns:a="http://schemas.openxmlformats.org/drawingml/2006/main">
            <a:r>
              <a:t>            {</a:t>
            </a:r>
          </a:p>
          <a:p xmlns:a="http://schemas.openxmlformats.org/drawingml/2006/main">
            <a:r>
              <a:t>              "id": "RULEWORK-1019600-6-R03",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직무 지식 검색·요약"</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"Foundry·Torus의 인계 절차·기록 명세"</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"겸직·대행·전보별 인계 규칙",</a:t>
            </a:r>
          </a:p>
          <a:p xmlns:a="http://schemas.openxmlformats.org/drawingml/2006/main">
            <a:r>
              <a:t>    "민감 의견 분리·수락/회수 추적"</a:t>
            </a:r>
          </a:p>
          <a:p xmlns:a="http://schemas.openxmlformats.org/drawingml/2006/main">
            <a:r>
              <a:t>  ],</a:t>
            </a:r>
          </a:p>
          <a:p xmlns:a="http://schemas.openxmlformats.org/drawingml/2006/main">
            <a:r>
              <a:t>  "acceptancePlan": {</a:t>
            </a:r>
          </a:p>
          <a:p xmlns:a="http://schemas.openxmlformats.org/drawingml/2006/main">
            <a:r>
              <a:t>    "sample": "전보 당일, 기간 만료 대행, 민감 의견, 미수락 인계",</a:t>
            </a:r>
          </a:p>
          <a:p xmlns:a="http://schemas.openxmlformats.org/drawingml/2006/main">
            <a:r>
              <a:t>    "criterion": "전임 접근 회수·겸직 맥락 확인·의견 비노출·미수락 유지",</a:t>
            </a:r>
          </a:p>
          <a:p xmlns:a="http://schemas.openxmlformats.org/drawingml/2006/main">
            <a:r>
              <a:t>    "evidence": "변경 전후 권한표·인계 수락 기록·거부셋 결과",</a:t>
            </a:r>
          </a:p>
          <a:p xmlns:a="http://schemas.openxmlformats.org/drawingml/2006/main">
            <a:r>
              <a:t>    "execution": "미실행"</a:t>
            </a:r>
          </a:p>
          <a:p xmlns:a="http://schemas.openxmlformats.org/drawingml/2006/main">
            <a:r>
              <a:t>  },</a:t>
            </a:r>
          </a:p>
          <a:p xmlns:a="http://schemas.openxmlformats.org/drawingml/2006/main">
            <a:r>
              <a:t>  "formula": "인계 수락까지 소요시간 / 누락 업무 수 ÷ 대상 업무 수 / 부서별 오류율 차이",</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"PF-R02",</a:t>
            </a:r>
          </a:p>
          <a:p xmlns:a="http://schemas.openxmlformats.org/drawingml/2006/main">
            <a:r>
              <a:t>    "PF-R06",</a:t>
            </a:r>
          </a:p>
          <a:p xmlns:a="http://schemas.openxmlformats.org/drawingml/2006/main">
            <a:r>
              <a:t>    "PF05",</a:t>
            </a:r>
          </a:p>
          <a:p xmlns:a="http://schemas.openxmlformats.org/drawingml/2006/main">
            <a:r>
              <a:t>    "PF-A08",</a:t>
            </a:r>
          </a:p>
          <a:p xmlns:a="http://schemas.openxmlformats.org/drawingml/2006/main">
            <a:r>
              <a:t>    "PF-A09",</a:t>
            </a:r>
          </a:p>
          <a:p xmlns:a="http://schemas.openxmlformats.org/drawingml/2006/main">
            <a:r>
              <a:t>    "PF-A13",</a:t>
            </a:r>
          </a:p>
          <a:p xmlns:a="http://schemas.openxmlformats.org/drawingml/2006/main">
            <a:r>
              <a:t>    "PF-A14",</a:t>
            </a:r>
          </a:p>
          <a:p xmlns:a="http://schemas.openxmlformats.org/drawingml/2006/main">
            <a:r>
              <a:t>    "PF-A15",</a:t>
            </a:r>
          </a:p>
          <a:p xmlns:a="http://schemas.openxmlformats.org/drawingml/2006/main">
            <a:r>
              <a:t>    "PF08",</a:t>
            </a:r>
          </a:p>
          <a:p xmlns:a="http://schemas.openxmlformats.org/drawingml/2006/main">
            <a:r>
              <a:t>    "PF-C01",</a:t>
            </a:r>
          </a:p>
          <a:p xmlns:a="http://schemas.openxmlformats.org/drawingml/2006/main">
            <a:r>
              <a:t>    "PF-C02",</a:t>
            </a:r>
          </a:p>
          <a:p xmlns:a="http://schemas.openxmlformats.org/drawingml/2006/main">
            <a:r>
              <a:t>    "PF-C03"</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"id": "ST-12",</a:t>
            </a:r>
          </a:p>
          <a:p xmlns:a="http://schemas.openxmlformats.org/drawingml/2006/main">
            <a:r>
              <a:t>  "number": 12,</a:t>
            </a:r>
          </a:p>
          <a:p xmlns:a="http://schemas.openxmlformats.org/drawingml/2006/main">
            <a:r>
              <a:t>  "direction": "지속가능 책임경영 이행",</a:t>
            </a:r>
          </a:p>
          <a:p xmlns:a="http://schemas.openxmlformats.org/drawingml/2006/main">
            <a:r>
              <a:t>  "strategy": "자율·참여·소통·공정 조직문화 조성",</a:t>
            </a:r>
          </a:p>
          <a:p xmlns:a="http://schemas.openxmlformats.org/drawingml/2006/main">
            <a:r>
              <a:t>  "solution": "조직 협업·인수인계 지원",</a:t>
            </a:r>
          </a:p>
          <a:p xmlns:a="http://schemas.openxmlformats.org/drawingml/2006/main">
            <a:r>
              <a:t>  "lawIds": [],</a:t>
            </a:r>
          </a:p>
          <a:p xmlns:a="http://schemas.openxmlformats.org/drawingml/2006/main">
            <a:r>
              <a:t>  "codes": [</a:t>
            </a:r>
          </a:p>
          <a:p xmlns:a="http://schemas.openxmlformats.org/drawingml/2006/main">
            <a:r>
              <a:t>    "1018037",</a:t>
            </a:r>
          </a:p>
          <a:p xmlns:a="http://schemas.openxmlformats.org/drawingml/2006/main">
            <a:r>
              <a:t>    "1018030",</a:t>
            </a:r>
          </a:p>
          <a:p xmlns:a="http://schemas.openxmlformats.org/drawingml/2006/main">
            <a:r>
              <a:t>    "1016047",</a:t>
            </a:r>
          </a:p>
          <a:p xmlns:a="http://schemas.openxmlformats.org/drawingml/2006/main">
            <a:r>
              <a:t>    "1019600"</a:t>
            </a:r>
          </a:p>
          <a:p xmlns:a="http://schemas.openxmlformats.org/drawingml/2006/main">
            <a:r>
              <a:t>  ],</a:t>
            </a:r>
          </a:p>
          <a:p xmlns:a="http://schemas.openxmlformats.org/drawingml/2006/main">
            <a:r>
              <a:t>  "work": "업무분장·담당자 탐색·인수인계·조직 지식 공유",</a:t>
            </a:r>
          </a:p>
          <a:p xmlns:a="http://schemas.openxmlformats.org/drawingml/2006/main">
            <a:r>
              <a:t>  "features": [</a:t>
            </a:r>
          </a:p>
          <a:p xmlns:a="http://schemas.openxmlformats.org/drawingml/2006/main">
            <a:r>
              <a:t>    "소속·직무·겸직에 따른 업무 지식 연결",</a:t>
            </a:r>
          </a:p>
          <a:p xmlns:a="http://schemas.openxmlformats.org/drawingml/2006/main">
            <a:r>
              <a:t>    "이동·대행·협업 요청의 인계·수락 관리"</a:t>
            </a:r>
          </a:p>
          <a:p xmlns:a="http://schemas.openxmlformats.org/drawingml/2006/main">
            <a:r>
              <a:t>  ],</a:t>
            </a:r>
          </a:p>
          <a:p xmlns:a="http://schemas.openxmlformats.org/drawingml/2006/main">
            <a:r>
              <a:t>  "output": "직무별 안내·인수인계 묶음",</a:t>
            </a:r>
          </a:p>
          <a:p xmlns:a="http://schemas.openxmlformats.org/drawingml/2006/main">
            <a:r>
              <a:t>  "acceptance": "인사이동 후 소속/권한 회수·겸직 맥락 확인·민감정보 최소수집 검증",</a:t>
            </a:r>
          </a:p>
          <a:p xmlns:a="http://schemas.openxmlformats.org/drawingml/2006/main">
            <a:r>
              <a:t>  "phase": "공통 기반 인수 후 부서별 적용",</a:t>
            </a:r>
          </a:p>
          <a:p xmlns:a="http://schemas.openxmlformats.org/drawingml/2006/main">
            <a:r>
              <a:t>  "packages": [</a:t>
            </a:r>
          </a:p>
          <a:p xmlns:a="http://schemas.openxmlformats.org/drawingml/2006/main">
            <a:r>
              <a:t>    "ON-W01",</a:t>
            </a:r>
          </a:p>
          <a:p xmlns:a="http://schemas.openxmlformats.org/drawingml/2006/main">
            <a:r>
              <a:t>    "ON-W02",</a:t>
            </a:r>
          </a:p>
          <a:p xmlns:a="http://schemas.openxmlformats.org/drawingml/2006/main">
            <a:r>
              <a:t>    "ON-W03",</a:t>
            </a:r>
          </a:p>
          <a:p xmlns:a="http://schemas.openxmlformats.org/drawingml/2006/main">
            <a:r>
              <a:t>    "ON-W05"</a:t>
            </a:r>
          </a:p>
          <a:p xmlns:a="http://schemas.openxmlformats.org/drawingml/2006/main">
            <a:r>
              <a:t>  ],</a:t>
            </a:r>
          </a:p>
          <a:p xmlns:a="http://schemas.openxmlformats.org/drawingml/2006/main">
            <a:r>
              <a:t>  "tests": [</a:t>
            </a:r>
          </a:p>
          <a:p xmlns:a="http://schemas.openxmlformats.org/drawingml/2006/main">
            <a:r>
              <a:t>    "GAI-T02",</a:t>
            </a:r>
          </a:p>
          <a:p xmlns:a="http://schemas.openxmlformats.org/drawingml/2006/main">
            <a:r>
              <a:t>    "GAI-T03",</a:t>
            </a:r>
          </a:p>
          <a:p xmlns:a="http://schemas.openxmlformats.org/drawingml/2006/main">
            <a:r>
              <a:t>    "GAI-T04",</a:t>
            </a:r>
          </a:p>
          <a:p xmlns:a="http://schemas.openxmlformats.org/drawingml/2006/main">
            <a:r>
              <a:t>    "GAI-T07"</a:t>
            </a:r>
          </a:p>
          <a:p xmlns:a="http://schemas.openxmlformats.org/drawingml/2006/main">
            <a:r>
              <a:t>  ],</a:t>
            </a:r>
          </a:p>
          <a:p xmlns:a="http://schemas.openxmlformats.org/drawingml/2006/main">
            <a:r>
              <a:t>  "status": "솔루션·조직·범위 연결안",</a:t>
            </a:r>
          </a:p>
          <a:p xmlns:a="http://schemas.openxmlformats.org/drawingml/2006/main">
            <a:r>
              <a:t>  "basis": "설립법·직제시행세칙 기반 경영지원 업무",</a:t>
            </a:r>
          </a:p>
          <a:p xmlns:a="http://schemas.openxmlformats.org/drawingml/2006/main">
            <a:r>
              <a:t>  "foundation": "ON27-BASE / C27-COM",</a:t>
            </a:r>
          </a:p>
          <a:p xmlns:a="http://schemas.openxmlformats.org/drawingml/2006/main">
            <a:r>
              <a:t>  "dutyBindings":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"인사·직무교육",</a:t>
            </a:r>
          </a:p>
          <a:p xmlns:a="http://schemas.openxmlformats.org/drawingml/2006/main">
            <a:r>
              <a:t>      "indices": [</a:t>
            </a:r>
          </a:p>
          <a:p xmlns:a="http://schemas.openxmlformats.org/drawingml/2006/main">
            <a:r>
              <a:t>        2,</a:t>
            </a:r>
          </a:p>
          <a:p xmlns:a="http://schemas.openxmlformats.org/drawingml/2006/main">
            <a:r>
              <a:t>        8</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"9. 직무교육, 계층교육, 자기계발교육 등 교육훈련 업무 총괄"</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"1018030",</a:t>
            </a:r>
          </a:p>
          <a:p xmlns:a="http://schemas.openxmlformats.org/drawingml/2006/main">
            <a:r>
              <a:t>      "name": "운영지원처",</a:t>
            </a:r>
          </a:p>
          <a:p xmlns:a="http://schemas.openxmlformats.org/drawingml/2006/main">
            <a:r>
              <a:t>      "job": "문서·노사관계",</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문서의 접수·분류·수발·처리 및 보존관리",</a:t>
            </a:r>
          </a:p>
          <a:p xmlns:a="http://schemas.openxmlformats.org/drawingml/2006/main">
            <a:r>
              <a:t>        "6. 임금․단체협약 등 노사관계 업무에 관한 사항"</a:t>
            </a:r>
          </a:p>
          <a:p xmlns:a="http://schemas.openxmlformats.org/drawingml/2006/main">
            <a:r>
              <a:t>      ],</a:t>
            </a:r>
          </a:p>
          <a:p xmlns:a="http://schemas.openxmlformats.org/drawingml/2006/main">
            <a:r>
              <a:t>      "locator": "별표4 · T38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"1016047",</a:t>
            </a:r>
          </a:p>
          <a:p xmlns:a="http://schemas.openxmlformats.org/drawingml/2006/main">
            <a:r>
              <a:t>      "name": "ESG경영처",</a:t>
            </a:r>
          </a:p>
          <a:p xmlns:a="http://schemas.openxmlformats.org/drawingml/2006/main">
            <a:r>
              <a:t>      "job": "기업문화·내부 소통",</a:t>
            </a:r>
          </a:p>
          <a:p xmlns:a="http://schemas.openxmlformats.org/drawingml/2006/main">
            <a:r>
              <a:t>      "indices":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"duties": [</a:t>
            </a:r>
          </a:p>
          <a:p xmlns:a="http://schemas.openxmlformats.org/drawingml/2006/main">
            <a:r>
              <a:t>        "8. 기업문화에 관한 업무",</a:t>
            </a:r>
          </a:p>
          <a:p xmlns:a="http://schemas.openxmlformats.org/drawingml/2006/main">
            <a:r>
              <a:t>        "- 내부 소통 채널 운영"</a:t>
            </a:r>
          </a:p>
          <a:p xmlns:a="http://schemas.openxmlformats.org/drawingml/2006/main">
            <a:r>
              <a:t>      ],</a:t>
            </a:r>
          </a:p>
          <a:p xmlns:a="http://schemas.openxmlformats.org/drawingml/2006/main">
            <a:r>
              <a:t>      "locator": "별표4 · T36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역량강화",</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임직원 인공지능(AI) 역량강화 교육 및 역량진단"</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a:t>
            </a:r>
          </a:p>
          <a:p xmlns:a="http://schemas.openxmlformats.org/drawingml/2006/main">
            <a:r>
              <a:t>  ],</a:t>
            </a:r>
          </a:p>
          <a:p xmlns:a="http://schemas.openxmlformats.org/drawingml/2006/main">
            <a:r>
              <a:t>  "basisNote": "설립법·별표4 내부 업무분장 / 인사·재무·계약·전결 등 업무별 규정의 별도 확인",</a:t>
            </a:r>
          </a:p>
          <a:p xmlns:a="http://schemas.openxmlformats.org/drawingml/2006/main">
            <a:r>
              <a:t>  "caseRefs": [</a:t>
            </a:r>
          </a:p>
          <a:p xmlns:a="http://schemas.openxmlformats.org/drawingml/2006/main">
            <a:r>
              <a:t>    {</a:t>
            </a:r>
          </a:p>
          <a:p xmlns:a="http://schemas.openxmlformats.org/drawingml/2006/main">
            <a:r>
              <a:t>      "caseId": "AX04",</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"AX02",</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"AX03",</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"AX07",</a:t>
            </a:r>
          </a:p>
          <a:p xmlns:a="http://schemas.openxmlformats.org/drawingml/2006/main">
            <a:r>
              <a:t>      "type": "실패 통제 참조"</a:t>
            </a:r>
          </a:p>
          <a:p xmlns:a="http://schemas.openxmlformats.org/drawingml/2006/main">
            <a:r>
              <a:t>    },</a:t>
            </a:r>
          </a:p>
          <a:p xmlns:a="http://schemas.openxmlformats.org/drawingml/2006/main">
            <a:r>
              <a:t>    {</a:t>
            </a:r>
          </a:p>
          <a:p xmlns:a="http://schemas.openxmlformats.org/drawingml/2006/main">
            <a:r>
              <a:t>      "caseId": "AX15",</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"caseId": "AX26",</a:t>
            </a:r>
          </a:p>
          <a:p xmlns:a="http://schemas.openxmlformats.org/drawingml/2006/main">
            <a:r>
              <a:t>      "type": "방법론 참조"</a:t>
            </a:r>
          </a:p>
          <a:p xmlns:a="http://schemas.openxmlformats.org/drawingml/2006/main">
            <a:r>
              <a:t>    }</a:t>
            </a:r>
          </a:p>
          <a:p xmlns:a="http://schemas.openxmlformats.org/drawingml/2006/main">
            <a:r>
              <a:t>  ],</a:t>
            </a:r>
          </a:p>
          <a:p xmlns:a="http://schemas.openxmlformats.org/drawingml/2006/main">
            <a:r>
              <a:t>  "plan": "조직 협업·참여·공정성 지원",</a:t>
            </a:r>
          </a:p>
          <a:p xmlns:a="http://schemas.openxmlformats.org/drawingml/2006/main">
            <a:r>
              <a:t>  "delta": "역할별 인계·평가 피드백·이의제기 보호",</a:t>
            </a:r>
          </a:p>
          <a:p xmlns:a="http://schemas.openxmlformats.org/drawingml/2006/main">
            <a:r>
              <a:t>  "kpi": "인계 완료시간 / 부서별 오류율 편차",</a:t>
            </a:r>
          </a:p>
          <a:p xmlns:a="http://schemas.openxmlformats.org/drawingml/2006/main">
            <a:r>
              <a:t>  "validation": "겸직·대행·전보·접근 회수·의견 보호 시험",</a:t>
            </a:r>
          </a:p>
          <a:p xmlns:a="http://schemas.openxmlformats.org/drawingml/2006/main">
            <a:r>
              <a:t>  "requirement": "BM-ST-12-R01",</a:t>
            </a:r>
          </a:p>
          <a:p xmlns:a="http://schemas.openxmlformats.org/drawingml/2006/main">
            <a:r>
              <a:t>  "test": "BM-ST-12-T01",</a:t>
            </a:r>
          </a:p>
          <a:p xmlns:a="http://schemas.openxmlformats.org/drawingml/2006/main">
            <a:r>
              <a:t>  "effectStatus": "기대 방향 · TS 실측 전",</a:t>
            </a:r>
          </a:p>
          <a:p xmlns:a="http://schemas.openxmlformats.org/drawingml/2006/main">
            <a:r>
              <a:t>  "effect": "인계 누락·담당자 탐색시간 감소",</a:t>
            </a:r>
          </a:p>
          <a:p xmlns:a="http://schemas.openxmlformats.org/drawingml/2006/main">
            <a:r>
              <a:t>  "reuse": "ON27-BASE / C27-COM + CCK 재사용 판정 기능",</a:t>
            </a:r>
          </a:p>
          <a:p xmlns:a="http://schemas.openxmlformats.org/drawingml/2006/main">
            <a:r>
              <a:t>  "input": "직무분장·인사변경, 인계 대상 업무, 교육·참여 기록",</a:t>
            </a:r>
          </a:p>
          <a:p xmlns:a="http://schemas.openxmlformats.org/drawingml/2006/main">
            <a:r>
              <a:t>  "steps": [</a:t>
            </a:r>
          </a:p>
          <a:p xmlns:a="http://schemas.openxmlformats.org/drawingml/2006/main">
            <a:r>
              <a:t>    "직무·역할·변경일 확인",</a:t>
            </a:r>
          </a:p>
          <a:p xmlns:a="http://schemas.openxmlformats.org/drawingml/2006/main">
            <a:r>
              <a:t>    "허용 인계자료 구성",</a:t>
            </a:r>
          </a:p>
          <a:p xmlns:a="http://schemas.openxmlformats.org/drawingml/2006/main">
            <a:r>
              <a:t>    "협업 요청·수락 추적",</a:t>
            </a:r>
          </a:p>
          <a:p xmlns:a="http://schemas.openxmlformats.org/drawingml/2006/main">
            <a:r>
              <a:t>    "권한 회수·이의 확인"</a:t>
            </a:r>
          </a:p>
          <a:p xmlns:a="http://schemas.openxmlformats.org/drawingml/2006/main">
            <a:r>
              <a:t>  ],</a:t>
            </a:r>
          </a:p>
          <a:p xmlns:a="http://schemas.openxmlformats.org/drawingml/2006/main">
            <a:r>
              <a:t>  "departments": [</a:t>
            </a:r>
          </a:p>
          <a:p xmlns:a="http://schemas.openxmlformats.org/drawingml/2006/main">
            <a:r>
              <a:t>    {</a:t>
            </a:r>
          </a:p>
          <a:p xmlns:a="http://schemas.openxmlformats.org/drawingml/2006/main">
            <a:r>
              <a:t>      "code": "1018037",</a:t>
            </a:r>
          </a:p>
          <a:p xmlns:a="http://schemas.openxmlformats.org/drawingml/2006/main">
            <a:r>
              <a:t>      "name": "인재개발처",</a:t>
            </a:r>
          </a:p>
          <a:p xmlns:a="http://schemas.openxmlformats.org/drawingml/2006/main">
            <a:r>
              <a:t>      "job": "인사·직무교육",</a:t>
            </a:r>
          </a:p>
          <a:p xmlns:a="http://schemas.openxmlformats.org/drawingml/2006/main">
            <a:r>
              <a:t>      "indices": [</a:t>
            </a:r>
          </a:p>
          <a:p xmlns:a="http://schemas.openxmlformats.org/drawingml/2006/main">
            <a:r>
              <a:t>        2,</a:t>
            </a:r>
          </a:p>
          <a:p xmlns:a="http://schemas.openxmlformats.org/drawingml/2006/main">
            <a:r>
              <a:t>        8</a:t>
            </a:r>
          </a:p>
          <a:p xmlns:a="http://schemas.openxmlformats.org/drawingml/2006/main">
            <a:r>
              <a:t>      ],</a:t>
            </a:r>
          </a:p>
          <a:p xmlns:a="http://schemas.openxmlformats.org/drawingml/2006/main">
            <a:r>
              <a:t>      "duties": [</a:t>
            </a:r>
          </a:p>
          <a:p xmlns:a="http://schemas.openxmlformats.org/drawingml/2006/main">
            <a:r>
              <a:t>        "3. 직원의 채용, 승진, 전보 등 임용 및 보직에 관한 업무",</a:t>
            </a:r>
          </a:p>
          <a:p xmlns:a="http://schemas.openxmlformats.org/drawingml/2006/main">
            <a:r>
              <a:t>        "9. 직무교육, 계층교육, 자기계발교육 등 교육훈련 업무 총괄"</a:t>
            </a:r>
          </a:p>
          <a:p xmlns:a="http://schemas.openxmlformats.org/drawingml/2006/main">
            <a:r>
              <a:t>      ],</a:t>
            </a:r>
          </a:p>
          <a:p xmlns:a="http://schemas.openxmlformats.org/drawingml/2006/main">
            <a:r>
              <a:t>      "locator": "별표4 · T38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"RULEWORK-1018037-3",</a:t>
            </a:r>
          </a:p>
          <a:p xmlns:a="http://schemas.openxmlformats.org/drawingml/2006/main">
            <a:r>
              <a:t>          "text": "3. 직원의 채용, 승진, 전보 등 임용 및 보직에 관한 업무",</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"RULEWORK-1018037-3-R01",</a:t>
            </a:r>
          </a:p>
          <a:p xmlns:a="http://schemas.openxmlformats.org/drawingml/2006/main">
            <a:r>
              <a:t>              "title": "업무 맥락·전용 지식 구성",</a:t>
            </a:r>
          </a:p>
          <a:p xmlns:a="http://schemas.openxmlformats.org/drawingml/2006/main">
            <a:r>
              <a:t>              "development": "공식 키·별칭·승계 관계 매핑",</a:t>
            </a:r>
          </a:p>
          <a:p xmlns:a="http://schemas.openxmlformats.org/drawingml/2006/main">
            <a:r>
              <a:t>              "output": "조직·직무·역할·유효기간표",</a:t>
            </a:r>
          </a:p>
          <a:p xmlns:a="http://schemas.openxmlformats.org/drawingml/2006/main">
            <a:r>
              <a:t>              "testId": "RULEWORK-1018037-3-T01",</a:t>
            </a:r>
          </a:p>
          <a:p xmlns:a="http://schemas.openxmlformats.org/drawingml/2006/main">
            <a:r>
              <a:t>              "criterion": "동명이인·효력일 전후·겸직·종료 정답셋 대조"</a:t>
            </a:r>
          </a:p>
          <a:p xmlns:a="http://schemas.openxmlformats.org/drawingml/2006/main">
            <a:r>
              <a:t>            },</a:t>
            </a:r>
          </a:p>
          <a:p xmlns:a="http://schemas.openxmlformats.org/drawingml/2006/main">
            <a:r>
              <a:t>            {</a:t>
            </a:r>
          </a:p>
          <a:p xmlns:a="http://schemas.openxmlformats.org/drawingml/2006/main">
            <a:r>
              <a:t>              "id": "RULEWORK-1018037-3-R02",</a:t>
            </a:r>
          </a:p>
          <a:p xmlns:a="http://schemas.openxmlformats.org/drawingml/2006/main">
            <a:r>
              <a:t>              "title": "업무건·역할·시스템 연결",</a:t>
            </a:r>
          </a:p>
          <a:p xmlns:a="http://schemas.openxmlformats.org/drawingml/2006/main">
            <a:r>
              <a:t>              "development": "이동·겸직·종료에 따른 권한·캐시 재검증",</a:t>
            </a:r>
          </a:p>
          <a:p xmlns:a="http://schemas.openxmlformats.org/drawingml/2006/main">
            <a:r>
              <a:t>              "output": "업무건·원천·역할·변경 연결 명세",</a:t>
            </a:r>
          </a:p>
          <a:p xmlns:a="http://schemas.openxmlformats.org/drawingml/2006/main">
            <a:r>
              <a:t>              "testId": "RULEWORK-1018037-3-T02",</a:t>
            </a:r>
          </a:p>
          <a:p xmlns:a="http://schemas.openxmlformats.org/drawingml/2006/main">
            <a:r>
              <a:t>              "criterion": "종료된 소속·권한의 재사용 차단"</a:t>
            </a:r>
          </a:p>
          <a:p xmlns:a="http://schemas.openxmlformats.org/drawingml/2006/main">
            <a:r>
              <a:t>            },</a:t>
            </a:r>
          </a:p>
          <a:p xmlns:a="http://schemas.openxmlformats.org/drawingml/2006/main">
            <a:r>
              <a:t>            {</a:t>
            </a:r>
          </a:p>
          <a:p xmlns:a="http://schemas.openxmlformats.org/drawingml/2006/main">
            <a:r>
              <a:t>              "id": "RULEWORK-1018037-3-R03",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"RULEWORK-1018037-3-T03",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"RULEWORK-1018037-9",</a:t>
            </a:r>
          </a:p>
          <a:p xmlns:a="http://schemas.openxmlformats.org/drawingml/2006/main">
            <a:r>
              <a:t>          "text": "9. 직무교육, 계층교육, 자기계발교육 등 교육훈련 업무 총괄",</a:t>
            </a:r>
          </a:p>
          <a:p xmlns:a="http://schemas.openxmlformats.org/drawingml/2006/main">
            <a:r>
              <a:t>          "locator": "별표4 · T38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"RULEWORK-1018037-9-R01",</a:t>
            </a:r>
          </a:p>
          <a:p xmlns:a="http://schemas.openxmlformats.org/drawingml/2006/main">
            <a:r>
              <a:t>              "title": "업무 맥락·전용 지식 구성",</a:t>
            </a:r>
          </a:p>
          <a:p xmlns:a="http://schemas.openxmlformats.org/drawingml/2006/main">
            <a:r>
              <a:t>              "development": "대상·소속·시점별 규정·서식 선택",</a:t>
            </a:r>
          </a:p>
          <a:p xmlns:a="http://schemas.openxmlformats.org/drawingml/2006/main">
            <a:r>
              <a:t>              "output": "규정 안내·요건·교육·협의 자료",</a:t>
            </a:r>
          </a:p>
          <a:p xmlns:a="http://schemas.openxmlformats.org/drawingml/2006/main">
            <a:r>
              <a:t>              "testId": "RULEWORK-1018037-9-T01",</a:t>
            </a:r>
          </a:p>
          <a:p xmlns:a="http://schemas.openxmlformats.org/drawingml/2006/main">
            <a:r>
              <a:t>              "criterion": "규정 판본·적용 대상·예외 정답 대조"</a:t>
            </a:r>
          </a:p>
          <a:p xmlns:a="http://schemas.openxmlformats.org/drawingml/2006/main">
            <a:r>
              <a:t>            },</a:t>
            </a:r>
          </a:p>
          <a:p xmlns:a="http://schemas.openxmlformats.org/drawingml/2006/main">
            <a:r>
              <a:t>            {</a:t>
            </a:r>
          </a:p>
          <a:p xmlns:a="http://schemas.openxmlformats.org/drawingml/2006/main">
            <a:r>
              <a:t>              "id": "RULEWORK-1018037-9-R02",</a:t>
            </a:r>
          </a:p>
          <a:p xmlns:a="http://schemas.openxmlformats.org/drawingml/2006/main">
            <a:r>
              <a:t>              "title": "업무건·역할·시스템 연결",</a:t>
            </a:r>
          </a:p>
          <a:p xmlns:a="http://schemas.openxmlformats.org/drawingml/2006/main">
            <a:r>
              <a:t>              "development": "개인정보 최소화·유효 권한·확인 절차 연결",</a:t>
            </a:r>
          </a:p>
          <a:p xmlns:a="http://schemas.openxmlformats.org/drawingml/2006/main">
            <a:r>
              <a:t>              "output": "업무건·원천·역할·변경 연결 명세",</a:t>
            </a:r>
          </a:p>
          <a:p xmlns:a="http://schemas.openxmlformats.org/drawingml/2006/main">
            <a:r>
              <a:t>              "testId": "RULEWORK-1018037-9-T02",</a:t>
            </a:r>
          </a:p>
          <a:p xmlns:a="http://schemas.openxmlformats.org/drawingml/2006/main">
            <a:r>
              <a:t>              "criterion": "채용·평가·징계 등 인사 결정 자동 확정 차단"</a:t>
            </a:r>
          </a:p>
          <a:p xmlns:a="http://schemas.openxmlformats.org/drawingml/2006/main">
            <a:r>
              <a:t>            },</a:t>
            </a:r>
          </a:p>
          <a:p xmlns:a="http://schemas.openxmlformats.org/drawingml/2006/main">
            <a:r>
              <a:t>            {</a:t>
            </a:r>
          </a:p>
          <a:p xmlns:a="http://schemas.openxmlformats.org/drawingml/2006/main">
            <a:r>
              <a:t>              "id": "RULEWORK-1018037-9-R03",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"RULEWORK-1018037-9-T03",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"1018030",</a:t>
            </a:r>
          </a:p>
          <a:p xmlns:a="http://schemas.openxmlformats.org/drawingml/2006/main">
            <a:r>
              <a:t>      "name": "운영지원처",</a:t>
            </a:r>
          </a:p>
          <a:p xmlns:a="http://schemas.openxmlformats.org/drawingml/2006/main">
            <a:r>
              <a:t>      "job": "문서·노사관계",</a:t>
            </a:r>
          </a:p>
          <a:p xmlns:a="http://schemas.openxmlformats.org/drawingml/2006/main">
            <a:r>
              <a:t>      "indices": [</a:t>
            </a:r>
          </a:p>
          <a:p xmlns:a="http://schemas.openxmlformats.org/drawingml/2006/main">
            <a:r>
              <a:t>        3,</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"4. 문서의 접수·분류·수발·처리 및 보존관리",</a:t>
            </a:r>
          </a:p>
          <a:p xmlns:a="http://schemas.openxmlformats.org/drawingml/2006/main">
            <a:r>
              <a:t>        "6. 임금․단체협약 등 노사관계 업무에 관한 사항"</a:t>
            </a:r>
          </a:p>
          <a:p xmlns:a="http://schemas.openxmlformats.org/drawingml/2006/main">
            <a:r>
              <a:t>      ],</a:t>
            </a:r>
          </a:p>
          <a:p xmlns:a="http://schemas.openxmlformats.org/drawingml/2006/main">
            <a:r>
              <a:t>      "locator": "별표4 · T38 · 2행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"RULEWORK-1018030-4",</a:t>
            </a:r>
          </a:p>
          <a:p xmlns:a="http://schemas.openxmlformats.org/drawingml/2006/main">
            <a:r>
              <a:t>          "text": "4. 문서의 접수·분류·수발·처리 및 보존관리",</a:t>
            </a:r>
          </a:p>
          <a:p xmlns:a="http://schemas.openxmlformats.org/drawingml/2006/main">
            <a:r>
              <a:t>          "locator": "별표4 · T38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"RULEWORK-1018030-4-R01",</a:t>
            </a:r>
          </a:p>
          <a:p xmlns:a="http://schemas.openxmlformats.org/drawingml/2006/main">
            <a:r>
              <a:t>              "title": "업무 맥락·전용 지식 구성",</a:t>
            </a:r>
          </a:p>
          <a:p xmlns:a="http://schemas.openxmlformats.org/drawingml/2006/main">
            <a:r>
              <a:t>              "development": "업무 목적·문서유형별 근거·서식 선택",</a:t>
            </a:r>
          </a:p>
          <a:p xmlns:a="http://schemas.openxmlformats.org/drawingml/2006/main">
            <a:r>
              <a:t>              "output": "근거·일정·보완·보고 초안",</a:t>
            </a:r>
          </a:p>
          <a:p xmlns:a="http://schemas.openxmlformats.org/drawingml/2006/main">
            <a:r>
              <a:t>              "testId": "RULEWORK-1018030-4-T01",</a:t>
            </a:r>
          </a:p>
          <a:p xmlns:a="http://schemas.openxmlformats.org/drawingml/2006/main">
            <a:r>
              <a:t>              "criterion": "원문 인용·수치·기한·누락 항목 대조"</a:t>
            </a:r>
          </a:p>
          <a:p xmlns:a="http://schemas.openxmlformats.org/drawingml/2006/main">
            <a:r>
              <a:t>            },</a:t>
            </a:r>
          </a:p>
          <a:p xmlns:a="http://schemas.openxmlformats.org/drawingml/2006/main">
            <a:r>
              <a:t>            {</a:t>
            </a:r>
          </a:p>
          <a:p xmlns:a="http://schemas.openxmlformats.org/drawingml/2006/main">
            <a:r>
              <a:t>              "id": "RULEWORK-1018030-4-R02",</a:t>
            </a:r>
          </a:p>
          <a:p xmlns:a="http://schemas.openxmlformats.org/drawingml/2006/main">
            <a:r>
              <a:t>              "title": "업무건·역할·시스템 연결",</a:t>
            </a:r>
          </a:p>
          <a:p xmlns:a="http://schemas.openxmlformats.org/drawingml/2006/main">
            <a:r>
              <a:t>              "development": "요구–문서–검토–승인과 변경 이력 연결",</a:t>
            </a:r>
          </a:p>
          <a:p xmlns:a="http://schemas.openxmlformats.org/drawingml/2006/main">
            <a:r>
              <a:t>              "output": "업무건·원천·역할·변경 연결 명세",</a:t>
            </a:r>
          </a:p>
          <a:p xmlns:a="http://schemas.openxmlformats.org/drawingml/2006/main">
            <a:r>
              <a:t>              "testId": "RULEWORK-1018030-4-T02",</a:t>
            </a:r>
          </a:p>
          <a:p xmlns:a="http://schemas.openxmlformats.org/drawingml/2006/main">
            <a:r>
              <a:t>              "criterion": "근거 없는 승인·법적 판단·이행 완료 확정 차단"</a:t>
            </a:r>
          </a:p>
          <a:p xmlns:a="http://schemas.openxmlformats.org/drawingml/2006/main">
            <a:r>
              <a:t>            },</a:t>
            </a:r>
          </a:p>
          <a:p xmlns:a="http://schemas.openxmlformats.org/drawingml/2006/main">
            <a:r>
              <a:t>            {</a:t>
            </a:r>
          </a:p>
          <a:p xmlns:a="http://schemas.openxmlformats.org/drawingml/2006/main">
            <a:r>
              <a:t>              "id": "RULEWORK-1018030-4-R03",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"RULEWORK-1018030-4-T03",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"RULEWORK-1018030-6",</a:t>
            </a:r>
          </a:p>
          <a:p xmlns:a="http://schemas.openxmlformats.org/drawingml/2006/main">
            <a:r>
              <a:t>          "text": "6. 임금․단체협약 등 노사관계 업무에 관한 사항",</a:t>
            </a:r>
          </a:p>
          <a:p xmlns:a="http://schemas.openxmlformats.org/drawingml/2006/main">
            <a:r>
              <a:t>          "locator": "별표4 · T38 · 2행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"RULEWORK-1018030-6-R01",</a:t>
            </a:r>
          </a:p>
          <a:p xmlns:a="http://schemas.openxmlformats.org/drawingml/2006/main">
            <a:r>
              <a:t>              "title": "업무 맥락·전용 지식 구성",</a:t>
            </a:r>
          </a:p>
          <a:p xmlns:a="http://schemas.openxmlformats.org/drawingml/2006/main">
            <a:r>
              <a:t>              "development": "대상·소속·시점별 규정·서식 선택",</a:t>
            </a:r>
          </a:p>
          <a:p xmlns:a="http://schemas.openxmlformats.org/drawingml/2006/main">
            <a:r>
              <a:t>              "output": "규정 안내·요건·교육·협의 자료",</a:t>
            </a:r>
          </a:p>
          <a:p xmlns:a="http://schemas.openxmlformats.org/drawingml/2006/main">
            <a:r>
              <a:t>              "testId": "RULEWORK-1018030-6-T01",</a:t>
            </a:r>
          </a:p>
          <a:p xmlns:a="http://schemas.openxmlformats.org/drawingml/2006/main">
            <a:r>
              <a:t>              "criterion": "규정 판본·적용 대상·예외 정답 대조"</a:t>
            </a:r>
          </a:p>
          <a:p xmlns:a="http://schemas.openxmlformats.org/drawingml/2006/main">
            <a:r>
              <a:t>            },</a:t>
            </a:r>
          </a:p>
          <a:p xmlns:a="http://schemas.openxmlformats.org/drawingml/2006/main">
            <a:r>
              <a:t>            {</a:t>
            </a:r>
          </a:p>
          <a:p xmlns:a="http://schemas.openxmlformats.org/drawingml/2006/main">
            <a:r>
              <a:t>              "id": "RULEWORK-1018030-6-R02",</a:t>
            </a:r>
          </a:p>
          <a:p xmlns:a="http://schemas.openxmlformats.org/drawingml/2006/main">
            <a:r>
              <a:t>              "title": "업무건·역할·시스템 연결",</a:t>
            </a:r>
          </a:p>
          <a:p xmlns:a="http://schemas.openxmlformats.org/drawingml/2006/main">
            <a:r>
              <a:t>              "development": "개인정보 최소화·유효 권한·확인 절차 연결",</a:t>
            </a:r>
          </a:p>
          <a:p xmlns:a="http://schemas.openxmlformats.org/drawingml/2006/main">
            <a:r>
              <a:t>              "output": "업무건·원천·역할·변경 연결 명세",</a:t>
            </a:r>
          </a:p>
          <a:p xmlns:a="http://schemas.openxmlformats.org/drawingml/2006/main">
            <a:r>
              <a:t>              "testId": "RULEWORK-1018030-6-T02",</a:t>
            </a:r>
          </a:p>
          <a:p xmlns:a="http://schemas.openxmlformats.org/drawingml/2006/main">
            <a:r>
              <a:t>              "criterion": "채용·평가·징계 등 인사 결정 자동 확정 차단"</a:t>
            </a:r>
          </a:p>
          <a:p xmlns:a="http://schemas.openxmlformats.org/drawingml/2006/main">
            <a:r>
              <a:t>            },</a:t>
            </a:r>
          </a:p>
          <a:p xmlns:a="http://schemas.openxmlformats.org/drawingml/2006/main">
            <a:r>
              <a:t>            {</a:t>
            </a:r>
          </a:p>
          <a:p xmlns:a="http://schemas.openxmlformats.org/drawingml/2006/main">
            <a:r>
              <a:t>              "id": "RULEWORK-1018030-6-R03",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"RULEWORK-1018030-6-T03",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"1016047",</a:t>
            </a:r>
          </a:p>
          <a:p xmlns:a="http://schemas.openxmlformats.org/drawingml/2006/main">
            <a:r>
              <a:t>      "name": "ESG경영처",</a:t>
            </a:r>
          </a:p>
          <a:p xmlns:a="http://schemas.openxmlformats.org/drawingml/2006/main">
            <a:r>
              <a:t>      "job": "기업문화·내부 소통",</a:t>
            </a:r>
          </a:p>
          <a:p xmlns:a="http://schemas.openxmlformats.org/drawingml/2006/main">
            <a:r>
              <a:t>      "indices": [</a:t>
            </a:r>
          </a:p>
          <a:p xmlns:a="http://schemas.openxmlformats.org/drawingml/2006/main">
            <a:r>
              <a:t>        9,</a:t>
            </a:r>
          </a:p>
          <a:p xmlns:a="http://schemas.openxmlformats.org/drawingml/2006/main">
            <a:r>
              <a:t>        10</a:t>
            </a:r>
          </a:p>
          <a:p xmlns:a="http://schemas.openxmlformats.org/drawingml/2006/main">
            <a:r>
              <a:t>      ],</a:t>
            </a:r>
          </a:p>
          <a:p xmlns:a="http://schemas.openxmlformats.org/drawingml/2006/main">
            <a:r>
              <a:t>      "duties": [</a:t>
            </a:r>
          </a:p>
          <a:p xmlns:a="http://schemas.openxmlformats.org/drawingml/2006/main">
            <a:r>
              <a:t>        "8. 기업문화에 관한 업무",</a:t>
            </a:r>
          </a:p>
          <a:p xmlns:a="http://schemas.openxmlformats.org/drawingml/2006/main">
            <a:r>
              <a:t>        "- 내부 소통 채널 운영"</a:t>
            </a:r>
          </a:p>
          <a:p xmlns:a="http://schemas.openxmlformats.org/drawingml/2006/main">
            <a:r>
              <a:t>      ],</a:t>
            </a:r>
          </a:p>
          <a:p xmlns:a="http://schemas.openxmlformats.org/drawingml/2006/main">
            <a:r>
              <a:t>      "locator": "별표4 · T36 · 6행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"RULEWORK-1016047-10",</a:t>
            </a:r>
          </a:p>
          <a:p xmlns:a="http://schemas.openxmlformats.org/drawingml/2006/main">
            <a:r>
              <a:t>          "text": "8. 기업문화에 관한 업무",</a:t>
            </a:r>
          </a:p>
          <a:p xmlns:a="http://schemas.openxmlformats.org/drawingml/2006/main">
            <a:r>
              <a:t>          "locator": "별표4 · T36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"RULEWORK-1016047-10-R01",</a:t>
            </a:r>
          </a:p>
          <a:p xmlns:a="http://schemas.openxmlformats.org/drawingml/2006/main">
            <a:r>
              <a:t>              "title": "업무 맥락·전용 지식 구성",</a:t>
            </a:r>
          </a:p>
          <a:p xmlns:a="http://schemas.openxmlformats.org/drawingml/2006/main">
            <a:r>
              <a:t>              "development": "대상·소속·시점별 규정·서식 선택",</a:t>
            </a:r>
          </a:p>
          <a:p xmlns:a="http://schemas.openxmlformats.org/drawingml/2006/main">
            <a:r>
              <a:t>              "output": "규정 안내·요건·교육·협의 자료",</a:t>
            </a:r>
          </a:p>
          <a:p xmlns:a="http://schemas.openxmlformats.org/drawingml/2006/main">
            <a:r>
              <a:t>              "testId": "RULEWORK-1016047-10-T01",</a:t>
            </a:r>
          </a:p>
          <a:p xmlns:a="http://schemas.openxmlformats.org/drawingml/2006/main">
            <a:r>
              <a:t>              "criterion": "규정 판본·적용 대상·예외 정답 대조"</a:t>
            </a:r>
          </a:p>
          <a:p xmlns:a="http://schemas.openxmlformats.org/drawingml/2006/main">
            <a:r>
              <a:t>            },</a:t>
            </a:r>
          </a:p>
          <a:p xmlns:a="http://schemas.openxmlformats.org/drawingml/2006/main">
            <a:r>
              <a:t>            {</a:t>
            </a:r>
          </a:p>
          <a:p xmlns:a="http://schemas.openxmlformats.org/drawingml/2006/main">
            <a:r>
              <a:t>              "id": "RULEWORK-1016047-10-R02",</a:t>
            </a:r>
          </a:p>
          <a:p xmlns:a="http://schemas.openxmlformats.org/drawingml/2006/main">
            <a:r>
              <a:t>              "title": "업무건·역할·시스템 연결",</a:t>
            </a:r>
          </a:p>
          <a:p xmlns:a="http://schemas.openxmlformats.org/drawingml/2006/main">
            <a:r>
              <a:t>              "development": "개인정보 최소화·유효 권한·확인 절차 연결",</a:t>
            </a:r>
          </a:p>
          <a:p xmlns:a="http://schemas.openxmlformats.org/drawingml/2006/main">
            <a:r>
              <a:t>              "output": "업무건·원천·역할·변경 연결 명세",</a:t>
            </a:r>
          </a:p>
          <a:p xmlns:a="http://schemas.openxmlformats.org/drawingml/2006/main">
            <a:r>
              <a:t>              "testId": "RULEWORK-1016047-10-T02",</a:t>
            </a:r>
          </a:p>
          <a:p xmlns:a="http://schemas.openxmlformats.org/drawingml/2006/main">
            <a:r>
              <a:t>              "criterion": "채용·평가·징계 등 인사 결정 자동 확정 차단"</a:t>
            </a:r>
          </a:p>
          <a:p xmlns:a="http://schemas.openxmlformats.org/drawingml/2006/main">
            <a:r>
              <a:t>            },</a:t>
            </a:r>
          </a:p>
          <a:p xmlns:a="http://schemas.openxmlformats.org/drawingml/2006/main">
            <a:r>
              <a:t>            {</a:t>
            </a:r>
          </a:p>
          <a:p xmlns:a="http://schemas.openxmlformats.org/drawingml/2006/main">
            <a:r>
              <a:t>              "id": "RULEWORK-1016047-10-R03",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"RULEWORK-1016047-10-T03",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"id": "RULEWORK-1016047-11",</a:t>
            </a:r>
          </a:p>
          <a:p xmlns:a="http://schemas.openxmlformats.org/drawingml/2006/main">
            <a:r>
              <a:t>          "text": "- 내부 소통 채널 운영",</a:t>
            </a:r>
          </a:p>
          <a:p xmlns:a="http://schemas.openxmlformats.org/drawingml/2006/main">
            <a:r>
              <a:t>          "locator": "별표4 · T36 · 6행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"RULEWORK-1016047-11-R01",</a:t>
            </a:r>
          </a:p>
          <a:p xmlns:a="http://schemas.openxmlformats.org/drawingml/2006/main">
            <a:r>
              <a:t>              "title": "업무 맥락·전용 지식 구성",</a:t>
            </a:r>
          </a:p>
          <a:p xmlns:a="http://schemas.openxmlformats.org/drawingml/2006/main">
            <a:r>
              <a:t>              "development": "대상·소속·시점별 규정·서식 선택",</a:t>
            </a:r>
          </a:p>
          <a:p xmlns:a="http://schemas.openxmlformats.org/drawingml/2006/main">
            <a:r>
              <a:t>              "output": "규정 안내·요건·교육·협의 자료",</a:t>
            </a:r>
          </a:p>
          <a:p xmlns:a="http://schemas.openxmlformats.org/drawingml/2006/main">
            <a:r>
              <a:t>              "testId": "RULEWORK-1016047-11-T01",</a:t>
            </a:r>
          </a:p>
          <a:p xmlns:a="http://schemas.openxmlformats.org/drawingml/2006/main">
            <a:r>
              <a:t>              "criterion": "규정 판본·적용 대상·예외 정답 대조"</a:t>
            </a:r>
          </a:p>
          <a:p xmlns:a="http://schemas.openxmlformats.org/drawingml/2006/main">
            <a:r>
              <a:t>            },</a:t>
            </a:r>
          </a:p>
          <a:p xmlns:a="http://schemas.openxmlformats.org/drawingml/2006/main">
            <a:r>
              <a:t>            {</a:t>
            </a:r>
          </a:p>
          <a:p xmlns:a="http://schemas.openxmlformats.org/drawingml/2006/main">
            <a:r>
              <a:t>              "id": "RULEWORK-1016047-11-R02",</a:t>
            </a:r>
          </a:p>
          <a:p xmlns:a="http://schemas.openxmlformats.org/drawingml/2006/main">
            <a:r>
              <a:t>              "title": "업무건·역할·시스템 연결",</a:t>
            </a:r>
          </a:p>
          <a:p xmlns:a="http://schemas.openxmlformats.org/drawingml/2006/main">
            <a:r>
              <a:t>              "development": "개인정보 최소화·유효 권한·확인 절차 연결",</a:t>
            </a:r>
          </a:p>
          <a:p xmlns:a="http://schemas.openxmlformats.org/drawingml/2006/main">
            <a:r>
              <a:t>              "output": "업무건·원천·역할·변경 연결 명세",</a:t>
            </a:r>
          </a:p>
          <a:p xmlns:a="http://schemas.openxmlformats.org/drawingml/2006/main">
            <a:r>
              <a:t>              "testId": "RULEWORK-1016047-11-T02",</a:t>
            </a:r>
          </a:p>
          <a:p xmlns:a="http://schemas.openxmlformats.org/drawingml/2006/main">
            <a:r>
              <a:t>              "criterion": "채용·평가·징계 등 인사 결정 자동 확정 차단"</a:t>
            </a:r>
          </a:p>
          <a:p xmlns:a="http://schemas.openxmlformats.org/drawingml/2006/main">
            <a:r>
              <a:t>            },</a:t>
            </a:r>
          </a:p>
          <a:p xmlns:a="http://schemas.openxmlformats.org/drawingml/2006/main">
            <a:r>
              <a:t>            {</a:t>
            </a:r>
          </a:p>
          <a:p xmlns:a="http://schemas.openxmlformats.org/drawingml/2006/main">
            <a:r>
              <a:t>              "id": "RULEWORK-1016047-11-R03",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"RULEWORK-1016047-11-T03",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"code": "1019600",</a:t>
            </a:r>
          </a:p>
          <a:p xmlns:a="http://schemas.openxmlformats.org/drawingml/2006/main">
            <a:r>
              <a:t>      "name": "AI혁신처",</a:t>
            </a:r>
          </a:p>
          <a:p xmlns:a="http://schemas.openxmlformats.org/drawingml/2006/main">
            <a:r>
              <a:t>      "job": "AI 역량강화",</a:t>
            </a:r>
          </a:p>
          <a:p xmlns:a="http://schemas.openxmlformats.org/drawingml/2006/main">
            <a:r>
              <a:t>      "indices": [</a:t>
            </a:r>
          </a:p>
          <a:p xmlns:a="http://schemas.openxmlformats.org/drawingml/2006/main">
            <a:r>
              <a:t>        5</a:t>
            </a:r>
          </a:p>
          <a:p xmlns:a="http://schemas.openxmlformats.org/drawingml/2006/main">
            <a:r>
              <a:t>      ],</a:t>
            </a:r>
          </a:p>
          <a:p xmlns:a="http://schemas.openxmlformats.org/drawingml/2006/main">
            <a:r>
              <a:t>      "duties": [</a:t>
            </a:r>
          </a:p>
          <a:p xmlns:a="http://schemas.openxmlformats.org/drawingml/2006/main">
            <a:r>
              <a:t>        "6. 임직원 인공지능(AI) 역량강화 교육 및 역량진단"</a:t>
            </a:r>
          </a:p>
          <a:p xmlns:a="http://schemas.openxmlformats.org/drawingml/2006/main">
            <a:r>
              <a:t>      ],</a:t>
            </a:r>
          </a:p>
          <a:p xmlns:a="http://schemas.openxmlformats.org/drawingml/2006/main">
            <a:r>
              <a:t>      "locator": "별표4 · T37 · 3행 · 업무분장 열",</a:t>
            </a:r>
          </a:p>
          <a:p xmlns:a="http://schemas.openxmlformats.org/drawingml/2006/main">
            <a:r>
              <a:t>      "restriction": null,</a:t>
            </a:r>
          </a:p>
          <a:p xmlns:a="http://schemas.openxmlformats.org/drawingml/2006/main">
            <a:r>
              <a:t>      "status": "제공 세칙 원문 연결",</a:t>
            </a:r>
          </a:p>
          <a:p xmlns:a="http://schemas.openxmlformats.org/drawingml/2006/main">
            <a:r>
              <a:t>      "workItems": [</a:t>
            </a:r>
          </a:p>
          <a:p xmlns:a="http://schemas.openxmlformats.org/drawingml/2006/main">
            <a:r>
              <a:t>        {</a:t>
            </a:r>
          </a:p>
          <a:p xmlns:a="http://schemas.openxmlformats.org/drawingml/2006/main">
            <a:r>
              <a:t>          "id": "RULEWORK-1019600-6",</a:t>
            </a:r>
          </a:p>
          <a:p xmlns:a="http://schemas.openxmlformats.org/drawingml/2006/main">
            <a:r>
              <a:t>          "text": "6. 임직원 인공지능(AI) 역량강화 교육 및 역량진단",</a:t>
            </a:r>
          </a:p>
          <a:p xmlns:a="http://schemas.openxmlformats.org/drawingml/2006/main">
            <a:r>
              <a:t>          "locator": "별표4 · T37 · 3행 · 업무분장 열",</a:t>
            </a:r>
          </a:p>
          <a:p xmlns:a="http://schemas.openxmlformats.org/drawingml/2006/main">
            <a:r>
              <a:t>          "restriction": "",</a:t>
            </a:r>
          </a:p>
          <a:p xmlns:a="http://schemas.openxmlformats.org/drawingml/2006/main">
            <a:r>
              <a:t>          "requirements": [</a:t>
            </a:r>
          </a:p>
          <a:p xmlns:a="http://schemas.openxmlformats.org/drawingml/2006/main">
            <a:r>
              <a:t>            {</a:t>
            </a:r>
          </a:p>
          <a:p xmlns:a="http://schemas.openxmlformats.org/drawingml/2006/main">
            <a:r>
              <a:t>              "id": "RULEWORK-1019600-6-R01",</a:t>
            </a:r>
          </a:p>
          <a:p xmlns:a="http://schemas.openxmlformats.org/drawingml/2006/main">
            <a:r>
              <a:t>              "title": "업무 맥락·전용 지식 구성",</a:t>
            </a:r>
          </a:p>
          <a:p xmlns:a="http://schemas.openxmlformats.org/drawingml/2006/main">
            <a:r>
              <a:t>              "development": "대상·소속·시점별 규정·서식 선택",</a:t>
            </a:r>
          </a:p>
          <a:p xmlns:a="http://schemas.openxmlformats.org/drawingml/2006/main">
            <a:r>
              <a:t>              "output": "규정 안내·요건·교육·협의 자료",</a:t>
            </a:r>
          </a:p>
          <a:p xmlns:a="http://schemas.openxmlformats.org/drawingml/2006/main">
            <a:r>
              <a:t>              "testId": "RULEWORK-1019600-6-T01",</a:t>
            </a:r>
          </a:p>
          <a:p xmlns:a="http://schemas.openxmlformats.org/drawingml/2006/main">
            <a:r>
              <a:t>              "criterion": "규정 판본·적용 대상·예외 정답 대조"</a:t>
            </a:r>
          </a:p>
          <a:p xmlns:a="http://schemas.openxmlformats.org/drawingml/2006/main">
            <a:r>
              <a:t>            },</a:t>
            </a:r>
          </a:p>
          <a:p xmlns:a="http://schemas.openxmlformats.org/drawingml/2006/main">
            <a:r>
              <a:t>            {</a:t>
            </a:r>
          </a:p>
          <a:p xmlns:a="http://schemas.openxmlformats.org/drawingml/2006/main">
            <a:r>
              <a:t>              "id": "RULEWORK-1019600-6-R02",</a:t>
            </a:r>
          </a:p>
          <a:p xmlns:a="http://schemas.openxmlformats.org/drawingml/2006/main">
            <a:r>
              <a:t>              "title": "업무건·역할·시스템 연결",</a:t>
            </a:r>
          </a:p>
          <a:p xmlns:a="http://schemas.openxmlformats.org/drawingml/2006/main">
            <a:r>
              <a:t>              "development": "개인정보 최소화·유효 권한·확인 절차 연결",</a:t>
            </a:r>
          </a:p>
          <a:p xmlns:a="http://schemas.openxmlformats.org/drawingml/2006/main">
            <a:r>
              <a:t>              "output": "업무건·원천·역할·변경 연결 명세",</a:t>
            </a:r>
          </a:p>
          <a:p xmlns:a="http://schemas.openxmlformats.org/drawingml/2006/main">
            <a:r>
              <a:t>              "testId": "RULEWORK-1019600-6-T02",</a:t>
            </a:r>
          </a:p>
          <a:p xmlns:a="http://schemas.openxmlformats.org/drawingml/2006/main">
            <a:r>
              <a:t>              "criterion": "채용·평가·징계 등 인사 결정 자동 확정 차단"</a:t>
            </a:r>
          </a:p>
          <a:p xmlns:a="http://schemas.openxmlformats.org/drawingml/2006/main">
            <a:r>
              <a:t>            },</a:t>
            </a:r>
          </a:p>
          <a:p xmlns:a="http://schemas.openxmlformats.org/drawingml/2006/main">
            <a:r>
              <a:t>            {</a:t>
            </a:r>
          </a:p>
          <a:p xmlns:a="http://schemas.openxmlformats.org/drawingml/2006/main">
            <a:r>
              <a:t>              "id": "RULEWORK-1019600-6-R03",</a:t>
            </a:r>
          </a:p>
          <a:p xmlns:a="http://schemas.openxmlformats.org/drawingml/2006/main">
            <a:r>
              <a:t>              "title": "현업 평가셋·운영 인수",</a:t>
            </a:r>
          </a:p>
          <a:p xmlns:a="http://schemas.openxmlformats.org/drawingml/2006/main">
            <a:r>
              <a:t>              "development": "해당 업무의 정상·예외·거부 사례와 판정 근거 구성",</a:t>
            </a:r>
          </a:p>
          <a:p xmlns:a="http://schemas.openxmlformats.org/drawingml/2006/main">
            <a:r>
              <a:t>              "output": "업무별 정답셋·결과·결함·재검증 기록",</a:t>
            </a:r>
          </a:p>
          <a:p xmlns:a="http://schemas.openxmlformats.org/drawingml/2006/main">
            <a:r>
              <a:t>              "testId": "RULEWORK-1019600-6-T03",</a:t>
            </a:r>
          </a:p>
          <a:p xmlns:a="http://schemas.openxmlformats.org/drawingml/2006/main">
            <a:r>
              <a:t>              "criterion": "평가셋·분모·목표의 착수 분석 단계 합의, 필수 거부셋 비인가 노출·실행 0건, 중대 결함 해소"</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"reuseItems": [</a:t>
            </a:r>
          </a:p>
          <a:p xmlns:a="http://schemas.openxmlformats.org/drawingml/2006/main">
            <a:r>
              <a:t>    {</a:t>
            </a:r>
          </a:p>
          <a:p xmlns:a="http://schemas.openxmlformats.org/drawingml/2006/main">
            <a:r>
              <a:t>      "assetId": "CCK-01",</a:t>
            </a:r>
          </a:p>
          <a:p xmlns:a="http://schemas.openxmlformats.org/drawingml/2006/main">
            <a:r>
              <a:t>      "use": "NOA의 직무 지식 검색·요약"</a:t>
            </a:r>
          </a:p>
          <a:p xmlns:a="http://schemas.openxmlformats.org/drawingml/2006/main">
            <a:r>
              <a:t>    },</a:t>
            </a:r>
          </a:p>
          <a:p xmlns:a="http://schemas.openxmlformats.org/drawingml/2006/main">
            <a:r>
              <a:t>    {</a:t>
            </a:r>
          </a:p>
          <a:p xmlns:a="http://schemas.openxmlformats.org/drawingml/2006/main">
            <a:r>
              <a:t>      "assetId": "CCK-02",</a:t>
            </a:r>
          </a:p>
          <a:p xmlns:a="http://schemas.openxmlformats.org/drawingml/2006/main">
            <a:r>
              <a:t>      "use": "Foundry·Torus의 인계 절차·기록 명세"</a:t>
            </a:r>
          </a:p>
          <a:p xmlns:a="http://schemas.openxmlformats.org/drawingml/2006/main">
            <a:r>
              <a:t>    }</a:t>
            </a:r>
          </a:p>
          <a:p xmlns:a="http://schemas.openxmlformats.org/drawingml/2006/main">
            <a:r>
              <a:t>  ],</a:t>
            </a:r>
          </a:p>
          <a:p xmlns:a="http://schemas.openxmlformats.org/drawingml/2006/main">
            <a:r>
              <a:t>  "deliverables": [</a:t>
            </a:r>
          </a:p>
          <a:p xmlns:a="http://schemas.openxmlformats.org/drawingml/2006/main">
            <a:r>
              <a:t>    "겸직·대행·전보별 인계 규칙",</a:t>
            </a:r>
          </a:p>
          <a:p xmlns:a="http://schemas.openxmlformats.org/drawingml/2006/main">
            <a:r>
              <a:t>    "민감 의견 분리·수락/회수 추적"</a:t>
            </a:r>
          </a:p>
          <a:p xmlns:a="http://schemas.openxmlformats.org/drawingml/2006/main">
            <a:r>
              <a:t>  ],</a:t>
            </a:r>
          </a:p>
          <a:p xmlns:a="http://schemas.openxmlformats.org/drawingml/2006/main">
            <a:r>
              <a:t>  "acceptancePlan": {</a:t>
            </a:r>
          </a:p>
          <a:p xmlns:a="http://schemas.openxmlformats.org/drawingml/2006/main">
            <a:r>
              <a:t>    "sample": "전보 당일, 기간 만료 대행, 민감 의견, 미수락 인계",</a:t>
            </a:r>
          </a:p>
          <a:p xmlns:a="http://schemas.openxmlformats.org/drawingml/2006/main">
            <a:r>
              <a:t>    "criterion": "전임 접근 회수·겸직 맥락 확인·의견 비노출·미수락 유지",</a:t>
            </a:r>
          </a:p>
          <a:p xmlns:a="http://schemas.openxmlformats.org/drawingml/2006/main">
            <a:r>
              <a:t>    "evidence": "변경 전후 권한표·인계 수락 기록·거부셋 결과",</a:t>
            </a:r>
          </a:p>
          <a:p xmlns:a="http://schemas.openxmlformats.org/drawingml/2006/main">
            <a:r>
              <a:t>    "execution": "미실행"</a:t>
            </a:r>
          </a:p>
          <a:p xmlns:a="http://schemas.openxmlformats.org/drawingml/2006/main">
            <a:r>
              <a:t>  },</a:t>
            </a:r>
          </a:p>
          <a:p xmlns:a="http://schemas.openxmlformats.org/drawingml/2006/main">
            <a:r>
              <a:t>  "formula": "인계 수락까지 소요시간 / 누락 업무 수 ÷ 대상 업무 수 / 부서별 오류율 차이",</a:t>
            </a:r>
          </a:p>
          <a:p xmlns:a="http://schemas.openxmlformats.org/drawingml/2006/main">
            <a:r>
              <a:t>  "comparison": "동일 난도·동일 기간의 기존 방식 대비 평가 / 검토·재작업 포함 / 목표·표본 수의 착수 단계 합의",</a:t>
            </a:r>
          </a:p>
          <a:p xmlns:a="http://schemas.openxmlformats.org/drawingml/2006/main">
            <a:r>
              <a:t>  "platformCases": [</a:t>
            </a:r>
          </a:p>
          <a:p xmlns:a="http://schemas.openxmlformats.org/drawingml/2006/main">
            <a:r>
              <a:t>    "PF-R02",</a:t>
            </a:r>
          </a:p>
          <a:p xmlns:a="http://schemas.openxmlformats.org/drawingml/2006/main">
            <a:r>
              <a:t>    "PF-R06",</a:t>
            </a:r>
          </a:p>
          <a:p xmlns:a="http://schemas.openxmlformats.org/drawingml/2006/main">
            <a:r>
              <a:t>    "PF05",</a:t>
            </a:r>
          </a:p>
          <a:p xmlns:a="http://schemas.openxmlformats.org/drawingml/2006/main">
            <a:r>
              <a:t>    "PF-A08",</a:t>
            </a:r>
          </a:p>
          <a:p xmlns:a="http://schemas.openxmlformats.org/drawingml/2006/main">
            <a:r>
              <a:t>    "PF-A09",</a:t>
            </a:r>
          </a:p>
          <a:p xmlns:a="http://schemas.openxmlformats.org/drawingml/2006/main">
            <a:r>
              <a:t>    "PF-A13",</a:t>
            </a:r>
          </a:p>
          <a:p xmlns:a="http://schemas.openxmlformats.org/drawingml/2006/main">
            <a:r>
              <a:t>    "PF-A14",</a:t>
            </a:r>
          </a:p>
          <a:p xmlns:a="http://schemas.openxmlformats.org/drawingml/2006/main">
            <a:r>
              <a:t>    "PF-A15",</a:t>
            </a:r>
          </a:p>
          <a:p xmlns:a="http://schemas.openxmlformats.org/drawingml/2006/main">
            <a:r>
              <a:t>    "PF08",</a:t>
            </a:r>
          </a:p>
          <a:p xmlns:a="http://schemas.openxmlformats.org/drawingml/2006/main">
            <a:r>
              <a:t>    "PF-C01",</a:t>
            </a:r>
          </a:p>
          <a:p xmlns:a="http://schemas.openxmlformats.org/drawingml/2006/main">
            <a:r>
              <a:t>    "PF-C02",</a:t>
            </a:r>
          </a:p>
          <a:p xmlns:a="http://schemas.openxmlformats.org/drawingml/2006/main">
            <a:r>
              <a:t>    "PF-C03"</a:t>
            </a:r>
          </a:p>
          <a:p xmlns:a="http://schemas.openxmlformats.org/drawingml/2006/main">
            <a:r>
              <a:t>  ]</a:t>
            </a:r>
          </a:p>
          <a:p xmlns:a="http://schemas.openxmlformats.org/drawingml/2006/main">
            <a:r>
              <a:t>}</a:t>
            </a:r>
          </a:p>
          <a:p xmlns:a="http://schemas.openxmlformats.org/drawingml/2006/main">
            <a:r>
              <a:t>CCK-01: NOA 사용자 가이드 확인. 설치본 기능시험 필요.</a:t>
            </a:r>
          </a:p>
          <a:p xmlns:a="http://schemas.openxmlformats.org/drawingml/2006/main">
            <a:r>
              <a:t>CCK-02/03: 명세 기반 재사용 후보. 실물 기능검증 필요.</a:t>
            </a:r>
          </a:p>
          <a:p xmlns:a="http://schemas.openxmlformats.org/drawingml/2006/main">
            <a:r>
              <a:t>기존 SSO·RAG·권한·로그·연계 범위 대조 후 추가분 산정.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59208a6e8644c4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1b36f13ae7a491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359fd7eec6244c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9d5bd1a52bb4f0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c620b0813184dd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2a8234b7a194e5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0B1F399-E940-4050-96F1-B2BB66F3163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352C06C-1706-4BE7-B4CD-10B266CF4B2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1AD0AFE-B7ED-4436-A9CB-F3957099CDE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BAF9E9A-8A0C-449D-B55D-49354B7E71C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C1EA65B-BC8B-42D0-BB57-411641CC930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E007CDC-E1F8-44A6-9D93-79921F5C4C8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1DC1424-50A9-40FD-A7F2-73DAD9FDE43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9512426-C927-4D5F-913F-FBF50FDFEBF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6CF89F4-CCCA-4EA2-B7CD-89F1A1CC2CE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6FEF45B-5C6C-45F5-8323-2BE15F1E18E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c699d40e716472a" /><Relationship Type="http://schemas.openxmlformats.org/officeDocument/2006/relationships/slideLayout" Target="/ppt/slideLayouts/slideLayout1.xml" Id="Rf8026406a6b844bb" /><Relationship Type="http://schemas.openxmlformats.org/officeDocument/2006/relationships/slideLayout" Target="/ppt/slideLayouts/slideLayout2.xml" Id="R7ed9b7f14a2a4912" /><Relationship Type="http://schemas.openxmlformats.org/officeDocument/2006/relationships/slideLayout" Target="/ppt/slideLayouts/slideLayout3.xml" Id="Rb3b34e2e6aec4003" /><Relationship Type="http://schemas.openxmlformats.org/officeDocument/2006/relationships/slideLayout" Target="/ppt/slideLayouts/slideLayout4.xml" Id="R05167d56ca034035" /><Relationship Type="http://schemas.openxmlformats.org/officeDocument/2006/relationships/slideLayout" Target="/ppt/slideLayouts/slideLayout5.xml" Id="R8e0d85a40c4d4f56" /><Relationship Type="http://schemas.openxmlformats.org/officeDocument/2006/relationships/slideLayout" Target="/ppt/slideLayouts/slideLayout6.xml" Id="Ref7cc9c52aba4da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8026406a6b844bb"/>
    <p:sldLayoutId xmlns:r="http://schemas.openxmlformats.org/officeDocument/2006/relationships" id="2147483650" r:id="R7ed9b7f14a2a4912"/>
    <p:sldLayoutId xmlns:r="http://schemas.openxmlformats.org/officeDocument/2006/relationships" id="2147483651" r:id="Rb3b34e2e6aec4003"/>
    <p:sldLayoutId xmlns:r="http://schemas.openxmlformats.org/officeDocument/2006/relationships" id="2147483652" r:id="R05167d56ca034035"/>
    <p:sldLayoutId xmlns:r="http://schemas.openxmlformats.org/officeDocument/2006/relationships" id="2147483653" r:id="R8e0d85a40c4d4f56"/>
    <p:sldLayoutId xmlns:r="http://schemas.openxmlformats.org/officeDocument/2006/relationships" id="2147483654" r:id="Ref7cc9c52aba4da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Pretendard"/>
        <a:ea typeface=""/>
        <a:cs typeface=""/>
      </a:majorFont>
      <a:minorFont>
        <a:latin typeface="Pretendar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66da662d0af4513" /><Relationship Type="http://schemas.openxmlformats.org/officeDocument/2006/relationships/notesSlide" Target="/ppt/notesSlides/notesSlide1.xml" Id="Re2962a28f8ea483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154a9fa193b4ccc" /><Relationship Type="http://schemas.openxmlformats.org/officeDocument/2006/relationships/notesSlide" Target="/ppt/notesSlides/notesSlide2.xml" Id="R9f8fd6346b6a439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eab6a5408864c47" /><Relationship Type="http://schemas.openxmlformats.org/officeDocument/2006/relationships/notesSlide" Target="/ppt/notesSlides/notesSlide3.xml" Id="Rd261bd222a4b441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6cb2c6e166a457c" /><Relationship Type="http://schemas.openxmlformats.org/officeDocument/2006/relationships/notesSlide" Target="/ppt/notesSlides/notesSlide4.xml" Id="R726333f4e5af4df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fec34dbc1274999" /><Relationship Type="http://schemas.openxmlformats.org/officeDocument/2006/relationships/notesSlide" Target="/ppt/notesSlides/notesSlide5.xml" Id="R047f41a38610440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b36a13e2494431a" /><Relationship Type="http://schemas.openxmlformats.org/officeDocument/2006/relationships/notesSlide" Target="/ppt/notesSlides/notesSlide6.xml" Id="R7f1edef38d36483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dcd3b4e7f2d43be" /><Relationship Type="http://schemas.openxmlformats.org/officeDocument/2006/relationships/notesSlide" Target="/ppt/notesSlides/notesSlide7.xml" Id="Rbfc6a3e7cb4c436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2ad12acc60b424b" /><Relationship Type="http://schemas.openxmlformats.org/officeDocument/2006/relationships/notesSlide" Target="/ppt/notesSlides/notesSlide8.xml" Id="R750fd760c452452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69dc497a81346cc" /><Relationship Type="http://schemas.openxmlformats.org/officeDocument/2006/relationships/notesSlide" Target="/ppt/notesSlides/notesSlide9.xml" Id="Rf7a6d04942104b4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cf15e17cc9f4438" /><Relationship Type="http://schemas.openxmlformats.org/officeDocument/2006/relationships/notesSlide" Target="/ppt/notesSlides/notesSlide10.xml" Id="R1b54183d1441465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a3341c602784362" /><Relationship Type="http://schemas.openxmlformats.org/officeDocument/2006/relationships/notesSlide" Target="/ppt/notesSlides/notesSlide11.xml" Id="Rd0477715ef96468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f769559de1a47d0" /><Relationship Type="http://schemas.openxmlformats.org/officeDocument/2006/relationships/notesSlide" Target="/ppt/notesSlides/notesSlide12.xml" Id="Rf0ffa8665e9e41a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4324b2660914974" /><Relationship Type="http://schemas.openxmlformats.org/officeDocument/2006/relationships/notesSlide" Target="/ppt/notesSlides/notesSlide13.xml" Id="R12a5e835aa35476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0f16ad19a644ade" /><Relationship Type="http://schemas.openxmlformats.org/officeDocument/2006/relationships/notesSlide" Target="/ppt/notesSlides/notesSlide14.xml" Id="R7e4f135a4afb41d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77e287815614816" /><Relationship Type="http://schemas.openxmlformats.org/officeDocument/2006/relationships/notesSlide" Target="/ppt/notesSlides/notesSlide15.xml" Id="Rf71314bf0c294ae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3c0f402d7364db6" /><Relationship Type="http://schemas.openxmlformats.org/officeDocument/2006/relationships/notesSlide" Target="/ppt/notesSlides/notesSlide16.xml" Id="R0d6c8e431c1043f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dd4d87f17c5d47b5" /><Relationship Type="http://schemas.openxmlformats.org/officeDocument/2006/relationships/notesSlide" Target="/ppt/notesSlides/notesSlide17.xml" Id="Ra936081d417a45a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0568a093b3b4f84" /><Relationship Type="http://schemas.openxmlformats.org/officeDocument/2006/relationships/notesSlide" Target="/ppt/notesSlides/notesSlide18.xml" Id="Rdada78872603405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119393775004f16" /><Relationship Type="http://schemas.openxmlformats.org/officeDocument/2006/relationships/notesSlide" Target="/ppt/notesSlides/notesSlide19.xml" Id="Red51b6caa3c94fe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9b91967597d4d68" /><Relationship Type="http://schemas.openxmlformats.org/officeDocument/2006/relationships/notesSlide" Target="/ppt/notesSlides/notesSlide20.xml" Id="Reba2b466122f434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93c36f3c79444e27" /><Relationship Type="http://schemas.openxmlformats.org/officeDocument/2006/relationships/notesSlide" Target="/ppt/notesSlides/notesSlide21.xml" Id="R558ed08ad0984ee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8af47a05d9ec4ddf" /><Relationship Type="http://schemas.openxmlformats.org/officeDocument/2006/relationships/notesSlide" Target="/ppt/notesSlides/notesSlide22.xml" Id="R10d6c247ff464d6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a4a5fea15d934b8f" /><Relationship Type="http://schemas.openxmlformats.org/officeDocument/2006/relationships/notesSlide" Target="/ppt/notesSlides/notesSlide23.xml" Id="R9fd4fa074c004f6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50014f2fc8d48e8" /><Relationship Type="http://schemas.openxmlformats.org/officeDocument/2006/relationships/image" Target="/ppt/media/image.png" Id="R3ab57959dc2548c4" /><Relationship Type="http://schemas.openxmlformats.org/officeDocument/2006/relationships/notesSlide" Target="/ppt/notesSlides/notesSlide24.xml" Id="Rb16938dd31e747a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476ff84d6de64bf2" /><Relationship Type="http://schemas.openxmlformats.org/officeDocument/2006/relationships/image" Target="/ppt/media/image2.png" Id="R3944e13e0eee4aae" /><Relationship Type="http://schemas.openxmlformats.org/officeDocument/2006/relationships/notesSlide" Target="/ppt/notesSlides/notesSlide25.xml" Id="Rf1d298077f2148d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6cbc38915de34e57" /><Relationship Type="http://schemas.openxmlformats.org/officeDocument/2006/relationships/image" Target="/ppt/media/image3.png" Id="R286c4abad51347f3" /><Relationship Type="http://schemas.openxmlformats.org/officeDocument/2006/relationships/notesSlide" Target="/ppt/notesSlides/notesSlide26.xml" Id="Ra6f9a0d53e8a445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929442fafac74913" /><Relationship Type="http://schemas.openxmlformats.org/officeDocument/2006/relationships/image" Target="/ppt/media/image4.png" Id="R3d4bd5ca2e804613" /><Relationship Type="http://schemas.openxmlformats.org/officeDocument/2006/relationships/notesSlide" Target="/ppt/notesSlides/notesSlide27.xml" Id="R03dfc96670b7454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d0d4349c7ed147f4" /><Relationship Type="http://schemas.openxmlformats.org/officeDocument/2006/relationships/notesSlide" Target="/ppt/notesSlides/notesSlide28.xml" Id="Rf0af9df5ace240b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74882b0c2afb4524" /><Relationship Type="http://schemas.openxmlformats.org/officeDocument/2006/relationships/notesSlide" Target="/ppt/notesSlides/notesSlide29.xml" Id="R19c1698618ac4c6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6f1ab4eee708499a" /><Relationship Type="http://schemas.openxmlformats.org/officeDocument/2006/relationships/notesSlide" Target="/ppt/notesSlides/notesSlide30.xml" Id="R94f1d039f545456d"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b7f2e7e43ee4493b" /><Relationship Type="http://schemas.openxmlformats.org/officeDocument/2006/relationships/notesSlide" Target="/ppt/notesSlides/notesSlide31.xml" Id="Rc32cd7d36c42431b"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b99d74b53dcf4ea2" /><Relationship Type="http://schemas.openxmlformats.org/officeDocument/2006/relationships/notesSlide" Target="/ppt/notesSlides/notesSlide32.xml" Id="R8265233ec46f493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7b94c59bdb1f4827" /><Relationship Type="http://schemas.openxmlformats.org/officeDocument/2006/relationships/image" Target="/ppt/media/image5.png" Id="R3353aa4447ed4d2d" /><Relationship Type="http://schemas.openxmlformats.org/officeDocument/2006/relationships/notesSlide" Target="/ppt/notesSlides/notesSlide33.xml" Id="Rfd7d8aa2b3484746"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a76505d2e52548ab" /><Relationship Type="http://schemas.openxmlformats.org/officeDocument/2006/relationships/image" Target="/ppt/media/image6.png" Id="R65ff184e25bf4433" /><Relationship Type="http://schemas.openxmlformats.org/officeDocument/2006/relationships/notesSlide" Target="/ppt/notesSlides/notesSlide34.xml" Id="R9b1173441df94a00"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ba80d28facb64de2" /><Relationship Type="http://schemas.openxmlformats.org/officeDocument/2006/relationships/notesSlide" Target="/ppt/notesSlides/notesSlide35.xml" Id="R0bbac6417c314fa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a446e0c7c403466c" /><Relationship Type="http://schemas.openxmlformats.org/officeDocument/2006/relationships/notesSlide" Target="/ppt/notesSlides/notesSlide36.xml" Id="Rd122300f7dc640ef"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add7f0da5f224af7" /><Relationship Type="http://schemas.openxmlformats.org/officeDocument/2006/relationships/notesSlide" Target="/ppt/notesSlides/notesSlide37.xml" Id="Ra2bf67f2112b4efa"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f2a6c6cf608f40a4" /><Relationship Type="http://schemas.openxmlformats.org/officeDocument/2006/relationships/notesSlide" Target="/ppt/notesSlides/notesSlide38.xml" Id="Rabc779d279cd4dc8"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c78ed03ff46b4783" /><Relationship Type="http://schemas.openxmlformats.org/officeDocument/2006/relationships/notesSlide" Target="/ppt/notesSlides/notesSlide39.xml" Id="Rb5655e218cf44d8c"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b70419893c87498f" /><Relationship Type="http://schemas.openxmlformats.org/officeDocument/2006/relationships/notesSlide" Target="/ppt/notesSlides/notesSlide40.xml" Id="Rfc7f3ea160b345f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0e4247ce05794c01" /><Relationship Type="http://schemas.openxmlformats.org/officeDocument/2006/relationships/notesSlide" Target="/ppt/notesSlides/notesSlide41.xml" Id="R0398ca8ceb6546ef"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8f2f5e09f73242ac" /><Relationship Type="http://schemas.openxmlformats.org/officeDocument/2006/relationships/notesSlide" Target="/ppt/notesSlides/notesSlide42.xml" Id="Re731e02c7311493b"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354500ea67fb4d9d" /><Relationship Type="http://schemas.openxmlformats.org/officeDocument/2006/relationships/notesSlide" Target="/ppt/notesSlides/notesSlide43.xml" Id="R7c2e4ae557c14562"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920418dcbe574769" /><Relationship Type="http://schemas.openxmlformats.org/officeDocument/2006/relationships/notesSlide" Target="/ppt/notesSlides/notesSlide44.xml" Id="R1d8c9b92865847ff"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919f2df719e4439d" /><Relationship Type="http://schemas.openxmlformats.org/officeDocument/2006/relationships/notesSlide" Target="/ppt/notesSlides/notesSlide45.xml" Id="R3fba6116a2f949e6"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0e6db63100664d20" /><Relationship Type="http://schemas.openxmlformats.org/officeDocument/2006/relationships/notesSlide" Target="/ppt/notesSlides/notesSlide46.xml" Id="R04e86552b84d4e2c"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99ec8d7258c64571" /><Relationship Type="http://schemas.openxmlformats.org/officeDocument/2006/relationships/notesSlide" Target="/ppt/notesSlides/notesSlide47.xml" Id="R7887721fa75f4137"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212f32b2a4bc47fd" /><Relationship Type="http://schemas.openxmlformats.org/officeDocument/2006/relationships/notesSlide" Target="/ppt/notesSlides/notesSlide48.xml" Id="Rf28d8594ba07494f"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04703a14d0b94f2f" /><Relationship Type="http://schemas.openxmlformats.org/officeDocument/2006/relationships/notesSlide" Target="/ppt/notesSlides/notesSlide49.xml" Id="Rc6c1e582e79a49ce"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8fd083dc24d9495c" /><Relationship Type="http://schemas.openxmlformats.org/officeDocument/2006/relationships/notesSlide" Target="/ppt/notesSlides/notesSlide50.xml" Id="Rf0f7847e1221445e"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76fab284a8d34129" /><Relationship Type="http://schemas.openxmlformats.org/officeDocument/2006/relationships/notesSlide" Target="/ppt/notesSlides/notesSlide51.xml" Id="R18de13717da84c76"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f837d8bfff224174" /><Relationship Type="http://schemas.openxmlformats.org/officeDocument/2006/relationships/notesSlide" Target="/ppt/notesSlides/notesSlide52.xml" Id="R823aae772fe449c2"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3a5f943e471047cd" /><Relationship Type="http://schemas.openxmlformats.org/officeDocument/2006/relationships/notesSlide" Target="/ppt/notesSlides/notesSlide53.xml" Id="R9cbdf73bac044830"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dc6b3f1e7bb545ec" /><Relationship Type="http://schemas.openxmlformats.org/officeDocument/2006/relationships/notesSlide" Target="/ppt/notesSlides/notesSlide54.xml" Id="Rdac50cfdde5242af"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f11f490d54804ba2" /><Relationship Type="http://schemas.openxmlformats.org/officeDocument/2006/relationships/notesSlide" Target="/ppt/notesSlides/notesSlide55.xml" Id="Rdf67db169ab24d2a"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ba1d898b5abb4441" /><Relationship Type="http://schemas.openxmlformats.org/officeDocument/2006/relationships/notesSlide" Target="/ppt/notesSlides/notesSlide56.xml" Id="Rcbf051a32eb34465"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d01fc017327b4026" /><Relationship Type="http://schemas.openxmlformats.org/officeDocument/2006/relationships/notesSlide" Target="/ppt/notesSlides/notesSlide57.xml" Id="Rf3fc091405fd49dd"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1e8b8736958c4cfa" /><Relationship Type="http://schemas.openxmlformats.org/officeDocument/2006/relationships/notesSlide" Target="/ppt/notesSlides/notesSlide58.xml" Id="Rc29856bd37c84162"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9fdf8dd6df774373" /><Relationship Type="http://schemas.openxmlformats.org/officeDocument/2006/relationships/notesSlide" Target="/ppt/notesSlides/notesSlide59.xml" Id="Rc02f31798dd84471"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48dac4e199fd44f6" /><Relationship Type="http://schemas.openxmlformats.org/officeDocument/2006/relationships/notesSlide" Target="/ppt/notesSlides/notesSlide60.xml" Id="Rf0cca828b0574b1d"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7c2df0dbe8c243d0" /><Relationship Type="http://schemas.openxmlformats.org/officeDocument/2006/relationships/notesSlide" Target="/ppt/notesSlides/notesSlide61.xml" Id="Re00268d92bda4817"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c28a939c6b454475" /><Relationship Type="http://schemas.openxmlformats.org/officeDocument/2006/relationships/notesSlide" Target="/ppt/notesSlides/notesSlide62.xml" Id="R979e2702b2714d39"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14044c1a3f6e4711" /><Relationship Type="http://schemas.openxmlformats.org/officeDocument/2006/relationships/notesSlide" Target="/ppt/notesSlides/notesSlide63.xml" Id="Rbea3dc6ca8f64d3d"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a158b9ad4fa34b86" /><Relationship Type="http://schemas.openxmlformats.org/officeDocument/2006/relationships/notesSlide" Target="/ppt/notesSlides/notesSlide64.xml" Id="R0f8f0e2e52234c8d"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32a6e2eb7fb84aab" /><Relationship Type="http://schemas.openxmlformats.org/officeDocument/2006/relationships/notesSlide" Target="/ppt/notesSlides/notesSlide65.xml" Id="Rfa490be8db2846f3"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543c83e8e61f4c38" /><Relationship Type="http://schemas.openxmlformats.org/officeDocument/2006/relationships/notesSlide" Target="/ppt/notesSlides/notesSlide66.xml" Id="R3441b203cb8c4590"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8cab30e7e69f4846" /><Relationship Type="http://schemas.openxmlformats.org/officeDocument/2006/relationships/notesSlide" Target="/ppt/notesSlides/notesSlide67.xml" Id="R6e97e4e1f52f4d9b"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51fcb0a60286432f" /><Relationship Type="http://schemas.openxmlformats.org/officeDocument/2006/relationships/notesSlide" Target="/ppt/notesSlides/notesSlide68.xml" Id="Rf648031431534987"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e2462f5360cd4283" /><Relationship Type="http://schemas.openxmlformats.org/officeDocument/2006/relationships/notesSlide" Target="/ppt/notesSlides/notesSlide69.xml" Id="R1a1205fbd8234587"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81c7023f34cd49aa" /><Relationship Type="http://schemas.openxmlformats.org/officeDocument/2006/relationships/notesSlide" Target="/ppt/notesSlides/notesSlide70.xml" Id="Re7b14c6725894860"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acb04f66dc2841dc" /><Relationship Type="http://schemas.openxmlformats.org/officeDocument/2006/relationships/notesSlide" Target="/ppt/notesSlides/notesSlide71.xml" Id="Rcc9808e0332b48c0"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bd3bd115d4094585" /><Relationship Type="http://schemas.openxmlformats.org/officeDocument/2006/relationships/notesSlide" Target="/ppt/notesSlides/notesSlide72.xml" Id="Rba53e4cd4a534da0"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31f9c93f13c4445f" /><Relationship Type="http://schemas.openxmlformats.org/officeDocument/2006/relationships/notesSlide" Target="/ppt/notesSlides/notesSlide73.xml" Id="R367f04ccbc6144b4"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a0269acd81ac414f" /><Relationship Type="http://schemas.openxmlformats.org/officeDocument/2006/relationships/notesSlide" Target="/ppt/notesSlides/notesSlide74.xml" Id="R2223c9f624904258"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f1f123905a3a42ac" /><Relationship Type="http://schemas.openxmlformats.org/officeDocument/2006/relationships/notesSlide" Target="/ppt/notesSlides/notesSlide75.xml" Id="Rd98f20136b37481c"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1b0fa8f3b1f54f8e" /><Relationship Type="http://schemas.openxmlformats.org/officeDocument/2006/relationships/notesSlide" Target="/ppt/notesSlides/notesSlide76.xml" Id="R9490f9250ec74729"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3fe347404bea44ce" /><Relationship Type="http://schemas.openxmlformats.org/officeDocument/2006/relationships/notesSlide" Target="/ppt/notesSlides/notesSlide77.xml" Id="R3323be397a4f41e6"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e844dbe24df343e5" /><Relationship Type="http://schemas.openxmlformats.org/officeDocument/2006/relationships/notesSlide" Target="/ppt/notesSlides/notesSlide78.xml" Id="Rde9d56a233514332"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5c74adc1fc9e43b0" /><Relationship Type="http://schemas.openxmlformats.org/officeDocument/2006/relationships/notesSlide" Target="/ppt/notesSlides/notesSlide79.xml" Id="Ra728da3eb9184141"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a5fc0f9c9e9c4611" /><Relationship Type="http://schemas.openxmlformats.org/officeDocument/2006/relationships/notesSlide" Target="/ppt/notesSlides/notesSlide80.xml" Id="Rcd7122e5f3074407"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e9cc5340d677450f" /><Relationship Type="http://schemas.openxmlformats.org/officeDocument/2006/relationships/notesSlide" Target="/ppt/notesSlides/notesSlide81.xml" Id="R4a3cd10151394113"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ae1982ca624b45eb" /><Relationship Type="http://schemas.openxmlformats.org/officeDocument/2006/relationships/notesSlide" Target="/ppt/notesSlides/notesSlide82.xml" Id="Rb47ac5600091485a"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e8a232488d434f62" /><Relationship Type="http://schemas.openxmlformats.org/officeDocument/2006/relationships/notesSlide" Target="/ppt/notesSlides/notesSlide83.xml" Id="Ra04ef4963c6f4172"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a91aba6837fe4c43" /><Relationship Type="http://schemas.openxmlformats.org/officeDocument/2006/relationships/notesSlide" Target="/ppt/notesSlides/notesSlide84.xml" Id="R3f362c8a5c0f4e23"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5aebc276d1ad4838" /><Relationship Type="http://schemas.openxmlformats.org/officeDocument/2006/relationships/notesSlide" Target="/ppt/notesSlides/notesSlide85.xml" Id="Re9cd1d291e8044cc"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100c14acdbfa4072" /><Relationship Type="http://schemas.openxmlformats.org/officeDocument/2006/relationships/notesSlide" Target="/ppt/notesSlides/notesSlide86.xml" Id="R855028eaf1504023"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f0b197059f3b47a2" /><Relationship Type="http://schemas.openxmlformats.org/officeDocument/2006/relationships/notesSlide" Target="/ppt/notesSlides/notesSlide87.xml" Id="Rbe015ba278e44a0c"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f7569f78899d4d3c" /><Relationship Type="http://schemas.openxmlformats.org/officeDocument/2006/relationships/notesSlide" Target="/ppt/notesSlides/notesSlide88.xml" Id="R9302dd3903554614"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5ca49187baef47b1" /><Relationship Type="http://schemas.openxmlformats.org/officeDocument/2006/relationships/notesSlide" Target="/ppt/notesSlides/notesSlide89.xml" Id="Re383c12b951e4dc5"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9f3c62daea994ce0" /><Relationship Type="http://schemas.openxmlformats.org/officeDocument/2006/relationships/notesSlide" Target="/ppt/notesSlides/notesSlide90.xml" Id="R574e624900f54eec"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a33a80a48bc94262" /><Relationship Type="http://schemas.openxmlformats.org/officeDocument/2006/relationships/notesSlide" Target="/ppt/notesSlides/notesSlide91.xml" Id="Rf51e8e854cde4d1d"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770860fed1a449ec" /><Relationship Type="http://schemas.openxmlformats.org/officeDocument/2006/relationships/notesSlide" Target="/ppt/notesSlides/notesSlide92.xml" Id="Rc520b63e7eed47f1"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16a2de6204304fee" /><Relationship Type="http://schemas.openxmlformats.org/officeDocument/2006/relationships/notesSlide" Target="/ppt/notesSlides/notesSlide93.xml" Id="Rc3c313d22fa24425" /></Relationships>
</file>

<file path=ppt/slides/_rels/slide94.xml.rels>&#65279;<?xml version="1.0" encoding="utf-8"?><Relationships xmlns="http://schemas.openxmlformats.org/package/2006/relationships"><Relationship Type="http://schemas.openxmlformats.org/officeDocument/2006/relationships/slideLayout" Target="/ppt/slideLayouts/slideLayout6.xml" Id="Rd16940d49e87410c" /><Relationship Type="http://schemas.openxmlformats.org/officeDocument/2006/relationships/notesSlide" Target="/ppt/notesSlides/notesSlide94.xml" Id="Re92d51fa80e04587" /></Relationships>
</file>

<file path=ppt/slides/_rels/slide95.xml.rels>&#65279;<?xml version="1.0" encoding="utf-8"?><Relationships xmlns="http://schemas.openxmlformats.org/package/2006/relationships"><Relationship Type="http://schemas.openxmlformats.org/officeDocument/2006/relationships/slideLayout" Target="/ppt/slideLayouts/slideLayout6.xml" Id="Ref7c02c625e34e82" /><Relationship Type="http://schemas.openxmlformats.org/officeDocument/2006/relationships/notesSlide" Target="/ppt/notesSlides/notesSlide95.xml" Id="Rba3d49d1853748e6" /></Relationships>
</file>

<file path=ppt/slides/_rels/slide96.xml.rels>&#65279;<?xml version="1.0" encoding="utf-8"?><Relationships xmlns="http://schemas.openxmlformats.org/package/2006/relationships"><Relationship Type="http://schemas.openxmlformats.org/officeDocument/2006/relationships/slideLayout" Target="/ppt/slideLayouts/slideLayout6.xml" Id="R1601c00950a5440c" /><Relationship Type="http://schemas.openxmlformats.org/officeDocument/2006/relationships/notesSlide" Target="/ppt/notesSlides/notesSlide96.xml" Id="R9f7a9ac2281b4b68" /></Relationships>
</file>

<file path=ppt/slides/_rels/slide97.xml.rels>&#65279;<?xml version="1.0" encoding="utf-8"?><Relationships xmlns="http://schemas.openxmlformats.org/package/2006/relationships"><Relationship Type="http://schemas.openxmlformats.org/officeDocument/2006/relationships/slideLayout" Target="/ppt/slideLayouts/slideLayout6.xml" Id="R5a3f13ee08f04eff" /><Relationship Type="http://schemas.openxmlformats.org/officeDocument/2006/relationships/notesSlide" Target="/ppt/notesSlides/notesSlide97.xml" Id="R31c03069319a4eb7" /></Relationships>
</file>

<file path=ppt/slides/_rels/slide98.xml.rels>&#65279;<?xml version="1.0" encoding="utf-8"?><Relationships xmlns="http://schemas.openxmlformats.org/package/2006/relationships"><Relationship Type="http://schemas.openxmlformats.org/officeDocument/2006/relationships/slideLayout" Target="/ppt/slideLayouts/slideLayout6.xml" Id="R42e2e44b73bb4d6b" /><Relationship Type="http://schemas.openxmlformats.org/officeDocument/2006/relationships/notesSlide" Target="/ppt/notesSlides/notesSlide98.xml" Id="R22641ef6ecbe406b" /></Relationships>
</file>

<file path=ppt/slides/_rels/slide99.xml.rels>&#65279;<?xml version="1.0" encoding="utf-8"?><Relationships xmlns="http://schemas.openxmlformats.org/package/2006/relationships"><Relationship Type="http://schemas.openxmlformats.org/officeDocument/2006/relationships/slideLayout" Target="/ppt/slideLayouts/slideLayout6.xml" Id="Rdc16d53c9aee4b71" /><Relationship Type="http://schemas.openxmlformats.org/officeDocument/2006/relationships/notesSlide" Target="/ppt/notesSlides/notesSlide99.xml" Id="R5481f07706894da6"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6.xml" Id="Rc644d3f4cef6415b" /><Relationship Type="http://schemas.openxmlformats.org/officeDocument/2006/relationships/notesSlide" Target="/ppt/notesSlides/notesSlide100.xml" Id="R8d62ef4115574e7e"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6.xml" Id="R9284bc0b2c994075" /><Relationship Type="http://schemas.openxmlformats.org/officeDocument/2006/relationships/notesSlide" Target="/ppt/notesSlides/notesSlide101.xml" Id="R1103d540ceee4589"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6.xml" Id="R0d6f4c4854a042ed" /><Relationship Type="http://schemas.openxmlformats.org/officeDocument/2006/relationships/notesSlide" Target="/ppt/notesSlides/notesSlide102.xml" Id="Rd1cd91f6776d4d27"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6.xml" Id="R971e7e646eef4eb1" /><Relationship Type="http://schemas.openxmlformats.org/officeDocument/2006/relationships/notesSlide" Target="/ppt/notesSlides/notesSlide103.xml" Id="Ra29c0428a9da4e30"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6.xml" Id="R9242d8b2a5fd4a57" /><Relationship Type="http://schemas.openxmlformats.org/officeDocument/2006/relationships/notesSlide" Target="/ppt/notesSlides/notesSlide104.xml" Id="R3a9e9f4bcc2a4d83"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6.xml" Id="Rd063f9cfe2304385" /><Relationship Type="http://schemas.openxmlformats.org/officeDocument/2006/relationships/notesSlide" Target="/ppt/notesSlides/notesSlide105.xml" Id="R991f8c3c6e8646d1"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6.xml" Id="R44b1b85665b34ebf" /><Relationship Type="http://schemas.openxmlformats.org/officeDocument/2006/relationships/notesSlide" Target="/ppt/notesSlides/notesSlide106.xml" Id="R37254f1fe599498a"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6.xml" Id="Rba64f89420014b48" /><Relationship Type="http://schemas.openxmlformats.org/officeDocument/2006/relationships/notesSlide" Target="/ppt/notesSlides/notesSlide107.xml" Id="Re473a23db25f43f6"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6.xml" Id="R1598962925334a3a" /><Relationship Type="http://schemas.openxmlformats.org/officeDocument/2006/relationships/notesSlide" Target="/ppt/notesSlides/notesSlide108.xml" Id="R76208c6085954736"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6.xml" Id="R29b1a24787dc434f" /><Relationship Type="http://schemas.openxmlformats.org/officeDocument/2006/relationships/notesSlide" Target="/ppt/notesSlides/notesSlide109.xml" Id="R72e32207943e424c" /></Relationships>
</file>

<file path=ppt/slides/_rels/slide110.xml.rels>&#65279;<?xml version="1.0" encoding="utf-8"?><Relationships xmlns="http://schemas.openxmlformats.org/package/2006/relationships"><Relationship Type="http://schemas.openxmlformats.org/officeDocument/2006/relationships/slideLayout" Target="/ppt/slideLayouts/slideLayout6.xml" Id="Rb725577c4ca74077" /><Relationship Type="http://schemas.openxmlformats.org/officeDocument/2006/relationships/notesSlide" Target="/ppt/notesSlides/notesSlide110.xml" Id="R56472300915a49d6" /></Relationships>
</file>

<file path=ppt/slides/_rels/slide111.xml.rels>&#65279;<?xml version="1.0" encoding="utf-8"?><Relationships xmlns="http://schemas.openxmlformats.org/package/2006/relationships"><Relationship Type="http://schemas.openxmlformats.org/officeDocument/2006/relationships/slideLayout" Target="/ppt/slideLayouts/slideLayout6.xml" Id="Rd7e7f9b7f91c4180" /><Relationship Type="http://schemas.openxmlformats.org/officeDocument/2006/relationships/notesSlide" Target="/ppt/notesSlides/notesSlide111.xml" Id="R8617cdb19ea44927" /></Relationships>
</file>

<file path=ppt/slides/_rels/slide112.xml.rels>&#65279;<?xml version="1.0" encoding="utf-8"?><Relationships xmlns="http://schemas.openxmlformats.org/package/2006/relationships"><Relationship Type="http://schemas.openxmlformats.org/officeDocument/2006/relationships/slideLayout" Target="/ppt/slideLayouts/slideLayout6.xml" Id="R6d52a7fd9f8d4583" /><Relationship Type="http://schemas.openxmlformats.org/officeDocument/2006/relationships/notesSlide" Target="/ppt/notesSlides/notesSlide112.xml" Id="R4e3c08d4479340f5" /></Relationships>
</file>

<file path=ppt/slides/_rels/slide113.xml.rels>&#65279;<?xml version="1.0" encoding="utf-8"?><Relationships xmlns="http://schemas.openxmlformats.org/package/2006/relationships"><Relationship Type="http://schemas.openxmlformats.org/officeDocument/2006/relationships/slideLayout" Target="/ppt/slideLayouts/slideLayout6.xml" Id="R2f38beb4f7914b86" /><Relationship Type="http://schemas.openxmlformats.org/officeDocument/2006/relationships/notesSlide" Target="/ppt/notesSlides/notesSlide113.xml" Id="R5bcb960e2aef4d66" /></Relationships>
</file>

<file path=ppt/slides/_rels/slide114.xml.rels>&#65279;<?xml version="1.0" encoding="utf-8"?><Relationships xmlns="http://schemas.openxmlformats.org/package/2006/relationships"><Relationship Type="http://schemas.openxmlformats.org/officeDocument/2006/relationships/slideLayout" Target="/ppt/slideLayouts/slideLayout6.xml" Id="Rdb2985e3c9a449e2" /><Relationship Type="http://schemas.openxmlformats.org/officeDocument/2006/relationships/notesSlide" Target="/ppt/notesSlides/notesSlide114.xml" Id="Ra3e31dd067b24928" /></Relationships>
</file>

<file path=ppt/slides/_rels/slide115.xml.rels>&#65279;<?xml version="1.0" encoding="utf-8"?><Relationships xmlns="http://schemas.openxmlformats.org/package/2006/relationships"><Relationship Type="http://schemas.openxmlformats.org/officeDocument/2006/relationships/slideLayout" Target="/ppt/slideLayouts/slideLayout6.xml" Id="R5075ea1da0504aff" /><Relationship Type="http://schemas.openxmlformats.org/officeDocument/2006/relationships/notesSlide" Target="/ppt/notesSlides/notesSlide115.xml" Id="R1eeb4aba537c4d7e" /></Relationships>
</file>

<file path=ppt/slides/_rels/slide116.xml.rels>&#65279;<?xml version="1.0" encoding="utf-8"?><Relationships xmlns="http://schemas.openxmlformats.org/package/2006/relationships"><Relationship Type="http://schemas.openxmlformats.org/officeDocument/2006/relationships/slideLayout" Target="/ppt/slideLayouts/slideLayout6.xml" Id="R11788e964eaf4886" /><Relationship Type="http://schemas.openxmlformats.org/officeDocument/2006/relationships/notesSlide" Target="/ppt/notesSlides/notesSlide116.xml" Id="R344b2e76d4e74c23" /></Relationships>
</file>

<file path=ppt/slides/_rels/slide117.xml.rels>&#65279;<?xml version="1.0" encoding="utf-8"?><Relationships xmlns="http://schemas.openxmlformats.org/package/2006/relationships"><Relationship Type="http://schemas.openxmlformats.org/officeDocument/2006/relationships/slideLayout" Target="/ppt/slideLayouts/slideLayout6.xml" Id="R4cc74625a4a048e9" /><Relationship Type="http://schemas.openxmlformats.org/officeDocument/2006/relationships/notesSlide" Target="/ppt/notesSlides/notesSlide117.xml" Id="Rc0018cb59e854950" /></Relationships>
</file>

<file path=ppt/slides/_rels/slide118.xml.rels>&#65279;<?xml version="1.0" encoding="utf-8"?><Relationships xmlns="http://schemas.openxmlformats.org/package/2006/relationships"><Relationship Type="http://schemas.openxmlformats.org/officeDocument/2006/relationships/slideLayout" Target="/ppt/slideLayouts/slideLayout6.xml" Id="R0fc882a5eddc472f" /><Relationship Type="http://schemas.openxmlformats.org/officeDocument/2006/relationships/notesSlide" Target="/ppt/notesSlides/notesSlide118.xml" Id="R1d8aa56f47734dbe" /></Relationships>
</file>

<file path=ppt/slides/_rels/slide119.xml.rels>&#65279;<?xml version="1.0" encoding="utf-8"?><Relationships xmlns="http://schemas.openxmlformats.org/package/2006/relationships"><Relationship Type="http://schemas.openxmlformats.org/officeDocument/2006/relationships/slideLayout" Target="/ppt/slideLayouts/slideLayout6.xml" Id="R5b890f0a5af746e5" /><Relationship Type="http://schemas.openxmlformats.org/officeDocument/2006/relationships/notesSlide" Target="/ppt/notesSlides/notesSlide119.xml" Id="R855f67b8cd8947e6" /></Relationships>
</file>

<file path=ppt/slides/_rels/slide120.xml.rels>&#65279;<?xml version="1.0" encoding="utf-8"?><Relationships xmlns="http://schemas.openxmlformats.org/package/2006/relationships"><Relationship Type="http://schemas.openxmlformats.org/officeDocument/2006/relationships/slideLayout" Target="/ppt/slideLayouts/slideLayout6.xml" Id="R5aaad87636be43c4" /><Relationship Type="http://schemas.openxmlformats.org/officeDocument/2006/relationships/notesSlide" Target="/ppt/notesSlides/notesSlide120.xml" Id="R94072856631c4c6d" /></Relationships>
</file>

<file path=ppt/slides/_rels/slide121.xml.rels>&#65279;<?xml version="1.0" encoding="utf-8"?><Relationships xmlns="http://schemas.openxmlformats.org/package/2006/relationships"><Relationship Type="http://schemas.openxmlformats.org/officeDocument/2006/relationships/slideLayout" Target="/ppt/slideLayouts/slideLayout6.xml" Id="Rd99f47575c334a61" /><Relationship Type="http://schemas.openxmlformats.org/officeDocument/2006/relationships/notesSlide" Target="/ppt/notesSlides/notesSlide121.xml" Id="R32364a35cfca43cd" /></Relationships>
</file>

<file path=ppt/slides/_rels/slide122.xml.rels>&#65279;<?xml version="1.0" encoding="utf-8"?><Relationships xmlns="http://schemas.openxmlformats.org/package/2006/relationships"><Relationship Type="http://schemas.openxmlformats.org/officeDocument/2006/relationships/slideLayout" Target="/ppt/slideLayouts/slideLayout6.xml" Id="R81ac33d54abf4e7a" /><Relationship Type="http://schemas.openxmlformats.org/officeDocument/2006/relationships/notesSlide" Target="/ppt/notesSlides/notesSlide122.xml" Id="Ref9f9453495d460b" /></Relationships>
</file>

<file path=ppt/slides/_rels/slide123.xml.rels>&#65279;<?xml version="1.0" encoding="utf-8"?><Relationships xmlns="http://schemas.openxmlformats.org/package/2006/relationships"><Relationship Type="http://schemas.openxmlformats.org/officeDocument/2006/relationships/slideLayout" Target="/ppt/slideLayouts/slideLayout6.xml" Id="R9342e588b3334fb5" /><Relationship Type="http://schemas.openxmlformats.org/officeDocument/2006/relationships/notesSlide" Target="/ppt/notesSlides/notesSlide123.xml" Id="R9dd0709739d54594" /></Relationships>
</file>

<file path=ppt/slides/_rels/slide124.xml.rels>&#65279;<?xml version="1.0" encoding="utf-8"?><Relationships xmlns="http://schemas.openxmlformats.org/package/2006/relationships"><Relationship Type="http://schemas.openxmlformats.org/officeDocument/2006/relationships/slideLayout" Target="/ppt/slideLayouts/slideLayout6.xml" Id="R06fbe89eee5c476c" /><Relationship Type="http://schemas.openxmlformats.org/officeDocument/2006/relationships/notesSlide" Target="/ppt/notesSlides/notesSlide124.xml" Id="R22897e3ae9234808" /></Relationships>
</file>

<file path=ppt/slides/_rels/slide125.xml.rels>&#65279;<?xml version="1.0" encoding="utf-8"?><Relationships xmlns="http://schemas.openxmlformats.org/package/2006/relationships"><Relationship Type="http://schemas.openxmlformats.org/officeDocument/2006/relationships/slideLayout" Target="/ppt/slideLayouts/slideLayout6.xml" Id="Ra02649f301f3451b" /><Relationship Type="http://schemas.openxmlformats.org/officeDocument/2006/relationships/notesSlide" Target="/ppt/notesSlides/notesSlide125.xml" Id="Rbfc03b92ae89409c" /></Relationships>
</file>

<file path=ppt/slides/_rels/slide126.xml.rels>&#65279;<?xml version="1.0" encoding="utf-8"?><Relationships xmlns="http://schemas.openxmlformats.org/package/2006/relationships"><Relationship Type="http://schemas.openxmlformats.org/officeDocument/2006/relationships/slideLayout" Target="/ppt/slideLayouts/slideLayout6.xml" Id="Rdb3b0b7ee9034e5d" /><Relationship Type="http://schemas.openxmlformats.org/officeDocument/2006/relationships/notesSlide" Target="/ppt/notesSlides/notesSlide126.xml" Id="R4db71ee146a440db" /></Relationships>
</file>

<file path=ppt/slides/_rels/slide127.xml.rels>&#65279;<?xml version="1.0" encoding="utf-8"?><Relationships xmlns="http://schemas.openxmlformats.org/package/2006/relationships"><Relationship Type="http://schemas.openxmlformats.org/officeDocument/2006/relationships/slideLayout" Target="/ppt/slideLayouts/slideLayout6.xml" Id="R89f3279b118841e6" /><Relationship Type="http://schemas.openxmlformats.org/officeDocument/2006/relationships/notesSlide" Target="/ppt/notesSlides/notesSlide127.xml" Id="R198b0d564c574497" /></Relationships>
</file>

<file path=ppt/slides/_rels/slide128.xml.rels>&#65279;<?xml version="1.0" encoding="utf-8"?><Relationships xmlns="http://schemas.openxmlformats.org/package/2006/relationships"><Relationship Type="http://schemas.openxmlformats.org/officeDocument/2006/relationships/slideLayout" Target="/ppt/slideLayouts/slideLayout6.xml" Id="R4a2c8e79d9bb4cad" /><Relationship Type="http://schemas.openxmlformats.org/officeDocument/2006/relationships/notesSlide" Target="/ppt/notesSlides/notesSlide128.xml" Id="R0c380d21eb6c4416" /></Relationships>
</file>

<file path=ppt/slides/_rels/slide129.xml.rels>&#65279;<?xml version="1.0" encoding="utf-8"?><Relationships xmlns="http://schemas.openxmlformats.org/package/2006/relationships"><Relationship Type="http://schemas.openxmlformats.org/officeDocument/2006/relationships/slideLayout" Target="/ppt/slideLayouts/slideLayout6.xml" Id="Rbd0588c6419a40af" /><Relationship Type="http://schemas.openxmlformats.org/officeDocument/2006/relationships/notesSlide" Target="/ppt/notesSlides/notesSlide129.xml" Id="Rcb0fd8e4015f4b08" /></Relationships>
</file>

<file path=ppt/slides/_rels/slide130.xml.rels>&#65279;<?xml version="1.0" encoding="utf-8"?><Relationships xmlns="http://schemas.openxmlformats.org/package/2006/relationships"><Relationship Type="http://schemas.openxmlformats.org/officeDocument/2006/relationships/slideLayout" Target="/ppt/slideLayouts/slideLayout6.xml" Id="Ra612fbda90f64ea9" /><Relationship Type="http://schemas.openxmlformats.org/officeDocument/2006/relationships/notesSlide" Target="/ppt/notesSlides/notesSlide130.xml" Id="R3bf5a6e4f4164222" /></Relationships>
</file>

<file path=ppt/slides/_rels/slide131.xml.rels>&#65279;<?xml version="1.0" encoding="utf-8"?><Relationships xmlns="http://schemas.openxmlformats.org/package/2006/relationships"><Relationship Type="http://schemas.openxmlformats.org/officeDocument/2006/relationships/slideLayout" Target="/ppt/slideLayouts/slideLayout6.xml" Id="R56ea49961f434b46" /><Relationship Type="http://schemas.openxmlformats.org/officeDocument/2006/relationships/notesSlide" Target="/ppt/notesSlides/notesSlide131.xml" Id="R324a64d45cdd4e39" /></Relationships>
</file>

<file path=ppt/slides/_rels/slide132.xml.rels>&#65279;<?xml version="1.0" encoding="utf-8"?><Relationships xmlns="http://schemas.openxmlformats.org/package/2006/relationships"><Relationship Type="http://schemas.openxmlformats.org/officeDocument/2006/relationships/slideLayout" Target="/ppt/slideLayouts/slideLayout6.xml" Id="Rc1ede1e091214427" /><Relationship Type="http://schemas.openxmlformats.org/officeDocument/2006/relationships/notesSlide" Target="/ppt/notesSlides/notesSlide132.xml" Id="R7d4a85aa9e464ef8" /></Relationships>
</file>

<file path=ppt/slides/_rels/slide133.xml.rels>&#65279;<?xml version="1.0" encoding="utf-8"?><Relationships xmlns="http://schemas.openxmlformats.org/package/2006/relationships"><Relationship Type="http://schemas.openxmlformats.org/officeDocument/2006/relationships/slideLayout" Target="/ppt/slideLayouts/slideLayout6.xml" Id="R03a5a1b194794a92" /><Relationship Type="http://schemas.openxmlformats.org/officeDocument/2006/relationships/notesSlide" Target="/ppt/notesSlides/notesSlide133.xml" Id="Rda2747fcdaf34eac" /></Relationships>
</file>

<file path=ppt/slides/_rels/slide134.xml.rels>&#65279;<?xml version="1.0" encoding="utf-8"?><Relationships xmlns="http://schemas.openxmlformats.org/package/2006/relationships"><Relationship Type="http://schemas.openxmlformats.org/officeDocument/2006/relationships/slideLayout" Target="/ppt/slideLayouts/slideLayout6.xml" Id="R8bc7262df6db46ce" /><Relationship Type="http://schemas.openxmlformats.org/officeDocument/2006/relationships/notesSlide" Target="/ppt/notesSlides/notesSlide134.xml" Id="R7627b00561164739" /></Relationships>
</file>

<file path=ppt/slides/_rels/slide135.xml.rels>&#65279;<?xml version="1.0" encoding="utf-8"?><Relationships xmlns="http://schemas.openxmlformats.org/package/2006/relationships"><Relationship Type="http://schemas.openxmlformats.org/officeDocument/2006/relationships/slideLayout" Target="/ppt/slideLayouts/slideLayout6.xml" Id="Ra153f8626ea94e45" /><Relationship Type="http://schemas.openxmlformats.org/officeDocument/2006/relationships/notesSlide" Target="/ppt/notesSlides/notesSlide135.xml" Id="Raaecf39a355e4780" /></Relationships>
</file>

<file path=ppt/slides/_rels/slide136.xml.rels>&#65279;<?xml version="1.0" encoding="utf-8"?><Relationships xmlns="http://schemas.openxmlformats.org/package/2006/relationships"><Relationship Type="http://schemas.openxmlformats.org/officeDocument/2006/relationships/slideLayout" Target="/ppt/slideLayouts/slideLayout6.xml" Id="R704cb4edefe648ec" /><Relationship Type="http://schemas.openxmlformats.org/officeDocument/2006/relationships/notesSlide" Target="/ppt/notesSlides/notesSlide136.xml" Id="R666a433107ae4000" /></Relationships>
</file>

<file path=ppt/slides/_rels/slide137.xml.rels>&#65279;<?xml version="1.0" encoding="utf-8"?><Relationships xmlns="http://schemas.openxmlformats.org/package/2006/relationships"><Relationship Type="http://schemas.openxmlformats.org/officeDocument/2006/relationships/slideLayout" Target="/ppt/slideLayouts/slideLayout6.xml" Id="R0700da3d552648da" /><Relationship Type="http://schemas.openxmlformats.org/officeDocument/2006/relationships/notesSlide" Target="/ppt/notesSlides/notesSlide137.xml" Id="R02d9900a53284036" /></Relationships>
</file>

<file path=ppt/slides/_rels/slide138.xml.rels>&#65279;<?xml version="1.0" encoding="utf-8"?><Relationships xmlns="http://schemas.openxmlformats.org/package/2006/relationships"><Relationship Type="http://schemas.openxmlformats.org/officeDocument/2006/relationships/slideLayout" Target="/ppt/slideLayouts/slideLayout6.xml" Id="R532d0ea8d577467b" /><Relationship Type="http://schemas.openxmlformats.org/officeDocument/2006/relationships/notesSlide" Target="/ppt/notesSlides/notesSlide138.xml" Id="Ra814eba6857c4d30" /></Relationships>
</file>

<file path=ppt/slides/_rels/slide139.xml.rels>&#65279;<?xml version="1.0" encoding="utf-8"?><Relationships xmlns="http://schemas.openxmlformats.org/package/2006/relationships"><Relationship Type="http://schemas.openxmlformats.org/officeDocument/2006/relationships/slideLayout" Target="/ppt/slideLayouts/slideLayout6.xml" Id="R84ed2b5699e7417d" /><Relationship Type="http://schemas.openxmlformats.org/officeDocument/2006/relationships/notesSlide" Target="/ppt/notesSlides/notesSlide139.xml" Id="Rb2e6980e4e044bca" /></Relationships>
</file>

<file path=ppt/slides/_rels/slide140.xml.rels>&#65279;<?xml version="1.0" encoding="utf-8"?><Relationships xmlns="http://schemas.openxmlformats.org/package/2006/relationships"><Relationship Type="http://schemas.openxmlformats.org/officeDocument/2006/relationships/slideLayout" Target="/ppt/slideLayouts/slideLayout6.xml" Id="R53e557d63e214194" /><Relationship Type="http://schemas.openxmlformats.org/officeDocument/2006/relationships/notesSlide" Target="/ppt/notesSlides/notesSlide140.xml" Id="R9d4fc877cb1c4e38" /></Relationships>
</file>

<file path=ppt/slides/_rels/slide141.xml.rels>&#65279;<?xml version="1.0" encoding="utf-8"?><Relationships xmlns="http://schemas.openxmlformats.org/package/2006/relationships"><Relationship Type="http://schemas.openxmlformats.org/officeDocument/2006/relationships/slideLayout" Target="/ppt/slideLayouts/slideLayout6.xml" Id="R78417b9dfca5409b" /><Relationship Type="http://schemas.openxmlformats.org/officeDocument/2006/relationships/notesSlide" Target="/ppt/notesSlides/notesSlide141.xml" Id="R79d862c091a64bcf" /></Relationships>
</file>

<file path=ppt/slides/_rels/slide142.xml.rels>&#65279;<?xml version="1.0" encoding="utf-8"?><Relationships xmlns="http://schemas.openxmlformats.org/package/2006/relationships"><Relationship Type="http://schemas.openxmlformats.org/officeDocument/2006/relationships/slideLayout" Target="/ppt/slideLayouts/slideLayout6.xml" Id="Rd33a4eda548c4de3" /><Relationship Type="http://schemas.openxmlformats.org/officeDocument/2006/relationships/notesSlide" Target="/ppt/notesSlides/notesSlide142.xml" Id="R09b478859135443d" /></Relationships>
</file>

<file path=ppt/slides/_rels/slide143.xml.rels>&#65279;<?xml version="1.0" encoding="utf-8"?><Relationships xmlns="http://schemas.openxmlformats.org/package/2006/relationships"><Relationship Type="http://schemas.openxmlformats.org/officeDocument/2006/relationships/slideLayout" Target="/ppt/slideLayouts/slideLayout6.xml" Id="Rf7288c3b637645c4" /><Relationship Type="http://schemas.openxmlformats.org/officeDocument/2006/relationships/notesSlide" Target="/ppt/notesSlides/notesSlide143.xml" Id="R3bef67428f044255" /></Relationships>
</file>

<file path=ppt/slides/_rels/slide144.xml.rels>&#65279;<?xml version="1.0" encoding="utf-8"?><Relationships xmlns="http://schemas.openxmlformats.org/package/2006/relationships"><Relationship Type="http://schemas.openxmlformats.org/officeDocument/2006/relationships/slideLayout" Target="/ppt/slideLayouts/slideLayout6.xml" Id="R621420021e1b4399" /><Relationship Type="http://schemas.openxmlformats.org/officeDocument/2006/relationships/notesSlide" Target="/ppt/notesSlides/notesSlide144.xml" Id="Rf05ed2e4c2164ed3" /></Relationships>
</file>

<file path=ppt/slides/_rels/slide145.xml.rels>&#65279;<?xml version="1.0" encoding="utf-8"?><Relationships xmlns="http://schemas.openxmlformats.org/package/2006/relationships"><Relationship Type="http://schemas.openxmlformats.org/officeDocument/2006/relationships/slideLayout" Target="/ppt/slideLayouts/slideLayout6.xml" Id="Rd13e9c1b7bc54d85" /><Relationship Type="http://schemas.openxmlformats.org/officeDocument/2006/relationships/notesSlide" Target="/ppt/notesSlides/notesSlide145.xml" Id="R29d579ec8b61436d" /></Relationships>
</file>

<file path=ppt/slides/_rels/slide146.xml.rels>&#65279;<?xml version="1.0" encoding="utf-8"?><Relationships xmlns="http://schemas.openxmlformats.org/package/2006/relationships"><Relationship Type="http://schemas.openxmlformats.org/officeDocument/2006/relationships/slideLayout" Target="/ppt/slideLayouts/slideLayout6.xml" Id="Raae443bbb673410a" /><Relationship Type="http://schemas.openxmlformats.org/officeDocument/2006/relationships/notesSlide" Target="/ppt/notesSlides/notesSlide146.xml" Id="R27583ac82fbb4e8b" /></Relationships>
</file>

<file path=ppt/slides/_rels/slide147.xml.rels>&#65279;<?xml version="1.0" encoding="utf-8"?><Relationships xmlns="http://schemas.openxmlformats.org/package/2006/relationships"><Relationship Type="http://schemas.openxmlformats.org/officeDocument/2006/relationships/slideLayout" Target="/ppt/slideLayouts/slideLayout6.xml" Id="R474eb1766d9c4bc0" /><Relationship Type="http://schemas.openxmlformats.org/officeDocument/2006/relationships/notesSlide" Target="/ppt/notesSlides/notesSlide147.xml" Id="Re12bcd32b474403b" /></Relationships>
</file>

<file path=ppt/slides/_rels/slide148.xml.rels>&#65279;<?xml version="1.0" encoding="utf-8"?><Relationships xmlns="http://schemas.openxmlformats.org/package/2006/relationships"><Relationship Type="http://schemas.openxmlformats.org/officeDocument/2006/relationships/slideLayout" Target="/ppt/slideLayouts/slideLayout6.xml" Id="R3238a4359efc40b8" /><Relationship Type="http://schemas.openxmlformats.org/officeDocument/2006/relationships/notesSlide" Target="/ppt/notesSlides/notesSlide148.xml" Id="R342be734d96c4e91" /></Relationships>
</file>

<file path=ppt/slides/_rels/slide149.xml.rels>&#65279;<?xml version="1.0" encoding="utf-8"?><Relationships xmlns="http://schemas.openxmlformats.org/package/2006/relationships"><Relationship Type="http://schemas.openxmlformats.org/officeDocument/2006/relationships/slideLayout" Target="/ppt/slideLayouts/slideLayout6.xml" Id="R5890a7e1c0bd4ab3" /><Relationship Type="http://schemas.openxmlformats.org/officeDocument/2006/relationships/notesSlide" Target="/ppt/notesSlides/notesSlide149.xml" Id="Rada82114a1a24c3c" /></Relationships>
</file>

<file path=ppt/slides/_rels/slide150.xml.rels>&#65279;<?xml version="1.0" encoding="utf-8"?><Relationships xmlns="http://schemas.openxmlformats.org/package/2006/relationships"><Relationship Type="http://schemas.openxmlformats.org/officeDocument/2006/relationships/slideLayout" Target="/ppt/slideLayouts/slideLayout6.xml" Id="R8ba5fb1e449842ec" /><Relationship Type="http://schemas.openxmlformats.org/officeDocument/2006/relationships/notesSlide" Target="/ppt/notesSlides/notesSlide150.xml" Id="Rc084e32af2af47bb" /></Relationships>
</file>

<file path=ppt/slides/_rels/slide151.xml.rels>&#65279;<?xml version="1.0" encoding="utf-8"?><Relationships xmlns="http://schemas.openxmlformats.org/package/2006/relationships"><Relationship Type="http://schemas.openxmlformats.org/officeDocument/2006/relationships/slideLayout" Target="/ppt/slideLayouts/slideLayout6.xml" Id="Rfc9545e1b9c64294" /><Relationship Type="http://schemas.openxmlformats.org/officeDocument/2006/relationships/notesSlide" Target="/ppt/notesSlides/notesSlide151.xml" Id="Re9a1d39002404318" /></Relationships>
</file>

<file path=ppt/slides/_rels/slide152.xml.rels>&#65279;<?xml version="1.0" encoding="utf-8"?><Relationships xmlns="http://schemas.openxmlformats.org/package/2006/relationships"><Relationship Type="http://schemas.openxmlformats.org/officeDocument/2006/relationships/slideLayout" Target="/ppt/slideLayouts/slideLayout6.xml" Id="R6d5ea12b34194250" /><Relationship Type="http://schemas.openxmlformats.org/officeDocument/2006/relationships/notesSlide" Target="/ppt/notesSlides/notesSlide152.xml" Id="R7d5b99ebcff24d9c" /></Relationships>
</file>

<file path=ppt/slides/_rels/slide153.xml.rels>&#65279;<?xml version="1.0" encoding="utf-8"?><Relationships xmlns="http://schemas.openxmlformats.org/package/2006/relationships"><Relationship Type="http://schemas.openxmlformats.org/officeDocument/2006/relationships/slideLayout" Target="/ppt/slideLayouts/slideLayout6.xml" Id="R39f4c46834174502" /><Relationship Type="http://schemas.openxmlformats.org/officeDocument/2006/relationships/notesSlide" Target="/ppt/notesSlides/notesSlide153.xml" Id="R74084e1699ac473e" /></Relationships>
</file>

<file path=ppt/slides/_rels/slide154.xml.rels>&#65279;<?xml version="1.0" encoding="utf-8"?><Relationships xmlns="http://schemas.openxmlformats.org/package/2006/relationships"><Relationship Type="http://schemas.openxmlformats.org/officeDocument/2006/relationships/slideLayout" Target="/ppt/slideLayouts/slideLayout6.xml" Id="Rb71702791fe04a47" /><Relationship Type="http://schemas.openxmlformats.org/officeDocument/2006/relationships/notesSlide" Target="/ppt/notesSlides/notesSlide154.xml" Id="R4122a01eaf08488d" /></Relationships>
</file>

<file path=ppt/slides/_rels/slide155.xml.rels>&#65279;<?xml version="1.0" encoding="utf-8"?><Relationships xmlns="http://schemas.openxmlformats.org/package/2006/relationships"><Relationship Type="http://schemas.openxmlformats.org/officeDocument/2006/relationships/slideLayout" Target="/ppt/slideLayouts/slideLayout6.xml" Id="R247264424a764954" /><Relationship Type="http://schemas.openxmlformats.org/officeDocument/2006/relationships/notesSlide" Target="/ppt/notesSlides/notesSlide155.xml" Id="R5344e2bffb2f4589" /></Relationships>
</file>

<file path=ppt/slides/_rels/slide156.xml.rels>&#65279;<?xml version="1.0" encoding="utf-8"?><Relationships xmlns="http://schemas.openxmlformats.org/package/2006/relationships"><Relationship Type="http://schemas.openxmlformats.org/officeDocument/2006/relationships/slideLayout" Target="/ppt/slideLayouts/slideLayout6.xml" Id="R184826a472a34f33" /><Relationship Type="http://schemas.openxmlformats.org/officeDocument/2006/relationships/notesSlide" Target="/ppt/notesSlides/notesSlide156.xml" Id="R3e227e3de4324d9d" /></Relationships>
</file>

<file path=ppt/slides/_rels/slide157.xml.rels>&#65279;<?xml version="1.0" encoding="utf-8"?><Relationships xmlns="http://schemas.openxmlformats.org/package/2006/relationships"><Relationship Type="http://schemas.openxmlformats.org/officeDocument/2006/relationships/slideLayout" Target="/ppt/slideLayouts/slideLayout6.xml" Id="Rac030f5a612948c4" /><Relationship Type="http://schemas.openxmlformats.org/officeDocument/2006/relationships/notesSlide" Target="/ppt/notesSlides/notesSlide157.xml" Id="R3f92db11a3cc454d" /></Relationships>
</file>

<file path=ppt/slides/_rels/slide158.xml.rels>&#65279;<?xml version="1.0" encoding="utf-8"?><Relationships xmlns="http://schemas.openxmlformats.org/package/2006/relationships"><Relationship Type="http://schemas.openxmlformats.org/officeDocument/2006/relationships/slideLayout" Target="/ppt/slideLayouts/slideLayout6.xml" Id="Re960e8b111614940" /><Relationship Type="http://schemas.openxmlformats.org/officeDocument/2006/relationships/notesSlide" Target="/ppt/notesSlides/notesSlide158.xml" Id="R1c13dfd9d1294245" /></Relationships>
</file>

<file path=ppt/slides/_rels/slide159.xml.rels>&#65279;<?xml version="1.0" encoding="utf-8"?><Relationships xmlns="http://schemas.openxmlformats.org/package/2006/relationships"><Relationship Type="http://schemas.openxmlformats.org/officeDocument/2006/relationships/slideLayout" Target="/ppt/slideLayouts/slideLayout6.xml" Id="R344f236ee93643e7" /><Relationship Type="http://schemas.openxmlformats.org/officeDocument/2006/relationships/notesSlide" Target="/ppt/notesSlides/notesSlide159.xml" Id="Rd668452fdfc04068" /></Relationships>
</file>

<file path=ppt/slides/_rels/slide160.xml.rels>&#65279;<?xml version="1.0" encoding="utf-8"?><Relationships xmlns="http://schemas.openxmlformats.org/package/2006/relationships"><Relationship Type="http://schemas.openxmlformats.org/officeDocument/2006/relationships/slideLayout" Target="/ppt/slideLayouts/slideLayout6.xml" Id="Rfb60563281174f7c" /><Relationship Type="http://schemas.openxmlformats.org/officeDocument/2006/relationships/notesSlide" Target="/ppt/notesSlides/notesSlide160.xml" Id="R0ada5fb2ad1840d6" /></Relationships>
</file>

<file path=ppt/slides/_rels/slide161.xml.rels>&#65279;<?xml version="1.0" encoding="utf-8"?><Relationships xmlns="http://schemas.openxmlformats.org/package/2006/relationships"><Relationship Type="http://schemas.openxmlformats.org/officeDocument/2006/relationships/slideLayout" Target="/ppt/slideLayouts/slideLayout6.xml" Id="R51b5339fc9c141a1" /><Relationship Type="http://schemas.openxmlformats.org/officeDocument/2006/relationships/notesSlide" Target="/ppt/notesSlides/notesSlide161.xml" Id="R48c8fd588b7d45c9" /></Relationships>
</file>

<file path=ppt/slides/_rels/slide162.xml.rels>&#65279;<?xml version="1.0" encoding="utf-8"?><Relationships xmlns="http://schemas.openxmlformats.org/package/2006/relationships"><Relationship Type="http://schemas.openxmlformats.org/officeDocument/2006/relationships/slideLayout" Target="/ppt/slideLayouts/slideLayout6.xml" Id="R75f9a7e43f9041d6" /><Relationship Type="http://schemas.openxmlformats.org/officeDocument/2006/relationships/notesSlide" Target="/ppt/notesSlides/notesSlide162.xml" Id="R8f76ced27ac442cb" /></Relationships>
</file>

<file path=ppt/slides/_rels/slide163.xml.rels>&#65279;<?xml version="1.0" encoding="utf-8"?><Relationships xmlns="http://schemas.openxmlformats.org/package/2006/relationships"><Relationship Type="http://schemas.openxmlformats.org/officeDocument/2006/relationships/slideLayout" Target="/ppt/slideLayouts/slideLayout6.xml" Id="R2139c4b4443e4f90" /><Relationship Type="http://schemas.openxmlformats.org/officeDocument/2006/relationships/notesSlide" Target="/ppt/notesSlides/notesSlide163.xml" Id="R5c51083aeb10438b" /></Relationships>
</file>

<file path=ppt/slides/_rels/slide164.xml.rels>&#65279;<?xml version="1.0" encoding="utf-8"?><Relationships xmlns="http://schemas.openxmlformats.org/package/2006/relationships"><Relationship Type="http://schemas.openxmlformats.org/officeDocument/2006/relationships/slideLayout" Target="/ppt/slideLayouts/slideLayout6.xml" Id="R4f7dbc5017d74f38" /><Relationship Type="http://schemas.openxmlformats.org/officeDocument/2006/relationships/notesSlide" Target="/ppt/notesSlides/notesSlide164.xml" Id="R90d41a24765e4286" /></Relationships>
</file>

<file path=ppt/slides/_rels/slide165.xml.rels>&#65279;<?xml version="1.0" encoding="utf-8"?><Relationships xmlns="http://schemas.openxmlformats.org/package/2006/relationships"><Relationship Type="http://schemas.openxmlformats.org/officeDocument/2006/relationships/slideLayout" Target="/ppt/slideLayouts/slideLayout6.xml" Id="R9885315eef914a6f" /><Relationship Type="http://schemas.openxmlformats.org/officeDocument/2006/relationships/notesSlide" Target="/ppt/notesSlides/notesSlide165.xml" Id="Rf40591aaf75b4aef" /></Relationships>
</file>

<file path=ppt/slides/slide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F5CBD82-3FB2-4722-A9DB-15A1F96A365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GROWTH AI / TS ORGANIZATION-NATIVE AI</a:t>
            </a:r>
          </a:p>
        </p:txBody>
      </p:sp>
      <p:sp>
        <p:nvSpPr>
          <p:cNvPr id="2" name="">
            <a:extLst xmlns:a="http://schemas.openxmlformats.org/drawingml/2006/main">
              <a:ext uri="{FF2B5EF4-FFF2-40B4-BE49-F238E27FC236}">
                <a16:creationId xmlns:a16="http://schemas.microsoft.com/office/drawing/2014/main" id="{4D8FEEC5-1C77-4008-A0C3-89FCECD9935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12대 전략과제 AX 사례집</a:t>
            </a:r>
          </a:p>
        </p:txBody>
      </p:sp>
      <p:sp>
        <p:nvSpPr>
          <p:cNvPr id="3" name="">
            <a:extLst xmlns:a="http://schemas.openxmlformats.org/drawingml/2006/main">
              <a:ext uri="{FF2B5EF4-FFF2-40B4-BE49-F238E27FC236}">
                <a16:creationId xmlns:a16="http://schemas.microsoft.com/office/drawing/2014/main" id="{42D687FA-EA1B-4708-9733-DEA8069BAC1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07E567E-1DBA-4EC7-9D5D-A43B6C123C8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979AD8F-89A3-4699-A43E-178CDBB13A3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01</a:t>
            </a:r>
          </a:p>
        </p:txBody>
      </p:sp>
      <p:sp>
        <p:nvSpPr>
          <p:cNvPr id="6" name="">
            <a:extLst xmlns:a="http://schemas.openxmlformats.org/drawingml/2006/main">
              <a:ext uri="{FF2B5EF4-FFF2-40B4-BE49-F238E27FC236}">
                <a16:creationId xmlns:a16="http://schemas.microsoft.com/office/drawing/2014/main" id="{83CBE652-1AE1-481C-A1EB-538451D578C1}"/>
              </a:ext>
            </a:extLst>
          </p:cNvPr>
          <p:cNvSpPr>
            <a:spLocks xmlns:a="http://schemas.openxmlformats.org/drawingml/2006/main" noGrp="1"/>
          </p:cNvSpPr>
          <p:nvPr/>
        </p:nvSpPr>
        <p:spPr>
          <a:xfrm xmlns:a="http://schemas.openxmlformats.org/drawingml/2006/main">
            <a:off x="571500" y="247650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42634B"/>
                </a:solidFill>
                <a:latin typeface="Pretendard"/>
                <a:ea typeface="Pretendard"/>
                <a:cs typeface="Pretendard"/>
              </a:defRPr>
            </a:defPPr>
            <a:lvl1pPr>
              <a:defRPr sz="3000" b="1">
                <a:solidFill>
                  <a:srgbClr val="42634B"/>
                </a:solidFill>
                <a:latin typeface="Pretendard"/>
                <a:ea typeface="Pretendard"/>
                <a:cs typeface="Pretendard"/>
              </a:defRPr>
            </a:lvl1pPr>
            <a:lvl2pPr>
              <a:defRPr sz="3000" b="1">
                <a:solidFill>
                  <a:srgbClr val="42634B"/>
                </a:solidFill>
                <a:latin typeface="Pretendard"/>
                <a:ea typeface="Pretendard"/>
                <a:cs typeface="Pretendard"/>
              </a:defRPr>
            </a:lvl2pPr>
            <a:lvl3pPr>
              <a:defRPr sz="3000" b="1">
                <a:solidFill>
                  <a:srgbClr val="42634B"/>
                </a:solidFill>
                <a:latin typeface="Pretendard"/>
                <a:ea typeface="Pretendard"/>
                <a:cs typeface="Pretendard"/>
              </a:defRPr>
            </a:lvl3pPr>
            <a:lvl4pPr>
              <a:defRPr sz="3000" b="1">
                <a:solidFill>
                  <a:srgbClr val="42634B"/>
                </a:solidFill>
                <a:latin typeface="Pretendard"/>
                <a:ea typeface="Pretendard"/>
                <a:cs typeface="Pretendard"/>
              </a:defRPr>
            </a:lvl4pPr>
            <a:lvl5pPr>
              <a:defRPr sz="3000" b="1">
                <a:solidFill>
                  <a:srgbClr val="42634B"/>
                </a:solidFill>
                <a:latin typeface="Pretendard"/>
                <a:ea typeface="Pretendard"/>
                <a:cs typeface="Pretendard"/>
              </a:defRPr>
            </a:lvl5pPr>
            <a:lvl6pPr>
              <a:defRPr sz="3000" b="1">
                <a:solidFill>
                  <a:srgbClr val="42634B"/>
                </a:solidFill>
                <a:latin typeface="Pretendard"/>
                <a:ea typeface="Pretendard"/>
                <a:cs typeface="Pretendard"/>
              </a:defRPr>
            </a:lvl6pPr>
            <a:lvl7pPr>
              <a:defRPr sz="3000" b="1">
                <a:solidFill>
                  <a:srgbClr val="42634B"/>
                </a:solidFill>
                <a:latin typeface="Pretendard"/>
                <a:ea typeface="Pretendard"/>
                <a:cs typeface="Pretendard"/>
              </a:defRPr>
            </a:lvl7pPr>
            <a:lvl8pPr>
              <a:defRPr sz="3000" b="1">
                <a:solidFill>
                  <a:srgbClr val="42634B"/>
                </a:solidFill>
                <a:latin typeface="Pretendard"/>
                <a:ea typeface="Pretendard"/>
                <a:cs typeface="Pretendard"/>
              </a:defRPr>
            </a:lvl8pPr>
            <a:lvl9pPr>
              <a:defRPr sz="3000" b="1">
                <a:solidFill>
                  <a:srgbClr val="42634B"/>
                </a:solidFill>
                <a:latin typeface="Pretendard"/>
                <a:ea typeface="Pretendard"/>
                <a:cs typeface="Pretendard"/>
              </a:defRPr>
            </a:lvl9pPr>
          </a:lstStyle>
          <a:p xmlns:a="http://schemas.openxmlformats.org/drawingml/2006/main">
            <a:pPr>
              <a:defRPr sz="3000" b="1">
                <a:solidFill>
                  <a:srgbClr val="42634B"/>
                </a:solidFill>
                <a:latin typeface="Pretendard"/>
                <a:ea typeface="Pretendard"/>
                <a:cs typeface="Pretendard"/>
              </a:defRPr>
            </a:pPr>
            <a:r>
              <a:rPr sz="3000" b="1">
                <a:solidFill>
                  <a:srgbClr val="42634B"/>
                </a:solidFill>
                <a:latin typeface="Pretendard"/>
                <a:ea typeface="Pretendard"/>
                <a:cs typeface="Pretendard"/>
              </a:rPr>
              <a:t>부서·업무에 연결한 후속 적용계획</a:t>
            </a:r>
          </a:p>
        </p:txBody>
      </p:sp>
      <p:sp>
        <p:nvSpPr>
          <p:cNvPr id="7" name="">
            <a:extLst xmlns:a="http://schemas.openxmlformats.org/drawingml/2006/main">
              <a:ext uri="{FF2B5EF4-FFF2-40B4-BE49-F238E27FC236}">
                <a16:creationId xmlns:a16="http://schemas.microsoft.com/office/drawing/2014/main" id="{3490E134-C241-4AF2-9462-57B5DA74B93E}"/>
              </a:ext>
            </a:extLst>
          </p:cNvPr>
          <p:cNvSpPr>
            <a:spLocks xmlns:a="http://schemas.openxmlformats.org/drawingml/2006/main" noGrp="1"/>
          </p:cNvSpPr>
          <p:nvPr/>
        </p:nvSpPr>
        <p:spPr>
          <a:xfrm xmlns:a="http://schemas.openxmlformats.org/drawingml/2006/main">
            <a:off x="571500" y="4000500"/>
            <a:ext cx="11049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28352B"/>
                </a:solidFill>
                <a:latin typeface="Pretendard"/>
                <a:ea typeface="Pretendard"/>
                <a:cs typeface="Pretendard"/>
              </a:defRPr>
            </a:defPPr>
            <a:lvl1pPr>
              <a:defRPr sz="2025" b="0">
                <a:solidFill>
                  <a:srgbClr val="28352B"/>
                </a:solidFill>
                <a:latin typeface="Pretendard"/>
                <a:ea typeface="Pretendard"/>
                <a:cs typeface="Pretendard"/>
              </a:defRPr>
            </a:lvl1pPr>
            <a:lvl2pPr>
              <a:defRPr sz="2025" b="0">
                <a:solidFill>
                  <a:srgbClr val="28352B"/>
                </a:solidFill>
                <a:latin typeface="Pretendard"/>
                <a:ea typeface="Pretendard"/>
                <a:cs typeface="Pretendard"/>
              </a:defRPr>
            </a:lvl2pPr>
            <a:lvl3pPr>
              <a:defRPr sz="2025" b="0">
                <a:solidFill>
                  <a:srgbClr val="28352B"/>
                </a:solidFill>
                <a:latin typeface="Pretendard"/>
                <a:ea typeface="Pretendard"/>
                <a:cs typeface="Pretendard"/>
              </a:defRPr>
            </a:lvl3pPr>
            <a:lvl4pPr>
              <a:defRPr sz="2025" b="0">
                <a:solidFill>
                  <a:srgbClr val="28352B"/>
                </a:solidFill>
                <a:latin typeface="Pretendard"/>
                <a:ea typeface="Pretendard"/>
                <a:cs typeface="Pretendard"/>
              </a:defRPr>
            </a:lvl4pPr>
            <a:lvl5pPr>
              <a:defRPr sz="2025" b="0">
                <a:solidFill>
                  <a:srgbClr val="28352B"/>
                </a:solidFill>
                <a:latin typeface="Pretendard"/>
                <a:ea typeface="Pretendard"/>
                <a:cs typeface="Pretendard"/>
              </a:defRPr>
            </a:lvl5pPr>
            <a:lvl6pPr>
              <a:defRPr sz="2025" b="0">
                <a:solidFill>
                  <a:srgbClr val="28352B"/>
                </a:solidFill>
                <a:latin typeface="Pretendard"/>
                <a:ea typeface="Pretendard"/>
                <a:cs typeface="Pretendard"/>
              </a:defRPr>
            </a:lvl6pPr>
            <a:lvl7pPr>
              <a:defRPr sz="2025" b="0">
                <a:solidFill>
                  <a:srgbClr val="28352B"/>
                </a:solidFill>
                <a:latin typeface="Pretendard"/>
                <a:ea typeface="Pretendard"/>
                <a:cs typeface="Pretendard"/>
              </a:defRPr>
            </a:lvl7pPr>
            <a:lvl8pPr>
              <a:defRPr sz="2025" b="0">
                <a:solidFill>
                  <a:srgbClr val="28352B"/>
                </a:solidFill>
                <a:latin typeface="Pretendard"/>
                <a:ea typeface="Pretendard"/>
                <a:cs typeface="Pretendard"/>
              </a:defRPr>
            </a:lvl8pPr>
            <a:lvl9pPr>
              <a:defRPr sz="2025" b="0">
                <a:solidFill>
                  <a:srgbClr val="28352B"/>
                </a:solidFill>
                <a:latin typeface="Pretendard"/>
                <a:ea typeface="Pretendard"/>
                <a:cs typeface="Pretendard"/>
              </a:defRPr>
            </a:lvl9pPr>
          </a:lstStyle>
          <a:p xmlns:a="http://schemas.openxmlformats.org/drawingml/2006/main">
            <a:pPr>
              <a:defRPr sz="2025" b="0">
                <a:solidFill>
                  <a:srgbClr val="28352B"/>
                </a:solidFill>
                <a:latin typeface="Pretendard"/>
                <a:ea typeface="Pretendard"/>
                <a:cs typeface="Pretendard"/>
              </a:defRPr>
            </a:pPr>
            <a:r>
              <a:rPr sz="2025" b="0">
                <a:solidFill>
                  <a:srgbClr val="28352B"/>
                </a:solidFill>
                <a:latin typeface="Pretendard"/>
                <a:ea typeface="Pretendard"/>
                <a:cs typeface="Pretendard"/>
              </a:rPr>
              <a:t>26개 상세 사례 / 12개 전략 후속계획</a:t>
            </a:r>
          </a:p>
          <a:p xmlns:a="http://schemas.openxmlformats.org/drawingml/2006/main">
            <a:pPr>
              <a:defRPr sz="2025" b="0">
                <a:solidFill>
                  <a:srgbClr val="28352B"/>
                </a:solidFill>
                <a:latin typeface="Pretendard"/>
                <a:ea typeface="Pretendard"/>
                <a:cs typeface="Pretendard"/>
              </a:defRPr>
            </a:pPr>
            <a:r>
              <a:rPr sz="2025" b="0">
                <a:solidFill>
                  <a:srgbClr val="28352B"/>
                </a:solidFill>
                <a:latin typeface="Pretendard"/>
                <a:ea typeface="Pretendard"/>
                <a:cs typeface="Pretendard"/>
              </a:rPr>
              <a:t>원문 자료 6개 / 개발·검수·효과</a:t>
            </a:r>
          </a:p>
        </p:txBody>
      </p:sp>
      <p:sp>
        <p:nvSpPr>
          <p:cNvPr id="8" name="">
            <a:extLst xmlns:a="http://schemas.openxmlformats.org/drawingml/2006/main">
              <a:ext uri="{FF2B5EF4-FFF2-40B4-BE49-F238E27FC236}">
                <a16:creationId xmlns:a16="http://schemas.microsoft.com/office/drawing/2014/main" id="{FA24B779-6588-42CF-8972-6765C7D770AC}"/>
              </a:ext>
            </a:extLst>
          </p:cNvPr>
          <p:cNvSpPr>
            <a:spLocks xmlns:a="http://schemas.openxmlformats.org/drawingml/2006/main" noGrp="1"/>
          </p:cNvSpPr>
          <p:nvPr/>
        </p:nvSpPr>
        <p:spPr>
          <a:xfrm xmlns:a="http://schemas.openxmlformats.org/drawingml/2006/main">
            <a:off x="571500" y="5562600"/>
            <a:ext cx="1104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687369"/>
                </a:solidFill>
                <a:latin typeface="Pretendard"/>
                <a:ea typeface="Pretendard"/>
                <a:cs typeface="Pretendard"/>
              </a:defRPr>
            </a:defPPr>
            <a:lvl1pPr>
              <a:defRPr sz="1575" b="0">
                <a:solidFill>
                  <a:srgbClr val="687369"/>
                </a:solidFill>
                <a:latin typeface="Pretendard"/>
                <a:ea typeface="Pretendard"/>
                <a:cs typeface="Pretendard"/>
              </a:defRPr>
            </a:lvl1pPr>
            <a:lvl2pPr>
              <a:defRPr sz="1575" b="0">
                <a:solidFill>
                  <a:srgbClr val="687369"/>
                </a:solidFill>
                <a:latin typeface="Pretendard"/>
                <a:ea typeface="Pretendard"/>
                <a:cs typeface="Pretendard"/>
              </a:defRPr>
            </a:lvl2pPr>
            <a:lvl3pPr>
              <a:defRPr sz="1575" b="0">
                <a:solidFill>
                  <a:srgbClr val="687369"/>
                </a:solidFill>
                <a:latin typeface="Pretendard"/>
                <a:ea typeface="Pretendard"/>
                <a:cs typeface="Pretendard"/>
              </a:defRPr>
            </a:lvl3pPr>
            <a:lvl4pPr>
              <a:defRPr sz="1575" b="0">
                <a:solidFill>
                  <a:srgbClr val="687369"/>
                </a:solidFill>
                <a:latin typeface="Pretendard"/>
                <a:ea typeface="Pretendard"/>
                <a:cs typeface="Pretendard"/>
              </a:defRPr>
            </a:lvl4pPr>
            <a:lvl5pPr>
              <a:defRPr sz="1575" b="0">
                <a:solidFill>
                  <a:srgbClr val="687369"/>
                </a:solidFill>
                <a:latin typeface="Pretendard"/>
                <a:ea typeface="Pretendard"/>
                <a:cs typeface="Pretendard"/>
              </a:defRPr>
            </a:lvl5pPr>
            <a:lvl6pPr>
              <a:defRPr sz="1575" b="0">
                <a:solidFill>
                  <a:srgbClr val="687369"/>
                </a:solidFill>
                <a:latin typeface="Pretendard"/>
                <a:ea typeface="Pretendard"/>
                <a:cs typeface="Pretendard"/>
              </a:defRPr>
            </a:lvl6pPr>
            <a:lvl7pPr>
              <a:defRPr sz="1575" b="0">
                <a:solidFill>
                  <a:srgbClr val="687369"/>
                </a:solidFill>
                <a:latin typeface="Pretendard"/>
                <a:ea typeface="Pretendard"/>
                <a:cs typeface="Pretendard"/>
              </a:defRPr>
            </a:lvl7pPr>
            <a:lvl8pPr>
              <a:defRPr sz="1575" b="0">
                <a:solidFill>
                  <a:srgbClr val="687369"/>
                </a:solidFill>
                <a:latin typeface="Pretendard"/>
                <a:ea typeface="Pretendard"/>
                <a:cs typeface="Pretendard"/>
              </a:defRPr>
            </a:lvl8pPr>
            <a:lvl9pPr>
              <a:defRPr sz="1575" b="0">
                <a:solidFill>
                  <a:srgbClr val="687369"/>
                </a:solidFill>
                <a:latin typeface="Pretendard"/>
                <a:ea typeface="Pretendard"/>
                <a:cs typeface="Pretendard"/>
              </a:defRPr>
            </a:lvl9pPr>
          </a:lstStyle>
          <a:p xmlns:a="http://schemas.openxmlformats.org/drawingml/2006/main">
            <a:pPr>
              <a:defRPr sz="1575" b="0">
                <a:solidFill>
                  <a:srgbClr val="687369"/>
                </a:solidFill>
                <a:latin typeface="Pretendard"/>
                <a:ea typeface="Pretendard"/>
                <a:cs typeface="Pretendard"/>
              </a:defRPr>
            </a:pPr>
            <a:r>
              <a:rPr sz="1575" b="0">
                <a:solidFill>
                  <a:srgbClr val="687369"/>
                </a:solidFill>
                <a:latin typeface="Pretendard"/>
                <a:ea typeface="Pretendard"/>
                <a:cs typeface="Pretendard"/>
              </a:rPr>
              <a:t>공개자료·RFP 기반 CCK 분석 및 적용 설계</a:t>
            </a:r>
          </a:p>
        </p:txBody>
      </p:sp>
    </p:spTree>
    <p:extLst>
      <p:ext uri="{BB962C8B-B14F-4D97-AF65-F5344CB8AC3E}">
        <p14:creationId xmlns:p14="http://schemas.microsoft.com/office/powerpoint/2010/main" val="1020792741"/>
      </p:ext>
    </p:extLst>
  </p:cSld>
</p:sld>
</file>

<file path=ppt/slides/slide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A15ECBE-22D9-4EC5-8054-3F4912449E6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AX01 / 부분 성과 / 국내</a:t>
            </a:r>
          </a:p>
        </p:txBody>
      </p:sp>
      <p:sp>
        <p:nvSpPr>
          <p:cNvPr id="2" name="">
            <a:extLst xmlns:a="http://schemas.openxmlformats.org/drawingml/2006/main">
              <a:ext uri="{FF2B5EF4-FFF2-40B4-BE49-F238E27FC236}">
                <a16:creationId xmlns:a16="http://schemas.microsoft.com/office/drawing/2014/main" id="{0C113983-5A53-4A62-BD25-C7A10288ED7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서울 올빼미버스</a:t>
            </a:r>
          </a:p>
        </p:txBody>
      </p:sp>
      <p:sp>
        <p:nvSpPr>
          <p:cNvPr id="3" name="">
            <a:extLst xmlns:a="http://schemas.openxmlformats.org/drawingml/2006/main">
              <a:ext uri="{FF2B5EF4-FFF2-40B4-BE49-F238E27FC236}">
                <a16:creationId xmlns:a16="http://schemas.microsoft.com/office/drawing/2014/main" id="{05313EB8-280B-4740-961C-BB3F5A69613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E8CDA3A-249B-4CE3-B232-666325AAE8A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5FCF25B9-A86A-4F01-8DB0-62DD17BE615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02</a:t>
            </a:r>
          </a:p>
        </p:txBody>
      </p:sp>
      <p:sp>
        <p:nvSpPr>
          <p:cNvPr id="6" name="">
            <a:extLst xmlns:a="http://schemas.openxmlformats.org/drawingml/2006/main">
              <a:ext uri="{FF2B5EF4-FFF2-40B4-BE49-F238E27FC236}">
                <a16:creationId xmlns:a16="http://schemas.microsoft.com/office/drawing/2014/main" id="{480C6D87-7279-444F-86F5-D1522AEC0519}"/>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97E55F22-4875-41ED-856A-6E452B9A6735}"/>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심야 교통 수요를 실제 노선 결정에 연결한 데이터 기반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정책 사례. 기존 노선·운행계획을 검토하는 담당자가 시</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간대·지역별 잠재 수요를 함께 비교하는 업무 변화.</a:t>
            </a:r>
          </a:p>
        </p:txBody>
      </p:sp>
      <p:sp>
        <p:nvSpPr>
          <p:cNvPr id="8" name="">
            <a:extLst xmlns:a="http://schemas.openxmlformats.org/drawingml/2006/main">
              <a:ext uri="{FF2B5EF4-FFF2-40B4-BE49-F238E27FC236}">
                <a16:creationId xmlns:a16="http://schemas.microsoft.com/office/drawing/2014/main" id="{69AEB339-69A2-4074-96F9-B7C7AF223EC2}"/>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1EDF0335-3A16-4AA3-9EAF-5E5E9581E77C}"/>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통신 이동량과 노선 정보를 공통 공간 단위로 정리한 뒤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수요 분포와 노선 후보를 비교하는 분석 흐름의 재구성.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CCK 적용 시 분석 결과를 담당 관할·교통약자 지원 업</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무·노선 검토자료로 변환하는 단계의 분리.</a:t>
            </a:r>
          </a:p>
        </p:txBody>
      </p:sp>
      <p:sp>
        <p:nvSpPr>
          <p:cNvPr id="10" name="">
            <a:extLst xmlns:a="http://schemas.openxmlformats.org/drawingml/2006/main">
              <a:ext uri="{FF2B5EF4-FFF2-40B4-BE49-F238E27FC236}">
                <a16:creationId xmlns:a16="http://schemas.microsoft.com/office/drawing/2014/main" id="{89FECC76-EF2D-4042-AC0E-083077DDCE4F}"/>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7BE8767C-72D3-407D-9308-83CC0FA5F46B}"/>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운영 노선 확대 실적과 안전·지역경제 효과의 구분. 통신</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자료의 대표성, 시간대별 집계 재현성, 실제 승차 수요와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의 차이를 확인한 후 TS 업무 검토시간·근거 누락률로 평</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가할 대상.</a:t>
            </a:r>
          </a:p>
        </p:txBody>
      </p:sp>
      <p:sp>
        <p:nvSpPr>
          <p:cNvPr id="12" name="">
            <a:extLst xmlns:a="http://schemas.openxmlformats.org/drawingml/2006/main">
              <a:ext uri="{FF2B5EF4-FFF2-40B4-BE49-F238E27FC236}">
                <a16:creationId xmlns:a16="http://schemas.microsoft.com/office/drawing/2014/main" id="{43C0F19C-25E4-429F-BDEF-04A6C1D6912E}"/>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B4C9368D-C2ED-4261-ADD8-2F4547188DBA}"/>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지역·시간·관할 코드 정규화 / 집계 통계와 현장 근거 대조</a:t>
            </a:r>
          </a:p>
        </p:txBody>
      </p:sp>
      <p:sp>
        <p:nvSpPr>
          <p:cNvPr id="14" name="">
            <a:extLst xmlns:a="http://schemas.openxmlformats.org/drawingml/2006/main">
              <a:ext uri="{FF2B5EF4-FFF2-40B4-BE49-F238E27FC236}">
                <a16:creationId xmlns:a16="http://schemas.microsoft.com/office/drawing/2014/main" id="{00C2014A-8D7A-44FF-AD1D-A29B0B086228}"/>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635213EA-EBA9-4EF7-A67A-4A6EE0985582}"/>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동일 지역·기간의 원천 집계 재현 및 담당 부서 매핑 대조</a:t>
            </a:r>
          </a:p>
        </p:txBody>
      </p:sp>
      <p:sp>
        <p:nvSpPr>
          <p:cNvPr id="16" name="">
            <a:extLst xmlns:a="http://schemas.openxmlformats.org/drawingml/2006/main">
              <a:ext uri="{FF2B5EF4-FFF2-40B4-BE49-F238E27FC236}">
                <a16:creationId xmlns:a16="http://schemas.microsoft.com/office/drawing/2014/main" id="{5F50E4F3-D227-4910-A585-36421FBB58A7}"/>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7B4C52D5-2AED-48DA-96FC-D82493F57CFE}"/>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수요 검토 소요시간 / 근거 누락률</a:t>
            </a:r>
          </a:p>
        </p:txBody>
      </p:sp>
      <p:sp>
        <p:nvSpPr>
          <p:cNvPr id="18" name="">
            <a:extLst xmlns:a="http://schemas.openxmlformats.org/drawingml/2006/main">
              <a:ext uri="{FF2B5EF4-FFF2-40B4-BE49-F238E27FC236}">
                <a16:creationId xmlns:a16="http://schemas.microsoft.com/office/drawing/2014/main" id="{D32F7794-2CFA-487A-82B5-C5673F74E468}"/>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운영기관 발표 · 생성형 AI 사례 아님 · 사고 감소·지역경제 인과효과 별도</a:t>
            </a:r>
          </a:p>
        </p:txBody>
      </p:sp>
    </p:spTree>
    <p:extLst>
      <p:ext uri="{BB962C8B-B14F-4D97-AF65-F5344CB8AC3E}">
        <p14:creationId xmlns:p14="http://schemas.microsoft.com/office/powerpoint/2010/main" val="606183800"/>
      </p:ext>
    </p:extLst>
  </p:cSld>
</p:sld>
</file>

<file path=ppt/slides/slide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C87B376-EA49-4E72-9C79-C3D0C7EED33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AX01 / As-Is → To-Be → 기대효과 → 확인 결과</a:t>
            </a:r>
          </a:p>
        </p:txBody>
      </p:sp>
      <p:sp>
        <p:nvSpPr>
          <p:cNvPr id="2" name="">
            <a:extLst xmlns:a="http://schemas.openxmlformats.org/drawingml/2006/main">
              <a:ext uri="{FF2B5EF4-FFF2-40B4-BE49-F238E27FC236}">
                <a16:creationId xmlns:a16="http://schemas.microsoft.com/office/drawing/2014/main" id="{163CC38A-188D-49E6-AFCB-5A3F241B673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서울 올빼미버스 · 기대와 결과</a:t>
            </a:r>
          </a:p>
        </p:txBody>
      </p:sp>
      <p:sp>
        <p:nvSpPr>
          <p:cNvPr id="3" name="">
            <a:extLst xmlns:a="http://schemas.openxmlformats.org/drawingml/2006/main">
              <a:ext uri="{FF2B5EF4-FFF2-40B4-BE49-F238E27FC236}">
                <a16:creationId xmlns:a16="http://schemas.microsoft.com/office/drawing/2014/main" id="{AD9CF2AC-23E8-4E85-BA34-4320EE6876A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4CC6DF4-3286-4AB3-9231-D50DA4E4499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101FEB18-4F54-4935-A794-CB426EE9858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03</a:t>
            </a:r>
          </a:p>
        </p:txBody>
      </p:sp>
      <p:sp>
        <p:nvSpPr>
          <p:cNvPr id="6" name="">
            <a:extLst xmlns:a="http://schemas.openxmlformats.org/drawingml/2006/main">
              <a:ext uri="{FF2B5EF4-FFF2-40B4-BE49-F238E27FC236}">
                <a16:creationId xmlns:a16="http://schemas.microsoft.com/office/drawing/2014/main" id="{A687CC10-0D17-4EC6-9D1F-FC09688EC8E9}"/>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25654E9E-1C0D-4A14-9996-736FEFD960A8}"/>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심야 이동 수요를 정류장·시간대별로 충분히 파악하기 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려워 노선 편성의 근거 부족</a:t>
            </a:r>
          </a:p>
        </p:txBody>
      </p:sp>
      <p:sp>
        <p:nvSpPr>
          <p:cNvPr id="8" name="">
            <a:extLst xmlns:a="http://schemas.openxmlformats.org/drawingml/2006/main">
              <a:ext uri="{FF2B5EF4-FFF2-40B4-BE49-F238E27FC236}">
                <a16:creationId xmlns:a16="http://schemas.microsoft.com/office/drawing/2014/main" id="{E90D95E0-F5EE-4581-8134-71030B60DAA7}"/>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32BDFBBF-DE96-437E-A4D4-29792705B87E}"/>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통신 이동량과 교통망을 결합한 수요 기반 심야버스 노선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선정·운영</a:t>
            </a:r>
          </a:p>
        </p:txBody>
      </p:sp>
      <p:sp>
        <p:nvSpPr>
          <p:cNvPr id="10" name="">
            <a:extLst xmlns:a="http://schemas.openxmlformats.org/drawingml/2006/main">
              <a:ext uri="{FF2B5EF4-FFF2-40B4-BE49-F238E27FC236}">
                <a16:creationId xmlns:a16="http://schemas.microsoft.com/office/drawing/2014/main" id="{190D4C3E-8E9E-4407-A13E-1712983678B6}"/>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EAC78631-2584-41FD-9859-DD9439B391E3}"/>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심야 이동 접근성 확대와 수요에 맞는 노선 배분</a:t>
            </a:r>
          </a:p>
        </p:txBody>
      </p:sp>
      <p:sp>
        <p:nvSpPr>
          <p:cNvPr id="12" name="">
            <a:extLst xmlns:a="http://schemas.openxmlformats.org/drawingml/2006/main">
              <a:ext uri="{FF2B5EF4-FFF2-40B4-BE49-F238E27FC236}">
                <a16:creationId xmlns:a16="http://schemas.microsoft.com/office/drawing/2014/main" id="{530EFBFD-0791-4920-9998-747A32527FB0}"/>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97C143C6-ABD6-4F02-9A4A-481223359543}"/>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서울시 발표에서 통신 자료 분석을 노선 계획에 반영하고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올빼미버스를 2개에서 9개 노선으로 확대</a:t>
            </a:r>
          </a:p>
        </p:txBody>
      </p:sp>
      <p:sp>
        <p:nvSpPr>
          <p:cNvPr id="14" name="">
            <a:extLst xmlns:a="http://schemas.openxmlformats.org/drawingml/2006/main">
              <a:ext uri="{FF2B5EF4-FFF2-40B4-BE49-F238E27FC236}">
                <a16:creationId xmlns:a16="http://schemas.microsoft.com/office/drawing/2014/main" id="{4C6A927B-B967-4B11-ADA6-CDEDBC9A246F}"/>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부분 성과 · 데이터 기반 노선 결정과 운영 확대는 확인; 접근성·혼잡 완화의 인과효과는 제시 근거만으로 분리 불가</a:t>
            </a:r>
          </a:p>
        </p:txBody>
      </p:sp>
      <p:sp>
        <p:nvSpPr>
          <p:cNvPr id="15" name="">
            <a:extLst xmlns:a="http://schemas.openxmlformats.org/drawingml/2006/main">
              <a:ext uri="{FF2B5EF4-FFF2-40B4-BE49-F238E27FC236}">
                <a16:creationId xmlns:a16="http://schemas.microsoft.com/office/drawing/2014/main" id="{F7C42EE8-DC11-4535-B754-7B380FB2DDBD}"/>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운영기관 결과 발표 · 서울시 운영 발표 기준. 생성형 AI 또는 사고 감소 사례로 해석 불가</a:t>
            </a:r>
          </a:p>
        </p:txBody>
      </p:sp>
    </p:spTree>
    <p:extLst>
      <p:ext uri="{BB962C8B-B14F-4D97-AF65-F5344CB8AC3E}">
        <p14:creationId xmlns:p14="http://schemas.microsoft.com/office/powerpoint/2010/main" val="728721403"/>
      </p:ext>
    </p:extLst>
  </p:cSld>
</p:sld>
</file>

<file path=ppt/slides/slide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38" name="">
            <a:extLst xmlns:a="http://schemas.openxmlformats.org/drawingml/2006/main">
              <a:ext uri="{FF2B5EF4-FFF2-40B4-BE49-F238E27FC236}">
                <a16:creationId xmlns:a16="http://schemas.microsoft.com/office/drawing/2014/main" id="{4151900C-FF82-46C5-9E0E-B823DCC54925}"/>
              </a:ext>
            </a:extLst>
          </p:cNvPr>
          <p:cNvCxnSpPr>
            <a:stCxn xmlns:a="http://schemas.openxmlformats.org/drawingml/2006/main" id="28" idx="0"/>
            <a:endCxn xmlns:a="http://schemas.openxmlformats.org/drawingml/2006/main" id="13" idx="2"/>
          </p:cNvCxnSpPr>
          <p:nvPr/>
        </p:nvCxnSpPr>
        <p:spPr>
          <a:xfrm xmlns:a="http://schemas.openxmlformats.org/drawingml/2006/main" flipV="1">
            <a:off x="10620375" y="2905125"/>
            <a:ext cx="0" cy="1371600"/>
          </a:xfrm>
          <a:prstGeom xmlns:a="http://schemas.openxmlformats.org/drawingml/2006/main" prst="straightConnector1">
            <a:avLst/>
          </a:prstGeom>
          <a:ln xmlns:a="http://schemas.openxmlformats.org/drawingml/2006/main" w="19050">
            <a:solidFill>
              <a:srgbClr val="697F86"/>
            </a:solidFill>
            <a:tailEnd type="arrow" w="med" len="med"/>
          </a:ln>
        </p:spPr>
      </p:cxnSp>
      <p:cxnSp>
        <p:nvCxnSpPr>
          <p:cNvPr id="37" name="">
            <a:extLst xmlns:a="http://schemas.openxmlformats.org/drawingml/2006/main">
              <a:ext uri="{FF2B5EF4-FFF2-40B4-BE49-F238E27FC236}">
                <a16:creationId xmlns:a16="http://schemas.microsoft.com/office/drawing/2014/main" id="{CA6CCD05-E12B-4099-A6CB-60F291190BB4}"/>
              </a:ext>
            </a:extLst>
          </p:cNvPr>
          <p:cNvCxnSpPr>
            <a:stCxn xmlns:a="http://schemas.openxmlformats.org/drawingml/2006/main" id="25" idx="3"/>
            <a:endCxn xmlns:a="http://schemas.openxmlformats.org/drawingml/2006/main" id="28" idx="1"/>
          </p:cNvCxnSpPr>
          <p:nvPr/>
        </p:nvCxnSpPr>
        <p:spPr>
          <a:xfrm xmlns:a="http://schemas.openxmlformats.org/drawingml/2006/main">
            <a:off x="9358313" y="48291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6" name="">
            <a:extLst xmlns:a="http://schemas.openxmlformats.org/drawingml/2006/main">
              <a:ext uri="{FF2B5EF4-FFF2-40B4-BE49-F238E27FC236}">
                <a16:creationId xmlns:a16="http://schemas.microsoft.com/office/drawing/2014/main" id="{62592706-4456-4202-B77C-30DB962E8011}"/>
              </a:ext>
            </a:extLst>
          </p:cNvPr>
          <p:cNvCxnSpPr>
            <a:stCxn xmlns:a="http://schemas.openxmlformats.org/drawingml/2006/main" id="22" idx="3"/>
            <a:endCxn xmlns:a="http://schemas.openxmlformats.org/drawingml/2006/main" id="25" idx="1"/>
          </p:cNvCxnSpPr>
          <p:nvPr/>
        </p:nvCxnSpPr>
        <p:spPr>
          <a:xfrm xmlns:a="http://schemas.openxmlformats.org/drawingml/2006/main">
            <a:off x="7096125" y="48291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5" name="">
            <a:extLst xmlns:a="http://schemas.openxmlformats.org/drawingml/2006/main">
              <a:ext uri="{FF2B5EF4-FFF2-40B4-BE49-F238E27FC236}">
                <a16:creationId xmlns:a16="http://schemas.microsoft.com/office/drawing/2014/main" id="{27AE7CC1-9ACD-426E-897E-119F250D0C51}"/>
              </a:ext>
            </a:extLst>
          </p:cNvPr>
          <p:cNvCxnSpPr>
            <a:stCxn xmlns:a="http://schemas.openxmlformats.org/drawingml/2006/main" id="19" idx="3"/>
            <a:endCxn xmlns:a="http://schemas.openxmlformats.org/drawingml/2006/main" id="22" idx="1"/>
          </p:cNvCxnSpPr>
          <p:nvPr/>
        </p:nvCxnSpPr>
        <p:spPr>
          <a:xfrm xmlns:a="http://schemas.openxmlformats.org/drawingml/2006/main">
            <a:off x="4833938" y="4829175"/>
            <a:ext cx="261937"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4" name="">
            <a:extLst xmlns:a="http://schemas.openxmlformats.org/drawingml/2006/main">
              <a:ext uri="{FF2B5EF4-FFF2-40B4-BE49-F238E27FC236}">
                <a16:creationId xmlns:a16="http://schemas.microsoft.com/office/drawing/2014/main" id="{4347EA45-0DC5-454F-9F70-183EED68199F}"/>
              </a:ext>
            </a:extLst>
          </p:cNvPr>
          <p:cNvCxnSpPr>
            <a:stCxn xmlns:a="http://schemas.openxmlformats.org/drawingml/2006/main" id="16" idx="3"/>
            <a:endCxn xmlns:a="http://schemas.openxmlformats.org/drawingml/2006/main" id="19"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3" name="">
            <a:extLst xmlns:a="http://schemas.openxmlformats.org/drawingml/2006/main">
              <a:ext uri="{FF2B5EF4-FFF2-40B4-BE49-F238E27FC236}">
                <a16:creationId xmlns:a16="http://schemas.microsoft.com/office/drawing/2014/main" id="{3DA05DDF-7467-4133-ADD4-B60A0AC60E63}"/>
              </a:ext>
            </a:extLst>
          </p:cNvPr>
          <p:cNvCxnSpPr>
            <a:stCxn xmlns:a="http://schemas.openxmlformats.org/drawingml/2006/main" id="13" idx="1"/>
            <a:endCxn xmlns:a="http://schemas.openxmlformats.org/drawingml/2006/main" id="16" idx="3"/>
          </p:cNvCxnSpPr>
          <p:nvPr/>
        </p:nvCxnSpPr>
        <p:spPr>
          <a:xfrm xmlns:a="http://schemas.openxmlformats.org/drawingml/2006/main" flipH="1">
            <a:off x="2571750" y="2352675"/>
            <a:ext cx="7048500" cy="24765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2" name="">
            <a:extLst xmlns:a="http://schemas.openxmlformats.org/drawingml/2006/main">
              <a:ext uri="{FF2B5EF4-FFF2-40B4-BE49-F238E27FC236}">
                <a16:creationId xmlns:a16="http://schemas.microsoft.com/office/drawing/2014/main" id="{7719C099-3AF2-49E1-9E9C-9EC58FCF110B}"/>
              </a:ext>
            </a:extLst>
          </p:cNvPr>
          <p:cNvCxnSpPr>
            <a:stCxn xmlns:a="http://schemas.openxmlformats.org/drawingml/2006/main" id="10" idx="3"/>
            <a:endCxn xmlns:a="http://schemas.openxmlformats.org/drawingml/2006/main" id="13" idx="1"/>
          </p:cNvCxnSpPr>
          <p:nvPr/>
        </p:nvCxnSpPr>
        <p:spPr>
          <a:xfrm xmlns:a="http://schemas.openxmlformats.org/drawingml/2006/main">
            <a:off x="7096125" y="2352675"/>
            <a:ext cx="2524125"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1" name="">
            <a:extLst xmlns:a="http://schemas.openxmlformats.org/drawingml/2006/main">
              <a:ext uri="{FF2B5EF4-FFF2-40B4-BE49-F238E27FC236}">
                <a16:creationId xmlns:a16="http://schemas.microsoft.com/office/drawing/2014/main" id="{27A19BD5-B4B9-418B-AC8A-90D5AF524E15}"/>
              </a:ext>
            </a:extLst>
          </p:cNvPr>
          <p:cNvCxnSpPr>
            <a:stCxn xmlns:a="http://schemas.openxmlformats.org/drawingml/2006/main" id="7" idx="3"/>
            <a:endCxn xmlns:a="http://schemas.openxmlformats.org/drawingml/2006/main" id="13" idx="1"/>
          </p:cNvCxnSpPr>
          <p:nvPr/>
        </p:nvCxnSpPr>
        <p:spPr>
          <a:xfrm xmlns:a="http://schemas.openxmlformats.org/drawingml/2006/main">
            <a:off x="2571750" y="2352675"/>
            <a:ext cx="70485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0" name="">
            <a:extLst xmlns:a="http://schemas.openxmlformats.org/drawingml/2006/main">
              <a:ext uri="{FF2B5EF4-FFF2-40B4-BE49-F238E27FC236}">
                <a16:creationId xmlns:a16="http://schemas.microsoft.com/office/drawing/2014/main" id="{2494C692-A04E-4C82-A558-682E74C861D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AX01 / 복수 자료 결합·분석·검토·평가</a:t>
            </a:r>
          </a:p>
        </p:txBody>
      </p:sp>
      <p:sp>
        <p:nvSpPr>
          <p:cNvPr id="2" name="">
            <a:extLst xmlns:a="http://schemas.openxmlformats.org/drawingml/2006/main">
              <a:ext uri="{FF2B5EF4-FFF2-40B4-BE49-F238E27FC236}">
                <a16:creationId xmlns:a16="http://schemas.microsoft.com/office/drawing/2014/main" id="{152E49BC-B448-4821-8FFA-D5D44EAE481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서울 올빼미버스 · 세부 서비스 구조</a:t>
            </a:r>
          </a:p>
        </p:txBody>
      </p:sp>
      <p:sp>
        <p:nvSpPr>
          <p:cNvPr id="3" name="">
            <a:extLst xmlns:a="http://schemas.openxmlformats.org/drawingml/2006/main">
              <a:ext uri="{FF2B5EF4-FFF2-40B4-BE49-F238E27FC236}">
                <a16:creationId xmlns:a16="http://schemas.microsoft.com/office/drawing/2014/main" id="{17797BD0-6141-414A-BC6E-8EB401E2C2F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6C2AE61-8AB5-4032-B9A9-8D2BA830952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D2F09C8-1CC0-46CF-AE67-232B3BEADA3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04</a:t>
            </a:r>
          </a:p>
        </p:txBody>
      </p:sp>
      <p:sp>
        <p:nvSpPr>
          <p:cNvPr id="6" name="">
            <a:extLst xmlns:a="http://schemas.openxmlformats.org/drawingml/2006/main">
              <a:ext uri="{FF2B5EF4-FFF2-40B4-BE49-F238E27FC236}">
                <a16:creationId xmlns:a16="http://schemas.microsoft.com/office/drawing/2014/main" id="{C54D6BD9-984E-4830-8416-D4BE786FF5A4}"/>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통신 이동 수요 → 시간·지역 분석 → 노선 선정 → 심야버스 운영</a:t>
            </a:r>
          </a:p>
        </p:txBody>
      </p:sp>
      <p:sp>
        <p:nvSpPr>
          <p:cNvPr id="7" name="">
            <a:extLst xmlns:a="http://schemas.openxmlformats.org/drawingml/2006/main">
              <a:ext uri="{FF2B5EF4-FFF2-40B4-BE49-F238E27FC236}">
                <a16:creationId xmlns:a16="http://schemas.microsoft.com/office/drawing/2014/main" id="{E080612E-26D9-416E-8326-8A48E5D7ABEE}"/>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6E67B15F-52AA-4AAF-B2B0-2C5EDCF03B80}"/>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FECDD653-04CF-4814-A256-A9346125E474}"/>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통신·노선 자료</a:t>
            </a:r>
          </a:p>
        </p:txBody>
      </p:sp>
      <p:sp>
        <p:nvSpPr>
          <p:cNvPr id="10" name="">
            <a:extLst xmlns:a="http://schemas.openxmlformats.org/drawingml/2006/main">
              <a:ext uri="{FF2B5EF4-FFF2-40B4-BE49-F238E27FC236}">
                <a16:creationId xmlns:a16="http://schemas.microsoft.com/office/drawing/2014/main" id="{62B0B47A-35E2-446F-AD65-6603F5F497E8}"/>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CA3BD92B-87A2-4C5A-8707-3493CBE1C279}"/>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2" name="">
            <a:extLst xmlns:a="http://schemas.openxmlformats.org/drawingml/2006/main">
              <a:ext uri="{FF2B5EF4-FFF2-40B4-BE49-F238E27FC236}">
                <a16:creationId xmlns:a16="http://schemas.microsoft.com/office/drawing/2014/main" id="{708BD787-31FD-4F7A-9845-3DAA8C7C093D}"/>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수요 집계 조회</a:t>
            </a:r>
          </a:p>
        </p:txBody>
      </p:sp>
      <p:sp>
        <p:nvSpPr>
          <p:cNvPr id="13" name="">
            <a:extLst xmlns:a="http://schemas.openxmlformats.org/drawingml/2006/main">
              <a:ext uri="{FF2B5EF4-FFF2-40B4-BE49-F238E27FC236}">
                <a16:creationId xmlns:a16="http://schemas.microsoft.com/office/drawing/2014/main" id="{FD051322-EC72-4AA6-8B56-ABD78D433D7F}"/>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3972E45A-497A-4987-8D6D-ACD93F45EAFA}"/>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5" name="">
            <a:extLst xmlns:a="http://schemas.openxmlformats.org/drawingml/2006/main">
              <a:ext uri="{FF2B5EF4-FFF2-40B4-BE49-F238E27FC236}">
                <a16:creationId xmlns:a16="http://schemas.microsoft.com/office/drawing/2014/main" id="{251DFA25-6742-426A-B879-82A024832FBA}"/>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공간 단위 정합화</a:t>
            </a:r>
          </a:p>
        </p:txBody>
      </p:sp>
      <p:sp>
        <p:nvSpPr>
          <p:cNvPr id="16" name="">
            <a:extLst xmlns:a="http://schemas.openxmlformats.org/drawingml/2006/main">
              <a:ext uri="{FF2B5EF4-FFF2-40B4-BE49-F238E27FC236}">
                <a16:creationId xmlns:a16="http://schemas.microsoft.com/office/drawing/2014/main" id="{C76E9D59-A1D0-40FC-95C3-B3F86E04411E}"/>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01B3D748-4BF7-4BA3-AE6F-E7BE85D2EB2C}"/>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8" name="">
            <a:extLst xmlns:a="http://schemas.openxmlformats.org/drawingml/2006/main">
              <a:ext uri="{FF2B5EF4-FFF2-40B4-BE49-F238E27FC236}">
                <a16:creationId xmlns:a16="http://schemas.microsoft.com/office/drawing/2014/main" id="{1ED64B1B-475F-4159-B700-2451D53D3A5B}"/>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노선 후보 분석</a:t>
            </a:r>
          </a:p>
        </p:txBody>
      </p:sp>
      <p:sp>
        <p:nvSpPr>
          <p:cNvPr id="19" name="">
            <a:extLst xmlns:a="http://schemas.openxmlformats.org/drawingml/2006/main">
              <a:ext uri="{FF2B5EF4-FFF2-40B4-BE49-F238E27FC236}">
                <a16:creationId xmlns:a16="http://schemas.microsoft.com/office/drawing/2014/main" id="{041228B8-7E56-4AC0-99D5-A7E9E1BC8E49}"/>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4823498F-7DB3-4A10-924C-66271502F771}"/>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21" name="">
            <a:extLst xmlns:a="http://schemas.openxmlformats.org/drawingml/2006/main">
              <a:ext uri="{FF2B5EF4-FFF2-40B4-BE49-F238E27FC236}">
                <a16:creationId xmlns:a16="http://schemas.microsoft.com/office/drawing/2014/main" id="{2F8CCB43-E9BC-4FEB-B69B-EDDE9E6B44E1}"/>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대표성·집계 검증</a:t>
            </a:r>
          </a:p>
        </p:txBody>
      </p:sp>
      <p:sp>
        <p:nvSpPr>
          <p:cNvPr id="22" name="">
            <a:extLst xmlns:a="http://schemas.openxmlformats.org/drawingml/2006/main">
              <a:ext uri="{FF2B5EF4-FFF2-40B4-BE49-F238E27FC236}">
                <a16:creationId xmlns:a16="http://schemas.microsoft.com/office/drawing/2014/main" id="{F58B935B-7607-441A-B87F-65B278CA2E11}"/>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7B0AA72A-488F-4D30-B47A-890C205F383C}"/>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4" name="">
            <a:extLst xmlns:a="http://schemas.openxmlformats.org/drawingml/2006/main">
              <a:ext uri="{FF2B5EF4-FFF2-40B4-BE49-F238E27FC236}">
                <a16:creationId xmlns:a16="http://schemas.microsoft.com/office/drawing/2014/main" id="{EBDD75F7-0D16-48D3-B2E6-772156F9A20F}"/>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교통정책 검토</a:t>
            </a:r>
          </a:p>
        </p:txBody>
      </p:sp>
      <p:sp>
        <p:nvSpPr>
          <p:cNvPr id="25" name="">
            <a:extLst xmlns:a="http://schemas.openxmlformats.org/drawingml/2006/main">
              <a:ext uri="{FF2B5EF4-FFF2-40B4-BE49-F238E27FC236}">
                <a16:creationId xmlns:a16="http://schemas.microsoft.com/office/drawing/2014/main" id="{F269DAC0-8E1C-440C-BEDC-8A07F1F753DB}"/>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C986EE85-23D1-4D21-BAAB-BB6818AB7A97}"/>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7" name="">
            <a:extLst xmlns:a="http://schemas.openxmlformats.org/drawingml/2006/main">
              <a:ext uri="{FF2B5EF4-FFF2-40B4-BE49-F238E27FC236}">
                <a16:creationId xmlns:a16="http://schemas.microsoft.com/office/drawing/2014/main" id="{1A41A966-494B-4162-A2E4-083CCE14E64F}"/>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노선 운영계획</a:t>
            </a:r>
          </a:p>
        </p:txBody>
      </p:sp>
      <p:sp>
        <p:nvSpPr>
          <p:cNvPr id="28" name="">
            <a:extLst xmlns:a="http://schemas.openxmlformats.org/drawingml/2006/main">
              <a:ext uri="{FF2B5EF4-FFF2-40B4-BE49-F238E27FC236}">
                <a16:creationId xmlns:a16="http://schemas.microsoft.com/office/drawing/2014/main" id="{7469E3E6-F1A7-477A-9D0C-CEFF61CC9DAD}"/>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F8C6F33A-12BD-4C58-B6E3-F12ACF0F8107}"/>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0" name="">
            <a:extLst xmlns:a="http://schemas.openxmlformats.org/drawingml/2006/main">
              <a:ext uri="{FF2B5EF4-FFF2-40B4-BE49-F238E27FC236}">
                <a16:creationId xmlns:a16="http://schemas.microsoft.com/office/drawing/2014/main" id="{6A79EC4A-B470-4926-8A1D-AC412B682080}"/>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운행 수요 비교</a:t>
            </a:r>
          </a:p>
        </p:txBody>
      </p:sp>
      <p:sp>
        <p:nvSpPr>
          <p:cNvPr id="39" name="">
            <a:extLst xmlns:a="http://schemas.openxmlformats.org/drawingml/2006/main">
              <a:ext uri="{FF2B5EF4-FFF2-40B4-BE49-F238E27FC236}">
                <a16:creationId xmlns:a16="http://schemas.microsoft.com/office/drawing/2014/main" id="{1F568982-8DA7-48D6-B6EC-7A8C0BA49166}"/>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971325940"/>
      </p:ext>
    </p:extLst>
  </p:cSld>
</p:sld>
</file>

<file path=ppt/slides/slide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0E7B4186-033C-4190-9BC9-4142E764189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AX01 / 논리 인터페이스·복구 설계</a:t>
            </a:r>
          </a:p>
        </p:txBody>
      </p:sp>
      <p:sp>
        <p:nvSpPr>
          <p:cNvPr id="2" name="">
            <a:extLst xmlns:a="http://schemas.openxmlformats.org/drawingml/2006/main">
              <a:ext uri="{FF2B5EF4-FFF2-40B4-BE49-F238E27FC236}">
                <a16:creationId xmlns:a16="http://schemas.microsoft.com/office/drawing/2014/main" id="{9F3330DC-572B-473B-B21B-DA6C6531718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서울 올빼미버스 · 데이터와 예외 처리</a:t>
            </a:r>
          </a:p>
        </p:txBody>
      </p:sp>
      <p:sp>
        <p:nvSpPr>
          <p:cNvPr id="3" name="">
            <a:extLst xmlns:a="http://schemas.openxmlformats.org/drawingml/2006/main">
              <a:ext uri="{FF2B5EF4-FFF2-40B4-BE49-F238E27FC236}">
                <a16:creationId xmlns:a16="http://schemas.microsoft.com/office/drawing/2014/main" id="{779E3C07-A529-48B3-BBEE-7204FAB7552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226302D-CBD3-41FF-B464-0344F00F6C6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5626E9C-2C95-4769-8EBB-4BF0B67EDE1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05</a:t>
            </a:r>
          </a:p>
        </p:txBody>
      </p:sp>
      <p:sp>
        <p:nvSpPr>
          <p:cNvPr id="6" name="">
            <a:extLst xmlns:a="http://schemas.openxmlformats.org/drawingml/2006/main">
              <a:ext uri="{FF2B5EF4-FFF2-40B4-BE49-F238E27FC236}">
                <a16:creationId xmlns:a16="http://schemas.microsoft.com/office/drawing/2014/main" id="{12F1377B-1366-43A6-8C47-971E240E9891}"/>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8A5848A3-612F-4304-A16E-79D40E753702}"/>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14D45575-EF01-4664-A831-7B0A744DDF1E}"/>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관측 자료</a:t>
            </a:r>
          </a:p>
        </p:txBody>
      </p:sp>
      <p:sp>
        <p:nvSpPr>
          <p:cNvPr id="9" name="">
            <a:extLst xmlns:a="http://schemas.openxmlformats.org/drawingml/2006/main">
              <a:ext uri="{FF2B5EF4-FFF2-40B4-BE49-F238E27FC236}">
                <a16:creationId xmlns:a16="http://schemas.microsoft.com/office/drawing/2014/main" id="{B21BCD94-ADAA-447E-9657-A91C94094902}"/>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수요·노선 자료</a:t>
            </a:r>
          </a:p>
        </p:txBody>
      </p:sp>
      <p:sp>
        <p:nvSpPr>
          <p:cNvPr id="10" name="">
            <a:extLst xmlns:a="http://schemas.openxmlformats.org/drawingml/2006/main">
              <a:ext uri="{FF2B5EF4-FFF2-40B4-BE49-F238E27FC236}">
                <a16:creationId xmlns:a16="http://schemas.microsoft.com/office/drawing/2014/main" id="{FEAD4508-A20D-4923-9677-E766E92531F7}"/>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A976E99-95EB-437E-8300-BA13C9F7B34F}"/>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비교 자료</a:t>
            </a:r>
          </a:p>
        </p:txBody>
      </p:sp>
      <p:sp>
        <p:nvSpPr>
          <p:cNvPr id="12" name="">
            <a:extLst xmlns:a="http://schemas.openxmlformats.org/drawingml/2006/main">
              <a:ext uri="{FF2B5EF4-FFF2-40B4-BE49-F238E27FC236}">
                <a16:creationId xmlns:a16="http://schemas.microsoft.com/office/drawing/2014/main" id="{1C50C08E-C1A6-4A33-A809-91229DF5C293}"/>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지역별 수요 분포</a:t>
            </a:r>
          </a:p>
        </p:txBody>
      </p:sp>
      <p:sp>
        <p:nvSpPr>
          <p:cNvPr id="13" name="">
            <a:extLst xmlns:a="http://schemas.openxmlformats.org/drawingml/2006/main">
              <a:ext uri="{FF2B5EF4-FFF2-40B4-BE49-F238E27FC236}">
                <a16:creationId xmlns:a16="http://schemas.microsoft.com/office/drawing/2014/main" id="{B5201B4B-2426-4B9A-B519-2DC92E42F5A4}"/>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19E7076-BAF4-4946-8EE1-CAA446DA3C2C}"/>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정합화 특징</a:t>
            </a:r>
          </a:p>
        </p:txBody>
      </p:sp>
      <p:sp>
        <p:nvSpPr>
          <p:cNvPr id="15" name="">
            <a:extLst xmlns:a="http://schemas.openxmlformats.org/drawingml/2006/main">
              <a:ext uri="{FF2B5EF4-FFF2-40B4-BE49-F238E27FC236}">
                <a16:creationId xmlns:a16="http://schemas.microsoft.com/office/drawing/2014/main" id="{EB0D73C4-7302-4218-AB58-DF8AC4BF3AE0}"/>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6" name="">
            <a:extLst xmlns:a="http://schemas.openxmlformats.org/drawingml/2006/main">
              <a:ext uri="{FF2B5EF4-FFF2-40B4-BE49-F238E27FC236}">
                <a16:creationId xmlns:a16="http://schemas.microsoft.com/office/drawing/2014/main" id="{957D285D-36CE-499E-8193-69F4C25A523C}"/>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5F6F724-FA17-499E-B335-FB12399ED960}"/>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예측·분류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결과</a:t>
            </a:r>
          </a:p>
        </p:txBody>
      </p:sp>
      <p:sp>
        <p:nvSpPr>
          <p:cNvPr id="18" name="">
            <a:extLst xmlns:a="http://schemas.openxmlformats.org/drawingml/2006/main">
              <a:ext uri="{FF2B5EF4-FFF2-40B4-BE49-F238E27FC236}">
                <a16:creationId xmlns:a16="http://schemas.microsoft.com/office/drawing/2014/main" id="{3B093DAF-3CC6-41CC-8C2A-C8FB11DFEE0E}"/>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노선 후보</a:t>
            </a:r>
          </a:p>
        </p:txBody>
      </p:sp>
      <p:sp>
        <p:nvSpPr>
          <p:cNvPr id="19" name="">
            <a:extLst xmlns:a="http://schemas.openxmlformats.org/drawingml/2006/main">
              <a:ext uri="{FF2B5EF4-FFF2-40B4-BE49-F238E27FC236}">
                <a16:creationId xmlns:a16="http://schemas.microsoft.com/office/drawing/2014/main" id="{5AE1267F-6E6D-4249-85CA-5B5CCDA709F9}"/>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937484D4-4C94-4412-A815-8102C6D03AFA}"/>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오차·편향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확인</a:t>
            </a:r>
          </a:p>
        </p:txBody>
      </p:sp>
      <p:sp>
        <p:nvSpPr>
          <p:cNvPr id="21" name="">
            <a:extLst xmlns:a="http://schemas.openxmlformats.org/drawingml/2006/main">
              <a:ext uri="{FF2B5EF4-FFF2-40B4-BE49-F238E27FC236}">
                <a16:creationId xmlns:a16="http://schemas.microsoft.com/office/drawing/2014/main" id="{C6DE95E3-6364-44FF-9BBB-A99BC698D653}"/>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노선 후보</a:t>
            </a:r>
          </a:p>
        </p:txBody>
      </p:sp>
      <p:sp>
        <p:nvSpPr>
          <p:cNvPr id="22" name="">
            <a:extLst xmlns:a="http://schemas.openxmlformats.org/drawingml/2006/main">
              <a:ext uri="{FF2B5EF4-FFF2-40B4-BE49-F238E27FC236}">
                <a16:creationId xmlns:a16="http://schemas.microsoft.com/office/drawing/2014/main" id="{B47A3B62-5569-49D0-B634-BA127F76EE34}"/>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62F390C8-EB0C-4D75-86F2-A867CF2780C6}"/>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적용 결과</a:t>
            </a:r>
          </a:p>
        </p:txBody>
      </p:sp>
      <p:sp>
        <p:nvSpPr>
          <p:cNvPr id="24" name="">
            <a:extLst xmlns:a="http://schemas.openxmlformats.org/drawingml/2006/main">
              <a:ext uri="{FF2B5EF4-FFF2-40B4-BE49-F238E27FC236}">
                <a16:creationId xmlns:a16="http://schemas.microsoft.com/office/drawing/2014/main" id="{D98D720C-4CFA-4F43-B97F-A74B781A5F81}"/>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운영 노선</a:t>
            </a:r>
          </a:p>
        </p:txBody>
      </p:sp>
      <p:sp>
        <p:nvSpPr>
          <p:cNvPr id="25" name="">
            <a:extLst xmlns:a="http://schemas.openxmlformats.org/drawingml/2006/main">
              <a:ext uri="{FF2B5EF4-FFF2-40B4-BE49-F238E27FC236}">
                <a16:creationId xmlns:a16="http://schemas.microsoft.com/office/drawing/2014/main" id="{A716A55E-204A-403E-957D-13BCED63892C}"/>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0299BA73-62E6-4961-88B9-3331E71DEDC6}"/>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지역별 통신 표본 비율 차이·관측기간 불일치</a:t>
            </a:r>
          </a:p>
        </p:txBody>
      </p:sp>
      <p:sp>
        <p:nvSpPr>
          <p:cNvPr id="27" name="">
            <a:extLst xmlns:a="http://schemas.openxmlformats.org/drawingml/2006/main">
              <a:ext uri="{FF2B5EF4-FFF2-40B4-BE49-F238E27FC236}">
                <a16:creationId xmlns:a16="http://schemas.microsoft.com/office/drawing/2014/main" id="{B898C615-A896-4700-96F2-15896F1BA147}"/>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68C1F484-C52F-4427-BB65-BB1B5810E71F}"/>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집계 단위·관측기간 대조</a:t>
            </a:r>
          </a:p>
        </p:txBody>
      </p:sp>
      <p:sp>
        <p:nvSpPr>
          <p:cNvPr id="29" name="">
            <a:extLst xmlns:a="http://schemas.openxmlformats.org/drawingml/2006/main">
              <a:ext uri="{FF2B5EF4-FFF2-40B4-BE49-F238E27FC236}">
                <a16:creationId xmlns:a16="http://schemas.microsoft.com/office/drawing/2014/main" id="{ABF9AD26-B7EF-4178-B5A0-99C0946AFB16}"/>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9799E6B6-B3B9-4902-B41C-5B65A9EE0582}"/>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운행 후 수요 차이를 차기 노선 검토에 반영</a:t>
            </a:r>
          </a:p>
        </p:txBody>
      </p:sp>
      <p:sp>
        <p:nvSpPr>
          <p:cNvPr id="31" name="">
            <a:extLst xmlns:a="http://schemas.openxmlformats.org/drawingml/2006/main">
              <a:ext uri="{FF2B5EF4-FFF2-40B4-BE49-F238E27FC236}">
                <a16:creationId xmlns:a16="http://schemas.microsoft.com/office/drawing/2014/main" id="{345F9DF4-2155-4A37-8AB6-4D64847D7EE2}"/>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31815E97-2A88-43DB-A8D5-234B5CAE6F71}"/>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지역·시간 단위 원천 집계 대사표와 노선 후보 선정 사유</a:t>
            </a:r>
          </a:p>
        </p:txBody>
      </p:sp>
    </p:spTree>
    <p:extLst>
      <p:ext uri="{BB962C8B-B14F-4D97-AF65-F5344CB8AC3E}">
        <p14:creationId xmlns:p14="http://schemas.microsoft.com/office/powerpoint/2010/main" val="1044270785"/>
      </p:ext>
    </p:extLst>
  </p:cSld>
</p:sld>
</file>

<file path=ppt/slides/slide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DAF6A04-2B5E-4019-97D4-14E0471C596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AX01 / CCK 비교·재현 시험 설계</a:t>
            </a:r>
          </a:p>
        </p:txBody>
      </p:sp>
      <p:sp>
        <p:nvSpPr>
          <p:cNvPr id="2" name="">
            <a:extLst xmlns:a="http://schemas.openxmlformats.org/drawingml/2006/main">
              <a:ext uri="{FF2B5EF4-FFF2-40B4-BE49-F238E27FC236}">
                <a16:creationId xmlns:a16="http://schemas.microsoft.com/office/drawing/2014/main" id="{5EE45E4E-762F-4F3C-831A-7DCCA6F87FF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서울 올빼미버스 · 벤치마킹</a:t>
            </a:r>
          </a:p>
        </p:txBody>
      </p:sp>
      <p:sp>
        <p:nvSpPr>
          <p:cNvPr id="3" name="">
            <a:extLst xmlns:a="http://schemas.openxmlformats.org/drawingml/2006/main">
              <a:ext uri="{FF2B5EF4-FFF2-40B4-BE49-F238E27FC236}">
                <a16:creationId xmlns:a16="http://schemas.microsoft.com/office/drawing/2014/main" id="{FDEB3A98-1B61-4EB5-8779-987D0521A42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BBF23B8-4DD8-473E-95EC-5A88C2AD840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7A22F49C-EC8D-406C-A103-F479FD43FD2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06</a:t>
            </a:r>
          </a:p>
        </p:txBody>
      </p:sp>
      <p:sp>
        <p:nvSpPr>
          <p:cNvPr id="6" name="">
            <a:extLst xmlns:a="http://schemas.openxmlformats.org/drawingml/2006/main">
              <a:ext uri="{FF2B5EF4-FFF2-40B4-BE49-F238E27FC236}">
                <a16:creationId xmlns:a16="http://schemas.microsoft.com/office/drawing/2014/main" id="{A757C49E-55CD-4F3B-ADE1-56A480D088DC}"/>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4EB997E0-3CEF-4DB0-BFB1-60E20A0EB3F2}"/>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통신 수요와 실제 노선의 결합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심야 시간·지역 단위의 수요 구분</a:t>
            </a:r>
          </a:p>
        </p:txBody>
      </p:sp>
      <p:sp>
        <p:nvSpPr>
          <p:cNvPr id="8" name="">
            <a:extLst xmlns:a="http://schemas.openxmlformats.org/drawingml/2006/main">
              <a:ext uri="{FF2B5EF4-FFF2-40B4-BE49-F238E27FC236}">
                <a16:creationId xmlns:a16="http://schemas.microsoft.com/office/drawing/2014/main" id="{E070B4A7-537E-4C7A-835D-EA0101F36439}"/>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67467D7A-EED8-4560-8EC9-7F15842ADE71}"/>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휴대전화 자료의 이용자 대표성 차이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노선 확대와 사고 감소의 인과관계 분리</a:t>
            </a:r>
          </a:p>
        </p:txBody>
      </p:sp>
      <p:sp>
        <p:nvSpPr>
          <p:cNvPr id="10" name="">
            <a:extLst xmlns:a="http://schemas.openxmlformats.org/drawingml/2006/main">
              <a:ext uri="{FF2B5EF4-FFF2-40B4-BE49-F238E27FC236}">
                <a16:creationId xmlns:a16="http://schemas.microsoft.com/office/drawing/2014/main" id="{9E8B98A5-8B43-43CC-B0E3-FE6E7E2CAFB1}"/>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960E8D4D-2601-4778-9010-00DFA26E9982}"/>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집계 단위·관측기간 대조</a:t>
            </a:r>
          </a:p>
        </p:txBody>
      </p:sp>
      <p:sp>
        <p:nvSpPr>
          <p:cNvPr id="12" name="">
            <a:extLst xmlns:a="http://schemas.openxmlformats.org/drawingml/2006/main">
              <a:ext uri="{FF2B5EF4-FFF2-40B4-BE49-F238E27FC236}">
                <a16:creationId xmlns:a16="http://schemas.microsoft.com/office/drawing/2014/main" id="{7ED8A1FA-9C66-4819-AB77-4C26EDAEBA64}"/>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7F628F44-6907-4FFA-A8E0-8A5555E344A6}"/>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심야 시간대별 이동 수요를 기존 노선과 대조해 미</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충족 구간 선정</a:t>
            </a:r>
          </a:p>
        </p:txBody>
      </p:sp>
      <p:sp>
        <p:nvSpPr>
          <p:cNvPr id="14" name="">
            <a:extLst xmlns:a="http://schemas.openxmlformats.org/drawingml/2006/main">
              <a:ext uri="{FF2B5EF4-FFF2-40B4-BE49-F238E27FC236}">
                <a16:creationId xmlns:a16="http://schemas.microsoft.com/office/drawing/2014/main" id="{FDA310B9-FADB-4523-86AD-CE61DCFDC37A}"/>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9DF052C3-6603-42FA-8D98-B9A60F60C7CF}"/>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지역별 통신 표본 비율 차이·관측기간 불일치</a:t>
            </a:r>
          </a:p>
        </p:txBody>
      </p:sp>
      <p:sp>
        <p:nvSpPr>
          <p:cNvPr id="16" name="">
            <a:extLst xmlns:a="http://schemas.openxmlformats.org/drawingml/2006/main">
              <a:ext uri="{FF2B5EF4-FFF2-40B4-BE49-F238E27FC236}">
                <a16:creationId xmlns:a16="http://schemas.microsoft.com/office/drawing/2014/main" id="{2B281AA7-CAF9-483B-96C4-881E48782EA0}"/>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B52AA55D-98D1-48DF-98BF-6CF1AE27AF54}"/>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지역·시간 단위 원천 집계 대사표와 노선 후보 선정</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 사유</a:t>
            </a:r>
          </a:p>
        </p:txBody>
      </p:sp>
    </p:spTree>
    <p:extLst>
      <p:ext uri="{BB962C8B-B14F-4D97-AF65-F5344CB8AC3E}">
        <p14:creationId xmlns:p14="http://schemas.microsoft.com/office/powerpoint/2010/main" val="2063357793"/>
      </p:ext>
    </p:extLst>
  </p:cSld>
</p:sld>
</file>

<file path=ppt/slides/slide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9B8D400-2A59-4BBE-BE04-654C4DB52F9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AX02 / 부분 성과 / 국내</a:t>
            </a:r>
          </a:p>
        </p:txBody>
      </p:sp>
      <p:sp>
        <p:nvSpPr>
          <p:cNvPr id="2" name="">
            <a:extLst xmlns:a="http://schemas.openxmlformats.org/drawingml/2006/main">
              <a:ext uri="{FF2B5EF4-FFF2-40B4-BE49-F238E27FC236}">
                <a16:creationId xmlns:a16="http://schemas.microsoft.com/office/drawing/2014/main" id="{B0B28795-9EA2-45AA-9383-6460451FF3C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CLOVA CareCall</a:t>
            </a:r>
          </a:p>
        </p:txBody>
      </p:sp>
      <p:sp>
        <p:nvSpPr>
          <p:cNvPr id="3" name="">
            <a:extLst xmlns:a="http://schemas.openxmlformats.org/drawingml/2006/main">
              <a:ext uri="{FF2B5EF4-FFF2-40B4-BE49-F238E27FC236}">
                <a16:creationId xmlns:a16="http://schemas.microsoft.com/office/drawing/2014/main" id="{3C0CB7E6-02F5-48DB-B778-E3FAFA286ED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ECD55DF-BAAB-4217-9364-69D3112DB6B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90D08BB-E91F-44C1-A320-D75A6B16430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07</a:t>
            </a:r>
          </a:p>
        </p:txBody>
      </p:sp>
      <p:sp>
        <p:nvSpPr>
          <p:cNvPr id="6" name="">
            <a:extLst xmlns:a="http://schemas.openxmlformats.org/drawingml/2006/main">
              <a:ext uri="{FF2B5EF4-FFF2-40B4-BE49-F238E27FC236}">
                <a16:creationId xmlns:a16="http://schemas.microsoft.com/office/drawing/2014/main" id="{BBAB4DC3-3959-4BC3-884D-E2C538C6A6DD}"/>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3B67B23A-8374-4EC7-A21A-DF14DA644727}"/>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자유 발화 중심의 안부전화와 복지 담당자의 후속 대응</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을 결합한 서비스. 통화 자체의 자동화보다 대상자의 상</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황을 파악해 필요한 확인·방문 업무로 인계하는 연결이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핵심.</a:t>
            </a:r>
          </a:p>
        </p:txBody>
      </p:sp>
      <p:sp>
        <p:nvSpPr>
          <p:cNvPr id="8" name="">
            <a:extLst xmlns:a="http://schemas.openxmlformats.org/drawingml/2006/main">
              <a:ext uri="{FF2B5EF4-FFF2-40B4-BE49-F238E27FC236}">
                <a16:creationId xmlns:a16="http://schemas.microsoft.com/office/drawing/2014/main" id="{80CE7E38-1027-4F07-9BEA-BA60FBC00492}"/>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35463EE3-6D08-422E-8DA9-3320B639218F}"/>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음성 대화 기록에서 상태와 확인할 내용을 정리하고 담</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당자가 대응 여부를 검토하는 흐름. TS 적용 설계에서는</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민원 발화를 신청 목적·대상·지역 등 필수 항목으로 정</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리한 뒤 사용자 확인과 상담원 인계를 구성.</a:t>
            </a:r>
          </a:p>
        </p:txBody>
      </p:sp>
      <p:sp>
        <p:nvSpPr>
          <p:cNvPr id="10" name="">
            <a:extLst xmlns:a="http://schemas.openxmlformats.org/drawingml/2006/main">
              <a:ext uri="{FF2B5EF4-FFF2-40B4-BE49-F238E27FC236}">
                <a16:creationId xmlns:a16="http://schemas.microsoft.com/office/drawing/2014/main" id="{4DAC2308-948D-44E1-BD5A-7403B3F31F12}"/>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235592AB-B7C5-4D3B-A48B-65C775144788}"/>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인터뷰에서 보고된 부담 완화와 임상·복지 성과의 구분.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소음·방언·고령 발화의 인식 오류, 위험 신호의 미탐, 상담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원이 실제 인계받았는지를 별도로 측정할 필요.</a:t>
            </a:r>
          </a:p>
        </p:txBody>
      </p:sp>
      <p:sp>
        <p:nvSpPr>
          <p:cNvPr id="12" name="">
            <a:extLst xmlns:a="http://schemas.openxmlformats.org/drawingml/2006/main">
              <a:ext uri="{FF2B5EF4-FFF2-40B4-BE49-F238E27FC236}">
                <a16:creationId xmlns:a16="http://schemas.microsoft.com/office/drawing/2014/main" id="{553E9C01-4E1C-4DBE-A36A-06BD7C72FDA4}"/>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ACB1BB97-14E9-4F4E-9883-E7C3CCBBB50E}"/>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한국어 음성 연계 / 발화 정리 / 필수 항목 검증 / 상담 전환</a:t>
            </a:r>
          </a:p>
        </p:txBody>
      </p:sp>
      <p:sp>
        <p:nvSpPr>
          <p:cNvPr id="14" name="">
            <a:extLst xmlns:a="http://schemas.openxmlformats.org/drawingml/2006/main">
              <a:ext uri="{FF2B5EF4-FFF2-40B4-BE49-F238E27FC236}">
                <a16:creationId xmlns:a16="http://schemas.microsoft.com/office/drawing/2014/main" id="{C455826C-6305-4ED9-BA51-44E3BD5311E1}"/>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120AC2AC-1C3A-4D78-ACD4-2AADF362A6D6}"/>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고령·소음·방언 표본의 필수 항목 정확도 및 상담 전환 성</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공률</a:t>
            </a:r>
          </a:p>
        </p:txBody>
      </p:sp>
      <p:sp>
        <p:nvSpPr>
          <p:cNvPr id="16" name="">
            <a:extLst xmlns:a="http://schemas.openxmlformats.org/drawingml/2006/main">
              <a:ext uri="{FF2B5EF4-FFF2-40B4-BE49-F238E27FC236}">
                <a16:creationId xmlns:a16="http://schemas.microsoft.com/office/drawing/2014/main" id="{AC2A380F-8055-473A-A4B6-DFB75AA496F3}"/>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BD85F473-C356-4605-96C2-1EE68766932A}"/>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서비스 도달률 / 발화 재입력률 / 집단별 완료시간</a:t>
            </a:r>
          </a:p>
        </p:txBody>
      </p:sp>
      <p:sp>
        <p:nvSpPr>
          <p:cNvPr id="18" name="">
            <a:extLst xmlns:a="http://schemas.openxmlformats.org/drawingml/2006/main">
              <a:ext uri="{FF2B5EF4-FFF2-40B4-BE49-F238E27FC236}">
                <a16:creationId xmlns:a16="http://schemas.microsoft.com/office/drawing/2014/main" id="{78A66936-B50B-4497-96A6-221254415900}"/>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소규모 질적 연구 · 부적절 발화 통제와 지자체별 요구 반영의 난점 · 임상 효과 근거 아님</a:t>
            </a:r>
          </a:p>
        </p:txBody>
      </p:sp>
    </p:spTree>
    <p:extLst>
      <p:ext uri="{BB962C8B-B14F-4D97-AF65-F5344CB8AC3E}">
        <p14:creationId xmlns:p14="http://schemas.microsoft.com/office/powerpoint/2010/main" val="1571142706"/>
      </p:ext>
    </p:extLst>
  </p:cSld>
</p:sld>
</file>

<file path=ppt/slides/slide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A71DE52-E6AA-4015-B5EC-A5CFB311A13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AX02 / As-Is → To-Be → 기대효과 → 확인 결과</a:t>
            </a:r>
          </a:p>
        </p:txBody>
      </p:sp>
      <p:sp>
        <p:nvSpPr>
          <p:cNvPr id="2" name="">
            <a:extLst xmlns:a="http://schemas.openxmlformats.org/drawingml/2006/main">
              <a:ext uri="{FF2B5EF4-FFF2-40B4-BE49-F238E27FC236}">
                <a16:creationId xmlns:a16="http://schemas.microsoft.com/office/drawing/2014/main" id="{87FCD0C3-CEAD-4633-9E68-35DAE884F8B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CLOVA CareCall · 기대와 결과</a:t>
            </a:r>
          </a:p>
        </p:txBody>
      </p:sp>
      <p:sp>
        <p:nvSpPr>
          <p:cNvPr id="3" name="">
            <a:extLst xmlns:a="http://schemas.openxmlformats.org/drawingml/2006/main">
              <a:ext uri="{FF2B5EF4-FFF2-40B4-BE49-F238E27FC236}">
                <a16:creationId xmlns:a16="http://schemas.microsoft.com/office/drawing/2014/main" id="{F05D4E60-F61A-4D0E-8D85-284C71FEC1F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AD99748-F7D0-46DA-8565-C5F0C71F239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FA76F75-94BB-4764-9A23-96173780027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08</a:t>
            </a:r>
          </a:p>
        </p:txBody>
      </p:sp>
      <p:sp>
        <p:nvSpPr>
          <p:cNvPr id="6" name="">
            <a:extLst xmlns:a="http://schemas.openxmlformats.org/drawingml/2006/main">
              <a:ext uri="{FF2B5EF4-FFF2-40B4-BE49-F238E27FC236}">
                <a16:creationId xmlns:a16="http://schemas.microsoft.com/office/drawing/2014/main" id="{F80F9DE0-4BEA-4F4C-931F-20AC28AEB4A3}"/>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BC76590F-A4C5-432F-9A88-17D631AF0BB1}"/>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복지 담당자의 반복 안부전화와 대상자 상태 파악에 인력·</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시간 소요</a:t>
            </a:r>
          </a:p>
        </p:txBody>
      </p:sp>
      <p:sp>
        <p:nvSpPr>
          <p:cNvPr id="8" name="">
            <a:extLst xmlns:a="http://schemas.openxmlformats.org/drawingml/2006/main">
              <a:ext uri="{FF2B5EF4-FFF2-40B4-BE49-F238E27FC236}">
                <a16:creationId xmlns:a16="http://schemas.microsoft.com/office/drawing/2014/main" id="{80CDE49A-F1D1-4486-88E5-0FB3BCD23555}"/>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47993E44-91D8-49FF-861F-E2A1D21159C0}"/>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LLM 기반 정기 전화로 자유 발화를 수집·요약하고 필요한</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대화를 복지 담당자에게 인계</a:t>
            </a:r>
          </a:p>
        </p:txBody>
      </p:sp>
      <p:sp>
        <p:nvSpPr>
          <p:cNvPr id="10" name="">
            <a:extLst xmlns:a="http://schemas.openxmlformats.org/drawingml/2006/main">
              <a:ext uri="{FF2B5EF4-FFF2-40B4-BE49-F238E27FC236}">
                <a16:creationId xmlns:a16="http://schemas.microsoft.com/office/drawing/2014/main" id="{2FEE4D40-6F6E-4D00-8344-2CB4550E7E71}"/>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4BD86D57-9777-40D6-8770-F31DE5756489}"/>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안부 확인 범위 확대와 담당자의 후속 조치 집중</a:t>
            </a:r>
          </a:p>
        </p:txBody>
      </p:sp>
      <p:sp>
        <p:nvSpPr>
          <p:cNvPr id="12" name="">
            <a:extLst xmlns:a="http://schemas.openxmlformats.org/drawingml/2006/main">
              <a:ext uri="{FF2B5EF4-FFF2-40B4-BE49-F238E27FC236}">
                <a16:creationId xmlns:a16="http://schemas.microsoft.com/office/drawing/2014/main" id="{297C4ECD-0117-4305-9329-FA7E22A778A3}"/>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2251B408-F3E3-4822-B039-3B1619D36223}"/>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개발사 질적 연구에서 담당자의 부담 완화·대상자 이해 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점 보고; 필수 질문 수집과 부적절 발화 대응의 어려움도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관찰</a:t>
            </a:r>
          </a:p>
        </p:txBody>
      </p:sp>
      <p:sp>
        <p:nvSpPr>
          <p:cNvPr id="14" name="">
            <a:extLst xmlns:a="http://schemas.openxmlformats.org/drawingml/2006/main">
              <a:ext uri="{FF2B5EF4-FFF2-40B4-BE49-F238E27FC236}">
                <a16:creationId xmlns:a16="http://schemas.microsoft.com/office/drawing/2014/main" id="{5635E2E9-DCD7-4DD0-9360-97DD4CBDE947}"/>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부분 성과 · 실무 지원 경험은 확인되나 표본이 작고 위험 대화·필수 항목 수집의 안정성 및 건강 효과는 미입증</a:t>
            </a:r>
          </a:p>
        </p:txBody>
      </p:sp>
      <p:sp>
        <p:nvSpPr>
          <p:cNvPr id="15" name="">
            <a:extLst xmlns:a="http://schemas.openxmlformats.org/drawingml/2006/main">
              <a:ext uri="{FF2B5EF4-FFF2-40B4-BE49-F238E27FC236}">
                <a16:creationId xmlns:a16="http://schemas.microsoft.com/office/drawing/2014/main" id="{27EF8BB8-AC86-4305-A06B-C33DA7ADFA79}"/>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개발사 공개 서비스·질적 연구 · 개발사 공개 질적 연구 기준. 임상 개선·전 지자체 운영 성과로 일반화 불가</a:t>
            </a:r>
          </a:p>
        </p:txBody>
      </p:sp>
    </p:spTree>
    <p:extLst>
      <p:ext uri="{BB962C8B-B14F-4D97-AF65-F5344CB8AC3E}">
        <p14:creationId xmlns:p14="http://schemas.microsoft.com/office/powerpoint/2010/main" val="1584571889"/>
      </p:ext>
    </p:extLst>
  </p:cSld>
</p:sld>
</file>

<file path=ppt/slides/slide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747B5893-D457-45EE-80A8-EB547C812416}"/>
              </a:ext>
            </a:extLst>
          </p:cNvPr>
          <p:cNvCxnSpPr>
            <a:stCxn xmlns:a="http://schemas.openxmlformats.org/drawingml/2006/main" id="31" idx="3"/>
            <a:endCxn xmlns:a="http://schemas.openxmlformats.org/drawingml/2006/main" id="34" idx="1"/>
          </p:cNvCxnSpPr>
          <p:nvPr/>
        </p:nvCxnSpPr>
        <p:spPr>
          <a:xfrm xmlns:a="http://schemas.openxmlformats.org/drawingml/2006/main">
            <a:off x="8604250" y="48291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5008CD41-A84E-4BE5-8170-4955287181CF}"/>
              </a:ext>
            </a:extLst>
          </p:cNvPr>
          <p:cNvCxnSpPr>
            <a:stCxn xmlns:a="http://schemas.openxmlformats.org/drawingml/2006/main" id="22" idx="1"/>
            <a:endCxn xmlns:a="http://schemas.openxmlformats.org/drawingml/2006/main" id="31" idx="3"/>
          </p:cNvCxnSpPr>
          <p:nvPr/>
        </p:nvCxnSpPr>
        <p:spPr>
          <a:xfrm xmlns:a="http://schemas.openxmlformats.org/drawingml/2006/main" flipH="1">
            <a:off x="8604250" y="2352675"/>
            <a:ext cx="133985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B9310516-6161-497D-BAC7-8117D5E3ED7A}"/>
              </a:ext>
            </a:extLst>
          </p:cNvPr>
          <p:cNvCxnSpPr>
            <a:stCxn xmlns:a="http://schemas.openxmlformats.org/drawingml/2006/main" id="19" idx="3"/>
            <a:endCxn xmlns:a="http://schemas.openxmlformats.org/drawingml/2006/main" id="22" idx="1"/>
          </p:cNvCxnSpPr>
          <p:nvPr/>
        </p:nvCxnSpPr>
        <p:spPr>
          <a:xfrm xmlns:a="http://schemas.openxmlformats.org/drawingml/2006/main">
            <a:off x="974598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CFF700F2-60E5-4FA3-8870-8217A17F583D}"/>
              </a:ext>
            </a:extLst>
          </p:cNvPr>
          <p:cNvCxnSpPr>
            <a:stCxn xmlns:a="http://schemas.openxmlformats.org/drawingml/2006/main" id="16" idx="3"/>
            <a:endCxn xmlns:a="http://schemas.openxmlformats.org/drawingml/2006/main" id="19" idx="1"/>
          </p:cNvCxnSpPr>
          <p:nvPr/>
        </p:nvCxnSpPr>
        <p:spPr>
          <a:xfrm xmlns:a="http://schemas.openxmlformats.org/drawingml/2006/main">
            <a:off x="787146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47128723-60F5-4D3D-AE62-F2F857711C6A}"/>
              </a:ext>
            </a:extLst>
          </p:cNvPr>
          <p:cNvCxnSpPr>
            <a:stCxn xmlns:a="http://schemas.openxmlformats.org/drawingml/2006/main" id="13" idx="3"/>
            <a:endCxn xmlns:a="http://schemas.openxmlformats.org/drawingml/2006/main" id="16" idx="1"/>
          </p:cNvCxnSpPr>
          <p:nvPr/>
        </p:nvCxnSpPr>
        <p:spPr>
          <a:xfrm xmlns:a="http://schemas.openxmlformats.org/drawingml/2006/main">
            <a:off x="599694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210EFDFC-A886-4AB3-BEDB-865E0EF94B8A}"/>
              </a:ext>
            </a:extLst>
          </p:cNvPr>
          <p:cNvCxnSpPr>
            <a:stCxn xmlns:a="http://schemas.openxmlformats.org/drawingml/2006/main" id="28" idx="0"/>
            <a:endCxn xmlns:a="http://schemas.openxmlformats.org/drawingml/2006/main" id="13" idx="2"/>
          </p:cNvCxnSpPr>
          <p:nvPr/>
        </p:nvCxnSpPr>
        <p:spPr>
          <a:xfrm xmlns:a="http://schemas.openxmlformats.org/drawingml/2006/main" flipV="1">
            <a:off x="4587875" y="2905125"/>
            <a:ext cx="570865"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F163F1C4-3BDF-4CA2-B35F-0BA4A36C6846}"/>
              </a:ext>
            </a:extLst>
          </p:cNvPr>
          <p:cNvCxnSpPr>
            <a:stCxn xmlns:a="http://schemas.openxmlformats.org/drawingml/2006/main" id="25" idx="3"/>
            <a:endCxn xmlns:a="http://schemas.openxmlformats.org/drawingml/2006/main" id="28" idx="1"/>
          </p:cNvCxnSpPr>
          <p:nvPr/>
        </p:nvCxnSpPr>
        <p:spPr>
          <a:xfrm xmlns:a="http://schemas.openxmlformats.org/drawingml/2006/main">
            <a:off x="2571750" y="48291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D3886CEC-3433-408B-B3EB-51EC267A1A30}"/>
              </a:ext>
            </a:extLst>
          </p:cNvPr>
          <p:cNvCxnSpPr>
            <a:stCxn xmlns:a="http://schemas.openxmlformats.org/drawingml/2006/main" id="10" idx="3"/>
            <a:endCxn xmlns:a="http://schemas.openxmlformats.org/drawingml/2006/main" id="13" idx="1"/>
          </p:cNvCxnSpPr>
          <p:nvPr/>
        </p:nvCxnSpPr>
        <p:spPr>
          <a:xfrm xmlns:a="http://schemas.openxmlformats.org/drawingml/2006/main">
            <a:off x="412242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7" name="">
            <a:extLst xmlns:a="http://schemas.openxmlformats.org/drawingml/2006/main">
              <a:ext uri="{FF2B5EF4-FFF2-40B4-BE49-F238E27FC236}">
                <a16:creationId xmlns:a16="http://schemas.microsoft.com/office/drawing/2014/main" id="{2736CC39-C76F-42CF-9704-85138D891B3D}"/>
              </a:ext>
            </a:extLst>
          </p:cNvPr>
          <p:cNvCxnSpPr>
            <a:stCxn xmlns:a="http://schemas.openxmlformats.org/drawingml/2006/main" id="7" idx="3"/>
            <a:endCxn xmlns:a="http://schemas.openxmlformats.org/drawingml/2006/main" id="10" idx="1"/>
          </p:cNvCxnSpPr>
          <p:nvPr/>
        </p:nvCxnSpPr>
        <p:spPr>
          <a:xfrm xmlns:a="http://schemas.openxmlformats.org/drawingml/2006/main">
            <a:off x="224790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1F108516-A07B-46D6-B3BE-1A9966F930B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AX02 / 입력 구조화·확인·업무시스템 처리</a:t>
            </a:r>
          </a:p>
        </p:txBody>
      </p:sp>
      <p:sp>
        <p:nvSpPr>
          <p:cNvPr id="2" name="">
            <a:extLst xmlns:a="http://schemas.openxmlformats.org/drawingml/2006/main">
              <a:ext uri="{FF2B5EF4-FFF2-40B4-BE49-F238E27FC236}">
                <a16:creationId xmlns:a16="http://schemas.microsoft.com/office/drawing/2014/main" id="{8137D962-A51D-4415-9EA0-7613C9A518D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CLOVA CareCall · 세부 서비스 구조</a:t>
            </a:r>
          </a:p>
        </p:txBody>
      </p:sp>
      <p:sp>
        <p:nvSpPr>
          <p:cNvPr id="3" name="">
            <a:extLst xmlns:a="http://schemas.openxmlformats.org/drawingml/2006/main">
              <a:ext uri="{FF2B5EF4-FFF2-40B4-BE49-F238E27FC236}">
                <a16:creationId xmlns:a16="http://schemas.microsoft.com/office/drawing/2014/main" id="{050947A2-1BE0-4309-BE4F-0FF4BAF4C07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72B2CF0-2E98-47F5-9F40-C64ED7A21A0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B0486F3-FEE5-4254-9574-1D381CA1963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09</a:t>
            </a:r>
          </a:p>
        </p:txBody>
      </p:sp>
      <p:sp>
        <p:nvSpPr>
          <p:cNvPr id="6" name="">
            <a:extLst xmlns:a="http://schemas.openxmlformats.org/drawingml/2006/main">
              <a:ext uri="{FF2B5EF4-FFF2-40B4-BE49-F238E27FC236}">
                <a16:creationId xmlns:a16="http://schemas.microsoft.com/office/drawing/2014/main" id="{99A29588-5F9E-44B5-9BE6-5F86EA99892E}"/>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안부전화 → LLM 대화 → 내역 열람·분석 → 복지 담당자 대응</a:t>
            </a:r>
          </a:p>
        </p:txBody>
      </p:sp>
      <p:sp>
        <p:nvSpPr>
          <p:cNvPr id="7" name="">
            <a:extLst xmlns:a="http://schemas.openxmlformats.org/drawingml/2006/main">
              <a:ext uri="{FF2B5EF4-FFF2-40B4-BE49-F238E27FC236}">
                <a16:creationId xmlns:a16="http://schemas.microsoft.com/office/drawing/2014/main" id="{8C3C8745-6A48-4791-BC6D-A524030D8865}"/>
              </a:ext>
            </a:extLst>
          </p:cNvPr>
          <p:cNvSpPr>
            <a:spLocks xmlns:a="http://schemas.openxmlformats.org/drawingml/2006/main" noGrp="1"/>
          </p:cNvSpPr>
          <p:nvPr/>
        </p:nvSpPr>
        <p:spPr>
          <a:xfrm xmlns:a="http://schemas.openxmlformats.org/drawingml/2006/main">
            <a:off x="5715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1D91BABB-1B24-4F64-A896-299D4110F27E}"/>
              </a:ext>
            </a:extLst>
          </p:cNvPr>
          <p:cNvSpPr>
            <a:spLocks xmlns:a="http://schemas.openxmlformats.org/drawingml/2006/main" noGrp="1"/>
          </p:cNvSpPr>
          <p:nvPr/>
        </p:nvSpPr>
        <p:spPr>
          <a:xfrm xmlns:a="http://schemas.openxmlformats.org/drawingml/2006/main">
            <a:off x="6667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D279A9A8-2B8D-4A84-9863-827B35CE279C}"/>
              </a:ext>
            </a:extLst>
          </p:cNvPr>
          <p:cNvSpPr>
            <a:spLocks xmlns:a="http://schemas.openxmlformats.org/drawingml/2006/main" noGrp="1"/>
          </p:cNvSpPr>
          <p:nvPr/>
        </p:nvSpPr>
        <p:spPr>
          <a:xfrm xmlns:a="http://schemas.openxmlformats.org/drawingml/2006/main">
            <a:off x="6667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안부전화 접점</a:t>
            </a:r>
          </a:p>
        </p:txBody>
      </p:sp>
      <p:sp>
        <p:nvSpPr>
          <p:cNvPr id="10" name="">
            <a:extLst xmlns:a="http://schemas.openxmlformats.org/drawingml/2006/main">
              <a:ext uri="{FF2B5EF4-FFF2-40B4-BE49-F238E27FC236}">
                <a16:creationId xmlns:a16="http://schemas.microsoft.com/office/drawing/2014/main" id="{4A4175FF-FE38-472C-937F-DB5BFF685394}"/>
              </a:ext>
            </a:extLst>
          </p:cNvPr>
          <p:cNvSpPr>
            <a:spLocks xmlns:a="http://schemas.openxmlformats.org/drawingml/2006/main" noGrp="1"/>
          </p:cNvSpPr>
          <p:nvPr/>
        </p:nvSpPr>
        <p:spPr>
          <a:xfrm xmlns:a="http://schemas.openxmlformats.org/drawingml/2006/main">
            <a:off x="244602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E63EA5ED-4662-436A-A6DD-45B096A4CB6E}"/>
              </a:ext>
            </a:extLst>
          </p:cNvPr>
          <p:cNvSpPr>
            <a:spLocks xmlns:a="http://schemas.openxmlformats.org/drawingml/2006/main" noGrp="1"/>
          </p:cNvSpPr>
          <p:nvPr/>
        </p:nvSpPr>
        <p:spPr>
          <a:xfrm xmlns:a="http://schemas.openxmlformats.org/drawingml/2006/main">
            <a:off x="254127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160495B9-13DA-4C88-A4C0-BF110FBDD14D}"/>
              </a:ext>
            </a:extLst>
          </p:cNvPr>
          <p:cNvSpPr>
            <a:spLocks xmlns:a="http://schemas.openxmlformats.org/drawingml/2006/main" noGrp="1"/>
          </p:cNvSpPr>
          <p:nvPr/>
        </p:nvSpPr>
        <p:spPr>
          <a:xfrm xmlns:a="http://schemas.openxmlformats.org/drawingml/2006/main">
            <a:off x="254127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대상·대화 맥락</a:t>
            </a:r>
          </a:p>
        </p:txBody>
      </p:sp>
      <p:sp>
        <p:nvSpPr>
          <p:cNvPr id="13" name="">
            <a:extLst xmlns:a="http://schemas.openxmlformats.org/drawingml/2006/main">
              <a:ext uri="{FF2B5EF4-FFF2-40B4-BE49-F238E27FC236}">
                <a16:creationId xmlns:a16="http://schemas.microsoft.com/office/drawing/2014/main" id="{A1A6B1E9-DDD3-4DE8-A1F3-4C379E94385F}"/>
              </a:ext>
            </a:extLst>
          </p:cNvPr>
          <p:cNvSpPr>
            <a:spLocks xmlns:a="http://schemas.openxmlformats.org/drawingml/2006/main" noGrp="1"/>
          </p:cNvSpPr>
          <p:nvPr/>
        </p:nvSpPr>
        <p:spPr>
          <a:xfrm xmlns:a="http://schemas.openxmlformats.org/drawingml/2006/main">
            <a:off x="432054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BEA7C16C-040B-45DA-9271-2A4B5EFB6BBD}"/>
              </a:ext>
            </a:extLst>
          </p:cNvPr>
          <p:cNvSpPr>
            <a:spLocks xmlns:a="http://schemas.openxmlformats.org/drawingml/2006/main" noGrp="1"/>
          </p:cNvSpPr>
          <p:nvPr/>
        </p:nvSpPr>
        <p:spPr>
          <a:xfrm xmlns:a="http://schemas.openxmlformats.org/drawingml/2006/main">
            <a:off x="441579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B944DF80-4DE6-414E-A51B-62EBC7824929}"/>
              </a:ext>
            </a:extLst>
          </p:cNvPr>
          <p:cNvSpPr>
            <a:spLocks xmlns:a="http://schemas.openxmlformats.org/drawingml/2006/main" noGrp="1"/>
          </p:cNvSpPr>
          <p:nvPr/>
        </p:nvSpPr>
        <p:spPr>
          <a:xfrm xmlns:a="http://schemas.openxmlformats.org/drawingml/2006/main">
            <a:off x="441579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대화·상태 요약</a:t>
            </a:r>
          </a:p>
        </p:txBody>
      </p:sp>
      <p:sp>
        <p:nvSpPr>
          <p:cNvPr id="16" name="">
            <a:extLst xmlns:a="http://schemas.openxmlformats.org/drawingml/2006/main">
              <a:ext uri="{FF2B5EF4-FFF2-40B4-BE49-F238E27FC236}">
                <a16:creationId xmlns:a16="http://schemas.microsoft.com/office/drawing/2014/main" id="{32E9A8EE-370C-4C9C-B05A-8B617405A889}"/>
              </a:ext>
            </a:extLst>
          </p:cNvPr>
          <p:cNvSpPr>
            <a:spLocks xmlns:a="http://schemas.openxmlformats.org/drawingml/2006/main" noGrp="1"/>
          </p:cNvSpPr>
          <p:nvPr/>
        </p:nvSpPr>
        <p:spPr>
          <a:xfrm xmlns:a="http://schemas.openxmlformats.org/drawingml/2006/main">
            <a:off x="6195060" y="18002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69DAC808-B7FE-4B18-A6D7-B32E425F783D}"/>
              </a:ext>
            </a:extLst>
          </p:cNvPr>
          <p:cNvSpPr>
            <a:spLocks xmlns:a="http://schemas.openxmlformats.org/drawingml/2006/main" noGrp="1"/>
          </p:cNvSpPr>
          <p:nvPr/>
        </p:nvSpPr>
        <p:spPr>
          <a:xfrm xmlns:a="http://schemas.openxmlformats.org/drawingml/2006/main">
            <a:off x="629031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009057D3-4FFF-49B3-9DE6-501A3221B32F}"/>
              </a:ext>
            </a:extLst>
          </p:cNvPr>
          <p:cNvSpPr>
            <a:spLocks xmlns:a="http://schemas.openxmlformats.org/drawingml/2006/main" noGrp="1"/>
          </p:cNvSpPr>
          <p:nvPr/>
        </p:nvSpPr>
        <p:spPr>
          <a:xfrm xmlns:a="http://schemas.openxmlformats.org/drawingml/2006/main">
            <a:off x="629031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위험 발화 확인</a:t>
            </a:r>
          </a:p>
        </p:txBody>
      </p:sp>
      <p:sp>
        <p:nvSpPr>
          <p:cNvPr id="19" name="">
            <a:extLst xmlns:a="http://schemas.openxmlformats.org/drawingml/2006/main">
              <a:ext uri="{FF2B5EF4-FFF2-40B4-BE49-F238E27FC236}">
                <a16:creationId xmlns:a16="http://schemas.microsoft.com/office/drawing/2014/main" id="{24EF02A8-1BAE-451A-8D98-526477808DA9}"/>
              </a:ext>
            </a:extLst>
          </p:cNvPr>
          <p:cNvSpPr>
            <a:spLocks xmlns:a="http://schemas.openxmlformats.org/drawingml/2006/main" noGrp="1"/>
          </p:cNvSpPr>
          <p:nvPr/>
        </p:nvSpPr>
        <p:spPr>
          <a:xfrm xmlns:a="http://schemas.openxmlformats.org/drawingml/2006/main">
            <a:off x="806958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64DFC9A2-1F90-40F7-AD1B-EC0FD94D6194}"/>
              </a:ext>
            </a:extLst>
          </p:cNvPr>
          <p:cNvSpPr>
            <a:spLocks xmlns:a="http://schemas.openxmlformats.org/drawingml/2006/main" noGrp="1"/>
          </p:cNvSpPr>
          <p:nvPr/>
        </p:nvSpPr>
        <p:spPr>
          <a:xfrm xmlns:a="http://schemas.openxmlformats.org/drawingml/2006/main">
            <a:off x="816483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1" name="">
            <a:extLst xmlns:a="http://schemas.openxmlformats.org/drawingml/2006/main">
              <a:ext uri="{FF2B5EF4-FFF2-40B4-BE49-F238E27FC236}">
                <a16:creationId xmlns:a16="http://schemas.microsoft.com/office/drawing/2014/main" id="{9748F4C3-D8A9-461F-8B46-96CE9A0620DF}"/>
              </a:ext>
            </a:extLst>
          </p:cNvPr>
          <p:cNvSpPr>
            <a:spLocks xmlns:a="http://schemas.openxmlformats.org/drawingml/2006/main" noGrp="1"/>
          </p:cNvSpPr>
          <p:nvPr/>
        </p:nvSpPr>
        <p:spPr>
          <a:xfrm xmlns:a="http://schemas.openxmlformats.org/drawingml/2006/main">
            <a:off x="816483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복지 담당 확인</a:t>
            </a:r>
          </a:p>
        </p:txBody>
      </p:sp>
      <p:sp>
        <p:nvSpPr>
          <p:cNvPr id="22" name="">
            <a:extLst xmlns:a="http://schemas.openxmlformats.org/drawingml/2006/main">
              <a:ext uri="{FF2B5EF4-FFF2-40B4-BE49-F238E27FC236}">
                <a16:creationId xmlns:a16="http://schemas.microsoft.com/office/drawing/2014/main" id="{6725A9F4-3E5E-41E6-8884-46D70B858490}"/>
              </a:ext>
            </a:extLst>
          </p:cNvPr>
          <p:cNvSpPr>
            <a:spLocks xmlns:a="http://schemas.openxmlformats.org/drawingml/2006/main" noGrp="1"/>
          </p:cNvSpPr>
          <p:nvPr/>
        </p:nvSpPr>
        <p:spPr>
          <a:xfrm xmlns:a="http://schemas.openxmlformats.org/drawingml/2006/main">
            <a:off x="99441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3E8ACF71-2F2F-459A-9702-A8294D281293}"/>
              </a:ext>
            </a:extLst>
          </p:cNvPr>
          <p:cNvSpPr>
            <a:spLocks xmlns:a="http://schemas.openxmlformats.org/drawingml/2006/main" noGrp="1"/>
          </p:cNvSpPr>
          <p:nvPr/>
        </p:nvSpPr>
        <p:spPr>
          <a:xfrm xmlns:a="http://schemas.openxmlformats.org/drawingml/2006/main">
            <a:off x="100393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4" name="">
            <a:extLst xmlns:a="http://schemas.openxmlformats.org/drawingml/2006/main">
              <a:ext uri="{FF2B5EF4-FFF2-40B4-BE49-F238E27FC236}">
                <a16:creationId xmlns:a16="http://schemas.microsoft.com/office/drawing/2014/main" id="{46D32C7D-70BD-4F5C-8207-D31BB241CD9D}"/>
              </a:ext>
            </a:extLst>
          </p:cNvPr>
          <p:cNvSpPr>
            <a:spLocks xmlns:a="http://schemas.openxmlformats.org/drawingml/2006/main" noGrp="1"/>
          </p:cNvSpPr>
          <p:nvPr/>
        </p:nvSpPr>
        <p:spPr>
          <a:xfrm xmlns:a="http://schemas.openxmlformats.org/drawingml/2006/main">
            <a:off x="100393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상담·방문 인계</a:t>
            </a:r>
          </a:p>
        </p:txBody>
      </p:sp>
      <p:sp>
        <p:nvSpPr>
          <p:cNvPr id="25" name="">
            <a:extLst xmlns:a="http://schemas.openxmlformats.org/drawingml/2006/main">
              <a:ext uri="{FF2B5EF4-FFF2-40B4-BE49-F238E27FC236}">
                <a16:creationId xmlns:a16="http://schemas.microsoft.com/office/drawing/2014/main" id="{AED4B575-04DE-4491-A0C1-B28A8C8E9174}"/>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9A46F12D-523F-4E67-BEF9-EBBF428CE8F1}"/>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7" name="">
            <a:extLst xmlns:a="http://schemas.openxmlformats.org/drawingml/2006/main">
              <a:ext uri="{FF2B5EF4-FFF2-40B4-BE49-F238E27FC236}">
                <a16:creationId xmlns:a16="http://schemas.microsoft.com/office/drawing/2014/main" id="{448B4810-2276-4FAD-84B1-C53339EE2411}"/>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동의받은 대화</a:t>
            </a:r>
          </a:p>
        </p:txBody>
      </p:sp>
      <p:sp>
        <p:nvSpPr>
          <p:cNvPr id="28" name="">
            <a:extLst xmlns:a="http://schemas.openxmlformats.org/drawingml/2006/main">
              <a:ext uri="{FF2B5EF4-FFF2-40B4-BE49-F238E27FC236}">
                <a16:creationId xmlns:a16="http://schemas.microsoft.com/office/drawing/2014/main" id="{FF32FD6F-49D3-4C24-89D5-545DC8E3FE01}"/>
              </a:ext>
            </a:extLst>
          </p:cNvPr>
          <p:cNvSpPr>
            <a:spLocks xmlns:a="http://schemas.openxmlformats.org/drawingml/2006/main" noGrp="1"/>
          </p:cNvSpPr>
          <p:nvPr/>
        </p:nvSpPr>
        <p:spPr>
          <a:xfrm xmlns:a="http://schemas.openxmlformats.org/drawingml/2006/main">
            <a:off x="35877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70ED75F2-090D-461E-9267-08C73F2F614E}"/>
              </a:ext>
            </a:extLst>
          </p:cNvPr>
          <p:cNvSpPr>
            <a:spLocks xmlns:a="http://schemas.openxmlformats.org/drawingml/2006/main" noGrp="1"/>
          </p:cNvSpPr>
          <p:nvPr/>
        </p:nvSpPr>
        <p:spPr>
          <a:xfrm xmlns:a="http://schemas.openxmlformats.org/drawingml/2006/main">
            <a:off x="36830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7218101C-2C25-4383-98FE-CBDBEFC060E2}"/>
              </a:ext>
            </a:extLst>
          </p:cNvPr>
          <p:cNvSpPr>
            <a:spLocks xmlns:a="http://schemas.openxmlformats.org/drawingml/2006/main" noGrp="1"/>
          </p:cNvSpPr>
          <p:nvPr/>
        </p:nvSpPr>
        <p:spPr>
          <a:xfrm xmlns:a="http://schemas.openxmlformats.org/drawingml/2006/main">
            <a:off x="36830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이전 대응 조회</a:t>
            </a:r>
          </a:p>
        </p:txBody>
      </p:sp>
      <p:sp>
        <p:nvSpPr>
          <p:cNvPr id="31" name="">
            <a:extLst xmlns:a="http://schemas.openxmlformats.org/drawingml/2006/main">
              <a:ext uri="{FF2B5EF4-FFF2-40B4-BE49-F238E27FC236}">
                <a16:creationId xmlns:a16="http://schemas.microsoft.com/office/drawing/2014/main" id="{63497678-6216-4D23-8053-919CC8964316}"/>
              </a:ext>
            </a:extLst>
          </p:cNvPr>
          <p:cNvSpPr>
            <a:spLocks xmlns:a="http://schemas.openxmlformats.org/drawingml/2006/main" noGrp="1"/>
          </p:cNvSpPr>
          <p:nvPr/>
        </p:nvSpPr>
        <p:spPr>
          <a:xfrm xmlns:a="http://schemas.openxmlformats.org/drawingml/2006/main">
            <a:off x="66040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198BF4F1-1F47-4D5E-AC4E-43229DDF1A79}"/>
              </a:ext>
            </a:extLst>
          </p:cNvPr>
          <p:cNvSpPr>
            <a:spLocks xmlns:a="http://schemas.openxmlformats.org/drawingml/2006/main" noGrp="1"/>
          </p:cNvSpPr>
          <p:nvPr/>
        </p:nvSpPr>
        <p:spPr>
          <a:xfrm xmlns:a="http://schemas.openxmlformats.org/drawingml/2006/main">
            <a:off x="66992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81003CC3-4BA3-4FBC-821B-6CADEA67A6BF}"/>
              </a:ext>
            </a:extLst>
          </p:cNvPr>
          <p:cNvSpPr>
            <a:spLocks xmlns:a="http://schemas.openxmlformats.org/drawingml/2006/main" noGrp="1"/>
          </p:cNvSpPr>
          <p:nvPr/>
        </p:nvSpPr>
        <p:spPr>
          <a:xfrm xmlns:a="http://schemas.openxmlformats.org/drawingml/2006/main">
            <a:off x="66992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대화·대응 이력</a:t>
            </a:r>
          </a:p>
        </p:txBody>
      </p:sp>
      <p:sp>
        <p:nvSpPr>
          <p:cNvPr id="34" name="">
            <a:extLst xmlns:a="http://schemas.openxmlformats.org/drawingml/2006/main">
              <a:ext uri="{FF2B5EF4-FFF2-40B4-BE49-F238E27FC236}">
                <a16:creationId xmlns:a16="http://schemas.microsoft.com/office/drawing/2014/main" id="{9DF294E5-5FC2-4DA1-B5AC-FFD8CF88E4B9}"/>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47741D7B-CC92-4C7D-8AAF-4CF11AB2FF9C}"/>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5E466FB4-75B9-4DFB-94BD-FB5184F6632B}"/>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조치 완료 추적</a:t>
            </a:r>
          </a:p>
        </p:txBody>
      </p:sp>
      <p:sp>
        <p:nvSpPr>
          <p:cNvPr id="46" name="">
            <a:extLst xmlns:a="http://schemas.openxmlformats.org/drawingml/2006/main">
              <a:ext uri="{FF2B5EF4-FFF2-40B4-BE49-F238E27FC236}">
                <a16:creationId xmlns:a16="http://schemas.microsoft.com/office/drawing/2014/main" id="{D7E10A3A-4740-4D23-BF0D-7C92939FB74E}"/>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678893910"/>
      </p:ext>
    </p:extLst>
  </p:cSld>
</p:sld>
</file>

<file path=ppt/slides/slide1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651CA7DD-1D88-49C8-83F1-408DB9B35A9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AX02 / 논리 인터페이스·복구 설계</a:t>
            </a:r>
          </a:p>
        </p:txBody>
      </p:sp>
      <p:sp>
        <p:nvSpPr>
          <p:cNvPr id="2" name="">
            <a:extLst xmlns:a="http://schemas.openxmlformats.org/drawingml/2006/main">
              <a:ext uri="{FF2B5EF4-FFF2-40B4-BE49-F238E27FC236}">
                <a16:creationId xmlns:a16="http://schemas.microsoft.com/office/drawing/2014/main" id="{614E2523-5ED4-40FA-B99E-52A1D00BB8E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CLOVA CareCall · 데이터와 예외 처리</a:t>
            </a:r>
          </a:p>
        </p:txBody>
      </p:sp>
      <p:sp>
        <p:nvSpPr>
          <p:cNvPr id="3" name="">
            <a:extLst xmlns:a="http://schemas.openxmlformats.org/drawingml/2006/main">
              <a:ext uri="{FF2B5EF4-FFF2-40B4-BE49-F238E27FC236}">
                <a16:creationId xmlns:a16="http://schemas.microsoft.com/office/drawing/2014/main" id="{4F679E8D-29C0-44DA-8EA8-38ADFB4F9B0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59E5AD3-B4D2-440D-930A-9E7AE53DAD7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7C626966-EE98-42E8-A9A3-A0572BB408B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a:t>
            </a:r>
          </a:p>
        </p:txBody>
      </p:sp>
      <p:sp>
        <p:nvSpPr>
          <p:cNvPr id="6" name="">
            <a:extLst xmlns:a="http://schemas.openxmlformats.org/drawingml/2006/main">
              <a:ext uri="{FF2B5EF4-FFF2-40B4-BE49-F238E27FC236}">
                <a16:creationId xmlns:a16="http://schemas.microsoft.com/office/drawing/2014/main" id="{0F0004CC-F323-487B-BE98-B767B1F76832}"/>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28A09B10-28C8-42E5-871B-598E39BC79AC}"/>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C4103F68-344B-4444-9852-D89F6FC62A18}"/>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a:t>
            </a:r>
          </a:p>
        </p:txBody>
      </p:sp>
      <p:sp>
        <p:nvSpPr>
          <p:cNvPr id="9" name="">
            <a:extLst xmlns:a="http://schemas.openxmlformats.org/drawingml/2006/main">
              <a:ext uri="{FF2B5EF4-FFF2-40B4-BE49-F238E27FC236}">
                <a16:creationId xmlns:a16="http://schemas.microsoft.com/office/drawing/2014/main" id="{F6598374-D80D-4F81-AC11-C11627A7E1F6}"/>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전화 대상·대화 문맥의 구분</a:t>
            </a:r>
          </a:p>
        </p:txBody>
      </p:sp>
      <p:sp>
        <p:nvSpPr>
          <p:cNvPr id="10" name="">
            <a:extLst xmlns:a="http://schemas.openxmlformats.org/drawingml/2006/main">
              <a:ext uri="{FF2B5EF4-FFF2-40B4-BE49-F238E27FC236}">
                <a16:creationId xmlns:a16="http://schemas.microsoft.com/office/drawing/2014/main" id="{9BB31051-AFA3-4744-8CAC-E3586351632A}"/>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AAA064C-4A91-4437-B2B1-53ABB5DFCB4D}"/>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업무 필드</a:t>
            </a:r>
          </a:p>
        </p:txBody>
      </p:sp>
      <p:sp>
        <p:nvSpPr>
          <p:cNvPr id="12" name="">
            <a:extLst xmlns:a="http://schemas.openxmlformats.org/drawingml/2006/main">
              <a:ext uri="{FF2B5EF4-FFF2-40B4-BE49-F238E27FC236}">
                <a16:creationId xmlns:a16="http://schemas.microsoft.com/office/drawing/2014/main" id="{2CEFC76E-6045-4AD8-9193-1502F64F4408}"/>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동의받은 발화</a:t>
            </a:r>
          </a:p>
        </p:txBody>
      </p:sp>
      <p:sp>
        <p:nvSpPr>
          <p:cNvPr id="13" name="">
            <a:extLst xmlns:a="http://schemas.openxmlformats.org/drawingml/2006/main">
              <a:ext uri="{FF2B5EF4-FFF2-40B4-BE49-F238E27FC236}">
                <a16:creationId xmlns:a16="http://schemas.microsoft.com/office/drawing/2014/main" id="{B4D3F836-005D-490B-93C3-FF93A9B5B054}"/>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F72A610-87D1-4005-A0FC-C50F48964AD5}"/>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원천 상태</a:t>
            </a:r>
          </a:p>
        </p:txBody>
      </p:sp>
      <p:sp>
        <p:nvSpPr>
          <p:cNvPr id="15" name="">
            <a:extLst xmlns:a="http://schemas.openxmlformats.org/drawingml/2006/main">
              <a:ext uri="{FF2B5EF4-FFF2-40B4-BE49-F238E27FC236}">
                <a16:creationId xmlns:a16="http://schemas.microsoft.com/office/drawing/2014/main" id="{7D078D7C-6AAA-4DBE-904F-99EB33BFF0A6}"/>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대화·후속 대응 기록</a:t>
            </a:r>
          </a:p>
        </p:txBody>
      </p:sp>
      <p:sp>
        <p:nvSpPr>
          <p:cNvPr id="16" name="">
            <a:extLst xmlns:a="http://schemas.openxmlformats.org/drawingml/2006/main">
              <a:ext uri="{FF2B5EF4-FFF2-40B4-BE49-F238E27FC236}">
                <a16:creationId xmlns:a16="http://schemas.microsoft.com/office/drawing/2014/main" id="{8BC06B5B-AD25-4845-8319-CCAF9EF515B4}"/>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69AAC9E-1F37-4717-8D5C-17C0DC802C4F}"/>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구조화 초안</a:t>
            </a:r>
          </a:p>
        </p:txBody>
      </p:sp>
      <p:sp>
        <p:nvSpPr>
          <p:cNvPr id="18" name="">
            <a:extLst xmlns:a="http://schemas.openxmlformats.org/drawingml/2006/main">
              <a:ext uri="{FF2B5EF4-FFF2-40B4-BE49-F238E27FC236}">
                <a16:creationId xmlns:a16="http://schemas.microsoft.com/office/drawing/2014/main" id="{2A2FA5CC-277E-4C7D-8B67-B753DA5ECC23}"/>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확인 필요 대상</a:t>
            </a:r>
          </a:p>
        </p:txBody>
      </p:sp>
      <p:sp>
        <p:nvSpPr>
          <p:cNvPr id="19" name="">
            <a:extLst xmlns:a="http://schemas.openxmlformats.org/drawingml/2006/main">
              <a:ext uri="{FF2B5EF4-FFF2-40B4-BE49-F238E27FC236}">
                <a16:creationId xmlns:a16="http://schemas.microsoft.com/office/drawing/2014/main" id="{1B24D9F6-80C4-4B10-8FB3-50C80ED3FF6C}"/>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628E553-29AC-4F20-9B36-D1FA66CB6B4F}"/>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승인·실행</a:t>
            </a:r>
          </a:p>
        </p:txBody>
      </p:sp>
      <p:sp>
        <p:nvSpPr>
          <p:cNvPr id="21" name="">
            <a:extLst xmlns:a="http://schemas.openxmlformats.org/drawingml/2006/main">
              <a:ext uri="{FF2B5EF4-FFF2-40B4-BE49-F238E27FC236}">
                <a16:creationId xmlns:a16="http://schemas.microsoft.com/office/drawing/2014/main" id="{2733003E-F1B3-4657-9671-3FAC2092E6B8}"/>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담당자 대응 기록</a:t>
            </a:r>
          </a:p>
        </p:txBody>
      </p:sp>
      <p:sp>
        <p:nvSpPr>
          <p:cNvPr id="22" name="">
            <a:extLst xmlns:a="http://schemas.openxmlformats.org/drawingml/2006/main">
              <a:ext uri="{FF2B5EF4-FFF2-40B4-BE49-F238E27FC236}">
                <a16:creationId xmlns:a16="http://schemas.microsoft.com/office/drawing/2014/main" id="{1BA07B0F-3A3A-4651-91D5-D85012200AF3}"/>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E0EC1AD-49E5-4C46-A48A-517F98365CFD}"/>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처리 상태</a:t>
            </a:r>
          </a:p>
        </p:txBody>
      </p:sp>
      <p:sp>
        <p:nvSpPr>
          <p:cNvPr id="24" name="">
            <a:extLst xmlns:a="http://schemas.openxmlformats.org/drawingml/2006/main">
              <a:ext uri="{FF2B5EF4-FFF2-40B4-BE49-F238E27FC236}">
                <a16:creationId xmlns:a16="http://schemas.microsoft.com/office/drawing/2014/main" id="{5A89BA32-0D9B-4DF1-97AE-3B22C116F8EE}"/>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담당자 대응 기록</a:t>
            </a:r>
          </a:p>
        </p:txBody>
      </p:sp>
      <p:sp>
        <p:nvSpPr>
          <p:cNvPr id="25" name="">
            <a:extLst xmlns:a="http://schemas.openxmlformats.org/drawingml/2006/main">
              <a:ext uri="{FF2B5EF4-FFF2-40B4-BE49-F238E27FC236}">
                <a16:creationId xmlns:a16="http://schemas.microsoft.com/office/drawing/2014/main" id="{87C554C2-3A3E-43BE-905C-CBDCBAC0178F}"/>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5B220A3D-10D9-406A-902F-B47CA44B7F19}"/>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방언·침묵·통화 중단·위험 발화의 부정문</a:t>
            </a:r>
          </a:p>
        </p:txBody>
      </p:sp>
      <p:sp>
        <p:nvSpPr>
          <p:cNvPr id="27" name="">
            <a:extLst xmlns:a="http://schemas.openxmlformats.org/drawingml/2006/main">
              <a:ext uri="{FF2B5EF4-FFF2-40B4-BE49-F238E27FC236}">
                <a16:creationId xmlns:a16="http://schemas.microsoft.com/office/drawing/2014/main" id="{6B64949E-E493-4AF8-BC56-B5C4D9E426E8}"/>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C8B215A8-47C3-4B43-92AA-BA0B0BE727AE}"/>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위험 신호의 사람 확인·상담 인계</a:t>
            </a:r>
          </a:p>
        </p:txBody>
      </p:sp>
      <p:sp>
        <p:nvSpPr>
          <p:cNvPr id="29" name="">
            <a:extLst xmlns:a="http://schemas.openxmlformats.org/drawingml/2006/main">
              <a:ext uri="{FF2B5EF4-FFF2-40B4-BE49-F238E27FC236}">
                <a16:creationId xmlns:a16="http://schemas.microsoft.com/office/drawing/2014/main" id="{F9F78DD6-5E33-4B6E-A20F-BDB4A6D8284E}"/>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BC5F884B-AE09-4E61-AA42-DC2E81564E3B}"/>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오인식·부적절 발화와 실제 대응 결과 검토</a:t>
            </a:r>
          </a:p>
        </p:txBody>
      </p:sp>
      <p:sp>
        <p:nvSpPr>
          <p:cNvPr id="31" name="">
            <a:extLst xmlns:a="http://schemas.openxmlformats.org/drawingml/2006/main">
              <a:ext uri="{FF2B5EF4-FFF2-40B4-BE49-F238E27FC236}">
                <a16:creationId xmlns:a16="http://schemas.microsoft.com/office/drawing/2014/main" id="{2D23520A-AFE5-437E-88E6-16A40C3AC275}"/>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E21BBB75-4E36-45EB-884E-793F24131BB5}"/>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 발화 대비 상태·위험 신호 추출표와 상담 인계 수신 기</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록</a:t>
            </a:r>
          </a:p>
        </p:txBody>
      </p:sp>
    </p:spTree>
    <p:extLst>
      <p:ext uri="{BB962C8B-B14F-4D97-AF65-F5344CB8AC3E}">
        <p14:creationId xmlns:p14="http://schemas.microsoft.com/office/powerpoint/2010/main" val="899691398"/>
      </p:ext>
    </p:extLst>
  </p:cSld>
</p:sld>
</file>

<file path=ppt/slides/slide1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1E2E3BF-ACDC-4B47-9F5D-E354A4F929F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AX02 / CCK 비교·재현 시험 설계</a:t>
            </a:r>
          </a:p>
        </p:txBody>
      </p:sp>
      <p:sp>
        <p:nvSpPr>
          <p:cNvPr id="2" name="">
            <a:extLst xmlns:a="http://schemas.openxmlformats.org/drawingml/2006/main">
              <a:ext uri="{FF2B5EF4-FFF2-40B4-BE49-F238E27FC236}">
                <a16:creationId xmlns:a16="http://schemas.microsoft.com/office/drawing/2014/main" id="{EF98676B-C466-4142-A4FC-E909F125989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CLOVA CareCall · 벤치마킹</a:t>
            </a:r>
          </a:p>
        </p:txBody>
      </p:sp>
      <p:sp>
        <p:nvSpPr>
          <p:cNvPr id="3" name="">
            <a:extLst xmlns:a="http://schemas.openxmlformats.org/drawingml/2006/main">
              <a:ext uri="{FF2B5EF4-FFF2-40B4-BE49-F238E27FC236}">
                <a16:creationId xmlns:a16="http://schemas.microsoft.com/office/drawing/2014/main" id="{13F06A1E-C5E7-4703-8C12-9D0EB7EAC55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EEA615C-880F-4F72-81DA-FBED9360541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A3E7C5F-264B-4247-AD24-4F29A6474AF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a:t>
            </a:r>
          </a:p>
        </p:txBody>
      </p:sp>
      <p:sp>
        <p:nvSpPr>
          <p:cNvPr id="6" name="">
            <a:extLst xmlns:a="http://schemas.openxmlformats.org/drawingml/2006/main">
              <a:ext uri="{FF2B5EF4-FFF2-40B4-BE49-F238E27FC236}">
                <a16:creationId xmlns:a16="http://schemas.microsoft.com/office/drawing/2014/main" id="{6E31745C-6D79-4ED7-8B82-237F4DA19FF1}"/>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B2C18406-0050-4487-BC98-8537EDC0F2AA}"/>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전화 접점과 담당자 후속 대응의 결합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이용자 상황을 반영한 대화</a:t>
            </a:r>
          </a:p>
        </p:txBody>
      </p:sp>
      <p:sp>
        <p:nvSpPr>
          <p:cNvPr id="8" name="">
            <a:extLst xmlns:a="http://schemas.openxmlformats.org/drawingml/2006/main">
              <a:ext uri="{FF2B5EF4-FFF2-40B4-BE49-F238E27FC236}">
                <a16:creationId xmlns:a16="http://schemas.microsoft.com/office/drawing/2014/main" id="{7FF5A504-BF8F-4EFC-8EF0-0423CEEBE0EA}"/>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05EF0685-3B56-4F45-A47D-6DB95D6C21E7}"/>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위험 발화의 오해·미탐 가능성</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대화 종료와 실제 복지 조치의 혼동</a:t>
            </a:r>
          </a:p>
        </p:txBody>
      </p:sp>
      <p:sp>
        <p:nvSpPr>
          <p:cNvPr id="10" name="">
            <a:extLst xmlns:a="http://schemas.openxmlformats.org/drawingml/2006/main">
              <a:ext uri="{FF2B5EF4-FFF2-40B4-BE49-F238E27FC236}">
                <a16:creationId xmlns:a16="http://schemas.microsoft.com/office/drawing/2014/main" id="{DCF6B014-BE30-4E2A-AB5F-A3C3D9E95BF6}"/>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E38F7E2F-78AC-41F1-BB32-BB9D0B7AD695}"/>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위험 신호의 사람 확인·상담 인계</a:t>
            </a:r>
          </a:p>
        </p:txBody>
      </p:sp>
      <p:sp>
        <p:nvSpPr>
          <p:cNvPr id="12" name="">
            <a:extLst xmlns:a="http://schemas.openxmlformats.org/drawingml/2006/main">
              <a:ext uri="{FF2B5EF4-FFF2-40B4-BE49-F238E27FC236}">
                <a16:creationId xmlns:a16="http://schemas.microsoft.com/office/drawing/2014/main" id="{695C30F6-6B7F-4751-AF7C-9EB78F55DC5F}"/>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20430FC7-914D-4740-9C21-32CB1900490E}"/>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통화에서 식사·수면·불편 사항을 파악하고 담당자</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가 후속 확인</a:t>
            </a:r>
          </a:p>
        </p:txBody>
      </p:sp>
      <p:sp>
        <p:nvSpPr>
          <p:cNvPr id="14" name="">
            <a:extLst xmlns:a="http://schemas.openxmlformats.org/drawingml/2006/main">
              <a:ext uri="{FF2B5EF4-FFF2-40B4-BE49-F238E27FC236}">
                <a16:creationId xmlns:a16="http://schemas.microsoft.com/office/drawing/2014/main" id="{88D6C209-34F3-4839-B9A3-51225793B568}"/>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98CB6A55-21C2-4AFD-A181-864EEF6600BB}"/>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방언·침묵·통화 중단·위험 발화의 부정문</a:t>
            </a:r>
          </a:p>
        </p:txBody>
      </p:sp>
      <p:sp>
        <p:nvSpPr>
          <p:cNvPr id="16" name="">
            <a:extLst xmlns:a="http://schemas.openxmlformats.org/drawingml/2006/main">
              <a:ext uri="{FF2B5EF4-FFF2-40B4-BE49-F238E27FC236}">
                <a16:creationId xmlns:a16="http://schemas.microsoft.com/office/drawing/2014/main" id="{C9B4F444-6859-425F-A95D-8FD5A801A69E}"/>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53F1977F-534A-46A0-9F94-693802276775}"/>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원 발화 대비 상태·위험 신호 추출표와 상담 인계 </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수신 기록</a:t>
            </a:r>
          </a:p>
        </p:txBody>
      </p:sp>
    </p:spTree>
    <p:extLst>
      <p:ext uri="{BB962C8B-B14F-4D97-AF65-F5344CB8AC3E}">
        <p14:creationId xmlns:p14="http://schemas.microsoft.com/office/powerpoint/2010/main" val="1079114426"/>
      </p:ext>
    </p:extLst>
  </p:cSld>
</p:sld>
</file>

<file path=ppt/slides/slide1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745AC61-1360-4130-8129-93E721A044F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AX03 / 실패 확인 / 국내</a:t>
            </a:r>
          </a:p>
        </p:txBody>
      </p:sp>
      <p:sp>
        <p:nvSpPr>
          <p:cNvPr id="2" name="">
            <a:extLst xmlns:a="http://schemas.openxmlformats.org/drawingml/2006/main">
              <a:ext uri="{FF2B5EF4-FFF2-40B4-BE49-F238E27FC236}">
                <a16:creationId xmlns:a16="http://schemas.microsoft.com/office/drawing/2014/main" id="{47FEB568-30C5-40D3-9A4A-103DB0EBB45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이루다 개인정보 처리</a:t>
            </a:r>
          </a:p>
        </p:txBody>
      </p:sp>
      <p:sp>
        <p:nvSpPr>
          <p:cNvPr id="3" name="">
            <a:extLst xmlns:a="http://schemas.openxmlformats.org/drawingml/2006/main">
              <a:ext uri="{FF2B5EF4-FFF2-40B4-BE49-F238E27FC236}">
                <a16:creationId xmlns:a16="http://schemas.microsoft.com/office/drawing/2014/main" id="{5ED3ECEA-1DC0-4C35-9F76-7A12D4551AB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C8BB86B-EA1D-4C59-A487-536EA58A838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F796ECA-CFE9-4696-BA0F-304A8CAD61D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a:t>
            </a:r>
          </a:p>
        </p:txBody>
      </p:sp>
      <p:sp>
        <p:nvSpPr>
          <p:cNvPr id="6" name="">
            <a:extLst xmlns:a="http://schemas.openxmlformats.org/drawingml/2006/main">
              <a:ext uri="{FF2B5EF4-FFF2-40B4-BE49-F238E27FC236}">
                <a16:creationId xmlns:a16="http://schemas.microsoft.com/office/drawing/2014/main" id="{9A55F790-19DE-4248-901A-40C1E67B8D3D}"/>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189C4F8D-8EBF-4B0A-8198-F0144759A583}"/>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다른 서비스에서 수집한 대화를 AI 학습·운영에 활용하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는 과정의 개인정보 통제 실패 사례. 자료를 보유한다는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사실과 해당 목적의 AI 이용 권한이 일치하지 않는 문제.</a:t>
            </a:r>
          </a:p>
        </p:txBody>
      </p:sp>
      <p:sp>
        <p:nvSpPr>
          <p:cNvPr id="8" name="">
            <a:extLst xmlns:a="http://schemas.openxmlformats.org/drawingml/2006/main">
              <a:ext uri="{FF2B5EF4-FFF2-40B4-BE49-F238E27FC236}">
                <a16:creationId xmlns:a16="http://schemas.microsoft.com/office/drawing/2014/main" id="{FA01E877-B887-4864-AA31-DBBE4FD5CB0A}"/>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31BDD405-A706-47FB-808C-2A445B5754CE}"/>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 수집 목적·동의 범위·보유기간을 데이터에 연결하고,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학습용·검색용·출력용 경로마다 허용 여부를 판정하는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CCK 재발 방지 설계. 삭제 요청은 원본뿐 아니라 색인·</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캐시·복제본까지 추적하는 구조.</a:t>
            </a:r>
          </a:p>
        </p:txBody>
      </p:sp>
      <p:sp>
        <p:nvSpPr>
          <p:cNvPr id="10" name="">
            <a:extLst xmlns:a="http://schemas.openxmlformats.org/drawingml/2006/main">
              <a:ext uri="{FF2B5EF4-FFF2-40B4-BE49-F238E27FC236}">
                <a16:creationId xmlns:a16="http://schemas.microsoft.com/office/drawing/2014/main" id="{114D6A4A-55D4-4065-A1D1-CF26673AF2D5}"/>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48326D1F-D510-4907-A6C9-F0B0C455727A}"/>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인사·민원 데이터의 연결 시 업무 권한과 AI 재사용 목</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적을 별도 속성으로 관리할 근거. 민감정보를 포함한 실제</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사용자 데이터를 시험에 노출하지 않고 비허용 목적·회수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상황을 합성 자료로 재현하는 검수.</a:t>
            </a:r>
          </a:p>
        </p:txBody>
      </p:sp>
      <p:sp>
        <p:nvSpPr>
          <p:cNvPr id="12" name="">
            <a:extLst xmlns:a="http://schemas.openxmlformats.org/drawingml/2006/main">
              <a:ext uri="{FF2B5EF4-FFF2-40B4-BE49-F238E27FC236}">
                <a16:creationId xmlns:a16="http://schemas.microsoft.com/office/drawing/2014/main" id="{60D1A47D-F1A3-45CA-947E-DA896DD465C9}"/>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73D0A26D-56A8-489F-9456-6E56E10D82A6}"/>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수집 목적 태그 / 학습·검색·출력별 정책 / 삭제·회수 전파</a:t>
            </a:r>
          </a:p>
        </p:txBody>
      </p:sp>
      <p:sp>
        <p:nvSpPr>
          <p:cNvPr id="14" name="">
            <a:extLst xmlns:a="http://schemas.openxmlformats.org/drawingml/2006/main">
              <a:ext uri="{FF2B5EF4-FFF2-40B4-BE49-F238E27FC236}">
                <a16:creationId xmlns:a16="http://schemas.microsoft.com/office/drawing/2014/main" id="{DA257C3F-59B5-421A-A822-12C5C74230FC}"/>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7FDCDD53-4EF4-4CEC-B320-FD65460CEF55}"/>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목적 외 입력 거부·권한 회수 후 검색 및 캐시 노출 차단</a:t>
            </a:r>
          </a:p>
        </p:txBody>
      </p:sp>
      <p:sp>
        <p:nvSpPr>
          <p:cNvPr id="16" name="">
            <a:extLst xmlns:a="http://schemas.openxmlformats.org/drawingml/2006/main">
              <a:ext uri="{FF2B5EF4-FFF2-40B4-BE49-F238E27FC236}">
                <a16:creationId xmlns:a16="http://schemas.microsoft.com/office/drawing/2014/main" id="{92C9AD0B-6339-4786-B088-F4410CF807CA}"/>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472FB23C-01CC-455E-95CF-055414020151}"/>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필수 거부셋 노출 건수 / 삭제 전파 지연</a:t>
            </a:r>
          </a:p>
        </p:txBody>
      </p:sp>
      <p:sp>
        <p:nvSpPr>
          <p:cNvPr id="18" name="">
            <a:extLst xmlns:a="http://schemas.openxmlformats.org/drawingml/2006/main">
              <a:ext uri="{FF2B5EF4-FFF2-40B4-BE49-F238E27FC236}">
                <a16:creationId xmlns:a16="http://schemas.microsoft.com/office/drawing/2014/main" id="{32DDDBB2-484B-4D40-9641-B5E2AE5AB938}"/>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2021년 조사 대상 행위 기준 · 후속 서비스 전체에 대한 평가 아님</a:t>
            </a:r>
          </a:p>
        </p:txBody>
      </p:sp>
    </p:spTree>
    <p:extLst>
      <p:ext uri="{BB962C8B-B14F-4D97-AF65-F5344CB8AC3E}">
        <p14:creationId xmlns:p14="http://schemas.microsoft.com/office/powerpoint/2010/main" val="1925395213"/>
      </p:ext>
    </p:extLst>
  </p:cSld>
</p:sld>
</file>

<file path=ppt/slides/slide1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C55EA5F-1A60-4FB3-9B9B-2112CB088FC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AX03 / As-Is → To-Be → 기대효과 → 확인 결과</a:t>
            </a:r>
          </a:p>
        </p:txBody>
      </p:sp>
      <p:sp>
        <p:nvSpPr>
          <p:cNvPr id="2" name="">
            <a:extLst xmlns:a="http://schemas.openxmlformats.org/drawingml/2006/main">
              <a:ext uri="{FF2B5EF4-FFF2-40B4-BE49-F238E27FC236}">
                <a16:creationId xmlns:a16="http://schemas.microsoft.com/office/drawing/2014/main" id="{4B5EAB6D-7E94-434D-995B-16335414E54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이루다 개인정보 처리 · 기대와 결과</a:t>
            </a:r>
          </a:p>
        </p:txBody>
      </p:sp>
      <p:sp>
        <p:nvSpPr>
          <p:cNvPr id="3" name="">
            <a:extLst xmlns:a="http://schemas.openxmlformats.org/drawingml/2006/main">
              <a:ext uri="{FF2B5EF4-FFF2-40B4-BE49-F238E27FC236}">
                <a16:creationId xmlns:a16="http://schemas.microsoft.com/office/drawing/2014/main" id="{059AADBE-E4B0-46AE-8A93-2D3B964A62B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5C20346-A6FB-44A3-BBE0-D54CB5AEE85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16E862C3-D2F6-435D-9A1F-4C8C4B898B9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a:t>
            </a:r>
          </a:p>
        </p:txBody>
      </p:sp>
      <p:sp>
        <p:nvSpPr>
          <p:cNvPr id="6" name="">
            <a:extLst xmlns:a="http://schemas.openxmlformats.org/drawingml/2006/main">
              <a:ext uri="{FF2B5EF4-FFF2-40B4-BE49-F238E27FC236}">
                <a16:creationId xmlns:a16="http://schemas.microsoft.com/office/drawing/2014/main" id="{6ABC62A9-D0A6-4BE5-B0D8-3579B91D0886}"/>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D8534F05-1D23-4E5E-9BBD-AD753F51CAAB}"/>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다른 앱에서 수집한 사적 대화가 원 수집 목적·동의 범위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에 묶여 있음</a:t>
            </a:r>
          </a:p>
        </p:txBody>
      </p:sp>
      <p:sp>
        <p:nvSpPr>
          <p:cNvPr id="8" name="">
            <a:extLst xmlns:a="http://schemas.openxmlformats.org/drawingml/2006/main">
              <a:ext uri="{FF2B5EF4-FFF2-40B4-BE49-F238E27FC236}">
                <a16:creationId xmlns:a16="http://schemas.microsoft.com/office/drawing/2014/main" id="{334E9F3F-A269-4362-A9F8-509897E75B85}"/>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A569F7F5-2C1D-4BEF-91C7-099C3B7DEFAC}"/>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대규모 대화문장으로 사람 같은 챗봇 학습·응답 서비스를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제공하려는 사업 목표</a:t>
            </a:r>
          </a:p>
        </p:txBody>
      </p:sp>
      <p:sp>
        <p:nvSpPr>
          <p:cNvPr id="10" name="">
            <a:extLst xmlns:a="http://schemas.openxmlformats.org/drawingml/2006/main">
              <a:ext uri="{FF2B5EF4-FFF2-40B4-BE49-F238E27FC236}">
                <a16:creationId xmlns:a16="http://schemas.microsoft.com/office/drawing/2014/main" id="{B3F5EAD7-4B74-49D0-88DB-2E8C812A9C65}"/>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A3AF87D8-517B-4B8C-AE08-16BF193BD554}"/>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자연스러운 대화와 챗봇 이용 확대</a:t>
            </a:r>
          </a:p>
        </p:txBody>
      </p:sp>
      <p:sp>
        <p:nvSpPr>
          <p:cNvPr id="12" name="">
            <a:extLst xmlns:a="http://schemas.openxmlformats.org/drawingml/2006/main">
              <a:ext uri="{FF2B5EF4-FFF2-40B4-BE49-F238E27FC236}">
                <a16:creationId xmlns:a16="http://schemas.microsoft.com/office/drawing/2014/main" id="{1F6CDA5D-A7D5-498C-A3E4-F385FFD766B4}"/>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9C057B50-AA81-406B-95B4-D06D3A3E931A}"/>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개인정보보호위원회가 원 서비스 대화의 목적 외 학습·운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영 이용, 보호조치 미흡 등 위반을 확인하고 과징금·과태료</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및 시정조치 결정</a:t>
            </a:r>
          </a:p>
        </p:txBody>
      </p:sp>
      <p:sp>
        <p:nvSpPr>
          <p:cNvPr id="14" name="">
            <a:extLst xmlns:a="http://schemas.openxmlformats.org/drawingml/2006/main">
              <a:ext uri="{FF2B5EF4-FFF2-40B4-BE49-F238E27FC236}">
                <a16:creationId xmlns:a16="http://schemas.microsoft.com/office/drawing/2014/main" id="{D1B0F920-70A8-425C-AE23-BF8FD65E9B1A}"/>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확인 · 서비스 목적 달성 이전에 개인정보 처리의 적법성·통제가 감독기관 조사에서 실패로 확인</a:t>
            </a:r>
          </a:p>
        </p:txBody>
      </p:sp>
      <p:sp>
        <p:nvSpPr>
          <p:cNvPr id="15" name="">
            <a:extLst xmlns:a="http://schemas.openxmlformats.org/drawingml/2006/main">
              <a:ext uri="{FF2B5EF4-FFF2-40B4-BE49-F238E27FC236}">
                <a16:creationId xmlns:a16="http://schemas.microsoft.com/office/drawing/2014/main" id="{2775A8BC-167C-42BC-8C33-737263843C20}"/>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감독기관 조사·제재 · 2021년 조사 대상 처리행위의 규제 판단. 이후의 별도 제품·모델 품질 평가 아님</a:t>
            </a:r>
          </a:p>
        </p:txBody>
      </p:sp>
    </p:spTree>
    <p:extLst>
      <p:ext uri="{BB962C8B-B14F-4D97-AF65-F5344CB8AC3E}">
        <p14:creationId xmlns:p14="http://schemas.microsoft.com/office/powerpoint/2010/main" val="1336267001"/>
      </p:ext>
    </p:extLst>
  </p:cSld>
</p:sld>
</file>

<file path=ppt/slides/slide1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CC903B92-C745-4B2B-B08D-2EBB6F66003F}"/>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C20DA6ED-1789-47D0-AB58-9D175CF66FAB}"/>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261ECED7-DDCE-4EBE-AE74-E485CB06BCCA}"/>
              </a:ext>
            </a:extLst>
          </p:cNvPr>
          <p:cNvCxnSpPr>
            <a:stCxn xmlns:a="http://schemas.openxmlformats.org/drawingml/2006/main" id="22" idx="3"/>
            <a:endCxn xmlns:a="http://schemas.openxmlformats.org/drawingml/2006/main" id="25" idx="1"/>
          </p:cNvCxnSpPr>
          <p:nvPr/>
        </p:nvCxnSpPr>
        <p:spPr>
          <a:xfrm xmlns:a="http://schemas.openxmlformats.org/drawingml/2006/main">
            <a:off x="412242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78EA5C89-44E5-4F92-93E3-0E46C5560C57}"/>
              </a:ext>
            </a:extLst>
          </p:cNvPr>
          <p:cNvCxnSpPr>
            <a:stCxn xmlns:a="http://schemas.openxmlformats.org/drawingml/2006/main" id="16" idx="2"/>
            <a:endCxn xmlns:a="http://schemas.openxmlformats.org/drawingml/2006/main" id="34" idx="0"/>
          </p:cNvCxnSpPr>
          <p:nvPr/>
        </p:nvCxnSpPr>
        <p:spPr>
          <a:xfrm xmlns:a="http://schemas.openxmlformats.org/drawingml/2006/main">
            <a:off x="10620375" y="2905125"/>
            <a:ext cx="161925" cy="1371600"/>
          </a:xfrm>
          <a:prstGeom xmlns:a="http://schemas.openxmlformats.org/drawingml/2006/main" prst="straightConnector1">
            <a:avLst/>
          </a:prstGeom>
          <a:ln xmlns:a="http://schemas.openxmlformats.org/drawingml/2006/main" w="19050">
            <a:solidFill>
              <a:srgbClr val="A25A51"/>
            </a:solidFill>
            <a:tailEnd type="arrow" w="med" len="med"/>
          </a:ln>
        </p:spPr>
      </p:cxnSp>
      <p:cxnSp>
        <p:nvCxnSpPr>
          <p:cNvPr id="41" name="">
            <a:extLst xmlns:a="http://schemas.openxmlformats.org/drawingml/2006/main">
              <a:ext uri="{FF2B5EF4-FFF2-40B4-BE49-F238E27FC236}">
                <a16:creationId xmlns:a16="http://schemas.microsoft.com/office/drawing/2014/main" id="{FDB63BBF-2E8F-4489-810C-023AE64E46C5}"/>
              </a:ext>
            </a:extLst>
          </p:cNvPr>
          <p:cNvCxnSpPr>
            <a:stCxn xmlns:a="http://schemas.openxmlformats.org/drawingml/2006/main" id="16" idx="1"/>
            <a:endCxn xmlns:a="http://schemas.openxmlformats.org/drawingml/2006/main" id="22" idx="3"/>
          </p:cNvCxnSpPr>
          <p:nvPr/>
        </p:nvCxnSpPr>
        <p:spPr>
          <a:xfrm xmlns:a="http://schemas.openxmlformats.org/drawingml/2006/main" flipH="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3C15FF0A-8C6B-4F76-9CC3-B8138F02435F}"/>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1404C4A3-1E2C-4BB6-BA2A-8BE28B3824E3}"/>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8" name="">
            <a:extLst xmlns:a="http://schemas.openxmlformats.org/drawingml/2006/main">
              <a:ext uri="{FF2B5EF4-FFF2-40B4-BE49-F238E27FC236}">
                <a16:creationId xmlns:a16="http://schemas.microsoft.com/office/drawing/2014/main" id="{1707764E-3FE2-4D75-A8B8-6C561EC909AD}"/>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7" name="">
            <a:extLst xmlns:a="http://schemas.openxmlformats.org/drawingml/2006/main">
              <a:ext uri="{FF2B5EF4-FFF2-40B4-BE49-F238E27FC236}">
                <a16:creationId xmlns:a16="http://schemas.microsoft.com/office/drawing/2014/main" id="{C35482E1-B884-4E8C-B45B-09FF48FFB0A8}"/>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023A6920-6FB2-4E7F-B312-6C4BD7980E4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AX03 / 권한·목적 판정 후 허용·차단 분기</a:t>
            </a:r>
          </a:p>
        </p:txBody>
      </p:sp>
      <p:sp>
        <p:nvSpPr>
          <p:cNvPr id="2" name="">
            <a:extLst xmlns:a="http://schemas.openxmlformats.org/drawingml/2006/main">
              <a:ext uri="{FF2B5EF4-FFF2-40B4-BE49-F238E27FC236}">
                <a16:creationId xmlns:a16="http://schemas.microsoft.com/office/drawing/2014/main" id="{B503C331-B264-4FA7-A1AB-36CA7926474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이루다 개인정보 처리 · 세부 서비스 구조</a:t>
            </a:r>
          </a:p>
        </p:txBody>
      </p:sp>
      <p:sp>
        <p:nvSpPr>
          <p:cNvPr id="3" name="">
            <a:extLst xmlns:a="http://schemas.openxmlformats.org/drawingml/2006/main">
              <a:ext uri="{FF2B5EF4-FFF2-40B4-BE49-F238E27FC236}">
                <a16:creationId xmlns:a16="http://schemas.microsoft.com/office/drawing/2014/main" id="{BC0EBD80-E3A8-48E5-A0AA-3E0E70CF3A7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4F1754F-A61B-487F-8DB6-502723C2822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BE7A7473-1764-4655-AB9C-72F25484573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a:t>
            </a:r>
          </a:p>
        </p:txBody>
      </p:sp>
      <p:sp>
        <p:nvSpPr>
          <p:cNvPr id="6" name="">
            <a:extLst xmlns:a="http://schemas.openxmlformats.org/drawingml/2006/main">
              <a:ext uri="{FF2B5EF4-FFF2-40B4-BE49-F238E27FC236}">
                <a16:creationId xmlns:a16="http://schemas.microsoft.com/office/drawing/2014/main" id="{65E493CE-9BF9-4D6E-AC62-8A83CB0B5D30}"/>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원 서비스 대화 → 목적 외 재사용 → 학습·응답 DB → 이루다 발화</a:t>
            </a:r>
          </a:p>
        </p:txBody>
      </p:sp>
      <p:sp>
        <p:nvSpPr>
          <p:cNvPr id="7" name="">
            <a:extLst xmlns:a="http://schemas.openxmlformats.org/drawingml/2006/main">
              <a:ext uri="{FF2B5EF4-FFF2-40B4-BE49-F238E27FC236}">
                <a16:creationId xmlns:a16="http://schemas.microsoft.com/office/drawing/2014/main" id="{5F485659-B8B4-49E5-8C5E-F9C723F66718}"/>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4B6553A7-05EE-4BFF-AE7C-A531FD5F4DAE}"/>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D5A5F217-A8D9-4CFC-BE1B-7C630A8C5338}"/>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재사용 요청</a:t>
            </a:r>
          </a:p>
        </p:txBody>
      </p:sp>
      <p:sp>
        <p:nvSpPr>
          <p:cNvPr id="10" name="">
            <a:extLst xmlns:a="http://schemas.openxmlformats.org/drawingml/2006/main">
              <a:ext uri="{FF2B5EF4-FFF2-40B4-BE49-F238E27FC236}">
                <a16:creationId xmlns:a16="http://schemas.microsoft.com/office/drawing/2014/main" id="{CF3DFD52-71D9-4B9A-9134-209A97F6929A}"/>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B373A5C6-01F1-41DA-BFF2-D864DD233A2B}"/>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AFAC698A-8971-4AFF-8F8D-C743C15EB9C9}"/>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목적·동의 범위</a:t>
            </a:r>
          </a:p>
        </p:txBody>
      </p:sp>
      <p:sp>
        <p:nvSpPr>
          <p:cNvPr id="13" name="">
            <a:extLst xmlns:a="http://schemas.openxmlformats.org/drawingml/2006/main">
              <a:ext uri="{FF2B5EF4-FFF2-40B4-BE49-F238E27FC236}">
                <a16:creationId xmlns:a16="http://schemas.microsoft.com/office/drawing/2014/main" id="{6546E860-648B-4820-BABC-59EEE37339E9}"/>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242D984A-C4D0-41B3-8911-D75133765944}"/>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15" name="">
            <a:extLst xmlns:a="http://schemas.openxmlformats.org/drawingml/2006/main">
              <a:ext uri="{FF2B5EF4-FFF2-40B4-BE49-F238E27FC236}">
                <a16:creationId xmlns:a16="http://schemas.microsoft.com/office/drawing/2014/main" id="{3963C4DA-EB93-4921-BEBF-B24AEEC37554}"/>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삭제·보유정책</a:t>
            </a:r>
          </a:p>
        </p:txBody>
      </p:sp>
      <p:sp>
        <p:nvSpPr>
          <p:cNvPr id="16" name="">
            <a:extLst xmlns:a="http://schemas.openxmlformats.org/drawingml/2006/main">
              <a:ext uri="{FF2B5EF4-FFF2-40B4-BE49-F238E27FC236}">
                <a16:creationId xmlns:a16="http://schemas.microsoft.com/office/drawing/2014/main" id="{2E1B874E-4F27-4902-B5A1-70F5DBE374D1}"/>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1721D449-E177-45BA-8E37-65C59851ED05}"/>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15D54B27-D964-4594-BDF8-3230F7C9D290}"/>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목적 외 이용 차단</a:t>
            </a:r>
          </a:p>
        </p:txBody>
      </p:sp>
      <p:sp>
        <p:nvSpPr>
          <p:cNvPr id="19" name="">
            <a:extLst xmlns:a="http://schemas.openxmlformats.org/drawingml/2006/main">
              <a:ext uri="{FF2B5EF4-FFF2-40B4-BE49-F238E27FC236}">
                <a16:creationId xmlns:a16="http://schemas.microsoft.com/office/drawing/2014/main" id="{2D3D3524-7493-4673-B22B-16F1A4232F38}"/>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50EEBC25-0592-45D9-9C95-CF195909570D}"/>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1" name="">
            <a:extLst xmlns:a="http://schemas.openxmlformats.org/drawingml/2006/main">
              <a:ext uri="{FF2B5EF4-FFF2-40B4-BE49-F238E27FC236}">
                <a16:creationId xmlns:a16="http://schemas.microsoft.com/office/drawing/2014/main" id="{DA9A04AA-4919-49D3-9802-D4EE128F097C}"/>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원 서비스 대화</a:t>
            </a:r>
          </a:p>
        </p:txBody>
      </p:sp>
      <p:sp>
        <p:nvSpPr>
          <p:cNvPr id="22" name="">
            <a:extLst xmlns:a="http://schemas.openxmlformats.org/drawingml/2006/main">
              <a:ext uri="{FF2B5EF4-FFF2-40B4-BE49-F238E27FC236}">
                <a16:creationId xmlns:a16="http://schemas.microsoft.com/office/drawing/2014/main" id="{B09B724A-DEA0-47D5-A66A-0937B0D45EF2}"/>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AC1BDFC4-087D-4062-BCD3-0CEF2442CDD1}"/>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4" name="">
            <a:extLst xmlns:a="http://schemas.openxmlformats.org/drawingml/2006/main">
              <a:ext uri="{FF2B5EF4-FFF2-40B4-BE49-F238E27FC236}">
                <a16:creationId xmlns:a16="http://schemas.microsoft.com/office/drawing/2014/main" id="{A41DF494-134D-4434-A171-E3A5E0204478}"/>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학습·응답 분리</a:t>
            </a:r>
          </a:p>
        </p:txBody>
      </p:sp>
      <p:sp>
        <p:nvSpPr>
          <p:cNvPr id="25" name="">
            <a:extLst xmlns:a="http://schemas.openxmlformats.org/drawingml/2006/main">
              <a:ext uri="{FF2B5EF4-FFF2-40B4-BE49-F238E27FC236}">
                <a16:creationId xmlns:a16="http://schemas.microsoft.com/office/drawing/2014/main" id="{28B72686-0A46-4E3D-A239-89D3D02A7468}"/>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01E38D38-5D5C-4E9B-8C39-66E4929474ED}"/>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7" name="">
            <a:extLst xmlns:a="http://schemas.openxmlformats.org/drawingml/2006/main">
              <a:ext uri="{FF2B5EF4-FFF2-40B4-BE49-F238E27FC236}">
                <a16:creationId xmlns:a16="http://schemas.microsoft.com/office/drawing/2014/main" id="{2A002009-0F6A-4E02-9BDE-D6485ED87EFA}"/>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자료 관리자 심사</a:t>
            </a:r>
          </a:p>
        </p:txBody>
      </p:sp>
      <p:sp>
        <p:nvSpPr>
          <p:cNvPr id="28" name="">
            <a:extLst xmlns:a="http://schemas.openxmlformats.org/drawingml/2006/main">
              <a:ext uri="{FF2B5EF4-FFF2-40B4-BE49-F238E27FC236}">
                <a16:creationId xmlns:a16="http://schemas.microsoft.com/office/drawing/2014/main" id="{CA3A4582-4B64-4EA8-8966-3C99479F25A6}"/>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8F5AD11B-4E66-4829-94DB-46B58C0CC818}"/>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0" name="">
            <a:extLst xmlns:a="http://schemas.openxmlformats.org/drawingml/2006/main">
              <a:ext uri="{FF2B5EF4-FFF2-40B4-BE49-F238E27FC236}">
                <a16:creationId xmlns:a16="http://schemas.microsoft.com/office/drawing/2014/main" id="{02EB9F18-DFC9-4DDA-AE71-EBDC012683D1}"/>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허용본·회수 처리</a:t>
            </a:r>
          </a:p>
        </p:txBody>
      </p:sp>
      <p:sp>
        <p:nvSpPr>
          <p:cNvPr id="31" name="">
            <a:extLst xmlns:a="http://schemas.openxmlformats.org/drawingml/2006/main">
              <a:ext uri="{FF2B5EF4-FFF2-40B4-BE49-F238E27FC236}">
                <a16:creationId xmlns:a16="http://schemas.microsoft.com/office/drawing/2014/main" id="{D99C6434-B20C-4C50-8268-14954DD9AFE4}"/>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33F850E3-EA78-4B2F-A9E2-8C2F5839F3CF}"/>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3" name="">
            <a:extLst xmlns:a="http://schemas.openxmlformats.org/drawingml/2006/main">
              <a:ext uri="{FF2B5EF4-FFF2-40B4-BE49-F238E27FC236}">
                <a16:creationId xmlns:a16="http://schemas.microsoft.com/office/drawing/2014/main" id="{B962961B-66A5-4321-ADFB-F64348F438F2}"/>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잔존 데이터 검사</a:t>
            </a:r>
          </a:p>
        </p:txBody>
      </p:sp>
      <p:sp>
        <p:nvSpPr>
          <p:cNvPr id="34" name="">
            <a:extLst xmlns:a="http://schemas.openxmlformats.org/drawingml/2006/main">
              <a:ext uri="{FF2B5EF4-FFF2-40B4-BE49-F238E27FC236}">
                <a16:creationId xmlns:a16="http://schemas.microsoft.com/office/drawing/2014/main" id="{5902F695-66B5-4513-97EC-FA6FB1E443B4}"/>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763CED44-742D-4806-933E-0CE13DD9B2AE}"/>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6" name="">
            <a:extLst xmlns:a="http://schemas.openxmlformats.org/drawingml/2006/main">
              <a:ext uri="{FF2B5EF4-FFF2-40B4-BE49-F238E27FC236}">
                <a16:creationId xmlns:a16="http://schemas.microsoft.com/office/drawing/2014/main" id="{51FEFB95-983D-454D-AF89-3634CC8B135C}"/>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복제본·판본 목록</a:t>
            </a:r>
          </a:p>
        </p:txBody>
      </p:sp>
      <p:sp>
        <p:nvSpPr>
          <p:cNvPr id="46" name="">
            <a:extLst xmlns:a="http://schemas.openxmlformats.org/drawingml/2006/main">
              <a:ext uri="{FF2B5EF4-FFF2-40B4-BE49-F238E27FC236}">
                <a16:creationId xmlns:a16="http://schemas.microsoft.com/office/drawing/2014/main" id="{54399D9E-251A-4665-9967-148796EC375D}"/>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796076204"/>
      </p:ext>
    </p:extLst>
  </p:cSld>
</p:sld>
</file>

<file path=ppt/slides/slide1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F8E55F8C-772E-4719-B0FD-8348762A0EE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AX03 / 논리 인터페이스·복구 설계</a:t>
            </a:r>
          </a:p>
        </p:txBody>
      </p:sp>
      <p:sp>
        <p:nvSpPr>
          <p:cNvPr id="2" name="">
            <a:extLst xmlns:a="http://schemas.openxmlformats.org/drawingml/2006/main">
              <a:ext uri="{FF2B5EF4-FFF2-40B4-BE49-F238E27FC236}">
                <a16:creationId xmlns:a16="http://schemas.microsoft.com/office/drawing/2014/main" id="{DF2D64C8-E289-4633-A1EB-348247D8304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이루다 개인정보 처리 · 데이터와 예외 처리</a:t>
            </a:r>
          </a:p>
        </p:txBody>
      </p:sp>
      <p:sp>
        <p:nvSpPr>
          <p:cNvPr id="3" name="">
            <a:extLst xmlns:a="http://schemas.openxmlformats.org/drawingml/2006/main">
              <a:ext uri="{FF2B5EF4-FFF2-40B4-BE49-F238E27FC236}">
                <a16:creationId xmlns:a16="http://schemas.microsoft.com/office/drawing/2014/main" id="{E57739B7-2862-4AF6-9D1E-32978941096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49B66F2-C315-46F1-8EA5-B7DC43ACBF8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B1E34FD0-5BF9-4E24-B2D4-0FD921F40CD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a:t>
            </a:r>
          </a:p>
        </p:txBody>
      </p:sp>
      <p:sp>
        <p:nvSpPr>
          <p:cNvPr id="6" name="">
            <a:extLst xmlns:a="http://schemas.openxmlformats.org/drawingml/2006/main">
              <a:ext uri="{FF2B5EF4-FFF2-40B4-BE49-F238E27FC236}">
                <a16:creationId xmlns:a16="http://schemas.microsoft.com/office/drawing/2014/main" id="{00C54D3B-A858-4EB9-9CF5-3DE3AC108D78}"/>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779FCF94-019A-48DC-B869-E06062E6FB07}"/>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482B04C3-7289-47E5-8CD9-E865E9083E39}"/>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요청·대상</a:t>
            </a:r>
          </a:p>
        </p:txBody>
      </p:sp>
      <p:sp>
        <p:nvSpPr>
          <p:cNvPr id="9" name="">
            <a:extLst xmlns:a="http://schemas.openxmlformats.org/drawingml/2006/main">
              <a:ext uri="{FF2B5EF4-FFF2-40B4-BE49-F238E27FC236}">
                <a16:creationId xmlns:a16="http://schemas.microsoft.com/office/drawing/2014/main" id="{7A39FFE3-BC8F-4905-8AE4-F928677D1B49}"/>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원 서비스 동의와 재사용 목적의 대조</a:t>
            </a:r>
          </a:p>
        </p:txBody>
      </p:sp>
      <p:sp>
        <p:nvSpPr>
          <p:cNvPr id="10" name="">
            <a:extLst xmlns:a="http://schemas.openxmlformats.org/drawingml/2006/main">
              <a:ext uri="{FF2B5EF4-FFF2-40B4-BE49-F238E27FC236}">
                <a16:creationId xmlns:a16="http://schemas.microsoft.com/office/drawing/2014/main" id="{B14D868D-7EFD-4CE7-8776-5A84046B5C66}"/>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5D4C500-F33E-4E8F-AF89-38431A085043}"/>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조직·목적</a:t>
            </a:r>
          </a:p>
        </p:txBody>
      </p:sp>
      <p:sp>
        <p:nvSpPr>
          <p:cNvPr id="12" name="">
            <a:extLst xmlns:a="http://schemas.openxmlformats.org/drawingml/2006/main">
              <a:ext uri="{FF2B5EF4-FFF2-40B4-BE49-F238E27FC236}">
                <a16:creationId xmlns:a16="http://schemas.microsoft.com/office/drawing/2014/main" id="{550D89AC-4508-4A36-BEE8-1909E7AB0E6C}"/>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대화 원문</a:t>
            </a:r>
          </a:p>
        </p:txBody>
      </p:sp>
      <p:sp>
        <p:nvSpPr>
          <p:cNvPr id="13" name="">
            <a:extLst xmlns:a="http://schemas.openxmlformats.org/drawingml/2006/main">
              <a:ext uri="{FF2B5EF4-FFF2-40B4-BE49-F238E27FC236}">
                <a16:creationId xmlns:a16="http://schemas.microsoft.com/office/drawing/2014/main" id="{6E287A99-28BA-4F05-BE61-6A7863B63791}"/>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9582BFB-9BE7-40BC-8BD4-4A655A7DA952}"/>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허용 정책</a:t>
            </a:r>
          </a:p>
        </p:txBody>
      </p:sp>
      <p:sp>
        <p:nvSpPr>
          <p:cNvPr id="15" name="">
            <a:extLst xmlns:a="http://schemas.openxmlformats.org/drawingml/2006/main">
              <a:ext uri="{FF2B5EF4-FFF2-40B4-BE49-F238E27FC236}">
                <a16:creationId xmlns:a16="http://schemas.microsoft.com/office/drawing/2014/main" id="{3091A48F-CAFE-461B-BC8C-C07D4D59C94D}"/>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삭제·보유정책</a:t>
            </a:r>
          </a:p>
        </p:txBody>
      </p:sp>
      <p:sp>
        <p:nvSpPr>
          <p:cNvPr id="16" name="">
            <a:extLst xmlns:a="http://schemas.openxmlformats.org/drawingml/2006/main">
              <a:ext uri="{FF2B5EF4-FFF2-40B4-BE49-F238E27FC236}">
                <a16:creationId xmlns:a16="http://schemas.microsoft.com/office/drawing/2014/main" id="{67408B38-8682-471D-9F21-418C8655E87A}"/>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0738CDB-4B37-40F5-B082-040D896C7F2F}"/>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허용된 경우</a:t>
            </a:r>
          </a:p>
        </p:txBody>
      </p:sp>
      <p:sp>
        <p:nvSpPr>
          <p:cNvPr id="18" name="">
            <a:extLst xmlns:a="http://schemas.openxmlformats.org/drawingml/2006/main">
              <a:ext uri="{FF2B5EF4-FFF2-40B4-BE49-F238E27FC236}">
                <a16:creationId xmlns:a16="http://schemas.microsoft.com/office/drawing/2014/main" id="{01CEA119-46BF-4718-859E-27C829E93814}"/>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학습·응답 자료</a:t>
            </a:r>
          </a:p>
        </p:txBody>
      </p:sp>
      <p:sp>
        <p:nvSpPr>
          <p:cNvPr id="19" name="">
            <a:extLst xmlns:a="http://schemas.openxmlformats.org/drawingml/2006/main">
              <a:ext uri="{FF2B5EF4-FFF2-40B4-BE49-F238E27FC236}">
                <a16:creationId xmlns:a16="http://schemas.microsoft.com/office/drawing/2014/main" id="{225A20E6-8882-46FA-9688-60174A7E8E06}"/>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E6B36CD-3AD0-4B43-B44F-6944AB4E3132}"/>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거부·보류</a:t>
            </a:r>
          </a:p>
        </p:txBody>
      </p:sp>
      <p:sp>
        <p:nvSpPr>
          <p:cNvPr id="21" name="">
            <a:extLst xmlns:a="http://schemas.openxmlformats.org/drawingml/2006/main">
              <a:ext uri="{FF2B5EF4-FFF2-40B4-BE49-F238E27FC236}">
                <a16:creationId xmlns:a16="http://schemas.microsoft.com/office/drawing/2014/main" id="{7549663A-2F0B-497B-B71C-3A1D8FDE6E40}"/>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학습·응답 자료</a:t>
            </a:r>
          </a:p>
        </p:txBody>
      </p:sp>
      <p:sp>
        <p:nvSpPr>
          <p:cNvPr id="22" name="">
            <a:extLst xmlns:a="http://schemas.openxmlformats.org/drawingml/2006/main">
              <a:ext uri="{FF2B5EF4-FFF2-40B4-BE49-F238E27FC236}">
                <a16:creationId xmlns:a16="http://schemas.microsoft.com/office/drawing/2014/main" id="{208886B9-E1A0-4DAD-A4C0-0F3F3EC1D97C}"/>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B1DFC772-2D51-4489-9E45-9A25B4F61A71}"/>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사람 확인</a:t>
            </a:r>
          </a:p>
        </p:txBody>
      </p:sp>
      <p:sp>
        <p:nvSpPr>
          <p:cNvPr id="24" name="">
            <a:extLst xmlns:a="http://schemas.openxmlformats.org/drawingml/2006/main">
              <a:ext uri="{FF2B5EF4-FFF2-40B4-BE49-F238E27FC236}">
                <a16:creationId xmlns:a16="http://schemas.microsoft.com/office/drawing/2014/main" id="{5F463B6E-88E6-47CE-8C84-AA9692BF5FC7}"/>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생성 발화</a:t>
            </a:r>
          </a:p>
        </p:txBody>
      </p:sp>
      <p:sp>
        <p:nvSpPr>
          <p:cNvPr id="25" name="">
            <a:extLst xmlns:a="http://schemas.openxmlformats.org/drawingml/2006/main">
              <a:ext uri="{FF2B5EF4-FFF2-40B4-BE49-F238E27FC236}">
                <a16:creationId xmlns:a16="http://schemas.microsoft.com/office/drawing/2014/main" id="{F8DE68C8-E0DA-43EC-954D-21B5B9A372E1}"/>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B9431301-8B49-4039-90E7-2EB58AB826F8}"/>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동의 철회·다른 서비스 자료·복제된 삭제 대상</a:t>
            </a:r>
          </a:p>
        </p:txBody>
      </p:sp>
      <p:sp>
        <p:nvSpPr>
          <p:cNvPr id="27" name="">
            <a:extLst xmlns:a="http://schemas.openxmlformats.org/drawingml/2006/main">
              <a:ext uri="{FF2B5EF4-FFF2-40B4-BE49-F238E27FC236}">
                <a16:creationId xmlns:a16="http://schemas.microsoft.com/office/drawing/2014/main" id="{3D7BB21E-6E02-4709-BF56-1B6D29C2260F}"/>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A6CFF9C9-5923-4F5A-AF74-E5BEA48323A2}"/>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목적·동의 범위 대사와 삭제 전파</a:t>
            </a:r>
          </a:p>
        </p:txBody>
      </p:sp>
      <p:sp>
        <p:nvSpPr>
          <p:cNvPr id="29" name="">
            <a:extLst xmlns:a="http://schemas.openxmlformats.org/drawingml/2006/main">
              <a:ext uri="{FF2B5EF4-FFF2-40B4-BE49-F238E27FC236}">
                <a16:creationId xmlns:a16="http://schemas.microsoft.com/office/drawing/2014/main" id="{3F3EF855-9751-448D-A0AE-C097781FBB14}"/>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F0B7896A-D1C3-44D4-A2B5-36922156D676}"/>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삭제 이후 학습·검색·출력 경로의 잔존 검사</a:t>
            </a:r>
          </a:p>
        </p:txBody>
      </p:sp>
      <p:sp>
        <p:nvSpPr>
          <p:cNvPr id="31" name="">
            <a:extLst xmlns:a="http://schemas.openxmlformats.org/drawingml/2006/main">
              <a:ext uri="{FF2B5EF4-FFF2-40B4-BE49-F238E27FC236}">
                <a16:creationId xmlns:a16="http://schemas.microsoft.com/office/drawing/2014/main" id="{F8E176E8-14E6-4EFC-973A-46779668F7DF}"/>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4AD4B3EA-1CDD-4002-855B-C8498AC660A8}"/>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목적별 허용/차단 결과와 원천·색인·캐시 삭제 대사</a:t>
            </a:r>
          </a:p>
        </p:txBody>
      </p:sp>
    </p:spTree>
    <p:extLst>
      <p:ext uri="{BB962C8B-B14F-4D97-AF65-F5344CB8AC3E}">
        <p14:creationId xmlns:p14="http://schemas.microsoft.com/office/powerpoint/2010/main" val="2138269622"/>
      </p:ext>
    </p:extLst>
  </p:cSld>
</p:sld>
</file>

<file path=ppt/slides/slide1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8B22B70-009A-46DC-9ACB-AC72B575834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AX03 / CCK 비교·재현 시험 설계</a:t>
            </a:r>
          </a:p>
        </p:txBody>
      </p:sp>
      <p:sp>
        <p:nvSpPr>
          <p:cNvPr id="2" name="">
            <a:extLst xmlns:a="http://schemas.openxmlformats.org/drawingml/2006/main">
              <a:ext uri="{FF2B5EF4-FFF2-40B4-BE49-F238E27FC236}">
                <a16:creationId xmlns:a16="http://schemas.microsoft.com/office/drawing/2014/main" id="{5703EA4E-83B3-4CC5-B349-F4B61CB2500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이루다 개인정보 처리 · 벤치마킹</a:t>
            </a:r>
          </a:p>
        </p:txBody>
      </p:sp>
      <p:sp>
        <p:nvSpPr>
          <p:cNvPr id="3" name="">
            <a:extLst xmlns:a="http://schemas.openxmlformats.org/drawingml/2006/main">
              <a:ext uri="{FF2B5EF4-FFF2-40B4-BE49-F238E27FC236}">
                <a16:creationId xmlns:a16="http://schemas.microsoft.com/office/drawing/2014/main" id="{647F1483-90BA-426D-8A5A-6FCFEFDF994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5B2AA84-383F-456C-9A1A-A9AC36265C4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89C23F43-D29D-4A6D-85CE-D246E6AC00B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a:t>
            </a:r>
          </a:p>
        </p:txBody>
      </p:sp>
      <p:sp>
        <p:nvSpPr>
          <p:cNvPr id="6" name="">
            <a:extLst xmlns:a="http://schemas.openxmlformats.org/drawingml/2006/main">
              <a:ext uri="{FF2B5EF4-FFF2-40B4-BE49-F238E27FC236}">
                <a16:creationId xmlns:a16="http://schemas.microsoft.com/office/drawing/2014/main" id="{282E8E37-0C56-43A0-912A-5DEC022B6C92}"/>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재발 방지 조건</a:t>
            </a:r>
          </a:p>
        </p:txBody>
      </p:sp>
      <p:sp>
        <p:nvSpPr>
          <p:cNvPr id="7" name="">
            <a:extLst xmlns:a="http://schemas.openxmlformats.org/drawingml/2006/main">
              <a:ext uri="{FF2B5EF4-FFF2-40B4-BE49-F238E27FC236}">
                <a16:creationId xmlns:a16="http://schemas.microsoft.com/office/drawing/2014/main" id="{415B4C93-2CD8-47EC-B770-0DF53B77FC43}"/>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수집 목적별 데이터 분리</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이용 동의·삭제 요청의 재사용 경로 반영</a:t>
            </a:r>
          </a:p>
        </p:txBody>
      </p:sp>
      <p:sp>
        <p:nvSpPr>
          <p:cNvPr id="8" name="">
            <a:extLst xmlns:a="http://schemas.openxmlformats.org/drawingml/2006/main">
              <a:ext uri="{FF2B5EF4-FFF2-40B4-BE49-F238E27FC236}">
                <a16:creationId xmlns:a16="http://schemas.microsoft.com/office/drawing/2014/main" id="{7E412A0F-40FC-46C3-8B27-2788DFF133BE}"/>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요인·시정 쟁점</a:t>
            </a:r>
          </a:p>
        </p:txBody>
      </p:sp>
      <p:sp>
        <p:nvSpPr>
          <p:cNvPr id="9" name="">
            <a:extLst xmlns:a="http://schemas.openxmlformats.org/drawingml/2006/main">
              <a:ext uri="{FF2B5EF4-FFF2-40B4-BE49-F238E27FC236}">
                <a16:creationId xmlns:a16="http://schemas.microsoft.com/office/drawing/2014/main" id="{C13F216A-2F3E-4F08-98FB-47424438929C}"/>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다른 서비스 대화의 목적 외 이용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학습·응답 경로의 개인정보 통제 부족</a:t>
            </a:r>
          </a:p>
        </p:txBody>
      </p:sp>
      <p:sp>
        <p:nvSpPr>
          <p:cNvPr id="10" name="">
            <a:extLst xmlns:a="http://schemas.openxmlformats.org/drawingml/2006/main">
              <a:ext uri="{FF2B5EF4-FFF2-40B4-BE49-F238E27FC236}">
                <a16:creationId xmlns:a16="http://schemas.microsoft.com/office/drawing/2014/main" id="{41E901BF-6015-418F-9C78-09ECC3E82CFD}"/>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84BB5502-AB95-43F1-83BA-7BFB0802662A}"/>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목적·동의 범위 대사와 삭제 전파</a:t>
            </a:r>
          </a:p>
        </p:txBody>
      </p:sp>
      <p:sp>
        <p:nvSpPr>
          <p:cNvPr id="12" name="">
            <a:extLst xmlns:a="http://schemas.openxmlformats.org/drawingml/2006/main">
              <a:ext uri="{FF2B5EF4-FFF2-40B4-BE49-F238E27FC236}">
                <a16:creationId xmlns:a16="http://schemas.microsoft.com/office/drawing/2014/main" id="{CD9F1F7D-79DE-425F-9197-30ADF1448F71}"/>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628E08DB-9982-403D-A287-C8CE0B2789CB}"/>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명시된 목적에 맞는 대화만 학습·검색·응답 경로에 </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제공</a:t>
            </a:r>
          </a:p>
        </p:txBody>
      </p:sp>
      <p:sp>
        <p:nvSpPr>
          <p:cNvPr id="14" name="">
            <a:extLst xmlns:a="http://schemas.openxmlformats.org/drawingml/2006/main">
              <a:ext uri="{FF2B5EF4-FFF2-40B4-BE49-F238E27FC236}">
                <a16:creationId xmlns:a16="http://schemas.microsoft.com/office/drawing/2014/main" id="{917992FA-3254-4BA2-86E8-6BB65E77C6AB}"/>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4F9B25FD-F8DF-4FC0-9D1B-4CB15985377B}"/>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동의 철회·다른 서비스 자료·복제된 삭제 대상</a:t>
            </a:r>
          </a:p>
        </p:txBody>
      </p:sp>
      <p:sp>
        <p:nvSpPr>
          <p:cNvPr id="16" name="">
            <a:extLst xmlns:a="http://schemas.openxmlformats.org/drawingml/2006/main">
              <a:ext uri="{FF2B5EF4-FFF2-40B4-BE49-F238E27FC236}">
                <a16:creationId xmlns:a16="http://schemas.microsoft.com/office/drawing/2014/main" id="{48E5776E-8FF1-446C-9FAF-6D825BA54AF9}"/>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149719DF-3916-4A28-9488-A3F010CA0DFB}"/>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목적별 허용/차단 결과와 원천·색인·캐시 삭제 대사</a:t>
            </a:r>
          </a:p>
        </p:txBody>
      </p:sp>
    </p:spTree>
    <p:extLst>
      <p:ext uri="{BB962C8B-B14F-4D97-AF65-F5344CB8AC3E}">
        <p14:creationId xmlns:p14="http://schemas.microsoft.com/office/powerpoint/2010/main" val="659375462"/>
      </p:ext>
    </p:extLst>
  </p:cSld>
</p:sld>
</file>

<file path=ppt/slides/slide1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D5967D7-E6F4-400A-BF8C-BA9C45EDB7C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AX04 / 부분 성과 / 해외</a:t>
            </a:r>
          </a:p>
        </p:txBody>
      </p:sp>
      <p:sp>
        <p:nvSpPr>
          <p:cNvPr id="2" name="">
            <a:extLst xmlns:a="http://schemas.openxmlformats.org/drawingml/2006/main">
              <a:ext uri="{FF2B5EF4-FFF2-40B4-BE49-F238E27FC236}">
                <a16:creationId xmlns:a16="http://schemas.microsoft.com/office/drawing/2014/main" id="{03AC3566-21F8-436F-9480-09BAE19A2ED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정부 M365 Copilot</a:t>
            </a:r>
          </a:p>
        </p:txBody>
      </p:sp>
      <p:sp>
        <p:nvSpPr>
          <p:cNvPr id="3" name="">
            <a:extLst xmlns:a="http://schemas.openxmlformats.org/drawingml/2006/main">
              <a:ext uri="{FF2B5EF4-FFF2-40B4-BE49-F238E27FC236}">
                <a16:creationId xmlns:a16="http://schemas.microsoft.com/office/drawing/2014/main" id="{A18693F2-14AA-4C21-AB3B-FF91A4AE839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59C44C8-026A-4A47-9719-5B5F2540AD1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3E67BB5-8A05-43CF-9DC1-30278832B87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17</a:t>
            </a:r>
          </a:p>
        </p:txBody>
      </p:sp>
      <p:sp>
        <p:nvSpPr>
          <p:cNvPr id="6" name="">
            <a:extLst xmlns:a="http://schemas.openxmlformats.org/drawingml/2006/main">
              <a:ext uri="{FF2B5EF4-FFF2-40B4-BE49-F238E27FC236}">
                <a16:creationId xmlns:a16="http://schemas.microsoft.com/office/drawing/2014/main" id="{CD487DFD-F46E-4675-8661-9789C77DAD1A}"/>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1FDE76FA-652C-4ECC-9C79-654F02A76547}"/>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기존 M365 문서·회의 접점에서 공무원의 작성·검색·요</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약을 지원한 실험. 새 업무 시스템 구축보다 직원이 이미</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접근하는 자료와 협업 도구 안에 AI를 배치한 유형.</a:t>
            </a:r>
          </a:p>
        </p:txBody>
      </p:sp>
      <p:sp>
        <p:nvSpPr>
          <p:cNvPr id="8" name="">
            <a:extLst xmlns:a="http://schemas.openxmlformats.org/drawingml/2006/main">
              <a:ext uri="{FF2B5EF4-FFF2-40B4-BE49-F238E27FC236}">
                <a16:creationId xmlns:a16="http://schemas.microsoft.com/office/drawing/2014/main" id="{247384CA-3E03-4647-9052-1459A9862EC1}"/>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7B49D95A-A653-4116-A887-04C8E825AACD}"/>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자료 접근권한을 전제로 요청 문맥을 만들고 검색·생성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결과를 직원이 검토하는 흐름. 조직·직무별 동일 과업을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정의한 뒤 AI 사용 전후의 초안 작성, 사실 확인, 수정 시</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간을 함께 기록하는 CCK 비교 설계.</a:t>
            </a:r>
          </a:p>
        </p:txBody>
      </p:sp>
      <p:sp>
        <p:nvSpPr>
          <p:cNvPr id="10" name="">
            <a:extLst xmlns:a="http://schemas.openxmlformats.org/drawingml/2006/main">
              <a:ext uri="{FF2B5EF4-FFF2-40B4-BE49-F238E27FC236}">
                <a16:creationId xmlns:a16="http://schemas.microsoft.com/office/drawing/2014/main" id="{83B3A6AA-1790-4AF4-BA34-141AEA27A987}"/>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8B2FD603-D8D5-4040-8DDD-674EA0D02B4C}"/>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설문 자기보고 절감시간을 TS의 예상 절감률로 직접 전환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하지 않는 평가. 과다공유 문서, 복잡한 질의, 숙련도 차이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와 재작업을 포함해 부서별 완료시간·오류율을 산정할 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요.</a:t>
            </a:r>
          </a:p>
        </p:txBody>
      </p:sp>
      <p:sp>
        <p:nvSpPr>
          <p:cNvPr id="12" name="">
            <a:extLst xmlns:a="http://schemas.openxmlformats.org/drawingml/2006/main">
              <a:ext uri="{FF2B5EF4-FFF2-40B4-BE49-F238E27FC236}">
                <a16:creationId xmlns:a16="http://schemas.microsoft.com/office/drawing/2014/main" id="{2DF6700C-AAD5-45AB-801F-B11BD6966AA3}"/>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918F1903-B29B-4D5E-AB4E-5F16B74D317A}"/>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로그인 ID–조직 연결 / 직무별 검색·서식 / 검토시간 포함 계측</a:t>
            </a:r>
          </a:p>
        </p:txBody>
      </p:sp>
      <p:sp>
        <p:nvSpPr>
          <p:cNvPr id="14" name="">
            <a:extLst xmlns:a="http://schemas.openxmlformats.org/drawingml/2006/main">
              <a:ext uri="{FF2B5EF4-FFF2-40B4-BE49-F238E27FC236}">
                <a16:creationId xmlns:a16="http://schemas.microsoft.com/office/drawing/2014/main" id="{73ED1259-D2AB-4C3A-884F-63513A63CD2D}"/>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1EEE9757-94E1-4D2A-AF08-1045865DAC70}"/>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권한 교차 시험과 동일 난도 업무의 전후·비교군 평가</a:t>
            </a:r>
          </a:p>
        </p:txBody>
      </p:sp>
      <p:sp>
        <p:nvSpPr>
          <p:cNvPr id="16" name="">
            <a:extLst xmlns:a="http://schemas.openxmlformats.org/drawingml/2006/main">
              <a:ext uri="{FF2B5EF4-FFF2-40B4-BE49-F238E27FC236}">
                <a16:creationId xmlns:a16="http://schemas.microsoft.com/office/drawing/2014/main" id="{2DD51BB0-2D46-4B83-9B03-1055E8236B06}"/>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EBDECBE6-AC8C-4754-9D32-6C2FA097E01D}"/>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검토·재작업 포함 완료시간 / 오류율</a:t>
            </a:r>
          </a:p>
        </p:txBody>
      </p:sp>
      <p:sp>
        <p:nvSpPr>
          <p:cNvPr id="18" name="">
            <a:extLst xmlns:a="http://schemas.openxmlformats.org/drawingml/2006/main">
              <a:ext uri="{FF2B5EF4-FFF2-40B4-BE49-F238E27FC236}">
                <a16:creationId xmlns:a16="http://schemas.microsoft.com/office/drawing/2014/main" id="{D61AB916-56B1-4CEB-A3B3-4C30E4CD1596}"/>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실측 인과효과 아님 · 복잡한 맥락·데이터 업무 한계 · 기존 자료 과다공유 위험</a:t>
            </a:r>
          </a:p>
        </p:txBody>
      </p:sp>
    </p:spTree>
    <p:extLst>
      <p:ext uri="{BB962C8B-B14F-4D97-AF65-F5344CB8AC3E}">
        <p14:creationId xmlns:p14="http://schemas.microsoft.com/office/powerpoint/2010/main" val="1952389719"/>
      </p:ext>
    </p:extLst>
  </p:cSld>
</p:sld>
</file>

<file path=ppt/slides/slide1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FC2E709-4B6E-4FB8-B8BF-31E396A5A87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AX04 / As-Is → To-Be → 기대효과 → 확인 결과</a:t>
            </a:r>
          </a:p>
        </p:txBody>
      </p:sp>
      <p:sp>
        <p:nvSpPr>
          <p:cNvPr id="2" name="">
            <a:extLst xmlns:a="http://schemas.openxmlformats.org/drawingml/2006/main">
              <a:ext uri="{FF2B5EF4-FFF2-40B4-BE49-F238E27FC236}">
                <a16:creationId xmlns:a16="http://schemas.microsoft.com/office/drawing/2014/main" id="{798B941C-2A95-4A29-A7F0-F3A1A0D42F5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정부 M365 Copilot · 기대와 결과</a:t>
            </a:r>
          </a:p>
        </p:txBody>
      </p:sp>
      <p:sp>
        <p:nvSpPr>
          <p:cNvPr id="3" name="">
            <a:extLst xmlns:a="http://schemas.openxmlformats.org/drawingml/2006/main">
              <a:ext uri="{FF2B5EF4-FFF2-40B4-BE49-F238E27FC236}">
                <a16:creationId xmlns:a16="http://schemas.microsoft.com/office/drawing/2014/main" id="{F79C1B12-B971-474C-8009-E216928729A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E885DF8-4EBC-461E-B858-EF2F87E9F3A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0004BCA8-8970-46C8-8577-C59F7F8F867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18</a:t>
            </a:r>
          </a:p>
        </p:txBody>
      </p:sp>
      <p:sp>
        <p:nvSpPr>
          <p:cNvPr id="6" name="">
            <a:extLst xmlns:a="http://schemas.openxmlformats.org/drawingml/2006/main">
              <a:ext uri="{FF2B5EF4-FFF2-40B4-BE49-F238E27FC236}">
                <a16:creationId xmlns:a16="http://schemas.microsoft.com/office/drawing/2014/main" id="{91A3E5BB-B357-46B5-ACD1-B3174A9EA2EE}"/>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6DE33D7A-AD88-499B-8D0E-D4B78751E91A}"/>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직원이 회의·메일·문서 검색과 초안 작성에 시간을 쓰고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자료 접근 범위가 기존 M365 설정에 좌우됨</a:t>
            </a:r>
          </a:p>
        </p:txBody>
      </p:sp>
      <p:sp>
        <p:nvSpPr>
          <p:cNvPr id="8" name="">
            <a:extLst xmlns:a="http://schemas.openxmlformats.org/drawingml/2006/main">
              <a:ext uri="{FF2B5EF4-FFF2-40B4-BE49-F238E27FC236}">
                <a16:creationId xmlns:a16="http://schemas.microsoft.com/office/drawing/2014/main" id="{CBCD18C1-C7FF-4A67-A098-A668F5EC87C4}"/>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ACF21749-D4DA-44DF-8CDB-0AEA18B66532}"/>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M365 내 허용 자료 검색·요약·초안으로 여러 직군의 일상</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과업 지원</a:t>
            </a:r>
          </a:p>
        </p:txBody>
      </p:sp>
      <p:sp>
        <p:nvSpPr>
          <p:cNvPr id="10" name="">
            <a:extLst xmlns:a="http://schemas.openxmlformats.org/drawingml/2006/main">
              <a:ext uri="{FF2B5EF4-FFF2-40B4-BE49-F238E27FC236}">
                <a16:creationId xmlns:a16="http://schemas.microsoft.com/office/drawing/2014/main" id="{36CBCBF1-B6AB-4C72-9093-B30365C2B7BE}"/>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D6AAC52E-7C29-4F10-8DA5-928DD5A6BF14}"/>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반복 업무 시간 감소·업무 만족도·전략 업무 집중도 향상</a:t>
            </a:r>
          </a:p>
        </p:txBody>
      </p:sp>
      <p:sp>
        <p:nvSpPr>
          <p:cNvPr id="12" name="">
            <a:extLst xmlns:a="http://schemas.openxmlformats.org/drawingml/2006/main">
              <a:ext uri="{FF2B5EF4-FFF2-40B4-BE49-F238E27FC236}">
                <a16:creationId xmlns:a16="http://schemas.microsoft.com/office/drawing/2014/main" id="{FF50B929-847B-4765-8EA9-D20E84AD5681}"/>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1E10800A-1A55-46F0-A1AD-45101855967F}"/>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영국 정부 2만 명 라이선스 실험에서 설문 응답자 7,115명</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이 하루 평균 약 26분 절약을 자기보고; 복잡한 문맥·데이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터 업무와 원천 과다공유 우려도 기록</a:t>
            </a:r>
          </a:p>
        </p:txBody>
      </p:sp>
      <p:sp>
        <p:nvSpPr>
          <p:cNvPr id="14" name="">
            <a:extLst xmlns:a="http://schemas.openxmlformats.org/drawingml/2006/main">
              <a:ext uri="{FF2B5EF4-FFF2-40B4-BE49-F238E27FC236}">
                <a16:creationId xmlns:a16="http://schemas.microsoft.com/office/drawing/2014/main" id="{3E621432-DF31-48E7-BA70-77A4A46F7437}"/>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부분 성과 · 이용률과 자기보고 편익은 확인되나 최종 완료시간·품질의 통제 비교는 수행되지 않음</a:t>
            </a:r>
          </a:p>
        </p:txBody>
      </p:sp>
      <p:sp>
        <p:nvSpPr>
          <p:cNvPr id="15" name="">
            <a:extLst xmlns:a="http://schemas.openxmlformats.org/drawingml/2006/main">
              <a:ext uri="{FF2B5EF4-FFF2-40B4-BE49-F238E27FC236}">
                <a16:creationId xmlns:a16="http://schemas.microsoft.com/office/drawing/2014/main" id="{72F8D84A-1EA6-4F69-A233-D0703B7D0F01}"/>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정부 실험·자기보고 평가 · 26분은 이용자 추정치. 전 직원 실측 절감, 인과효과, TS 전용 목표치 아님</a:t>
            </a:r>
          </a:p>
        </p:txBody>
      </p:sp>
    </p:spTree>
    <p:extLst>
      <p:ext uri="{BB962C8B-B14F-4D97-AF65-F5344CB8AC3E}">
        <p14:creationId xmlns:p14="http://schemas.microsoft.com/office/powerpoint/2010/main" val="332575105"/>
      </p:ext>
    </p:extLst>
  </p:cSld>
</p:sld>
</file>

<file path=ppt/slides/slide1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F5947757-CD5D-48B2-AC0E-3EECCC919375}"/>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0507011D-2CCD-4561-A162-7030AB3475E3}"/>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E32A8B5D-8E6F-442F-9CB6-B4EB7E5982A2}"/>
              </a:ext>
            </a:extLst>
          </p:cNvPr>
          <p:cNvCxnSpPr>
            <a:stCxn xmlns:a="http://schemas.openxmlformats.org/drawingml/2006/main" id="22" idx="3"/>
            <a:endCxn xmlns:a="http://schemas.openxmlformats.org/drawingml/2006/main" id="25" idx="1"/>
          </p:cNvCxnSpPr>
          <p:nvPr/>
        </p:nvCxnSpPr>
        <p:spPr>
          <a:xfrm xmlns:a="http://schemas.openxmlformats.org/drawingml/2006/main">
            <a:off x="412242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7BAD101B-C031-4BD5-AE1F-DBB48623649B}"/>
              </a:ext>
            </a:extLst>
          </p:cNvPr>
          <p:cNvCxnSpPr>
            <a:stCxn xmlns:a="http://schemas.openxmlformats.org/drawingml/2006/main" id="16" idx="2"/>
            <a:endCxn xmlns:a="http://schemas.openxmlformats.org/drawingml/2006/main" id="34" idx="0"/>
          </p:cNvCxnSpPr>
          <p:nvPr/>
        </p:nvCxnSpPr>
        <p:spPr>
          <a:xfrm xmlns:a="http://schemas.openxmlformats.org/drawingml/2006/main">
            <a:off x="10620375" y="2905125"/>
            <a:ext cx="161925" cy="1371600"/>
          </a:xfrm>
          <a:prstGeom xmlns:a="http://schemas.openxmlformats.org/drawingml/2006/main" prst="straightConnector1">
            <a:avLst/>
          </a:prstGeom>
          <a:ln xmlns:a="http://schemas.openxmlformats.org/drawingml/2006/main" w="19050">
            <a:solidFill>
              <a:srgbClr val="A25A51"/>
            </a:solidFill>
            <a:tailEnd type="arrow" w="med" len="med"/>
          </a:ln>
        </p:spPr>
      </p:cxnSp>
      <p:cxnSp>
        <p:nvCxnSpPr>
          <p:cNvPr id="41" name="">
            <a:extLst xmlns:a="http://schemas.openxmlformats.org/drawingml/2006/main">
              <a:ext uri="{FF2B5EF4-FFF2-40B4-BE49-F238E27FC236}">
                <a16:creationId xmlns:a16="http://schemas.microsoft.com/office/drawing/2014/main" id="{A3B7E56B-BFB6-4F63-BF30-DD62171BFA5D}"/>
              </a:ext>
            </a:extLst>
          </p:cNvPr>
          <p:cNvCxnSpPr>
            <a:stCxn xmlns:a="http://schemas.openxmlformats.org/drawingml/2006/main" id="16" idx="1"/>
            <a:endCxn xmlns:a="http://schemas.openxmlformats.org/drawingml/2006/main" id="22" idx="3"/>
          </p:cNvCxnSpPr>
          <p:nvPr/>
        </p:nvCxnSpPr>
        <p:spPr>
          <a:xfrm xmlns:a="http://schemas.openxmlformats.org/drawingml/2006/main" flipH="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0A918D86-74B0-43A1-9945-D32AD207A05B}"/>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37F666D4-9D0E-4C17-A36C-214C293EF9ED}"/>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8" name="">
            <a:extLst xmlns:a="http://schemas.openxmlformats.org/drawingml/2006/main">
              <a:ext uri="{FF2B5EF4-FFF2-40B4-BE49-F238E27FC236}">
                <a16:creationId xmlns:a16="http://schemas.microsoft.com/office/drawing/2014/main" id="{798AAAFC-E5AE-484C-A4F8-1CDD56B32EDB}"/>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7" name="">
            <a:extLst xmlns:a="http://schemas.openxmlformats.org/drawingml/2006/main">
              <a:ext uri="{FF2B5EF4-FFF2-40B4-BE49-F238E27FC236}">
                <a16:creationId xmlns:a16="http://schemas.microsoft.com/office/drawing/2014/main" id="{FF143C2A-C74A-4C92-A774-98FF8F13284F}"/>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55E685F3-97F2-4F06-BB7D-D841383842A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AX04 / 권한·목적 판정 후 허용·차단 분기</a:t>
            </a:r>
          </a:p>
        </p:txBody>
      </p:sp>
      <p:sp>
        <p:nvSpPr>
          <p:cNvPr id="2" name="">
            <a:extLst xmlns:a="http://schemas.openxmlformats.org/drawingml/2006/main">
              <a:ext uri="{FF2B5EF4-FFF2-40B4-BE49-F238E27FC236}">
                <a16:creationId xmlns:a16="http://schemas.microsoft.com/office/drawing/2014/main" id="{06EA322A-43C8-4F65-A554-130C88FD9D4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정부 M365 Copilot · 세부 서비스 구조</a:t>
            </a:r>
          </a:p>
        </p:txBody>
      </p:sp>
      <p:sp>
        <p:nvSpPr>
          <p:cNvPr id="3" name="">
            <a:extLst xmlns:a="http://schemas.openxmlformats.org/drawingml/2006/main">
              <a:ext uri="{FF2B5EF4-FFF2-40B4-BE49-F238E27FC236}">
                <a16:creationId xmlns:a16="http://schemas.microsoft.com/office/drawing/2014/main" id="{5A422D1E-2D64-4E2E-B11C-5BC8F7174B8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BFC76DE-2788-4966-AA55-66E30EE0EE0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72C21142-966D-4299-983E-B36F7684BCB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19</a:t>
            </a:r>
          </a:p>
        </p:txBody>
      </p:sp>
      <p:sp>
        <p:nvSpPr>
          <p:cNvPr id="6" name="">
            <a:extLst xmlns:a="http://schemas.openxmlformats.org/drawingml/2006/main">
              <a:ext uri="{FF2B5EF4-FFF2-40B4-BE49-F238E27FC236}">
                <a16:creationId xmlns:a16="http://schemas.microsoft.com/office/drawing/2014/main" id="{0BCA0B5C-E774-4C12-8D1C-C1F277840F88}"/>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직원 요청 → 기존 접근권한 → 업무 자료 검색 → 초안·직원 검토</a:t>
            </a:r>
          </a:p>
        </p:txBody>
      </p:sp>
      <p:sp>
        <p:nvSpPr>
          <p:cNvPr id="7" name="">
            <a:extLst xmlns:a="http://schemas.openxmlformats.org/drawingml/2006/main">
              <a:ext uri="{FF2B5EF4-FFF2-40B4-BE49-F238E27FC236}">
                <a16:creationId xmlns:a16="http://schemas.microsoft.com/office/drawing/2014/main" id="{78E49878-CF52-4ACC-AFA1-593FCC7DD0B5}"/>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0164DB33-C7FE-40EC-962C-F25639DF8B80}"/>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AF66FEF7-2474-42B0-A9BD-3420A4632B94}"/>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M365 업무 요청</a:t>
            </a:r>
          </a:p>
        </p:txBody>
      </p:sp>
      <p:sp>
        <p:nvSpPr>
          <p:cNvPr id="10" name="">
            <a:extLst xmlns:a="http://schemas.openxmlformats.org/drawingml/2006/main">
              <a:ext uri="{FF2B5EF4-FFF2-40B4-BE49-F238E27FC236}">
                <a16:creationId xmlns:a16="http://schemas.microsoft.com/office/drawing/2014/main" id="{9B00511F-F345-4E41-82EA-B24CEC97D61B}"/>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26D7985F-7F96-4523-815C-0BDD9A623B9B}"/>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C5B1F8C6-16DA-46AB-85B0-C03FAD081CA6}"/>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직원·과업 맥락</a:t>
            </a:r>
          </a:p>
        </p:txBody>
      </p:sp>
      <p:sp>
        <p:nvSpPr>
          <p:cNvPr id="13" name="">
            <a:extLst xmlns:a="http://schemas.openxmlformats.org/drawingml/2006/main">
              <a:ext uri="{FF2B5EF4-FFF2-40B4-BE49-F238E27FC236}">
                <a16:creationId xmlns:a16="http://schemas.microsoft.com/office/drawing/2014/main" id="{B0B57B39-7406-42E2-980D-26047B73A4EB}"/>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D7D2D0BB-54D7-4E2C-AA80-B1C2DC611A79}"/>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15" name="">
            <a:extLst xmlns:a="http://schemas.openxmlformats.org/drawingml/2006/main">
              <a:ext uri="{FF2B5EF4-FFF2-40B4-BE49-F238E27FC236}">
                <a16:creationId xmlns:a16="http://schemas.microsoft.com/office/drawing/2014/main" id="{91DC336E-A383-41C2-B925-F29183A70E10}"/>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 접근정책</a:t>
            </a:r>
          </a:p>
        </p:txBody>
      </p:sp>
      <p:sp>
        <p:nvSpPr>
          <p:cNvPr id="16" name="">
            <a:extLst xmlns:a="http://schemas.openxmlformats.org/drawingml/2006/main">
              <a:ext uri="{FF2B5EF4-FFF2-40B4-BE49-F238E27FC236}">
                <a16:creationId xmlns:a16="http://schemas.microsoft.com/office/drawing/2014/main" id="{8790EF5C-B7AC-400D-A0AB-89EDD8047DCD}"/>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FE413868-9D2C-4A7B-B7DF-43153AC47347}"/>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994E7E6F-AC06-4ACF-892B-54892C8C8078}"/>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근거·사실 대조</a:t>
            </a:r>
          </a:p>
        </p:txBody>
      </p:sp>
      <p:sp>
        <p:nvSpPr>
          <p:cNvPr id="19" name="">
            <a:extLst xmlns:a="http://schemas.openxmlformats.org/drawingml/2006/main">
              <a:ext uri="{FF2B5EF4-FFF2-40B4-BE49-F238E27FC236}">
                <a16:creationId xmlns:a16="http://schemas.microsoft.com/office/drawing/2014/main" id="{5449296B-0257-4136-BB71-0A6511EB80C4}"/>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7F97C0B7-CCD8-4AD8-9293-1B9A1D8FB333}"/>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1" name="">
            <a:extLst xmlns:a="http://schemas.openxmlformats.org/drawingml/2006/main">
              <a:ext uri="{FF2B5EF4-FFF2-40B4-BE49-F238E27FC236}">
                <a16:creationId xmlns:a16="http://schemas.microsoft.com/office/drawing/2014/main" id="{1AD2DAF7-4EF8-446B-BC10-15F5BC81D795}"/>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문서·회의 자료</a:t>
            </a:r>
          </a:p>
        </p:txBody>
      </p:sp>
      <p:sp>
        <p:nvSpPr>
          <p:cNvPr id="22" name="">
            <a:extLst xmlns:a="http://schemas.openxmlformats.org/drawingml/2006/main">
              <a:ext uri="{FF2B5EF4-FFF2-40B4-BE49-F238E27FC236}">
                <a16:creationId xmlns:a16="http://schemas.microsoft.com/office/drawing/2014/main" id="{928F73B2-F20C-4D9A-A5B0-DFDDBB3A9F30}"/>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34C00A66-7C10-4F06-AE68-255F723517B7}"/>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4" name="">
            <a:extLst xmlns:a="http://schemas.openxmlformats.org/drawingml/2006/main">
              <a:ext uri="{FF2B5EF4-FFF2-40B4-BE49-F238E27FC236}">
                <a16:creationId xmlns:a16="http://schemas.microsoft.com/office/drawing/2014/main" id="{0D653137-F012-4674-ACB6-610A82203883}"/>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검색·요약·작성</a:t>
            </a:r>
          </a:p>
        </p:txBody>
      </p:sp>
      <p:sp>
        <p:nvSpPr>
          <p:cNvPr id="25" name="">
            <a:extLst xmlns:a="http://schemas.openxmlformats.org/drawingml/2006/main">
              <a:ext uri="{FF2B5EF4-FFF2-40B4-BE49-F238E27FC236}">
                <a16:creationId xmlns:a16="http://schemas.microsoft.com/office/drawing/2014/main" id="{2A492892-FE75-4FF5-A4B7-936058BD1025}"/>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B54A5099-33D0-4E62-ACFA-B88A5AB6CB50}"/>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7" name="">
            <a:extLst xmlns:a="http://schemas.openxmlformats.org/drawingml/2006/main">
              <a:ext uri="{FF2B5EF4-FFF2-40B4-BE49-F238E27FC236}">
                <a16:creationId xmlns:a16="http://schemas.microsoft.com/office/drawing/2014/main" id="{6400A973-4A62-4ED6-820C-D70B9F16C7CA}"/>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직원 편집·확인</a:t>
            </a:r>
          </a:p>
        </p:txBody>
      </p:sp>
      <p:sp>
        <p:nvSpPr>
          <p:cNvPr id="28" name="">
            <a:extLst xmlns:a="http://schemas.openxmlformats.org/drawingml/2006/main">
              <a:ext uri="{FF2B5EF4-FFF2-40B4-BE49-F238E27FC236}">
                <a16:creationId xmlns:a16="http://schemas.microsoft.com/office/drawing/2014/main" id="{5F153EDC-8666-4A57-AE23-8494F9839F34}"/>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573A4461-E092-4E1C-9875-45CA7058FBBC}"/>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0" name="">
            <a:extLst xmlns:a="http://schemas.openxmlformats.org/drawingml/2006/main">
              <a:ext uri="{FF2B5EF4-FFF2-40B4-BE49-F238E27FC236}">
                <a16:creationId xmlns:a16="http://schemas.microsoft.com/office/drawing/2014/main" id="{4706F5A2-AA90-4A17-9DED-0CCE259B231D}"/>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문서·회의 후속업</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무</a:t>
            </a:r>
          </a:p>
        </p:txBody>
      </p:sp>
      <p:sp>
        <p:nvSpPr>
          <p:cNvPr id="31" name="">
            <a:extLst xmlns:a="http://schemas.openxmlformats.org/drawingml/2006/main">
              <a:ext uri="{FF2B5EF4-FFF2-40B4-BE49-F238E27FC236}">
                <a16:creationId xmlns:a16="http://schemas.microsoft.com/office/drawing/2014/main" id="{45EA3009-F440-48AD-BC74-5061C1DE1C1E}"/>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2EA4D5D4-4B27-4F60-B99C-B92C16A35973}"/>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3" name="">
            <a:extLst xmlns:a="http://schemas.openxmlformats.org/drawingml/2006/main">
              <a:ext uri="{FF2B5EF4-FFF2-40B4-BE49-F238E27FC236}">
                <a16:creationId xmlns:a16="http://schemas.microsoft.com/office/drawing/2014/main" id="{8524E747-1678-4BA8-A4CB-5B16A5DF610A}"/>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검토시간 비교</a:t>
            </a:r>
          </a:p>
        </p:txBody>
      </p:sp>
      <p:sp>
        <p:nvSpPr>
          <p:cNvPr id="34" name="">
            <a:extLst xmlns:a="http://schemas.openxmlformats.org/drawingml/2006/main">
              <a:ext uri="{FF2B5EF4-FFF2-40B4-BE49-F238E27FC236}">
                <a16:creationId xmlns:a16="http://schemas.microsoft.com/office/drawing/2014/main" id="{D4914794-B2F6-44ED-9426-9A20EACF3037}"/>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EFA5688F-6998-4975-A4A9-09C4805F16C0}"/>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6" name="">
            <a:extLst xmlns:a="http://schemas.openxmlformats.org/drawingml/2006/main">
              <a:ext uri="{FF2B5EF4-FFF2-40B4-BE49-F238E27FC236}">
                <a16:creationId xmlns:a16="http://schemas.microsoft.com/office/drawing/2014/main" id="{48225DC2-A3F2-49DA-B713-E2CFFE71A487}"/>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업무·평가 기록</a:t>
            </a:r>
          </a:p>
        </p:txBody>
      </p:sp>
      <p:sp>
        <p:nvSpPr>
          <p:cNvPr id="46" name="">
            <a:extLst xmlns:a="http://schemas.openxmlformats.org/drawingml/2006/main">
              <a:ext uri="{FF2B5EF4-FFF2-40B4-BE49-F238E27FC236}">
                <a16:creationId xmlns:a16="http://schemas.microsoft.com/office/drawing/2014/main" id="{AF5541A2-6A08-46D2-97A4-253C0F1E9817}"/>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194269504"/>
      </p:ext>
    </p:extLst>
  </p:cSld>
</p:sld>
</file>

<file path=ppt/slides/slide2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FE0403FC-1DC0-4263-B155-2E161464DBE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AX04 / 논리 인터페이스·복구 설계</a:t>
            </a:r>
          </a:p>
        </p:txBody>
      </p:sp>
      <p:sp>
        <p:nvSpPr>
          <p:cNvPr id="2" name="">
            <a:extLst xmlns:a="http://schemas.openxmlformats.org/drawingml/2006/main">
              <a:ext uri="{FF2B5EF4-FFF2-40B4-BE49-F238E27FC236}">
                <a16:creationId xmlns:a16="http://schemas.microsoft.com/office/drawing/2014/main" id="{20458B57-0CA5-47BA-9AE3-539A700C70F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정부 M365 Copilot · 데이터와 예외 처리</a:t>
            </a:r>
          </a:p>
        </p:txBody>
      </p:sp>
      <p:sp>
        <p:nvSpPr>
          <p:cNvPr id="3" name="">
            <a:extLst xmlns:a="http://schemas.openxmlformats.org/drawingml/2006/main">
              <a:ext uri="{FF2B5EF4-FFF2-40B4-BE49-F238E27FC236}">
                <a16:creationId xmlns:a16="http://schemas.microsoft.com/office/drawing/2014/main" id="{2FE11999-02CB-4D14-BB45-745E74BEC4E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68A7864-1A4A-4CF0-80C1-4ABDE6D1F37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01BB5C7A-36E2-49B0-BF0E-59F087F790B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20</a:t>
            </a:r>
          </a:p>
        </p:txBody>
      </p:sp>
      <p:sp>
        <p:nvSpPr>
          <p:cNvPr id="6" name="">
            <a:extLst xmlns:a="http://schemas.openxmlformats.org/drawingml/2006/main">
              <a:ext uri="{FF2B5EF4-FFF2-40B4-BE49-F238E27FC236}">
                <a16:creationId xmlns:a16="http://schemas.microsoft.com/office/drawing/2014/main" id="{4ABB0873-330A-483A-9A02-DA5AE28AA138}"/>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E992E4DA-495D-41B4-A9A6-C3E1A6D5CDC1}"/>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01A21A8B-DF10-4296-99F9-93F8E69D6B79}"/>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요청·대상</a:t>
            </a:r>
          </a:p>
        </p:txBody>
      </p:sp>
      <p:sp>
        <p:nvSpPr>
          <p:cNvPr id="9" name="">
            <a:extLst xmlns:a="http://schemas.openxmlformats.org/drawingml/2006/main">
              <a:ext uri="{FF2B5EF4-FFF2-40B4-BE49-F238E27FC236}">
                <a16:creationId xmlns:a16="http://schemas.microsoft.com/office/drawing/2014/main" id="{DD6E49AE-C576-415F-8937-A88FF4FEF3B5}"/>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직원 계정과 과업별 접근 문맥</a:t>
            </a:r>
          </a:p>
        </p:txBody>
      </p:sp>
      <p:sp>
        <p:nvSpPr>
          <p:cNvPr id="10" name="">
            <a:extLst xmlns:a="http://schemas.openxmlformats.org/drawingml/2006/main">
              <a:ext uri="{FF2B5EF4-FFF2-40B4-BE49-F238E27FC236}">
                <a16:creationId xmlns:a16="http://schemas.microsoft.com/office/drawing/2014/main" id="{E0D61852-9869-469E-9F94-7A64406B5244}"/>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0536287-91FC-49FF-AF0A-C0072434B000}"/>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조직·목적</a:t>
            </a:r>
          </a:p>
        </p:txBody>
      </p:sp>
      <p:sp>
        <p:nvSpPr>
          <p:cNvPr id="12" name="">
            <a:extLst xmlns:a="http://schemas.openxmlformats.org/drawingml/2006/main">
              <a:ext uri="{FF2B5EF4-FFF2-40B4-BE49-F238E27FC236}">
                <a16:creationId xmlns:a16="http://schemas.microsoft.com/office/drawing/2014/main" id="{AFA0FBE2-F2B1-4C4D-8366-BD0CCB5FDC25}"/>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 요청</a:t>
            </a:r>
          </a:p>
        </p:txBody>
      </p:sp>
      <p:sp>
        <p:nvSpPr>
          <p:cNvPr id="13" name="">
            <a:extLst xmlns:a="http://schemas.openxmlformats.org/drawingml/2006/main">
              <a:ext uri="{FF2B5EF4-FFF2-40B4-BE49-F238E27FC236}">
                <a16:creationId xmlns:a16="http://schemas.microsoft.com/office/drawing/2014/main" id="{B3F5E65A-44EE-4E2A-AC14-560A2CCB6800}"/>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CA17687-1FC6-4F6E-BDC9-3740C14A1557}"/>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허용 정책</a:t>
            </a:r>
          </a:p>
        </p:txBody>
      </p:sp>
      <p:sp>
        <p:nvSpPr>
          <p:cNvPr id="15" name="">
            <a:extLst xmlns:a="http://schemas.openxmlformats.org/drawingml/2006/main">
              <a:ext uri="{FF2B5EF4-FFF2-40B4-BE49-F238E27FC236}">
                <a16:creationId xmlns:a16="http://schemas.microsoft.com/office/drawing/2014/main" id="{64D6F33A-1F52-4A3A-8195-DFAA77E3FE21}"/>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문서 접근정책</a:t>
            </a:r>
          </a:p>
        </p:txBody>
      </p:sp>
      <p:sp>
        <p:nvSpPr>
          <p:cNvPr id="16" name="">
            <a:extLst xmlns:a="http://schemas.openxmlformats.org/drawingml/2006/main">
              <a:ext uri="{FF2B5EF4-FFF2-40B4-BE49-F238E27FC236}">
                <a16:creationId xmlns:a16="http://schemas.microsoft.com/office/drawing/2014/main" id="{A745F526-D94A-4982-BAA7-5F758DF265DC}"/>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A084D10-1402-465C-A392-75550D5A2FB2}"/>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허용된 경우</a:t>
            </a:r>
          </a:p>
        </p:txBody>
      </p:sp>
      <p:sp>
        <p:nvSpPr>
          <p:cNvPr id="18" name="">
            <a:extLst xmlns:a="http://schemas.openxmlformats.org/drawingml/2006/main">
              <a:ext uri="{FF2B5EF4-FFF2-40B4-BE49-F238E27FC236}">
                <a16:creationId xmlns:a16="http://schemas.microsoft.com/office/drawing/2014/main" id="{F42F7733-F5B6-40DD-B6C1-CE49D8C0E547}"/>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문서·회의 초안</a:t>
            </a:r>
          </a:p>
        </p:txBody>
      </p:sp>
      <p:sp>
        <p:nvSpPr>
          <p:cNvPr id="19" name="">
            <a:extLst xmlns:a="http://schemas.openxmlformats.org/drawingml/2006/main">
              <a:ext uri="{FF2B5EF4-FFF2-40B4-BE49-F238E27FC236}">
                <a16:creationId xmlns:a16="http://schemas.microsoft.com/office/drawing/2014/main" id="{DCF8053C-F6E3-4BA3-A4FA-7A5B9E261BEE}"/>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5855DB8-E279-41BB-B1F6-5E81CBC62C83}"/>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거부·보류</a:t>
            </a:r>
          </a:p>
        </p:txBody>
      </p:sp>
      <p:sp>
        <p:nvSpPr>
          <p:cNvPr id="21" name="">
            <a:extLst xmlns:a="http://schemas.openxmlformats.org/drawingml/2006/main">
              <a:ext uri="{FF2B5EF4-FFF2-40B4-BE49-F238E27FC236}">
                <a16:creationId xmlns:a16="http://schemas.microsoft.com/office/drawing/2014/main" id="{6C2AEBF2-8BE9-4316-BCB8-BEEFA17894B8}"/>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문서·회의 초안</a:t>
            </a:r>
          </a:p>
        </p:txBody>
      </p:sp>
      <p:sp>
        <p:nvSpPr>
          <p:cNvPr id="22" name="">
            <a:extLst xmlns:a="http://schemas.openxmlformats.org/drawingml/2006/main">
              <a:ext uri="{FF2B5EF4-FFF2-40B4-BE49-F238E27FC236}">
                <a16:creationId xmlns:a16="http://schemas.microsoft.com/office/drawing/2014/main" id="{D22AB6A0-4BC0-4A98-8CD1-324997EAE6A6}"/>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EFF33659-771F-446C-A487-68DF8E07B022}"/>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사람 확인</a:t>
            </a:r>
          </a:p>
        </p:txBody>
      </p:sp>
      <p:sp>
        <p:nvSpPr>
          <p:cNvPr id="24" name="">
            <a:extLst xmlns:a="http://schemas.openxmlformats.org/drawingml/2006/main">
              <a:ext uri="{FF2B5EF4-FFF2-40B4-BE49-F238E27FC236}">
                <a16:creationId xmlns:a16="http://schemas.microsoft.com/office/drawing/2014/main" id="{96D4F410-F261-4CBA-AC65-5D23F1912BDD}"/>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검토 결과</a:t>
            </a:r>
          </a:p>
        </p:txBody>
      </p:sp>
      <p:sp>
        <p:nvSpPr>
          <p:cNvPr id="25" name="">
            <a:extLst xmlns:a="http://schemas.openxmlformats.org/drawingml/2006/main">
              <a:ext uri="{FF2B5EF4-FFF2-40B4-BE49-F238E27FC236}">
                <a16:creationId xmlns:a16="http://schemas.microsoft.com/office/drawing/2014/main" id="{3F2EFEEC-FD0F-40AF-9AA5-87F704ED7FD3}"/>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86B13C17-7AAA-4086-92C7-6CBE053BF6A8}"/>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다른 부서 공유문서·누락된 발언·잘못된 할일 배정</a:t>
            </a:r>
          </a:p>
        </p:txBody>
      </p:sp>
      <p:sp>
        <p:nvSpPr>
          <p:cNvPr id="27" name="">
            <a:extLst xmlns:a="http://schemas.openxmlformats.org/drawingml/2006/main">
              <a:ext uri="{FF2B5EF4-FFF2-40B4-BE49-F238E27FC236}">
                <a16:creationId xmlns:a16="http://schemas.microsoft.com/office/drawing/2014/main" id="{E22C4A97-E5A4-4252-B030-2DCA92EB3E07}"/>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26545F0A-F5E0-4BBB-8B5E-B4FEA454BA1D}"/>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정답·검토시간을 포함한 비교 평가</a:t>
            </a:r>
          </a:p>
        </p:txBody>
      </p:sp>
      <p:sp>
        <p:nvSpPr>
          <p:cNvPr id="29" name="">
            <a:extLst xmlns:a="http://schemas.openxmlformats.org/drawingml/2006/main">
              <a:ext uri="{FF2B5EF4-FFF2-40B4-BE49-F238E27FC236}">
                <a16:creationId xmlns:a16="http://schemas.microsoft.com/office/drawing/2014/main" id="{43E483B3-859A-4F72-AB5A-7079822EBA05}"/>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066832F6-49EB-4664-9A95-BEE40904EE09}"/>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검토·재작업 시간과 사용 로그의 과업별 비교</a:t>
            </a:r>
          </a:p>
        </p:txBody>
      </p:sp>
      <p:sp>
        <p:nvSpPr>
          <p:cNvPr id="31" name="">
            <a:extLst xmlns:a="http://schemas.openxmlformats.org/drawingml/2006/main">
              <a:ext uri="{FF2B5EF4-FFF2-40B4-BE49-F238E27FC236}">
                <a16:creationId xmlns:a16="http://schemas.microsoft.com/office/drawing/2014/main" id="{7179E7E5-6793-4D2F-A299-96C0F35A45D4}"/>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2842DE54-1A5B-4583-AEBC-9E5E72E0A9A5}"/>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권한별 결과와 검토·재작업을 포함한 과업 완료시간</a:t>
            </a:r>
          </a:p>
        </p:txBody>
      </p:sp>
    </p:spTree>
    <p:extLst>
      <p:ext uri="{BB962C8B-B14F-4D97-AF65-F5344CB8AC3E}">
        <p14:creationId xmlns:p14="http://schemas.microsoft.com/office/powerpoint/2010/main" val="1987456068"/>
      </p:ext>
    </p:extLst>
  </p:cSld>
</p:sld>
</file>

<file path=ppt/slides/slide2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18CD72D-2C3E-400C-9FC9-E0793616694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AX04 / CCK 비교·재현 시험 설계</a:t>
            </a:r>
          </a:p>
        </p:txBody>
      </p:sp>
      <p:sp>
        <p:nvSpPr>
          <p:cNvPr id="2" name="">
            <a:extLst xmlns:a="http://schemas.openxmlformats.org/drawingml/2006/main">
              <a:ext uri="{FF2B5EF4-FFF2-40B4-BE49-F238E27FC236}">
                <a16:creationId xmlns:a16="http://schemas.microsoft.com/office/drawing/2014/main" id="{E39408DD-FC36-4ADE-8FB3-A9895DAA84A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영국 정부 M365 Copilot · 벤치마킹</a:t>
            </a:r>
          </a:p>
        </p:txBody>
      </p:sp>
      <p:sp>
        <p:nvSpPr>
          <p:cNvPr id="3" name="">
            <a:extLst xmlns:a="http://schemas.openxmlformats.org/drawingml/2006/main">
              <a:ext uri="{FF2B5EF4-FFF2-40B4-BE49-F238E27FC236}">
                <a16:creationId xmlns:a16="http://schemas.microsoft.com/office/drawing/2014/main" id="{0281F973-FBA2-4467-BF16-6EA5304310D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DB9A6AF-0689-4FE9-818B-F21BFE03D0E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5FCB96DA-24EA-4426-BB34-B1C4365C11F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21</a:t>
            </a:r>
          </a:p>
        </p:txBody>
      </p:sp>
      <p:sp>
        <p:nvSpPr>
          <p:cNvPr id="6" name="">
            <a:extLst xmlns:a="http://schemas.openxmlformats.org/drawingml/2006/main">
              <a:ext uri="{FF2B5EF4-FFF2-40B4-BE49-F238E27FC236}">
                <a16:creationId xmlns:a16="http://schemas.microsoft.com/office/drawing/2014/main" id="{F79D22FD-74EE-4A75-ACC2-04118309E66F}"/>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D00C7BB4-1BFC-4B8C-BE1C-0411D4528204}"/>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기존 문서·회의 도구 안의 지원</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실제 직원의 활용·피드백 수집</a:t>
            </a:r>
          </a:p>
        </p:txBody>
      </p:sp>
      <p:sp>
        <p:nvSpPr>
          <p:cNvPr id="8" name="">
            <a:extLst xmlns:a="http://schemas.openxmlformats.org/drawingml/2006/main">
              <a:ext uri="{FF2B5EF4-FFF2-40B4-BE49-F238E27FC236}">
                <a16:creationId xmlns:a16="http://schemas.microsoft.com/office/drawing/2014/main" id="{B088D73A-1CCA-4547-896E-FB4A01748513}"/>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30BF12E6-BDA3-4394-8753-79CE6A49840E}"/>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업무별 효과 편차</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자기보고 절감시간과 실측시간의 차이</a:t>
            </a:r>
          </a:p>
        </p:txBody>
      </p:sp>
      <p:sp>
        <p:nvSpPr>
          <p:cNvPr id="10" name="">
            <a:extLst xmlns:a="http://schemas.openxmlformats.org/drawingml/2006/main">
              <a:ext uri="{FF2B5EF4-FFF2-40B4-BE49-F238E27FC236}">
                <a16:creationId xmlns:a16="http://schemas.microsoft.com/office/drawing/2014/main" id="{57BBE85A-D830-451F-9939-CB06BDD869BD}"/>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A915C7C4-910B-462D-88FC-DD46A4A44430}"/>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정답·검토시간을 포함한 비교 평가</a:t>
            </a:r>
          </a:p>
        </p:txBody>
      </p:sp>
      <p:sp>
        <p:nvSpPr>
          <p:cNvPr id="12" name="">
            <a:extLst xmlns:a="http://schemas.openxmlformats.org/drawingml/2006/main">
              <a:ext uri="{FF2B5EF4-FFF2-40B4-BE49-F238E27FC236}">
                <a16:creationId xmlns:a16="http://schemas.microsoft.com/office/drawing/2014/main" id="{176E5E65-A2C2-4A0A-988B-EE08E97EA0FC}"/>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BE09F9F8-C90F-45BB-AA2B-51C3F9D933EA}"/>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같은 회의자료로 회의록 초안을 작성하고 직원이 </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수정·확정</a:t>
            </a:r>
          </a:p>
        </p:txBody>
      </p:sp>
      <p:sp>
        <p:nvSpPr>
          <p:cNvPr id="14" name="">
            <a:extLst xmlns:a="http://schemas.openxmlformats.org/drawingml/2006/main">
              <a:ext uri="{FF2B5EF4-FFF2-40B4-BE49-F238E27FC236}">
                <a16:creationId xmlns:a16="http://schemas.microsoft.com/office/drawing/2014/main" id="{435BAFBE-ECB2-4FA1-B2DA-8D5786D0783B}"/>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A62E7E1D-D7B4-4F60-A07E-5C3B03662A14}"/>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다른 부서 공유문서·누락된 발언·잘못된 할일 배정</a:t>
            </a:r>
          </a:p>
        </p:txBody>
      </p:sp>
      <p:sp>
        <p:nvSpPr>
          <p:cNvPr id="16" name="">
            <a:extLst xmlns:a="http://schemas.openxmlformats.org/drawingml/2006/main">
              <a:ext uri="{FF2B5EF4-FFF2-40B4-BE49-F238E27FC236}">
                <a16:creationId xmlns:a16="http://schemas.microsoft.com/office/drawing/2014/main" id="{9D97F535-E67A-456F-8AB4-8562A4521128}"/>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576EBA0B-8226-493F-BC27-A3DB79916164}"/>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권한별 결과와 검토·재작업을 포함한 과업 완료시</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간</a:t>
            </a:r>
          </a:p>
        </p:txBody>
      </p:sp>
    </p:spTree>
    <p:extLst>
      <p:ext uri="{BB962C8B-B14F-4D97-AF65-F5344CB8AC3E}">
        <p14:creationId xmlns:p14="http://schemas.microsoft.com/office/powerpoint/2010/main" val="1557571802"/>
      </p:ext>
    </p:extLst>
  </p:cSld>
</p:sld>
</file>

<file path=ppt/slides/slide2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26B494C-EFFF-4ED5-9EE6-C6FB8E949DB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AX05 / 성과 확인 / 해외</a:t>
            </a:r>
          </a:p>
        </p:txBody>
      </p:sp>
      <p:sp>
        <p:nvSpPr>
          <p:cNvPr id="2" name="">
            <a:extLst xmlns:a="http://schemas.openxmlformats.org/drawingml/2006/main">
              <a:ext uri="{FF2B5EF4-FFF2-40B4-BE49-F238E27FC236}">
                <a16:creationId xmlns:a16="http://schemas.microsoft.com/office/drawing/2014/main" id="{198CB2A7-9D6A-4CC5-BDDD-EFEF1ABD46E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데이터센터 냉각</a:t>
            </a:r>
          </a:p>
        </p:txBody>
      </p:sp>
      <p:sp>
        <p:nvSpPr>
          <p:cNvPr id="3" name="">
            <a:extLst xmlns:a="http://schemas.openxmlformats.org/drawingml/2006/main">
              <a:ext uri="{FF2B5EF4-FFF2-40B4-BE49-F238E27FC236}">
                <a16:creationId xmlns:a16="http://schemas.microsoft.com/office/drawing/2014/main" id="{D4477AAF-E48D-457C-A802-CA58A025CB6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C9935EB-98C2-436C-AAC3-C398FE2B023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50AEC708-9A4B-4087-B94B-1F51337ADD6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22</a:t>
            </a:r>
          </a:p>
        </p:txBody>
      </p:sp>
      <p:sp>
        <p:nvSpPr>
          <p:cNvPr id="6" name="">
            <a:extLst xmlns:a="http://schemas.openxmlformats.org/drawingml/2006/main">
              <a:ext uri="{FF2B5EF4-FFF2-40B4-BE49-F238E27FC236}">
                <a16:creationId xmlns:a16="http://schemas.microsoft.com/office/drawing/2014/main" id="{34780CA3-7610-4DCC-BB57-C3085F84E4FA}"/>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1B86D541-204A-4D82-B08F-CD56DA36AE7F}"/>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데이터센터 냉각의 전력 효율과 설비 안전을 함께 다룬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제어 사례. 예측 결과를 화면에 보여주는 단계에서 실제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제어에 연결할 때 필요한 독립 안전검증이 핵심.</a:t>
            </a:r>
          </a:p>
        </p:txBody>
      </p:sp>
      <p:sp>
        <p:nvSpPr>
          <p:cNvPr id="8" name="">
            <a:extLst xmlns:a="http://schemas.openxmlformats.org/drawingml/2006/main">
              <a:ext uri="{FF2B5EF4-FFF2-40B4-BE49-F238E27FC236}">
                <a16:creationId xmlns:a16="http://schemas.microsoft.com/office/drawing/2014/main" id="{9FE6418E-B546-4A70-86D6-512E7F575FEB}"/>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3226B9FE-24CA-4D81-AE01-DF143BD2D103}"/>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센서 상태에서 제어 후보를 예측한 뒤 클라우드 측 검증</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과 현장 제어계 검증을 거쳐 실행하는 공개 구조. 운영자</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의 수동 전환과 허용 경계를 별도 계층으로 유지하고 실</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행 결과를 다음 주기 입력에 반영.</a:t>
            </a:r>
          </a:p>
        </p:txBody>
      </p:sp>
      <p:sp>
        <p:nvSpPr>
          <p:cNvPr id="10" name="">
            <a:extLst xmlns:a="http://schemas.openxmlformats.org/drawingml/2006/main">
              <a:ext uri="{FF2B5EF4-FFF2-40B4-BE49-F238E27FC236}">
                <a16:creationId xmlns:a16="http://schemas.microsoft.com/office/drawing/2014/main" id="{3332A124-4E14-4914-84F6-B0DF7B05E04F}"/>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01AE8D53-9E69-45BD-9ED7-1BE97ADD14F5}"/>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시설·장비 업무에 적용할 경우 AI 권고와 현장 실행 승</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인을 분리할 근거. 에너지 기준선은 계절·부하로 나누고,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센서 누락·경계 초과·통신 장애 시 안전 상태와 수동 복귀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를 먼저 검수할 필요.</a:t>
            </a:r>
          </a:p>
        </p:txBody>
      </p:sp>
      <p:sp>
        <p:nvSpPr>
          <p:cNvPr id="12" name="">
            <a:extLst xmlns:a="http://schemas.openxmlformats.org/drawingml/2006/main">
              <a:ext uri="{FF2B5EF4-FFF2-40B4-BE49-F238E27FC236}">
                <a16:creationId xmlns:a16="http://schemas.microsoft.com/office/drawing/2014/main" id="{0EE3A8C4-EA4E-4034-B8F0-C27017F4D811}"/>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90BEC3A8-2177-41FD-B38B-E8103D338527}"/>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원천·배출계수 판본 대사 / 계산 검증 / 권고 승인 / 계측</a:t>
            </a:r>
          </a:p>
        </p:txBody>
      </p:sp>
      <p:sp>
        <p:nvSpPr>
          <p:cNvPr id="14" name="">
            <a:extLst xmlns:a="http://schemas.openxmlformats.org/drawingml/2006/main">
              <a:ext uri="{FF2B5EF4-FFF2-40B4-BE49-F238E27FC236}">
                <a16:creationId xmlns:a16="http://schemas.microsoft.com/office/drawing/2014/main" id="{EA4BC5AD-9304-4ED4-A8E6-E52B18635EEF}"/>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F50056A3-4417-4128-9A8E-B1E6CC16BFAD}"/>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계수·단위·경계조건별 재계산 및 이상 입력 시 권고 보류</a:t>
            </a:r>
          </a:p>
        </p:txBody>
      </p:sp>
      <p:sp>
        <p:nvSpPr>
          <p:cNvPr id="16" name="">
            <a:extLst xmlns:a="http://schemas.openxmlformats.org/drawingml/2006/main">
              <a:ext uri="{FF2B5EF4-FFF2-40B4-BE49-F238E27FC236}">
                <a16:creationId xmlns:a16="http://schemas.microsoft.com/office/drawing/2014/main" id="{AF2D0D38-87A3-4518-AEF3-6BB7320E8A25}"/>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203CDFB5-A311-4900-AEE6-07D58E535CC6}"/>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검증된 활동량당 에너지 / 산식 오류율</a:t>
            </a:r>
          </a:p>
        </p:txBody>
      </p:sp>
      <p:sp>
        <p:nvSpPr>
          <p:cNvPr id="18" name="">
            <a:extLst xmlns:a="http://schemas.openxmlformats.org/drawingml/2006/main">
              <a:ext uri="{FF2B5EF4-FFF2-40B4-BE49-F238E27FC236}">
                <a16:creationId xmlns:a16="http://schemas.microsoft.com/office/drawing/2014/main" id="{874DC6A1-C1CE-491A-A6C9-A1456CF6C9A6}"/>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데이터센터 냉각 한정 · 총 전력·탄소·TS 절감률과 구분</a:t>
            </a:r>
          </a:p>
        </p:txBody>
      </p:sp>
    </p:spTree>
    <p:extLst>
      <p:ext uri="{BB962C8B-B14F-4D97-AF65-F5344CB8AC3E}">
        <p14:creationId xmlns:p14="http://schemas.microsoft.com/office/powerpoint/2010/main" val="658929947"/>
      </p:ext>
    </p:extLst>
  </p:cSld>
</p:sld>
</file>

<file path=ppt/slides/slide2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6539D04-ECAF-4AAD-BA68-DD08D0AF1F3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AX05 / As-Is → To-Be → 기대효과 → 확인 결과</a:t>
            </a:r>
          </a:p>
        </p:txBody>
      </p:sp>
      <p:sp>
        <p:nvSpPr>
          <p:cNvPr id="2" name="">
            <a:extLst xmlns:a="http://schemas.openxmlformats.org/drawingml/2006/main">
              <a:ext uri="{FF2B5EF4-FFF2-40B4-BE49-F238E27FC236}">
                <a16:creationId xmlns:a16="http://schemas.microsoft.com/office/drawing/2014/main" id="{0FEA6070-5D43-42FA-81FC-38CFFABAFAD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데이터센터 냉각 · 기대와 결과</a:t>
            </a:r>
          </a:p>
        </p:txBody>
      </p:sp>
      <p:sp>
        <p:nvSpPr>
          <p:cNvPr id="3" name="">
            <a:extLst xmlns:a="http://schemas.openxmlformats.org/drawingml/2006/main">
              <a:ext uri="{FF2B5EF4-FFF2-40B4-BE49-F238E27FC236}">
                <a16:creationId xmlns:a16="http://schemas.microsoft.com/office/drawing/2014/main" id="{80433AE7-3C6C-47B2-8EC7-69CF0D9A624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3AE0B0F-EFA2-4299-85F4-97411CB35EA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FDEF4BA-94B1-4CB5-BC95-8DD46AA52DC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23</a:t>
            </a:r>
          </a:p>
        </p:txBody>
      </p:sp>
      <p:sp>
        <p:nvSpPr>
          <p:cNvPr id="6" name="">
            <a:extLst xmlns:a="http://schemas.openxmlformats.org/drawingml/2006/main">
              <a:ext uri="{FF2B5EF4-FFF2-40B4-BE49-F238E27FC236}">
                <a16:creationId xmlns:a16="http://schemas.microsoft.com/office/drawing/2014/main" id="{62E2153B-DB82-44B5-9F7C-44063F7D9CAC}"/>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01B1181B-3C1C-4D0B-A6C4-CFB785AF4F7A}"/>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데이터센터 냉각 설정을 운영자가 수동 조정하고 AI 권고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적용에 지속 개입</a:t>
            </a:r>
          </a:p>
        </p:txBody>
      </p:sp>
      <p:sp>
        <p:nvSpPr>
          <p:cNvPr id="8" name="">
            <a:extLst xmlns:a="http://schemas.openxmlformats.org/drawingml/2006/main">
              <a:ext uri="{FF2B5EF4-FFF2-40B4-BE49-F238E27FC236}">
                <a16:creationId xmlns:a16="http://schemas.microsoft.com/office/drawing/2014/main" id="{B68EAD84-6DFD-4C3D-BF73-C46D7B1AD45C}"/>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4BF55027-6853-40D6-8D15-C245A8D9202F}"/>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센서 예측·클라우드 안전 제약·현장 재검증을 통과한 냉각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제어 자동화</a:t>
            </a:r>
          </a:p>
        </p:txBody>
      </p:sp>
      <p:sp>
        <p:nvSpPr>
          <p:cNvPr id="10" name="">
            <a:extLst xmlns:a="http://schemas.openxmlformats.org/drawingml/2006/main">
              <a:ext uri="{FF2B5EF4-FFF2-40B4-BE49-F238E27FC236}">
                <a16:creationId xmlns:a16="http://schemas.microsoft.com/office/drawing/2014/main" id="{2F1A1541-A788-4E3C-A131-DF9DA5272607}"/>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8679806C-193E-432B-9989-EDB6F71E2FA1}"/>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냉각 효율 개선과 안전한 운영 부담 경감</a:t>
            </a:r>
          </a:p>
        </p:txBody>
      </p:sp>
      <p:sp>
        <p:nvSpPr>
          <p:cNvPr id="12" name="">
            <a:extLst xmlns:a="http://schemas.openxmlformats.org/drawingml/2006/main">
              <a:ext uri="{FF2B5EF4-FFF2-40B4-BE49-F238E27FC236}">
                <a16:creationId xmlns:a16="http://schemas.microsoft.com/office/drawing/2014/main" id="{6D5DEC34-41AF-4FCC-A2C6-B968F245815D}"/>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7FBD4BD0-BECA-4A5A-9CEB-4435441C4655}"/>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운영·개발사 발표에서 과거 기준 대비 냉각 효율 지표(kW</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/ton) 약 30% 개선과 이중 안전 제약 공개</a:t>
            </a:r>
          </a:p>
        </p:txBody>
      </p:sp>
      <p:sp>
        <p:nvSpPr>
          <p:cNvPr id="14" name="">
            <a:extLst xmlns:a="http://schemas.openxmlformats.org/drawingml/2006/main">
              <a:ext uri="{FF2B5EF4-FFF2-40B4-BE49-F238E27FC236}">
                <a16:creationId xmlns:a16="http://schemas.microsoft.com/office/drawing/2014/main" id="{D2B11922-CA3D-4E05-A74D-8FE1B5EA2BD8}"/>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확인 · 운영 시스템과 해당 냉각 지표의 개선이 운영사 자료에 함께 제시됨</a:t>
            </a:r>
          </a:p>
        </p:txBody>
      </p:sp>
      <p:sp>
        <p:nvSpPr>
          <p:cNvPr id="15" name="">
            <a:extLst xmlns:a="http://schemas.openxmlformats.org/drawingml/2006/main">
              <a:ext uri="{FF2B5EF4-FFF2-40B4-BE49-F238E27FC236}">
                <a16:creationId xmlns:a16="http://schemas.microsoft.com/office/drawing/2014/main" id="{59B4AB06-5703-41D0-B706-05E316E542FC}"/>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운영·개발사 기술 공개 및 원문 도식 · 공급·운영사 발표의 특정 시설·지표 기준. 총 전력·탄소·다른 산업시설 절감률 아님</a:t>
            </a:r>
          </a:p>
        </p:txBody>
      </p:sp>
    </p:spTree>
    <p:extLst>
      <p:ext uri="{BB962C8B-B14F-4D97-AF65-F5344CB8AC3E}">
        <p14:creationId xmlns:p14="http://schemas.microsoft.com/office/powerpoint/2010/main" val="306269395"/>
      </p:ext>
    </p:extLst>
  </p:cSld>
</p:sld>
</file>

<file path=ppt/slides/slide2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5ABD77E-EC45-462B-BF95-4ECD3F06294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AX05 / DeepMind 공식 단계 그림 1/4 / 공식 웹 원본</a:t>
            </a:r>
          </a:p>
        </p:txBody>
      </p:sp>
      <p:sp>
        <p:nvSpPr>
          <p:cNvPr id="2" name="">
            <a:extLst xmlns:a="http://schemas.openxmlformats.org/drawingml/2006/main">
              <a:ext uri="{FF2B5EF4-FFF2-40B4-BE49-F238E27FC236}">
                <a16:creationId xmlns:a16="http://schemas.microsoft.com/office/drawing/2014/main" id="{DE2D1EB5-43AC-428C-BE1B-ADC6BF210FB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냉각 설비 센서 상태 수집</a:t>
            </a:r>
          </a:p>
        </p:txBody>
      </p:sp>
      <p:sp>
        <p:nvSpPr>
          <p:cNvPr id="3" name="">
            <a:extLst xmlns:a="http://schemas.openxmlformats.org/drawingml/2006/main">
              <a:ext uri="{FF2B5EF4-FFF2-40B4-BE49-F238E27FC236}">
                <a16:creationId xmlns:a16="http://schemas.microsoft.com/office/drawing/2014/main" id="{7DFE5F9B-36D7-4990-B13A-C796A21B292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2A44D5D-72C8-49D4-90D6-C93906FFF3C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F925954-196C-4FAF-8B5B-8AB5B6763BF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24</a:t>
            </a:r>
          </a:p>
        </p:txBody>
      </p:sp>
      <p:pic>
        <p:nvPicPr>
          <p:cNvPr id="6" name="">
            <a:extLst xmlns:a="http://schemas.openxmlformats.org/drawingml/2006/main">
              <a:ext uri="{FF2B5EF4-FFF2-40B4-BE49-F238E27FC236}">
                <a16:creationId xmlns:a16="http://schemas.microsoft.com/office/drawing/2014/main" id="{29CF6CDF-D98B-414F-A3EC-5FDB4121979A}"/>
              </a:ext>
            </a:extLst>
          </p:cNvPr>
          <p:cNvPicPr>
            <a:picLocks xmlns:a="http://schemas.openxmlformats.org/drawingml/2006/main" noChangeAspect="1"/>
          </p:cNvPicPr>
          <p:nvPr/>
        </p:nvPicPr>
        <p:blipFill>
          <a:blip xmlns:r="http://schemas.openxmlformats.org/officeDocument/2006/relationships" xmlns:a="http://schemas.openxmlformats.org/drawingml/2006/main" r:embed="R3ab57959dc2548c4"/>
          <a:stretch xmlns:a="http://schemas.openxmlformats.org/drawingml/2006/main"/>
        </p:blipFill>
        <p:spPr>
          <a:xfrm xmlns:a="http://schemas.openxmlformats.org/drawingml/2006/main">
            <a:off x="2368051" y="1657350"/>
            <a:ext cx="7455899"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68FBE81A-2489-4F0E-BF3C-D09FCB54B14D}"/>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5분마다 현장 센서의 냉각 상태 스냅샷 수집</a:t>
            </a:r>
          </a:p>
        </p:txBody>
      </p:sp>
    </p:spTree>
    <p:extLst>
      <p:ext uri="{BB962C8B-B14F-4D97-AF65-F5344CB8AC3E}">
        <p14:creationId xmlns:p14="http://schemas.microsoft.com/office/powerpoint/2010/main" val="982670622"/>
      </p:ext>
    </p:extLst>
  </p:cSld>
</p:sld>
</file>

<file path=ppt/slides/slide2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2A18E87-78B2-4C03-8990-E14D76A310B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AX05 / DeepMind 공식 단계 그림 2/4 / 공식 웹 원본</a:t>
            </a:r>
          </a:p>
        </p:txBody>
      </p:sp>
      <p:sp>
        <p:nvSpPr>
          <p:cNvPr id="2" name="">
            <a:extLst xmlns:a="http://schemas.openxmlformats.org/drawingml/2006/main">
              <a:ext uri="{FF2B5EF4-FFF2-40B4-BE49-F238E27FC236}">
                <a16:creationId xmlns:a16="http://schemas.microsoft.com/office/drawing/2014/main" id="{45832BB6-0490-4D15-AE87-E853C3C422B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신경망 예측 단계</a:t>
            </a:r>
          </a:p>
        </p:txBody>
      </p:sp>
      <p:sp>
        <p:nvSpPr>
          <p:cNvPr id="3" name="">
            <a:extLst xmlns:a="http://schemas.openxmlformats.org/drawingml/2006/main">
              <a:ext uri="{FF2B5EF4-FFF2-40B4-BE49-F238E27FC236}">
                <a16:creationId xmlns:a16="http://schemas.microsoft.com/office/drawing/2014/main" id="{A3348E5F-290F-4D79-87F5-F77D80F7878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E2904CE-C539-44B4-BF13-474270A8923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0814206-3092-49C9-89A3-5DE38087216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25</a:t>
            </a:r>
          </a:p>
        </p:txBody>
      </p:sp>
      <p:pic>
        <p:nvPicPr>
          <p:cNvPr id="6" name="">
            <a:extLst xmlns:a="http://schemas.openxmlformats.org/drawingml/2006/main">
              <a:ext uri="{FF2B5EF4-FFF2-40B4-BE49-F238E27FC236}">
                <a16:creationId xmlns:a16="http://schemas.microsoft.com/office/drawing/2014/main" id="{57AADD25-17D9-491B-BB23-D7B42D780E0D}"/>
              </a:ext>
            </a:extLst>
          </p:cNvPr>
          <p:cNvPicPr>
            <a:picLocks xmlns:a="http://schemas.openxmlformats.org/drawingml/2006/main" noChangeAspect="1"/>
          </p:cNvPicPr>
          <p:nvPr/>
        </p:nvPicPr>
        <p:blipFill>
          <a:blip xmlns:r="http://schemas.openxmlformats.org/officeDocument/2006/relationships" xmlns:a="http://schemas.openxmlformats.org/drawingml/2006/main" r:embed="R3944e13e0eee4aae"/>
          <a:stretch xmlns:a="http://schemas.openxmlformats.org/drawingml/2006/main"/>
        </p:blipFill>
        <p:spPr>
          <a:xfrm xmlns:a="http://schemas.openxmlformats.org/drawingml/2006/main">
            <a:off x="2368051" y="1657350"/>
            <a:ext cx="7455899"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09B6BB0F-557A-4C34-BD59-AA2E13B33481}"/>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제어 후보별 미래 효율과 온도 예측</a:t>
            </a:r>
          </a:p>
        </p:txBody>
      </p:sp>
    </p:spTree>
    <p:extLst>
      <p:ext uri="{BB962C8B-B14F-4D97-AF65-F5344CB8AC3E}">
        <p14:creationId xmlns:p14="http://schemas.microsoft.com/office/powerpoint/2010/main" val="406877792"/>
      </p:ext>
    </p:extLst>
  </p:cSld>
</p:sld>
</file>

<file path=ppt/slides/slide2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15A35D4-6B74-4359-9E65-7C5D2538C09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AX05 / DeepMind 공식 단계 그림 3/4 / 공식 웹 원본</a:t>
            </a:r>
          </a:p>
        </p:txBody>
      </p:sp>
      <p:sp>
        <p:nvSpPr>
          <p:cNvPr id="2" name="">
            <a:extLst xmlns:a="http://schemas.openxmlformats.org/drawingml/2006/main">
              <a:ext uri="{FF2B5EF4-FFF2-40B4-BE49-F238E27FC236}">
                <a16:creationId xmlns:a16="http://schemas.microsoft.com/office/drawing/2014/main" id="{8D6A14BA-B35F-463B-8CDC-0D0E23D4241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안전 제약 내 제어 후보 선정</a:t>
            </a:r>
          </a:p>
        </p:txBody>
      </p:sp>
      <p:sp>
        <p:nvSpPr>
          <p:cNvPr id="3" name="">
            <a:extLst xmlns:a="http://schemas.openxmlformats.org/drawingml/2006/main">
              <a:ext uri="{FF2B5EF4-FFF2-40B4-BE49-F238E27FC236}">
                <a16:creationId xmlns:a16="http://schemas.microsoft.com/office/drawing/2014/main" id="{B4BB1B67-058E-401B-B5C0-95706673B2A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5DFE702-D447-40E5-B751-AB524774945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E68CEC6-84DC-4F69-B367-AB7CD097F7B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26</a:t>
            </a:r>
          </a:p>
        </p:txBody>
      </p:sp>
      <p:pic>
        <p:nvPicPr>
          <p:cNvPr id="6" name="">
            <a:extLst xmlns:a="http://schemas.openxmlformats.org/drawingml/2006/main">
              <a:ext uri="{FF2B5EF4-FFF2-40B4-BE49-F238E27FC236}">
                <a16:creationId xmlns:a16="http://schemas.microsoft.com/office/drawing/2014/main" id="{546A5F6B-6DBF-4C26-B312-9EA21CA633AC}"/>
              </a:ext>
            </a:extLst>
          </p:cNvPr>
          <p:cNvPicPr>
            <a:picLocks xmlns:a="http://schemas.openxmlformats.org/drawingml/2006/main" noChangeAspect="1"/>
          </p:cNvPicPr>
          <p:nvPr/>
        </p:nvPicPr>
        <p:blipFill>
          <a:blip xmlns:r="http://schemas.openxmlformats.org/officeDocument/2006/relationships" xmlns:a="http://schemas.openxmlformats.org/drawingml/2006/main" r:embed="R286c4abad51347f3"/>
          <a:stretch xmlns:a="http://schemas.openxmlformats.org/drawingml/2006/main"/>
        </p:blipFill>
        <p:spPr>
          <a:xfrm xmlns:a="http://schemas.openxmlformats.org/drawingml/2006/main">
            <a:off x="2368051" y="1657350"/>
            <a:ext cx="7455899"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B904653D-A953-489A-A85F-2128BF8697C0}"/>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안전 제약을 만족하는 후보 중 에너지 소비 최소화</a:t>
            </a:r>
          </a:p>
        </p:txBody>
      </p:sp>
    </p:spTree>
    <p:extLst>
      <p:ext uri="{BB962C8B-B14F-4D97-AF65-F5344CB8AC3E}">
        <p14:creationId xmlns:p14="http://schemas.microsoft.com/office/powerpoint/2010/main" val="554127623"/>
      </p:ext>
    </p:extLst>
  </p:cSld>
</p:sld>
</file>

<file path=ppt/slides/slide2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030D95C-2C3B-42A4-9700-D4721411FFF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AX05 / DeepMind 공식 단계 그림 4/4 / 공식 웹 원본</a:t>
            </a:r>
          </a:p>
        </p:txBody>
      </p:sp>
      <p:sp>
        <p:nvSpPr>
          <p:cNvPr id="2" name="">
            <a:extLst xmlns:a="http://schemas.openxmlformats.org/drawingml/2006/main">
              <a:ext uri="{FF2B5EF4-FFF2-40B4-BE49-F238E27FC236}">
                <a16:creationId xmlns:a16="http://schemas.microsoft.com/office/drawing/2014/main" id="{40B07957-AE69-4006-A647-E664E6BB7F1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현장 제어계 독립 검증</a:t>
            </a:r>
          </a:p>
        </p:txBody>
      </p:sp>
      <p:sp>
        <p:nvSpPr>
          <p:cNvPr id="3" name="">
            <a:extLst xmlns:a="http://schemas.openxmlformats.org/drawingml/2006/main">
              <a:ext uri="{FF2B5EF4-FFF2-40B4-BE49-F238E27FC236}">
                <a16:creationId xmlns:a16="http://schemas.microsoft.com/office/drawing/2014/main" id="{D0B326F7-D274-460B-9A5E-BE918BB66AD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732EAB2-8255-44AA-B4A6-0261048F40A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A864DA78-937F-4C4F-8326-123B6E67791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27</a:t>
            </a:r>
          </a:p>
        </p:txBody>
      </p:sp>
      <p:pic>
        <p:nvPicPr>
          <p:cNvPr id="6" name="">
            <a:extLst xmlns:a="http://schemas.openxmlformats.org/drawingml/2006/main">
              <a:ext uri="{FF2B5EF4-FFF2-40B4-BE49-F238E27FC236}">
                <a16:creationId xmlns:a16="http://schemas.microsoft.com/office/drawing/2014/main" id="{3E4E203D-C302-479B-8327-847CA38E4C3A}"/>
              </a:ext>
            </a:extLst>
          </p:cNvPr>
          <p:cNvPicPr>
            <a:picLocks xmlns:a="http://schemas.openxmlformats.org/drawingml/2006/main" noChangeAspect="1"/>
          </p:cNvPicPr>
          <p:nvPr/>
        </p:nvPicPr>
        <p:blipFill>
          <a:blip xmlns:r="http://schemas.openxmlformats.org/officeDocument/2006/relationships" xmlns:a="http://schemas.openxmlformats.org/drawingml/2006/main" r:embed="R3d4bd5ca2e804613"/>
          <a:stretch xmlns:a="http://schemas.openxmlformats.org/drawingml/2006/main"/>
        </p:blipFill>
        <p:spPr>
          <a:xfrm xmlns:a="http://schemas.openxmlformats.org/drawingml/2006/main">
            <a:off x="2368051" y="1657350"/>
            <a:ext cx="7455899"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E9675CAE-36D8-491E-9AC6-87D8AFA8BACD}"/>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현장 제어계가 별도 안전 제약을 확인한 뒤 실행</a:t>
            </a:r>
          </a:p>
        </p:txBody>
      </p:sp>
    </p:spTree>
    <p:extLst>
      <p:ext uri="{BB962C8B-B14F-4D97-AF65-F5344CB8AC3E}">
        <p14:creationId xmlns:p14="http://schemas.microsoft.com/office/powerpoint/2010/main" val="193239653"/>
      </p:ext>
    </p:extLst>
  </p:cSld>
</p:sld>
</file>

<file path=ppt/slides/slide2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6" name="">
            <a:extLst xmlns:a="http://schemas.openxmlformats.org/drawingml/2006/main">
              <a:ext uri="{FF2B5EF4-FFF2-40B4-BE49-F238E27FC236}">
                <a16:creationId xmlns:a16="http://schemas.microsoft.com/office/drawing/2014/main" id="{3FE4E8AC-4444-4F84-A86F-EECFCB020B5F}"/>
              </a:ext>
            </a:extLst>
          </p:cNvPr>
          <p:cNvCxnSpPr>
            <a:stCxn xmlns:a="http://schemas.openxmlformats.org/drawingml/2006/main" id="34" idx="1"/>
            <a:endCxn xmlns:a="http://schemas.openxmlformats.org/drawingml/2006/main" id="13" idx="3"/>
          </p:cNvCxnSpPr>
          <p:nvPr/>
        </p:nvCxnSpPr>
        <p:spPr>
          <a:xfrm xmlns:a="http://schemas.openxmlformats.org/drawingml/2006/main" flipH="1" flipV="1">
            <a:off x="7096125" y="2352675"/>
            <a:ext cx="2524125" cy="2476500"/>
          </a:xfrm>
          <a:prstGeom xmlns:a="http://schemas.openxmlformats.org/drawingml/2006/main" prst="straightConnector1">
            <a:avLst/>
          </a:prstGeom>
          <a:ln xmlns:a="http://schemas.openxmlformats.org/drawingml/2006/main" w="19050">
            <a:solidFill>
              <a:srgbClr val="697F86"/>
            </a:solidFill>
            <a:tailEnd type="arrow" w="med" len="med"/>
          </a:ln>
        </p:spPr>
      </p:cxnSp>
      <p:cxnSp>
        <p:nvCxnSpPr>
          <p:cNvPr id="45" name="">
            <a:extLst xmlns:a="http://schemas.openxmlformats.org/drawingml/2006/main">
              <a:ext uri="{FF2B5EF4-FFF2-40B4-BE49-F238E27FC236}">
                <a16:creationId xmlns:a16="http://schemas.microsoft.com/office/drawing/2014/main" id="{D51F66A2-0F01-46FF-A294-63E563123028}"/>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BACFF199-9477-446E-9804-528CC86F33BB}"/>
              </a:ext>
            </a:extLst>
          </p:cNvPr>
          <p:cNvCxnSpPr>
            <a:stCxn xmlns:a="http://schemas.openxmlformats.org/drawingml/2006/main" id="31" idx="0"/>
            <a:endCxn xmlns:a="http://schemas.openxmlformats.org/drawingml/2006/main" id="19" idx="2"/>
          </p:cNvCxnSpPr>
          <p:nvPr/>
        </p:nvCxnSpPr>
        <p:spPr>
          <a:xfrm xmlns:a="http://schemas.openxmlformats.org/drawingml/2006/main" flipV="1">
            <a:off x="8358188" y="2905125"/>
            <a:ext cx="2262187"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E27516A1-1413-423F-B174-63EBF4F72D77}"/>
              </a:ext>
            </a:extLst>
          </p:cNvPr>
          <p:cNvCxnSpPr>
            <a:stCxn xmlns:a="http://schemas.openxmlformats.org/drawingml/2006/main" id="16" idx="2"/>
            <a:endCxn xmlns:a="http://schemas.openxmlformats.org/drawingml/2006/main" id="31" idx="0"/>
          </p:cNvCxnSpPr>
          <p:nvPr/>
        </p:nvCxnSpPr>
        <p:spPr>
          <a:xfrm xmlns:a="http://schemas.openxmlformats.org/drawingml/2006/main">
            <a:off x="8358188" y="2905125"/>
            <a:ext cx="0"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2" name="">
            <a:extLst xmlns:a="http://schemas.openxmlformats.org/drawingml/2006/main">
              <a:ext uri="{FF2B5EF4-FFF2-40B4-BE49-F238E27FC236}">
                <a16:creationId xmlns:a16="http://schemas.microsoft.com/office/drawing/2014/main" id="{D927E94E-C4DF-423C-A07B-EAE4D3A4F7EF}"/>
              </a:ext>
            </a:extLst>
          </p:cNvPr>
          <p:cNvCxnSpPr>
            <a:stCxn xmlns:a="http://schemas.openxmlformats.org/drawingml/2006/main" id="28" idx="0"/>
            <a:endCxn xmlns:a="http://schemas.openxmlformats.org/drawingml/2006/main" id="16" idx="2"/>
          </p:cNvCxnSpPr>
          <p:nvPr/>
        </p:nvCxnSpPr>
        <p:spPr>
          <a:xfrm xmlns:a="http://schemas.openxmlformats.org/drawingml/2006/main" flipV="1">
            <a:off x="6096000" y="2905125"/>
            <a:ext cx="2262188"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1" name="">
            <a:extLst xmlns:a="http://schemas.openxmlformats.org/drawingml/2006/main">
              <a:ext uri="{FF2B5EF4-FFF2-40B4-BE49-F238E27FC236}">
                <a16:creationId xmlns:a16="http://schemas.microsoft.com/office/drawing/2014/main" id="{A4225EC8-8DA2-458E-97E7-0275B1B0C5A2}"/>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E7E47960-9A99-4E3A-A105-2BEB0201E268}"/>
              </a:ext>
            </a:extLst>
          </p:cNvPr>
          <p:cNvCxnSpPr>
            <a:stCxn xmlns:a="http://schemas.openxmlformats.org/drawingml/2006/main" id="25" idx="0"/>
            <a:endCxn xmlns:a="http://schemas.openxmlformats.org/drawingml/2006/main" id="13" idx="2"/>
          </p:cNvCxnSpPr>
          <p:nvPr/>
        </p:nvCxnSpPr>
        <p:spPr>
          <a:xfrm xmlns:a="http://schemas.openxmlformats.org/drawingml/2006/main" flipV="1">
            <a:off x="3833813" y="2905125"/>
            <a:ext cx="2262187"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2D15AA35-B561-46C4-8B1C-EA93824A2FD8}"/>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CD087D69-098D-457D-8329-854C384D028A}"/>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926A6214-9FF0-435A-83B7-6898584AB0F9}"/>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8" name="">
            <a:extLst xmlns:a="http://schemas.openxmlformats.org/drawingml/2006/main">
              <a:ext uri="{FF2B5EF4-FFF2-40B4-BE49-F238E27FC236}">
                <a16:creationId xmlns:a16="http://schemas.microsoft.com/office/drawing/2014/main" id="{341A027A-9E32-4BF4-BCAC-24D27C2D8A2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AX05 / 관측·안전 판정·현장 조치·환류</a:t>
            </a:r>
          </a:p>
        </p:txBody>
      </p:sp>
      <p:sp>
        <p:nvSpPr>
          <p:cNvPr id="2" name="">
            <a:extLst xmlns:a="http://schemas.openxmlformats.org/drawingml/2006/main">
              <a:ext uri="{FF2B5EF4-FFF2-40B4-BE49-F238E27FC236}">
                <a16:creationId xmlns:a16="http://schemas.microsoft.com/office/drawing/2014/main" id="{B324C616-2183-458C-B0E7-800481EFBE5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데이터센터 냉각 · 세부 서비스 구조</a:t>
            </a:r>
          </a:p>
        </p:txBody>
      </p:sp>
      <p:sp>
        <p:nvSpPr>
          <p:cNvPr id="3" name="">
            <a:extLst xmlns:a="http://schemas.openxmlformats.org/drawingml/2006/main">
              <a:ext uri="{FF2B5EF4-FFF2-40B4-BE49-F238E27FC236}">
                <a16:creationId xmlns:a16="http://schemas.microsoft.com/office/drawing/2014/main" id="{DA31445E-6468-44FF-AF2D-70597AFE6DB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31D5635-35B4-44C4-938E-4AEF1E565A0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41C0EF9-95A7-4969-847A-E8F9356BED1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28</a:t>
            </a:r>
          </a:p>
        </p:txBody>
      </p:sp>
      <p:sp>
        <p:nvSpPr>
          <p:cNvPr id="6" name="">
            <a:extLst xmlns:a="http://schemas.openxmlformats.org/drawingml/2006/main">
              <a:ext uri="{FF2B5EF4-FFF2-40B4-BE49-F238E27FC236}">
                <a16:creationId xmlns:a16="http://schemas.microsoft.com/office/drawing/2014/main" id="{5E21F457-1C6B-4BB4-BAF3-E87CBC6696E3}"/>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센서 상태 → 소비 예측 → 안전 제약 확인 → 현장 재검증·제어</a:t>
            </a:r>
          </a:p>
        </p:txBody>
      </p:sp>
      <p:sp>
        <p:nvSpPr>
          <p:cNvPr id="7" name="">
            <a:extLst xmlns:a="http://schemas.openxmlformats.org/drawingml/2006/main">
              <a:ext uri="{FF2B5EF4-FFF2-40B4-BE49-F238E27FC236}">
                <a16:creationId xmlns:a16="http://schemas.microsoft.com/office/drawing/2014/main" id="{DDF04BF9-6F8E-49B2-A86C-627B48D33DAD}"/>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B3EDF350-66FC-4A31-B062-5D87ADE3EB2D}"/>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62F4D2F8-C37F-4BD6-9456-48B4219279A4}"/>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센서·운전 자료</a:t>
            </a:r>
          </a:p>
        </p:txBody>
      </p:sp>
      <p:sp>
        <p:nvSpPr>
          <p:cNvPr id="10" name="">
            <a:extLst xmlns:a="http://schemas.openxmlformats.org/drawingml/2006/main">
              <a:ext uri="{FF2B5EF4-FFF2-40B4-BE49-F238E27FC236}">
                <a16:creationId xmlns:a16="http://schemas.microsoft.com/office/drawing/2014/main" id="{FBC312AD-D63C-45C7-8D3C-E6E8CEC8F3AF}"/>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4F6812AF-100D-4917-8D07-2703730829CE}"/>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02908139-7A15-4973-B9C3-2EE099C3116A}"/>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시각·결측 정리</a:t>
            </a:r>
          </a:p>
        </p:txBody>
      </p:sp>
      <p:sp>
        <p:nvSpPr>
          <p:cNvPr id="13" name="">
            <a:extLst xmlns:a="http://schemas.openxmlformats.org/drawingml/2006/main">
              <a:ext uri="{FF2B5EF4-FFF2-40B4-BE49-F238E27FC236}">
                <a16:creationId xmlns:a16="http://schemas.microsoft.com/office/drawing/2014/main" id="{146DE973-94DF-4831-A32E-9747F37B8D9A}"/>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D4942BC4-A60B-438E-B137-6A622F4542A4}"/>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949F26E3-384C-4778-AA46-5C0AB6ADDBE6}"/>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소비·제어값 예측</a:t>
            </a:r>
          </a:p>
        </p:txBody>
      </p:sp>
      <p:sp>
        <p:nvSpPr>
          <p:cNvPr id="16" name="">
            <a:extLst xmlns:a="http://schemas.openxmlformats.org/drawingml/2006/main">
              <a:ext uri="{FF2B5EF4-FFF2-40B4-BE49-F238E27FC236}">
                <a16:creationId xmlns:a16="http://schemas.microsoft.com/office/drawing/2014/main" id="{5EDA4E9D-6429-4193-9BA8-54F6C275128A}"/>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FC1DEF9F-6B52-48FA-BC2C-49653F7A8E56}"/>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F7F24B49-C275-40F7-96EB-B8A63033D1F7}"/>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클라우드 안전검증</a:t>
            </a:r>
          </a:p>
        </p:txBody>
      </p:sp>
      <p:sp>
        <p:nvSpPr>
          <p:cNvPr id="19" name="">
            <a:extLst xmlns:a="http://schemas.openxmlformats.org/drawingml/2006/main">
              <a:ext uri="{FF2B5EF4-FFF2-40B4-BE49-F238E27FC236}">
                <a16:creationId xmlns:a16="http://schemas.microsoft.com/office/drawing/2014/main" id="{67C159CA-905A-430D-A845-E3A17F20FCB0}"/>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CF8EB16B-86C7-4940-AE65-1680837F4D90}"/>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09D0337D-5ED8-41A5-8F61-DDE27D8BF8DB}"/>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제어·수동 전환</a:t>
            </a:r>
          </a:p>
        </p:txBody>
      </p:sp>
      <p:sp>
        <p:nvSpPr>
          <p:cNvPr id="22" name="">
            <a:extLst xmlns:a="http://schemas.openxmlformats.org/drawingml/2006/main">
              <a:ext uri="{FF2B5EF4-FFF2-40B4-BE49-F238E27FC236}">
                <a16:creationId xmlns:a16="http://schemas.microsoft.com/office/drawing/2014/main" id="{0AB5825D-EDE8-4219-918A-613E0446F7B5}"/>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68DE83EE-1020-40DB-977D-131944E333B3}"/>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74046D0A-353A-4CFA-A437-429A4D26A8C0}"/>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운전·안전 경계</a:t>
            </a:r>
          </a:p>
        </p:txBody>
      </p:sp>
      <p:sp>
        <p:nvSpPr>
          <p:cNvPr id="25" name="">
            <a:extLst xmlns:a="http://schemas.openxmlformats.org/drawingml/2006/main">
              <a:ext uri="{FF2B5EF4-FFF2-40B4-BE49-F238E27FC236}">
                <a16:creationId xmlns:a16="http://schemas.microsoft.com/office/drawing/2014/main" id="{9034F1DA-A921-43AB-B6D1-E523F1C12099}"/>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88DA7E45-06DD-4287-9A50-7703B65D68E0}"/>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27" name="">
            <a:extLst xmlns:a="http://schemas.openxmlformats.org/drawingml/2006/main">
              <a:ext uri="{FF2B5EF4-FFF2-40B4-BE49-F238E27FC236}">
                <a16:creationId xmlns:a16="http://schemas.microsoft.com/office/drawing/2014/main" id="{A4489C11-62E0-4C3C-8C1A-9AA29D55FCA2}"/>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센서 이력 조회</a:t>
            </a:r>
          </a:p>
        </p:txBody>
      </p:sp>
      <p:sp>
        <p:nvSpPr>
          <p:cNvPr id="28" name="">
            <a:extLst xmlns:a="http://schemas.openxmlformats.org/drawingml/2006/main">
              <a:ext uri="{FF2B5EF4-FFF2-40B4-BE49-F238E27FC236}">
                <a16:creationId xmlns:a16="http://schemas.microsoft.com/office/drawing/2014/main" id="{70C211C6-A53E-4E14-906E-4638684860C1}"/>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59E88078-52F8-4C5B-9B8B-DA59B186087B}"/>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30" name="">
            <a:extLst xmlns:a="http://schemas.openxmlformats.org/drawingml/2006/main">
              <a:ext uri="{FF2B5EF4-FFF2-40B4-BE49-F238E27FC236}">
                <a16:creationId xmlns:a16="http://schemas.microsoft.com/office/drawing/2014/main" id="{063CD296-9994-48BF-B322-2CAC1DBE7294}"/>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제어 허용경계</a:t>
            </a:r>
          </a:p>
        </p:txBody>
      </p:sp>
      <p:sp>
        <p:nvSpPr>
          <p:cNvPr id="31" name="">
            <a:extLst xmlns:a="http://schemas.openxmlformats.org/drawingml/2006/main">
              <a:ext uri="{FF2B5EF4-FFF2-40B4-BE49-F238E27FC236}">
                <a16:creationId xmlns:a16="http://schemas.microsoft.com/office/drawing/2014/main" id="{8FBFF791-A3E5-43CE-8FAD-A390B6656E71}"/>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D867552B-B129-47A2-885D-E4E9F6D26274}"/>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A99A6DA8-5CAA-40AF-8923-82BA01A382CA}"/>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현장 독립 검증</a:t>
            </a:r>
          </a:p>
        </p:txBody>
      </p:sp>
      <p:sp>
        <p:nvSpPr>
          <p:cNvPr id="34" name="">
            <a:extLst xmlns:a="http://schemas.openxmlformats.org/drawingml/2006/main">
              <a:ext uri="{FF2B5EF4-FFF2-40B4-BE49-F238E27FC236}">
                <a16:creationId xmlns:a16="http://schemas.microsoft.com/office/drawing/2014/main" id="{12A18EC3-36CB-4420-9F68-F7B07D38B2C3}"/>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D8802976-FADB-44F1-8D0D-55BE8EB0E018}"/>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84A43DE6-5607-48A6-AAE0-C2304AE77F18}"/>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다음 주기 환류</a:t>
            </a:r>
          </a:p>
        </p:txBody>
      </p:sp>
      <p:sp>
        <p:nvSpPr>
          <p:cNvPr id="47" name="">
            <a:extLst xmlns:a="http://schemas.openxmlformats.org/drawingml/2006/main">
              <a:ext uri="{FF2B5EF4-FFF2-40B4-BE49-F238E27FC236}">
                <a16:creationId xmlns:a16="http://schemas.microsoft.com/office/drawing/2014/main" id="{F41D7745-1A0D-4C94-B069-BEA340A28909}"/>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728073626"/>
      </p:ext>
    </p:extLst>
  </p:cSld>
</p:sld>
</file>

<file path=ppt/slides/slide2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3EBDCE3F-80F0-458F-A6E7-B9EB4A5D1F9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AX05 / 논리 인터페이스·복구 설계</a:t>
            </a:r>
          </a:p>
        </p:txBody>
      </p:sp>
      <p:sp>
        <p:nvSpPr>
          <p:cNvPr id="2" name="">
            <a:extLst xmlns:a="http://schemas.openxmlformats.org/drawingml/2006/main">
              <a:ext uri="{FF2B5EF4-FFF2-40B4-BE49-F238E27FC236}">
                <a16:creationId xmlns:a16="http://schemas.microsoft.com/office/drawing/2014/main" id="{4F0A0700-05D1-47B6-867E-F8D39B758BF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데이터센터 냉각 · 데이터와 예외 처리</a:t>
            </a:r>
          </a:p>
        </p:txBody>
      </p:sp>
      <p:sp>
        <p:nvSpPr>
          <p:cNvPr id="3" name="">
            <a:extLst xmlns:a="http://schemas.openxmlformats.org/drawingml/2006/main">
              <a:ext uri="{FF2B5EF4-FFF2-40B4-BE49-F238E27FC236}">
                <a16:creationId xmlns:a16="http://schemas.microsoft.com/office/drawing/2014/main" id="{4B90975A-8483-435B-9D32-6F593BD7B9E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70B5A40-73CA-4537-BC9D-3407F3C0B22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6440A2C9-5146-4487-8184-CAB1558D641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29</a:t>
            </a:r>
          </a:p>
        </p:txBody>
      </p:sp>
      <p:sp>
        <p:nvSpPr>
          <p:cNvPr id="6" name="">
            <a:extLst xmlns:a="http://schemas.openxmlformats.org/drawingml/2006/main">
              <a:ext uri="{FF2B5EF4-FFF2-40B4-BE49-F238E27FC236}">
                <a16:creationId xmlns:a16="http://schemas.microsoft.com/office/drawing/2014/main" id="{B62021B2-1A8C-49D7-A0CD-24009B925BBD}"/>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CC7A998F-58A8-4C21-9853-16E532641593}"/>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55E9FD2B-A26A-419B-BF03-76BEFD5A476D}"/>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관측 입력</a:t>
            </a:r>
          </a:p>
        </p:txBody>
      </p:sp>
      <p:sp>
        <p:nvSpPr>
          <p:cNvPr id="9" name="">
            <a:extLst xmlns:a="http://schemas.openxmlformats.org/drawingml/2006/main">
              <a:ext uri="{FF2B5EF4-FFF2-40B4-BE49-F238E27FC236}">
                <a16:creationId xmlns:a16="http://schemas.microsoft.com/office/drawing/2014/main" id="{E0500845-839F-4CE5-BB83-A728FB4AE820}"/>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센서 이력·안전 경계</a:t>
            </a:r>
          </a:p>
        </p:txBody>
      </p:sp>
      <p:sp>
        <p:nvSpPr>
          <p:cNvPr id="10" name="">
            <a:extLst xmlns:a="http://schemas.openxmlformats.org/drawingml/2006/main">
              <a:ext uri="{FF2B5EF4-FFF2-40B4-BE49-F238E27FC236}">
                <a16:creationId xmlns:a16="http://schemas.microsoft.com/office/drawing/2014/main" id="{4A0C6A70-BE49-4795-9AB2-5D3F7177F005}"/>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EBF8D7F-6D86-44BB-B243-8859AEAAA3A0}"/>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정합화 상태</a:t>
            </a:r>
          </a:p>
        </p:txBody>
      </p:sp>
      <p:sp>
        <p:nvSpPr>
          <p:cNvPr id="12" name="">
            <a:extLst xmlns:a="http://schemas.openxmlformats.org/drawingml/2006/main">
              <a:ext uri="{FF2B5EF4-FFF2-40B4-BE49-F238E27FC236}">
                <a16:creationId xmlns:a16="http://schemas.microsoft.com/office/drawing/2014/main" id="{8DA2092C-C11B-4467-9899-904C21D94E7F}"/>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CFDD813E-6A36-444C-A0A6-5283081083F7}"/>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E463A28-686F-4C8E-9EAF-9B41D5671339}"/>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위험·제어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후보</a:t>
            </a:r>
          </a:p>
        </p:txBody>
      </p:sp>
      <p:sp>
        <p:nvSpPr>
          <p:cNvPr id="15" name="">
            <a:extLst xmlns:a="http://schemas.openxmlformats.org/drawingml/2006/main">
              <a:ext uri="{FF2B5EF4-FFF2-40B4-BE49-F238E27FC236}">
                <a16:creationId xmlns:a16="http://schemas.microsoft.com/office/drawing/2014/main" id="{4BF9856F-7849-444E-9278-DD3C031B31FD}"/>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안전 조건 충족 명령</a:t>
            </a:r>
          </a:p>
        </p:txBody>
      </p:sp>
      <p:sp>
        <p:nvSpPr>
          <p:cNvPr id="16" name="">
            <a:extLst xmlns:a="http://schemas.openxmlformats.org/drawingml/2006/main">
              <a:ext uri="{FF2B5EF4-FFF2-40B4-BE49-F238E27FC236}">
                <a16:creationId xmlns:a16="http://schemas.microsoft.com/office/drawing/2014/main" id="{7510D177-E8D8-450D-85E5-653DB665DD02}"/>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C0F839C-CBF7-4BEE-9B17-EF1BF0EA6191}"/>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안전 경계</a:t>
            </a:r>
          </a:p>
        </p:txBody>
      </p:sp>
      <p:sp>
        <p:nvSpPr>
          <p:cNvPr id="18" name="">
            <a:extLst xmlns:a="http://schemas.openxmlformats.org/drawingml/2006/main">
              <a:ext uri="{FF2B5EF4-FFF2-40B4-BE49-F238E27FC236}">
                <a16:creationId xmlns:a16="http://schemas.microsoft.com/office/drawing/2014/main" id="{55F5D57D-B339-417B-B9AE-30909E4FC351}"/>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제어 허용경계</a:t>
            </a:r>
          </a:p>
        </p:txBody>
      </p:sp>
      <p:sp>
        <p:nvSpPr>
          <p:cNvPr id="19" name="">
            <a:extLst xmlns:a="http://schemas.openxmlformats.org/drawingml/2006/main">
              <a:ext uri="{FF2B5EF4-FFF2-40B4-BE49-F238E27FC236}">
                <a16:creationId xmlns:a16="http://schemas.microsoft.com/office/drawing/2014/main" id="{168206FC-8C50-4387-8F09-3D73A18DC44E}"/>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54C4DD0-156D-417B-989D-A28BC84E9732}"/>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경고·조치</a:t>
            </a:r>
          </a:p>
        </p:txBody>
      </p:sp>
      <p:sp>
        <p:nvSpPr>
          <p:cNvPr id="21" name="">
            <a:extLst xmlns:a="http://schemas.openxmlformats.org/drawingml/2006/main">
              <a:ext uri="{FF2B5EF4-FFF2-40B4-BE49-F238E27FC236}">
                <a16:creationId xmlns:a16="http://schemas.microsoft.com/office/drawing/2014/main" id="{455760DB-2BFC-4776-B774-96371524DF4C}"/>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현장 검증·실행</a:t>
            </a:r>
          </a:p>
        </p:txBody>
      </p:sp>
      <p:sp>
        <p:nvSpPr>
          <p:cNvPr id="22" name="">
            <a:extLst xmlns:a="http://schemas.openxmlformats.org/drawingml/2006/main">
              <a:ext uri="{FF2B5EF4-FFF2-40B4-BE49-F238E27FC236}">
                <a16:creationId xmlns:a16="http://schemas.microsoft.com/office/drawing/2014/main" id="{EED82972-A6A3-4886-96F2-AA6483968082}"/>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D762D55E-759C-4C4C-97FF-5BE9C2D7CE9E}"/>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다음 주기</a:t>
            </a:r>
          </a:p>
        </p:txBody>
      </p:sp>
      <p:sp>
        <p:nvSpPr>
          <p:cNvPr id="24" name="">
            <a:extLst xmlns:a="http://schemas.openxmlformats.org/drawingml/2006/main">
              <a:ext uri="{FF2B5EF4-FFF2-40B4-BE49-F238E27FC236}">
                <a16:creationId xmlns:a16="http://schemas.microsoft.com/office/drawing/2014/main" id="{4557CC24-6AC2-481E-8891-5EDD70427922}"/>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운영자 수동 전환 및 제어 결과의 다음 주기</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 반영</a:t>
            </a:r>
          </a:p>
        </p:txBody>
      </p:sp>
      <p:sp>
        <p:nvSpPr>
          <p:cNvPr id="25" name="">
            <a:extLst xmlns:a="http://schemas.openxmlformats.org/drawingml/2006/main">
              <a:ext uri="{FF2B5EF4-FFF2-40B4-BE49-F238E27FC236}">
                <a16:creationId xmlns:a16="http://schemas.microsoft.com/office/drawing/2014/main" id="{4B319E46-2509-400D-AE71-E966E418D604}"/>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74D3BAE9-BDB7-423B-9188-0045C459E8CB}"/>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센서 결측·제어값 한계 초과·현장 검증 거부</a:t>
            </a:r>
          </a:p>
        </p:txBody>
      </p:sp>
      <p:sp>
        <p:nvSpPr>
          <p:cNvPr id="27" name="">
            <a:extLst xmlns:a="http://schemas.openxmlformats.org/drawingml/2006/main">
              <a:ext uri="{FF2B5EF4-FFF2-40B4-BE49-F238E27FC236}">
                <a16:creationId xmlns:a16="http://schemas.microsoft.com/office/drawing/2014/main" id="{BC9BCCE1-301C-433D-A8EE-14CA6327EE8D}"/>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448CE039-1F05-461F-86A5-0B2D6FC72005}"/>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현장 독립 검증·수동 전환</a:t>
            </a:r>
          </a:p>
        </p:txBody>
      </p:sp>
      <p:sp>
        <p:nvSpPr>
          <p:cNvPr id="29" name="">
            <a:extLst xmlns:a="http://schemas.openxmlformats.org/drawingml/2006/main">
              <a:ext uri="{FF2B5EF4-FFF2-40B4-BE49-F238E27FC236}">
                <a16:creationId xmlns:a16="http://schemas.microsoft.com/office/drawing/2014/main" id="{FACC2055-882C-4BAA-994C-409E9418A550}"/>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33EADE39-32DC-44C5-A8CF-A9864CD27CA5}"/>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운영자 수동 전환 및 제어 결과의 다음 주기 반영</a:t>
            </a:r>
          </a:p>
        </p:txBody>
      </p:sp>
      <p:sp>
        <p:nvSpPr>
          <p:cNvPr id="31" name="">
            <a:extLst xmlns:a="http://schemas.openxmlformats.org/drawingml/2006/main">
              <a:ext uri="{FF2B5EF4-FFF2-40B4-BE49-F238E27FC236}">
                <a16:creationId xmlns:a16="http://schemas.microsoft.com/office/drawing/2014/main" id="{FB995562-D365-4B32-B693-849B15339371}"/>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959C8A0D-42FF-4EEC-8D41-3BCF018B7EA8}"/>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제약별 통과/보류 결과와 수동 전환·제어 이력</a:t>
            </a:r>
          </a:p>
        </p:txBody>
      </p:sp>
    </p:spTree>
    <p:extLst>
      <p:ext uri="{BB962C8B-B14F-4D97-AF65-F5344CB8AC3E}">
        <p14:creationId xmlns:p14="http://schemas.microsoft.com/office/powerpoint/2010/main" val="1759613703"/>
      </p:ext>
    </p:extLst>
  </p:cSld>
</p:sld>
</file>

<file path=ppt/slides/slide3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16B2F32-F72C-42FB-90EF-77DC5EE7717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AX05 / CCK 비교·재현 시험 설계</a:t>
            </a:r>
          </a:p>
        </p:txBody>
      </p:sp>
      <p:sp>
        <p:nvSpPr>
          <p:cNvPr id="2" name="">
            <a:extLst xmlns:a="http://schemas.openxmlformats.org/drawingml/2006/main">
              <a:ext uri="{FF2B5EF4-FFF2-40B4-BE49-F238E27FC236}">
                <a16:creationId xmlns:a16="http://schemas.microsoft.com/office/drawing/2014/main" id="{9E0B511B-9A2D-44F8-958B-3A13ABF50A8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데이터센터 냉각 · 벤치마킹</a:t>
            </a:r>
          </a:p>
        </p:txBody>
      </p:sp>
      <p:sp>
        <p:nvSpPr>
          <p:cNvPr id="3" name="">
            <a:extLst xmlns:a="http://schemas.openxmlformats.org/drawingml/2006/main">
              <a:ext uri="{FF2B5EF4-FFF2-40B4-BE49-F238E27FC236}">
                <a16:creationId xmlns:a16="http://schemas.microsoft.com/office/drawing/2014/main" id="{7574401C-D003-4344-B29D-B7168C5BE4F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9705E9B-4DAE-4FFA-9154-75F08ED7998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CDAD24C-65FB-43D4-9F3B-52DAE3E6E25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30</a:t>
            </a:r>
          </a:p>
        </p:txBody>
      </p:sp>
      <p:sp>
        <p:nvSpPr>
          <p:cNvPr id="6" name="">
            <a:extLst xmlns:a="http://schemas.openxmlformats.org/drawingml/2006/main">
              <a:ext uri="{FF2B5EF4-FFF2-40B4-BE49-F238E27FC236}">
                <a16:creationId xmlns:a16="http://schemas.microsoft.com/office/drawing/2014/main" id="{2497EBC2-0FFF-4C03-A940-0BED55ACC13A}"/>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47064E11-2941-4430-B9D9-C85A4D904DD4}"/>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클라우드·현장 제어의 이중 안전검증</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운영자 수동 전환과 불확실성 제한</a:t>
            </a:r>
          </a:p>
        </p:txBody>
      </p:sp>
      <p:sp>
        <p:nvSpPr>
          <p:cNvPr id="8" name="">
            <a:extLst xmlns:a="http://schemas.openxmlformats.org/drawingml/2006/main">
              <a:ext uri="{FF2B5EF4-FFF2-40B4-BE49-F238E27FC236}">
                <a16:creationId xmlns:a16="http://schemas.microsoft.com/office/drawing/2014/main" id="{035FC15A-F9D0-49BF-8B76-88E22D877FA5}"/>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BE9A836E-8419-4E97-A112-AC0CE052B4A4}"/>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계절·부하에 따른 기준선 변화</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안전 한계를 넓힐 때의 제어 위험</a:t>
            </a:r>
          </a:p>
        </p:txBody>
      </p:sp>
      <p:sp>
        <p:nvSpPr>
          <p:cNvPr id="10" name="">
            <a:extLst xmlns:a="http://schemas.openxmlformats.org/drawingml/2006/main">
              <a:ext uri="{FF2B5EF4-FFF2-40B4-BE49-F238E27FC236}">
                <a16:creationId xmlns:a16="http://schemas.microsoft.com/office/drawing/2014/main" id="{FA395206-73A2-4DD2-8600-AF25586C3E28}"/>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5016CEBC-E249-458D-A058-94DB9C7B0170}"/>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현장 독립 검증·수동 전환</a:t>
            </a:r>
          </a:p>
        </p:txBody>
      </p:sp>
      <p:sp>
        <p:nvSpPr>
          <p:cNvPr id="12" name="">
            <a:extLst xmlns:a="http://schemas.openxmlformats.org/drawingml/2006/main">
              <a:ext uri="{FF2B5EF4-FFF2-40B4-BE49-F238E27FC236}">
                <a16:creationId xmlns:a16="http://schemas.microsoft.com/office/drawing/2014/main" id="{7665552F-2063-4C51-950A-2A139F2F220D}"/>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140928DD-A757-43E7-9FFC-CF2FE46CAA1F}"/>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현재 운전상태에서 허용범위 내 냉각 제어값 산출</a:t>
            </a:r>
          </a:p>
        </p:txBody>
      </p:sp>
      <p:sp>
        <p:nvSpPr>
          <p:cNvPr id="14" name="">
            <a:extLst xmlns:a="http://schemas.openxmlformats.org/drawingml/2006/main">
              <a:ext uri="{FF2B5EF4-FFF2-40B4-BE49-F238E27FC236}">
                <a16:creationId xmlns:a16="http://schemas.microsoft.com/office/drawing/2014/main" id="{517034C5-5A35-4E29-BEA3-1811CC2EF8CA}"/>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441965F4-3FE9-4ABF-8D8A-E17540641EA3}"/>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센서 결측·제어값 한계 초과·현장 검증 거부</a:t>
            </a:r>
          </a:p>
        </p:txBody>
      </p:sp>
      <p:sp>
        <p:nvSpPr>
          <p:cNvPr id="16" name="">
            <a:extLst xmlns:a="http://schemas.openxmlformats.org/drawingml/2006/main">
              <a:ext uri="{FF2B5EF4-FFF2-40B4-BE49-F238E27FC236}">
                <a16:creationId xmlns:a16="http://schemas.microsoft.com/office/drawing/2014/main" id="{0D3532BB-96A7-47ED-8D7E-B9849AB26916}"/>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8190FDE7-6D0E-4875-A27B-DD8F90B08671}"/>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제약별 통과/보류 결과와 수동 전환·제어 이력</a:t>
            </a:r>
          </a:p>
        </p:txBody>
      </p:sp>
    </p:spTree>
    <p:extLst>
      <p:ext uri="{BB962C8B-B14F-4D97-AF65-F5344CB8AC3E}">
        <p14:creationId xmlns:p14="http://schemas.microsoft.com/office/powerpoint/2010/main" val="722327113"/>
      </p:ext>
    </p:extLst>
  </p:cSld>
</p:sld>
</file>

<file path=ppt/slides/slide3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2DD4F3B-E664-4286-A4F7-9BCA5E51F7F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AX06 / 부분 성과 / 해외</a:t>
            </a:r>
          </a:p>
        </p:txBody>
      </p:sp>
      <p:sp>
        <p:nvSpPr>
          <p:cNvPr id="2" name="">
            <a:extLst xmlns:a="http://schemas.openxmlformats.org/drawingml/2006/main">
              <a:ext uri="{FF2B5EF4-FFF2-40B4-BE49-F238E27FC236}">
                <a16:creationId xmlns:a16="http://schemas.microsoft.com/office/drawing/2014/main" id="{ADA03510-5EB4-4861-ABD6-27A096D15CA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GOV.UK Chat</a:t>
            </a:r>
          </a:p>
        </p:txBody>
      </p:sp>
      <p:sp>
        <p:nvSpPr>
          <p:cNvPr id="3" name="">
            <a:extLst xmlns:a="http://schemas.openxmlformats.org/drawingml/2006/main">
              <a:ext uri="{FF2B5EF4-FFF2-40B4-BE49-F238E27FC236}">
                <a16:creationId xmlns:a16="http://schemas.microsoft.com/office/drawing/2014/main" id="{87BAA60F-02B7-429E-B4B6-E15E0DBC956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A80EE5B-BABC-4F6F-9F79-5FA63A01AAA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F6F0BD99-E499-4A10-B042-8B22EBB151E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31</a:t>
            </a:r>
          </a:p>
        </p:txBody>
      </p:sp>
      <p:sp>
        <p:nvSpPr>
          <p:cNvPr id="6" name="">
            <a:extLst xmlns:a="http://schemas.openxmlformats.org/drawingml/2006/main">
              <a:ext uri="{FF2B5EF4-FFF2-40B4-BE49-F238E27FC236}">
                <a16:creationId xmlns:a16="http://schemas.microsoft.com/office/drawing/2014/main" id="{97849E1A-BC48-4451-B9B7-6153E96BF89C}"/>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5866BFBC-C261-43B7-9CB1-A46B03DC2871}"/>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정부 안내 페이지를 이용자가 직접 탐색하는 과정에 자</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연어 질의 접점을 추가한 사례. 질문에 대한 설명과 실제</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공공서비스 신청은 별도 단계이며 원문·공식 서비스로</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의 이동이 중요한 완료조건.</a:t>
            </a:r>
          </a:p>
        </p:txBody>
      </p:sp>
      <p:sp>
        <p:nvSpPr>
          <p:cNvPr id="8" name="">
            <a:extLst xmlns:a="http://schemas.openxmlformats.org/drawingml/2006/main">
              <a:ext uri="{FF2B5EF4-FFF2-40B4-BE49-F238E27FC236}">
                <a16:creationId xmlns:a16="http://schemas.microsoft.com/office/drawing/2014/main" id="{F154DD97-CAA4-43A1-A776-322947627DE8}"/>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206B1D16-579A-483D-B1F5-B6D7924EFDAC}"/>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공개 기술기록의 Rails·Claude/Bedrock·OpenSearc</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h·BigQuery를 기준으로 콘텐츠 준비, 질의 검색, 응답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생성, 품질 관측을 구분. 2023년 파일럿 설계와 2025</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년 공개 기술기록은 판본이 다른 자료로 취급.</a:t>
            </a:r>
          </a:p>
        </p:txBody>
      </p:sp>
      <p:sp>
        <p:nvSpPr>
          <p:cNvPr id="10" name="">
            <a:extLst xmlns:a="http://schemas.openxmlformats.org/drawingml/2006/main">
              <a:ext uri="{FF2B5EF4-FFF2-40B4-BE49-F238E27FC236}">
                <a16:creationId xmlns:a16="http://schemas.microsoft.com/office/drawing/2014/main" id="{1CB22801-3865-4FC7-A1A4-310D54B05787}"/>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4B12904D-9982-4FD4-A9E1-F79E2CE7BB9D}"/>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CCK에서는 TS 메뉴를 없애기보다 질문의 소관·지역·자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격을 정리하고 검증된 메뉴에 연결하는 방식으로 현지화.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근거 없음·범위 밖 질의·느린 응답·틀린 신청 경로를 별도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과업으로 시험할 필요.</a:t>
            </a:r>
          </a:p>
        </p:txBody>
      </p:sp>
      <p:sp>
        <p:nvSpPr>
          <p:cNvPr id="12" name="">
            <a:extLst xmlns:a="http://schemas.openxmlformats.org/drawingml/2006/main">
              <a:ext uri="{FF2B5EF4-FFF2-40B4-BE49-F238E27FC236}">
                <a16:creationId xmlns:a16="http://schemas.microsoft.com/office/drawing/2014/main" id="{3B43EA1E-A4D8-487A-9FDC-33E211CF7146}"/>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7C2C7769-F14F-4806-A54E-B0308F74BFE7}"/>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공개·내부 지식 분리 / 서비스 라우터 / 필수 입력 확인 / 인증·전</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송 연계</a:t>
            </a:r>
          </a:p>
        </p:txBody>
      </p:sp>
      <p:sp>
        <p:nvSpPr>
          <p:cNvPr id="14" name="">
            <a:extLst xmlns:a="http://schemas.openxmlformats.org/drawingml/2006/main">
              <a:ext uri="{FF2B5EF4-FFF2-40B4-BE49-F238E27FC236}">
                <a16:creationId xmlns:a16="http://schemas.microsoft.com/office/drawing/2014/main" id="{8B80F40D-93CA-418B-BA02-6B115E776A33}"/>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B6F32D1E-CD80-48F8-B1ED-B4789DE441B8}"/>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실제 메뉴 대비 업무 도달률·완료시간 및 잘못된 기관 안</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내 검증</a:t>
            </a:r>
          </a:p>
        </p:txBody>
      </p:sp>
      <p:sp>
        <p:nvSpPr>
          <p:cNvPr id="16" name="">
            <a:extLst xmlns:a="http://schemas.openxmlformats.org/drawingml/2006/main">
              <a:ext uri="{FF2B5EF4-FFF2-40B4-BE49-F238E27FC236}">
                <a16:creationId xmlns:a16="http://schemas.microsoft.com/office/drawing/2014/main" id="{3337B0C8-08B2-4A0A-A8DA-040C809E37E7}"/>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5F92F7AC-AC83-4981-838F-56A6FB542566}"/>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정확한 서비스 도달률 / 포기율 / 응답 p95</a:t>
            </a:r>
          </a:p>
        </p:txBody>
      </p:sp>
      <p:sp>
        <p:nvSpPr>
          <p:cNvPr id="18" name="">
            <a:extLst xmlns:a="http://schemas.openxmlformats.org/drawingml/2006/main">
              <a:ext uri="{FF2B5EF4-FFF2-40B4-BE49-F238E27FC236}">
                <a16:creationId xmlns:a16="http://schemas.microsoft.com/office/drawing/2014/main" id="{00E9F858-3AFE-4F08-9934-479F50D729BE}"/>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공개 안내 검색 범위 · 개인 업무 처리와 담당자 인계는 당시 지원·개선 범위 구분</a:t>
            </a:r>
          </a:p>
        </p:txBody>
      </p:sp>
    </p:spTree>
    <p:extLst>
      <p:ext uri="{BB962C8B-B14F-4D97-AF65-F5344CB8AC3E}">
        <p14:creationId xmlns:p14="http://schemas.microsoft.com/office/powerpoint/2010/main" val="191343761"/>
      </p:ext>
    </p:extLst>
  </p:cSld>
</p:sld>
</file>

<file path=ppt/slides/slide3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B9CEA8F-9652-48B0-AAD5-81EACFACEF6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AX06 / As-Is → To-Be → 기대효과 → 확인 결과</a:t>
            </a:r>
          </a:p>
        </p:txBody>
      </p:sp>
      <p:sp>
        <p:nvSpPr>
          <p:cNvPr id="2" name="">
            <a:extLst xmlns:a="http://schemas.openxmlformats.org/drawingml/2006/main">
              <a:ext uri="{FF2B5EF4-FFF2-40B4-BE49-F238E27FC236}">
                <a16:creationId xmlns:a16="http://schemas.microsoft.com/office/drawing/2014/main" id="{27AFBA6B-BB7C-4B6A-973D-E8CB81836F9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GOV.UK Chat · 기대와 결과</a:t>
            </a:r>
          </a:p>
        </p:txBody>
      </p:sp>
      <p:sp>
        <p:nvSpPr>
          <p:cNvPr id="3" name="">
            <a:extLst xmlns:a="http://schemas.openxmlformats.org/drawingml/2006/main">
              <a:ext uri="{FF2B5EF4-FFF2-40B4-BE49-F238E27FC236}">
                <a16:creationId xmlns:a16="http://schemas.microsoft.com/office/drawing/2014/main" id="{C4E5FAE1-8535-4112-A35B-9B4EA9710F8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E566E75-2B3A-42F0-AB04-E7F04EDF9FC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EE5D1FFB-E14C-4A36-9D8A-0313CB3C6D4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32</a:t>
            </a:r>
          </a:p>
        </p:txBody>
      </p:sp>
      <p:sp>
        <p:nvSpPr>
          <p:cNvPr id="6" name="">
            <a:extLst xmlns:a="http://schemas.openxmlformats.org/drawingml/2006/main">
              <a:ext uri="{FF2B5EF4-FFF2-40B4-BE49-F238E27FC236}">
                <a16:creationId xmlns:a16="http://schemas.microsoft.com/office/drawing/2014/main" id="{25D3D040-6567-424A-B24C-FB7F4E39D6E3}"/>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ED5AAADA-8638-4E78-88ED-CB18E5ADE772}"/>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국민이 GOV.UK 여러 안내 문서를 찾아 자신의 질문과 소</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관 서비스를 대조</a:t>
            </a:r>
          </a:p>
        </p:txBody>
      </p:sp>
      <p:sp>
        <p:nvSpPr>
          <p:cNvPr id="8" name="">
            <a:extLst xmlns:a="http://schemas.openxmlformats.org/drawingml/2006/main">
              <a:ext uri="{FF2B5EF4-FFF2-40B4-BE49-F238E27FC236}">
                <a16:creationId xmlns:a16="http://schemas.microsoft.com/office/drawing/2014/main" id="{8971937D-EF05-4717-B335-7B8D5C2A1F0D}"/>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7360FA0B-DA4D-4D9E-A0FE-6CA354C3AC48}"/>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선별된 공식 콘텐츠를 검색해 대화형으로 안내하고 출처·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서비스 경계를 제시</a:t>
            </a:r>
          </a:p>
        </p:txBody>
      </p:sp>
      <p:sp>
        <p:nvSpPr>
          <p:cNvPr id="10" name="">
            <a:extLst xmlns:a="http://schemas.openxmlformats.org/drawingml/2006/main">
              <a:ext uri="{FF2B5EF4-FFF2-40B4-BE49-F238E27FC236}">
                <a16:creationId xmlns:a16="http://schemas.microsoft.com/office/drawing/2014/main" id="{B9AA9380-6596-43C1-ACFA-7DD514535E66}"/>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46579D6C-F9CA-4D9F-8BC2-AECE3CF07987}"/>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안내 탐색 시간 단축과 적합한 공공서비스 도달률 향상</a:t>
            </a:r>
          </a:p>
        </p:txBody>
      </p:sp>
      <p:sp>
        <p:nvSpPr>
          <p:cNvPr id="12" name="">
            <a:extLst xmlns:a="http://schemas.openxmlformats.org/drawingml/2006/main">
              <a:ext uri="{FF2B5EF4-FFF2-40B4-BE49-F238E27FC236}">
                <a16:creationId xmlns:a16="http://schemas.microsoft.com/office/drawing/2014/main" id="{E2415887-19BC-4A42-9275-1D4F94F69BD3}"/>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1B3913CD-3262-4B81-AEA2-7D7F5DCEDB78}"/>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GDS가 iOS 이용자 641명·4주·2,670개 질문을 실증; 안</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내 편의 의견과 함께 속도·업무 범위·신뢰성 개선 과제 공</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개</a:t>
            </a:r>
          </a:p>
        </p:txBody>
      </p:sp>
      <p:sp>
        <p:nvSpPr>
          <p:cNvPr id="14" name="">
            <a:extLst xmlns:a="http://schemas.openxmlformats.org/drawingml/2006/main">
              <a:ext uri="{FF2B5EF4-FFF2-40B4-BE49-F238E27FC236}">
                <a16:creationId xmlns:a16="http://schemas.microsoft.com/office/drawing/2014/main" id="{F8DD4F3D-2EE7-4DF7-A1F0-4BC8FEEE9808}"/>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부분 성과 · 대화형 안내의 사용 가능성은 확인됐으나 개인 업무 처리 완료와 광범위한 정확도는 아직 실증 범위 밖</a:t>
            </a:r>
          </a:p>
        </p:txBody>
      </p:sp>
      <p:sp>
        <p:nvSpPr>
          <p:cNvPr id="15" name="">
            <a:extLst xmlns:a="http://schemas.openxmlformats.org/drawingml/2006/main">
              <a:ext uri="{FF2B5EF4-FFF2-40B4-BE49-F238E27FC236}">
                <a16:creationId xmlns:a16="http://schemas.microsoft.com/office/drawing/2014/main" id="{2E766364-F7B6-4E97-9A4D-1A262CC19AF6}"/>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정부 운영 구조·이용자 실증 공개 · 공개 안내 검색 실증 기준. 인증·신청·처리 자동화의 성공 증거 아님</a:t>
            </a:r>
          </a:p>
        </p:txBody>
      </p:sp>
    </p:spTree>
    <p:extLst>
      <p:ext uri="{BB962C8B-B14F-4D97-AF65-F5344CB8AC3E}">
        <p14:creationId xmlns:p14="http://schemas.microsoft.com/office/powerpoint/2010/main" val="1955750313"/>
      </p:ext>
    </p:extLst>
  </p:cSld>
</p:sld>
</file>

<file path=ppt/slides/slide3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E2B8649-3ACD-42DB-8F92-3252BDA2CD3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AX06 / 영국 정부 ATRS 공식 C4 아키텍처 / 공식 웹 원본</a:t>
            </a:r>
          </a:p>
        </p:txBody>
      </p:sp>
      <p:sp>
        <p:nvSpPr>
          <p:cNvPr id="2" name="">
            <a:extLst xmlns:a="http://schemas.openxmlformats.org/drawingml/2006/main">
              <a:ext uri="{FF2B5EF4-FFF2-40B4-BE49-F238E27FC236}">
                <a16:creationId xmlns:a16="http://schemas.microsoft.com/office/drawing/2014/main" id="{0B40E851-41D1-41F4-8420-6E516BC2438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GOV.UK Chat 2025년 공개 베타 구성</a:t>
            </a:r>
          </a:p>
        </p:txBody>
      </p:sp>
      <p:sp>
        <p:nvSpPr>
          <p:cNvPr id="3" name="">
            <a:extLst xmlns:a="http://schemas.openxmlformats.org/drawingml/2006/main">
              <a:ext uri="{FF2B5EF4-FFF2-40B4-BE49-F238E27FC236}">
                <a16:creationId xmlns:a16="http://schemas.microsoft.com/office/drawing/2014/main" id="{ACEB59E3-38CB-4D54-9FB9-40D263C7EBA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952EEB8-228A-46A3-B810-4513B72E95B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E6F1BC2-FC85-459A-BFB6-BC2A4E9E39E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33</a:t>
            </a:r>
          </a:p>
        </p:txBody>
      </p:sp>
      <p:pic>
        <p:nvPicPr>
          <p:cNvPr id="6" name="">
            <a:extLst xmlns:a="http://schemas.openxmlformats.org/drawingml/2006/main">
              <a:ext uri="{FF2B5EF4-FFF2-40B4-BE49-F238E27FC236}">
                <a16:creationId xmlns:a16="http://schemas.microsoft.com/office/drawing/2014/main" id="{98D267AE-3630-4E63-99A3-89DB694A1DCA}"/>
              </a:ext>
            </a:extLst>
          </p:cNvPr>
          <p:cNvPicPr>
            <a:picLocks xmlns:a="http://schemas.openxmlformats.org/drawingml/2006/main" noChangeAspect="1"/>
          </p:cNvPicPr>
          <p:nvPr/>
        </p:nvPicPr>
        <p:blipFill>
          <a:blip xmlns:r="http://schemas.openxmlformats.org/officeDocument/2006/relationships" xmlns:a="http://schemas.openxmlformats.org/drawingml/2006/main" r:embed="R3353aa4447ed4d2d"/>
          <a:stretch xmlns:a="http://schemas.openxmlformats.org/drawingml/2006/main"/>
        </p:blipFill>
        <p:spPr>
          <a:xfrm xmlns:a="http://schemas.openxmlformats.org/drawingml/2006/main">
            <a:off x="2379270" y="1657350"/>
            <a:ext cx="7433460"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CAA8DBCA-A0ED-4533-AC08-2C1E56CBC499}"/>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앱·인증·Rails·Bedrock·OpenSearch·PostgreSQL·BigQuery의 운영 경계</a:t>
            </a:r>
          </a:p>
        </p:txBody>
      </p:sp>
    </p:spTree>
    <p:extLst>
      <p:ext uri="{BB962C8B-B14F-4D97-AF65-F5344CB8AC3E}">
        <p14:creationId xmlns:p14="http://schemas.microsoft.com/office/powerpoint/2010/main" val="1487555150"/>
      </p:ext>
    </p:extLst>
  </p:cSld>
</p:sld>
</file>

<file path=ppt/slides/slide3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69B0804-F2ED-4692-ACBA-AF11C8D624C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AX06 / 영국 정부 개발문서 초기 설계도 / 공식 웹 원본</a:t>
            </a:r>
          </a:p>
        </p:txBody>
      </p:sp>
      <p:sp>
        <p:nvSpPr>
          <p:cNvPr id="2" name="">
            <a:extLst xmlns:a="http://schemas.openxmlformats.org/drawingml/2006/main">
              <a:ext uri="{FF2B5EF4-FFF2-40B4-BE49-F238E27FC236}">
                <a16:creationId xmlns:a16="http://schemas.microsoft.com/office/drawing/2014/main" id="{4ECC33BC-4E73-479A-926E-BA0AA560160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GOV.UK Chat 초기 파일럿 구성</a:t>
            </a:r>
          </a:p>
        </p:txBody>
      </p:sp>
      <p:sp>
        <p:nvSpPr>
          <p:cNvPr id="3" name="">
            <a:extLst xmlns:a="http://schemas.openxmlformats.org/drawingml/2006/main">
              <a:ext uri="{FF2B5EF4-FFF2-40B4-BE49-F238E27FC236}">
                <a16:creationId xmlns:a16="http://schemas.microsoft.com/office/drawing/2014/main" id="{877E8580-C4BD-4D99-9C70-54280A10931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A8B9495-AC30-4B8B-92E3-886B49AAEF3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E8C9D8FE-A6A1-4615-A2A8-267F7408533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34</a:t>
            </a:r>
          </a:p>
        </p:txBody>
      </p:sp>
      <p:pic>
        <p:nvPicPr>
          <p:cNvPr id="6" name="">
            <a:extLst xmlns:a="http://schemas.openxmlformats.org/drawingml/2006/main">
              <a:ext uri="{FF2B5EF4-FFF2-40B4-BE49-F238E27FC236}">
                <a16:creationId xmlns:a16="http://schemas.microsoft.com/office/drawing/2014/main" id="{00543EB2-9DC4-49D4-AC44-B00DB5B3A3ED}"/>
              </a:ext>
            </a:extLst>
          </p:cNvPr>
          <p:cNvPicPr>
            <a:picLocks xmlns:a="http://schemas.openxmlformats.org/drawingml/2006/main" noChangeAspect="1"/>
          </p:cNvPicPr>
          <p:nvPr/>
        </p:nvPicPr>
        <p:blipFill>
          <a:blip xmlns:r="http://schemas.openxmlformats.org/officeDocument/2006/relationships" xmlns:a="http://schemas.openxmlformats.org/drawingml/2006/main" r:embed="R65ff184e25bf4433"/>
          <a:stretch xmlns:a="http://schemas.openxmlformats.org/drawingml/2006/main"/>
        </p:blipFill>
        <p:spPr>
          <a:xfrm xmlns:a="http://schemas.openxmlformats.org/drawingml/2006/main">
            <a:off x="3902427" y="1657350"/>
            <a:ext cx="4387147" cy="4191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570BFF25-CA6A-4965-8735-641965F6E83D}"/>
              </a:ext>
            </a:extLst>
          </p:cNvPr>
          <p:cNvSpPr>
            <a:spLocks xmlns:a="http://schemas.openxmlformats.org/drawingml/2006/main" noGrp="1"/>
          </p:cNvSpPr>
          <p:nvPr/>
        </p:nvSpPr>
        <p:spPr>
          <a:xfrm xmlns:a="http://schemas.openxmlformats.org/drawingml/2006/main">
            <a:off x="571500" y="5915025"/>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2023년 파일럿의 Rails·Redis·PostgreSQL·OpenAI·OpenSearch 계획. 2025년 운영 구성과 구분</a:t>
            </a:r>
          </a:p>
        </p:txBody>
      </p:sp>
    </p:spTree>
    <p:extLst>
      <p:ext uri="{BB962C8B-B14F-4D97-AF65-F5344CB8AC3E}">
        <p14:creationId xmlns:p14="http://schemas.microsoft.com/office/powerpoint/2010/main" val="983907372"/>
      </p:ext>
    </p:extLst>
  </p:cSld>
</p:sld>
</file>

<file path=ppt/slides/slide3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9" name="">
            <a:extLst xmlns:a="http://schemas.openxmlformats.org/drawingml/2006/main">
              <a:ext uri="{FF2B5EF4-FFF2-40B4-BE49-F238E27FC236}">
                <a16:creationId xmlns:a16="http://schemas.microsoft.com/office/drawing/2014/main" id="{5EF4FE43-0ADD-4C2C-9DCB-4DAA3E1FF73B}"/>
              </a:ext>
            </a:extLst>
          </p:cNvPr>
          <p:cNvCxnSpPr>
            <a:stCxn xmlns:a="http://schemas.openxmlformats.org/drawingml/2006/main" id="37" idx="0"/>
            <a:endCxn xmlns:a="http://schemas.openxmlformats.org/drawingml/2006/main" id="19" idx="2"/>
          </p:cNvCxnSpPr>
          <p:nvPr/>
        </p:nvCxnSpPr>
        <p:spPr>
          <a:xfrm xmlns:a="http://schemas.openxmlformats.org/drawingml/2006/main" flipH="1" flipV="1">
            <a:off x="10620375" y="2905125"/>
            <a:ext cx="161925"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8" name="">
            <a:extLst xmlns:a="http://schemas.openxmlformats.org/drawingml/2006/main">
              <a:ext uri="{FF2B5EF4-FFF2-40B4-BE49-F238E27FC236}">
                <a16:creationId xmlns:a16="http://schemas.microsoft.com/office/drawing/2014/main" id="{613537D1-5D3E-4D43-8A58-2D0CCA706B51}"/>
              </a:ext>
            </a:extLst>
          </p:cNvPr>
          <p:cNvCxnSpPr>
            <a:stCxn xmlns:a="http://schemas.openxmlformats.org/drawingml/2006/main" id="34" idx="3"/>
            <a:endCxn xmlns:a="http://schemas.openxmlformats.org/drawingml/2006/main" id="37"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7" name="">
            <a:extLst xmlns:a="http://schemas.openxmlformats.org/drawingml/2006/main">
              <a:ext uri="{FF2B5EF4-FFF2-40B4-BE49-F238E27FC236}">
                <a16:creationId xmlns:a16="http://schemas.microsoft.com/office/drawing/2014/main" id="{AE5F956A-10E4-4E42-A341-57015A15C952}"/>
              </a:ext>
            </a:extLst>
          </p:cNvPr>
          <p:cNvCxnSpPr>
            <a:stCxn xmlns:a="http://schemas.openxmlformats.org/drawingml/2006/main" id="31" idx="3"/>
            <a:endCxn xmlns:a="http://schemas.openxmlformats.org/drawingml/2006/main" id="34"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6" name="">
            <a:extLst xmlns:a="http://schemas.openxmlformats.org/drawingml/2006/main">
              <a:ext uri="{FF2B5EF4-FFF2-40B4-BE49-F238E27FC236}">
                <a16:creationId xmlns:a16="http://schemas.microsoft.com/office/drawing/2014/main" id="{9DA3DD4C-B28C-4792-BE08-150190809DA3}"/>
              </a:ext>
            </a:extLst>
          </p:cNvPr>
          <p:cNvCxnSpPr>
            <a:stCxn xmlns:a="http://schemas.openxmlformats.org/drawingml/2006/main" id="28" idx="3"/>
            <a:endCxn xmlns:a="http://schemas.openxmlformats.org/drawingml/2006/main" id="31"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5" name="">
            <a:extLst xmlns:a="http://schemas.openxmlformats.org/drawingml/2006/main">
              <a:ext uri="{FF2B5EF4-FFF2-40B4-BE49-F238E27FC236}">
                <a16:creationId xmlns:a16="http://schemas.microsoft.com/office/drawing/2014/main" id="{13778766-F046-40C7-932E-B767C66E66D7}"/>
              </a:ext>
            </a:extLst>
          </p:cNvPr>
          <p:cNvCxnSpPr>
            <a:stCxn xmlns:a="http://schemas.openxmlformats.org/drawingml/2006/main" id="16" idx="1"/>
            <a:endCxn xmlns:a="http://schemas.openxmlformats.org/drawingml/2006/main" id="28" idx="3"/>
          </p:cNvCxnSpPr>
          <p:nvPr/>
        </p:nvCxnSpPr>
        <p:spPr>
          <a:xfrm xmlns:a="http://schemas.openxmlformats.org/drawingml/2006/main" flipH="1">
            <a:off x="5996940" y="2352675"/>
            <a:ext cx="1361123"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2ED2D598-0CEE-4242-A659-1D919CBC8870}"/>
              </a:ext>
            </a:extLst>
          </p:cNvPr>
          <p:cNvCxnSpPr>
            <a:stCxn xmlns:a="http://schemas.openxmlformats.org/drawingml/2006/main" id="25" idx="3"/>
            <a:endCxn xmlns:a="http://schemas.openxmlformats.org/drawingml/2006/main" id="16" idx="1"/>
          </p:cNvCxnSpPr>
          <p:nvPr/>
        </p:nvCxnSpPr>
        <p:spPr>
          <a:xfrm xmlns:a="http://schemas.openxmlformats.org/drawingml/2006/main" flipV="1">
            <a:off x="4122420" y="2352675"/>
            <a:ext cx="3235643"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FED4C079-6797-4D74-A9F0-F2E63DF8A77D}"/>
              </a:ext>
            </a:extLst>
          </p:cNvPr>
          <p:cNvCxnSpPr>
            <a:stCxn xmlns:a="http://schemas.openxmlformats.org/drawingml/2006/main" id="22" idx="3"/>
            <a:endCxn xmlns:a="http://schemas.openxmlformats.org/drawingml/2006/main" id="25"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B5E57C04-350F-4A09-BF6E-8118CD0AC22E}"/>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41" name="">
            <a:extLst xmlns:a="http://schemas.openxmlformats.org/drawingml/2006/main">
              <a:ext uri="{FF2B5EF4-FFF2-40B4-BE49-F238E27FC236}">
                <a16:creationId xmlns:a16="http://schemas.microsoft.com/office/drawing/2014/main" id="{2D28A20F-0EAE-4E29-8B31-DA8250BBD468}"/>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40" name="">
            <a:extLst xmlns:a="http://schemas.openxmlformats.org/drawingml/2006/main">
              <a:ext uri="{FF2B5EF4-FFF2-40B4-BE49-F238E27FC236}">
                <a16:creationId xmlns:a16="http://schemas.microsoft.com/office/drawing/2014/main" id="{D5217CD2-BD54-485E-8C3A-FF61E701AE50}"/>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51" name="">
            <a:extLst xmlns:a="http://schemas.openxmlformats.org/drawingml/2006/main">
              <a:ext uri="{FF2B5EF4-FFF2-40B4-BE49-F238E27FC236}">
                <a16:creationId xmlns:a16="http://schemas.microsoft.com/office/drawing/2014/main" id="{473D7244-D920-492B-848A-1789F3480C4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AX06 / 지식 갱신·검색·근거 응답</a:t>
            </a:r>
          </a:p>
        </p:txBody>
      </p:sp>
      <p:sp>
        <p:nvSpPr>
          <p:cNvPr id="2" name="">
            <a:extLst xmlns:a="http://schemas.openxmlformats.org/drawingml/2006/main">
              <a:ext uri="{FF2B5EF4-FFF2-40B4-BE49-F238E27FC236}">
                <a16:creationId xmlns:a16="http://schemas.microsoft.com/office/drawing/2014/main" id="{B592A448-E57B-4B06-AFF5-44B55EE15F8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GOV.UK Chat · 세부 서비스 구조</a:t>
            </a:r>
          </a:p>
        </p:txBody>
      </p:sp>
      <p:sp>
        <p:nvSpPr>
          <p:cNvPr id="3" name="">
            <a:extLst xmlns:a="http://schemas.openxmlformats.org/drawingml/2006/main">
              <a:ext uri="{FF2B5EF4-FFF2-40B4-BE49-F238E27FC236}">
                <a16:creationId xmlns:a16="http://schemas.microsoft.com/office/drawing/2014/main" id="{32987504-E1C3-4AC8-AC31-6D50D3937A0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C5BE767-B1D7-4AC9-9DC4-E4A70F97DBB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E0E61EF7-B239-47CD-BDE0-DE7972A68A5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35</a:t>
            </a:r>
          </a:p>
        </p:txBody>
      </p:sp>
      <p:sp>
        <p:nvSpPr>
          <p:cNvPr id="6" name="">
            <a:extLst xmlns:a="http://schemas.openxmlformats.org/drawingml/2006/main">
              <a:ext uri="{FF2B5EF4-FFF2-40B4-BE49-F238E27FC236}">
                <a16:creationId xmlns:a16="http://schemas.microsoft.com/office/drawing/2014/main" id="{9A393382-C3BC-41E7-96A6-38C4BEBFE967}"/>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질문 분류 → GOV.UK 자료 검색 → 근거 기반 응답 → 공식 안내 확인</a:t>
            </a:r>
          </a:p>
        </p:txBody>
      </p:sp>
      <p:sp>
        <p:nvSpPr>
          <p:cNvPr id="7" name="">
            <a:extLst xmlns:a="http://schemas.openxmlformats.org/drawingml/2006/main">
              <a:ext uri="{FF2B5EF4-FFF2-40B4-BE49-F238E27FC236}">
                <a16:creationId xmlns:a16="http://schemas.microsoft.com/office/drawing/2014/main" id="{1C5A049C-82EC-4577-84D8-E37449E762A4}"/>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B69E845C-ADB0-4EC9-887D-85BF73DC8CF0}"/>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8AB4F841-17D6-4467-8797-E2041E7ADD73}"/>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GOV.UK 콘텐츠</a:t>
            </a:r>
          </a:p>
        </p:txBody>
      </p:sp>
      <p:sp>
        <p:nvSpPr>
          <p:cNvPr id="10" name="">
            <a:extLst xmlns:a="http://schemas.openxmlformats.org/drawingml/2006/main">
              <a:ext uri="{FF2B5EF4-FFF2-40B4-BE49-F238E27FC236}">
                <a16:creationId xmlns:a16="http://schemas.microsoft.com/office/drawing/2014/main" id="{9E3B80D8-36DB-40BD-8FE7-4F85E28D9067}"/>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DB161BD4-6418-4A4B-B511-63BBCEC07331}"/>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6A99832E-BC7C-4AB3-AC72-159B8CFB2F13}"/>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선별·청킹·벡터화</a:t>
            </a:r>
          </a:p>
        </p:txBody>
      </p:sp>
      <p:sp>
        <p:nvSpPr>
          <p:cNvPr id="13" name="">
            <a:extLst xmlns:a="http://schemas.openxmlformats.org/drawingml/2006/main">
              <a:ext uri="{FF2B5EF4-FFF2-40B4-BE49-F238E27FC236}">
                <a16:creationId xmlns:a16="http://schemas.microsoft.com/office/drawing/2014/main" id="{84DB80E6-B17C-460C-90DE-8BE12BB283A2}"/>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EA71FDB1-14E2-47B2-B5C9-6EEE408171BE}"/>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770E8D21-0AF9-49FD-A815-50EF8E68BBB8}"/>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OpenSearch 색인</a:t>
            </a:r>
          </a:p>
        </p:txBody>
      </p:sp>
      <p:sp>
        <p:nvSpPr>
          <p:cNvPr id="16" name="">
            <a:extLst xmlns:a="http://schemas.openxmlformats.org/drawingml/2006/main">
              <a:ext uri="{FF2B5EF4-FFF2-40B4-BE49-F238E27FC236}">
                <a16:creationId xmlns:a16="http://schemas.microsoft.com/office/drawing/2014/main" id="{2C906ADD-7B3C-40C7-A759-D7190FDDDD0C}"/>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1985DB18-030E-4C57-AD51-A25F96042356}"/>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F0864772-E3AF-4489-B8BC-9FCCB43519B5}"/>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OpenSearch 검색</a:t>
            </a:r>
          </a:p>
        </p:txBody>
      </p:sp>
      <p:sp>
        <p:nvSpPr>
          <p:cNvPr id="19" name="">
            <a:extLst xmlns:a="http://schemas.openxmlformats.org/drawingml/2006/main">
              <a:ext uri="{FF2B5EF4-FFF2-40B4-BE49-F238E27FC236}">
                <a16:creationId xmlns:a16="http://schemas.microsoft.com/office/drawing/2014/main" id="{07378D6D-4566-4EE9-9A08-C08469B3B612}"/>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7C81C720-1F7C-4A5D-B7DF-63EBEDF9AEFA}"/>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21" name="">
            <a:extLst xmlns:a="http://schemas.openxmlformats.org/drawingml/2006/main">
              <a:ext uri="{FF2B5EF4-FFF2-40B4-BE49-F238E27FC236}">
                <a16:creationId xmlns:a16="http://schemas.microsoft.com/office/drawing/2014/main" id="{F5775EAF-7B73-4467-AA98-0457D40A76C7}"/>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BigQuery 품질 분</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석</a:t>
            </a:r>
          </a:p>
        </p:txBody>
      </p:sp>
      <p:sp>
        <p:nvSpPr>
          <p:cNvPr id="22" name="">
            <a:extLst xmlns:a="http://schemas.openxmlformats.org/drawingml/2006/main">
              <a:ext uri="{FF2B5EF4-FFF2-40B4-BE49-F238E27FC236}">
                <a16:creationId xmlns:a16="http://schemas.microsoft.com/office/drawing/2014/main" id="{2C96AEC4-CC51-4DD6-9797-ED57A10BD9A0}"/>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C9C70557-40CC-4D88-800A-110E3608F54D}"/>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4" name="">
            <a:extLst xmlns:a="http://schemas.openxmlformats.org/drawingml/2006/main">
              <a:ext uri="{FF2B5EF4-FFF2-40B4-BE49-F238E27FC236}">
                <a16:creationId xmlns:a16="http://schemas.microsoft.com/office/drawing/2014/main" id="{D9385311-79BA-4203-B532-686A896F1738}"/>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GOV.UK 앱 질의</a:t>
            </a:r>
          </a:p>
        </p:txBody>
      </p:sp>
      <p:sp>
        <p:nvSpPr>
          <p:cNvPr id="25" name="">
            <a:extLst xmlns:a="http://schemas.openxmlformats.org/drawingml/2006/main">
              <a:ext uri="{FF2B5EF4-FFF2-40B4-BE49-F238E27FC236}">
                <a16:creationId xmlns:a16="http://schemas.microsoft.com/office/drawing/2014/main" id="{A06808AA-E82E-4F30-9658-54C9226D263E}"/>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D1A07670-EE0D-4BC5-BE72-DAEE38271F1F}"/>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7" name="">
            <a:extLst xmlns:a="http://schemas.openxmlformats.org/drawingml/2006/main">
              <a:ext uri="{FF2B5EF4-FFF2-40B4-BE49-F238E27FC236}">
                <a16:creationId xmlns:a16="http://schemas.microsoft.com/office/drawing/2014/main" id="{B19D4DC8-B898-468B-8F77-0A4F0D806EEF}"/>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질문·대화 문맥</a:t>
            </a:r>
          </a:p>
        </p:txBody>
      </p:sp>
      <p:sp>
        <p:nvSpPr>
          <p:cNvPr id="28" name="">
            <a:extLst xmlns:a="http://schemas.openxmlformats.org/drawingml/2006/main">
              <a:ext uri="{FF2B5EF4-FFF2-40B4-BE49-F238E27FC236}">
                <a16:creationId xmlns:a16="http://schemas.microsoft.com/office/drawing/2014/main" id="{8ED745A4-F704-4FAD-A02E-FC8328404778}"/>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02A4F5A3-6B0D-486D-A128-230A528FAF66}"/>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30" name="">
            <a:extLst xmlns:a="http://schemas.openxmlformats.org/drawingml/2006/main">
              <a:ext uri="{FF2B5EF4-FFF2-40B4-BE49-F238E27FC236}">
                <a16:creationId xmlns:a16="http://schemas.microsoft.com/office/drawing/2014/main" id="{E1D63B2C-8AB6-47A8-B527-3CA1F868285B}"/>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Claude / Bedr</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ock</a:t>
            </a:r>
          </a:p>
        </p:txBody>
      </p:sp>
      <p:sp>
        <p:nvSpPr>
          <p:cNvPr id="31" name="">
            <a:extLst xmlns:a="http://schemas.openxmlformats.org/drawingml/2006/main">
              <a:ext uri="{FF2B5EF4-FFF2-40B4-BE49-F238E27FC236}">
                <a16:creationId xmlns:a16="http://schemas.microsoft.com/office/drawing/2014/main" id="{9021A1AF-CA1C-4E1D-AA82-40984B156594}"/>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2EC3E8D2-C7A1-4ED3-A149-75BD186DC95E}"/>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3" name="">
            <a:extLst xmlns:a="http://schemas.openxmlformats.org/drawingml/2006/main">
              <a:ext uri="{FF2B5EF4-FFF2-40B4-BE49-F238E27FC236}">
                <a16:creationId xmlns:a16="http://schemas.microsoft.com/office/drawing/2014/main" id="{71BCFEF5-2584-4026-9E3E-2BC3E71D4E9F}"/>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범위·근거 검사</a:t>
            </a:r>
          </a:p>
        </p:txBody>
      </p:sp>
      <p:sp>
        <p:nvSpPr>
          <p:cNvPr id="34" name="">
            <a:extLst xmlns:a="http://schemas.openxmlformats.org/drawingml/2006/main">
              <a:ext uri="{FF2B5EF4-FFF2-40B4-BE49-F238E27FC236}">
                <a16:creationId xmlns:a16="http://schemas.microsoft.com/office/drawing/2014/main" id="{294C8CA3-C78B-408C-BB79-88E6326C52F5}"/>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0FBF5027-4B46-4B97-BCAD-54FFC21932AA}"/>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6" name="">
            <a:extLst xmlns:a="http://schemas.openxmlformats.org/drawingml/2006/main">
              <a:ext uri="{FF2B5EF4-FFF2-40B4-BE49-F238E27FC236}">
                <a16:creationId xmlns:a16="http://schemas.microsoft.com/office/drawing/2014/main" id="{0F8CEEA5-317E-4E48-918F-8AFDAF3874C8}"/>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이용자 원문 확인</a:t>
            </a:r>
          </a:p>
        </p:txBody>
      </p:sp>
      <p:sp>
        <p:nvSpPr>
          <p:cNvPr id="37" name="">
            <a:extLst xmlns:a="http://schemas.openxmlformats.org/drawingml/2006/main">
              <a:ext uri="{FF2B5EF4-FFF2-40B4-BE49-F238E27FC236}">
                <a16:creationId xmlns:a16="http://schemas.microsoft.com/office/drawing/2014/main" id="{ABBB3CDE-47BF-4423-B098-8C416D3DF58C}"/>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8" name="">
            <a:extLst xmlns:a="http://schemas.openxmlformats.org/drawingml/2006/main">
              <a:ext uri="{FF2B5EF4-FFF2-40B4-BE49-F238E27FC236}">
                <a16:creationId xmlns:a16="http://schemas.microsoft.com/office/drawing/2014/main" id="{4007B365-B7B3-4B86-AD4E-B6FBABF58988}"/>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9" name="">
            <a:extLst xmlns:a="http://schemas.openxmlformats.org/drawingml/2006/main">
              <a:ext uri="{FF2B5EF4-FFF2-40B4-BE49-F238E27FC236}">
                <a16:creationId xmlns:a16="http://schemas.microsoft.com/office/drawing/2014/main" id="{BC59837D-8FF9-48A0-807D-DE0FE7018270}"/>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공식 서비스 연결</a:t>
            </a:r>
          </a:p>
        </p:txBody>
      </p:sp>
      <p:sp>
        <p:nvSpPr>
          <p:cNvPr id="50" name="">
            <a:extLst xmlns:a="http://schemas.openxmlformats.org/drawingml/2006/main">
              <a:ext uri="{FF2B5EF4-FFF2-40B4-BE49-F238E27FC236}">
                <a16:creationId xmlns:a16="http://schemas.microsoft.com/office/drawing/2014/main" id="{EB7A0D4F-EC4B-44D8-8653-42A34D07C920}"/>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820861212"/>
      </p:ext>
    </p:extLst>
  </p:cSld>
</p:sld>
</file>

<file path=ppt/slides/slide3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EB646DCE-B980-4A45-84C8-AEEDB80913E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AX06 / 논리 인터페이스·복구 설계</a:t>
            </a:r>
          </a:p>
        </p:txBody>
      </p:sp>
      <p:sp>
        <p:nvSpPr>
          <p:cNvPr id="2" name="">
            <a:extLst xmlns:a="http://schemas.openxmlformats.org/drawingml/2006/main">
              <a:ext uri="{FF2B5EF4-FFF2-40B4-BE49-F238E27FC236}">
                <a16:creationId xmlns:a16="http://schemas.microsoft.com/office/drawing/2014/main" id="{E6C27DA6-BD80-4F9A-85D6-7E870D841EB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GOV.UK Chat · 데이터와 예외 처리</a:t>
            </a:r>
          </a:p>
        </p:txBody>
      </p:sp>
      <p:sp>
        <p:nvSpPr>
          <p:cNvPr id="3" name="">
            <a:extLst xmlns:a="http://schemas.openxmlformats.org/drawingml/2006/main">
              <a:ext uri="{FF2B5EF4-FFF2-40B4-BE49-F238E27FC236}">
                <a16:creationId xmlns:a16="http://schemas.microsoft.com/office/drawing/2014/main" id="{34F6479F-BB6A-40E3-AFB0-6BF89236F9E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BEAEA67-54D7-4FAB-83B5-EFDB87041E7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B06EDC27-1217-409E-BC4E-BDDCE8BBC67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36</a:t>
            </a:r>
          </a:p>
        </p:txBody>
      </p:sp>
      <p:sp>
        <p:nvSpPr>
          <p:cNvPr id="6" name="">
            <a:extLst xmlns:a="http://schemas.openxmlformats.org/drawingml/2006/main">
              <a:ext uri="{FF2B5EF4-FFF2-40B4-BE49-F238E27FC236}">
                <a16:creationId xmlns:a16="http://schemas.microsoft.com/office/drawing/2014/main" id="{91E3B722-93BB-429A-8DF7-790633E15133}"/>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380F1F32-B8CA-4476-9615-91CB14FED709}"/>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39912B26-3D12-4A6B-A5D8-BC9994FF7B3A}"/>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A4BF3667-1BBE-4210-9F6E-2ABED09C2771}"/>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OpenSearch·품질 분석 기록</a:t>
            </a:r>
          </a:p>
        </p:txBody>
      </p:sp>
      <p:sp>
        <p:nvSpPr>
          <p:cNvPr id="10" name="">
            <a:extLst xmlns:a="http://schemas.openxmlformats.org/drawingml/2006/main">
              <a:ext uri="{FF2B5EF4-FFF2-40B4-BE49-F238E27FC236}">
                <a16:creationId xmlns:a16="http://schemas.microsoft.com/office/drawing/2014/main" id="{554BE15C-2596-4121-BA94-5BF328217482}"/>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0EAB54D-E9A9-41E0-A0D7-D5560DF9FF92}"/>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9A1C852E-369B-403F-A7D6-2071AE0E1669}"/>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61ACDEBC-B465-4214-82B7-EEFE385998F1}"/>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3719F19-71C5-41E4-B2FC-1D2AFC88EF69}"/>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2E24B2D8-1038-4AF1-9947-9FE14A558A1D}"/>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앱 질문과 이전 대화의 문맥 구성</a:t>
            </a:r>
          </a:p>
        </p:txBody>
      </p:sp>
      <p:sp>
        <p:nvSpPr>
          <p:cNvPr id="16" name="">
            <a:extLst xmlns:a="http://schemas.openxmlformats.org/drawingml/2006/main">
              <a:ext uri="{FF2B5EF4-FFF2-40B4-BE49-F238E27FC236}">
                <a16:creationId xmlns:a16="http://schemas.microsoft.com/office/drawing/2014/main" id="{63629507-7361-419C-9E91-80C047AA8ED0}"/>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9F34C48-D8AD-4822-A669-82E84C859A37}"/>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26D6F327-6174-4D07-8190-FDC5D82FC547}"/>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정답 안내 페이지·근거 문단·응답 보류·처리</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시간 대조</a:t>
            </a:r>
          </a:p>
        </p:txBody>
      </p:sp>
      <p:sp>
        <p:nvSpPr>
          <p:cNvPr id="19" name="">
            <a:extLst xmlns:a="http://schemas.openxmlformats.org/drawingml/2006/main">
              <a:ext uri="{FF2B5EF4-FFF2-40B4-BE49-F238E27FC236}">
                <a16:creationId xmlns:a16="http://schemas.microsoft.com/office/drawing/2014/main" id="{96A15437-B113-4F52-A540-407A7B46BB5D}"/>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18F0F80-F442-426C-85DF-B657E1D5260A}"/>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E7F3C815-EDD6-4F12-9B57-805766C2D08F}"/>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공식 문서 조각</a:t>
            </a:r>
          </a:p>
        </p:txBody>
      </p:sp>
      <p:sp>
        <p:nvSpPr>
          <p:cNvPr id="22" name="">
            <a:extLst xmlns:a="http://schemas.openxmlformats.org/drawingml/2006/main">
              <a:ext uri="{FF2B5EF4-FFF2-40B4-BE49-F238E27FC236}">
                <a16:creationId xmlns:a16="http://schemas.microsoft.com/office/drawing/2014/main" id="{E6367098-26C7-4E47-9582-022ED9ABD386}"/>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7058CD0-6C11-4559-B0D5-48AEA8706299}"/>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4E3B63CB-ACDC-4CAD-A24D-7AA48C9F2D8C}"/>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출처 포함 답변</a:t>
            </a:r>
          </a:p>
        </p:txBody>
      </p:sp>
      <p:sp>
        <p:nvSpPr>
          <p:cNvPr id="25" name="">
            <a:extLst xmlns:a="http://schemas.openxmlformats.org/drawingml/2006/main">
              <a:ext uri="{FF2B5EF4-FFF2-40B4-BE49-F238E27FC236}">
                <a16:creationId xmlns:a16="http://schemas.microsoft.com/office/drawing/2014/main" id="{FD4E6DF2-117A-457F-B49E-003AFBC2AA86}"/>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CF81D43B-5AD1-4B37-8780-265D7A545CC6}"/>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범위 밖 질문·상충 안내·개인 업무의 실행 요청</a:t>
            </a:r>
          </a:p>
        </p:txBody>
      </p:sp>
      <p:sp>
        <p:nvSpPr>
          <p:cNvPr id="27" name="">
            <a:extLst xmlns:a="http://schemas.openxmlformats.org/drawingml/2006/main">
              <a:ext uri="{FF2B5EF4-FFF2-40B4-BE49-F238E27FC236}">
                <a16:creationId xmlns:a16="http://schemas.microsoft.com/office/drawing/2014/main" id="{87AAADC9-4C7F-464D-9E35-D04BA97ED320}"/>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32379ED2-C337-4A75-BF2A-CBF6E63917D4}"/>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질문 분류·응답 품질 평가</a:t>
            </a:r>
          </a:p>
        </p:txBody>
      </p:sp>
      <p:sp>
        <p:nvSpPr>
          <p:cNvPr id="29" name="">
            <a:extLst xmlns:a="http://schemas.openxmlformats.org/drawingml/2006/main">
              <a:ext uri="{FF2B5EF4-FFF2-40B4-BE49-F238E27FC236}">
                <a16:creationId xmlns:a16="http://schemas.microsoft.com/office/drawing/2014/main" id="{44F8414C-8BF4-4E43-946B-163EBED1465F}"/>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E007C2D5-349A-4CED-88C8-3B5D080E304D}"/>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관리 도구·BigQuery 기반 품질 분석</a:t>
            </a:r>
          </a:p>
        </p:txBody>
      </p:sp>
      <p:sp>
        <p:nvSpPr>
          <p:cNvPr id="31" name="">
            <a:extLst xmlns:a="http://schemas.openxmlformats.org/drawingml/2006/main">
              <a:ext uri="{FF2B5EF4-FFF2-40B4-BE49-F238E27FC236}">
                <a16:creationId xmlns:a16="http://schemas.microsoft.com/office/drawing/2014/main" id="{0DB54055-39D1-4362-B86C-74A2038F6966}"/>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170B6398-03E8-46EC-B288-4F27D079E3D7}"/>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정답 안내 페이지·근거 문단·응답 보류·처리시간 대조</a:t>
            </a:r>
          </a:p>
        </p:txBody>
      </p:sp>
    </p:spTree>
    <p:extLst>
      <p:ext uri="{BB962C8B-B14F-4D97-AF65-F5344CB8AC3E}">
        <p14:creationId xmlns:p14="http://schemas.microsoft.com/office/powerpoint/2010/main" val="322976394"/>
      </p:ext>
    </p:extLst>
  </p:cSld>
</p:sld>
</file>

<file path=ppt/slides/slide3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A291140-CF05-4C29-97B0-26D1FF2245D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AX06 / CCK 비교·재현 시험 설계</a:t>
            </a:r>
          </a:p>
        </p:txBody>
      </p:sp>
      <p:sp>
        <p:nvSpPr>
          <p:cNvPr id="2" name="">
            <a:extLst xmlns:a="http://schemas.openxmlformats.org/drawingml/2006/main">
              <a:ext uri="{FF2B5EF4-FFF2-40B4-BE49-F238E27FC236}">
                <a16:creationId xmlns:a16="http://schemas.microsoft.com/office/drawing/2014/main" id="{0381FCBF-10FA-41A8-B1C3-50B47CA53F6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GOV.UK Chat · 벤치마킹</a:t>
            </a:r>
          </a:p>
        </p:txBody>
      </p:sp>
      <p:sp>
        <p:nvSpPr>
          <p:cNvPr id="3" name="">
            <a:extLst xmlns:a="http://schemas.openxmlformats.org/drawingml/2006/main">
              <a:ext uri="{FF2B5EF4-FFF2-40B4-BE49-F238E27FC236}">
                <a16:creationId xmlns:a16="http://schemas.microsoft.com/office/drawing/2014/main" id="{2B979FF4-27B6-4007-92D2-AFA22EFEBBE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BE15403-AD7E-4F1F-94D4-C6F09DF4843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08447DD7-6013-4A3D-8ADB-40BB2B86975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37</a:t>
            </a:r>
          </a:p>
        </p:txBody>
      </p:sp>
      <p:sp>
        <p:nvSpPr>
          <p:cNvPr id="6" name="">
            <a:extLst xmlns:a="http://schemas.openxmlformats.org/drawingml/2006/main">
              <a:ext uri="{FF2B5EF4-FFF2-40B4-BE49-F238E27FC236}">
                <a16:creationId xmlns:a16="http://schemas.microsoft.com/office/drawing/2014/main" id="{1F23CFEF-0D17-4AE6-A4CD-D79370674536}"/>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0ABF368D-651F-4BB3-B5B0-1B6DF1D579A9}"/>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공식 안내 자료에 한정한 검색</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출처 링크와 기존 탐색 경로 병행</a:t>
            </a:r>
          </a:p>
        </p:txBody>
      </p:sp>
      <p:sp>
        <p:nvSpPr>
          <p:cNvPr id="8" name="">
            <a:extLst xmlns:a="http://schemas.openxmlformats.org/drawingml/2006/main">
              <a:ext uri="{FF2B5EF4-FFF2-40B4-BE49-F238E27FC236}">
                <a16:creationId xmlns:a16="http://schemas.microsoft.com/office/drawing/2014/main" id="{AFD972FD-9F8B-472B-8325-36DA2EDC6FDA}"/>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A1881CFA-F64B-4965-9332-933236715C65}"/>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업무 범위 밖 질문</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응답속도·안내와 실제 처리의 간극</a:t>
            </a:r>
          </a:p>
        </p:txBody>
      </p:sp>
      <p:sp>
        <p:nvSpPr>
          <p:cNvPr id="10" name="">
            <a:extLst xmlns:a="http://schemas.openxmlformats.org/drawingml/2006/main">
              <a:ext uri="{FF2B5EF4-FFF2-40B4-BE49-F238E27FC236}">
                <a16:creationId xmlns:a16="http://schemas.microsoft.com/office/drawing/2014/main" id="{F41A7F80-FE8F-4799-8FE6-6EC3FB42E300}"/>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246F1947-6E6F-405F-A04C-BF300FA18551}"/>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질문 분류·응답 품질 평가</a:t>
            </a:r>
          </a:p>
        </p:txBody>
      </p:sp>
      <p:sp>
        <p:nvSpPr>
          <p:cNvPr id="12" name="">
            <a:extLst xmlns:a="http://schemas.openxmlformats.org/drawingml/2006/main">
              <a:ext uri="{FF2B5EF4-FFF2-40B4-BE49-F238E27FC236}">
                <a16:creationId xmlns:a16="http://schemas.microsoft.com/office/drawing/2014/main" id="{30D27E88-8050-49F2-BFA0-AA8E605AE3AA}"/>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EBD273A1-2AD5-43F8-90EA-B272112D069C}"/>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신청 방법을 질문하고 근거 안내와 해당 공식 페이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지 확인</a:t>
            </a:r>
          </a:p>
        </p:txBody>
      </p:sp>
      <p:sp>
        <p:nvSpPr>
          <p:cNvPr id="14" name="">
            <a:extLst xmlns:a="http://schemas.openxmlformats.org/drawingml/2006/main">
              <a:ext uri="{FF2B5EF4-FFF2-40B4-BE49-F238E27FC236}">
                <a16:creationId xmlns:a16="http://schemas.microsoft.com/office/drawing/2014/main" id="{6CA5F914-0CDA-4665-B414-31B87F6C6D80}"/>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54F9CCE5-5178-4E71-986E-0D6AC53AD73A}"/>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범위 밖 질문·상충 안내·개인 업무의 실행 요청</a:t>
            </a:r>
          </a:p>
        </p:txBody>
      </p:sp>
      <p:sp>
        <p:nvSpPr>
          <p:cNvPr id="16" name="">
            <a:extLst xmlns:a="http://schemas.openxmlformats.org/drawingml/2006/main">
              <a:ext uri="{FF2B5EF4-FFF2-40B4-BE49-F238E27FC236}">
                <a16:creationId xmlns:a16="http://schemas.microsoft.com/office/drawing/2014/main" id="{FC6F5905-3439-4E2C-944F-E5B3B38B4CA4}"/>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F20EF8F4-3CC9-408F-8969-EEA3CCBC6374}"/>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정답 안내 페이지·근거 문단·응답 보류·처리시간 대</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조</a:t>
            </a:r>
          </a:p>
        </p:txBody>
      </p:sp>
    </p:spTree>
    <p:extLst>
      <p:ext uri="{BB962C8B-B14F-4D97-AF65-F5344CB8AC3E}">
        <p14:creationId xmlns:p14="http://schemas.microsoft.com/office/powerpoint/2010/main" val="1853470242"/>
      </p:ext>
    </p:extLst>
  </p:cSld>
</p:sld>
</file>

<file path=ppt/slides/slide3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9A66D4D-F063-4E66-9E7F-C3F2206BA85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AX07 / 실패 확인 / 해외</a:t>
            </a:r>
          </a:p>
        </p:txBody>
      </p:sp>
      <p:sp>
        <p:nvSpPr>
          <p:cNvPr id="2" name="">
            <a:extLst xmlns:a="http://schemas.openxmlformats.org/drawingml/2006/main">
              <a:ext uri="{FF2B5EF4-FFF2-40B4-BE49-F238E27FC236}">
                <a16:creationId xmlns:a16="http://schemas.microsoft.com/office/drawing/2014/main" id="{9A1A81CB-85F3-44C7-89D5-2A05524815D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호주 Robodebt</a:t>
            </a:r>
          </a:p>
        </p:txBody>
      </p:sp>
      <p:sp>
        <p:nvSpPr>
          <p:cNvPr id="3" name="">
            <a:extLst xmlns:a="http://schemas.openxmlformats.org/drawingml/2006/main">
              <a:ext uri="{FF2B5EF4-FFF2-40B4-BE49-F238E27FC236}">
                <a16:creationId xmlns:a16="http://schemas.microsoft.com/office/drawing/2014/main" id="{C339C4E3-EF77-4EE0-928A-3DFD9ABA336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C143B6F-0AAC-4D27-9364-34A19FE3682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6B30CE53-C839-4C4F-AD36-6B43B5E25D7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38</a:t>
            </a:r>
          </a:p>
        </p:txBody>
      </p:sp>
      <p:sp>
        <p:nvSpPr>
          <p:cNvPr id="6" name="">
            <a:extLst xmlns:a="http://schemas.openxmlformats.org/drawingml/2006/main">
              <a:ext uri="{FF2B5EF4-FFF2-40B4-BE49-F238E27FC236}">
                <a16:creationId xmlns:a16="http://schemas.microsoft.com/office/drawing/2014/main" id="{F5E5EC43-2308-43E3-89B7-F4C4D7C1BEB8}"/>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76393AB8-CC16-4307-AD1B-FF7311032874}"/>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기관 자료를 이용한 자동 산정·통지의 법적·증빙 통제 실</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패를 다룬 사례. 생성형 AI의 오답 문제보다 자료의 적용</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기간과 산정 전제, 당사자의 이의제기 절차가 핵심인 행</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정 자동화 사례.</a:t>
            </a:r>
          </a:p>
        </p:txBody>
      </p:sp>
      <p:sp>
        <p:nvSpPr>
          <p:cNvPr id="8" name="">
            <a:extLst xmlns:a="http://schemas.openxmlformats.org/drawingml/2006/main">
              <a:ext uri="{FF2B5EF4-FFF2-40B4-BE49-F238E27FC236}">
                <a16:creationId xmlns:a16="http://schemas.microsoft.com/office/drawing/2014/main" id="{1A3AD443-CC24-4234-8B5D-66CC45BB5726}"/>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1B68D839-97EA-4FD5-900A-4739EF908DC2}"/>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원천 소득자료와 산정 대상 기간을 연결한 뒤 불일치 자</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료를 사람이 검토하도록 하는 재발 방지 구조. 통지에는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사용 근거와 산정 경로를 남기고 이의제기·재심 결과를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 규칙에 환류하는 설계.</a:t>
            </a:r>
          </a:p>
        </p:txBody>
      </p:sp>
      <p:sp>
        <p:nvSpPr>
          <p:cNvPr id="10" name="">
            <a:extLst xmlns:a="http://schemas.openxmlformats.org/drawingml/2006/main">
              <a:ext uri="{FF2B5EF4-FFF2-40B4-BE49-F238E27FC236}">
                <a16:creationId xmlns:a16="http://schemas.microsoft.com/office/drawing/2014/main" id="{98E1A7F2-F4F8-42A4-BAA1-08C7D838C809}"/>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297E8E19-6E3A-4A3F-8A76-7A2474BA3817}"/>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TS에서는 AI 분류·계산 결과를 처분·부과·승인으로 곧바</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로 확정하지 않는 책임 경계에 활용. 근거 없는 자동 확정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차단, 기간 불일치 탐지, 재심 가능성과 증빙 추적을 검수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할 대상.</a:t>
            </a:r>
          </a:p>
        </p:txBody>
      </p:sp>
      <p:sp>
        <p:nvSpPr>
          <p:cNvPr id="12" name="">
            <a:extLst xmlns:a="http://schemas.openxmlformats.org/drawingml/2006/main">
              <a:ext uri="{FF2B5EF4-FFF2-40B4-BE49-F238E27FC236}">
                <a16:creationId xmlns:a16="http://schemas.microsoft.com/office/drawing/2014/main" id="{73CC759C-12C6-478A-98CF-1E773BB7EFB7}"/>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53005C49-D9BA-4C3B-AE65-B9D6F12C2905}"/>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근거·입력 검증 / 자동 확정 제한 / 이의제기·재검토 연결</a:t>
            </a:r>
          </a:p>
        </p:txBody>
      </p:sp>
      <p:sp>
        <p:nvSpPr>
          <p:cNvPr id="14" name="">
            <a:extLst xmlns:a="http://schemas.openxmlformats.org/drawingml/2006/main">
              <a:ext uri="{FF2B5EF4-FFF2-40B4-BE49-F238E27FC236}">
                <a16:creationId xmlns:a16="http://schemas.microsoft.com/office/drawing/2014/main" id="{823D35C6-0803-47DD-B764-3818B018B931}"/>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24D5B524-F4C3-4C40-B3E9-85A39057067E}"/>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누락·기간 불일치·권한 부재 시 보류 및 재심 처리 추적</a:t>
            </a:r>
          </a:p>
        </p:txBody>
      </p:sp>
      <p:sp>
        <p:nvSpPr>
          <p:cNvPr id="16" name="">
            <a:extLst xmlns:a="http://schemas.openxmlformats.org/drawingml/2006/main">
              <a:ext uri="{FF2B5EF4-FFF2-40B4-BE49-F238E27FC236}">
                <a16:creationId xmlns:a16="http://schemas.microsoft.com/office/drawing/2014/main" id="{5E779690-3874-4B33-8F6B-5703FF8E957D}"/>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8D59D893-4406-412C-946A-311600B45987}"/>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근거 누락률 / 오판 보완률 / 이의처리 시간</a:t>
            </a:r>
          </a:p>
        </p:txBody>
      </p:sp>
      <p:sp>
        <p:nvSpPr>
          <p:cNvPr id="18" name="">
            <a:extLst xmlns:a="http://schemas.openxmlformats.org/drawingml/2006/main">
              <a:ext uri="{FF2B5EF4-FFF2-40B4-BE49-F238E27FC236}">
                <a16:creationId xmlns:a16="http://schemas.microsoft.com/office/drawing/2014/main" id="{803766C1-FB70-4892-8834-BF81A3A0832D}"/>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규칙 기반 행정 자동화의 실패 교훈 · 생성형 AI 사례 아님</a:t>
            </a:r>
          </a:p>
        </p:txBody>
      </p:sp>
    </p:spTree>
    <p:extLst>
      <p:ext uri="{BB962C8B-B14F-4D97-AF65-F5344CB8AC3E}">
        <p14:creationId xmlns:p14="http://schemas.microsoft.com/office/powerpoint/2010/main" val="640242101"/>
      </p:ext>
    </p:extLst>
  </p:cSld>
</p:sld>
</file>

<file path=ppt/slides/slide3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D20DBEE-B0DA-41E6-9DA2-C10A4DB10D5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AX07 / As-Is → To-Be → 기대효과 → 확인 결과</a:t>
            </a:r>
          </a:p>
        </p:txBody>
      </p:sp>
      <p:sp>
        <p:nvSpPr>
          <p:cNvPr id="2" name="">
            <a:extLst xmlns:a="http://schemas.openxmlformats.org/drawingml/2006/main">
              <a:ext uri="{FF2B5EF4-FFF2-40B4-BE49-F238E27FC236}">
                <a16:creationId xmlns:a16="http://schemas.microsoft.com/office/drawing/2014/main" id="{56308ED4-947F-41B9-A8F2-C20E33B75AB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호주 Robodebt · 기대와 결과</a:t>
            </a:r>
          </a:p>
        </p:txBody>
      </p:sp>
      <p:sp>
        <p:nvSpPr>
          <p:cNvPr id="3" name="">
            <a:extLst xmlns:a="http://schemas.openxmlformats.org/drawingml/2006/main">
              <a:ext uri="{FF2B5EF4-FFF2-40B4-BE49-F238E27FC236}">
                <a16:creationId xmlns:a16="http://schemas.microsoft.com/office/drawing/2014/main" id="{D9736E9A-B714-40A0-BFCD-3C2BAA66228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61F257A-415A-4D51-8DD0-CA368E02B96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FEF43A90-F9DC-4A35-8116-7643FF18EF3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39</a:t>
            </a:r>
          </a:p>
        </p:txBody>
      </p:sp>
      <p:sp>
        <p:nvSpPr>
          <p:cNvPr id="6" name="">
            <a:extLst xmlns:a="http://schemas.openxmlformats.org/drawingml/2006/main">
              <a:ext uri="{FF2B5EF4-FFF2-40B4-BE49-F238E27FC236}">
                <a16:creationId xmlns:a16="http://schemas.microsoft.com/office/drawing/2014/main" id="{A23D22C0-D1A4-4426-96E7-BA78ED8AE6CB}"/>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AB438246-D1F9-41C1-9352-735CA932C4F6}"/>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복지 급여 기록과 소득 자료의 기간·단위 차이를 사람의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증빙 확인으로 해소해야 하는 업무</a:t>
            </a:r>
          </a:p>
        </p:txBody>
      </p:sp>
      <p:sp>
        <p:nvSpPr>
          <p:cNvPr id="8" name="">
            <a:extLst xmlns:a="http://schemas.openxmlformats.org/drawingml/2006/main">
              <a:ext uri="{FF2B5EF4-FFF2-40B4-BE49-F238E27FC236}">
                <a16:creationId xmlns:a16="http://schemas.microsoft.com/office/drawing/2014/main" id="{E19CA6F3-5F4D-4C17-B9AA-B0B07B536F47}"/>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B8AD5006-4E34-4DB3-B2E4-40B90B520ED6}"/>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 자료 교환·소득 평균 산정으로 과지급 추정 및 채무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통지·회수 자동화</a:t>
            </a:r>
          </a:p>
        </p:txBody>
      </p:sp>
      <p:sp>
        <p:nvSpPr>
          <p:cNvPr id="10" name="">
            <a:extLst xmlns:a="http://schemas.openxmlformats.org/drawingml/2006/main">
              <a:ext uri="{FF2B5EF4-FFF2-40B4-BE49-F238E27FC236}">
                <a16:creationId xmlns:a16="http://schemas.microsoft.com/office/drawing/2014/main" id="{CDB3AAFA-F699-42F6-94E8-524A4C974412}"/>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B49543E4-99F5-4459-8856-1A4CF920E4BF}"/>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과지급 식별과 행정 처리 효율화</a:t>
            </a:r>
          </a:p>
        </p:txBody>
      </p:sp>
      <p:sp>
        <p:nvSpPr>
          <p:cNvPr id="12" name="">
            <a:extLst xmlns:a="http://schemas.openxmlformats.org/drawingml/2006/main">
              <a:ext uri="{FF2B5EF4-FFF2-40B4-BE49-F238E27FC236}">
                <a16:creationId xmlns:a16="http://schemas.microsoft.com/office/drawing/2014/main" id="{1FCC4021-9003-4451-8A5E-9C2E80BADFA4}"/>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43647D75-9A7E-4FCA-9F3F-917C25C89123}"/>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호주 왕립위원회가 합법성, 자료 산정, 공정한 통지·재심,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책임체계의 중대한 문제를 조사하고 시정 권고</a:t>
            </a:r>
          </a:p>
        </p:txBody>
      </p:sp>
      <p:sp>
        <p:nvSpPr>
          <p:cNvPr id="14" name="">
            <a:extLst xmlns:a="http://schemas.openxmlformats.org/drawingml/2006/main">
              <a:ext uri="{FF2B5EF4-FFF2-40B4-BE49-F238E27FC236}">
                <a16:creationId xmlns:a16="http://schemas.microsoft.com/office/drawing/2014/main" id="{ECB52457-D288-4802-8BC0-5E9C37495CD9}"/>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확인 · 법적 근거와 개별 증빙 검증 없이 자동 산정·회수로 이어진 행정 절차의 실패가 독립 조사에서 확인</a:t>
            </a:r>
          </a:p>
        </p:txBody>
      </p:sp>
      <p:sp>
        <p:nvSpPr>
          <p:cNvPr id="15" name="">
            <a:extLst xmlns:a="http://schemas.openxmlformats.org/drawingml/2006/main">
              <a:ext uri="{FF2B5EF4-FFF2-40B4-BE49-F238E27FC236}">
                <a16:creationId xmlns:a16="http://schemas.microsoft.com/office/drawing/2014/main" id="{7856A8C0-71E0-4765-B3AE-6DC8F34B07C2}"/>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독립 왕립위원회 사후 조사 · 규칙 기반 행정자동화 제도 사건. 생성형 AI 또는 개별 모델의 성능 평가 아님</a:t>
            </a:r>
          </a:p>
        </p:txBody>
      </p:sp>
    </p:spTree>
    <p:extLst>
      <p:ext uri="{BB962C8B-B14F-4D97-AF65-F5344CB8AC3E}">
        <p14:creationId xmlns:p14="http://schemas.microsoft.com/office/powerpoint/2010/main" val="2048849763"/>
      </p:ext>
    </p:extLst>
  </p:cSld>
</p:sld>
</file>

<file path=ppt/slides/slide4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3C3DB773-71E6-4555-99F3-5462A3A04C3A}"/>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D31C894E-31F8-4788-BE96-FD4834614663}"/>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B3962BE7-BEEA-48C3-8412-2EB259933115}"/>
              </a:ext>
            </a:extLst>
          </p:cNvPr>
          <p:cNvCxnSpPr>
            <a:stCxn xmlns:a="http://schemas.openxmlformats.org/drawingml/2006/main" id="22" idx="3"/>
            <a:endCxn xmlns:a="http://schemas.openxmlformats.org/drawingml/2006/main" id="25" idx="1"/>
          </p:cNvCxnSpPr>
          <p:nvPr/>
        </p:nvCxnSpPr>
        <p:spPr>
          <a:xfrm xmlns:a="http://schemas.openxmlformats.org/drawingml/2006/main">
            <a:off x="412242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1D770B06-B183-4195-B16E-81A1B94A012F}"/>
              </a:ext>
            </a:extLst>
          </p:cNvPr>
          <p:cNvCxnSpPr>
            <a:stCxn xmlns:a="http://schemas.openxmlformats.org/drawingml/2006/main" id="16" idx="2"/>
            <a:endCxn xmlns:a="http://schemas.openxmlformats.org/drawingml/2006/main" id="34" idx="0"/>
          </p:cNvCxnSpPr>
          <p:nvPr/>
        </p:nvCxnSpPr>
        <p:spPr>
          <a:xfrm xmlns:a="http://schemas.openxmlformats.org/drawingml/2006/main">
            <a:off x="10620375" y="2905125"/>
            <a:ext cx="161925" cy="1371600"/>
          </a:xfrm>
          <a:prstGeom xmlns:a="http://schemas.openxmlformats.org/drawingml/2006/main" prst="straightConnector1">
            <a:avLst/>
          </a:prstGeom>
          <a:ln xmlns:a="http://schemas.openxmlformats.org/drawingml/2006/main" w="19050">
            <a:solidFill>
              <a:srgbClr val="A25A51"/>
            </a:solidFill>
            <a:tailEnd type="arrow" w="med" len="med"/>
          </a:ln>
        </p:spPr>
      </p:cxnSp>
      <p:cxnSp>
        <p:nvCxnSpPr>
          <p:cNvPr id="41" name="">
            <a:extLst xmlns:a="http://schemas.openxmlformats.org/drawingml/2006/main">
              <a:ext uri="{FF2B5EF4-FFF2-40B4-BE49-F238E27FC236}">
                <a16:creationId xmlns:a16="http://schemas.microsoft.com/office/drawing/2014/main" id="{368B2BC0-154C-4633-B368-A4E749F276B7}"/>
              </a:ext>
            </a:extLst>
          </p:cNvPr>
          <p:cNvCxnSpPr>
            <a:stCxn xmlns:a="http://schemas.openxmlformats.org/drawingml/2006/main" id="16" idx="1"/>
            <a:endCxn xmlns:a="http://schemas.openxmlformats.org/drawingml/2006/main" id="22" idx="3"/>
          </p:cNvCxnSpPr>
          <p:nvPr/>
        </p:nvCxnSpPr>
        <p:spPr>
          <a:xfrm xmlns:a="http://schemas.openxmlformats.org/drawingml/2006/main" flipH="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5F4AADF4-F640-4EFE-9B8E-DB4AB5BD6980}"/>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739459F9-2076-49DC-9582-1D2B73219F43}"/>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8" name="">
            <a:extLst xmlns:a="http://schemas.openxmlformats.org/drawingml/2006/main">
              <a:ext uri="{FF2B5EF4-FFF2-40B4-BE49-F238E27FC236}">
                <a16:creationId xmlns:a16="http://schemas.microsoft.com/office/drawing/2014/main" id="{5CFF4D0E-4D30-4747-A9E5-BE21413DFD3B}"/>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7" name="">
            <a:extLst xmlns:a="http://schemas.openxmlformats.org/drawingml/2006/main">
              <a:ext uri="{FF2B5EF4-FFF2-40B4-BE49-F238E27FC236}">
                <a16:creationId xmlns:a16="http://schemas.microsoft.com/office/drawing/2014/main" id="{4CFFB3D4-2AC6-4BAC-A09B-0FDECF03EF6A}"/>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8ACE82F9-E02D-4631-830A-A3C85F13A39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AX07 / 권한·목적 판정 후 허용·차단 분기</a:t>
            </a:r>
          </a:p>
        </p:txBody>
      </p:sp>
      <p:sp>
        <p:nvSpPr>
          <p:cNvPr id="2" name="">
            <a:extLst xmlns:a="http://schemas.openxmlformats.org/drawingml/2006/main">
              <a:ext uri="{FF2B5EF4-FFF2-40B4-BE49-F238E27FC236}">
                <a16:creationId xmlns:a16="http://schemas.microsoft.com/office/drawing/2014/main" id="{1C25DE07-5CE8-4DD8-96FE-47864606E2D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호주 Robodebt · 세부 서비스 구조</a:t>
            </a:r>
          </a:p>
        </p:txBody>
      </p:sp>
      <p:sp>
        <p:nvSpPr>
          <p:cNvPr id="3" name="">
            <a:extLst xmlns:a="http://schemas.openxmlformats.org/drawingml/2006/main">
              <a:ext uri="{FF2B5EF4-FFF2-40B4-BE49-F238E27FC236}">
                <a16:creationId xmlns:a16="http://schemas.microsoft.com/office/drawing/2014/main" id="{FC6F40BB-5413-493B-B590-89EAB069F2E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D21BF34-3BBE-4ABA-AD8A-30F82CB9770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E3372F4B-A4A6-4E99-9F9D-A89D7C3AA59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40</a:t>
            </a:r>
          </a:p>
        </p:txBody>
      </p:sp>
      <p:sp>
        <p:nvSpPr>
          <p:cNvPr id="6" name="">
            <a:extLst xmlns:a="http://schemas.openxmlformats.org/drawingml/2006/main">
              <a:ext uri="{FF2B5EF4-FFF2-40B4-BE49-F238E27FC236}">
                <a16:creationId xmlns:a16="http://schemas.microsoft.com/office/drawing/2014/main" id="{EC78A47C-083A-4676-AB13-CE8CDD2160DA}"/>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기관 간 자료 → 자동 산정·결정 → 대상자 통지 → 이의제기·재심</a:t>
            </a:r>
          </a:p>
        </p:txBody>
      </p:sp>
      <p:sp>
        <p:nvSpPr>
          <p:cNvPr id="7" name="">
            <a:extLst xmlns:a="http://schemas.openxmlformats.org/drawingml/2006/main">
              <a:ext uri="{FF2B5EF4-FFF2-40B4-BE49-F238E27FC236}">
                <a16:creationId xmlns:a16="http://schemas.microsoft.com/office/drawing/2014/main" id="{EC1C7D07-896A-40A5-B6EF-C46364ADFC81}"/>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7BD08CC0-9298-46CF-BF27-FEC121CBF041}"/>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8ED9CD6D-AD8C-41B3-A533-11AC409ABBCD}"/>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행정 산정 요청</a:t>
            </a:r>
          </a:p>
        </p:txBody>
      </p:sp>
      <p:sp>
        <p:nvSpPr>
          <p:cNvPr id="10" name="">
            <a:extLst xmlns:a="http://schemas.openxmlformats.org/drawingml/2006/main">
              <a:ext uri="{FF2B5EF4-FFF2-40B4-BE49-F238E27FC236}">
                <a16:creationId xmlns:a16="http://schemas.microsoft.com/office/drawing/2014/main" id="{70C432C1-4692-42FB-B80F-585687DDF354}"/>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353B436E-26BD-4732-8B0F-12C0D393860E}"/>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114ABA41-5F54-4585-AC95-FDE9277D3555}"/>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대상·적용기간</a:t>
            </a:r>
          </a:p>
        </p:txBody>
      </p:sp>
      <p:sp>
        <p:nvSpPr>
          <p:cNvPr id="13" name="">
            <a:extLst xmlns:a="http://schemas.openxmlformats.org/drawingml/2006/main">
              <a:ext uri="{FF2B5EF4-FFF2-40B4-BE49-F238E27FC236}">
                <a16:creationId xmlns:a16="http://schemas.microsoft.com/office/drawing/2014/main" id="{8041CB75-DA59-4C30-AAA2-3C2FA3120314}"/>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74C0800B-615E-418A-A21E-922DDBC8D7AA}"/>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15" name="">
            <a:extLst xmlns:a="http://schemas.openxmlformats.org/drawingml/2006/main">
              <a:ext uri="{FF2B5EF4-FFF2-40B4-BE49-F238E27FC236}">
                <a16:creationId xmlns:a16="http://schemas.microsoft.com/office/drawing/2014/main" id="{872B5043-5780-4377-8A7D-B73AAD5103D9}"/>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산정·재심 규칙</a:t>
            </a:r>
          </a:p>
        </p:txBody>
      </p:sp>
      <p:sp>
        <p:nvSpPr>
          <p:cNvPr id="16" name="">
            <a:extLst xmlns:a="http://schemas.openxmlformats.org/drawingml/2006/main">
              <a:ext uri="{FF2B5EF4-FFF2-40B4-BE49-F238E27FC236}">
                <a16:creationId xmlns:a16="http://schemas.microsoft.com/office/drawing/2014/main" id="{DC66B525-F3D6-49E9-B3A6-B96B91AC6031}"/>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01CDF3E7-5790-48FC-801C-80A9940F1934}"/>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96A8110D-BCAA-4C9D-B68D-0A4B0588CB28}"/>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증빙 불일치 보류</a:t>
            </a:r>
          </a:p>
        </p:txBody>
      </p:sp>
      <p:sp>
        <p:nvSpPr>
          <p:cNvPr id="19" name="">
            <a:extLst xmlns:a="http://schemas.openxmlformats.org/drawingml/2006/main">
              <a:ext uri="{FF2B5EF4-FFF2-40B4-BE49-F238E27FC236}">
                <a16:creationId xmlns:a16="http://schemas.microsoft.com/office/drawing/2014/main" id="{9393FAE9-D253-4E76-A2AD-8CD7244ECEB2}"/>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E9E60BF6-4B6A-45CF-9E57-077BAB38374F}"/>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1" name="">
            <a:extLst xmlns:a="http://schemas.openxmlformats.org/drawingml/2006/main">
              <a:ext uri="{FF2B5EF4-FFF2-40B4-BE49-F238E27FC236}">
                <a16:creationId xmlns:a16="http://schemas.microsoft.com/office/drawing/2014/main" id="{46691ECA-C6C7-4FA2-BB61-408C407FFF9B}"/>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기관 소득자료</a:t>
            </a:r>
          </a:p>
        </p:txBody>
      </p:sp>
      <p:sp>
        <p:nvSpPr>
          <p:cNvPr id="22" name="">
            <a:extLst xmlns:a="http://schemas.openxmlformats.org/drawingml/2006/main">
              <a:ext uri="{FF2B5EF4-FFF2-40B4-BE49-F238E27FC236}">
                <a16:creationId xmlns:a16="http://schemas.microsoft.com/office/drawing/2014/main" id="{CB9641CA-BC4E-407A-B8A2-AB2A35B14185}"/>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CEBA1C0D-FC16-4F4F-BA58-0DFB81D9B538}"/>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4" name="">
            <a:extLst xmlns:a="http://schemas.openxmlformats.org/drawingml/2006/main">
              <a:ext uri="{FF2B5EF4-FFF2-40B4-BE49-F238E27FC236}">
                <a16:creationId xmlns:a16="http://schemas.microsoft.com/office/drawing/2014/main" id="{7A3877C0-25F9-4B25-8B74-5B403137217A}"/>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기간·산식 대조</a:t>
            </a:r>
          </a:p>
        </p:txBody>
      </p:sp>
      <p:sp>
        <p:nvSpPr>
          <p:cNvPr id="25" name="">
            <a:extLst xmlns:a="http://schemas.openxmlformats.org/drawingml/2006/main">
              <a:ext uri="{FF2B5EF4-FFF2-40B4-BE49-F238E27FC236}">
                <a16:creationId xmlns:a16="http://schemas.microsoft.com/office/drawing/2014/main" id="{80631631-8BD5-422C-ABB8-9069B93B46C0}"/>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0DA605EA-71FD-4115-830E-B4165EDC9BCA}"/>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7" name="">
            <a:extLst xmlns:a="http://schemas.openxmlformats.org/drawingml/2006/main">
              <a:ext uri="{FF2B5EF4-FFF2-40B4-BE49-F238E27FC236}">
                <a16:creationId xmlns:a16="http://schemas.microsoft.com/office/drawing/2014/main" id="{EC08FA7C-E31B-485D-8352-8A2CB70A6A1D}"/>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담당자 근거 확인</a:t>
            </a:r>
          </a:p>
        </p:txBody>
      </p:sp>
      <p:sp>
        <p:nvSpPr>
          <p:cNvPr id="28" name="">
            <a:extLst xmlns:a="http://schemas.openxmlformats.org/drawingml/2006/main">
              <a:ext uri="{FF2B5EF4-FFF2-40B4-BE49-F238E27FC236}">
                <a16:creationId xmlns:a16="http://schemas.microsoft.com/office/drawing/2014/main" id="{B5DE3B3D-12E6-4960-90F5-80996CAF7A43}"/>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A0BA977C-5554-4273-BCB4-2F186A9479B6}"/>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0" name="">
            <a:extLst xmlns:a="http://schemas.openxmlformats.org/drawingml/2006/main">
              <a:ext uri="{FF2B5EF4-FFF2-40B4-BE49-F238E27FC236}">
                <a16:creationId xmlns:a16="http://schemas.microsoft.com/office/drawing/2014/main" id="{A2E3AFFA-6B42-4E0B-A51E-26709A5CA9A0}"/>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통지·이의제기</a:t>
            </a:r>
          </a:p>
        </p:txBody>
      </p:sp>
      <p:sp>
        <p:nvSpPr>
          <p:cNvPr id="31" name="">
            <a:extLst xmlns:a="http://schemas.openxmlformats.org/drawingml/2006/main">
              <a:ext uri="{FF2B5EF4-FFF2-40B4-BE49-F238E27FC236}">
                <a16:creationId xmlns:a16="http://schemas.microsoft.com/office/drawing/2014/main" id="{B5935FC1-DA1C-474E-B53E-139058C90C21}"/>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B8B743FA-9021-46C7-95AB-47C7059F50C3}"/>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3" name="">
            <a:extLst xmlns:a="http://schemas.openxmlformats.org/drawingml/2006/main">
              <a:ext uri="{FF2B5EF4-FFF2-40B4-BE49-F238E27FC236}">
                <a16:creationId xmlns:a16="http://schemas.microsoft.com/office/drawing/2014/main" id="{41F2EFA5-AF37-49AA-A8E0-B476827F0181}"/>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재심 결과 환류</a:t>
            </a:r>
          </a:p>
        </p:txBody>
      </p:sp>
      <p:sp>
        <p:nvSpPr>
          <p:cNvPr id="34" name="">
            <a:extLst xmlns:a="http://schemas.openxmlformats.org/drawingml/2006/main">
              <a:ext uri="{FF2B5EF4-FFF2-40B4-BE49-F238E27FC236}">
                <a16:creationId xmlns:a16="http://schemas.microsoft.com/office/drawing/2014/main" id="{91F0D308-9E05-49CD-AA69-A4E3B4836B26}"/>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290AB762-4159-4B83-80DE-F4445DDD5714}"/>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6" name="">
            <a:extLst xmlns:a="http://schemas.openxmlformats.org/drawingml/2006/main">
              <a:ext uri="{FF2B5EF4-FFF2-40B4-BE49-F238E27FC236}">
                <a16:creationId xmlns:a16="http://schemas.microsoft.com/office/drawing/2014/main" id="{2C58AF35-856A-439F-A107-B1770395B497}"/>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근거·통지 이력</a:t>
            </a:r>
          </a:p>
        </p:txBody>
      </p:sp>
      <p:sp>
        <p:nvSpPr>
          <p:cNvPr id="46" name="">
            <a:extLst xmlns:a="http://schemas.openxmlformats.org/drawingml/2006/main">
              <a:ext uri="{FF2B5EF4-FFF2-40B4-BE49-F238E27FC236}">
                <a16:creationId xmlns:a16="http://schemas.microsoft.com/office/drawing/2014/main" id="{EC4866B8-9D8E-49D2-A8ED-C512CC792B01}"/>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440087691"/>
      </p:ext>
    </p:extLst>
  </p:cSld>
</p:sld>
</file>

<file path=ppt/slides/slide4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E004E0C4-40CA-460A-ABB1-C35A740AF4F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AX07 / 논리 인터페이스·복구 설계</a:t>
            </a:r>
          </a:p>
        </p:txBody>
      </p:sp>
      <p:sp>
        <p:nvSpPr>
          <p:cNvPr id="2" name="">
            <a:extLst xmlns:a="http://schemas.openxmlformats.org/drawingml/2006/main">
              <a:ext uri="{FF2B5EF4-FFF2-40B4-BE49-F238E27FC236}">
                <a16:creationId xmlns:a16="http://schemas.microsoft.com/office/drawing/2014/main" id="{3B704877-3481-44C9-8DCA-674150DA889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호주 Robodebt · 데이터와 예외 처리</a:t>
            </a:r>
          </a:p>
        </p:txBody>
      </p:sp>
      <p:sp>
        <p:nvSpPr>
          <p:cNvPr id="3" name="">
            <a:extLst xmlns:a="http://schemas.openxmlformats.org/drawingml/2006/main">
              <a:ext uri="{FF2B5EF4-FFF2-40B4-BE49-F238E27FC236}">
                <a16:creationId xmlns:a16="http://schemas.microsoft.com/office/drawing/2014/main" id="{D7808B86-EED3-45A2-849D-9250F975CE0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DF95BDA-6DFB-44C8-BC3D-48CF7A2072E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D998CE0D-58DD-4101-B535-9EF19274047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41</a:t>
            </a:r>
          </a:p>
        </p:txBody>
      </p:sp>
      <p:sp>
        <p:nvSpPr>
          <p:cNvPr id="6" name="">
            <a:extLst xmlns:a="http://schemas.openxmlformats.org/drawingml/2006/main">
              <a:ext uri="{FF2B5EF4-FFF2-40B4-BE49-F238E27FC236}">
                <a16:creationId xmlns:a16="http://schemas.microsoft.com/office/drawing/2014/main" id="{04E5EEBC-035F-4FCE-825F-B087BCE849B5}"/>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A49E51AD-6381-484E-BFDA-FB502C00F790}"/>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750CA87E-FD50-417B-91B5-462390761775}"/>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요청·대상</a:t>
            </a:r>
          </a:p>
        </p:txBody>
      </p:sp>
      <p:sp>
        <p:nvSpPr>
          <p:cNvPr id="9" name="">
            <a:extLst xmlns:a="http://schemas.openxmlformats.org/drawingml/2006/main">
              <a:ext uri="{FF2B5EF4-FFF2-40B4-BE49-F238E27FC236}">
                <a16:creationId xmlns:a16="http://schemas.microsoft.com/office/drawing/2014/main" id="{D60B2499-86D2-4A30-8558-933E0B0DF842}"/>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자료의 대상·기간·적용 근거 대조</a:t>
            </a:r>
          </a:p>
        </p:txBody>
      </p:sp>
      <p:sp>
        <p:nvSpPr>
          <p:cNvPr id="10" name="">
            <a:extLst xmlns:a="http://schemas.openxmlformats.org/drawingml/2006/main">
              <a:ext uri="{FF2B5EF4-FFF2-40B4-BE49-F238E27FC236}">
                <a16:creationId xmlns:a16="http://schemas.microsoft.com/office/drawing/2014/main" id="{C5B0FD95-0351-403E-92C8-3CA741E01D73}"/>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77580E7-4905-4305-8EBA-7D1292B0D1DF}"/>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조직·목적</a:t>
            </a:r>
          </a:p>
        </p:txBody>
      </p:sp>
      <p:sp>
        <p:nvSpPr>
          <p:cNvPr id="12" name="">
            <a:extLst xmlns:a="http://schemas.openxmlformats.org/drawingml/2006/main">
              <a:ext uri="{FF2B5EF4-FFF2-40B4-BE49-F238E27FC236}">
                <a16:creationId xmlns:a16="http://schemas.microsoft.com/office/drawing/2014/main" id="{9EDAB2C7-C8CC-4237-B90F-37A83D1937D0}"/>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기관별 소득자료</a:t>
            </a:r>
          </a:p>
        </p:txBody>
      </p:sp>
      <p:sp>
        <p:nvSpPr>
          <p:cNvPr id="13" name="">
            <a:extLst xmlns:a="http://schemas.openxmlformats.org/drawingml/2006/main">
              <a:ext uri="{FF2B5EF4-FFF2-40B4-BE49-F238E27FC236}">
                <a16:creationId xmlns:a16="http://schemas.microsoft.com/office/drawing/2014/main" id="{4AE1FD7F-08C5-4A62-8A3F-9CD407352387}"/>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1CCA9C8-46F6-4C76-A334-967F3A693C80}"/>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허용 정책</a:t>
            </a:r>
          </a:p>
        </p:txBody>
      </p:sp>
      <p:sp>
        <p:nvSpPr>
          <p:cNvPr id="15" name="">
            <a:extLst xmlns:a="http://schemas.openxmlformats.org/drawingml/2006/main">
              <a:ext uri="{FF2B5EF4-FFF2-40B4-BE49-F238E27FC236}">
                <a16:creationId xmlns:a16="http://schemas.microsoft.com/office/drawing/2014/main" id="{52FA395A-0CD1-4578-A3CB-41EBC9B898AF}"/>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산정·재심 규칙</a:t>
            </a:r>
          </a:p>
        </p:txBody>
      </p:sp>
      <p:sp>
        <p:nvSpPr>
          <p:cNvPr id="16" name="">
            <a:extLst xmlns:a="http://schemas.openxmlformats.org/drawingml/2006/main">
              <a:ext uri="{FF2B5EF4-FFF2-40B4-BE49-F238E27FC236}">
                <a16:creationId xmlns:a16="http://schemas.microsoft.com/office/drawing/2014/main" id="{557D790A-D9BC-47A9-A15B-41CF304E6AA8}"/>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C25B70E-3C70-4D45-AFE3-F40505A577E9}"/>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허용된 경우</a:t>
            </a:r>
          </a:p>
        </p:txBody>
      </p:sp>
      <p:sp>
        <p:nvSpPr>
          <p:cNvPr id="18" name="">
            <a:extLst xmlns:a="http://schemas.openxmlformats.org/drawingml/2006/main">
              <a:ext uri="{FF2B5EF4-FFF2-40B4-BE49-F238E27FC236}">
                <a16:creationId xmlns:a16="http://schemas.microsoft.com/office/drawing/2014/main" id="{E12FA973-035F-4D44-A146-DFB17EA72169}"/>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채무 통지</a:t>
            </a:r>
          </a:p>
        </p:txBody>
      </p:sp>
      <p:sp>
        <p:nvSpPr>
          <p:cNvPr id="19" name="">
            <a:extLst xmlns:a="http://schemas.openxmlformats.org/drawingml/2006/main">
              <a:ext uri="{FF2B5EF4-FFF2-40B4-BE49-F238E27FC236}">
                <a16:creationId xmlns:a16="http://schemas.microsoft.com/office/drawing/2014/main" id="{25CC53FA-C85D-4A17-A86F-393385F3E66C}"/>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0C58D0A-2511-4AF7-975C-818FD0B03C4E}"/>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거부·보류</a:t>
            </a:r>
          </a:p>
        </p:txBody>
      </p:sp>
      <p:sp>
        <p:nvSpPr>
          <p:cNvPr id="21" name="">
            <a:extLst xmlns:a="http://schemas.openxmlformats.org/drawingml/2006/main">
              <a:ext uri="{FF2B5EF4-FFF2-40B4-BE49-F238E27FC236}">
                <a16:creationId xmlns:a16="http://schemas.microsoft.com/office/drawing/2014/main" id="{F22B8E33-207F-4D96-B75F-70DDA298CE33}"/>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채무 통지</a:t>
            </a:r>
          </a:p>
        </p:txBody>
      </p:sp>
      <p:sp>
        <p:nvSpPr>
          <p:cNvPr id="22" name="">
            <a:extLst xmlns:a="http://schemas.openxmlformats.org/drawingml/2006/main">
              <a:ext uri="{FF2B5EF4-FFF2-40B4-BE49-F238E27FC236}">
                <a16:creationId xmlns:a16="http://schemas.microsoft.com/office/drawing/2014/main" id="{A81B7B0F-8933-4707-A41C-B0C191913E70}"/>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EE54BF69-DBA1-4C09-85BC-7C4F2018ED92}"/>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사람 확인</a:t>
            </a:r>
          </a:p>
        </p:txBody>
      </p:sp>
      <p:sp>
        <p:nvSpPr>
          <p:cNvPr id="24" name="">
            <a:extLst xmlns:a="http://schemas.openxmlformats.org/drawingml/2006/main">
              <a:ext uri="{FF2B5EF4-FFF2-40B4-BE49-F238E27FC236}">
                <a16:creationId xmlns:a16="http://schemas.microsoft.com/office/drawing/2014/main" id="{BEA49EF8-BF20-46BA-99E2-1EF397AE2FD4}"/>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이의·재심 기록</a:t>
            </a:r>
          </a:p>
        </p:txBody>
      </p:sp>
      <p:sp>
        <p:nvSpPr>
          <p:cNvPr id="25" name="">
            <a:extLst xmlns:a="http://schemas.openxmlformats.org/drawingml/2006/main">
              <a:ext uri="{FF2B5EF4-FFF2-40B4-BE49-F238E27FC236}">
                <a16:creationId xmlns:a16="http://schemas.microsoft.com/office/drawing/2014/main" id="{8AF7A640-B94F-4689-88F6-9CFDD94B8CFF}"/>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37C208FA-E73D-49BE-A35C-B762924A1F20}"/>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연간 자료를 짧은 기간에 일률 배분·당사자 반박 증빙</a:t>
            </a:r>
          </a:p>
        </p:txBody>
      </p:sp>
      <p:sp>
        <p:nvSpPr>
          <p:cNvPr id="27" name="">
            <a:extLst xmlns:a="http://schemas.openxmlformats.org/drawingml/2006/main">
              <a:ext uri="{FF2B5EF4-FFF2-40B4-BE49-F238E27FC236}">
                <a16:creationId xmlns:a16="http://schemas.microsoft.com/office/drawing/2014/main" id="{67604745-FB26-4D27-884C-6D2691E11159}"/>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2C8914E0-C3B7-4D39-B0BA-16F14EF8D99F}"/>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원천 증빙 불일치 시 자동 확정 보류</a:t>
            </a:r>
          </a:p>
        </p:txBody>
      </p:sp>
      <p:sp>
        <p:nvSpPr>
          <p:cNvPr id="29" name="">
            <a:extLst xmlns:a="http://schemas.openxmlformats.org/drawingml/2006/main">
              <a:ext uri="{FF2B5EF4-FFF2-40B4-BE49-F238E27FC236}">
                <a16:creationId xmlns:a16="http://schemas.microsoft.com/office/drawing/2014/main" id="{043600C2-69B8-4415-9214-02B00CE04E36}"/>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C9588520-92B1-4C42-9E91-0D3D7ADAFE23}"/>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오판·이의제기 결과의 규칙 및 절차 개선</a:t>
            </a:r>
          </a:p>
        </p:txBody>
      </p:sp>
      <p:sp>
        <p:nvSpPr>
          <p:cNvPr id="31" name="">
            <a:extLst xmlns:a="http://schemas.openxmlformats.org/drawingml/2006/main">
              <a:ext uri="{FF2B5EF4-FFF2-40B4-BE49-F238E27FC236}">
                <a16:creationId xmlns:a16="http://schemas.microsoft.com/office/drawing/2014/main" id="{92E177D3-9B84-4082-B4A2-2CE32666A078}"/>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717364F6-65CD-4DF8-96D0-812AB3D8ACE1}"/>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기간별 산정 대사와 보류·재심·담당자 판단 기록</a:t>
            </a:r>
          </a:p>
        </p:txBody>
      </p:sp>
    </p:spTree>
    <p:extLst>
      <p:ext uri="{BB962C8B-B14F-4D97-AF65-F5344CB8AC3E}">
        <p14:creationId xmlns:p14="http://schemas.microsoft.com/office/powerpoint/2010/main" val="221258458"/>
      </p:ext>
    </p:extLst>
  </p:cSld>
</p:sld>
</file>

<file path=ppt/slides/slide4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F9A95DF-9AE1-4B7B-88B8-C1DB0229379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AX07 / CCK 비교·재현 시험 설계</a:t>
            </a:r>
          </a:p>
        </p:txBody>
      </p:sp>
      <p:sp>
        <p:nvSpPr>
          <p:cNvPr id="2" name="">
            <a:extLst xmlns:a="http://schemas.openxmlformats.org/drawingml/2006/main">
              <a:ext uri="{FF2B5EF4-FFF2-40B4-BE49-F238E27FC236}">
                <a16:creationId xmlns:a16="http://schemas.microsoft.com/office/drawing/2014/main" id="{CC5F7639-B270-4FFB-BB2F-CF3716EF7BB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호주 Robodebt · 벤치마킹</a:t>
            </a:r>
          </a:p>
        </p:txBody>
      </p:sp>
      <p:sp>
        <p:nvSpPr>
          <p:cNvPr id="3" name="">
            <a:extLst xmlns:a="http://schemas.openxmlformats.org/drawingml/2006/main">
              <a:ext uri="{FF2B5EF4-FFF2-40B4-BE49-F238E27FC236}">
                <a16:creationId xmlns:a16="http://schemas.microsoft.com/office/drawing/2014/main" id="{DBECC491-8481-4A03-9D86-A560DAA3392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1601F94-8617-4F20-9ACF-30E4037271F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89B7B3C-5AAD-4831-BF33-B4C06A93D1A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42</a:t>
            </a:r>
          </a:p>
        </p:txBody>
      </p:sp>
      <p:sp>
        <p:nvSpPr>
          <p:cNvPr id="6" name="">
            <a:extLst xmlns:a="http://schemas.openxmlformats.org/drawingml/2006/main">
              <a:ext uri="{FF2B5EF4-FFF2-40B4-BE49-F238E27FC236}">
                <a16:creationId xmlns:a16="http://schemas.microsoft.com/office/drawing/2014/main" id="{B2A1DB31-AF50-4A2D-91C0-DE76301BEC5C}"/>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재발 방지 조건</a:t>
            </a:r>
          </a:p>
        </p:txBody>
      </p:sp>
      <p:sp>
        <p:nvSpPr>
          <p:cNvPr id="7" name="">
            <a:extLst xmlns:a="http://schemas.openxmlformats.org/drawingml/2006/main">
              <a:ext uri="{FF2B5EF4-FFF2-40B4-BE49-F238E27FC236}">
                <a16:creationId xmlns:a16="http://schemas.microsoft.com/office/drawing/2014/main" id="{EFA3879B-D736-493D-BCB3-5A8EC738772F}"/>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자동 결정 전 법적·증빙 근거 확인</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이의제기와 재심 경로 확보</a:t>
            </a:r>
          </a:p>
        </p:txBody>
      </p:sp>
      <p:sp>
        <p:nvSpPr>
          <p:cNvPr id="8" name="">
            <a:extLst xmlns:a="http://schemas.openxmlformats.org/drawingml/2006/main">
              <a:ext uri="{FF2B5EF4-FFF2-40B4-BE49-F238E27FC236}">
                <a16:creationId xmlns:a16="http://schemas.microsoft.com/office/drawing/2014/main" id="{591B612C-6B3F-4563-B0E4-1F59CDB9D0CE}"/>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요인·시정 쟁점</a:t>
            </a:r>
          </a:p>
        </p:txBody>
      </p:sp>
      <p:sp>
        <p:nvSpPr>
          <p:cNvPr id="9" name="">
            <a:extLst xmlns:a="http://schemas.openxmlformats.org/drawingml/2006/main">
              <a:ext uri="{FF2B5EF4-FFF2-40B4-BE49-F238E27FC236}">
                <a16:creationId xmlns:a16="http://schemas.microsoft.com/office/drawing/2014/main" id="{CD35DCFE-EBEE-4E45-B71D-70A941E572A4}"/>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자료 기간·산정 전제의 부적합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자동 판단에 대한 책임·재심 통제 부족</a:t>
            </a:r>
          </a:p>
        </p:txBody>
      </p:sp>
      <p:sp>
        <p:nvSpPr>
          <p:cNvPr id="10" name="">
            <a:extLst xmlns:a="http://schemas.openxmlformats.org/drawingml/2006/main">
              <a:ext uri="{FF2B5EF4-FFF2-40B4-BE49-F238E27FC236}">
                <a16:creationId xmlns:a16="http://schemas.microsoft.com/office/drawing/2014/main" id="{15C1E608-DD6C-42E3-AF25-A20DC7A499FC}"/>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F1F8906F-B0D6-458D-95CD-8494616D68E4}"/>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원천 증빙 불일치 시 자동 확정 보류</a:t>
            </a:r>
          </a:p>
        </p:txBody>
      </p:sp>
      <p:sp>
        <p:nvSpPr>
          <p:cNvPr id="12" name="">
            <a:extLst xmlns:a="http://schemas.openxmlformats.org/drawingml/2006/main">
              <a:ext uri="{FF2B5EF4-FFF2-40B4-BE49-F238E27FC236}">
                <a16:creationId xmlns:a16="http://schemas.microsoft.com/office/drawing/2014/main" id="{4AE46D74-7ACB-47AC-ABF1-E478E065EB4B}"/>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46E93C86-CF0B-4205-9510-445DADB7798B}"/>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기간이 일치하는 증빙을 확인한 뒤 담당자가 행정 </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결과 검토</a:t>
            </a:r>
          </a:p>
        </p:txBody>
      </p:sp>
      <p:sp>
        <p:nvSpPr>
          <p:cNvPr id="14" name="">
            <a:extLst xmlns:a="http://schemas.openxmlformats.org/drawingml/2006/main">
              <a:ext uri="{FF2B5EF4-FFF2-40B4-BE49-F238E27FC236}">
                <a16:creationId xmlns:a16="http://schemas.microsoft.com/office/drawing/2014/main" id="{5771AE5F-B706-43B6-81A8-D3D7EAFF2FA9}"/>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0EEC63CD-99D6-47B6-BCEF-79A3CD361223}"/>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연간 자료를 짧은 기간에 일률 배분·당사자 반박 증</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빙</a:t>
            </a:r>
          </a:p>
        </p:txBody>
      </p:sp>
      <p:sp>
        <p:nvSpPr>
          <p:cNvPr id="16" name="">
            <a:extLst xmlns:a="http://schemas.openxmlformats.org/drawingml/2006/main">
              <a:ext uri="{FF2B5EF4-FFF2-40B4-BE49-F238E27FC236}">
                <a16:creationId xmlns:a16="http://schemas.microsoft.com/office/drawing/2014/main" id="{111F4505-F0F3-4F99-9077-5F2C419556FA}"/>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EEC869F0-555F-4D76-8D49-DFCF7266BD64}"/>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기간별 산정 대사와 보류·재심·담당자 판단 기록</a:t>
            </a:r>
          </a:p>
        </p:txBody>
      </p:sp>
    </p:spTree>
    <p:extLst>
      <p:ext uri="{BB962C8B-B14F-4D97-AF65-F5344CB8AC3E}">
        <p14:creationId xmlns:p14="http://schemas.microsoft.com/office/powerpoint/2010/main" val="1917427913"/>
      </p:ext>
    </p:extLst>
  </p:cSld>
</p:sld>
</file>

<file path=ppt/slides/slide4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F659F01-DF4A-4635-BAB6-63B6BEF0081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AX08 / 실패 확인 / 해외</a:t>
            </a:r>
          </a:p>
        </p:txBody>
      </p:sp>
      <p:sp>
        <p:nvSpPr>
          <p:cNvPr id="2" name="">
            <a:extLst xmlns:a="http://schemas.openxmlformats.org/drawingml/2006/main">
              <a:ext uri="{FF2B5EF4-FFF2-40B4-BE49-F238E27FC236}">
                <a16:creationId xmlns:a16="http://schemas.microsoft.com/office/drawing/2014/main" id="{12C24B06-C348-4F8A-A070-14EEC0A3981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Cruise 사고보고</a:t>
            </a:r>
          </a:p>
        </p:txBody>
      </p:sp>
      <p:sp>
        <p:nvSpPr>
          <p:cNvPr id="3" name="">
            <a:extLst xmlns:a="http://schemas.openxmlformats.org/drawingml/2006/main">
              <a:ext uri="{FF2B5EF4-FFF2-40B4-BE49-F238E27FC236}">
                <a16:creationId xmlns:a16="http://schemas.microsoft.com/office/drawing/2014/main" id="{089FDC31-4057-466F-9681-F5732BE27E9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15D44D4-E437-47DA-AE52-332BEFE42A5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59A126E-64E8-4454-B6B1-24FF90C8B1A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43</a:t>
            </a:r>
          </a:p>
        </p:txBody>
      </p:sp>
      <p:sp>
        <p:nvSpPr>
          <p:cNvPr id="6" name="">
            <a:extLst xmlns:a="http://schemas.openxmlformats.org/drawingml/2006/main">
              <a:ext uri="{FF2B5EF4-FFF2-40B4-BE49-F238E27FC236}">
                <a16:creationId xmlns:a16="http://schemas.microsoft.com/office/drawing/2014/main" id="{544015EE-1AFA-4BFD-B365-7856265EA164}"/>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A0B5BF58-EBF8-458F-B76C-81432F426F36}"/>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자율주행 사고의 원시 증거와 감독기관 보고 사이에서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누락이 발생한 시정 사례. 모델의 주행 성능과 별개로 사</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고 전후 정보를 완전하게 보고하는 운영 책임이 주요 쟁</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점.</a:t>
            </a:r>
          </a:p>
        </p:txBody>
      </p:sp>
      <p:sp>
        <p:nvSpPr>
          <p:cNvPr id="8" name="">
            <a:extLst xmlns:a="http://schemas.openxmlformats.org/drawingml/2006/main">
              <a:ext uri="{FF2B5EF4-FFF2-40B4-BE49-F238E27FC236}">
                <a16:creationId xmlns:a16="http://schemas.microsoft.com/office/drawing/2014/main" id="{C1CD8188-9E13-460F-A039-6D9235C98DF6}"/>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25BADAA8-18B7-40BB-AD51-775086A4E0D6}"/>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영상·센서·이벤트 로그를 사고 ID와 시간축으로 묶고 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수 보고 항목과 대조하는 CCK 설계. 요약 보고서를 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들더라도 원본 증거·작성 판본·승인자·추가 보완 이력을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함께 유지하는 구조.</a:t>
            </a:r>
          </a:p>
        </p:txBody>
      </p:sp>
      <p:sp>
        <p:nvSpPr>
          <p:cNvPr id="10" name="">
            <a:extLst xmlns:a="http://schemas.openxmlformats.org/drawingml/2006/main">
              <a:ext uri="{FF2B5EF4-FFF2-40B4-BE49-F238E27FC236}">
                <a16:creationId xmlns:a16="http://schemas.microsoft.com/office/drawing/2014/main" id="{8BE4430B-B905-4391-8F21-78455AF9D607}"/>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6C5F4E58-3463-4E25-A715-A8B33809F6FD}"/>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사고조사 지원에서 자동 요약의 편의보다 증거 누락을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우선 평가할 근거. 충돌 전·중·후 자료와 수정본을 섞은 시</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험으로 사건 재구성, 빠진 항목 경고, 제출본 추적을 검수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할 필요.</a:t>
            </a:r>
          </a:p>
        </p:txBody>
      </p:sp>
      <p:sp>
        <p:nvSpPr>
          <p:cNvPr id="12" name="">
            <a:extLst xmlns:a="http://schemas.openxmlformats.org/drawingml/2006/main">
              <a:ext uri="{FF2B5EF4-FFF2-40B4-BE49-F238E27FC236}">
                <a16:creationId xmlns:a16="http://schemas.microsoft.com/office/drawing/2014/main" id="{A87EAE0A-D5B5-4F9C-A1F3-F07B9E4A0A53}"/>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1135842C-D930-48C3-987E-EB04E722F28E}"/>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증거 무결성 / 필수 사건 체크 / 누락 경고 / 검토·승인 이력</a:t>
            </a:r>
          </a:p>
        </p:txBody>
      </p:sp>
      <p:sp>
        <p:nvSpPr>
          <p:cNvPr id="14" name="">
            <a:extLst xmlns:a="http://schemas.openxmlformats.org/drawingml/2006/main">
              <a:ext uri="{FF2B5EF4-FFF2-40B4-BE49-F238E27FC236}">
                <a16:creationId xmlns:a16="http://schemas.microsoft.com/office/drawing/2014/main" id="{B5DCBE90-D49E-4B4F-9F0B-07859F4E97BA}"/>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0DE72003-3E47-4AC7-B6E8-A23F4AF368CD}"/>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누락 사건·충돌 시각 주입 후 탐지 및 승인 없이 전송 차단</a:t>
            </a:r>
          </a:p>
        </p:txBody>
      </p:sp>
      <p:sp>
        <p:nvSpPr>
          <p:cNvPr id="16" name="">
            <a:extLst xmlns:a="http://schemas.openxmlformats.org/drawingml/2006/main">
              <a:ext uri="{FF2B5EF4-FFF2-40B4-BE49-F238E27FC236}">
                <a16:creationId xmlns:a16="http://schemas.microsoft.com/office/drawing/2014/main" id="{12ADCC80-1115-437B-B865-5638B004DF13}"/>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F46E51C8-24B0-455D-86A8-D0EB936BD0B5}"/>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필수 사건 재현율 / 검토 누락률</a:t>
            </a:r>
          </a:p>
        </p:txBody>
      </p:sp>
      <p:sp>
        <p:nvSpPr>
          <p:cNvPr id="18" name="">
            <a:extLst xmlns:a="http://schemas.openxmlformats.org/drawingml/2006/main">
              <a:ext uri="{FF2B5EF4-FFF2-40B4-BE49-F238E27FC236}">
                <a16:creationId xmlns:a16="http://schemas.microsoft.com/office/drawing/2014/main" id="{0A507F0A-1448-468C-927F-704CE5746B41}"/>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보고 완전성·안전 거버넌스 문제 · 사고 원인을 LLM 오류로 단정 불가</a:t>
            </a:r>
          </a:p>
        </p:txBody>
      </p:sp>
    </p:spTree>
    <p:extLst>
      <p:ext uri="{BB962C8B-B14F-4D97-AF65-F5344CB8AC3E}">
        <p14:creationId xmlns:p14="http://schemas.microsoft.com/office/powerpoint/2010/main" val="700164525"/>
      </p:ext>
    </p:extLst>
  </p:cSld>
</p:sld>
</file>

<file path=ppt/slides/slide4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189D2E8-A0B7-4DAB-9C65-2055CEB7375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AX08 / As-Is → To-Be → 기대효과 → 확인 결과</a:t>
            </a:r>
          </a:p>
        </p:txBody>
      </p:sp>
      <p:sp>
        <p:nvSpPr>
          <p:cNvPr id="2" name="">
            <a:extLst xmlns:a="http://schemas.openxmlformats.org/drawingml/2006/main">
              <a:ext uri="{FF2B5EF4-FFF2-40B4-BE49-F238E27FC236}">
                <a16:creationId xmlns:a16="http://schemas.microsoft.com/office/drawing/2014/main" id="{40970620-2A69-4F1B-82F5-1C015FF155F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Cruise 사고보고 · 기대와 결과</a:t>
            </a:r>
          </a:p>
        </p:txBody>
      </p:sp>
      <p:sp>
        <p:nvSpPr>
          <p:cNvPr id="3" name="">
            <a:extLst xmlns:a="http://schemas.openxmlformats.org/drawingml/2006/main">
              <a:ext uri="{FF2B5EF4-FFF2-40B4-BE49-F238E27FC236}">
                <a16:creationId xmlns:a16="http://schemas.microsoft.com/office/drawing/2014/main" id="{92D4DCFF-1EFA-409F-860A-40258E9A494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3442B25-A46D-45E6-9C77-3903DB135BD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EF4678B4-0393-4369-83E7-8FBCD30263C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44</a:t>
            </a:r>
          </a:p>
        </p:txBody>
      </p:sp>
      <p:sp>
        <p:nvSpPr>
          <p:cNvPr id="6" name="">
            <a:extLst xmlns:a="http://schemas.openxmlformats.org/drawingml/2006/main">
              <a:ext uri="{FF2B5EF4-FFF2-40B4-BE49-F238E27FC236}">
                <a16:creationId xmlns:a16="http://schemas.microsoft.com/office/drawing/2014/main" id="{C337BD33-5C8F-4585-96F4-E8771D3F6F09}"/>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6A8FFB1F-3107-4269-8137-58697FB1BDEE}"/>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자율주행 차량 사고의 원시 영상·차량 사건 기록을 감독기</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관에 완전하게 보고해야 하는 체계</a:t>
            </a:r>
          </a:p>
        </p:txBody>
      </p:sp>
      <p:sp>
        <p:nvSpPr>
          <p:cNvPr id="8" name="">
            <a:extLst xmlns:a="http://schemas.openxmlformats.org/drawingml/2006/main">
              <a:ext uri="{FF2B5EF4-FFF2-40B4-BE49-F238E27FC236}">
                <a16:creationId xmlns:a16="http://schemas.microsoft.com/office/drawing/2014/main" id="{02AD7D73-AA42-4B71-90BD-AA8BDDC23C61}"/>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C42E33DF-0CB1-4786-8031-7D95089EA69C}"/>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운행 확대와 함께 사고를 신속·완전하게 기록·보고하고 안</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전 감독을 유지하려는 목표</a:t>
            </a:r>
          </a:p>
        </p:txBody>
      </p:sp>
      <p:sp>
        <p:nvSpPr>
          <p:cNvPr id="10" name="">
            <a:extLst xmlns:a="http://schemas.openxmlformats.org/drawingml/2006/main">
              <a:ext uri="{FF2B5EF4-FFF2-40B4-BE49-F238E27FC236}">
                <a16:creationId xmlns:a16="http://schemas.microsoft.com/office/drawing/2014/main" id="{49300D21-6EC6-4E4F-94B0-42B26D395518}"/>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233C9E13-E0E5-4C34-BA52-8D6646DF6DE4}"/>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사고 조사 가능성과 자율주행 안전 감독의 신뢰 확보</a:t>
            </a:r>
          </a:p>
        </p:txBody>
      </p:sp>
      <p:sp>
        <p:nvSpPr>
          <p:cNvPr id="12" name="">
            <a:extLst xmlns:a="http://schemas.openxmlformats.org/drawingml/2006/main">
              <a:ext uri="{FF2B5EF4-FFF2-40B4-BE49-F238E27FC236}">
                <a16:creationId xmlns:a16="http://schemas.microsoft.com/office/drawing/2014/main" id="{0D19C32A-4472-42AA-B3E6-D01BFCD2DBFD}"/>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715B650C-EF5B-42AE-B5F9-223606D8FF87}"/>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NHTSA가 보행자 사고의 후속 상황을 완전하게 보고하지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않은 점을 확인하고 시정 명령·보고 의무 강화</a:t>
            </a:r>
          </a:p>
        </p:txBody>
      </p:sp>
      <p:sp>
        <p:nvSpPr>
          <p:cNvPr id="14" name="">
            <a:extLst xmlns:a="http://schemas.openxmlformats.org/drawingml/2006/main">
              <a:ext uri="{FF2B5EF4-FFF2-40B4-BE49-F238E27FC236}">
                <a16:creationId xmlns:a16="http://schemas.microsoft.com/office/drawing/2014/main" id="{2F065269-9B68-4CF1-AA13-A87EB614B0BA}"/>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확인 · 사고보고 완전성 및 규제 준수 실패는 감독기관에서 확인</a:t>
            </a:r>
          </a:p>
        </p:txBody>
      </p:sp>
      <p:sp>
        <p:nvSpPr>
          <p:cNvPr id="15" name="">
            <a:extLst xmlns:a="http://schemas.openxmlformats.org/drawingml/2006/main">
              <a:ext uri="{FF2B5EF4-FFF2-40B4-BE49-F238E27FC236}">
                <a16:creationId xmlns:a16="http://schemas.microsoft.com/office/drawing/2014/main" id="{B7201731-5D02-4D6C-9C83-4FC989FAC23F}"/>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감독기관 시정 명령·관찰 문제 · 보고 의무 위반의 판단. 충돌의 기술적 원인을 LLM·AI 모델 오류로 단정 불가</a:t>
            </a:r>
          </a:p>
        </p:txBody>
      </p:sp>
    </p:spTree>
    <p:extLst>
      <p:ext uri="{BB962C8B-B14F-4D97-AF65-F5344CB8AC3E}">
        <p14:creationId xmlns:p14="http://schemas.microsoft.com/office/powerpoint/2010/main" val="119758265"/>
      </p:ext>
    </p:extLst>
  </p:cSld>
</p:sld>
</file>

<file path=ppt/slides/slide4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A57545FB-FBDD-428F-BF08-CA1A614ECCF4}"/>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81532DF0-548E-4B1E-91EF-4CEF38F51C08}"/>
              </a:ext>
            </a:extLst>
          </p:cNvPr>
          <p:cNvCxnSpPr>
            <a:stCxn xmlns:a="http://schemas.openxmlformats.org/drawingml/2006/main" id="13" idx="2"/>
            <a:endCxn xmlns:a="http://schemas.openxmlformats.org/drawingml/2006/main" id="31" idx="0"/>
          </p:cNvCxnSpPr>
          <p:nvPr/>
        </p:nvCxnSpPr>
        <p:spPr>
          <a:xfrm xmlns:a="http://schemas.openxmlformats.org/drawingml/2006/main">
            <a:off x="6096000" y="2905125"/>
            <a:ext cx="2262188"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50B6FC20-57C6-4671-A693-23B8C2E78C18}"/>
              </a:ext>
            </a:extLst>
          </p:cNvPr>
          <p:cNvCxnSpPr>
            <a:stCxn xmlns:a="http://schemas.openxmlformats.org/drawingml/2006/main" id="16" idx="3"/>
            <a:endCxn xmlns:a="http://schemas.openxmlformats.org/drawingml/2006/main" id="19" idx="1"/>
          </p:cNvCxnSpPr>
          <p:nvPr/>
        </p:nvCxnSpPr>
        <p:spPr>
          <a:xfrm xmlns:a="http://schemas.openxmlformats.org/drawingml/2006/main">
            <a:off x="9358313"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14D67F2E-60B7-4A90-B920-8CC79649A77B}"/>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F47016E1-D6AC-4006-9D02-8B2229895BF4}"/>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C7480A09-9BD3-4A26-BB19-2AE59F9B9822}"/>
              </a:ext>
            </a:extLst>
          </p:cNvPr>
          <p:cNvCxnSpPr>
            <a:stCxn xmlns:a="http://schemas.openxmlformats.org/drawingml/2006/main" id="28" idx="0"/>
            <a:endCxn xmlns:a="http://schemas.openxmlformats.org/drawingml/2006/main" id="13" idx="2"/>
          </p:cNvCxnSpPr>
          <p:nvPr/>
        </p:nvCxnSpPr>
        <p:spPr>
          <a:xfrm xmlns:a="http://schemas.openxmlformats.org/drawingml/2006/main" flipV="1">
            <a:off x="6096000"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E26C0442-D26B-4A23-A444-295996A22BD0}"/>
              </a:ext>
            </a:extLst>
          </p:cNvPr>
          <p:cNvCxnSpPr>
            <a:stCxn xmlns:a="http://schemas.openxmlformats.org/drawingml/2006/main" id="25" idx="0"/>
            <a:endCxn xmlns:a="http://schemas.openxmlformats.org/drawingml/2006/main" id="10" idx="2"/>
          </p:cNvCxnSpPr>
          <p:nvPr/>
        </p:nvCxnSpPr>
        <p:spPr>
          <a:xfrm xmlns:a="http://schemas.openxmlformats.org/drawingml/2006/main" flipV="1">
            <a:off x="3833813"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E8714A23-674F-4E4A-A8EF-7079940283ED}"/>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6C8BFCA9-5EA3-458B-AA3B-8052D35AB0E0}"/>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DF19E437-0D0B-4681-BFBF-027ED086367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AX08 / 원문 추출·대조·사람 확정</a:t>
            </a:r>
          </a:p>
        </p:txBody>
      </p:sp>
      <p:sp>
        <p:nvSpPr>
          <p:cNvPr id="2" name="">
            <a:extLst xmlns:a="http://schemas.openxmlformats.org/drawingml/2006/main">
              <a:ext uri="{FF2B5EF4-FFF2-40B4-BE49-F238E27FC236}">
                <a16:creationId xmlns:a16="http://schemas.microsoft.com/office/drawing/2014/main" id="{8A3BED79-E868-43D0-9047-69DD23C05A7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Cruise 사고보고 · 세부 서비스 구조</a:t>
            </a:r>
          </a:p>
        </p:txBody>
      </p:sp>
      <p:sp>
        <p:nvSpPr>
          <p:cNvPr id="3" name="">
            <a:extLst xmlns:a="http://schemas.openxmlformats.org/drawingml/2006/main">
              <a:ext uri="{FF2B5EF4-FFF2-40B4-BE49-F238E27FC236}">
                <a16:creationId xmlns:a16="http://schemas.microsoft.com/office/drawing/2014/main" id="{46E5F1DC-E71D-4CEA-AF1A-9F2FF401C5D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E4ABC1E-9E9C-4E79-8DE1-FB1449D23A6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BC0A8BE4-737C-4322-92E2-FB0F41DBB28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45</a:t>
            </a:r>
          </a:p>
        </p:txBody>
      </p:sp>
      <p:sp>
        <p:nvSpPr>
          <p:cNvPr id="6" name="">
            <a:extLst xmlns:a="http://schemas.openxmlformats.org/drawingml/2006/main">
              <a:ext uri="{FF2B5EF4-FFF2-40B4-BE49-F238E27FC236}">
                <a16:creationId xmlns:a16="http://schemas.microsoft.com/office/drawing/2014/main" id="{C4839658-BFF8-41D0-B49C-CDCA8C2D8F52}"/>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사고 원시 증거 → 사건 타임라인 → 보고서 작성 → 감독기관 보고</a:t>
            </a:r>
          </a:p>
        </p:txBody>
      </p:sp>
      <p:sp>
        <p:nvSpPr>
          <p:cNvPr id="7" name="">
            <a:extLst xmlns:a="http://schemas.openxmlformats.org/drawingml/2006/main">
              <a:ext uri="{FF2B5EF4-FFF2-40B4-BE49-F238E27FC236}">
                <a16:creationId xmlns:a16="http://schemas.microsoft.com/office/drawing/2014/main" id="{1E59008C-E820-42B1-A85D-643C15EC685B}"/>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3A661115-773B-4352-869E-E2D6A03862D6}"/>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B6153915-AC34-4A00-98EF-7C9A4F399731}"/>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사고보고 접수</a:t>
            </a:r>
          </a:p>
        </p:txBody>
      </p:sp>
      <p:sp>
        <p:nvSpPr>
          <p:cNvPr id="10" name="">
            <a:extLst xmlns:a="http://schemas.openxmlformats.org/drawingml/2006/main">
              <a:ext uri="{FF2B5EF4-FFF2-40B4-BE49-F238E27FC236}">
                <a16:creationId xmlns:a16="http://schemas.microsoft.com/office/drawing/2014/main" id="{B69A5F84-D9DE-48A3-B6F2-2F9603199BB9}"/>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F72E9CA8-D23F-4233-BF80-B31512350152}"/>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2" name="">
            <a:extLst xmlns:a="http://schemas.openxmlformats.org/drawingml/2006/main">
              <a:ext uri="{FF2B5EF4-FFF2-40B4-BE49-F238E27FC236}">
                <a16:creationId xmlns:a16="http://schemas.microsoft.com/office/drawing/2014/main" id="{D791C557-4B12-4DE5-AFDC-2F76DA03FBA2}"/>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시각별 사건 재구성</a:t>
            </a:r>
          </a:p>
        </p:txBody>
      </p:sp>
      <p:sp>
        <p:nvSpPr>
          <p:cNvPr id="13" name="">
            <a:extLst xmlns:a="http://schemas.openxmlformats.org/drawingml/2006/main">
              <a:ext uri="{FF2B5EF4-FFF2-40B4-BE49-F238E27FC236}">
                <a16:creationId xmlns:a16="http://schemas.microsoft.com/office/drawing/2014/main" id="{F071F06A-A4E3-4B5B-AC7B-9B3CD4C2E3EA}"/>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77758BF6-4234-4144-BBF6-3744957EF5BC}"/>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5" name="">
            <a:extLst xmlns:a="http://schemas.openxmlformats.org/drawingml/2006/main">
              <a:ext uri="{FF2B5EF4-FFF2-40B4-BE49-F238E27FC236}">
                <a16:creationId xmlns:a16="http://schemas.microsoft.com/office/drawing/2014/main" id="{8AD4B186-B652-4C9E-99C3-936EBDD3B433}"/>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필수 항목 대사</a:t>
            </a:r>
          </a:p>
        </p:txBody>
      </p:sp>
      <p:sp>
        <p:nvSpPr>
          <p:cNvPr id="16" name="">
            <a:extLst xmlns:a="http://schemas.openxmlformats.org/drawingml/2006/main">
              <a:ext uri="{FF2B5EF4-FFF2-40B4-BE49-F238E27FC236}">
                <a16:creationId xmlns:a16="http://schemas.microsoft.com/office/drawing/2014/main" id="{9E1DCBCA-B12B-4D7F-9902-AE8A667DEC19}"/>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B05E158D-D5B7-4647-B40F-00680D507726}"/>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18" name="">
            <a:extLst xmlns:a="http://schemas.openxmlformats.org/drawingml/2006/main">
              <a:ext uri="{FF2B5EF4-FFF2-40B4-BE49-F238E27FC236}">
                <a16:creationId xmlns:a16="http://schemas.microsoft.com/office/drawing/2014/main" id="{7E8695B4-CF50-45BC-9548-EDB238CCFCA2}"/>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작성·승인자 확인</a:t>
            </a:r>
          </a:p>
        </p:txBody>
      </p:sp>
      <p:sp>
        <p:nvSpPr>
          <p:cNvPr id="19" name="">
            <a:extLst xmlns:a="http://schemas.openxmlformats.org/drawingml/2006/main">
              <a:ext uri="{FF2B5EF4-FFF2-40B4-BE49-F238E27FC236}">
                <a16:creationId xmlns:a16="http://schemas.microsoft.com/office/drawing/2014/main" id="{271C409D-B2F4-4714-9A43-9514FEA19207}"/>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AFB4ACB5-2461-44B0-B17E-81721751D641}"/>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D6CB12D5-D993-45FA-98F8-110271D08CC7}"/>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제출·보완 보고</a:t>
            </a:r>
          </a:p>
        </p:txBody>
      </p:sp>
      <p:sp>
        <p:nvSpPr>
          <p:cNvPr id="22" name="">
            <a:extLst xmlns:a="http://schemas.openxmlformats.org/drawingml/2006/main">
              <a:ext uri="{FF2B5EF4-FFF2-40B4-BE49-F238E27FC236}">
                <a16:creationId xmlns:a16="http://schemas.microsoft.com/office/drawing/2014/main" id="{A3E08039-F683-429B-8CB1-C6771CBAF015}"/>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6DE36116-20A1-44D5-B2AC-65CBFC329E9D}"/>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4" name="">
            <a:extLst xmlns:a="http://schemas.openxmlformats.org/drawingml/2006/main">
              <a:ext uri="{FF2B5EF4-FFF2-40B4-BE49-F238E27FC236}">
                <a16:creationId xmlns:a16="http://schemas.microsoft.com/office/drawing/2014/main" id="{815214CF-9B1C-42A7-B137-C9139FA9994F}"/>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원시 영상·센서</a:t>
            </a:r>
          </a:p>
        </p:txBody>
      </p:sp>
      <p:sp>
        <p:nvSpPr>
          <p:cNvPr id="25" name="">
            <a:extLst xmlns:a="http://schemas.openxmlformats.org/drawingml/2006/main">
              <a:ext uri="{FF2B5EF4-FFF2-40B4-BE49-F238E27FC236}">
                <a16:creationId xmlns:a16="http://schemas.microsoft.com/office/drawing/2014/main" id="{F0405B43-B4BA-448B-B2D9-C69B022FAA88}"/>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503639D0-9D99-4D28-B82C-9D6180EC5D2F}"/>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27" name="">
            <a:extLst xmlns:a="http://schemas.openxmlformats.org/drawingml/2006/main">
              <a:ext uri="{FF2B5EF4-FFF2-40B4-BE49-F238E27FC236}">
                <a16:creationId xmlns:a16="http://schemas.microsoft.com/office/drawing/2014/main" id="{4435BFE4-F539-453E-92F0-708E0C7AC0A2}"/>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시간축·판본 정합화</a:t>
            </a:r>
          </a:p>
        </p:txBody>
      </p:sp>
      <p:sp>
        <p:nvSpPr>
          <p:cNvPr id="28" name="">
            <a:extLst xmlns:a="http://schemas.openxmlformats.org/drawingml/2006/main">
              <a:ext uri="{FF2B5EF4-FFF2-40B4-BE49-F238E27FC236}">
                <a16:creationId xmlns:a16="http://schemas.microsoft.com/office/drawing/2014/main" id="{059C11C0-279B-4321-B0E1-8188E0030DB1}"/>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923231EA-4DF5-4D4C-A747-848ABE7C44DB}"/>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751C6278-3849-430B-80A5-C356A8940B6B}"/>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영상·로그 조회</a:t>
            </a:r>
          </a:p>
        </p:txBody>
      </p:sp>
      <p:sp>
        <p:nvSpPr>
          <p:cNvPr id="31" name="">
            <a:extLst xmlns:a="http://schemas.openxmlformats.org/drawingml/2006/main">
              <a:ext uri="{FF2B5EF4-FFF2-40B4-BE49-F238E27FC236}">
                <a16:creationId xmlns:a16="http://schemas.microsoft.com/office/drawing/2014/main" id="{8233B301-3149-4F59-9108-99C5E0C25EA9}"/>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08658906-A260-4031-9292-B2F2656CFF8C}"/>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CF7D8E18-A7F9-42DA-BFC3-85AFD1DBE034}"/>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증거·보고 판본</a:t>
            </a:r>
          </a:p>
        </p:txBody>
      </p:sp>
      <p:sp>
        <p:nvSpPr>
          <p:cNvPr id="34" name="">
            <a:extLst xmlns:a="http://schemas.openxmlformats.org/drawingml/2006/main">
              <a:ext uri="{FF2B5EF4-FFF2-40B4-BE49-F238E27FC236}">
                <a16:creationId xmlns:a16="http://schemas.microsoft.com/office/drawing/2014/main" id="{E29E8616-CCB7-499E-82ED-F887DF81C4FA}"/>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C6D0DB05-6790-4786-8730-DB7A0BB5CFDB}"/>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F0093B0F-B066-4625-AE0E-2445569F7641}"/>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누락·수정 추적</a:t>
            </a:r>
          </a:p>
        </p:txBody>
      </p:sp>
      <p:sp>
        <p:nvSpPr>
          <p:cNvPr id="46" name="">
            <a:extLst xmlns:a="http://schemas.openxmlformats.org/drawingml/2006/main">
              <a:ext uri="{FF2B5EF4-FFF2-40B4-BE49-F238E27FC236}">
                <a16:creationId xmlns:a16="http://schemas.microsoft.com/office/drawing/2014/main" id="{239ECA71-7912-43A3-8703-E011D3A7E66A}"/>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919259577"/>
      </p:ext>
    </p:extLst>
  </p:cSld>
</p:sld>
</file>

<file path=ppt/slides/slide4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95ACA7F4-CE2E-4B6D-A839-161F8B5271C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AX08 / 논리 인터페이스·복구 설계</a:t>
            </a:r>
          </a:p>
        </p:txBody>
      </p:sp>
      <p:sp>
        <p:nvSpPr>
          <p:cNvPr id="2" name="">
            <a:extLst xmlns:a="http://schemas.openxmlformats.org/drawingml/2006/main">
              <a:ext uri="{FF2B5EF4-FFF2-40B4-BE49-F238E27FC236}">
                <a16:creationId xmlns:a16="http://schemas.microsoft.com/office/drawing/2014/main" id="{DF097BE0-7A65-4C02-9E51-8C67D2C3129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Cruise 사고보고 · 데이터와 예외 처리</a:t>
            </a:r>
          </a:p>
        </p:txBody>
      </p:sp>
      <p:sp>
        <p:nvSpPr>
          <p:cNvPr id="3" name="">
            <a:extLst xmlns:a="http://schemas.openxmlformats.org/drawingml/2006/main">
              <a:ext uri="{FF2B5EF4-FFF2-40B4-BE49-F238E27FC236}">
                <a16:creationId xmlns:a16="http://schemas.microsoft.com/office/drawing/2014/main" id="{0E74BC35-FF7D-40EC-89A4-B363B9CC5B7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6BAE672-EED8-4988-8BFC-4A8328B9312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0FDA0193-6992-4FA9-B571-898A8F8F6DE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46</a:t>
            </a:r>
          </a:p>
        </p:txBody>
      </p:sp>
      <p:sp>
        <p:nvSpPr>
          <p:cNvPr id="6" name="">
            <a:extLst xmlns:a="http://schemas.openxmlformats.org/drawingml/2006/main">
              <a:ext uri="{FF2B5EF4-FFF2-40B4-BE49-F238E27FC236}">
                <a16:creationId xmlns:a16="http://schemas.microsoft.com/office/drawing/2014/main" id="{0EB27B34-F5DD-479C-9973-6CC8919421F5}"/>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29A05C7D-8E65-416B-88F0-FEC382271428}"/>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B4127204-67A0-43D6-908B-6BED45408E22}"/>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원문 반입</a:t>
            </a:r>
          </a:p>
        </p:txBody>
      </p:sp>
      <p:sp>
        <p:nvSpPr>
          <p:cNvPr id="9" name="">
            <a:extLst xmlns:a="http://schemas.openxmlformats.org/drawingml/2006/main">
              <a:ext uri="{FF2B5EF4-FFF2-40B4-BE49-F238E27FC236}">
                <a16:creationId xmlns:a16="http://schemas.microsoft.com/office/drawing/2014/main" id="{ED60ADC8-29CA-4BA4-BA9C-ABC0EDF158A7}"/>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원시 증거·보고 판본</a:t>
            </a:r>
          </a:p>
        </p:txBody>
      </p:sp>
      <p:sp>
        <p:nvSpPr>
          <p:cNvPr id="10" name="">
            <a:extLst xmlns:a="http://schemas.openxmlformats.org/drawingml/2006/main">
              <a:ext uri="{FF2B5EF4-FFF2-40B4-BE49-F238E27FC236}">
                <a16:creationId xmlns:a16="http://schemas.microsoft.com/office/drawing/2014/main" id="{6A0BAF9A-9578-405E-8A05-95789BC7170F}"/>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66DAE84-7B62-4E77-9A8B-92D639AC2E0F}"/>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정제 원문</a:t>
            </a:r>
          </a:p>
        </p:txBody>
      </p:sp>
      <p:sp>
        <p:nvSpPr>
          <p:cNvPr id="12" name="">
            <a:extLst xmlns:a="http://schemas.openxmlformats.org/drawingml/2006/main">
              <a:ext uri="{FF2B5EF4-FFF2-40B4-BE49-F238E27FC236}">
                <a16:creationId xmlns:a16="http://schemas.microsoft.com/office/drawing/2014/main" id="{319D4CF3-9DAF-4F20-9691-B2A58F48E3F7}"/>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0A8BFDD7-E656-4DBD-8F8B-5C5D2DE0E052}"/>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7AE7B86-BB2E-494C-A878-F4E5BA09D073}"/>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추출값</a:t>
            </a:r>
          </a:p>
        </p:txBody>
      </p:sp>
      <p:sp>
        <p:nvSpPr>
          <p:cNvPr id="15" name="">
            <a:extLst xmlns:a="http://schemas.openxmlformats.org/drawingml/2006/main">
              <a:ext uri="{FF2B5EF4-FFF2-40B4-BE49-F238E27FC236}">
                <a16:creationId xmlns:a16="http://schemas.microsoft.com/office/drawing/2014/main" id="{1E3B543E-CE0E-4EA8-8AD9-AAF1989918A6}"/>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필수 보고 항목</a:t>
            </a:r>
          </a:p>
        </p:txBody>
      </p:sp>
      <p:sp>
        <p:nvSpPr>
          <p:cNvPr id="16" name="">
            <a:extLst xmlns:a="http://schemas.openxmlformats.org/drawingml/2006/main">
              <a:ext uri="{FF2B5EF4-FFF2-40B4-BE49-F238E27FC236}">
                <a16:creationId xmlns:a16="http://schemas.microsoft.com/office/drawing/2014/main" id="{F2ABB36B-1CDC-4260-A31C-2F6BA80FBB06}"/>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09379B6-A642-456B-8B5E-B16BDE341F9D}"/>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규정·대조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기준</a:t>
            </a:r>
          </a:p>
        </p:txBody>
      </p:sp>
      <p:sp>
        <p:nvSpPr>
          <p:cNvPr id="18" name="">
            <a:extLst xmlns:a="http://schemas.openxmlformats.org/drawingml/2006/main">
              <a:ext uri="{FF2B5EF4-FFF2-40B4-BE49-F238E27FC236}">
                <a16:creationId xmlns:a16="http://schemas.microsoft.com/office/drawing/2014/main" id="{8A4FBF1B-E2FA-41E5-8247-D88C9DEF9627}"/>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충돌 전후 사건</a:t>
            </a:r>
          </a:p>
        </p:txBody>
      </p:sp>
      <p:sp>
        <p:nvSpPr>
          <p:cNvPr id="19" name="">
            <a:extLst xmlns:a="http://schemas.openxmlformats.org/drawingml/2006/main">
              <a:ext uri="{FF2B5EF4-FFF2-40B4-BE49-F238E27FC236}">
                <a16:creationId xmlns:a16="http://schemas.microsoft.com/office/drawing/2014/main" id="{36E4BDFC-3D8A-4E03-BAAB-4CF87C7F60CB}"/>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A3BE2EA-7135-48C4-8599-6239F9145EF5}"/>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불일치·누락</a:t>
            </a:r>
          </a:p>
        </p:txBody>
      </p:sp>
      <p:sp>
        <p:nvSpPr>
          <p:cNvPr id="21" name="">
            <a:extLst xmlns:a="http://schemas.openxmlformats.org/drawingml/2006/main">
              <a:ext uri="{FF2B5EF4-FFF2-40B4-BE49-F238E27FC236}">
                <a16:creationId xmlns:a16="http://schemas.microsoft.com/office/drawing/2014/main" id="{646AFECE-C87B-4EDB-A6F6-7C5396395902}"/>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필수 보고 항목</a:t>
            </a:r>
          </a:p>
        </p:txBody>
      </p:sp>
      <p:sp>
        <p:nvSpPr>
          <p:cNvPr id="22" name="">
            <a:extLst xmlns:a="http://schemas.openxmlformats.org/drawingml/2006/main">
              <a:ext uri="{FF2B5EF4-FFF2-40B4-BE49-F238E27FC236}">
                <a16:creationId xmlns:a16="http://schemas.microsoft.com/office/drawing/2014/main" id="{ABF72638-1B25-46D8-8879-8DCDDD043A7E}"/>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83DBE69A-917C-437A-BB04-EA4AE1B04C56}"/>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확정 결과</a:t>
            </a:r>
          </a:p>
        </p:txBody>
      </p:sp>
      <p:sp>
        <p:nvSpPr>
          <p:cNvPr id="24" name="">
            <a:extLst xmlns:a="http://schemas.openxmlformats.org/drawingml/2006/main">
              <a:ext uri="{FF2B5EF4-FFF2-40B4-BE49-F238E27FC236}">
                <a16:creationId xmlns:a16="http://schemas.microsoft.com/office/drawing/2014/main" id="{2EA2B139-1BD4-4AD0-9EAB-356DE772266D}"/>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제출·보완 기록</a:t>
            </a:r>
          </a:p>
        </p:txBody>
      </p:sp>
      <p:sp>
        <p:nvSpPr>
          <p:cNvPr id="25" name="">
            <a:extLst xmlns:a="http://schemas.openxmlformats.org/drawingml/2006/main">
              <a:ext uri="{FF2B5EF4-FFF2-40B4-BE49-F238E27FC236}">
                <a16:creationId xmlns:a16="http://schemas.microsoft.com/office/drawing/2014/main" id="{886EED23-5F9B-4BE5-A575-BB71DA4BC08E}"/>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18E16541-F699-4A8D-A298-B80614C1A650}"/>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충돌 이후 이벤트 삭제·영상과 로그 시각 충돌</a:t>
            </a:r>
          </a:p>
        </p:txBody>
      </p:sp>
      <p:sp>
        <p:nvSpPr>
          <p:cNvPr id="27" name="">
            <a:extLst xmlns:a="http://schemas.openxmlformats.org/drawingml/2006/main">
              <a:ext uri="{FF2B5EF4-FFF2-40B4-BE49-F238E27FC236}">
                <a16:creationId xmlns:a16="http://schemas.microsoft.com/office/drawing/2014/main" id="{141E7B5A-9788-4F57-BFCA-397E07631C25}"/>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4B840AB8-CDEF-4AC5-B9CE-8A85F7CB22E8}"/>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충돌 전·중·후 증거의 완전성 대사</a:t>
            </a:r>
          </a:p>
        </p:txBody>
      </p:sp>
      <p:sp>
        <p:nvSpPr>
          <p:cNvPr id="29" name="">
            <a:extLst xmlns:a="http://schemas.openxmlformats.org/drawingml/2006/main">
              <a:ext uri="{FF2B5EF4-FFF2-40B4-BE49-F238E27FC236}">
                <a16:creationId xmlns:a16="http://schemas.microsoft.com/office/drawing/2014/main" id="{96241C62-6CA7-4EB7-99DD-D93582DCA0EE}"/>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D8E12DB5-18A5-4CB0-832E-CDEEA1A31974}"/>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추가 발견 증거의 보완 보고·수정 이력 추적</a:t>
            </a:r>
          </a:p>
        </p:txBody>
      </p:sp>
      <p:sp>
        <p:nvSpPr>
          <p:cNvPr id="31" name="">
            <a:extLst xmlns:a="http://schemas.openxmlformats.org/drawingml/2006/main">
              <a:ext uri="{FF2B5EF4-FFF2-40B4-BE49-F238E27FC236}">
                <a16:creationId xmlns:a16="http://schemas.microsoft.com/office/drawing/2014/main" id="{714E3CB4-5B8B-41F3-8A43-5B1C0100B531}"/>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976C56A6-1628-4C22-ABE2-340DB6807E4E}"/>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원시 증거별 보고 포함 여부와 누락 경고·승인 이력</a:t>
            </a:r>
          </a:p>
        </p:txBody>
      </p:sp>
    </p:spTree>
    <p:extLst>
      <p:ext uri="{BB962C8B-B14F-4D97-AF65-F5344CB8AC3E}">
        <p14:creationId xmlns:p14="http://schemas.microsoft.com/office/powerpoint/2010/main" val="12378347"/>
      </p:ext>
    </p:extLst>
  </p:cSld>
</p:sld>
</file>

<file path=ppt/slides/slide4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4C9E3D3-83FC-442B-BBC1-710E8C2C940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AX08 / CCK 비교·재현 시험 설계</a:t>
            </a:r>
          </a:p>
        </p:txBody>
      </p:sp>
      <p:sp>
        <p:nvSpPr>
          <p:cNvPr id="2" name="">
            <a:extLst xmlns:a="http://schemas.openxmlformats.org/drawingml/2006/main">
              <a:ext uri="{FF2B5EF4-FFF2-40B4-BE49-F238E27FC236}">
                <a16:creationId xmlns:a16="http://schemas.microsoft.com/office/drawing/2014/main" id="{79D64598-F8B8-4713-BD8F-246502C6DC0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Cruise 사고보고 · 벤치마킹</a:t>
            </a:r>
          </a:p>
        </p:txBody>
      </p:sp>
      <p:sp>
        <p:nvSpPr>
          <p:cNvPr id="3" name="">
            <a:extLst xmlns:a="http://schemas.openxmlformats.org/drawingml/2006/main">
              <a:ext uri="{FF2B5EF4-FFF2-40B4-BE49-F238E27FC236}">
                <a16:creationId xmlns:a16="http://schemas.microsoft.com/office/drawing/2014/main" id="{B306B588-B225-4F4D-A828-4D7C4B506FE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ED3A832-41D0-4996-BC7F-23EEB61B051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4945924-E709-4C38-8222-27887B44A5C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47</a:t>
            </a:r>
          </a:p>
        </p:txBody>
      </p:sp>
      <p:sp>
        <p:nvSpPr>
          <p:cNvPr id="6" name="">
            <a:extLst xmlns:a="http://schemas.openxmlformats.org/drawingml/2006/main">
              <a:ext uri="{FF2B5EF4-FFF2-40B4-BE49-F238E27FC236}">
                <a16:creationId xmlns:a16="http://schemas.microsoft.com/office/drawing/2014/main" id="{1784E356-7351-42E4-BE88-E20E693C3304}"/>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재발 방지 조건</a:t>
            </a:r>
          </a:p>
        </p:txBody>
      </p:sp>
      <p:sp>
        <p:nvSpPr>
          <p:cNvPr id="7" name="">
            <a:extLst xmlns:a="http://schemas.openxmlformats.org/drawingml/2006/main">
              <a:ext uri="{FF2B5EF4-FFF2-40B4-BE49-F238E27FC236}">
                <a16:creationId xmlns:a16="http://schemas.microsoft.com/office/drawing/2014/main" id="{AD6A4B1F-F364-479B-A45F-1F78176EB4A0}"/>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원시 영상과 보고 항목의 대사</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보고 책임자와 변경 이력 관리</a:t>
            </a:r>
          </a:p>
        </p:txBody>
      </p:sp>
      <p:sp>
        <p:nvSpPr>
          <p:cNvPr id="8" name="">
            <a:extLst xmlns:a="http://schemas.openxmlformats.org/drawingml/2006/main">
              <a:ext uri="{FF2B5EF4-FFF2-40B4-BE49-F238E27FC236}">
                <a16:creationId xmlns:a16="http://schemas.microsoft.com/office/drawing/2014/main" id="{CE2F952A-9D41-48F3-8ED4-1E3CA15DD629}"/>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요인·시정 쟁점</a:t>
            </a:r>
          </a:p>
        </p:txBody>
      </p:sp>
      <p:sp>
        <p:nvSpPr>
          <p:cNvPr id="9" name="">
            <a:extLst xmlns:a="http://schemas.openxmlformats.org/drawingml/2006/main">
              <a:ext uri="{FF2B5EF4-FFF2-40B4-BE49-F238E27FC236}">
                <a16:creationId xmlns:a16="http://schemas.microsoft.com/office/drawing/2014/main" id="{E5B86010-96D9-444D-B6A7-FC629C8D67CA}"/>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사고 후 상황의 보고 누락</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요약본만으로 사고 전체를 판단하는 위험</a:t>
            </a:r>
          </a:p>
        </p:txBody>
      </p:sp>
      <p:sp>
        <p:nvSpPr>
          <p:cNvPr id="10" name="">
            <a:extLst xmlns:a="http://schemas.openxmlformats.org/drawingml/2006/main">
              <a:ext uri="{FF2B5EF4-FFF2-40B4-BE49-F238E27FC236}">
                <a16:creationId xmlns:a16="http://schemas.microsoft.com/office/drawing/2014/main" id="{11D2F227-61F8-4908-9FFE-C7CC9FFBE063}"/>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CA985692-84BF-4ED6-8975-BFF81F2794A6}"/>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충돌 전·중·후 증거의 완전성 대사</a:t>
            </a:r>
          </a:p>
        </p:txBody>
      </p:sp>
      <p:sp>
        <p:nvSpPr>
          <p:cNvPr id="12" name="">
            <a:extLst xmlns:a="http://schemas.openxmlformats.org/drawingml/2006/main">
              <a:ext uri="{FF2B5EF4-FFF2-40B4-BE49-F238E27FC236}">
                <a16:creationId xmlns:a16="http://schemas.microsoft.com/office/drawing/2014/main" id="{645A7E64-7382-4D76-8CF4-2ED6B1D6288D}"/>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5F151C01-D014-40E2-A8BC-44A4F7260BAC}"/>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사고 발생 전후 전체 이벤트를 보고 항목에 연결</a:t>
            </a:r>
          </a:p>
        </p:txBody>
      </p:sp>
      <p:sp>
        <p:nvSpPr>
          <p:cNvPr id="14" name="">
            <a:extLst xmlns:a="http://schemas.openxmlformats.org/drawingml/2006/main">
              <a:ext uri="{FF2B5EF4-FFF2-40B4-BE49-F238E27FC236}">
                <a16:creationId xmlns:a16="http://schemas.microsoft.com/office/drawing/2014/main" id="{52450A2A-F3E3-4D9A-9000-76FD1221A1E4}"/>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7CD308AA-03C6-4C20-9D1D-8D76EB716BFF}"/>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충돌 이후 이벤트 삭제·영상과 로그 시각 충돌</a:t>
            </a:r>
          </a:p>
        </p:txBody>
      </p:sp>
      <p:sp>
        <p:nvSpPr>
          <p:cNvPr id="16" name="">
            <a:extLst xmlns:a="http://schemas.openxmlformats.org/drawingml/2006/main">
              <a:ext uri="{FF2B5EF4-FFF2-40B4-BE49-F238E27FC236}">
                <a16:creationId xmlns:a16="http://schemas.microsoft.com/office/drawing/2014/main" id="{03D5C30D-D1CD-4D5A-8F29-87F09D359109}"/>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A68AC70E-28CC-4953-9ED9-47154400E3B2}"/>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원시 증거별 보고 포함 여부와 누락 경고·승인 이력</a:t>
            </a:r>
          </a:p>
        </p:txBody>
      </p:sp>
    </p:spTree>
    <p:extLst>
      <p:ext uri="{BB962C8B-B14F-4D97-AF65-F5344CB8AC3E}">
        <p14:creationId xmlns:p14="http://schemas.microsoft.com/office/powerpoint/2010/main" val="1772920118"/>
      </p:ext>
    </p:extLst>
  </p:cSld>
</p:sld>
</file>

<file path=ppt/slides/slide4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2F5957D-1FB6-4F57-A3F9-5B0C2E22941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AX09 / 부분 성과 / 해외</a:t>
            </a:r>
          </a:p>
        </p:txBody>
      </p:sp>
      <p:sp>
        <p:nvSpPr>
          <p:cNvPr id="2" name="">
            <a:extLst xmlns:a="http://schemas.openxmlformats.org/drawingml/2006/main">
              <a:ext uri="{FF2B5EF4-FFF2-40B4-BE49-F238E27FC236}">
                <a16:creationId xmlns:a16="http://schemas.microsoft.com/office/drawing/2014/main" id="{78B844A3-F523-4057-9239-4D9CF6CCB4A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Morgan Stanley 지식지원</a:t>
            </a:r>
          </a:p>
        </p:txBody>
      </p:sp>
      <p:sp>
        <p:nvSpPr>
          <p:cNvPr id="3" name="">
            <a:extLst xmlns:a="http://schemas.openxmlformats.org/drawingml/2006/main">
              <a:ext uri="{FF2B5EF4-FFF2-40B4-BE49-F238E27FC236}">
                <a16:creationId xmlns:a16="http://schemas.microsoft.com/office/drawing/2014/main" id="{B31DF569-8972-4380-A412-EF6623AD840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61F421F-AEC2-4987-BEC7-A4007365B03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4F83DB8-D418-4749-93C8-D6F9BF32C8C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48</a:t>
            </a:r>
          </a:p>
        </p:txBody>
      </p:sp>
      <p:sp>
        <p:nvSpPr>
          <p:cNvPr id="6" name="">
            <a:extLst xmlns:a="http://schemas.openxmlformats.org/drawingml/2006/main">
              <a:ext uri="{FF2B5EF4-FFF2-40B4-BE49-F238E27FC236}">
                <a16:creationId xmlns:a16="http://schemas.microsoft.com/office/drawing/2014/main" id="{67B8143E-9E37-441F-B795-581D1E36C967}"/>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407D86E6-FC81-4360-AF37-272BFA0CC0FB}"/>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금융 자문가가 승인된 사내 전문지식을 검색하고 근거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있는 답변을 얻도록 한 사례. 직원의 문서 탐색을 지원하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면서 전문가 평가를 품질 개선에 연결한 접근.</a:t>
            </a:r>
          </a:p>
        </p:txBody>
      </p:sp>
      <p:sp>
        <p:nvSpPr>
          <p:cNvPr id="8" name="">
            <a:extLst xmlns:a="http://schemas.openxmlformats.org/drawingml/2006/main">
              <a:ext uri="{FF2B5EF4-FFF2-40B4-BE49-F238E27FC236}">
                <a16:creationId xmlns:a16="http://schemas.microsoft.com/office/drawing/2014/main" id="{D39927A7-25F3-4950-BE17-7CC78C2E636D}"/>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0AF7D3EB-C165-40DC-8B93-753FDB82E625}"/>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업무 질문의 자료 범위를 확인하고 관련 문서·원문 위치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를 검색한 뒤 자문가가 답변을 검토하는 흐름. TS 적용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시 검사·인증·안전 규정별 전문가 정답셋과 문서 개정 이</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력을 연결하는 설계.</a:t>
            </a:r>
          </a:p>
        </p:txBody>
      </p:sp>
      <p:sp>
        <p:nvSpPr>
          <p:cNvPr id="10" name="">
            <a:extLst xmlns:a="http://schemas.openxmlformats.org/drawingml/2006/main">
              <a:ext uri="{FF2B5EF4-FFF2-40B4-BE49-F238E27FC236}">
                <a16:creationId xmlns:a16="http://schemas.microsoft.com/office/drawing/2014/main" id="{8BCE7A7B-0BF1-43C7-97D5-62A695EF1672}"/>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08228538-744D-4FA6-91D8-2E218646EBA6}"/>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활용자 수·도입 확대와 답변의 정답률을 구분해 평가할 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요. 숨긴 평가셋, 근거 조문 일치, 개정 후 회귀시험, 전문</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가 수정시간을 함께 수집하는 CCK 벤치마킹.</a:t>
            </a:r>
          </a:p>
        </p:txBody>
      </p:sp>
      <p:sp>
        <p:nvSpPr>
          <p:cNvPr id="12" name="">
            <a:extLst xmlns:a="http://schemas.openxmlformats.org/drawingml/2006/main">
              <a:ext uri="{FF2B5EF4-FFF2-40B4-BE49-F238E27FC236}">
                <a16:creationId xmlns:a16="http://schemas.microsoft.com/office/drawing/2014/main" id="{C8FFAA43-C571-4069-AA2B-80E5908A8788}"/>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6782725C-8C78-469F-A112-449F84B6667D}"/>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직무별 평가셋 / 근거 위치 / 답변 보류 / 변경 영향 재평가</a:t>
            </a:r>
          </a:p>
        </p:txBody>
      </p:sp>
      <p:sp>
        <p:nvSpPr>
          <p:cNvPr id="14" name="">
            <a:extLst xmlns:a="http://schemas.openxmlformats.org/drawingml/2006/main">
              <a:ext uri="{FF2B5EF4-FFF2-40B4-BE49-F238E27FC236}">
                <a16:creationId xmlns:a16="http://schemas.microsoft.com/office/drawing/2014/main" id="{B6366FCD-7CE8-4F56-99BD-91713D0BF477}"/>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B27F41ED-0D53-4110-A50C-89C9AD6D8C9C}"/>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숨긴 평가셋의 근거 일치·판본 일치·거부율 평가</a:t>
            </a:r>
          </a:p>
        </p:txBody>
      </p:sp>
      <p:sp>
        <p:nvSpPr>
          <p:cNvPr id="16" name="">
            <a:extLst xmlns:a="http://schemas.openxmlformats.org/drawingml/2006/main">
              <a:ext uri="{FF2B5EF4-FFF2-40B4-BE49-F238E27FC236}">
                <a16:creationId xmlns:a16="http://schemas.microsoft.com/office/drawing/2014/main" id="{7DADBC1D-4D91-43EA-AA85-BC38C929DF67}"/>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0FF652F1-DA20-42C0-B7C4-8EAE92DC05C9}"/>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근거 정확도 / 재작업률 / 지식 탐색시간</a:t>
            </a:r>
          </a:p>
        </p:txBody>
      </p:sp>
      <p:sp>
        <p:nvSpPr>
          <p:cNvPr id="18" name="">
            <a:extLst xmlns:a="http://schemas.openxmlformats.org/drawingml/2006/main">
              <a:ext uri="{FF2B5EF4-FFF2-40B4-BE49-F238E27FC236}">
                <a16:creationId xmlns:a16="http://schemas.microsoft.com/office/drawing/2014/main" id="{F14019B4-A3EE-4F7B-9072-0BB0A9F9CA5B}"/>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자문팀 기준 공급사 발표 · 생산성 인과효과·TS 정확도 근거와 구분</a:t>
            </a:r>
          </a:p>
        </p:txBody>
      </p:sp>
    </p:spTree>
    <p:extLst>
      <p:ext uri="{BB962C8B-B14F-4D97-AF65-F5344CB8AC3E}">
        <p14:creationId xmlns:p14="http://schemas.microsoft.com/office/powerpoint/2010/main" val="1506151008"/>
      </p:ext>
    </p:extLst>
  </p:cSld>
</p:sld>
</file>

<file path=ppt/slides/slide4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B5460D6-ABDF-42B8-B845-5F80ADAE280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AX09 / As-Is → To-Be → 기대효과 → 확인 결과</a:t>
            </a:r>
          </a:p>
        </p:txBody>
      </p:sp>
      <p:sp>
        <p:nvSpPr>
          <p:cNvPr id="2" name="">
            <a:extLst xmlns:a="http://schemas.openxmlformats.org/drawingml/2006/main">
              <a:ext uri="{FF2B5EF4-FFF2-40B4-BE49-F238E27FC236}">
                <a16:creationId xmlns:a16="http://schemas.microsoft.com/office/drawing/2014/main" id="{DE11E4A4-62E1-43B3-9273-2495EC33911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Morgan Stanley 지식지원 · 기대와 결과</a:t>
            </a:r>
          </a:p>
        </p:txBody>
      </p:sp>
      <p:sp>
        <p:nvSpPr>
          <p:cNvPr id="3" name="">
            <a:extLst xmlns:a="http://schemas.openxmlformats.org/drawingml/2006/main">
              <a:ext uri="{FF2B5EF4-FFF2-40B4-BE49-F238E27FC236}">
                <a16:creationId xmlns:a16="http://schemas.microsoft.com/office/drawing/2014/main" id="{8FC42E12-07C3-43FA-B930-5AB716C9B3B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AA95338-0B36-4DA0-81FB-DEF31444309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7FE34A7B-7856-412F-8B3D-93D412AC61E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49</a:t>
            </a:r>
          </a:p>
        </p:txBody>
      </p:sp>
      <p:sp>
        <p:nvSpPr>
          <p:cNvPr id="6" name="">
            <a:extLst xmlns:a="http://schemas.openxmlformats.org/drawingml/2006/main">
              <a:ext uri="{FF2B5EF4-FFF2-40B4-BE49-F238E27FC236}">
                <a16:creationId xmlns:a16="http://schemas.microsoft.com/office/drawing/2014/main" id="{56B262A7-B9A0-4D6C-A8C3-7E8A700E8457}"/>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893D0F4F-4866-4082-9274-467CF57E38A7}"/>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자산관리 자문팀이 방대한 내부 지식 문서를 직접 검색하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고 응답을 조합</a:t>
            </a:r>
          </a:p>
        </p:txBody>
      </p:sp>
      <p:sp>
        <p:nvSpPr>
          <p:cNvPr id="8" name="">
            <a:extLst xmlns:a="http://schemas.openxmlformats.org/drawingml/2006/main">
              <a:ext uri="{FF2B5EF4-FFF2-40B4-BE49-F238E27FC236}">
                <a16:creationId xmlns:a16="http://schemas.microsoft.com/office/drawing/2014/main" id="{1D83F2A6-5D59-4408-A434-9EB0B7152EB9}"/>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73418156-D157-4909-AC69-11D43904CA1F}"/>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허용된 사내 지식을 검색·인용하는 전문가용 AI Assistan</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t와 평가·개선 체계</a:t>
            </a:r>
          </a:p>
        </p:txBody>
      </p:sp>
      <p:sp>
        <p:nvSpPr>
          <p:cNvPr id="10" name="">
            <a:extLst xmlns:a="http://schemas.openxmlformats.org/drawingml/2006/main">
              <a:ext uri="{FF2B5EF4-FFF2-40B4-BE49-F238E27FC236}">
                <a16:creationId xmlns:a16="http://schemas.microsoft.com/office/drawing/2014/main" id="{219BE516-7717-4D5D-B78E-713C86E899A7}"/>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A14DA80F-3D1C-4C89-AB87-B31453F7D566}"/>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정확한 근거 탐색과 자문 준비 시간 절감</a:t>
            </a:r>
          </a:p>
        </p:txBody>
      </p:sp>
      <p:sp>
        <p:nvSpPr>
          <p:cNvPr id="12" name="">
            <a:extLst xmlns:a="http://schemas.openxmlformats.org/drawingml/2006/main">
              <a:ext uri="{FF2B5EF4-FFF2-40B4-BE49-F238E27FC236}">
                <a16:creationId xmlns:a16="http://schemas.microsoft.com/office/drawing/2014/main" id="{AACAC707-9EE7-4E7B-81A5-9EB551C366A3}"/>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B42A48EE-EBB6-4E2B-94C9-B04F34784124}"/>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공급사·고객 사례에서 자문팀 98% 초과 활용과 전문가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피드백을 반영한 평가 체계 보고</a:t>
            </a:r>
          </a:p>
        </p:txBody>
      </p:sp>
      <p:sp>
        <p:nvSpPr>
          <p:cNvPr id="14" name="">
            <a:extLst xmlns:a="http://schemas.openxmlformats.org/drawingml/2006/main">
              <a:ext uri="{FF2B5EF4-FFF2-40B4-BE49-F238E27FC236}">
                <a16:creationId xmlns:a16="http://schemas.microsoft.com/office/drawing/2014/main" id="{EE89FE0E-8BA3-4B3D-A572-FCB04E73C164}"/>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부분 성과 · 전문가 조직의 사용 확산과 평가 운영은 확인되나 실제 검색 정확도·고객 성과의 독립 평가 미확인</a:t>
            </a:r>
          </a:p>
        </p:txBody>
      </p:sp>
      <p:sp>
        <p:nvSpPr>
          <p:cNvPr id="15" name="">
            <a:extLst xmlns:a="http://schemas.openxmlformats.org/drawingml/2006/main">
              <a:ext uri="{FF2B5EF4-FFF2-40B4-BE49-F238E27FC236}">
                <a16:creationId xmlns:a16="http://schemas.microsoft.com/office/drawing/2014/main" id="{82C24F48-D8DA-4081-9E76-EFD3E47B31C2}"/>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공급사 고객사례·운영 주장 · 공급사 고객사례 기준. 98%는 활용률이며 생산성 향상률이 아님</a:t>
            </a:r>
          </a:p>
        </p:txBody>
      </p:sp>
    </p:spTree>
    <p:extLst>
      <p:ext uri="{BB962C8B-B14F-4D97-AF65-F5344CB8AC3E}">
        <p14:creationId xmlns:p14="http://schemas.microsoft.com/office/powerpoint/2010/main" val="824387330"/>
      </p:ext>
    </p:extLst>
  </p:cSld>
</p:sld>
</file>

<file path=ppt/slides/slide5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AA548106-E94B-4035-8083-B8AC8142F268}"/>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5400C1E8-25C2-4532-A325-3F244E4DA29E}"/>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7A658340-B8F1-4F3B-9B98-AD8B22A3CDCE}"/>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CBB4CF93-CF81-4E3E-B8B3-8824AD13146E}"/>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B14CEA76-9969-40F2-81B2-CBC90D4426E6}"/>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4DA016BA-D95C-4855-8132-65E498FD5939}"/>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306E320A-D346-4CD9-8F7B-A2EA16147B73}"/>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9FAB3871-8689-4B75-B118-A56DC015C249}"/>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911CE628-985C-4E3A-9093-5431423AC3EF}"/>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F90C74F7-D25D-447E-BD4B-474BFE21BC2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AX09 / 지식 갱신·검색·근거 응답</a:t>
            </a:r>
          </a:p>
        </p:txBody>
      </p:sp>
      <p:sp>
        <p:nvSpPr>
          <p:cNvPr id="2" name="">
            <a:extLst xmlns:a="http://schemas.openxmlformats.org/drawingml/2006/main">
              <a:ext uri="{FF2B5EF4-FFF2-40B4-BE49-F238E27FC236}">
                <a16:creationId xmlns:a16="http://schemas.microsoft.com/office/drawing/2014/main" id="{A74C6469-E355-4A6F-BE3E-34C3EBFE504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Morgan Stanley 지식지원 · 세부 서비스 구조</a:t>
            </a:r>
          </a:p>
        </p:txBody>
      </p:sp>
      <p:sp>
        <p:nvSpPr>
          <p:cNvPr id="3" name="">
            <a:extLst xmlns:a="http://schemas.openxmlformats.org/drawingml/2006/main">
              <a:ext uri="{FF2B5EF4-FFF2-40B4-BE49-F238E27FC236}">
                <a16:creationId xmlns:a16="http://schemas.microsoft.com/office/drawing/2014/main" id="{D577C06E-1649-4D34-AC5A-C7A502705F5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443CABA-13D0-4CFB-B461-C4AA2D737AE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8C1B2D4-6FF8-41C2-9421-7B86B09EFA7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50</a:t>
            </a:r>
          </a:p>
        </p:txBody>
      </p:sp>
      <p:sp>
        <p:nvSpPr>
          <p:cNvPr id="6" name="">
            <a:extLst xmlns:a="http://schemas.openxmlformats.org/drawingml/2006/main">
              <a:ext uri="{FF2B5EF4-FFF2-40B4-BE49-F238E27FC236}">
                <a16:creationId xmlns:a16="http://schemas.microsoft.com/office/drawing/2014/main" id="{B9F61A72-A793-4446-8F79-DA5FB95CA593}"/>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전문가 질문 → 사내 지식 검색 → 근거 응답 → 전문가 평가·개선</a:t>
            </a:r>
          </a:p>
        </p:txBody>
      </p:sp>
      <p:sp>
        <p:nvSpPr>
          <p:cNvPr id="7" name="">
            <a:extLst xmlns:a="http://schemas.openxmlformats.org/drawingml/2006/main">
              <a:ext uri="{FF2B5EF4-FFF2-40B4-BE49-F238E27FC236}">
                <a16:creationId xmlns:a16="http://schemas.microsoft.com/office/drawing/2014/main" id="{4E093F13-3E44-44E3-9BB3-EA934A97D283}"/>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749E5C4E-A8EA-451A-9592-CE86544B45C6}"/>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7DD35560-BB00-4E51-B5B5-029A28D16AA2}"/>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승인 전문지식</a:t>
            </a:r>
          </a:p>
        </p:txBody>
      </p:sp>
      <p:sp>
        <p:nvSpPr>
          <p:cNvPr id="10" name="">
            <a:extLst xmlns:a="http://schemas.openxmlformats.org/drawingml/2006/main">
              <a:ext uri="{FF2B5EF4-FFF2-40B4-BE49-F238E27FC236}">
                <a16:creationId xmlns:a16="http://schemas.microsoft.com/office/drawing/2014/main" id="{6CEE9AFC-9A31-4708-B62B-B1E0461A3FE2}"/>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861A88C1-69CB-4663-9256-1856DFC2CD85}"/>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53F28999-1598-44A8-91F8-06CDFD770194}"/>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원문 위치·판본화</a:t>
            </a:r>
          </a:p>
        </p:txBody>
      </p:sp>
      <p:sp>
        <p:nvSpPr>
          <p:cNvPr id="13" name="">
            <a:extLst xmlns:a="http://schemas.openxmlformats.org/drawingml/2006/main">
              <a:ext uri="{FF2B5EF4-FFF2-40B4-BE49-F238E27FC236}">
                <a16:creationId xmlns:a16="http://schemas.microsoft.com/office/drawing/2014/main" id="{CA6FF574-72BA-4163-9FA3-596E84C01BC0}"/>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75252221-E687-4CF1-A068-49F3DF6F0A70}"/>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1F92A636-C153-4982-B2A9-76ACB6D4DB0F}"/>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문서·평가셋</a:t>
            </a:r>
          </a:p>
        </p:txBody>
      </p:sp>
      <p:sp>
        <p:nvSpPr>
          <p:cNvPr id="16" name="">
            <a:extLst xmlns:a="http://schemas.openxmlformats.org/drawingml/2006/main">
              <a:ext uri="{FF2B5EF4-FFF2-40B4-BE49-F238E27FC236}">
                <a16:creationId xmlns:a16="http://schemas.microsoft.com/office/drawing/2014/main" id="{865B9C41-881E-4078-8DCB-1E9E3A24B47A}"/>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3E401087-D02E-4412-AA54-49182A7BA9DE}"/>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B2490DA1-F69C-4FD8-ADC1-A442E6C3968E}"/>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승인 문서 검색</a:t>
            </a:r>
          </a:p>
        </p:txBody>
      </p:sp>
      <p:sp>
        <p:nvSpPr>
          <p:cNvPr id="19" name="">
            <a:extLst xmlns:a="http://schemas.openxmlformats.org/drawingml/2006/main">
              <a:ext uri="{FF2B5EF4-FFF2-40B4-BE49-F238E27FC236}">
                <a16:creationId xmlns:a16="http://schemas.microsoft.com/office/drawing/2014/main" id="{A42D799D-2728-477F-A0ED-EDF3F26799B0}"/>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AF61361E-EBD9-4C68-A998-6A7D8C86EB62}"/>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579BE47D-17B3-486A-8C5A-348002B6DDEF}"/>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자문가 질문</a:t>
            </a:r>
          </a:p>
        </p:txBody>
      </p:sp>
      <p:sp>
        <p:nvSpPr>
          <p:cNvPr id="22" name="">
            <a:extLst xmlns:a="http://schemas.openxmlformats.org/drawingml/2006/main">
              <a:ext uri="{FF2B5EF4-FFF2-40B4-BE49-F238E27FC236}">
                <a16:creationId xmlns:a16="http://schemas.microsoft.com/office/drawing/2014/main" id="{BE487A39-7997-4F76-9105-F500991C0491}"/>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9E37CA17-873F-459C-B5B5-978C9CEBE46F}"/>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2B8AEDAC-FC67-401C-8851-21849DCB977D}"/>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질의·접근 문맥</a:t>
            </a:r>
          </a:p>
        </p:txBody>
      </p:sp>
      <p:sp>
        <p:nvSpPr>
          <p:cNvPr id="25" name="">
            <a:extLst xmlns:a="http://schemas.openxmlformats.org/drawingml/2006/main">
              <a:ext uri="{FF2B5EF4-FFF2-40B4-BE49-F238E27FC236}">
                <a16:creationId xmlns:a16="http://schemas.microsoft.com/office/drawing/2014/main" id="{C9187C79-5446-4DFC-BF17-B690FDEC0D2F}"/>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587FFEB0-13B5-45C1-8444-D5E94602F87F}"/>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9A39C027-1896-40EC-8546-EDB589F512C0}"/>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근거 응답 생성</a:t>
            </a:r>
          </a:p>
        </p:txBody>
      </p:sp>
      <p:sp>
        <p:nvSpPr>
          <p:cNvPr id="28" name="">
            <a:extLst xmlns:a="http://schemas.openxmlformats.org/drawingml/2006/main">
              <a:ext uri="{FF2B5EF4-FFF2-40B4-BE49-F238E27FC236}">
                <a16:creationId xmlns:a16="http://schemas.microsoft.com/office/drawing/2014/main" id="{DB047D49-1398-47A6-B016-68D3F072BBAF}"/>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468362A2-2620-4319-911E-6FE2709783BE}"/>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244D9A74-D4C9-489C-A0A8-9B890B889BFA}"/>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문서·답변 대조</a:t>
            </a:r>
          </a:p>
        </p:txBody>
      </p:sp>
      <p:sp>
        <p:nvSpPr>
          <p:cNvPr id="31" name="">
            <a:extLst xmlns:a="http://schemas.openxmlformats.org/drawingml/2006/main">
              <a:ext uri="{FF2B5EF4-FFF2-40B4-BE49-F238E27FC236}">
                <a16:creationId xmlns:a16="http://schemas.microsoft.com/office/drawing/2014/main" id="{CC27641F-0731-40C0-B689-A88749CCFBDD}"/>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FEEC437F-D68B-4476-B88B-CED4FBDC3D1D}"/>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F9934F7C-6847-4E37-9F3A-DC40435BFD80}"/>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자문가 확인</a:t>
            </a:r>
          </a:p>
        </p:txBody>
      </p:sp>
      <p:sp>
        <p:nvSpPr>
          <p:cNvPr id="34" name="">
            <a:extLst xmlns:a="http://schemas.openxmlformats.org/drawingml/2006/main">
              <a:ext uri="{FF2B5EF4-FFF2-40B4-BE49-F238E27FC236}">
                <a16:creationId xmlns:a16="http://schemas.microsoft.com/office/drawing/2014/main" id="{58EC6A64-20F7-4D52-AF03-F8C212AE2F96}"/>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BADD4FF0-F763-4DD9-9603-BBF945E38166}"/>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588A85E9-F17D-41F3-B53B-8082DBFC21A7}"/>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상담 업무 활용</a:t>
            </a:r>
          </a:p>
        </p:txBody>
      </p:sp>
      <p:sp>
        <p:nvSpPr>
          <p:cNvPr id="46" name="">
            <a:extLst xmlns:a="http://schemas.openxmlformats.org/drawingml/2006/main">
              <a:ext uri="{FF2B5EF4-FFF2-40B4-BE49-F238E27FC236}">
                <a16:creationId xmlns:a16="http://schemas.microsoft.com/office/drawing/2014/main" id="{31D4A891-995A-409B-A7E6-FAF9E53FA9D0}"/>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88912347"/>
      </p:ext>
    </p:extLst>
  </p:cSld>
</p:sld>
</file>

<file path=ppt/slides/slide5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3EB21238-FFA2-4081-94C9-A1CE05CFB8B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AX09 / 논리 인터페이스·복구 설계</a:t>
            </a:r>
          </a:p>
        </p:txBody>
      </p:sp>
      <p:sp>
        <p:nvSpPr>
          <p:cNvPr id="2" name="">
            <a:extLst xmlns:a="http://schemas.openxmlformats.org/drawingml/2006/main">
              <a:ext uri="{FF2B5EF4-FFF2-40B4-BE49-F238E27FC236}">
                <a16:creationId xmlns:a16="http://schemas.microsoft.com/office/drawing/2014/main" id="{D46DA80B-0FCB-4CF5-8DF0-0AE69EEB464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Morgan Stanley 지식지원 · 데이터와 예외 처리</a:t>
            </a:r>
          </a:p>
        </p:txBody>
      </p:sp>
      <p:sp>
        <p:nvSpPr>
          <p:cNvPr id="3" name="">
            <a:extLst xmlns:a="http://schemas.openxmlformats.org/drawingml/2006/main">
              <a:ext uri="{FF2B5EF4-FFF2-40B4-BE49-F238E27FC236}">
                <a16:creationId xmlns:a16="http://schemas.microsoft.com/office/drawing/2014/main" id="{6E0D5E0E-FAA5-41D5-A08B-620A59D8044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3179B1B-ECF1-4B80-83A3-BE3BE3ECF50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6D77E720-FF9B-4BAD-A3A0-0F37FF02663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51</a:t>
            </a:r>
          </a:p>
        </p:txBody>
      </p:sp>
      <p:sp>
        <p:nvSpPr>
          <p:cNvPr id="6" name="">
            <a:extLst xmlns:a="http://schemas.openxmlformats.org/drawingml/2006/main">
              <a:ext uri="{FF2B5EF4-FFF2-40B4-BE49-F238E27FC236}">
                <a16:creationId xmlns:a16="http://schemas.microsoft.com/office/drawing/2014/main" id="{1EC95C82-63CD-4B30-877B-3A5ACCAA8918}"/>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54FAF276-17EC-4C9F-9250-175DE75BF77C}"/>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8305114F-CAFB-429C-A2A6-C6B5142B66D8}"/>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85F97138-C5B4-493D-A3BD-402F57585688}"/>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사내 지식·평가셋</a:t>
            </a:r>
          </a:p>
        </p:txBody>
      </p:sp>
      <p:sp>
        <p:nvSpPr>
          <p:cNvPr id="10" name="">
            <a:extLst xmlns:a="http://schemas.openxmlformats.org/drawingml/2006/main">
              <a:ext uri="{FF2B5EF4-FFF2-40B4-BE49-F238E27FC236}">
                <a16:creationId xmlns:a16="http://schemas.microsoft.com/office/drawing/2014/main" id="{79D8BB10-46F8-4E37-9B9F-835490063BD9}"/>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C957C6A-2B6D-432D-B1D0-D29E73FC8A8F}"/>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ED836B58-66F5-460A-B377-EC5191328C51}"/>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8DE8A987-FED3-4821-897C-8C4885732EC2}"/>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B4242E8-E3B7-46B7-A19E-5D7CDC47EB5A}"/>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684190C8-31D9-4E7A-93AA-2BE57AF0B94F}"/>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질문의 업무 범위·자료 접근조건 확인</a:t>
            </a:r>
          </a:p>
        </p:txBody>
      </p:sp>
      <p:sp>
        <p:nvSpPr>
          <p:cNvPr id="16" name="">
            <a:extLst xmlns:a="http://schemas.openxmlformats.org/drawingml/2006/main">
              <a:ext uri="{FF2B5EF4-FFF2-40B4-BE49-F238E27FC236}">
                <a16:creationId xmlns:a16="http://schemas.microsoft.com/office/drawing/2014/main" id="{0C849353-5750-4FB0-A4C8-C5AE7047C4D8}"/>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6BF84D6-A2AA-498F-BF08-5CCF7204B2A7}"/>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45B3DD63-1E44-4C52-8ECF-2DB3F4B01FC8}"/>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전문가 정답표와 근거 정확도·보류 적정성 </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결과</a:t>
            </a:r>
          </a:p>
        </p:txBody>
      </p:sp>
      <p:sp>
        <p:nvSpPr>
          <p:cNvPr id="19" name="">
            <a:extLst xmlns:a="http://schemas.openxmlformats.org/drawingml/2006/main">
              <a:ext uri="{FF2B5EF4-FFF2-40B4-BE49-F238E27FC236}">
                <a16:creationId xmlns:a16="http://schemas.microsoft.com/office/drawing/2014/main" id="{2B4D0C1E-BF88-4FC3-B5B9-E88D02076CEE}"/>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16BB5CB6-37A4-47A6-96FA-7DD9478631A7}"/>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A7318BD5-800B-4251-8A92-37939FD64828}"/>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관련 문서</a:t>
            </a:r>
          </a:p>
        </p:txBody>
      </p:sp>
      <p:sp>
        <p:nvSpPr>
          <p:cNvPr id="22" name="">
            <a:extLst xmlns:a="http://schemas.openxmlformats.org/drawingml/2006/main">
              <a:ext uri="{FF2B5EF4-FFF2-40B4-BE49-F238E27FC236}">
                <a16:creationId xmlns:a16="http://schemas.microsoft.com/office/drawing/2014/main" id="{0BD27CC0-DF64-4ABC-9658-ABF14830D4C7}"/>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04BED2B0-917A-40DC-A887-DCDE9F99FAB7}"/>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B026F2BA-B1DE-4766-8205-05607F1607E8}"/>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근거 답변</a:t>
            </a:r>
          </a:p>
        </p:txBody>
      </p:sp>
      <p:sp>
        <p:nvSpPr>
          <p:cNvPr id="25" name="">
            <a:extLst xmlns:a="http://schemas.openxmlformats.org/drawingml/2006/main">
              <a:ext uri="{FF2B5EF4-FFF2-40B4-BE49-F238E27FC236}">
                <a16:creationId xmlns:a16="http://schemas.microsoft.com/office/drawing/2014/main" id="{0A3A499F-F014-4661-B77E-6C2B7AFC05E6}"/>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D26A6700-F276-4426-B450-5EB339D15981}"/>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구버전 문서·근거 없는 질문·서로 다른 상품 조건</a:t>
            </a:r>
          </a:p>
        </p:txBody>
      </p:sp>
      <p:sp>
        <p:nvSpPr>
          <p:cNvPr id="27" name="">
            <a:extLst xmlns:a="http://schemas.openxmlformats.org/drawingml/2006/main">
              <a:ext uri="{FF2B5EF4-FFF2-40B4-BE49-F238E27FC236}">
                <a16:creationId xmlns:a16="http://schemas.microsoft.com/office/drawing/2014/main" id="{DA9C39E6-E316-45E9-AA43-7ED47BCBD7C9}"/>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97E7F2FC-55CC-40F2-B8E6-2A7D7C3EAA04}"/>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문서 개정 후 숨긴 평가셋 재검증</a:t>
            </a:r>
          </a:p>
        </p:txBody>
      </p:sp>
      <p:sp>
        <p:nvSpPr>
          <p:cNvPr id="29" name="">
            <a:extLst xmlns:a="http://schemas.openxmlformats.org/drawingml/2006/main">
              <a:ext uri="{FF2B5EF4-FFF2-40B4-BE49-F238E27FC236}">
                <a16:creationId xmlns:a16="http://schemas.microsoft.com/office/drawing/2014/main" id="{2C2A3BC5-79EC-41F4-837B-31336C070740}"/>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AC530F55-1590-48A7-9810-C98263E2B15D}"/>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전문가 정답셋과 오류 유형별 회귀 평가</a:t>
            </a:r>
          </a:p>
        </p:txBody>
      </p:sp>
      <p:sp>
        <p:nvSpPr>
          <p:cNvPr id="31" name="">
            <a:extLst xmlns:a="http://schemas.openxmlformats.org/drawingml/2006/main">
              <a:ext uri="{FF2B5EF4-FFF2-40B4-BE49-F238E27FC236}">
                <a16:creationId xmlns:a16="http://schemas.microsoft.com/office/drawing/2014/main" id="{CEAA97C3-DCDB-46C5-81B5-3A7CD5484A83}"/>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9B048ECA-490C-42D4-950F-A331204F81EB}"/>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전문가 정답표와 근거 정확도·보류 적정성 결과</a:t>
            </a:r>
          </a:p>
        </p:txBody>
      </p:sp>
    </p:spTree>
    <p:extLst>
      <p:ext uri="{BB962C8B-B14F-4D97-AF65-F5344CB8AC3E}">
        <p14:creationId xmlns:p14="http://schemas.microsoft.com/office/powerpoint/2010/main" val="1828585904"/>
      </p:ext>
    </p:extLst>
  </p:cSld>
</p:sld>
</file>

<file path=ppt/slides/slide5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CD3F4CC-60B8-41F9-B66E-0DF3B5E7ECE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AX09 / CCK 비교·재현 시험 설계</a:t>
            </a:r>
          </a:p>
        </p:txBody>
      </p:sp>
      <p:sp>
        <p:nvSpPr>
          <p:cNvPr id="2" name="">
            <a:extLst xmlns:a="http://schemas.openxmlformats.org/drawingml/2006/main">
              <a:ext uri="{FF2B5EF4-FFF2-40B4-BE49-F238E27FC236}">
                <a16:creationId xmlns:a16="http://schemas.microsoft.com/office/drawing/2014/main" id="{2404ABA6-2B92-4FE5-8CD2-A3F4FC86F9A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Morgan Stanley 지식지원 · 벤치마킹</a:t>
            </a:r>
          </a:p>
        </p:txBody>
      </p:sp>
      <p:sp>
        <p:nvSpPr>
          <p:cNvPr id="3" name="">
            <a:extLst xmlns:a="http://schemas.openxmlformats.org/drawingml/2006/main">
              <a:ext uri="{FF2B5EF4-FFF2-40B4-BE49-F238E27FC236}">
                <a16:creationId xmlns:a16="http://schemas.microsoft.com/office/drawing/2014/main" id="{3B59A31F-D627-43E0-8D84-A42EF7A6F8D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47EB2CA-F100-4B28-A9AA-44D1AB047CE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AEC8256C-9671-42A9-8A1A-D3611DB46BC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52</a:t>
            </a:r>
          </a:p>
        </p:txBody>
      </p:sp>
      <p:sp>
        <p:nvSpPr>
          <p:cNvPr id="6" name="">
            <a:extLst xmlns:a="http://schemas.openxmlformats.org/drawingml/2006/main">
              <a:ext uri="{FF2B5EF4-FFF2-40B4-BE49-F238E27FC236}">
                <a16:creationId xmlns:a16="http://schemas.microsoft.com/office/drawing/2014/main" id="{6E7516A2-B6D0-4934-9BD7-4D7CF65F23D8}"/>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E0048B83-0E84-4FC7-8BE9-D7D665C10ECF}"/>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전문가 평가셋과 지속 개선</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현업 지식을 업무 접점에서 검색</a:t>
            </a:r>
          </a:p>
        </p:txBody>
      </p:sp>
      <p:sp>
        <p:nvSpPr>
          <p:cNvPr id="8" name="">
            <a:extLst xmlns:a="http://schemas.openxmlformats.org/drawingml/2006/main">
              <a:ext uri="{FF2B5EF4-FFF2-40B4-BE49-F238E27FC236}">
                <a16:creationId xmlns:a16="http://schemas.microsoft.com/office/drawing/2014/main" id="{CCBA6C56-794A-49B4-A609-152E186B26C6}"/>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AC5D3F98-1C1B-4113-994F-215FEA2450C5}"/>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활용률과 정답률의 혼동</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자료 개정에 따른 답변 품질 저하</a:t>
            </a:r>
          </a:p>
        </p:txBody>
      </p:sp>
      <p:sp>
        <p:nvSpPr>
          <p:cNvPr id="10" name="">
            <a:extLst xmlns:a="http://schemas.openxmlformats.org/drawingml/2006/main">
              <a:ext uri="{FF2B5EF4-FFF2-40B4-BE49-F238E27FC236}">
                <a16:creationId xmlns:a16="http://schemas.microsoft.com/office/drawing/2014/main" id="{157D835D-1E3C-47F0-93A9-81A806496B02}"/>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546B39EF-719B-4B2F-9C5D-44A36AED0212}"/>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문서 개정 후 숨긴 평가셋 재검증</a:t>
            </a:r>
          </a:p>
        </p:txBody>
      </p:sp>
      <p:sp>
        <p:nvSpPr>
          <p:cNvPr id="12" name="">
            <a:extLst xmlns:a="http://schemas.openxmlformats.org/drawingml/2006/main">
              <a:ext uri="{FF2B5EF4-FFF2-40B4-BE49-F238E27FC236}">
                <a16:creationId xmlns:a16="http://schemas.microsoft.com/office/drawing/2014/main" id="{1D5E7A5E-9279-4E7A-BFF3-1A3C3EF640BF}"/>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40CB01CE-F91B-43BD-8520-91F5E4954167}"/>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전문가가 규정 질의의 답변·인용 원문·판본을 평가</a:t>
            </a:r>
          </a:p>
        </p:txBody>
      </p:sp>
      <p:sp>
        <p:nvSpPr>
          <p:cNvPr id="14" name="">
            <a:extLst xmlns:a="http://schemas.openxmlformats.org/drawingml/2006/main">
              <a:ext uri="{FF2B5EF4-FFF2-40B4-BE49-F238E27FC236}">
                <a16:creationId xmlns:a16="http://schemas.microsoft.com/office/drawing/2014/main" id="{5AB95553-D0E8-4F46-B46B-59461447775D}"/>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FCCDAB1E-0781-44FE-9A25-639CC51A75CA}"/>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구버전 문서·근거 없는 질문·서로 다른 상품 조건</a:t>
            </a:r>
          </a:p>
        </p:txBody>
      </p:sp>
      <p:sp>
        <p:nvSpPr>
          <p:cNvPr id="16" name="">
            <a:extLst xmlns:a="http://schemas.openxmlformats.org/drawingml/2006/main">
              <a:ext uri="{FF2B5EF4-FFF2-40B4-BE49-F238E27FC236}">
                <a16:creationId xmlns:a16="http://schemas.microsoft.com/office/drawing/2014/main" id="{46AD2346-DFE4-476A-B88D-E5A278A2671D}"/>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CFDDC775-AB0E-4588-AC8F-BAA344DE33FC}"/>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전문가 정답표와 근거 정확도·보류 적정성 결과</a:t>
            </a:r>
          </a:p>
        </p:txBody>
      </p:sp>
    </p:spTree>
    <p:extLst>
      <p:ext uri="{BB962C8B-B14F-4D97-AF65-F5344CB8AC3E}">
        <p14:creationId xmlns:p14="http://schemas.microsoft.com/office/powerpoint/2010/main" val="1803209476"/>
      </p:ext>
    </p:extLst>
  </p:cSld>
</p:sld>
</file>

<file path=ppt/slides/slide5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D5252A8-FBDC-4EA4-9C93-D71435F3A9B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AX10 / 부분 성과 / 해외</a:t>
            </a:r>
          </a:p>
        </p:txBody>
      </p:sp>
      <p:sp>
        <p:nvSpPr>
          <p:cNvPr id="2" name="">
            <a:extLst xmlns:a="http://schemas.openxmlformats.org/drawingml/2006/main">
              <a:ext uri="{FF2B5EF4-FFF2-40B4-BE49-F238E27FC236}">
                <a16:creationId xmlns:a16="http://schemas.microsoft.com/office/drawing/2014/main" id="{368CCF41-9718-4F83-8783-E11573A0C31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스키폴 Deep Turnaround</a:t>
            </a:r>
          </a:p>
        </p:txBody>
      </p:sp>
      <p:sp>
        <p:nvSpPr>
          <p:cNvPr id="3" name="">
            <a:extLst xmlns:a="http://schemas.openxmlformats.org/drawingml/2006/main">
              <a:ext uri="{FF2B5EF4-FFF2-40B4-BE49-F238E27FC236}">
                <a16:creationId xmlns:a16="http://schemas.microsoft.com/office/drawing/2014/main" id="{1DB85998-EC87-4868-80D0-E8D07E6E0DA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7456A6A-47BD-4B77-8284-24A31A6F9B7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A5F25B4C-843B-4C0F-9FA0-45E8095D41F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53</a:t>
            </a:r>
          </a:p>
        </p:txBody>
      </p:sp>
      <p:sp>
        <p:nvSpPr>
          <p:cNvPr id="6" name="">
            <a:extLst xmlns:a="http://schemas.openxmlformats.org/drawingml/2006/main">
              <a:ext uri="{FF2B5EF4-FFF2-40B4-BE49-F238E27FC236}">
                <a16:creationId xmlns:a16="http://schemas.microsoft.com/office/drawing/2014/main" id="{5A407C9C-8BD7-4AF2-BC41-0350FFC0A8AC}"/>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33FE4862-1551-458C-9346-91DEE03F536F}"/>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공항 지상조업의 진행 상태를 영상으로 파악하고 항공사</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·조업사·공항이 공유하는 사례. 서로 다른 담당자가 같은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항공편의 준비 상태를 확인하도록 하는 협업 변화.</a:t>
            </a:r>
          </a:p>
        </p:txBody>
      </p:sp>
      <p:sp>
        <p:nvSpPr>
          <p:cNvPr id="8" name="">
            <a:extLst xmlns:a="http://schemas.openxmlformats.org/drawingml/2006/main">
              <a:ext uri="{FF2B5EF4-FFF2-40B4-BE49-F238E27FC236}">
                <a16:creationId xmlns:a16="http://schemas.microsoft.com/office/drawing/2014/main" id="{F6720D89-D200-40AF-A543-24BA1216A7D3}"/>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02B993A7-C497-4872-A420-B10CEE472984}"/>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카메라 관측을 항공편·주기장·시각과 연결하고 조업 이</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벤트와 상태를 대시보드·API로 전달하는 구조의 재구성.</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관측된 상태, 지연 추정, 실제 조업 조치를 별도 기록으</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로 관리.</a:t>
            </a:r>
          </a:p>
        </p:txBody>
      </p:sp>
      <p:sp>
        <p:nvSpPr>
          <p:cNvPr id="10" name="">
            <a:extLst xmlns:a="http://schemas.openxmlformats.org/drawingml/2006/main">
              <a:ext uri="{FF2B5EF4-FFF2-40B4-BE49-F238E27FC236}">
                <a16:creationId xmlns:a16="http://schemas.microsoft.com/office/drawing/2014/main" id="{FADAB53A-1BD8-44DD-8E5B-1580EBDF6882}"/>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D75143F6-B0FA-4C64-BAC3-53F5EC5D3FFA}"/>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현장 모니터링에 적용할 경우 야간·가림·날씨·카메라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위치별 편차를 평가할 필요. 탐지 정확도뿐 아니라 담당자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가 확인한 시점, 조정 조치, 누락 이벤트의 복구까지 비교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할 대상.</a:t>
            </a:r>
          </a:p>
        </p:txBody>
      </p:sp>
      <p:sp>
        <p:nvSpPr>
          <p:cNvPr id="12" name="">
            <a:extLst xmlns:a="http://schemas.openxmlformats.org/drawingml/2006/main">
              <a:ext uri="{FF2B5EF4-FFF2-40B4-BE49-F238E27FC236}">
                <a16:creationId xmlns:a16="http://schemas.microsoft.com/office/drawing/2014/main" id="{8124B3E9-6FC9-49FB-8CD8-14C49366F5C6}"/>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34270E9D-B317-4E77-A67D-62FF50697E00}"/>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사건 분류·증거 시각·협업 인계</a:t>
            </a:r>
          </a:p>
        </p:txBody>
      </p:sp>
      <p:sp>
        <p:nvSpPr>
          <p:cNvPr id="14" name="">
            <a:extLst xmlns:a="http://schemas.openxmlformats.org/drawingml/2006/main">
              <a:ext uri="{FF2B5EF4-FFF2-40B4-BE49-F238E27FC236}">
                <a16:creationId xmlns:a16="http://schemas.microsoft.com/office/drawing/2014/main" id="{C0F1766F-B72C-4AED-BD67-EBBEF4975C0F}"/>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E5B1D92A-D518-4063-9295-6B7F0171C339}"/>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지연·중복 이벤트와 원영상 대조</a:t>
            </a:r>
          </a:p>
        </p:txBody>
      </p:sp>
      <p:sp>
        <p:nvSpPr>
          <p:cNvPr id="16" name="">
            <a:extLst xmlns:a="http://schemas.openxmlformats.org/drawingml/2006/main">
              <a:ext uri="{FF2B5EF4-FFF2-40B4-BE49-F238E27FC236}">
                <a16:creationId xmlns:a16="http://schemas.microsoft.com/office/drawing/2014/main" id="{CB336D20-E200-488B-B46E-1B515F7E42C1}"/>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E3F3DFCC-CC03-4DC6-9778-275C7AB94580}"/>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상황 확인시간 / 인계 누락률</a:t>
            </a:r>
          </a:p>
        </p:txBody>
      </p:sp>
      <p:sp>
        <p:nvSpPr>
          <p:cNvPr id="18" name="">
            <a:extLst xmlns:a="http://schemas.openxmlformats.org/drawingml/2006/main">
              <a:ext uri="{FF2B5EF4-FFF2-40B4-BE49-F238E27FC236}">
                <a16:creationId xmlns:a16="http://schemas.microsoft.com/office/drawing/2014/main" id="{F45C8608-9740-43F1-AF99-B9A6752983EA}"/>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운영기관 발표 · TS 감독 업무와 공항 조업 운영의 역할 차이</a:t>
            </a:r>
          </a:p>
        </p:txBody>
      </p:sp>
    </p:spTree>
    <p:extLst>
      <p:ext uri="{BB962C8B-B14F-4D97-AF65-F5344CB8AC3E}">
        <p14:creationId xmlns:p14="http://schemas.microsoft.com/office/powerpoint/2010/main" val="2031913468"/>
      </p:ext>
    </p:extLst>
  </p:cSld>
</p:sld>
</file>

<file path=ppt/slides/slide5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EA97096-6485-479E-BAC4-B8763D7C7DA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AX10 / As-Is → To-Be → 기대효과 → 확인 결과</a:t>
            </a:r>
          </a:p>
        </p:txBody>
      </p:sp>
      <p:sp>
        <p:nvSpPr>
          <p:cNvPr id="2" name="">
            <a:extLst xmlns:a="http://schemas.openxmlformats.org/drawingml/2006/main">
              <a:ext uri="{FF2B5EF4-FFF2-40B4-BE49-F238E27FC236}">
                <a16:creationId xmlns:a16="http://schemas.microsoft.com/office/drawing/2014/main" id="{9A7749D4-DFDA-489A-ADF1-3607B9119AE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스키폴 Deep Turnaround · 기대와 결과</a:t>
            </a:r>
          </a:p>
        </p:txBody>
      </p:sp>
      <p:sp>
        <p:nvSpPr>
          <p:cNvPr id="3" name="">
            <a:extLst xmlns:a="http://schemas.openxmlformats.org/drawingml/2006/main">
              <a:ext uri="{FF2B5EF4-FFF2-40B4-BE49-F238E27FC236}">
                <a16:creationId xmlns:a16="http://schemas.microsoft.com/office/drawing/2014/main" id="{D54B876B-4183-4E9E-B3C5-E87A3583B03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1B3BE64-2D18-4022-9181-B0C078F64FC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D27F611C-CB8E-45E3-B082-E09C4C44B81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54</a:t>
            </a:r>
          </a:p>
        </p:txBody>
      </p:sp>
      <p:sp>
        <p:nvSpPr>
          <p:cNvPr id="6" name="">
            <a:extLst xmlns:a="http://schemas.openxmlformats.org/drawingml/2006/main">
              <a:ext uri="{FF2B5EF4-FFF2-40B4-BE49-F238E27FC236}">
                <a16:creationId xmlns:a16="http://schemas.microsoft.com/office/drawing/2014/main" id="{1B24CDE7-1587-41DC-8258-55F7FBD490DD}"/>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B8E9C03B-2640-4CA2-ABA6-318F45BDE841}"/>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항공사·조업사·관제·게이트 담당자 사이에 지상조업의 실</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시간 공동 상황 정보 부족</a:t>
            </a:r>
          </a:p>
        </p:txBody>
      </p:sp>
      <p:sp>
        <p:nvSpPr>
          <p:cNvPr id="8" name="">
            <a:extLst xmlns:a="http://schemas.openxmlformats.org/drawingml/2006/main">
              <a:ext uri="{FF2B5EF4-FFF2-40B4-BE49-F238E27FC236}">
                <a16:creationId xmlns:a16="http://schemas.microsoft.com/office/drawing/2014/main" id="{4BFAADB8-3B7B-41FA-9217-CB8CEF16AD7F}"/>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24001668-55EA-454E-AC02-03059D68F281}"/>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스탠드 영상에서 30여 세부 절차를 감지·예측해 API·상황</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판·사후 분석으로 공동 이용</a:t>
            </a:r>
          </a:p>
        </p:txBody>
      </p:sp>
      <p:sp>
        <p:nvSpPr>
          <p:cNvPr id="10" name="">
            <a:extLst xmlns:a="http://schemas.openxmlformats.org/drawingml/2006/main">
              <a:ext uri="{FF2B5EF4-FFF2-40B4-BE49-F238E27FC236}">
                <a16:creationId xmlns:a16="http://schemas.microsoft.com/office/drawing/2014/main" id="{6F69EE99-6D12-41DC-BDC5-8114E430A45A}"/>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E6F8A73A-B673-479A-BBCD-F6D9280F3E57}"/>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지연 조기 발견, 게이트 변경·대기 감소, 이해관계자 조정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개선</a:t>
            </a:r>
          </a:p>
        </p:txBody>
      </p:sp>
      <p:sp>
        <p:nvSpPr>
          <p:cNvPr id="12" name="">
            <a:extLst xmlns:a="http://schemas.openxmlformats.org/drawingml/2006/main">
              <a:ext uri="{FF2B5EF4-FFF2-40B4-BE49-F238E27FC236}">
                <a16:creationId xmlns:a16="http://schemas.microsoft.com/office/drawing/2014/main" id="{BEC1C82C-D7B4-4106-A8F3-D896028273AD}"/>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4327A6FE-CAB3-4ECE-B13D-1FA9170A00D8}"/>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스키폴은 52개 스탠드 운영과 약 100개 확대 계획을 공개</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지연을 최대 15분 전 파악한다는 현장 설명 및 게이트 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경 감소 가능성 제시</a:t>
            </a:r>
          </a:p>
        </p:txBody>
      </p:sp>
      <p:sp>
        <p:nvSpPr>
          <p:cNvPr id="14" name="">
            <a:extLst xmlns:a="http://schemas.openxmlformats.org/drawingml/2006/main">
              <a:ext uri="{FF2B5EF4-FFF2-40B4-BE49-F238E27FC236}">
                <a16:creationId xmlns:a16="http://schemas.microsoft.com/office/drawing/2014/main" id="{E7CBA43D-4A18-4881-80FA-5F145DEA26AD}"/>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부분 성과 · 현장 운영·공동 정보 제공은 확인; 게이트 변경 25% 감소 등은 자료에서 잠재 효과로 제시되어 확정 실측으로 </a:t>
            </a:r>
          </a:p>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단정 불가</a:t>
            </a:r>
          </a:p>
        </p:txBody>
      </p:sp>
      <p:sp>
        <p:nvSpPr>
          <p:cNvPr id="15" name="">
            <a:extLst xmlns:a="http://schemas.openxmlformats.org/drawingml/2006/main">
              <a:ext uri="{FF2B5EF4-FFF2-40B4-BE49-F238E27FC236}">
                <a16:creationId xmlns:a16="http://schemas.microsoft.com/office/drawing/2014/main" id="{15C17DCC-187B-4DD5-AFBA-6EF106483FFC}"/>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운영기관 실제 적용·기술 공개 · 공항 운영사 사례. 스탠드 수는 공개 시점 기준, 정시율·수익성의 통제 비교 미확인</a:t>
            </a:r>
          </a:p>
        </p:txBody>
      </p:sp>
    </p:spTree>
    <p:extLst>
      <p:ext uri="{BB962C8B-B14F-4D97-AF65-F5344CB8AC3E}">
        <p14:creationId xmlns:p14="http://schemas.microsoft.com/office/powerpoint/2010/main" val="1096605861"/>
      </p:ext>
    </p:extLst>
  </p:cSld>
</p:sld>
</file>

<file path=ppt/slides/slide5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6" name="">
            <a:extLst xmlns:a="http://schemas.openxmlformats.org/drawingml/2006/main">
              <a:ext uri="{FF2B5EF4-FFF2-40B4-BE49-F238E27FC236}">
                <a16:creationId xmlns:a16="http://schemas.microsoft.com/office/drawing/2014/main" id="{6475F5E0-E217-4DB4-AB10-3C736CF351D3}"/>
              </a:ext>
            </a:extLst>
          </p:cNvPr>
          <p:cNvCxnSpPr>
            <a:stCxn xmlns:a="http://schemas.openxmlformats.org/drawingml/2006/main" id="34" idx="1"/>
            <a:endCxn xmlns:a="http://schemas.openxmlformats.org/drawingml/2006/main" id="13" idx="3"/>
          </p:cNvCxnSpPr>
          <p:nvPr/>
        </p:nvCxnSpPr>
        <p:spPr>
          <a:xfrm xmlns:a="http://schemas.openxmlformats.org/drawingml/2006/main" flipH="1" flipV="1">
            <a:off x="7096125" y="2352675"/>
            <a:ext cx="2524125" cy="2476500"/>
          </a:xfrm>
          <a:prstGeom xmlns:a="http://schemas.openxmlformats.org/drawingml/2006/main" prst="straightConnector1">
            <a:avLst/>
          </a:prstGeom>
          <a:ln xmlns:a="http://schemas.openxmlformats.org/drawingml/2006/main" w="19050">
            <a:solidFill>
              <a:srgbClr val="697F86"/>
            </a:solidFill>
            <a:tailEnd type="arrow" w="med" len="med"/>
          </a:ln>
        </p:spPr>
      </p:cxnSp>
      <p:cxnSp>
        <p:nvCxnSpPr>
          <p:cNvPr id="45" name="">
            <a:extLst xmlns:a="http://schemas.openxmlformats.org/drawingml/2006/main">
              <a:ext uri="{FF2B5EF4-FFF2-40B4-BE49-F238E27FC236}">
                <a16:creationId xmlns:a16="http://schemas.microsoft.com/office/drawing/2014/main" id="{B183B288-A654-4AA4-ADF8-67430307EBE1}"/>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63C20126-F569-410D-9E98-BC9CA5B22DD8}"/>
              </a:ext>
            </a:extLst>
          </p:cNvPr>
          <p:cNvCxnSpPr>
            <a:stCxn xmlns:a="http://schemas.openxmlformats.org/drawingml/2006/main" id="31" idx="0"/>
            <a:endCxn xmlns:a="http://schemas.openxmlformats.org/drawingml/2006/main" id="19" idx="2"/>
          </p:cNvCxnSpPr>
          <p:nvPr/>
        </p:nvCxnSpPr>
        <p:spPr>
          <a:xfrm xmlns:a="http://schemas.openxmlformats.org/drawingml/2006/main" flipV="1">
            <a:off x="8358188" y="2905125"/>
            <a:ext cx="2262187"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560D270F-CE7A-4C97-B6C0-8B95522AFE90}"/>
              </a:ext>
            </a:extLst>
          </p:cNvPr>
          <p:cNvCxnSpPr>
            <a:stCxn xmlns:a="http://schemas.openxmlformats.org/drawingml/2006/main" id="16" idx="2"/>
            <a:endCxn xmlns:a="http://schemas.openxmlformats.org/drawingml/2006/main" id="31" idx="0"/>
          </p:cNvCxnSpPr>
          <p:nvPr/>
        </p:nvCxnSpPr>
        <p:spPr>
          <a:xfrm xmlns:a="http://schemas.openxmlformats.org/drawingml/2006/main">
            <a:off x="8358188" y="2905125"/>
            <a:ext cx="0"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2" name="">
            <a:extLst xmlns:a="http://schemas.openxmlformats.org/drawingml/2006/main">
              <a:ext uri="{FF2B5EF4-FFF2-40B4-BE49-F238E27FC236}">
                <a16:creationId xmlns:a16="http://schemas.microsoft.com/office/drawing/2014/main" id="{E2E71059-8AA6-4527-AD25-51C86955CED5}"/>
              </a:ext>
            </a:extLst>
          </p:cNvPr>
          <p:cNvCxnSpPr>
            <a:stCxn xmlns:a="http://schemas.openxmlformats.org/drawingml/2006/main" id="28" idx="0"/>
            <a:endCxn xmlns:a="http://schemas.openxmlformats.org/drawingml/2006/main" id="16" idx="2"/>
          </p:cNvCxnSpPr>
          <p:nvPr/>
        </p:nvCxnSpPr>
        <p:spPr>
          <a:xfrm xmlns:a="http://schemas.openxmlformats.org/drawingml/2006/main" flipV="1">
            <a:off x="6096000" y="2905125"/>
            <a:ext cx="2262188"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1" name="">
            <a:extLst xmlns:a="http://schemas.openxmlformats.org/drawingml/2006/main">
              <a:ext uri="{FF2B5EF4-FFF2-40B4-BE49-F238E27FC236}">
                <a16:creationId xmlns:a16="http://schemas.microsoft.com/office/drawing/2014/main" id="{64E93757-DD26-477C-A7B2-5521ED548683}"/>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FD3606E7-32B0-4D7E-A9F6-C2A26311440E}"/>
              </a:ext>
            </a:extLst>
          </p:cNvPr>
          <p:cNvCxnSpPr>
            <a:stCxn xmlns:a="http://schemas.openxmlformats.org/drawingml/2006/main" id="25" idx="0"/>
            <a:endCxn xmlns:a="http://schemas.openxmlformats.org/drawingml/2006/main" id="13" idx="2"/>
          </p:cNvCxnSpPr>
          <p:nvPr/>
        </p:nvCxnSpPr>
        <p:spPr>
          <a:xfrm xmlns:a="http://schemas.openxmlformats.org/drawingml/2006/main" flipV="1">
            <a:off x="3833813" y="2905125"/>
            <a:ext cx="2262187"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764D58BD-133D-41CB-8245-C78A85C8B8BC}"/>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A9F348CB-9514-43FE-B6C6-85C31CF3812E}"/>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AEE77343-D683-4BAA-98E2-02FF7E4A89FE}"/>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8" name="">
            <a:extLst xmlns:a="http://schemas.openxmlformats.org/drawingml/2006/main">
              <a:ext uri="{FF2B5EF4-FFF2-40B4-BE49-F238E27FC236}">
                <a16:creationId xmlns:a16="http://schemas.microsoft.com/office/drawing/2014/main" id="{90B68881-D79A-4B41-BA91-72C7F5F5704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AX10 / 관측·안전 판정·현장 조치·환류</a:t>
            </a:r>
          </a:p>
        </p:txBody>
      </p:sp>
      <p:sp>
        <p:nvSpPr>
          <p:cNvPr id="2" name="">
            <a:extLst xmlns:a="http://schemas.openxmlformats.org/drawingml/2006/main">
              <a:ext uri="{FF2B5EF4-FFF2-40B4-BE49-F238E27FC236}">
                <a16:creationId xmlns:a16="http://schemas.microsoft.com/office/drawing/2014/main" id="{A650FD01-1DAC-4490-A231-382E1BAEA9B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스키폴 Deep Turnaround · 세부 서비스 구조</a:t>
            </a:r>
          </a:p>
        </p:txBody>
      </p:sp>
      <p:sp>
        <p:nvSpPr>
          <p:cNvPr id="3" name="">
            <a:extLst xmlns:a="http://schemas.openxmlformats.org/drawingml/2006/main">
              <a:ext uri="{FF2B5EF4-FFF2-40B4-BE49-F238E27FC236}">
                <a16:creationId xmlns:a16="http://schemas.microsoft.com/office/drawing/2014/main" id="{A02683A9-813E-4C30-8378-E0847E97D86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D5DCB98-2173-4092-A04C-224CBF162B6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54A0684-A1A4-4C89-B71C-041AFD7B3D9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55</a:t>
            </a:r>
          </a:p>
        </p:txBody>
      </p:sp>
      <p:sp>
        <p:nvSpPr>
          <p:cNvPr id="6" name="">
            <a:extLst xmlns:a="http://schemas.openxmlformats.org/drawingml/2006/main">
              <a:ext uri="{FF2B5EF4-FFF2-40B4-BE49-F238E27FC236}">
                <a16:creationId xmlns:a16="http://schemas.microsoft.com/office/drawing/2014/main" id="{0D3598D3-BCD6-4CFC-9E84-1A1C01E1D2A3}"/>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카메라 영상 → 조업 상태 인식 → 대시보드·API → 담당자 조정</a:t>
            </a:r>
          </a:p>
        </p:txBody>
      </p:sp>
      <p:sp>
        <p:nvSpPr>
          <p:cNvPr id="7" name="">
            <a:extLst xmlns:a="http://schemas.openxmlformats.org/drawingml/2006/main">
              <a:ext uri="{FF2B5EF4-FFF2-40B4-BE49-F238E27FC236}">
                <a16:creationId xmlns:a16="http://schemas.microsoft.com/office/drawing/2014/main" id="{50D279BF-C868-4EF3-879B-1725A0E552D0}"/>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62F25B55-6967-4CD4-A411-5B30FEE5F959}"/>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AB1CB17A-A629-4806-B711-32737B87D03F}"/>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계류장 영상</a:t>
            </a:r>
          </a:p>
        </p:txBody>
      </p:sp>
      <p:sp>
        <p:nvSpPr>
          <p:cNvPr id="10" name="">
            <a:extLst xmlns:a="http://schemas.openxmlformats.org/drawingml/2006/main">
              <a:ext uri="{FF2B5EF4-FFF2-40B4-BE49-F238E27FC236}">
                <a16:creationId xmlns:a16="http://schemas.microsoft.com/office/drawing/2014/main" id="{DA5CEEB2-E4B7-4110-87ED-2AE36FBB61DE}"/>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86C596BF-AF9E-45E5-BA16-6DB7502FFFC2}"/>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FD0944A6-0CBD-4EC2-A236-7C563BF3D761}"/>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영상·항공편 매핑</a:t>
            </a:r>
          </a:p>
        </p:txBody>
      </p:sp>
      <p:sp>
        <p:nvSpPr>
          <p:cNvPr id="13" name="">
            <a:extLst xmlns:a="http://schemas.openxmlformats.org/drawingml/2006/main">
              <a:ext uri="{FF2B5EF4-FFF2-40B4-BE49-F238E27FC236}">
                <a16:creationId xmlns:a16="http://schemas.microsoft.com/office/drawing/2014/main" id="{9F726566-CC43-4973-86F9-B87E6A2964EC}"/>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2884B4D6-DC6C-47A3-B25F-4AD53614797C}"/>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07BD9092-826D-4CFA-8948-51F5AC674F4F}"/>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조업 이벤트 인식</a:t>
            </a:r>
          </a:p>
        </p:txBody>
      </p:sp>
      <p:sp>
        <p:nvSpPr>
          <p:cNvPr id="16" name="">
            <a:extLst xmlns:a="http://schemas.openxmlformats.org/drawingml/2006/main">
              <a:ext uri="{FF2B5EF4-FFF2-40B4-BE49-F238E27FC236}">
                <a16:creationId xmlns:a16="http://schemas.microsoft.com/office/drawing/2014/main" id="{03578C0D-11B7-4BCF-A44F-A28497FC42F1}"/>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F9C6AFE1-3CC3-429D-971E-C9C96A55A59B}"/>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72FF83C7-4EC2-4D6A-ACBA-10680743FD4F}"/>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시각·누락 대조</a:t>
            </a:r>
          </a:p>
        </p:txBody>
      </p:sp>
      <p:sp>
        <p:nvSpPr>
          <p:cNvPr id="19" name="">
            <a:extLst xmlns:a="http://schemas.openxmlformats.org/drawingml/2006/main">
              <a:ext uri="{FF2B5EF4-FFF2-40B4-BE49-F238E27FC236}">
                <a16:creationId xmlns:a16="http://schemas.microsoft.com/office/drawing/2014/main" id="{EC9CCB43-1DBC-425E-9FCB-2B1CCAD33BDC}"/>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306535BB-2F71-4662-B582-AA516C08BC74}"/>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B8255CD9-9907-4591-B989-4754B3BC74DB}"/>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상황판·API 공유</a:t>
            </a:r>
          </a:p>
        </p:txBody>
      </p:sp>
      <p:sp>
        <p:nvSpPr>
          <p:cNvPr id="22" name="">
            <a:extLst xmlns:a="http://schemas.openxmlformats.org/drawingml/2006/main">
              <a:ext uri="{FF2B5EF4-FFF2-40B4-BE49-F238E27FC236}">
                <a16:creationId xmlns:a16="http://schemas.microsoft.com/office/drawing/2014/main" id="{0C1EC06C-DBF4-4369-8418-F5E770F06D3B}"/>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2C88FFCF-36C4-4444-82A4-905CAE17301D}"/>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354C4416-A00D-4C21-99CA-54D2E1F8408E}"/>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항공편·주기장</a:t>
            </a:r>
          </a:p>
        </p:txBody>
      </p:sp>
      <p:sp>
        <p:nvSpPr>
          <p:cNvPr id="25" name="">
            <a:extLst xmlns:a="http://schemas.openxmlformats.org/drawingml/2006/main">
              <a:ext uri="{FF2B5EF4-FFF2-40B4-BE49-F238E27FC236}">
                <a16:creationId xmlns:a16="http://schemas.microsoft.com/office/drawing/2014/main" id="{053311C8-0DAD-455D-920A-4B20104F4B05}"/>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22A7701C-6406-47EB-9A63-9B9795174E44}"/>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27" name="">
            <a:extLst xmlns:a="http://schemas.openxmlformats.org/drawingml/2006/main">
              <a:ext uri="{FF2B5EF4-FFF2-40B4-BE49-F238E27FC236}">
                <a16:creationId xmlns:a16="http://schemas.microsoft.com/office/drawing/2014/main" id="{96613BE8-7A71-4EE6-8753-287F8B57593E}"/>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프레임·일정 조회</a:t>
            </a:r>
          </a:p>
        </p:txBody>
      </p:sp>
      <p:sp>
        <p:nvSpPr>
          <p:cNvPr id="28" name="">
            <a:extLst xmlns:a="http://schemas.openxmlformats.org/drawingml/2006/main">
              <a:ext uri="{FF2B5EF4-FFF2-40B4-BE49-F238E27FC236}">
                <a16:creationId xmlns:a16="http://schemas.microsoft.com/office/drawing/2014/main" id="{2FD89E10-973E-4F13-9B55-1B00BD041DCD}"/>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01C43F2E-B633-4798-9C50-80F523CD5651}"/>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30" name="">
            <a:extLst xmlns:a="http://schemas.openxmlformats.org/drawingml/2006/main">
              <a:ext uri="{FF2B5EF4-FFF2-40B4-BE49-F238E27FC236}">
                <a16:creationId xmlns:a16="http://schemas.microsoft.com/office/drawing/2014/main" id="{78056896-43F8-4B23-8648-56C50212F790}"/>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영상·협업 권한</a:t>
            </a:r>
          </a:p>
        </p:txBody>
      </p:sp>
      <p:sp>
        <p:nvSpPr>
          <p:cNvPr id="31" name="">
            <a:extLst xmlns:a="http://schemas.openxmlformats.org/drawingml/2006/main">
              <a:ext uri="{FF2B5EF4-FFF2-40B4-BE49-F238E27FC236}">
                <a16:creationId xmlns:a16="http://schemas.microsoft.com/office/drawing/2014/main" id="{97341FCF-C0C4-44E5-B64F-957400E0FD46}"/>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B524CB9B-AB83-4E64-901C-E57F73D1EDC1}"/>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A3801105-8FEC-4E0E-8B1C-808D91A5F231}"/>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조업 담당 확인</a:t>
            </a:r>
          </a:p>
        </p:txBody>
      </p:sp>
      <p:sp>
        <p:nvSpPr>
          <p:cNvPr id="34" name="">
            <a:extLst xmlns:a="http://schemas.openxmlformats.org/drawingml/2006/main">
              <a:ext uri="{FF2B5EF4-FFF2-40B4-BE49-F238E27FC236}">
                <a16:creationId xmlns:a16="http://schemas.microsoft.com/office/drawing/2014/main" id="{FD8E65B2-BCB0-44E7-8FC8-A1980CB00A6D}"/>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D58F4110-3839-49A0-9094-06F5323ECCA5}"/>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E9956D02-8E4A-4D00-82BB-BF2CF43ADB19}"/>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지연·현장 결과</a:t>
            </a:r>
          </a:p>
        </p:txBody>
      </p:sp>
      <p:sp>
        <p:nvSpPr>
          <p:cNvPr id="47" name="">
            <a:extLst xmlns:a="http://schemas.openxmlformats.org/drawingml/2006/main">
              <a:ext uri="{FF2B5EF4-FFF2-40B4-BE49-F238E27FC236}">
                <a16:creationId xmlns:a16="http://schemas.microsoft.com/office/drawing/2014/main" id="{D1672CC1-1685-44CD-AC1E-BADABC9913C6}"/>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335485015"/>
      </p:ext>
    </p:extLst>
  </p:cSld>
</p:sld>
</file>

<file path=ppt/slides/slide5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A8CD900C-19D6-4B23-8956-E45EC9BFD63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AX10 / 논리 인터페이스·복구 설계</a:t>
            </a:r>
          </a:p>
        </p:txBody>
      </p:sp>
      <p:sp>
        <p:nvSpPr>
          <p:cNvPr id="2" name="">
            <a:extLst xmlns:a="http://schemas.openxmlformats.org/drawingml/2006/main">
              <a:ext uri="{FF2B5EF4-FFF2-40B4-BE49-F238E27FC236}">
                <a16:creationId xmlns:a16="http://schemas.microsoft.com/office/drawing/2014/main" id="{A7E83542-F55B-4E82-8B3A-418DF745214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스키폴 Deep Turnaround · 데이터와 예외 처리</a:t>
            </a:r>
          </a:p>
        </p:txBody>
      </p:sp>
      <p:sp>
        <p:nvSpPr>
          <p:cNvPr id="3" name="">
            <a:extLst xmlns:a="http://schemas.openxmlformats.org/drawingml/2006/main">
              <a:ext uri="{FF2B5EF4-FFF2-40B4-BE49-F238E27FC236}">
                <a16:creationId xmlns:a16="http://schemas.microsoft.com/office/drawing/2014/main" id="{02C89A66-ABDD-4086-9BCD-F6D37BF5143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2A9269C-6A91-4C4F-9515-936A18A4A24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5403DA6-017C-48E6-95C1-4C74E30B801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56</a:t>
            </a:r>
          </a:p>
        </p:txBody>
      </p:sp>
      <p:sp>
        <p:nvSpPr>
          <p:cNvPr id="6" name="">
            <a:extLst xmlns:a="http://schemas.openxmlformats.org/drawingml/2006/main">
              <a:ext uri="{FF2B5EF4-FFF2-40B4-BE49-F238E27FC236}">
                <a16:creationId xmlns:a16="http://schemas.microsoft.com/office/drawing/2014/main" id="{0B5D30A6-6787-4220-B118-D584274D2E4F}"/>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4E19480B-EF3C-45E7-98B9-AEF47FF36A77}"/>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61326605-76F4-4C42-8E5D-A7C214F6AC6E}"/>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관측 입력</a:t>
            </a:r>
          </a:p>
        </p:txBody>
      </p:sp>
      <p:sp>
        <p:nvSpPr>
          <p:cNvPr id="9" name="">
            <a:extLst xmlns:a="http://schemas.openxmlformats.org/drawingml/2006/main">
              <a:ext uri="{FF2B5EF4-FFF2-40B4-BE49-F238E27FC236}">
                <a16:creationId xmlns:a16="http://schemas.microsoft.com/office/drawing/2014/main" id="{C05C3162-A464-41FD-90A2-CA0BFE793FBD}"/>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시간별 조업 상태</a:t>
            </a:r>
          </a:p>
        </p:txBody>
      </p:sp>
      <p:sp>
        <p:nvSpPr>
          <p:cNvPr id="10" name="">
            <a:extLst xmlns:a="http://schemas.openxmlformats.org/drawingml/2006/main">
              <a:ext uri="{FF2B5EF4-FFF2-40B4-BE49-F238E27FC236}">
                <a16:creationId xmlns:a16="http://schemas.microsoft.com/office/drawing/2014/main" id="{DF3FF2CA-5367-4EE3-BF2B-F4AA92911C03}"/>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E7A4C2D-FF1C-4E6E-9458-D6586A3DB8BB}"/>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정합화 상태</a:t>
            </a:r>
          </a:p>
        </p:txBody>
      </p:sp>
      <p:sp>
        <p:nvSpPr>
          <p:cNvPr id="12" name="">
            <a:extLst xmlns:a="http://schemas.openxmlformats.org/drawingml/2006/main">
              <a:ext uri="{FF2B5EF4-FFF2-40B4-BE49-F238E27FC236}">
                <a16:creationId xmlns:a16="http://schemas.microsoft.com/office/drawing/2014/main" id="{EAC050E3-5777-41EE-8445-D979B195E0CC}"/>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D3687CBC-8B1D-4838-97C4-0334A59E519F}"/>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7515D65-80B2-40B3-BF16-659FAF766B0C}"/>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위험·제어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후보</a:t>
            </a:r>
          </a:p>
        </p:txBody>
      </p:sp>
      <p:sp>
        <p:nvSpPr>
          <p:cNvPr id="15" name="">
            <a:extLst xmlns:a="http://schemas.openxmlformats.org/drawingml/2006/main">
              <a:ext uri="{FF2B5EF4-FFF2-40B4-BE49-F238E27FC236}">
                <a16:creationId xmlns:a16="http://schemas.microsoft.com/office/drawing/2014/main" id="{24842326-71C1-4558-B900-209E3BA8491B}"/>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대시보드·API 상태</a:t>
            </a:r>
          </a:p>
        </p:txBody>
      </p:sp>
      <p:sp>
        <p:nvSpPr>
          <p:cNvPr id="16" name="">
            <a:extLst xmlns:a="http://schemas.openxmlformats.org/drawingml/2006/main">
              <a:ext uri="{FF2B5EF4-FFF2-40B4-BE49-F238E27FC236}">
                <a16:creationId xmlns:a16="http://schemas.microsoft.com/office/drawing/2014/main" id="{CCA4FF91-F4B1-414B-A60B-BAAF150D5D4E}"/>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CED52FA-6F8A-4C6C-9603-2177270F187A}"/>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안전 경계</a:t>
            </a:r>
          </a:p>
        </p:txBody>
      </p:sp>
      <p:sp>
        <p:nvSpPr>
          <p:cNvPr id="18" name="">
            <a:extLst xmlns:a="http://schemas.openxmlformats.org/drawingml/2006/main">
              <a:ext uri="{FF2B5EF4-FFF2-40B4-BE49-F238E27FC236}">
                <a16:creationId xmlns:a16="http://schemas.microsoft.com/office/drawing/2014/main" id="{56696C4C-2597-4CB7-ABB5-6C46684A5278}"/>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영상·협업 권한</a:t>
            </a:r>
          </a:p>
        </p:txBody>
      </p:sp>
      <p:sp>
        <p:nvSpPr>
          <p:cNvPr id="19" name="">
            <a:extLst xmlns:a="http://schemas.openxmlformats.org/drawingml/2006/main">
              <a:ext uri="{FF2B5EF4-FFF2-40B4-BE49-F238E27FC236}">
                <a16:creationId xmlns:a16="http://schemas.microsoft.com/office/drawing/2014/main" id="{98CE667C-BFC8-4E41-9DA6-A6821B32EBFF}"/>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3A756E3-EC8A-46A0-BAF2-C2593B8869F9}"/>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경고·조치</a:t>
            </a:r>
          </a:p>
        </p:txBody>
      </p:sp>
      <p:sp>
        <p:nvSpPr>
          <p:cNvPr id="21" name="">
            <a:extLst xmlns:a="http://schemas.openxmlformats.org/drawingml/2006/main">
              <a:ext uri="{FF2B5EF4-FFF2-40B4-BE49-F238E27FC236}">
                <a16:creationId xmlns:a16="http://schemas.microsoft.com/office/drawing/2014/main" id="{4EA2EC41-7D09-4826-8FCD-D15057332EDE}"/>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조업 조정</a:t>
            </a:r>
          </a:p>
        </p:txBody>
      </p:sp>
      <p:sp>
        <p:nvSpPr>
          <p:cNvPr id="22" name="">
            <a:extLst xmlns:a="http://schemas.openxmlformats.org/drawingml/2006/main">
              <a:ext uri="{FF2B5EF4-FFF2-40B4-BE49-F238E27FC236}">
                <a16:creationId xmlns:a16="http://schemas.microsoft.com/office/drawing/2014/main" id="{D48DB1C4-9A81-4DD1-AE0E-916031B4B155}"/>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68127B4E-553C-42D7-A666-10EF68580B60}"/>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다음 주기</a:t>
            </a:r>
          </a:p>
        </p:txBody>
      </p:sp>
      <p:sp>
        <p:nvSpPr>
          <p:cNvPr id="24" name="">
            <a:extLst xmlns:a="http://schemas.openxmlformats.org/drawingml/2006/main">
              <a:ext uri="{FF2B5EF4-FFF2-40B4-BE49-F238E27FC236}">
                <a16:creationId xmlns:a16="http://schemas.microsoft.com/office/drawing/2014/main" id="{CB0C1ADE-03C5-487A-937E-BAA2A52A8CFF}"/>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누락 이벤트와 실제 이륙 준비상태 대조</a:t>
            </a:r>
          </a:p>
        </p:txBody>
      </p:sp>
      <p:sp>
        <p:nvSpPr>
          <p:cNvPr id="25" name="">
            <a:extLst xmlns:a="http://schemas.openxmlformats.org/drawingml/2006/main">
              <a:ext uri="{FF2B5EF4-FFF2-40B4-BE49-F238E27FC236}">
                <a16:creationId xmlns:a16="http://schemas.microsoft.com/office/drawing/2014/main" id="{E9533874-D2FE-44B6-A925-B9F122F0B7EC}"/>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87E38C5F-64BA-48F6-B4C3-36DF643B162B}"/>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카메라 가림·항공편 변경·이벤트 순서 역전</a:t>
            </a:r>
          </a:p>
        </p:txBody>
      </p:sp>
      <p:sp>
        <p:nvSpPr>
          <p:cNvPr id="27" name="">
            <a:extLst xmlns:a="http://schemas.openxmlformats.org/drawingml/2006/main">
              <a:ext uri="{FF2B5EF4-FFF2-40B4-BE49-F238E27FC236}">
                <a16:creationId xmlns:a16="http://schemas.microsoft.com/office/drawing/2014/main" id="{56D99A26-7CA2-4673-BDCF-11073E8666BF}"/>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0E55D1B5-4C5F-4CC7-9EF9-C175E3119724}"/>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현장 기준 이벤트와 탐지 시각 대조</a:t>
            </a:r>
          </a:p>
        </p:txBody>
      </p:sp>
      <p:sp>
        <p:nvSpPr>
          <p:cNvPr id="29" name="">
            <a:extLst xmlns:a="http://schemas.openxmlformats.org/drawingml/2006/main">
              <a:ext uri="{FF2B5EF4-FFF2-40B4-BE49-F238E27FC236}">
                <a16:creationId xmlns:a16="http://schemas.microsoft.com/office/drawing/2014/main" id="{DD4987C0-B8BE-45AE-AE34-F4DF54B78005}"/>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1D2E41F7-02A6-4E92-AC18-2F11E19910BB}"/>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누락 이벤트와 실제 이륙 준비상태 대조</a:t>
            </a:r>
          </a:p>
        </p:txBody>
      </p:sp>
      <p:sp>
        <p:nvSpPr>
          <p:cNvPr id="31" name="">
            <a:extLst xmlns:a="http://schemas.openxmlformats.org/drawingml/2006/main">
              <a:ext uri="{FF2B5EF4-FFF2-40B4-BE49-F238E27FC236}">
                <a16:creationId xmlns:a16="http://schemas.microsoft.com/office/drawing/2014/main" id="{67CD1EE0-5272-43BF-B854-8E94F0F59D8C}"/>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C2E76ADE-B061-4167-9296-86B4449EF6D6}"/>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영상 시각 대비 상태 전이표와 담당자 확인 기록</a:t>
            </a:r>
          </a:p>
        </p:txBody>
      </p:sp>
    </p:spTree>
    <p:extLst>
      <p:ext uri="{BB962C8B-B14F-4D97-AF65-F5344CB8AC3E}">
        <p14:creationId xmlns:p14="http://schemas.microsoft.com/office/powerpoint/2010/main" val="565837285"/>
      </p:ext>
    </p:extLst>
  </p:cSld>
</p:sld>
</file>

<file path=ppt/slides/slide5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F0FE741-5C44-47FC-B6C6-1D5B8BE4642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AX10 / CCK 비교·재현 시험 설계</a:t>
            </a:r>
          </a:p>
        </p:txBody>
      </p:sp>
      <p:sp>
        <p:nvSpPr>
          <p:cNvPr id="2" name="">
            <a:extLst xmlns:a="http://schemas.openxmlformats.org/drawingml/2006/main">
              <a:ext uri="{FF2B5EF4-FFF2-40B4-BE49-F238E27FC236}">
                <a16:creationId xmlns:a16="http://schemas.microsoft.com/office/drawing/2014/main" id="{E5C29D75-6AAF-4725-92A3-44248B7F687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스키폴 Deep Turnaround · 벤치마킹</a:t>
            </a:r>
          </a:p>
        </p:txBody>
      </p:sp>
      <p:sp>
        <p:nvSpPr>
          <p:cNvPr id="3" name="">
            <a:extLst xmlns:a="http://schemas.openxmlformats.org/drawingml/2006/main">
              <a:ext uri="{FF2B5EF4-FFF2-40B4-BE49-F238E27FC236}">
                <a16:creationId xmlns:a16="http://schemas.microsoft.com/office/drawing/2014/main" id="{2B5D3CAF-0DF3-4B3F-8B33-531A68CE110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7E405D2-FB32-4195-AD7C-47CDC93C5CD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DDBC6F09-9926-4DF8-A533-FD4D1FAA9CF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57</a:t>
            </a:r>
          </a:p>
        </p:txBody>
      </p:sp>
      <p:sp>
        <p:nvSpPr>
          <p:cNvPr id="6" name="">
            <a:extLst xmlns:a="http://schemas.openxmlformats.org/drawingml/2006/main">
              <a:ext uri="{FF2B5EF4-FFF2-40B4-BE49-F238E27FC236}">
                <a16:creationId xmlns:a16="http://schemas.microsoft.com/office/drawing/2014/main" id="{B79C829B-986E-4170-AD5E-2291302AABCB}"/>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C2DC33FD-E010-49F9-BA1C-6E09BED55013}"/>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공통 조업 상태의 공유</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영상 관측과 실제 현장 조정 연결</a:t>
            </a:r>
          </a:p>
        </p:txBody>
      </p:sp>
      <p:sp>
        <p:nvSpPr>
          <p:cNvPr id="8" name="">
            <a:extLst xmlns:a="http://schemas.openxmlformats.org/drawingml/2006/main">
              <a:ext uri="{FF2B5EF4-FFF2-40B4-BE49-F238E27FC236}">
                <a16:creationId xmlns:a16="http://schemas.microsoft.com/office/drawing/2014/main" id="{2E29A25B-00FB-42CD-81D3-1860A4770466}"/>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BF81FFA0-5A8E-48EF-A647-5D653B227E33}"/>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가림·야간·날씨에 따른 인식 편차</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상태 추정과 안전 판단의 혼동</a:t>
            </a:r>
          </a:p>
        </p:txBody>
      </p:sp>
      <p:sp>
        <p:nvSpPr>
          <p:cNvPr id="10" name="">
            <a:extLst xmlns:a="http://schemas.openxmlformats.org/drawingml/2006/main">
              <a:ext uri="{FF2B5EF4-FFF2-40B4-BE49-F238E27FC236}">
                <a16:creationId xmlns:a16="http://schemas.microsoft.com/office/drawing/2014/main" id="{5F6E7BB4-20C4-47D8-867A-F52FC1973187}"/>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84EA43D3-F2E3-4165-84E4-F7BF42AAA52D}"/>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현장 기준 이벤트와 탐지 시각 대조</a:t>
            </a:r>
          </a:p>
        </p:txBody>
      </p:sp>
      <p:sp>
        <p:nvSpPr>
          <p:cNvPr id="12" name="">
            <a:extLst xmlns:a="http://schemas.openxmlformats.org/drawingml/2006/main">
              <a:ext uri="{FF2B5EF4-FFF2-40B4-BE49-F238E27FC236}">
                <a16:creationId xmlns:a16="http://schemas.microsoft.com/office/drawing/2014/main" id="{03F2EB5E-43AF-4CAE-B981-0B96EA4A4A1F}"/>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EED62E01-7D6B-448B-8613-3E2A4514A863}"/>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항공편별 지상조업 단계와 지연 후보를 공동 확인</a:t>
            </a:r>
          </a:p>
        </p:txBody>
      </p:sp>
      <p:sp>
        <p:nvSpPr>
          <p:cNvPr id="14" name="">
            <a:extLst xmlns:a="http://schemas.openxmlformats.org/drawingml/2006/main">
              <a:ext uri="{FF2B5EF4-FFF2-40B4-BE49-F238E27FC236}">
                <a16:creationId xmlns:a16="http://schemas.microsoft.com/office/drawing/2014/main" id="{2DD09CF6-2BFE-46FF-A06A-E8DE4E649F53}"/>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6487EC7F-C791-4BC0-A5A4-DFDB43684FEA}"/>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카메라 가림·항공편 변경·이벤트 순서 역전</a:t>
            </a:r>
          </a:p>
        </p:txBody>
      </p:sp>
      <p:sp>
        <p:nvSpPr>
          <p:cNvPr id="16" name="">
            <a:extLst xmlns:a="http://schemas.openxmlformats.org/drawingml/2006/main">
              <a:ext uri="{FF2B5EF4-FFF2-40B4-BE49-F238E27FC236}">
                <a16:creationId xmlns:a16="http://schemas.microsoft.com/office/drawing/2014/main" id="{82B6F613-0088-4305-8D83-478503CA17BE}"/>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95819D53-0323-47B0-8EE8-0DCDEBF93A1E}"/>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영상 시각 대비 상태 전이표와 담당자 확인 기록</a:t>
            </a:r>
          </a:p>
        </p:txBody>
      </p:sp>
    </p:spTree>
    <p:extLst>
      <p:ext uri="{BB962C8B-B14F-4D97-AF65-F5344CB8AC3E}">
        <p14:creationId xmlns:p14="http://schemas.microsoft.com/office/powerpoint/2010/main" val="1432470733"/>
      </p:ext>
    </p:extLst>
  </p:cSld>
</p:sld>
</file>

<file path=ppt/slides/slide5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1241CB2-944B-4580-B9DE-DCFA28181D3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AX11 / 부분 성과 / 해외</a:t>
            </a:r>
          </a:p>
        </p:txBody>
      </p:sp>
      <p:sp>
        <p:nvSpPr>
          <p:cNvPr id="2" name="">
            <a:extLst xmlns:a="http://schemas.openxmlformats.org/drawingml/2006/main">
              <a:ext uri="{FF2B5EF4-FFF2-40B4-BE49-F238E27FC236}">
                <a16:creationId xmlns:a16="http://schemas.microsoft.com/office/drawing/2014/main" id="{BBBA239C-B4A6-493C-900F-2052DD58045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Green Light</a:t>
            </a:r>
          </a:p>
        </p:txBody>
      </p:sp>
      <p:sp>
        <p:nvSpPr>
          <p:cNvPr id="3" name="">
            <a:extLst xmlns:a="http://schemas.openxmlformats.org/drawingml/2006/main">
              <a:ext uri="{FF2B5EF4-FFF2-40B4-BE49-F238E27FC236}">
                <a16:creationId xmlns:a16="http://schemas.microsoft.com/office/drawing/2014/main" id="{10297FF5-D9EC-4DD1-9C42-0C17DCD82FC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3B45D39-6E37-47A4-85DC-D575CF902C2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31EE52CA-9134-40C9-8D04-9050B579D0F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58</a:t>
            </a:r>
          </a:p>
        </p:txBody>
      </p:sp>
      <p:sp>
        <p:nvSpPr>
          <p:cNvPr id="6" name="">
            <a:extLst xmlns:a="http://schemas.openxmlformats.org/drawingml/2006/main">
              <a:ext uri="{FF2B5EF4-FFF2-40B4-BE49-F238E27FC236}">
                <a16:creationId xmlns:a16="http://schemas.microsoft.com/office/drawing/2014/main" id="{15A4CDCC-ADF7-4D94-A408-1FDF70804B08}"/>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23502F17-E4AD-4F38-8C59-314AF2229456}"/>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도시 교통 흐름을 분석해 신호 운영 개선안을 기술자에</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게 제공하는 사례. AI가 모든 교차로 신호를 직접 제어하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는 방식으로 일반화하기보다 권고와 현장 적용의 연결에</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주목.</a:t>
            </a:r>
          </a:p>
        </p:txBody>
      </p:sp>
      <p:sp>
        <p:nvSpPr>
          <p:cNvPr id="8" name="">
            <a:extLst xmlns:a="http://schemas.openxmlformats.org/drawingml/2006/main">
              <a:ext uri="{FF2B5EF4-FFF2-40B4-BE49-F238E27FC236}">
                <a16:creationId xmlns:a16="http://schemas.microsoft.com/office/drawing/2014/main" id="{6CEF596F-0AFD-44FF-8E05-A1B8E05E725C}"/>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FEC917C4-78F0-4552-AD78-FE2C44CE1E0F}"/>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교차로·시간대별 흐름에서 정체·정지 패턴을 찾고 신호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조정 후보를 만드는 흐름. 지역 교통기술자가 보행자·긴</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급차량·현장 제약을 확인한 뒤 운영계획에 반영하는 CC</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K 적용 구조.</a:t>
            </a:r>
          </a:p>
        </p:txBody>
      </p:sp>
      <p:sp>
        <p:nvSpPr>
          <p:cNvPr id="10" name="">
            <a:extLst xmlns:a="http://schemas.openxmlformats.org/drawingml/2006/main">
              <a:ext uri="{FF2B5EF4-FFF2-40B4-BE49-F238E27FC236}">
                <a16:creationId xmlns:a16="http://schemas.microsoft.com/office/drawing/2014/main" id="{9946DAF8-B0D3-4DF1-81A9-9A0CD95AC9D7}"/>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0CFAD9E8-C425-48CC-A3C8-FA8CB47B300F}"/>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관측 교차로의 결과를 다른 지역 성과로 그대로 환산하지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않는 비교. 변경 전후 교통지표, 안전 제약 위반, 권고 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택 여부와 실제 운영 반영시간을 함께 검수할 필요.</a:t>
            </a:r>
          </a:p>
        </p:txBody>
      </p:sp>
      <p:sp>
        <p:nvSpPr>
          <p:cNvPr id="12" name="">
            <a:extLst xmlns:a="http://schemas.openxmlformats.org/drawingml/2006/main">
              <a:ext uri="{FF2B5EF4-FFF2-40B4-BE49-F238E27FC236}">
                <a16:creationId xmlns:a16="http://schemas.microsoft.com/office/drawing/2014/main" id="{0FDD0C37-7E1C-4C79-97BD-1785AE8AD048}"/>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9668A0CD-6583-43C4-91AE-3813537F59B7}"/>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지역·교차로·관할·개선 전후 지표 연결</a:t>
            </a:r>
          </a:p>
        </p:txBody>
      </p:sp>
      <p:sp>
        <p:nvSpPr>
          <p:cNvPr id="14" name="">
            <a:extLst xmlns:a="http://schemas.openxmlformats.org/drawingml/2006/main">
              <a:ext uri="{FF2B5EF4-FFF2-40B4-BE49-F238E27FC236}">
                <a16:creationId xmlns:a16="http://schemas.microsoft.com/office/drawing/2014/main" id="{9FBB825A-92F4-4323-BE1A-DCF4B33DECE1}"/>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83A35DAD-39F0-47E0-8DFC-AE056285FA8B}"/>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동일 시간대·교통량 비교와 담당자 승인 확인</a:t>
            </a:r>
          </a:p>
        </p:txBody>
      </p:sp>
      <p:sp>
        <p:nvSpPr>
          <p:cNvPr id="16" name="">
            <a:extLst xmlns:a="http://schemas.openxmlformats.org/drawingml/2006/main">
              <a:ext uri="{FF2B5EF4-FFF2-40B4-BE49-F238E27FC236}">
                <a16:creationId xmlns:a16="http://schemas.microsoft.com/office/drawing/2014/main" id="{5158499E-F6B3-457B-B033-9D3CE5824980}"/>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A6F245A5-4F47-444B-88AA-F068BA0CB1CE}"/>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정체·대기 지표 / 권고 채택률</a:t>
            </a:r>
          </a:p>
        </p:txBody>
      </p:sp>
      <p:sp>
        <p:nvSpPr>
          <p:cNvPr id="18" name="">
            <a:extLst xmlns:a="http://schemas.openxmlformats.org/drawingml/2006/main">
              <a:ext uri="{FF2B5EF4-FFF2-40B4-BE49-F238E27FC236}">
                <a16:creationId xmlns:a16="http://schemas.microsoft.com/office/drawing/2014/main" id="{86EFD525-699F-4175-9940-5B8F2C33FAB3}"/>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도시별 효과 차이 · 신호 변경 권한은 운영기관 소관</a:t>
            </a:r>
          </a:p>
        </p:txBody>
      </p:sp>
    </p:spTree>
    <p:extLst>
      <p:ext uri="{BB962C8B-B14F-4D97-AF65-F5344CB8AC3E}">
        <p14:creationId xmlns:p14="http://schemas.microsoft.com/office/powerpoint/2010/main" val="1070414741"/>
      </p:ext>
    </p:extLst>
  </p:cSld>
</p:sld>
</file>

<file path=ppt/slides/slide5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97EA380-5A75-4086-8FE6-B0F767722E5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AX11 / As-Is → To-Be → 기대효과 → 확인 결과</a:t>
            </a:r>
          </a:p>
        </p:txBody>
      </p:sp>
      <p:sp>
        <p:nvSpPr>
          <p:cNvPr id="2" name="">
            <a:extLst xmlns:a="http://schemas.openxmlformats.org/drawingml/2006/main">
              <a:ext uri="{FF2B5EF4-FFF2-40B4-BE49-F238E27FC236}">
                <a16:creationId xmlns:a16="http://schemas.microsoft.com/office/drawing/2014/main" id="{4B87CF89-23D2-4EAC-B684-B790A1BF0D2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Green Light · 기대와 결과</a:t>
            </a:r>
          </a:p>
        </p:txBody>
      </p:sp>
      <p:sp>
        <p:nvSpPr>
          <p:cNvPr id="3" name="">
            <a:extLst xmlns:a="http://schemas.openxmlformats.org/drawingml/2006/main">
              <a:ext uri="{FF2B5EF4-FFF2-40B4-BE49-F238E27FC236}">
                <a16:creationId xmlns:a16="http://schemas.microsoft.com/office/drawing/2014/main" id="{15533B89-0A4E-4812-B966-BC19F633DAF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61F815E-E4A6-4996-8DE2-31174357946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FDF312B3-7DA2-4BD6-B82D-71255DECE9C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59</a:t>
            </a:r>
          </a:p>
        </p:txBody>
      </p:sp>
      <p:sp>
        <p:nvSpPr>
          <p:cNvPr id="6" name="">
            <a:extLst xmlns:a="http://schemas.openxmlformats.org/drawingml/2006/main">
              <a:ext uri="{FF2B5EF4-FFF2-40B4-BE49-F238E27FC236}">
                <a16:creationId xmlns:a16="http://schemas.microsoft.com/office/drawing/2014/main" id="{1829D617-EFD9-40FD-8B82-7A746CB79AFA}"/>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3B3ACE39-AC34-4192-8415-FA09E2F79586}"/>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도시 신호 조정에 고비용 센서 설치·수작업 교통량 조사와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교차로별 분절 판단 필요</a:t>
            </a:r>
          </a:p>
        </p:txBody>
      </p:sp>
      <p:sp>
        <p:nvSpPr>
          <p:cNvPr id="8" name="">
            <a:extLst xmlns:a="http://schemas.openxmlformats.org/drawingml/2006/main">
              <a:ext uri="{FF2B5EF4-FFF2-40B4-BE49-F238E27FC236}">
                <a16:creationId xmlns:a16="http://schemas.microsoft.com/office/drawing/2014/main" id="{14CF6052-A195-4595-8BA2-7E39FC0F926C}"/>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D7A45C0A-B902-4389-8182-47F350CCED79}"/>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Maps 교통 추세로 신호 패턴을 분석하고 기술자가 검토·</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승인할 개선 권고 제공</a:t>
            </a:r>
          </a:p>
        </p:txBody>
      </p:sp>
      <p:sp>
        <p:nvSpPr>
          <p:cNvPr id="10" name="">
            <a:extLst xmlns:a="http://schemas.openxmlformats.org/drawingml/2006/main">
              <a:ext uri="{FF2B5EF4-FFF2-40B4-BE49-F238E27FC236}">
                <a16:creationId xmlns:a16="http://schemas.microsoft.com/office/drawing/2014/main" id="{EBC7296D-5823-4815-A60A-E1F7C3BD7D3C}"/>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6B408A05-54A7-463A-ABDF-BF51FCC1ADEB}"/>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불필요한 정지·대기와 연료 소비·배출 감소</a:t>
            </a:r>
          </a:p>
        </p:txBody>
      </p:sp>
      <p:sp>
        <p:nvSpPr>
          <p:cNvPr id="12" name="">
            <a:extLst xmlns:a="http://schemas.openxmlformats.org/drawingml/2006/main">
              <a:ext uri="{FF2B5EF4-FFF2-40B4-BE49-F238E27FC236}">
                <a16:creationId xmlns:a16="http://schemas.microsoft.com/office/drawing/2014/main" id="{B8CCFABD-CE89-4405-B8F0-552FE6163621}"/>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AAD3079A-C93E-4613-957F-1466F878733B}"/>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Google은 100개 이상 도시 적용 및 변경 후 영향 분석 제</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공을 공개; 정지 최대 30%, 온실가스 최대 10% 감소는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초기·잠재치로 설명</a:t>
            </a:r>
          </a:p>
        </p:txBody>
      </p:sp>
      <p:sp>
        <p:nvSpPr>
          <p:cNvPr id="14" name="">
            <a:extLst xmlns:a="http://schemas.openxmlformats.org/drawingml/2006/main">
              <a:ext uri="{FF2B5EF4-FFF2-40B4-BE49-F238E27FC236}">
                <a16:creationId xmlns:a16="http://schemas.microsoft.com/office/drawing/2014/main" id="{7342C0F6-DDAF-4213-9508-2AAF64748F51}"/>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부분 성과 · 도시 도입과 기술자 승인·사후 측정 절차는 확인; 모든 도시에서 동일 절감률의 독립 실측은 확인되지 않음</a:t>
            </a:r>
          </a:p>
        </p:txBody>
      </p:sp>
      <p:sp>
        <p:nvSpPr>
          <p:cNvPr id="15" name="">
            <a:extLst xmlns:a="http://schemas.openxmlformats.org/drawingml/2006/main">
              <a:ext uri="{FF2B5EF4-FFF2-40B4-BE49-F238E27FC236}">
                <a16:creationId xmlns:a16="http://schemas.microsoft.com/office/drawing/2014/main" id="{A4C34C54-29F0-4FEE-9FF4-E383CE5DE79B}"/>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개발기관 운영 소개 · 개발기관 발표. 도시별 조건과 신호 변경 주체가 다르며 최대·잠재치를 평균 실적처럼 표시 불가</a:t>
            </a:r>
          </a:p>
        </p:txBody>
      </p:sp>
    </p:spTree>
    <p:extLst>
      <p:ext uri="{BB962C8B-B14F-4D97-AF65-F5344CB8AC3E}">
        <p14:creationId xmlns:p14="http://schemas.microsoft.com/office/powerpoint/2010/main" val="619711900"/>
      </p:ext>
    </p:extLst>
  </p:cSld>
</p:sld>
</file>

<file path=ppt/slides/slide6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38" name="">
            <a:extLst xmlns:a="http://schemas.openxmlformats.org/drawingml/2006/main">
              <a:ext uri="{FF2B5EF4-FFF2-40B4-BE49-F238E27FC236}">
                <a16:creationId xmlns:a16="http://schemas.microsoft.com/office/drawing/2014/main" id="{3B6FD1D8-A1F0-4D79-89EF-8D1DD88DA04F}"/>
              </a:ext>
            </a:extLst>
          </p:cNvPr>
          <p:cNvCxnSpPr>
            <a:stCxn xmlns:a="http://schemas.openxmlformats.org/drawingml/2006/main" id="28" idx="0"/>
            <a:endCxn xmlns:a="http://schemas.openxmlformats.org/drawingml/2006/main" id="13" idx="2"/>
          </p:cNvCxnSpPr>
          <p:nvPr/>
        </p:nvCxnSpPr>
        <p:spPr>
          <a:xfrm xmlns:a="http://schemas.openxmlformats.org/drawingml/2006/main" flipV="1">
            <a:off x="10620375" y="2905125"/>
            <a:ext cx="0" cy="1371600"/>
          </a:xfrm>
          <a:prstGeom xmlns:a="http://schemas.openxmlformats.org/drawingml/2006/main" prst="straightConnector1">
            <a:avLst/>
          </a:prstGeom>
          <a:ln xmlns:a="http://schemas.openxmlformats.org/drawingml/2006/main" w="19050">
            <a:solidFill>
              <a:srgbClr val="697F86"/>
            </a:solidFill>
            <a:tailEnd type="arrow" w="med" len="med"/>
          </a:ln>
        </p:spPr>
      </p:cxnSp>
      <p:cxnSp>
        <p:nvCxnSpPr>
          <p:cNvPr id="37" name="">
            <a:extLst xmlns:a="http://schemas.openxmlformats.org/drawingml/2006/main">
              <a:ext uri="{FF2B5EF4-FFF2-40B4-BE49-F238E27FC236}">
                <a16:creationId xmlns:a16="http://schemas.microsoft.com/office/drawing/2014/main" id="{C3FF5EEC-0520-4F7E-90DA-57E5A5CAF058}"/>
              </a:ext>
            </a:extLst>
          </p:cNvPr>
          <p:cNvCxnSpPr>
            <a:stCxn xmlns:a="http://schemas.openxmlformats.org/drawingml/2006/main" id="25" idx="3"/>
            <a:endCxn xmlns:a="http://schemas.openxmlformats.org/drawingml/2006/main" id="28" idx="1"/>
          </p:cNvCxnSpPr>
          <p:nvPr/>
        </p:nvCxnSpPr>
        <p:spPr>
          <a:xfrm xmlns:a="http://schemas.openxmlformats.org/drawingml/2006/main">
            <a:off x="9358313" y="48291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6" name="">
            <a:extLst xmlns:a="http://schemas.openxmlformats.org/drawingml/2006/main">
              <a:ext uri="{FF2B5EF4-FFF2-40B4-BE49-F238E27FC236}">
                <a16:creationId xmlns:a16="http://schemas.microsoft.com/office/drawing/2014/main" id="{C5B328EA-07EF-405B-806A-DEA1ADDBF817}"/>
              </a:ext>
            </a:extLst>
          </p:cNvPr>
          <p:cNvCxnSpPr>
            <a:stCxn xmlns:a="http://schemas.openxmlformats.org/drawingml/2006/main" id="22" idx="3"/>
            <a:endCxn xmlns:a="http://schemas.openxmlformats.org/drawingml/2006/main" id="25" idx="1"/>
          </p:cNvCxnSpPr>
          <p:nvPr/>
        </p:nvCxnSpPr>
        <p:spPr>
          <a:xfrm xmlns:a="http://schemas.openxmlformats.org/drawingml/2006/main">
            <a:off x="7096125" y="48291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5" name="">
            <a:extLst xmlns:a="http://schemas.openxmlformats.org/drawingml/2006/main">
              <a:ext uri="{FF2B5EF4-FFF2-40B4-BE49-F238E27FC236}">
                <a16:creationId xmlns:a16="http://schemas.microsoft.com/office/drawing/2014/main" id="{04145C4B-09E9-4107-9B21-16EE900E6FA1}"/>
              </a:ext>
            </a:extLst>
          </p:cNvPr>
          <p:cNvCxnSpPr>
            <a:stCxn xmlns:a="http://schemas.openxmlformats.org/drawingml/2006/main" id="19" idx="3"/>
            <a:endCxn xmlns:a="http://schemas.openxmlformats.org/drawingml/2006/main" id="22" idx="1"/>
          </p:cNvCxnSpPr>
          <p:nvPr/>
        </p:nvCxnSpPr>
        <p:spPr>
          <a:xfrm xmlns:a="http://schemas.openxmlformats.org/drawingml/2006/main">
            <a:off x="4833938" y="4829175"/>
            <a:ext cx="261937"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4" name="">
            <a:extLst xmlns:a="http://schemas.openxmlformats.org/drawingml/2006/main">
              <a:ext uri="{FF2B5EF4-FFF2-40B4-BE49-F238E27FC236}">
                <a16:creationId xmlns:a16="http://schemas.microsoft.com/office/drawing/2014/main" id="{5DFE2054-42FC-46DE-99B4-67D66B0BEC07}"/>
              </a:ext>
            </a:extLst>
          </p:cNvPr>
          <p:cNvCxnSpPr>
            <a:stCxn xmlns:a="http://schemas.openxmlformats.org/drawingml/2006/main" id="16" idx="3"/>
            <a:endCxn xmlns:a="http://schemas.openxmlformats.org/drawingml/2006/main" id="19"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3" name="">
            <a:extLst xmlns:a="http://schemas.openxmlformats.org/drawingml/2006/main">
              <a:ext uri="{FF2B5EF4-FFF2-40B4-BE49-F238E27FC236}">
                <a16:creationId xmlns:a16="http://schemas.microsoft.com/office/drawing/2014/main" id="{8F525506-7BC8-4077-B338-0210E9D4B7D8}"/>
              </a:ext>
            </a:extLst>
          </p:cNvPr>
          <p:cNvCxnSpPr>
            <a:stCxn xmlns:a="http://schemas.openxmlformats.org/drawingml/2006/main" id="13" idx="1"/>
            <a:endCxn xmlns:a="http://schemas.openxmlformats.org/drawingml/2006/main" id="16" idx="3"/>
          </p:cNvCxnSpPr>
          <p:nvPr/>
        </p:nvCxnSpPr>
        <p:spPr>
          <a:xfrm xmlns:a="http://schemas.openxmlformats.org/drawingml/2006/main" flipH="1">
            <a:off x="2571750" y="2352675"/>
            <a:ext cx="7048500" cy="24765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2" name="">
            <a:extLst xmlns:a="http://schemas.openxmlformats.org/drawingml/2006/main">
              <a:ext uri="{FF2B5EF4-FFF2-40B4-BE49-F238E27FC236}">
                <a16:creationId xmlns:a16="http://schemas.microsoft.com/office/drawing/2014/main" id="{73398BB5-835C-454C-A146-FB9366E14D1C}"/>
              </a:ext>
            </a:extLst>
          </p:cNvPr>
          <p:cNvCxnSpPr>
            <a:stCxn xmlns:a="http://schemas.openxmlformats.org/drawingml/2006/main" id="10" idx="3"/>
            <a:endCxn xmlns:a="http://schemas.openxmlformats.org/drawingml/2006/main" id="13" idx="1"/>
          </p:cNvCxnSpPr>
          <p:nvPr/>
        </p:nvCxnSpPr>
        <p:spPr>
          <a:xfrm xmlns:a="http://schemas.openxmlformats.org/drawingml/2006/main">
            <a:off x="7096125" y="2352675"/>
            <a:ext cx="2524125"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1" name="">
            <a:extLst xmlns:a="http://schemas.openxmlformats.org/drawingml/2006/main">
              <a:ext uri="{FF2B5EF4-FFF2-40B4-BE49-F238E27FC236}">
                <a16:creationId xmlns:a16="http://schemas.microsoft.com/office/drawing/2014/main" id="{B5AE7B13-E5C9-4B67-934A-FC9D1A944E4F}"/>
              </a:ext>
            </a:extLst>
          </p:cNvPr>
          <p:cNvCxnSpPr>
            <a:stCxn xmlns:a="http://schemas.openxmlformats.org/drawingml/2006/main" id="7" idx="3"/>
            <a:endCxn xmlns:a="http://schemas.openxmlformats.org/drawingml/2006/main" id="13" idx="1"/>
          </p:cNvCxnSpPr>
          <p:nvPr/>
        </p:nvCxnSpPr>
        <p:spPr>
          <a:xfrm xmlns:a="http://schemas.openxmlformats.org/drawingml/2006/main">
            <a:off x="2571750" y="2352675"/>
            <a:ext cx="70485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0" name="">
            <a:extLst xmlns:a="http://schemas.openxmlformats.org/drawingml/2006/main">
              <a:ext uri="{FF2B5EF4-FFF2-40B4-BE49-F238E27FC236}">
                <a16:creationId xmlns:a16="http://schemas.microsoft.com/office/drawing/2014/main" id="{39BDC8DF-DF3C-49B1-9C7D-25CCEEEB3E4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AX11 / 복수 자료 결합·분석·검토·평가</a:t>
            </a:r>
          </a:p>
        </p:txBody>
      </p:sp>
      <p:sp>
        <p:nvSpPr>
          <p:cNvPr id="2" name="">
            <a:extLst xmlns:a="http://schemas.openxmlformats.org/drawingml/2006/main">
              <a:ext uri="{FF2B5EF4-FFF2-40B4-BE49-F238E27FC236}">
                <a16:creationId xmlns:a16="http://schemas.microsoft.com/office/drawing/2014/main" id="{62CD86AC-54AA-487F-B802-1092F59F978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Green Light · 세부 서비스 구조</a:t>
            </a:r>
          </a:p>
        </p:txBody>
      </p:sp>
      <p:sp>
        <p:nvSpPr>
          <p:cNvPr id="3" name="">
            <a:extLst xmlns:a="http://schemas.openxmlformats.org/drawingml/2006/main">
              <a:ext uri="{FF2B5EF4-FFF2-40B4-BE49-F238E27FC236}">
                <a16:creationId xmlns:a16="http://schemas.microsoft.com/office/drawing/2014/main" id="{45A956E3-56F7-46DF-BA8D-38D925E57B5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D5E737D-F2D3-4F25-91A5-EAA27FCD94D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D0877B95-2E08-4C56-AE78-5A659B5CE7F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60</a:t>
            </a:r>
          </a:p>
        </p:txBody>
      </p:sp>
      <p:sp>
        <p:nvSpPr>
          <p:cNvPr id="6" name="">
            <a:extLst xmlns:a="http://schemas.openxmlformats.org/drawingml/2006/main">
              <a:ext uri="{FF2B5EF4-FFF2-40B4-BE49-F238E27FC236}">
                <a16:creationId xmlns:a16="http://schemas.microsoft.com/office/drawing/2014/main" id="{D701A755-505C-42D8-AFB6-7A3632125FEF}"/>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교통 흐름 데이터 → AI 개선 권고 → 기술자 검토 → 신호 운영 반영</a:t>
            </a:r>
          </a:p>
        </p:txBody>
      </p:sp>
      <p:sp>
        <p:nvSpPr>
          <p:cNvPr id="7" name="">
            <a:extLst xmlns:a="http://schemas.openxmlformats.org/drawingml/2006/main">
              <a:ext uri="{FF2B5EF4-FFF2-40B4-BE49-F238E27FC236}">
                <a16:creationId xmlns:a16="http://schemas.microsoft.com/office/drawing/2014/main" id="{C2C3A1F6-7D71-41AE-A507-47CAA2DFB0FA}"/>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CA735200-7527-48F3-B687-8BB5C6EA8970}"/>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F57574A9-51D0-467E-85E3-29153EA30290}"/>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교통·신호 자료</a:t>
            </a:r>
          </a:p>
        </p:txBody>
      </p:sp>
      <p:sp>
        <p:nvSpPr>
          <p:cNvPr id="10" name="">
            <a:extLst xmlns:a="http://schemas.openxmlformats.org/drawingml/2006/main">
              <a:ext uri="{FF2B5EF4-FFF2-40B4-BE49-F238E27FC236}">
                <a16:creationId xmlns:a16="http://schemas.microsoft.com/office/drawing/2014/main" id="{4C6DE0EF-7DBF-442F-B4ED-83A927903C73}"/>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42C4183A-46FB-4A84-B310-734A7F65D25C}"/>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2" name="">
            <a:extLst xmlns:a="http://schemas.openxmlformats.org/drawingml/2006/main">
              <a:ext uri="{FF2B5EF4-FFF2-40B4-BE49-F238E27FC236}">
                <a16:creationId xmlns:a16="http://schemas.microsoft.com/office/drawing/2014/main" id="{AB105D15-5C91-427E-B3E6-C4C8AD44607C}"/>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교통 흐름 조회</a:t>
            </a:r>
          </a:p>
        </p:txBody>
      </p:sp>
      <p:sp>
        <p:nvSpPr>
          <p:cNvPr id="13" name="">
            <a:extLst xmlns:a="http://schemas.openxmlformats.org/drawingml/2006/main">
              <a:ext uri="{FF2B5EF4-FFF2-40B4-BE49-F238E27FC236}">
                <a16:creationId xmlns:a16="http://schemas.microsoft.com/office/drawing/2014/main" id="{BA47E982-19AD-45C9-A245-293DD3746FC1}"/>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AB4F99BD-CA9D-4EFE-A79B-AAA0F366FE60}"/>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5" name="">
            <a:extLst xmlns:a="http://schemas.openxmlformats.org/drawingml/2006/main">
              <a:ext uri="{FF2B5EF4-FFF2-40B4-BE49-F238E27FC236}">
                <a16:creationId xmlns:a16="http://schemas.microsoft.com/office/drawing/2014/main" id="{F44BED19-373B-4FAF-AD37-29B9319DA459}"/>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교차로 코드 정리</a:t>
            </a:r>
          </a:p>
        </p:txBody>
      </p:sp>
      <p:sp>
        <p:nvSpPr>
          <p:cNvPr id="16" name="">
            <a:extLst xmlns:a="http://schemas.openxmlformats.org/drawingml/2006/main">
              <a:ext uri="{FF2B5EF4-FFF2-40B4-BE49-F238E27FC236}">
                <a16:creationId xmlns:a16="http://schemas.microsoft.com/office/drawing/2014/main" id="{2A29BFA6-6DD6-427F-8D00-7046434ABDAB}"/>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715014A4-1B93-4305-B49F-6720C2205190}"/>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8" name="">
            <a:extLst xmlns:a="http://schemas.openxmlformats.org/drawingml/2006/main">
              <a:ext uri="{FF2B5EF4-FFF2-40B4-BE49-F238E27FC236}">
                <a16:creationId xmlns:a16="http://schemas.microsoft.com/office/drawing/2014/main" id="{96714E71-B74E-4A19-A120-17021E1390B4}"/>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신호 조정 후보</a:t>
            </a:r>
          </a:p>
        </p:txBody>
      </p:sp>
      <p:sp>
        <p:nvSpPr>
          <p:cNvPr id="19" name="">
            <a:extLst xmlns:a="http://schemas.openxmlformats.org/drawingml/2006/main">
              <a:ext uri="{FF2B5EF4-FFF2-40B4-BE49-F238E27FC236}">
                <a16:creationId xmlns:a16="http://schemas.microsoft.com/office/drawing/2014/main" id="{A44D7BCC-2308-4AC6-BA3E-48DF386E733D}"/>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97864FCD-0826-447D-BB3F-13EF6C2B584F}"/>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21" name="">
            <a:extLst xmlns:a="http://schemas.openxmlformats.org/drawingml/2006/main">
              <a:ext uri="{FF2B5EF4-FFF2-40B4-BE49-F238E27FC236}">
                <a16:creationId xmlns:a16="http://schemas.microsoft.com/office/drawing/2014/main" id="{0A291DDD-BFD3-4A51-980D-56AE7BE87C60}"/>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지역·안전 제약</a:t>
            </a:r>
          </a:p>
        </p:txBody>
      </p:sp>
      <p:sp>
        <p:nvSpPr>
          <p:cNvPr id="22" name="">
            <a:extLst xmlns:a="http://schemas.openxmlformats.org/drawingml/2006/main">
              <a:ext uri="{FF2B5EF4-FFF2-40B4-BE49-F238E27FC236}">
                <a16:creationId xmlns:a16="http://schemas.microsoft.com/office/drawing/2014/main" id="{CEC16E22-2515-4994-8A20-9E1A13EE4324}"/>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6966AEC0-A19C-46F1-9B8B-F35ED0A8BC20}"/>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4" name="">
            <a:extLst xmlns:a="http://schemas.openxmlformats.org/drawingml/2006/main">
              <a:ext uri="{FF2B5EF4-FFF2-40B4-BE49-F238E27FC236}">
                <a16:creationId xmlns:a16="http://schemas.microsoft.com/office/drawing/2014/main" id="{D3FA1010-6E99-482B-AF23-DCF7B58038B4}"/>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교통기술자 검토</a:t>
            </a:r>
          </a:p>
        </p:txBody>
      </p:sp>
      <p:sp>
        <p:nvSpPr>
          <p:cNvPr id="25" name="">
            <a:extLst xmlns:a="http://schemas.openxmlformats.org/drawingml/2006/main">
              <a:ext uri="{FF2B5EF4-FFF2-40B4-BE49-F238E27FC236}">
                <a16:creationId xmlns:a16="http://schemas.microsoft.com/office/drawing/2014/main" id="{7727295D-1E06-44C0-9B67-B68E46CBD040}"/>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579D7356-3F67-4BE6-A695-EFF91F75CF6A}"/>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7" name="">
            <a:extLst xmlns:a="http://schemas.openxmlformats.org/drawingml/2006/main">
              <a:ext uri="{FF2B5EF4-FFF2-40B4-BE49-F238E27FC236}">
                <a16:creationId xmlns:a16="http://schemas.microsoft.com/office/drawing/2014/main" id="{F59D605C-A92F-4D57-8981-D7E042C20CD1}"/>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신호계획 반영</a:t>
            </a:r>
          </a:p>
        </p:txBody>
      </p:sp>
      <p:sp>
        <p:nvSpPr>
          <p:cNvPr id="28" name="">
            <a:extLst xmlns:a="http://schemas.openxmlformats.org/drawingml/2006/main">
              <a:ext uri="{FF2B5EF4-FFF2-40B4-BE49-F238E27FC236}">
                <a16:creationId xmlns:a16="http://schemas.microsoft.com/office/drawing/2014/main" id="{4D8E2B95-F381-40DF-921B-BED25D5E4FC8}"/>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5EA67AC5-267D-484C-8C3C-FF85CF79DC85}"/>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0" name="">
            <a:extLst xmlns:a="http://schemas.openxmlformats.org/drawingml/2006/main">
              <a:ext uri="{FF2B5EF4-FFF2-40B4-BE49-F238E27FC236}">
                <a16:creationId xmlns:a16="http://schemas.microsoft.com/office/drawing/2014/main" id="{88CDA764-953C-462B-959D-4900AF5BF0AF}"/>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변경 전후 평가</a:t>
            </a:r>
          </a:p>
        </p:txBody>
      </p:sp>
      <p:sp>
        <p:nvSpPr>
          <p:cNvPr id="39" name="">
            <a:extLst xmlns:a="http://schemas.openxmlformats.org/drawingml/2006/main">
              <a:ext uri="{FF2B5EF4-FFF2-40B4-BE49-F238E27FC236}">
                <a16:creationId xmlns:a16="http://schemas.microsoft.com/office/drawing/2014/main" id="{2D06981B-3576-4D1B-8654-3767FDA3B13E}"/>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18022712"/>
      </p:ext>
    </p:extLst>
  </p:cSld>
</p:sld>
</file>

<file path=ppt/slides/slide6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ED3AF512-6D57-495F-A167-0419718034B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AX11 / 논리 인터페이스·복구 설계</a:t>
            </a:r>
          </a:p>
        </p:txBody>
      </p:sp>
      <p:sp>
        <p:nvSpPr>
          <p:cNvPr id="2" name="">
            <a:extLst xmlns:a="http://schemas.openxmlformats.org/drawingml/2006/main">
              <a:ext uri="{FF2B5EF4-FFF2-40B4-BE49-F238E27FC236}">
                <a16:creationId xmlns:a16="http://schemas.microsoft.com/office/drawing/2014/main" id="{05BB4867-295D-4A42-8571-E67BA3917D7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Green Light · 데이터와 예외 처리</a:t>
            </a:r>
          </a:p>
        </p:txBody>
      </p:sp>
      <p:sp>
        <p:nvSpPr>
          <p:cNvPr id="3" name="">
            <a:extLst xmlns:a="http://schemas.openxmlformats.org/drawingml/2006/main">
              <a:ext uri="{FF2B5EF4-FFF2-40B4-BE49-F238E27FC236}">
                <a16:creationId xmlns:a16="http://schemas.microsoft.com/office/drawing/2014/main" id="{28E638C8-D9BA-4E39-9F78-2020F88A3CC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DA95A30-9448-4C1A-9149-E55A95C4028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EA9DF27C-4AD7-4B4B-BA7E-3A17BA914FE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61</a:t>
            </a:r>
          </a:p>
        </p:txBody>
      </p:sp>
      <p:sp>
        <p:nvSpPr>
          <p:cNvPr id="6" name="">
            <a:extLst xmlns:a="http://schemas.openxmlformats.org/drawingml/2006/main">
              <a:ext uri="{FF2B5EF4-FFF2-40B4-BE49-F238E27FC236}">
                <a16:creationId xmlns:a16="http://schemas.microsoft.com/office/drawing/2014/main" id="{2FA3B366-19DF-4051-BA39-731484EAB7EB}"/>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30938954-D1EB-4D3B-8BA3-CFF68473F3A4}"/>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F077FB4B-575F-40C8-943A-4D463B5F8476}"/>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관측 자료</a:t>
            </a:r>
          </a:p>
        </p:txBody>
      </p:sp>
      <p:sp>
        <p:nvSpPr>
          <p:cNvPr id="9" name="">
            <a:extLst xmlns:a="http://schemas.openxmlformats.org/drawingml/2006/main">
              <a:ext uri="{FF2B5EF4-FFF2-40B4-BE49-F238E27FC236}">
                <a16:creationId xmlns:a16="http://schemas.microsoft.com/office/drawing/2014/main" id="{0B8204AE-668C-4906-BF49-7BDB5E57E1AB}"/>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교차로·교통 패턴</a:t>
            </a:r>
          </a:p>
        </p:txBody>
      </p:sp>
      <p:sp>
        <p:nvSpPr>
          <p:cNvPr id="10" name="">
            <a:extLst xmlns:a="http://schemas.openxmlformats.org/drawingml/2006/main">
              <a:ext uri="{FF2B5EF4-FFF2-40B4-BE49-F238E27FC236}">
                <a16:creationId xmlns:a16="http://schemas.microsoft.com/office/drawing/2014/main" id="{BA69C3E6-F9C2-481D-83C6-82A4093AD4C9}"/>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9E40E36-AA43-48F3-A992-8D05F6649B1E}"/>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비교 자료</a:t>
            </a:r>
          </a:p>
        </p:txBody>
      </p:sp>
      <p:sp>
        <p:nvSpPr>
          <p:cNvPr id="12" name="">
            <a:extLst xmlns:a="http://schemas.openxmlformats.org/drawingml/2006/main">
              <a:ext uri="{FF2B5EF4-FFF2-40B4-BE49-F238E27FC236}">
                <a16:creationId xmlns:a16="http://schemas.microsoft.com/office/drawing/2014/main" id="{02597909-0CCE-4066-ABB0-DDA025E41C75}"/>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정체 패턴</a:t>
            </a:r>
          </a:p>
        </p:txBody>
      </p:sp>
      <p:sp>
        <p:nvSpPr>
          <p:cNvPr id="13" name="">
            <a:extLst xmlns:a="http://schemas.openxmlformats.org/drawingml/2006/main">
              <a:ext uri="{FF2B5EF4-FFF2-40B4-BE49-F238E27FC236}">
                <a16:creationId xmlns:a16="http://schemas.microsoft.com/office/drawing/2014/main" id="{03B74BBA-3359-4CF7-A47C-38F7E7D85B25}"/>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97AAA30-2F57-41B8-A96E-342023B91CDB}"/>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정합화 특징</a:t>
            </a:r>
          </a:p>
        </p:txBody>
      </p:sp>
      <p:sp>
        <p:nvSpPr>
          <p:cNvPr id="15" name="">
            <a:extLst xmlns:a="http://schemas.openxmlformats.org/drawingml/2006/main">
              <a:ext uri="{FF2B5EF4-FFF2-40B4-BE49-F238E27FC236}">
                <a16:creationId xmlns:a16="http://schemas.microsoft.com/office/drawing/2014/main" id="{E61B1953-86D3-4BBB-8C02-2334D6380B52}"/>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6" name="">
            <a:extLst xmlns:a="http://schemas.openxmlformats.org/drawingml/2006/main">
              <a:ext uri="{FF2B5EF4-FFF2-40B4-BE49-F238E27FC236}">
                <a16:creationId xmlns:a16="http://schemas.microsoft.com/office/drawing/2014/main" id="{80FC1F32-ECF6-4138-AC3E-ED483C3860F2}"/>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79DE8F9-A6C9-4CAA-9BCB-147DC40449A8}"/>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예측·분류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결과</a:t>
            </a:r>
          </a:p>
        </p:txBody>
      </p:sp>
      <p:sp>
        <p:nvSpPr>
          <p:cNvPr id="18" name="">
            <a:extLst xmlns:a="http://schemas.openxmlformats.org/drawingml/2006/main">
              <a:ext uri="{FF2B5EF4-FFF2-40B4-BE49-F238E27FC236}">
                <a16:creationId xmlns:a16="http://schemas.microsoft.com/office/drawing/2014/main" id="{0D761765-3563-46D1-81DD-0DA0026AB897}"/>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신호 조정안</a:t>
            </a:r>
          </a:p>
        </p:txBody>
      </p:sp>
      <p:sp>
        <p:nvSpPr>
          <p:cNvPr id="19" name="">
            <a:extLst xmlns:a="http://schemas.openxmlformats.org/drawingml/2006/main">
              <a:ext uri="{FF2B5EF4-FFF2-40B4-BE49-F238E27FC236}">
                <a16:creationId xmlns:a16="http://schemas.microsoft.com/office/drawing/2014/main" id="{A8272E75-58E9-4591-A0AD-C17881BF5CF8}"/>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E9A202D6-5680-496F-9AED-E0D013CFCB8B}"/>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오차·편향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확인</a:t>
            </a:r>
          </a:p>
        </p:txBody>
      </p:sp>
      <p:sp>
        <p:nvSpPr>
          <p:cNvPr id="21" name="">
            <a:extLst xmlns:a="http://schemas.openxmlformats.org/drawingml/2006/main">
              <a:ext uri="{FF2B5EF4-FFF2-40B4-BE49-F238E27FC236}">
                <a16:creationId xmlns:a16="http://schemas.microsoft.com/office/drawing/2014/main" id="{B713629C-4BC1-4D29-81B5-D40445BA317D}"/>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신호 조정안</a:t>
            </a:r>
          </a:p>
        </p:txBody>
      </p:sp>
      <p:sp>
        <p:nvSpPr>
          <p:cNvPr id="22" name="">
            <a:extLst xmlns:a="http://schemas.openxmlformats.org/drawingml/2006/main">
              <a:ext uri="{FF2B5EF4-FFF2-40B4-BE49-F238E27FC236}">
                <a16:creationId xmlns:a16="http://schemas.microsoft.com/office/drawing/2014/main" id="{6F728147-7C70-46F2-8939-CE4F8817A2B4}"/>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82029A77-D85F-4E90-B387-A6DEB47651EE}"/>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적용 결과</a:t>
            </a:r>
          </a:p>
        </p:txBody>
      </p:sp>
      <p:sp>
        <p:nvSpPr>
          <p:cNvPr id="24" name="">
            <a:extLst xmlns:a="http://schemas.openxmlformats.org/drawingml/2006/main">
              <a:ext uri="{FF2B5EF4-FFF2-40B4-BE49-F238E27FC236}">
                <a16:creationId xmlns:a16="http://schemas.microsoft.com/office/drawing/2014/main" id="{72AA627F-2D71-4BE8-9F8F-4F7D8D4FF240}"/>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기술자 적용 결과</a:t>
            </a:r>
          </a:p>
        </p:txBody>
      </p:sp>
      <p:sp>
        <p:nvSpPr>
          <p:cNvPr id="25" name="">
            <a:extLst xmlns:a="http://schemas.openxmlformats.org/drawingml/2006/main">
              <a:ext uri="{FF2B5EF4-FFF2-40B4-BE49-F238E27FC236}">
                <a16:creationId xmlns:a16="http://schemas.microsoft.com/office/drawing/2014/main" id="{740B196F-194A-41D2-80DA-D46391C66D4C}"/>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FBD7B246-F9B8-4BF3-9E5B-4D9C7AFD5A8E}"/>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보행시간 부족·인접 교차로 정체·특수 행사일</a:t>
            </a:r>
          </a:p>
        </p:txBody>
      </p:sp>
      <p:sp>
        <p:nvSpPr>
          <p:cNvPr id="27" name="">
            <a:extLst xmlns:a="http://schemas.openxmlformats.org/drawingml/2006/main">
              <a:ext uri="{FF2B5EF4-FFF2-40B4-BE49-F238E27FC236}">
                <a16:creationId xmlns:a16="http://schemas.microsoft.com/office/drawing/2014/main" id="{E66B97AE-D6CA-422E-B7F3-94CD058F9FC1}"/>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3E86CF10-A927-40F0-AAFA-20CD1B70FE7C}"/>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지역 제약·안전 조건 검토</a:t>
            </a:r>
          </a:p>
        </p:txBody>
      </p:sp>
      <p:sp>
        <p:nvSpPr>
          <p:cNvPr id="29" name="">
            <a:extLst xmlns:a="http://schemas.openxmlformats.org/drawingml/2006/main">
              <a:ext uri="{FF2B5EF4-FFF2-40B4-BE49-F238E27FC236}">
                <a16:creationId xmlns:a16="http://schemas.microsoft.com/office/drawing/2014/main" id="{9D79D7DA-4B54-4270-9C3D-B3FD58D46A77}"/>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DF934DA1-B152-437E-BB7E-FA315D8A98CF}"/>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변경 전후 교통지표와 안전 제약의 병행 평가</a:t>
            </a:r>
          </a:p>
        </p:txBody>
      </p:sp>
      <p:sp>
        <p:nvSpPr>
          <p:cNvPr id="31" name="">
            <a:extLst xmlns:a="http://schemas.openxmlformats.org/drawingml/2006/main">
              <a:ext uri="{FF2B5EF4-FFF2-40B4-BE49-F238E27FC236}">
                <a16:creationId xmlns:a16="http://schemas.microsoft.com/office/drawing/2014/main" id="{75E03D75-FA9D-4DEB-BD68-288764A64C39}"/>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FEEEF5FA-2BFB-49EE-9C1D-398D83957C4B}"/>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변경 전후 지표와 보행·안전 제약 확인 기록</a:t>
            </a:r>
          </a:p>
        </p:txBody>
      </p:sp>
    </p:spTree>
    <p:extLst>
      <p:ext uri="{BB962C8B-B14F-4D97-AF65-F5344CB8AC3E}">
        <p14:creationId xmlns:p14="http://schemas.microsoft.com/office/powerpoint/2010/main" val="489024125"/>
      </p:ext>
    </p:extLst>
  </p:cSld>
</p:sld>
</file>

<file path=ppt/slides/slide6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BEA23A8-1CB0-489B-8145-E1215940D75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AX11 / CCK 비교·재현 시험 설계</a:t>
            </a:r>
          </a:p>
        </p:txBody>
      </p:sp>
      <p:sp>
        <p:nvSpPr>
          <p:cNvPr id="2" name="">
            <a:extLst xmlns:a="http://schemas.openxmlformats.org/drawingml/2006/main">
              <a:ext uri="{FF2B5EF4-FFF2-40B4-BE49-F238E27FC236}">
                <a16:creationId xmlns:a16="http://schemas.microsoft.com/office/drawing/2014/main" id="{4AF1C661-B7C7-46FA-A9D0-B7A536D68E6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Green Light · 벤치마킹</a:t>
            </a:r>
          </a:p>
        </p:txBody>
      </p:sp>
      <p:sp>
        <p:nvSpPr>
          <p:cNvPr id="3" name="">
            <a:extLst xmlns:a="http://schemas.openxmlformats.org/drawingml/2006/main">
              <a:ext uri="{FF2B5EF4-FFF2-40B4-BE49-F238E27FC236}">
                <a16:creationId xmlns:a16="http://schemas.microsoft.com/office/drawing/2014/main" id="{596A69C2-8A0E-4E90-8623-1204F7F68A3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5B13644-5B21-49DE-AB77-82FD9332F8B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A5FD4CE-5284-4892-9D4B-17D3F0E8D20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62</a:t>
            </a:r>
          </a:p>
        </p:txBody>
      </p:sp>
      <p:sp>
        <p:nvSpPr>
          <p:cNvPr id="6" name="">
            <a:extLst xmlns:a="http://schemas.openxmlformats.org/drawingml/2006/main">
              <a:ext uri="{FF2B5EF4-FFF2-40B4-BE49-F238E27FC236}">
                <a16:creationId xmlns:a16="http://schemas.microsoft.com/office/drawing/2014/main" id="{A69E9068-B00D-49B9-A8B8-DC0C8B9CF788}"/>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8517502E-AE01-4DF4-BD39-DCDF09A9729B}"/>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기존 신호 운영에 개선 권고 제공</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도시 기술자의 검토 후 반영</a:t>
            </a:r>
          </a:p>
        </p:txBody>
      </p:sp>
      <p:sp>
        <p:nvSpPr>
          <p:cNvPr id="8" name="">
            <a:extLst xmlns:a="http://schemas.openxmlformats.org/drawingml/2006/main">
              <a:ext uri="{FF2B5EF4-FFF2-40B4-BE49-F238E27FC236}">
                <a16:creationId xmlns:a16="http://schemas.microsoft.com/office/drawing/2014/main" id="{66938989-A060-418B-B3EC-E3D6023A1BFD}"/>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D87561E6-21D3-434A-BE4D-DB895499F58B}"/>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관측 교차로 외 일반화 위험</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보행자·긴급차량 조건 누락 가능성</a:t>
            </a:r>
          </a:p>
        </p:txBody>
      </p:sp>
      <p:sp>
        <p:nvSpPr>
          <p:cNvPr id="10" name="">
            <a:extLst xmlns:a="http://schemas.openxmlformats.org/drawingml/2006/main">
              <a:ext uri="{FF2B5EF4-FFF2-40B4-BE49-F238E27FC236}">
                <a16:creationId xmlns:a16="http://schemas.microsoft.com/office/drawing/2014/main" id="{70307D98-FACA-4D70-8935-5F62D08EEED6}"/>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288FEEAA-74D4-49A2-B381-ACF97E451E3F}"/>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지역 제약·안전 조건 검토</a:t>
            </a:r>
          </a:p>
        </p:txBody>
      </p:sp>
      <p:sp>
        <p:nvSpPr>
          <p:cNvPr id="12" name="">
            <a:extLst xmlns:a="http://schemas.openxmlformats.org/drawingml/2006/main">
              <a:ext uri="{FF2B5EF4-FFF2-40B4-BE49-F238E27FC236}">
                <a16:creationId xmlns:a16="http://schemas.microsoft.com/office/drawing/2014/main" id="{8D2DD315-AE9C-49DC-9AF3-717F6C473CE2}"/>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28EBD510-971C-4A19-B431-4CC62A1B9EE7}"/>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교차로의 신호 조정 후보를 기술자가 현장 조건과 </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대조</a:t>
            </a:r>
          </a:p>
        </p:txBody>
      </p:sp>
      <p:sp>
        <p:nvSpPr>
          <p:cNvPr id="14" name="">
            <a:extLst xmlns:a="http://schemas.openxmlformats.org/drawingml/2006/main">
              <a:ext uri="{FF2B5EF4-FFF2-40B4-BE49-F238E27FC236}">
                <a16:creationId xmlns:a16="http://schemas.microsoft.com/office/drawing/2014/main" id="{87075BAB-69D3-4D22-A4B8-266762A697EE}"/>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D59D12EF-612F-46B7-B63A-3B63BE6C9F56}"/>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보행시간 부족·인접 교차로 정체·특수 행사일</a:t>
            </a:r>
          </a:p>
        </p:txBody>
      </p:sp>
      <p:sp>
        <p:nvSpPr>
          <p:cNvPr id="16" name="">
            <a:extLst xmlns:a="http://schemas.openxmlformats.org/drawingml/2006/main">
              <a:ext uri="{FF2B5EF4-FFF2-40B4-BE49-F238E27FC236}">
                <a16:creationId xmlns:a16="http://schemas.microsoft.com/office/drawing/2014/main" id="{A86BB811-A37B-4927-982F-7A4265EC97C6}"/>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800FFDC0-D0EC-48B2-B6C5-90AC462821AF}"/>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변경 전후 지표와 보행·안전 제약 확인 기록</a:t>
            </a:r>
          </a:p>
        </p:txBody>
      </p:sp>
    </p:spTree>
    <p:extLst>
      <p:ext uri="{BB962C8B-B14F-4D97-AF65-F5344CB8AC3E}">
        <p14:creationId xmlns:p14="http://schemas.microsoft.com/office/powerpoint/2010/main" val="1416929436"/>
      </p:ext>
    </p:extLst>
  </p:cSld>
</p:sld>
</file>

<file path=ppt/slides/slide6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4792F1A-983B-45E4-B1C0-179CB3BD8B0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AX12 / 부분 성과 / 해외</a:t>
            </a:r>
          </a:p>
        </p:txBody>
      </p:sp>
      <p:sp>
        <p:nvSpPr>
          <p:cNvPr id="2" name="">
            <a:extLst xmlns:a="http://schemas.openxmlformats.org/drawingml/2006/main">
              <a:ext uri="{FF2B5EF4-FFF2-40B4-BE49-F238E27FC236}">
                <a16:creationId xmlns:a16="http://schemas.microsoft.com/office/drawing/2014/main" id="{0093AF1B-0FAD-451B-AA50-B7E1DCE9E4E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홍수 예측</a:t>
            </a:r>
          </a:p>
        </p:txBody>
      </p:sp>
      <p:sp>
        <p:nvSpPr>
          <p:cNvPr id="3" name="">
            <a:extLst xmlns:a="http://schemas.openxmlformats.org/drawingml/2006/main">
              <a:ext uri="{FF2B5EF4-FFF2-40B4-BE49-F238E27FC236}">
                <a16:creationId xmlns:a16="http://schemas.microsoft.com/office/drawing/2014/main" id="{F71E799B-BF37-4A44-8079-B71F754B62F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418CEB7-A8D8-49DA-9F6F-7D5ED6ABFFE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BD9450D-91F6-46B0-836A-11AB2440685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63</a:t>
            </a:r>
          </a:p>
        </p:txBody>
      </p:sp>
      <p:sp>
        <p:nvSpPr>
          <p:cNvPr id="6" name="">
            <a:extLst xmlns:a="http://schemas.openxmlformats.org/drawingml/2006/main">
              <a:ext uri="{FF2B5EF4-FFF2-40B4-BE49-F238E27FC236}">
                <a16:creationId xmlns:a16="http://schemas.microsoft.com/office/drawing/2014/main" id="{05CA44E4-B97E-4A7C-990E-8A356FF2DD03}"/>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932806F1-1344-4CD9-8B3E-6F3689297713}"/>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관측 자료가 부족한 지역까지 홍수 예측 정보를 제공하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려는 사례. 예측 모델의 지역 일반화와 주민·대응기관의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실제 행동을 연결하는 단계가 별도 과제.</a:t>
            </a:r>
          </a:p>
        </p:txBody>
      </p:sp>
      <p:sp>
        <p:nvSpPr>
          <p:cNvPr id="8" name="">
            <a:extLst xmlns:a="http://schemas.openxmlformats.org/drawingml/2006/main">
              <a:ext uri="{FF2B5EF4-FFF2-40B4-BE49-F238E27FC236}">
                <a16:creationId xmlns:a16="http://schemas.microsoft.com/office/drawing/2014/main" id="{221658B8-6EF8-477B-88C4-8AD7BCEFB0AA}"/>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E0583091-8AAB-43D3-8491-5E165B363EB8}"/>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유역 특성·강수·유량을 시간·공간 단위로 정합화하고 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험 지역·예상 시점을 산출하는 구조. TS 적용 설계에서</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는 기상·재난 위험을 교통시설·운행 업무와 연결해 담당</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자의 대응 검토를 지원.</a:t>
            </a:r>
          </a:p>
        </p:txBody>
      </p:sp>
      <p:sp>
        <p:nvSpPr>
          <p:cNvPr id="10" name="">
            <a:extLst xmlns:a="http://schemas.openxmlformats.org/drawingml/2006/main">
              <a:ext uri="{FF2B5EF4-FFF2-40B4-BE49-F238E27FC236}">
                <a16:creationId xmlns:a16="http://schemas.microsoft.com/office/drawing/2014/main" id="{35DA34B9-205C-4066-80FF-324646B77FD7}"/>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EA009BC6-7FBD-4984-BE54-8DE94416A4F0}"/>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예측 정확도와 사고 예방 효과의 분리. 지역별 미탐·과경</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보·선행시간, 경보 수신과 조치 완료를 함께 평가하며 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측 부족 구간의 불확실성을 보존할 필요.</a:t>
            </a:r>
          </a:p>
        </p:txBody>
      </p:sp>
      <p:sp>
        <p:nvSpPr>
          <p:cNvPr id="12" name="">
            <a:extLst xmlns:a="http://schemas.openxmlformats.org/drawingml/2006/main">
              <a:ext uri="{FF2B5EF4-FFF2-40B4-BE49-F238E27FC236}">
                <a16:creationId xmlns:a16="http://schemas.microsoft.com/office/drawing/2014/main" id="{09FB7335-E433-448F-AA06-D9DCC09D0347}"/>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7F3C35FA-30D5-42D3-B0B0-70EA824C2841}"/>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시설·위험 등급·대응 절차·조치기한 매핑</a:t>
            </a:r>
          </a:p>
        </p:txBody>
      </p:sp>
      <p:sp>
        <p:nvSpPr>
          <p:cNvPr id="14" name="">
            <a:extLst xmlns:a="http://schemas.openxmlformats.org/drawingml/2006/main">
              <a:ext uri="{FF2B5EF4-FFF2-40B4-BE49-F238E27FC236}">
                <a16:creationId xmlns:a16="http://schemas.microsoft.com/office/drawing/2014/main" id="{A1F048FF-35BF-43A3-996A-6474C16DF937}"/>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CFAEA224-EA0A-4650-B6FA-3F527BA6A641}"/>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지역·계절 분리 평가와 오경보·미탐 점검</a:t>
            </a:r>
          </a:p>
        </p:txBody>
      </p:sp>
      <p:sp>
        <p:nvSpPr>
          <p:cNvPr id="16" name="">
            <a:extLst xmlns:a="http://schemas.openxmlformats.org/drawingml/2006/main">
              <a:ext uri="{FF2B5EF4-FFF2-40B4-BE49-F238E27FC236}">
                <a16:creationId xmlns:a16="http://schemas.microsoft.com/office/drawing/2014/main" id="{729C4938-77BA-4164-A8C4-5EF103CDF8D5}"/>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4AC11724-BF8A-497D-9EC7-5A178C85967A}"/>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경보 선행시간 / 미조치 건수</a:t>
            </a:r>
          </a:p>
        </p:txBody>
      </p:sp>
      <p:sp>
        <p:nvSpPr>
          <p:cNvPr id="18" name="">
            <a:extLst xmlns:a="http://schemas.openxmlformats.org/drawingml/2006/main">
              <a:ext uri="{FF2B5EF4-FFF2-40B4-BE49-F238E27FC236}">
                <a16:creationId xmlns:a16="http://schemas.microsoft.com/office/drawing/2014/main" id="{456D9263-2B83-49BE-A8AF-4EC238269630}"/>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논문의 하천 홍수 평가 범위 · 모든 재난 예측 성능으로 확대 불가</a:t>
            </a:r>
          </a:p>
        </p:txBody>
      </p:sp>
    </p:spTree>
    <p:extLst>
      <p:ext uri="{BB962C8B-B14F-4D97-AF65-F5344CB8AC3E}">
        <p14:creationId xmlns:p14="http://schemas.microsoft.com/office/powerpoint/2010/main" val="211377291"/>
      </p:ext>
    </p:extLst>
  </p:cSld>
</p:sld>
</file>

<file path=ppt/slides/slide6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F0BBAEE-52D1-43A7-A330-7B8EF155EE7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AX12 / As-Is → To-Be → 기대효과 → 확인 결과</a:t>
            </a:r>
          </a:p>
        </p:txBody>
      </p:sp>
      <p:sp>
        <p:nvSpPr>
          <p:cNvPr id="2" name="">
            <a:extLst xmlns:a="http://schemas.openxmlformats.org/drawingml/2006/main">
              <a:ext uri="{FF2B5EF4-FFF2-40B4-BE49-F238E27FC236}">
                <a16:creationId xmlns:a16="http://schemas.microsoft.com/office/drawing/2014/main" id="{F049AD5D-A44D-4196-8380-E192FA0AD4A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홍수 예측 · 기대와 결과</a:t>
            </a:r>
          </a:p>
        </p:txBody>
      </p:sp>
      <p:sp>
        <p:nvSpPr>
          <p:cNvPr id="3" name="">
            <a:extLst xmlns:a="http://schemas.openxmlformats.org/drawingml/2006/main">
              <a:ext uri="{FF2B5EF4-FFF2-40B4-BE49-F238E27FC236}">
                <a16:creationId xmlns:a16="http://schemas.microsoft.com/office/drawing/2014/main" id="{68B65FFF-51BD-4859-B0A8-CEAAB6D3182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53DF4D4-94CE-4542-B14D-EF1764BEB8D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B5036055-C427-483A-9560-475629110DB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64</a:t>
            </a:r>
          </a:p>
        </p:txBody>
      </p:sp>
      <p:sp>
        <p:nvSpPr>
          <p:cNvPr id="6" name="">
            <a:extLst xmlns:a="http://schemas.openxmlformats.org/drawingml/2006/main">
              <a:ext uri="{FF2B5EF4-FFF2-40B4-BE49-F238E27FC236}">
                <a16:creationId xmlns:a16="http://schemas.microsoft.com/office/drawing/2014/main" id="{2D1550A9-C3E1-4659-831A-509E2AB4A9BB}"/>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7266A0CE-3B22-4CFF-8E75-FF17EDCFDDC9}"/>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관측소가 부족한 하천에서 기존 수문 예측 모델의 적용·경</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보 도달 범위 제한</a:t>
            </a:r>
          </a:p>
        </p:txBody>
      </p:sp>
      <p:sp>
        <p:nvSpPr>
          <p:cNvPr id="8" name="">
            <a:extLst xmlns:a="http://schemas.openxmlformats.org/drawingml/2006/main">
              <a:ext uri="{FF2B5EF4-FFF2-40B4-BE49-F238E27FC236}">
                <a16:creationId xmlns:a16="http://schemas.microsoft.com/office/drawing/2014/main" id="{21E85297-ACB6-4DDD-9399-53EF7822695C}"/>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68F5513F-B76C-4C9C-BA8D-60930E9D18AB}"/>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관측·기상 정보를 학습한 AI 예측을 미관측 하천에도 확장</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해 조기 홍수 경보</a:t>
            </a:r>
          </a:p>
        </p:txBody>
      </p:sp>
      <p:sp>
        <p:nvSpPr>
          <p:cNvPr id="10" name="">
            <a:extLst xmlns:a="http://schemas.openxmlformats.org/drawingml/2006/main">
              <a:ext uri="{FF2B5EF4-FFF2-40B4-BE49-F238E27FC236}">
                <a16:creationId xmlns:a16="http://schemas.microsoft.com/office/drawing/2014/main" id="{1E56AF39-00A1-459C-89CB-5014C87117EF}"/>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6C025BEF-2353-444C-AE1B-50914E53932E}"/>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예보 선행시간·공간 범위 확대와 현장 대비 지원</a:t>
            </a:r>
          </a:p>
        </p:txBody>
      </p:sp>
      <p:sp>
        <p:nvSpPr>
          <p:cNvPr id="12" name="">
            <a:extLst xmlns:a="http://schemas.openxmlformats.org/drawingml/2006/main">
              <a:ext uri="{FF2B5EF4-FFF2-40B4-BE49-F238E27FC236}">
                <a16:creationId xmlns:a16="http://schemas.microsoft.com/office/drawing/2014/main" id="{931521A5-A71C-42BA-A804-5D540EC61290}"/>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85C2F194-EED5-4B89-A840-BEFE3F675F74}"/>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Google 연구 논문이 미관측 하천 비교 평가와 글로벌 예</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보 서비스 확장을 보고</a:t>
            </a:r>
          </a:p>
        </p:txBody>
      </p:sp>
      <p:sp>
        <p:nvSpPr>
          <p:cNvPr id="14" name="">
            <a:extLst xmlns:a="http://schemas.openxmlformats.org/drawingml/2006/main">
              <a:ext uri="{FF2B5EF4-FFF2-40B4-BE49-F238E27FC236}">
                <a16:creationId xmlns:a16="http://schemas.microsoft.com/office/drawing/2014/main" id="{E96FA29F-713E-46B3-A852-DB8E3D7D5082}"/>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부분 성과 · 논문 범위의 예측 비교 성능과 제공 확대는 확인; 실제 피해 감소의 인과효과는 별도</a:t>
            </a:r>
          </a:p>
        </p:txBody>
      </p:sp>
      <p:sp>
        <p:nvSpPr>
          <p:cNvPr id="15" name="">
            <a:extLst xmlns:a="http://schemas.openxmlformats.org/drawingml/2006/main">
              <a:ext uri="{FF2B5EF4-FFF2-40B4-BE49-F238E27FC236}">
                <a16:creationId xmlns:a16="http://schemas.microsoft.com/office/drawing/2014/main" id="{819D85A0-BAAD-4A95-B26E-67D34FAFC88C}"/>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동료심사 연구·서비스 적용 소개 · 하천 홍수 예측 연구·운영 범위. 모든 재난 또는 TS 시설 위험 예측 성능으로 확대 불가</a:t>
            </a:r>
          </a:p>
        </p:txBody>
      </p:sp>
    </p:spTree>
    <p:extLst>
      <p:ext uri="{BB962C8B-B14F-4D97-AF65-F5344CB8AC3E}">
        <p14:creationId xmlns:p14="http://schemas.microsoft.com/office/powerpoint/2010/main" val="1933997142"/>
      </p:ext>
    </p:extLst>
  </p:cSld>
</p:sld>
</file>

<file path=ppt/slides/slide6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38" name="">
            <a:extLst xmlns:a="http://schemas.openxmlformats.org/drawingml/2006/main">
              <a:ext uri="{FF2B5EF4-FFF2-40B4-BE49-F238E27FC236}">
                <a16:creationId xmlns:a16="http://schemas.microsoft.com/office/drawing/2014/main" id="{72429EB6-9572-4960-97D4-60E92F05944E}"/>
              </a:ext>
            </a:extLst>
          </p:cNvPr>
          <p:cNvCxnSpPr>
            <a:stCxn xmlns:a="http://schemas.openxmlformats.org/drawingml/2006/main" id="28" idx="0"/>
            <a:endCxn xmlns:a="http://schemas.openxmlformats.org/drawingml/2006/main" id="13" idx="2"/>
          </p:cNvCxnSpPr>
          <p:nvPr/>
        </p:nvCxnSpPr>
        <p:spPr>
          <a:xfrm xmlns:a="http://schemas.openxmlformats.org/drawingml/2006/main" flipV="1">
            <a:off x="10620375" y="2905125"/>
            <a:ext cx="0" cy="1371600"/>
          </a:xfrm>
          <a:prstGeom xmlns:a="http://schemas.openxmlformats.org/drawingml/2006/main" prst="straightConnector1">
            <a:avLst/>
          </a:prstGeom>
          <a:ln xmlns:a="http://schemas.openxmlformats.org/drawingml/2006/main" w="19050">
            <a:solidFill>
              <a:srgbClr val="697F86"/>
            </a:solidFill>
            <a:tailEnd type="arrow" w="med" len="med"/>
          </a:ln>
        </p:spPr>
      </p:cxnSp>
      <p:cxnSp>
        <p:nvCxnSpPr>
          <p:cNvPr id="37" name="">
            <a:extLst xmlns:a="http://schemas.openxmlformats.org/drawingml/2006/main">
              <a:ext uri="{FF2B5EF4-FFF2-40B4-BE49-F238E27FC236}">
                <a16:creationId xmlns:a16="http://schemas.microsoft.com/office/drawing/2014/main" id="{3246BF7C-8A0D-4C67-8F22-E6B01DF3C219}"/>
              </a:ext>
            </a:extLst>
          </p:cNvPr>
          <p:cNvCxnSpPr>
            <a:stCxn xmlns:a="http://schemas.openxmlformats.org/drawingml/2006/main" id="25" idx="3"/>
            <a:endCxn xmlns:a="http://schemas.openxmlformats.org/drawingml/2006/main" id="28" idx="1"/>
          </p:cNvCxnSpPr>
          <p:nvPr/>
        </p:nvCxnSpPr>
        <p:spPr>
          <a:xfrm xmlns:a="http://schemas.openxmlformats.org/drawingml/2006/main">
            <a:off x="9358313" y="48291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6" name="">
            <a:extLst xmlns:a="http://schemas.openxmlformats.org/drawingml/2006/main">
              <a:ext uri="{FF2B5EF4-FFF2-40B4-BE49-F238E27FC236}">
                <a16:creationId xmlns:a16="http://schemas.microsoft.com/office/drawing/2014/main" id="{7B83FF72-8FE6-406A-973E-1D2B3A3CAB06}"/>
              </a:ext>
            </a:extLst>
          </p:cNvPr>
          <p:cNvCxnSpPr>
            <a:stCxn xmlns:a="http://schemas.openxmlformats.org/drawingml/2006/main" id="22" idx="3"/>
            <a:endCxn xmlns:a="http://schemas.openxmlformats.org/drawingml/2006/main" id="25" idx="1"/>
          </p:cNvCxnSpPr>
          <p:nvPr/>
        </p:nvCxnSpPr>
        <p:spPr>
          <a:xfrm xmlns:a="http://schemas.openxmlformats.org/drawingml/2006/main">
            <a:off x="7096125" y="48291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5" name="">
            <a:extLst xmlns:a="http://schemas.openxmlformats.org/drawingml/2006/main">
              <a:ext uri="{FF2B5EF4-FFF2-40B4-BE49-F238E27FC236}">
                <a16:creationId xmlns:a16="http://schemas.microsoft.com/office/drawing/2014/main" id="{FDC9429E-AAB2-45C7-904A-080D011A54FA}"/>
              </a:ext>
            </a:extLst>
          </p:cNvPr>
          <p:cNvCxnSpPr>
            <a:stCxn xmlns:a="http://schemas.openxmlformats.org/drawingml/2006/main" id="19" idx="3"/>
            <a:endCxn xmlns:a="http://schemas.openxmlformats.org/drawingml/2006/main" id="22" idx="1"/>
          </p:cNvCxnSpPr>
          <p:nvPr/>
        </p:nvCxnSpPr>
        <p:spPr>
          <a:xfrm xmlns:a="http://schemas.openxmlformats.org/drawingml/2006/main">
            <a:off x="4833938" y="4829175"/>
            <a:ext cx="261937"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4" name="">
            <a:extLst xmlns:a="http://schemas.openxmlformats.org/drawingml/2006/main">
              <a:ext uri="{FF2B5EF4-FFF2-40B4-BE49-F238E27FC236}">
                <a16:creationId xmlns:a16="http://schemas.microsoft.com/office/drawing/2014/main" id="{993D16C6-B0D5-4C79-B48B-FE0DC7C3712C}"/>
              </a:ext>
            </a:extLst>
          </p:cNvPr>
          <p:cNvCxnSpPr>
            <a:stCxn xmlns:a="http://schemas.openxmlformats.org/drawingml/2006/main" id="16" idx="3"/>
            <a:endCxn xmlns:a="http://schemas.openxmlformats.org/drawingml/2006/main" id="19"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3" name="">
            <a:extLst xmlns:a="http://schemas.openxmlformats.org/drawingml/2006/main">
              <a:ext uri="{FF2B5EF4-FFF2-40B4-BE49-F238E27FC236}">
                <a16:creationId xmlns:a16="http://schemas.microsoft.com/office/drawing/2014/main" id="{2F58D96C-B708-4B23-AC07-E67AC4B24CCD}"/>
              </a:ext>
            </a:extLst>
          </p:cNvPr>
          <p:cNvCxnSpPr>
            <a:stCxn xmlns:a="http://schemas.openxmlformats.org/drawingml/2006/main" id="13" idx="1"/>
            <a:endCxn xmlns:a="http://schemas.openxmlformats.org/drawingml/2006/main" id="16" idx="3"/>
          </p:cNvCxnSpPr>
          <p:nvPr/>
        </p:nvCxnSpPr>
        <p:spPr>
          <a:xfrm xmlns:a="http://schemas.openxmlformats.org/drawingml/2006/main" flipH="1">
            <a:off x="2571750" y="2352675"/>
            <a:ext cx="7048500" cy="24765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2" name="">
            <a:extLst xmlns:a="http://schemas.openxmlformats.org/drawingml/2006/main">
              <a:ext uri="{FF2B5EF4-FFF2-40B4-BE49-F238E27FC236}">
                <a16:creationId xmlns:a16="http://schemas.microsoft.com/office/drawing/2014/main" id="{E6AC8B7A-B93F-440A-89EA-37F74DD89511}"/>
              </a:ext>
            </a:extLst>
          </p:cNvPr>
          <p:cNvCxnSpPr>
            <a:stCxn xmlns:a="http://schemas.openxmlformats.org/drawingml/2006/main" id="10" idx="3"/>
            <a:endCxn xmlns:a="http://schemas.openxmlformats.org/drawingml/2006/main" id="13" idx="1"/>
          </p:cNvCxnSpPr>
          <p:nvPr/>
        </p:nvCxnSpPr>
        <p:spPr>
          <a:xfrm xmlns:a="http://schemas.openxmlformats.org/drawingml/2006/main">
            <a:off x="7096125" y="2352675"/>
            <a:ext cx="2524125"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1" name="">
            <a:extLst xmlns:a="http://schemas.openxmlformats.org/drawingml/2006/main">
              <a:ext uri="{FF2B5EF4-FFF2-40B4-BE49-F238E27FC236}">
                <a16:creationId xmlns:a16="http://schemas.microsoft.com/office/drawing/2014/main" id="{DC968ABF-8825-4D25-8CA9-98E381649D54}"/>
              </a:ext>
            </a:extLst>
          </p:cNvPr>
          <p:cNvCxnSpPr>
            <a:stCxn xmlns:a="http://schemas.openxmlformats.org/drawingml/2006/main" id="7" idx="3"/>
            <a:endCxn xmlns:a="http://schemas.openxmlformats.org/drawingml/2006/main" id="13" idx="1"/>
          </p:cNvCxnSpPr>
          <p:nvPr/>
        </p:nvCxnSpPr>
        <p:spPr>
          <a:xfrm xmlns:a="http://schemas.openxmlformats.org/drawingml/2006/main">
            <a:off x="2571750" y="2352675"/>
            <a:ext cx="70485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0" name="">
            <a:extLst xmlns:a="http://schemas.openxmlformats.org/drawingml/2006/main">
              <a:ext uri="{FF2B5EF4-FFF2-40B4-BE49-F238E27FC236}">
                <a16:creationId xmlns:a16="http://schemas.microsoft.com/office/drawing/2014/main" id="{7C410767-C320-4060-945B-7C8152CC615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AX12 / 복수 자료 결합·분석·검토·평가</a:t>
            </a:r>
          </a:p>
        </p:txBody>
      </p:sp>
      <p:sp>
        <p:nvSpPr>
          <p:cNvPr id="2" name="">
            <a:extLst xmlns:a="http://schemas.openxmlformats.org/drawingml/2006/main">
              <a:ext uri="{FF2B5EF4-FFF2-40B4-BE49-F238E27FC236}">
                <a16:creationId xmlns:a16="http://schemas.microsoft.com/office/drawing/2014/main" id="{F8E88A59-B814-4F63-8B1B-A0532F2922A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홍수 예측 · 세부 서비스 구조</a:t>
            </a:r>
          </a:p>
        </p:txBody>
      </p:sp>
      <p:sp>
        <p:nvSpPr>
          <p:cNvPr id="3" name="">
            <a:extLst xmlns:a="http://schemas.openxmlformats.org/drawingml/2006/main">
              <a:ext uri="{FF2B5EF4-FFF2-40B4-BE49-F238E27FC236}">
                <a16:creationId xmlns:a16="http://schemas.microsoft.com/office/drawing/2014/main" id="{326CC682-CED3-4D1D-BC00-56002789638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D28DB74-CAE7-4754-8922-C6A264E8F97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EB277F35-2FDB-4A4C-A612-EE4789095B0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65</a:t>
            </a:r>
          </a:p>
        </p:txBody>
      </p:sp>
      <p:sp>
        <p:nvSpPr>
          <p:cNvPr id="6" name="">
            <a:extLst xmlns:a="http://schemas.openxmlformats.org/drawingml/2006/main">
              <a:ext uri="{FF2B5EF4-FFF2-40B4-BE49-F238E27FC236}">
                <a16:creationId xmlns:a16="http://schemas.microsoft.com/office/drawing/2014/main" id="{B8C2F116-946E-44D9-8D56-099D225CA094}"/>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수문·기상 입력 → 예측 모델 → 위험·시점 안내 → 현장 대응 검토</a:t>
            </a:r>
          </a:p>
        </p:txBody>
      </p:sp>
      <p:sp>
        <p:nvSpPr>
          <p:cNvPr id="7" name="">
            <a:extLst xmlns:a="http://schemas.openxmlformats.org/drawingml/2006/main">
              <a:ext uri="{FF2B5EF4-FFF2-40B4-BE49-F238E27FC236}">
                <a16:creationId xmlns:a16="http://schemas.microsoft.com/office/drawing/2014/main" id="{32500A67-2EA9-4D3F-AA20-0874088A69B8}"/>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BA64CF42-4180-41BB-8974-42745A4C7ED2}"/>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A40FE1C6-05CF-44F7-8C35-B3D592FC4646}"/>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유역·관측 자료</a:t>
            </a:r>
          </a:p>
        </p:txBody>
      </p:sp>
      <p:sp>
        <p:nvSpPr>
          <p:cNvPr id="10" name="">
            <a:extLst xmlns:a="http://schemas.openxmlformats.org/drawingml/2006/main">
              <a:ext uri="{FF2B5EF4-FFF2-40B4-BE49-F238E27FC236}">
                <a16:creationId xmlns:a16="http://schemas.microsoft.com/office/drawing/2014/main" id="{C423C166-E6E3-4CEA-94B1-26DAC73BE69A}"/>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F284F1EE-3B0C-4CF3-A2A1-AA505B76860D}"/>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2" name="">
            <a:extLst xmlns:a="http://schemas.openxmlformats.org/drawingml/2006/main">
              <a:ext uri="{FF2B5EF4-FFF2-40B4-BE49-F238E27FC236}">
                <a16:creationId xmlns:a16="http://schemas.microsoft.com/office/drawing/2014/main" id="{00F03971-9E21-401A-B96B-B71A198FCA8B}"/>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기상·수문 조회</a:t>
            </a:r>
          </a:p>
        </p:txBody>
      </p:sp>
      <p:sp>
        <p:nvSpPr>
          <p:cNvPr id="13" name="">
            <a:extLst xmlns:a="http://schemas.openxmlformats.org/drawingml/2006/main">
              <a:ext uri="{FF2B5EF4-FFF2-40B4-BE49-F238E27FC236}">
                <a16:creationId xmlns:a16="http://schemas.microsoft.com/office/drawing/2014/main" id="{2AEB7300-B686-4F20-B2F9-CCFBCF77A68A}"/>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CCB5EEDC-7184-406F-A21D-9C8BB0844387}"/>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5" name="">
            <a:extLst xmlns:a="http://schemas.openxmlformats.org/drawingml/2006/main">
              <a:ext uri="{FF2B5EF4-FFF2-40B4-BE49-F238E27FC236}">
                <a16:creationId xmlns:a16="http://schemas.microsoft.com/office/drawing/2014/main" id="{0D48C969-B810-47AA-8E0A-8A2623895F7B}"/>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시간·공간 정합화</a:t>
            </a:r>
          </a:p>
        </p:txBody>
      </p:sp>
      <p:sp>
        <p:nvSpPr>
          <p:cNvPr id="16" name="">
            <a:extLst xmlns:a="http://schemas.openxmlformats.org/drawingml/2006/main">
              <a:ext uri="{FF2B5EF4-FFF2-40B4-BE49-F238E27FC236}">
                <a16:creationId xmlns:a16="http://schemas.microsoft.com/office/drawing/2014/main" id="{AF520088-0449-4143-9E39-FA1E3F6A76F8}"/>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4D6AE1E0-C02C-4E19-9921-A7DA1327890D}"/>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8" name="">
            <a:extLst xmlns:a="http://schemas.openxmlformats.org/drawingml/2006/main">
              <a:ext uri="{FF2B5EF4-FFF2-40B4-BE49-F238E27FC236}">
                <a16:creationId xmlns:a16="http://schemas.microsoft.com/office/drawing/2014/main" id="{3A49ABFD-9FC4-443A-840D-33AD344D0F66}"/>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홍수 위험 예측</a:t>
            </a:r>
          </a:p>
        </p:txBody>
      </p:sp>
      <p:sp>
        <p:nvSpPr>
          <p:cNvPr id="19" name="">
            <a:extLst xmlns:a="http://schemas.openxmlformats.org/drawingml/2006/main">
              <a:ext uri="{FF2B5EF4-FFF2-40B4-BE49-F238E27FC236}">
                <a16:creationId xmlns:a16="http://schemas.microsoft.com/office/drawing/2014/main" id="{CEC2092E-13B9-44CE-B8C0-B10A4F4D41D8}"/>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CD499262-60A7-40B6-916C-1F5F98B18ADC}"/>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21" name="">
            <a:extLst xmlns:a="http://schemas.openxmlformats.org/drawingml/2006/main">
              <a:ext uri="{FF2B5EF4-FFF2-40B4-BE49-F238E27FC236}">
                <a16:creationId xmlns:a16="http://schemas.microsoft.com/office/drawing/2014/main" id="{2D586C5C-2ACF-4E0E-8092-2B4FDB3A9E6B}"/>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지역별 오차 검사</a:t>
            </a:r>
          </a:p>
        </p:txBody>
      </p:sp>
      <p:sp>
        <p:nvSpPr>
          <p:cNvPr id="22" name="">
            <a:extLst xmlns:a="http://schemas.openxmlformats.org/drawingml/2006/main">
              <a:ext uri="{FF2B5EF4-FFF2-40B4-BE49-F238E27FC236}">
                <a16:creationId xmlns:a16="http://schemas.microsoft.com/office/drawing/2014/main" id="{CE6831B7-39CB-43FE-B377-0CDE60B3ADEC}"/>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3BF3F84E-C8F0-4CF5-BEE8-320B8A2C0368}"/>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4" name="">
            <a:extLst xmlns:a="http://schemas.openxmlformats.org/drawingml/2006/main">
              <a:ext uri="{FF2B5EF4-FFF2-40B4-BE49-F238E27FC236}">
                <a16:creationId xmlns:a16="http://schemas.microsoft.com/office/drawing/2014/main" id="{AA2083E9-BE0A-446E-9FD4-039D4F92544D}"/>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예보 담당 판단</a:t>
            </a:r>
          </a:p>
        </p:txBody>
      </p:sp>
      <p:sp>
        <p:nvSpPr>
          <p:cNvPr id="25" name="">
            <a:extLst xmlns:a="http://schemas.openxmlformats.org/drawingml/2006/main">
              <a:ext uri="{FF2B5EF4-FFF2-40B4-BE49-F238E27FC236}">
                <a16:creationId xmlns:a16="http://schemas.microsoft.com/office/drawing/2014/main" id="{E20E05E5-A135-45FF-A984-1DDB447D139C}"/>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4C32B895-6518-436D-8F88-44F993D9D24C}"/>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7" name="">
            <a:extLst xmlns:a="http://schemas.openxmlformats.org/drawingml/2006/main">
              <a:ext uri="{FF2B5EF4-FFF2-40B4-BE49-F238E27FC236}">
                <a16:creationId xmlns:a16="http://schemas.microsoft.com/office/drawing/2014/main" id="{E71D6112-365F-40E0-8123-A29D611F4EFD}"/>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경보·대응 연결</a:t>
            </a:r>
          </a:p>
        </p:txBody>
      </p:sp>
      <p:sp>
        <p:nvSpPr>
          <p:cNvPr id="28" name="">
            <a:extLst xmlns:a="http://schemas.openxmlformats.org/drawingml/2006/main">
              <a:ext uri="{FF2B5EF4-FFF2-40B4-BE49-F238E27FC236}">
                <a16:creationId xmlns:a16="http://schemas.microsoft.com/office/drawing/2014/main" id="{1E65C9B5-92AC-40D9-A542-D91B0596BE8E}"/>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A962BB60-D490-4E9E-A2BF-7CB2F09854C5}"/>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0" name="">
            <a:extLst xmlns:a="http://schemas.openxmlformats.org/drawingml/2006/main">
              <a:ext uri="{FF2B5EF4-FFF2-40B4-BE49-F238E27FC236}">
                <a16:creationId xmlns:a16="http://schemas.microsoft.com/office/drawing/2014/main" id="{79EA82FA-F4F6-4AA6-A7D0-DB4E5DE00529}"/>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미탐·과경보 분석</a:t>
            </a:r>
          </a:p>
        </p:txBody>
      </p:sp>
      <p:sp>
        <p:nvSpPr>
          <p:cNvPr id="39" name="">
            <a:extLst xmlns:a="http://schemas.openxmlformats.org/drawingml/2006/main">
              <a:ext uri="{FF2B5EF4-FFF2-40B4-BE49-F238E27FC236}">
                <a16:creationId xmlns:a16="http://schemas.microsoft.com/office/drawing/2014/main" id="{89F3E071-5275-4181-89D0-95BF18E8BE9A}"/>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797213856"/>
      </p:ext>
    </p:extLst>
  </p:cSld>
</p:sld>
</file>

<file path=ppt/slides/slide6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8AAF062D-7412-41C2-8AD4-0D43AC7D939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AX12 / 논리 인터페이스·복구 설계</a:t>
            </a:r>
          </a:p>
        </p:txBody>
      </p:sp>
      <p:sp>
        <p:nvSpPr>
          <p:cNvPr id="2" name="">
            <a:extLst xmlns:a="http://schemas.openxmlformats.org/drawingml/2006/main">
              <a:ext uri="{FF2B5EF4-FFF2-40B4-BE49-F238E27FC236}">
                <a16:creationId xmlns:a16="http://schemas.microsoft.com/office/drawing/2014/main" id="{F67B5A8E-5AFC-4701-8BDD-92CFD607805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홍수 예측 · 데이터와 예외 처리</a:t>
            </a:r>
          </a:p>
        </p:txBody>
      </p:sp>
      <p:sp>
        <p:nvSpPr>
          <p:cNvPr id="3" name="">
            <a:extLst xmlns:a="http://schemas.openxmlformats.org/drawingml/2006/main">
              <a:ext uri="{FF2B5EF4-FFF2-40B4-BE49-F238E27FC236}">
                <a16:creationId xmlns:a16="http://schemas.microsoft.com/office/drawing/2014/main" id="{6BF5D41D-29EE-4813-9E51-B08DBB80A6D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B8FE4D6-E531-45AA-A529-F986500AA64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B890C200-FEDC-47FE-B4E5-895EB8D130A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66</a:t>
            </a:r>
          </a:p>
        </p:txBody>
      </p:sp>
      <p:sp>
        <p:nvSpPr>
          <p:cNvPr id="6" name="">
            <a:extLst xmlns:a="http://schemas.openxmlformats.org/drawingml/2006/main">
              <a:ext uri="{FF2B5EF4-FFF2-40B4-BE49-F238E27FC236}">
                <a16:creationId xmlns:a16="http://schemas.microsoft.com/office/drawing/2014/main" id="{274B9B11-0CF8-4AFA-80AE-72849289C038}"/>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14F346C0-D40C-4E4D-B533-23C85172FCFE}"/>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78DD1441-8EB5-4E85-9769-018F7C612FC6}"/>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관측 자료</a:t>
            </a:r>
          </a:p>
        </p:txBody>
      </p:sp>
      <p:sp>
        <p:nvSpPr>
          <p:cNvPr id="9" name="">
            <a:extLst xmlns:a="http://schemas.openxmlformats.org/drawingml/2006/main">
              <a:ext uri="{FF2B5EF4-FFF2-40B4-BE49-F238E27FC236}">
                <a16:creationId xmlns:a16="http://schemas.microsoft.com/office/drawing/2014/main" id="{54248D38-B14E-48C1-9BA1-287405158BF5}"/>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하천·예측 이력</a:t>
            </a:r>
          </a:p>
        </p:txBody>
      </p:sp>
      <p:sp>
        <p:nvSpPr>
          <p:cNvPr id="10" name="">
            <a:extLst xmlns:a="http://schemas.openxmlformats.org/drawingml/2006/main">
              <a:ext uri="{FF2B5EF4-FFF2-40B4-BE49-F238E27FC236}">
                <a16:creationId xmlns:a16="http://schemas.microsoft.com/office/drawing/2014/main" id="{4CF1C37A-9AAC-4FF9-8A38-57BD919AC0BC}"/>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39FC537-1E6F-4217-9326-64619F1EF7F8}"/>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비교 자료</a:t>
            </a:r>
          </a:p>
        </p:txBody>
      </p:sp>
      <p:sp>
        <p:nvSpPr>
          <p:cNvPr id="12" name="">
            <a:extLst xmlns:a="http://schemas.openxmlformats.org/drawingml/2006/main">
              <a:ext uri="{FF2B5EF4-FFF2-40B4-BE49-F238E27FC236}">
                <a16:creationId xmlns:a16="http://schemas.microsoft.com/office/drawing/2014/main" id="{256FDE0C-DF36-480D-AB77-2F04C7F88658}"/>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시간별 예측</a:t>
            </a:r>
          </a:p>
        </p:txBody>
      </p:sp>
      <p:sp>
        <p:nvSpPr>
          <p:cNvPr id="13" name="">
            <a:extLst xmlns:a="http://schemas.openxmlformats.org/drawingml/2006/main">
              <a:ext uri="{FF2B5EF4-FFF2-40B4-BE49-F238E27FC236}">
                <a16:creationId xmlns:a16="http://schemas.microsoft.com/office/drawing/2014/main" id="{AF6EEBB1-259C-4EE1-8F73-314145459431}"/>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642CE9E-A25C-4318-A003-0D6F594CE318}"/>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정합화 특징</a:t>
            </a:r>
          </a:p>
        </p:txBody>
      </p:sp>
      <p:sp>
        <p:nvSpPr>
          <p:cNvPr id="15" name="">
            <a:extLst xmlns:a="http://schemas.openxmlformats.org/drawingml/2006/main">
              <a:ext uri="{FF2B5EF4-FFF2-40B4-BE49-F238E27FC236}">
                <a16:creationId xmlns:a16="http://schemas.microsoft.com/office/drawing/2014/main" id="{53198D15-B78D-4072-BA32-356F409FBDA2}"/>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6" name="">
            <a:extLst xmlns:a="http://schemas.openxmlformats.org/drawingml/2006/main">
              <a:ext uri="{FF2B5EF4-FFF2-40B4-BE49-F238E27FC236}">
                <a16:creationId xmlns:a16="http://schemas.microsoft.com/office/drawing/2014/main" id="{49DB8BE4-4678-4CC9-9D57-B2D6429350BB}"/>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55C7947-CF1B-45B1-9519-BEBB13FAC3BC}"/>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예측·분류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결과</a:t>
            </a:r>
          </a:p>
        </p:txBody>
      </p:sp>
      <p:sp>
        <p:nvSpPr>
          <p:cNvPr id="18" name="">
            <a:extLst xmlns:a="http://schemas.openxmlformats.org/drawingml/2006/main">
              <a:ext uri="{FF2B5EF4-FFF2-40B4-BE49-F238E27FC236}">
                <a16:creationId xmlns:a16="http://schemas.microsoft.com/office/drawing/2014/main" id="{8819BF5E-FC47-4C16-914F-8A1F413CBDCA}"/>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위험·예상 시점</a:t>
            </a:r>
          </a:p>
        </p:txBody>
      </p:sp>
      <p:sp>
        <p:nvSpPr>
          <p:cNvPr id="19" name="">
            <a:extLst xmlns:a="http://schemas.openxmlformats.org/drawingml/2006/main">
              <a:ext uri="{FF2B5EF4-FFF2-40B4-BE49-F238E27FC236}">
                <a16:creationId xmlns:a16="http://schemas.microsoft.com/office/drawing/2014/main" id="{F675120C-33B2-4D47-9BCD-666058628396}"/>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4BAFB88-1E2C-4F05-95EE-FDC5942B4994}"/>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오차·편향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확인</a:t>
            </a:r>
          </a:p>
        </p:txBody>
      </p:sp>
      <p:sp>
        <p:nvSpPr>
          <p:cNvPr id="21" name="">
            <a:extLst xmlns:a="http://schemas.openxmlformats.org/drawingml/2006/main">
              <a:ext uri="{FF2B5EF4-FFF2-40B4-BE49-F238E27FC236}">
                <a16:creationId xmlns:a16="http://schemas.microsoft.com/office/drawing/2014/main" id="{F2FCE47B-0630-4530-B91D-22A13FBDCBF0}"/>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위험·예상 시점</a:t>
            </a:r>
          </a:p>
        </p:txBody>
      </p:sp>
      <p:sp>
        <p:nvSpPr>
          <p:cNvPr id="22" name="">
            <a:extLst xmlns:a="http://schemas.openxmlformats.org/drawingml/2006/main">
              <a:ext uri="{FF2B5EF4-FFF2-40B4-BE49-F238E27FC236}">
                <a16:creationId xmlns:a16="http://schemas.microsoft.com/office/drawing/2014/main" id="{4444FE81-2583-4B59-918A-1194E1C6E729}"/>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1F8CE47A-AEE8-4FBB-B6F6-434C118F0644}"/>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적용 결과</a:t>
            </a:r>
          </a:p>
        </p:txBody>
      </p:sp>
      <p:sp>
        <p:nvSpPr>
          <p:cNvPr id="24" name="">
            <a:extLst xmlns:a="http://schemas.openxmlformats.org/drawingml/2006/main">
              <a:ext uri="{FF2B5EF4-FFF2-40B4-BE49-F238E27FC236}">
                <a16:creationId xmlns:a16="http://schemas.microsoft.com/office/drawing/2014/main" id="{31D4F3D7-0413-4C58-9721-00A812397313}"/>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현장 대응 판단</a:t>
            </a:r>
          </a:p>
        </p:txBody>
      </p:sp>
      <p:sp>
        <p:nvSpPr>
          <p:cNvPr id="25" name="">
            <a:extLst xmlns:a="http://schemas.openxmlformats.org/drawingml/2006/main">
              <a:ext uri="{FF2B5EF4-FFF2-40B4-BE49-F238E27FC236}">
                <a16:creationId xmlns:a16="http://schemas.microsoft.com/office/drawing/2014/main" id="{25FC5704-DDE5-4CE9-BBD6-5E60287B9171}"/>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47E847B6-BE55-4282-A917-24D105E630C5}"/>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관측 결측·분포가 다른 유역·예측시점 이후 자료 혼입</a:t>
            </a:r>
          </a:p>
        </p:txBody>
      </p:sp>
      <p:sp>
        <p:nvSpPr>
          <p:cNvPr id="27" name="">
            <a:extLst xmlns:a="http://schemas.openxmlformats.org/drawingml/2006/main">
              <a:ext uri="{FF2B5EF4-FFF2-40B4-BE49-F238E27FC236}">
                <a16:creationId xmlns:a16="http://schemas.microsoft.com/office/drawing/2014/main" id="{221478B3-9536-46BD-A448-866F38EC83EF}"/>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CE8A51FE-7B09-4197-A0BB-04361837F8E6}"/>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지역별 오탐·미탐과 선행시간 평가</a:t>
            </a:r>
          </a:p>
        </p:txBody>
      </p:sp>
      <p:sp>
        <p:nvSpPr>
          <p:cNvPr id="29" name="">
            <a:extLst xmlns:a="http://schemas.openxmlformats.org/drawingml/2006/main">
              <a:ext uri="{FF2B5EF4-FFF2-40B4-BE49-F238E27FC236}">
                <a16:creationId xmlns:a16="http://schemas.microsoft.com/office/drawing/2014/main" id="{C1C53530-3AFF-497A-BE26-131E9610F5EA}"/>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86F7FF73-AA46-47E0-A40E-344A8D5D9461}"/>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미탐·과경보와 지역별 오차의 사후 분석</a:t>
            </a:r>
          </a:p>
        </p:txBody>
      </p:sp>
      <p:sp>
        <p:nvSpPr>
          <p:cNvPr id="31" name="">
            <a:extLst xmlns:a="http://schemas.openxmlformats.org/drawingml/2006/main">
              <a:ext uri="{FF2B5EF4-FFF2-40B4-BE49-F238E27FC236}">
                <a16:creationId xmlns:a16="http://schemas.microsoft.com/office/drawing/2014/main" id="{E01E6037-04EF-498A-BD0C-D1A83121790B}"/>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49E21786-6623-4319-A310-750374C3215B}"/>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시점 분리 평가와 유역별 미탐·과경보 결과</a:t>
            </a:r>
          </a:p>
        </p:txBody>
      </p:sp>
    </p:spTree>
    <p:extLst>
      <p:ext uri="{BB962C8B-B14F-4D97-AF65-F5344CB8AC3E}">
        <p14:creationId xmlns:p14="http://schemas.microsoft.com/office/powerpoint/2010/main" val="1891269361"/>
      </p:ext>
    </p:extLst>
  </p:cSld>
</p:sld>
</file>

<file path=ppt/slides/slide6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F31CCD8-A705-46D4-AE86-0CCEDC666EC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AX12 / CCK 비교·재현 시험 설계</a:t>
            </a:r>
          </a:p>
        </p:txBody>
      </p:sp>
      <p:sp>
        <p:nvSpPr>
          <p:cNvPr id="2" name="">
            <a:extLst xmlns:a="http://schemas.openxmlformats.org/drawingml/2006/main">
              <a:ext uri="{FF2B5EF4-FFF2-40B4-BE49-F238E27FC236}">
                <a16:creationId xmlns:a16="http://schemas.microsoft.com/office/drawing/2014/main" id="{B17CABF3-E63B-418C-84C7-639530BD1F3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Google 홍수 예측 · 벤치마킹</a:t>
            </a:r>
          </a:p>
        </p:txBody>
      </p:sp>
      <p:sp>
        <p:nvSpPr>
          <p:cNvPr id="3" name="">
            <a:extLst xmlns:a="http://schemas.openxmlformats.org/drawingml/2006/main">
              <a:ext uri="{FF2B5EF4-FFF2-40B4-BE49-F238E27FC236}">
                <a16:creationId xmlns:a16="http://schemas.microsoft.com/office/drawing/2014/main" id="{CA2DC6B7-8F2F-42D5-B4F0-A869ED62B1D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4355C63-9CFC-4049-B533-363C4EE9287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9223619-88A2-453E-9264-F987962A7A8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67</a:t>
            </a:r>
          </a:p>
        </p:txBody>
      </p:sp>
      <p:sp>
        <p:nvSpPr>
          <p:cNvPr id="6" name="">
            <a:extLst xmlns:a="http://schemas.openxmlformats.org/drawingml/2006/main">
              <a:ext uri="{FF2B5EF4-FFF2-40B4-BE49-F238E27FC236}">
                <a16:creationId xmlns:a16="http://schemas.microsoft.com/office/drawing/2014/main" id="{A07631DE-DB16-48A5-8102-563A02C75016}"/>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F9F52BC2-58BC-4679-9D2A-CB07C84CDDA0}"/>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관측 부족 지역의 예측 범위 확대</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비교 평가를 통한 예측 검토</a:t>
            </a:r>
          </a:p>
        </p:txBody>
      </p:sp>
      <p:sp>
        <p:nvSpPr>
          <p:cNvPr id="8" name="">
            <a:extLst xmlns:a="http://schemas.openxmlformats.org/drawingml/2006/main">
              <a:ext uri="{FF2B5EF4-FFF2-40B4-BE49-F238E27FC236}">
                <a16:creationId xmlns:a16="http://schemas.microsoft.com/office/drawing/2014/main" id="{C00A73BD-BC88-4178-896E-7EF187E90754}"/>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0E32DAAD-9F7E-4EC3-8BE4-38829D123983}"/>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관측 분포·지역별 불확실성</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경보 정확도와 실제 대응 효과의 차이</a:t>
            </a:r>
          </a:p>
        </p:txBody>
      </p:sp>
      <p:sp>
        <p:nvSpPr>
          <p:cNvPr id="10" name="">
            <a:extLst xmlns:a="http://schemas.openxmlformats.org/drawingml/2006/main">
              <a:ext uri="{FF2B5EF4-FFF2-40B4-BE49-F238E27FC236}">
                <a16:creationId xmlns:a16="http://schemas.microsoft.com/office/drawing/2014/main" id="{A69FB975-AF51-4F9C-B9C9-A54322F21597}"/>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693DA885-36C6-4D3E-889F-CE9A336262BD}"/>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지역별 오탐·미탐과 선행시간 평가</a:t>
            </a:r>
          </a:p>
        </p:txBody>
      </p:sp>
      <p:sp>
        <p:nvSpPr>
          <p:cNvPr id="12" name="">
            <a:extLst xmlns:a="http://schemas.openxmlformats.org/drawingml/2006/main">
              <a:ext uri="{FF2B5EF4-FFF2-40B4-BE49-F238E27FC236}">
                <a16:creationId xmlns:a16="http://schemas.microsoft.com/office/drawing/2014/main" id="{7B3ED854-DC8A-4A6E-8AC0-6B4CC58636AB}"/>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4EB2BDBF-68B1-4ABF-880B-A9A128DB3A7F}"/>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유역별 예측 위험을 지역별 대응 검토에 제공</a:t>
            </a:r>
          </a:p>
        </p:txBody>
      </p:sp>
      <p:sp>
        <p:nvSpPr>
          <p:cNvPr id="14" name="">
            <a:extLst xmlns:a="http://schemas.openxmlformats.org/drawingml/2006/main">
              <a:ext uri="{FF2B5EF4-FFF2-40B4-BE49-F238E27FC236}">
                <a16:creationId xmlns:a16="http://schemas.microsoft.com/office/drawing/2014/main" id="{9127C4B5-4C20-4491-9D11-47CE51048E3C}"/>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9DD29FA8-3430-44EC-8798-38165E08AD6C}"/>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관측 결측·분포가 다른 유역·예측시점 이후 자료 혼</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입</a:t>
            </a:r>
          </a:p>
        </p:txBody>
      </p:sp>
      <p:sp>
        <p:nvSpPr>
          <p:cNvPr id="16" name="">
            <a:extLst xmlns:a="http://schemas.openxmlformats.org/drawingml/2006/main">
              <a:ext uri="{FF2B5EF4-FFF2-40B4-BE49-F238E27FC236}">
                <a16:creationId xmlns:a16="http://schemas.microsoft.com/office/drawing/2014/main" id="{C266B32B-87D8-404E-8134-7927185DD105}"/>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7A50E51D-E7B7-4C4A-9C7C-91CF80E08622}"/>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시점 분리 평가와 유역별 미탐·과경보 결과</a:t>
            </a:r>
          </a:p>
        </p:txBody>
      </p:sp>
    </p:spTree>
    <p:extLst>
      <p:ext uri="{BB962C8B-B14F-4D97-AF65-F5344CB8AC3E}">
        <p14:creationId xmlns:p14="http://schemas.microsoft.com/office/powerpoint/2010/main" val="1392391936"/>
      </p:ext>
    </p:extLst>
  </p:cSld>
</p:sld>
</file>

<file path=ppt/slides/slide6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0B323E5-E47D-4F32-A804-C7A1FD607AB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AX13 / 실패 확인 / 해외</a:t>
            </a:r>
          </a:p>
        </p:txBody>
      </p:sp>
      <p:sp>
        <p:nvSpPr>
          <p:cNvPr id="2" name="">
            <a:extLst xmlns:a="http://schemas.openxmlformats.org/drawingml/2006/main">
              <a:ext uri="{FF2B5EF4-FFF2-40B4-BE49-F238E27FC236}">
                <a16:creationId xmlns:a16="http://schemas.microsoft.com/office/drawing/2014/main" id="{492484C1-1D79-426C-989A-B2CF99F0438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뉴욕 MyCity 챗봇 감사</a:t>
            </a:r>
          </a:p>
        </p:txBody>
      </p:sp>
      <p:sp>
        <p:nvSpPr>
          <p:cNvPr id="3" name="">
            <a:extLst xmlns:a="http://schemas.openxmlformats.org/drawingml/2006/main">
              <a:ext uri="{FF2B5EF4-FFF2-40B4-BE49-F238E27FC236}">
                <a16:creationId xmlns:a16="http://schemas.microsoft.com/office/drawing/2014/main" id="{9D672658-211A-43B3-84D6-8F839810025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8502417-375A-4F9B-95A6-8717C571B28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8CC72174-4BDC-4EBA-A47B-10989660B10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68</a:t>
            </a:r>
          </a:p>
        </p:txBody>
      </p:sp>
      <p:sp>
        <p:nvSpPr>
          <p:cNvPr id="6" name="">
            <a:extLst xmlns:a="http://schemas.openxmlformats.org/drawingml/2006/main">
              <a:ext uri="{FF2B5EF4-FFF2-40B4-BE49-F238E27FC236}">
                <a16:creationId xmlns:a16="http://schemas.microsoft.com/office/drawing/2014/main" id="{D46311D3-08EA-4899-8496-94B69BBEDF0D}"/>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86E1B394-4261-48CC-8E03-8C748811A37A}"/>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뉴욕 MyCity의 챗봇 답변 품질과 통합서비스 사업관리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문제를 다룬 감사 사례. 공식 안내의 정확성과 서비스 통</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합·계약 감독을 함께 봐야 하는 대민 AI 사업의 사례.</a:t>
            </a:r>
          </a:p>
        </p:txBody>
      </p:sp>
      <p:sp>
        <p:nvSpPr>
          <p:cNvPr id="8" name="">
            <a:extLst xmlns:a="http://schemas.openxmlformats.org/drawingml/2006/main">
              <a:ext uri="{FF2B5EF4-FFF2-40B4-BE49-F238E27FC236}">
                <a16:creationId xmlns:a16="http://schemas.microsoft.com/office/drawing/2014/main" id="{799E8A6C-C30B-4894-B0D9-572B3BCB997D}"/>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BC97AF6A-558C-4B49-A142-A8150B3F7F94}"/>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질문별 근거 문서, 답변 결과, 공식 신청 경로, 오류 수정</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이력을 연결하는 재구성. 독립 시험셋과 계약 산출물 목</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록을 대응시키고 감사 지적·기관 반론을 근거별로 구분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해 비교하는 방식.</a:t>
            </a:r>
          </a:p>
        </p:txBody>
      </p:sp>
      <p:sp>
        <p:nvSpPr>
          <p:cNvPr id="10" name="">
            <a:extLst xmlns:a="http://schemas.openxmlformats.org/drawingml/2006/main">
              <a:ext uri="{FF2B5EF4-FFF2-40B4-BE49-F238E27FC236}">
                <a16:creationId xmlns:a16="http://schemas.microsoft.com/office/drawing/2014/main" id="{E1E48086-CA0F-4371-9184-124FA26F94BF}"/>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9E18CA43-9308-4879-A016-661BFC9A56B1}"/>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TS에서는 챗봇 공개와 민원 업무 완결을 같은 성과로 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 않는 설계에 활용. 부정확·상충 안내의 회귀시험, 완료</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조건 정의, 변경 요구와 인수 증빙의 연결을 CCK 사업관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리 기능에 반영할 필요.</a:t>
            </a:r>
          </a:p>
        </p:txBody>
      </p:sp>
      <p:sp>
        <p:nvSpPr>
          <p:cNvPr id="12" name="">
            <a:extLst xmlns:a="http://schemas.openxmlformats.org/drawingml/2006/main">
              <a:ext uri="{FF2B5EF4-FFF2-40B4-BE49-F238E27FC236}">
                <a16:creationId xmlns:a16="http://schemas.microsoft.com/office/drawing/2014/main" id="{BA528465-448C-4C1F-BD18-C317936FFD7F}"/>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CF4D94AF-9322-431A-9279-CB2C0196EE26}"/>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반례 정답셋·오안내 신고·책임부서 인계</a:t>
            </a:r>
          </a:p>
        </p:txBody>
      </p:sp>
      <p:sp>
        <p:nvSpPr>
          <p:cNvPr id="14" name="">
            <a:extLst xmlns:a="http://schemas.openxmlformats.org/drawingml/2006/main">
              <a:ext uri="{FF2B5EF4-FFF2-40B4-BE49-F238E27FC236}">
                <a16:creationId xmlns:a16="http://schemas.microsoft.com/office/drawing/2014/main" id="{F46B048F-8225-4A18-97B7-48F214AFC057}"/>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70D00CC7-2C58-4BBA-B04D-2716C71654C4}"/>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규정과 상충하는 안내 및 미완료 신청 재현</a:t>
            </a:r>
          </a:p>
        </p:txBody>
      </p:sp>
      <p:sp>
        <p:nvSpPr>
          <p:cNvPr id="16" name="">
            <a:extLst xmlns:a="http://schemas.openxmlformats.org/drawingml/2006/main">
              <a:ext uri="{FF2B5EF4-FFF2-40B4-BE49-F238E27FC236}">
                <a16:creationId xmlns:a16="http://schemas.microsoft.com/office/drawing/2014/main" id="{2A32B590-20C6-427C-83DF-DDCE1A7345C4}"/>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C02DAFCC-C226-4E09-A36F-95C6C0422F81}"/>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오안내율 / 신청 완료율 / 재접촉률</a:t>
            </a:r>
          </a:p>
        </p:txBody>
      </p:sp>
      <p:sp>
        <p:nvSpPr>
          <p:cNvPr id="18" name="">
            <a:extLst xmlns:a="http://schemas.openxmlformats.org/drawingml/2006/main">
              <a:ext uri="{FF2B5EF4-FFF2-40B4-BE49-F238E27FC236}">
                <a16:creationId xmlns:a16="http://schemas.microsoft.com/office/drawing/2014/main" id="{7FBB5F31-D99B-4E0A-AB84-86411A4E5429}"/>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운영기관의 정확도 주장과 감사 판단의 차이 존재 · 개별 질의·평가 방식 대조 필요</a:t>
            </a:r>
          </a:p>
        </p:txBody>
      </p:sp>
    </p:spTree>
    <p:extLst>
      <p:ext uri="{BB962C8B-B14F-4D97-AF65-F5344CB8AC3E}">
        <p14:creationId xmlns:p14="http://schemas.microsoft.com/office/powerpoint/2010/main" val="600122882"/>
      </p:ext>
    </p:extLst>
  </p:cSld>
</p:sld>
</file>

<file path=ppt/slides/slide6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685FAAB-F2D1-456F-8E19-8216EC63D6C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AX13 / As-Is → To-Be → 기대효과 → 확인 결과</a:t>
            </a:r>
          </a:p>
        </p:txBody>
      </p:sp>
      <p:sp>
        <p:nvSpPr>
          <p:cNvPr id="2" name="">
            <a:extLst xmlns:a="http://schemas.openxmlformats.org/drawingml/2006/main">
              <a:ext uri="{FF2B5EF4-FFF2-40B4-BE49-F238E27FC236}">
                <a16:creationId xmlns:a16="http://schemas.microsoft.com/office/drawing/2014/main" id="{6714272A-8252-4C21-9AB8-1642BE8B564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뉴욕 MyCity 챗봇 감사 · 기대와 결과</a:t>
            </a:r>
          </a:p>
        </p:txBody>
      </p:sp>
      <p:sp>
        <p:nvSpPr>
          <p:cNvPr id="3" name="">
            <a:extLst xmlns:a="http://schemas.openxmlformats.org/drawingml/2006/main">
              <a:ext uri="{FF2B5EF4-FFF2-40B4-BE49-F238E27FC236}">
                <a16:creationId xmlns:a16="http://schemas.microsoft.com/office/drawing/2014/main" id="{6F6D1F69-D031-4D8D-A7AC-FDF7A983AC9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9E7D6CC-E8C9-4379-BAD9-5990690AEDE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48106C3-3BB8-431A-9241-536AAB0761A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69</a:t>
            </a:r>
          </a:p>
        </p:txBody>
      </p:sp>
      <p:sp>
        <p:nvSpPr>
          <p:cNvPr id="6" name="">
            <a:extLst xmlns:a="http://schemas.openxmlformats.org/drawingml/2006/main">
              <a:ext uri="{FF2B5EF4-FFF2-40B4-BE49-F238E27FC236}">
                <a16:creationId xmlns:a16="http://schemas.microsoft.com/office/drawing/2014/main" id="{19DBDCE1-D068-4CCE-9A20-7A1A4DDA7773}"/>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C5AF23E6-31CD-411C-96B6-75926EA8E269}"/>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뉴욕시 사업자가 허가·규정·지원 정보를 여러 기관 메뉴에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서 찾아야 하는 구조</a:t>
            </a:r>
          </a:p>
        </p:txBody>
      </p:sp>
      <p:sp>
        <p:nvSpPr>
          <p:cNvPr id="8" name="">
            <a:extLst xmlns:a="http://schemas.openxmlformats.org/drawingml/2006/main">
              <a:ext uri="{FF2B5EF4-FFF2-40B4-BE49-F238E27FC236}">
                <a16:creationId xmlns:a16="http://schemas.microsoft.com/office/drawing/2014/main" id="{D72DE2B9-0BB9-4458-BE29-85501F3526EF}"/>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2255162C-61FF-437D-86D1-E2A0734CCEE0}"/>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MyCity 챗봇과 통합 서비스로 정확한 사업 안내 및 한곳</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에서 과업 수행</a:t>
            </a:r>
          </a:p>
        </p:txBody>
      </p:sp>
      <p:sp>
        <p:nvSpPr>
          <p:cNvPr id="10" name="">
            <a:extLst xmlns:a="http://schemas.openxmlformats.org/drawingml/2006/main">
              <a:ext uri="{FF2B5EF4-FFF2-40B4-BE49-F238E27FC236}">
                <a16:creationId xmlns:a16="http://schemas.microsoft.com/office/drawing/2014/main" id="{B944199F-33DD-4368-A91A-7AAC581A06D7}"/>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955145E1-D1B4-4375-9B63-0A0CD3BFBA23}"/>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정보 탐색·신청 부담 감소와 사업자 서비스 접근성 개선</a:t>
            </a:r>
          </a:p>
        </p:txBody>
      </p:sp>
      <p:sp>
        <p:nvSpPr>
          <p:cNvPr id="12" name="">
            <a:extLst xmlns:a="http://schemas.openxmlformats.org/drawingml/2006/main">
              <a:ext uri="{FF2B5EF4-FFF2-40B4-BE49-F238E27FC236}">
                <a16:creationId xmlns:a16="http://schemas.microsoft.com/office/drawing/2014/main" id="{9E64E0C5-9C51-4287-922A-0ACF850217D5}"/>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46EEDBFF-69B6-45B8-9F36-35B8AB86FDBE}"/>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뉴욕시 감사기관이 부정확·비일관 답변과 단일 신청·디지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털 지갑 미구현을 지적; 운영기관 내부 평가에서 답해야 할</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질문 48개 중 23개 미응답도 확인</a:t>
            </a:r>
          </a:p>
        </p:txBody>
      </p:sp>
      <p:sp>
        <p:nvSpPr>
          <p:cNvPr id="14" name="">
            <a:extLst xmlns:a="http://schemas.openxmlformats.org/drawingml/2006/main">
              <a:ext uri="{FF2B5EF4-FFF2-40B4-BE49-F238E27FC236}">
                <a16:creationId xmlns:a16="http://schemas.microsoft.com/office/drawing/2014/main" id="{61F495E8-7732-4305-9818-0A68A94BEAFD}"/>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확인 · 반복 질문의 응답 불일치와 약속한 통합 과업 미완성이 감사상 확인; 운영기관의 높은 정확도 주장에는 분모·제</a:t>
            </a:r>
          </a:p>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외 응답에 관한 감사 이견 존재</a:t>
            </a:r>
          </a:p>
        </p:txBody>
      </p:sp>
      <p:sp>
        <p:nvSpPr>
          <p:cNvPr id="15" name="">
            <a:extLst xmlns:a="http://schemas.openxmlformats.org/drawingml/2006/main">
              <a:ext uri="{FF2B5EF4-FFF2-40B4-BE49-F238E27FC236}">
                <a16:creationId xmlns:a16="http://schemas.microsoft.com/office/drawing/2014/main" id="{6F2D8652-C1E3-430C-924C-6B48548A3DD6}"/>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시 감사기관 사후 감사 · 감사 대상·시점에 한정. 23/48은 내부 평가 일부 표본이며 전체 질의 실패율 아님</a:t>
            </a:r>
          </a:p>
        </p:txBody>
      </p:sp>
    </p:spTree>
    <p:extLst>
      <p:ext uri="{BB962C8B-B14F-4D97-AF65-F5344CB8AC3E}">
        <p14:creationId xmlns:p14="http://schemas.microsoft.com/office/powerpoint/2010/main" val="2101167127"/>
      </p:ext>
    </p:extLst>
  </p:cSld>
</p:sld>
</file>

<file path=ppt/slides/slide7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F1BCD6C8-5F35-497A-B29A-33D41FA19B74}"/>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E24C9D02-9B44-418C-87C1-EC9CA347D908}"/>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9C7CAF7A-6076-422E-801D-78BF5D74D1F1}"/>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F20840F7-1C60-410B-8F2A-ECFB911215ED}"/>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46BCF9B7-A937-4668-B5EE-6BBE562649B5}"/>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048F16C2-762D-463A-A47C-C6AF6C2296A1}"/>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640CFE8E-F4CC-448B-B42B-84FC3B42F80B}"/>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D8237AD9-2A05-48C7-9790-CD6FE013C62F}"/>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99E72BB6-2FBF-4F5A-9AAA-65B52A99BBB9}"/>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1019A69E-611D-4656-B055-BEAEC3DFBFC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AX13 / 지식 갱신·검색·근거 응답</a:t>
            </a:r>
          </a:p>
        </p:txBody>
      </p:sp>
      <p:sp>
        <p:nvSpPr>
          <p:cNvPr id="2" name="">
            <a:extLst xmlns:a="http://schemas.openxmlformats.org/drawingml/2006/main">
              <a:ext uri="{FF2B5EF4-FFF2-40B4-BE49-F238E27FC236}">
                <a16:creationId xmlns:a16="http://schemas.microsoft.com/office/drawing/2014/main" id="{17A0AD80-AE99-4680-ADC5-65802435E18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뉴욕 MyCity 챗봇 감사 · 세부 서비스 구조</a:t>
            </a:r>
          </a:p>
        </p:txBody>
      </p:sp>
      <p:sp>
        <p:nvSpPr>
          <p:cNvPr id="3" name="">
            <a:extLst xmlns:a="http://schemas.openxmlformats.org/drawingml/2006/main">
              <a:ext uri="{FF2B5EF4-FFF2-40B4-BE49-F238E27FC236}">
                <a16:creationId xmlns:a16="http://schemas.microsoft.com/office/drawing/2014/main" id="{5CC61924-892D-4E33-ACA6-F6B5DEADA4C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D83B5AA-2BEC-4CAA-8B12-6FF4987A419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8FF8BD64-DCB0-4992-8CFC-931B5226545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70</a:t>
            </a:r>
          </a:p>
        </p:txBody>
      </p:sp>
      <p:sp>
        <p:nvSpPr>
          <p:cNvPr id="6" name="">
            <a:extLst xmlns:a="http://schemas.openxmlformats.org/drawingml/2006/main">
              <a:ext uri="{FF2B5EF4-FFF2-40B4-BE49-F238E27FC236}">
                <a16:creationId xmlns:a16="http://schemas.microsoft.com/office/drawing/2014/main" id="{9AC73168-229C-4044-8F52-7EF2B889B30E}"/>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공공 안내 자료 → AI 챗봇 → 사업자 안내 → 감사·개선 요청</a:t>
            </a:r>
          </a:p>
        </p:txBody>
      </p:sp>
      <p:sp>
        <p:nvSpPr>
          <p:cNvPr id="7" name="">
            <a:extLst xmlns:a="http://schemas.openxmlformats.org/drawingml/2006/main">
              <a:ext uri="{FF2B5EF4-FFF2-40B4-BE49-F238E27FC236}">
                <a16:creationId xmlns:a16="http://schemas.microsoft.com/office/drawing/2014/main" id="{AD5E2DAA-02B6-4AB0-941A-B69FD8575B36}"/>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D9FEB426-2038-4129-949A-85B63194CEED}"/>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33B2C580-17FE-4BA9-B565-D5B8200EC44D}"/>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정책·서비스 목록</a:t>
            </a:r>
          </a:p>
        </p:txBody>
      </p:sp>
      <p:sp>
        <p:nvSpPr>
          <p:cNvPr id="10" name="">
            <a:extLst xmlns:a="http://schemas.openxmlformats.org/drawingml/2006/main">
              <a:ext uri="{FF2B5EF4-FFF2-40B4-BE49-F238E27FC236}">
                <a16:creationId xmlns:a16="http://schemas.microsoft.com/office/drawing/2014/main" id="{F4CEAFE8-080C-4BC9-BA25-3D4AA7092034}"/>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5F871EDB-53B2-457A-9F51-8779BA9BA969}"/>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FEF22DE8-8738-4DEA-BBD8-7D22A72E380D}"/>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판본·적용조건 정리</a:t>
            </a:r>
          </a:p>
        </p:txBody>
      </p:sp>
      <p:sp>
        <p:nvSpPr>
          <p:cNvPr id="13" name="">
            <a:extLst xmlns:a="http://schemas.openxmlformats.org/drawingml/2006/main">
              <a:ext uri="{FF2B5EF4-FFF2-40B4-BE49-F238E27FC236}">
                <a16:creationId xmlns:a16="http://schemas.microsoft.com/office/drawing/2014/main" id="{2197661D-B1FA-4E70-AF3E-60FB5E714820}"/>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72BA3466-144B-41DE-A246-CCA4848420EC}"/>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DC50EC8C-7D72-4E2B-8D07-B2B114A2C5F4}"/>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안내·회귀시험셋</a:t>
            </a:r>
          </a:p>
        </p:txBody>
      </p:sp>
      <p:sp>
        <p:nvSpPr>
          <p:cNvPr id="16" name="">
            <a:extLst xmlns:a="http://schemas.openxmlformats.org/drawingml/2006/main">
              <a:ext uri="{FF2B5EF4-FFF2-40B4-BE49-F238E27FC236}">
                <a16:creationId xmlns:a16="http://schemas.microsoft.com/office/drawing/2014/main" id="{58149AAA-82B4-449E-82A2-856417A37CED}"/>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1E5ABAB4-4A2D-47FF-AE0C-7C4EC57F1C5D}"/>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9E04F057-7BCB-44F3-9125-8FE58CFFB891}"/>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공식 안내 검색</a:t>
            </a:r>
          </a:p>
        </p:txBody>
      </p:sp>
      <p:sp>
        <p:nvSpPr>
          <p:cNvPr id="19" name="">
            <a:extLst xmlns:a="http://schemas.openxmlformats.org/drawingml/2006/main">
              <a:ext uri="{FF2B5EF4-FFF2-40B4-BE49-F238E27FC236}">
                <a16:creationId xmlns:a16="http://schemas.microsoft.com/office/drawing/2014/main" id="{1A7B4CCD-4EDA-45A1-BC24-1336410966BE}"/>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B0FC9A86-BEF7-45B3-9AC6-576B3F0C68FA}"/>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0DF98D88-F07C-44D7-A743-804280F55C43}"/>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MyCity 질의</a:t>
            </a:r>
          </a:p>
        </p:txBody>
      </p:sp>
      <p:sp>
        <p:nvSpPr>
          <p:cNvPr id="22" name="">
            <a:extLst xmlns:a="http://schemas.openxmlformats.org/drawingml/2006/main">
              <a:ext uri="{FF2B5EF4-FFF2-40B4-BE49-F238E27FC236}">
                <a16:creationId xmlns:a16="http://schemas.microsoft.com/office/drawing/2014/main" id="{EFD7F7D0-7230-4891-9166-BDCB83AA2C5C}"/>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6FE32A2D-408B-4CC3-80EB-A7B91683F974}"/>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0DAADA67-8E31-406A-8568-4662E7C439BB}"/>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소관·이용조건</a:t>
            </a:r>
          </a:p>
        </p:txBody>
      </p:sp>
      <p:sp>
        <p:nvSpPr>
          <p:cNvPr id="25" name="">
            <a:extLst xmlns:a="http://schemas.openxmlformats.org/drawingml/2006/main">
              <a:ext uri="{FF2B5EF4-FFF2-40B4-BE49-F238E27FC236}">
                <a16:creationId xmlns:a16="http://schemas.microsoft.com/office/drawing/2014/main" id="{42E686D6-8B2C-4FC0-AB92-ABA53D0FD71C}"/>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41A07C1D-2D60-4144-95D8-EB794693FD7D}"/>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44C7A29D-D3EF-4711-BC8C-628BA2E96AB4}"/>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근거형 답변 구성</a:t>
            </a:r>
          </a:p>
        </p:txBody>
      </p:sp>
      <p:sp>
        <p:nvSpPr>
          <p:cNvPr id="28" name="">
            <a:extLst xmlns:a="http://schemas.openxmlformats.org/drawingml/2006/main">
              <a:ext uri="{FF2B5EF4-FFF2-40B4-BE49-F238E27FC236}">
                <a16:creationId xmlns:a16="http://schemas.microsoft.com/office/drawing/2014/main" id="{0C7B98D1-C38E-4CA2-B291-B8AAE291E7B9}"/>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0468BF63-88B3-4797-8542-6057DC4BEF1A}"/>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A4B586BB-D83D-485D-8A52-C3E6769C5A7A}"/>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위법·상충 안내 </a:t>
            </a:r>
          </a:p>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검사</a:t>
            </a:r>
          </a:p>
        </p:txBody>
      </p:sp>
      <p:sp>
        <p:nvSpPr>
          <p:cNvPr id="31" name="">
            <a:extLst xmlns:a="http://schemas.openxmlformats.org/drawingml/2006/main">
              <a:ext uri="{FF2B5EF4-FFF2-40B4-BE49-F238E27FC236}">
                <a16:creationId xmlns:a16="http://schemas.microsoft.com/office/drawing/2014/main" id="{E55E9694-E8D9-4047-B021-3375EE175AFC}"/>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5AB1720D-26A6-4A1B-BE72-3D4C7B7391D7}"/>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C052FFAD-9FB1-4A0E-8284-FD3780AD53E3}"/>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서비스 담당 검토</a:t>
            </a:r>
          </a:p>
        </p:txBody>
      </p:sp>
      <p:sp>
        <p:nvSpPr>
          <p:cNvPr id="34" name="">
            <a:extLst xmlns:a="http://schemas.openxmlformats.org/drawingml/2006/main">
              <a:ext uri="{FF2B5EF4-FFF2-40B4-BE49-F238E27FC236}">
                <a16:creationId xmlns:a16="http://schemas.microsoft.com/office/drawing/2014/main" id="{8CB8BD0F-646A-438E-9358-50D08E2F4BCB}"/>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5C33DCC0-5EEF-49EC-B486-7418F611068B}"/>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8AF69263-458C-425B-BF71-51B8042BD0AA}"/>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신청 경로 안내</a:t>
            </a:r>
          </a:p>
        </p:txBody>
      </p:sp>
      <p:sp>
        <p:nvSpPr>
          <p:cNvPr id="46" name="">
            <a:extLst xmlns:a="http://schemas.openxmlformats.org/drawingml/2006/main">
              <a:ext uri="{FF2B5EF4-FFF2-40B4-BE49-F238E27FC236}">
                <a16:creationId xmlns:a16="http://schemas.microsoft.com/office/drawing/2014/main" id="{2CEFD72A-7AD1-4A8A-B107-651681315075}"/>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92244907"/>
      </p:ext>
    </p:extLst>
  </p:cSld>
</p:sld>
</file>

<file path=ppt/slides/slide7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B4EC634E-E0A3-40B1-A3E0-3588EA88F41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AX13 / 논리 인터페이스·복구 설계</a:t>
            </a:r>
          </a:p>
        </p:txBody>
      </p:sp>
      <p:sp>
        <p:nvSpPr>
          <p:cNvPr id="2" name="">
            <a:extLst xmlns:a="http://schemas.openxmlformats.org/drawingml/2006/main">
              <a:ext uri="{FF2B5EF4-FFF2-40B4-BE49-F238E27FC236}">
                <a16:creationId xmlns:a16="http://schemas.microsoft.com/office/drawing/2014/main" id="{5F791CA4-F714-4408-8B0C-4B38AC96C64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뉴욕 MyCity 챗봇 감사 · 데이터와 예외 처리</a:t>
            </a:r>
          </a:p>
        </p:txBody>
      </p:sp>
      <p:sp>
        <p:nvSpPr>
          <p:cNvPr id="3" name="">
            <a:extLst xmlns:a="http://schemas.openxmlformats.org/drawingml/2006/main">
              <a:ext uri="{FF2B5EF4-FFF2-40B4-BE49-F238E27FC236}">
                <a16:creationId xmlns:a16="http://schemas.microsoft.com/office/drawing/2014/main" id="{87FE2975-8731-4D07-BCEB-C41CCE5FD84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4BED0FD-F8DC-4737-B912-3D96313DA2A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8C17CF54-9DE0-47E9-9F67-F2EA2F5C3D5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71</a:t>
            </a:r>
          </a:p>
        </p:txBody>
      </p:sp>
      <p:sp>
        <p:nvSpPr>
          <p:cNvPr id="6" name="">
            <a:extLst xmlns:a="http://schemas.openxmlformats.org/drawingml/2006/main">
              <a:ext uri="{FF2B5EF4-FFF2-40B4-BE49-F238E27FC236}">
                <a16:creationId xmlns:a16="http://schemas.microsoft.com/office/drawing/2014/main" id="{9AFCBFE3-9337-4DE4-A7D1-7FCC47BC2BCC}"/>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C09D5774-6D5F-4C03-A322-79D17EA59C87}"/>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756D60EC-BA23-4146-9C40-93C39E27C406}"/>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08DFDBA4-CCC5-45D1-9040-157C12E97039}"/>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공공 안내·응답 기록</a:t>
            </a:r>
          </a:p>
        </p:txBody>
      </p:sp>
      <p:sp>
        <p:nvSpPr>
          <p:cNvPr id="10" name="">
            <a:extLst xmlns:a="http://schemas.openxmlformats.org/drawingml/2006/main">
              <a:ext uri="{FF2B5EF4-FFF2-40B4-BE49-F238E27FC236}">
                <a16:creationId xmlns:a16="http://schemas.microsoft.com/office/drawing/2014/main" id="{C067A748-CCE5-433A-9D2A-5F2EA6356C30}"/>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862AC55-EBC9-40D0-A4F6-94129C61AAF1}"/>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210454C8-250B-4856-A84D-614B2720649D}"/>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9536FB62-6DFA-4661-AC84-F4F495A30EF2}"/>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3825C4D-E91F-4146-A0FC-02BA14C2D7ED}"/>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825E6295-DBE5-40D9-8A55-27ADFFAAA6FD}"/>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요청 업무와 공식 소관·이용조건 식별</a:t>
            </a:r>
          </a:p>
        </p:txBody>
      </p:sp>
      <p:sp>
        <p:nvSpPr>
          <p:cNvPr id="16" name="">
            <a:extLst xmlns:a="http://schemas.openxmlformats.org/drawingml/2006/main">
              <a:ext uri="{FF2B5EF4-FFF2-40B4-BE49-F238E27FC236}">
                <a16:creationId xmlns:a16="http://schemas.microsoft.com/office/drawing/2014/main" id="{29E9BC68-99B0-4569-8F0E-35AEC956B93A}"/>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98E0EBD-38F2-475F-8833-37DB70355E50}"/>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932E3092-C8A4-4D26-843D-AF9273A1CDA2}"/>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질문별 정답·변형 질의 일관성·실제 서비스 </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도달 기록</a:t>
            </a:r>
          </a:p>
        </p:txBody>
      </p:sp>
      <p:sp>
        <p:nvSpPr>
          <p:cNvPr id="19" name="">
            <a:extLst xmlns:a="http://schemas.openxmlformats.org/drawingml/2006/main">
              <a:ext uri="{FF2B5EF4-FFF2-40B4-BE49-F238E27FC236}">
                <a16:creationId xmlns:a16="http://schemas.microsoft.com/office/drawing/2014/main" id="{0983EBA2-399F-40AA-B691-3B68B76D8F3F}"/>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1E16CD4-B345-49F7-BED0-C6C82A0E8BC8}"/>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87A49073-4EB2-49C7-A559-A233807CBAA5}"/>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안내 자료</a:t>
            </a:r>
          </a:p>
        </p:txBody>
      </p:sp>
      <p:sp>
        <p:nvSpPr>
          <p:cNvPr id="22" name="">
            <a:extLst xmlns:a="http://schemas.openxmlformats.org/drawingml/2006/main">
              <a:ext uri="{FF2B5EF4-FFF2-40B4-BE49-F238E27FC236}">
                <a16:creationId xmlns:a16="http://schemas.microsoft.com/office/drawing/2014/main" id="{7EB1CBE9-E48E-47E3-8AF0-2D8049496221}"/>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D391CD3B-C608-4F8E-A09C-A0A8E4EE2B69}"/>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2ECA64D7-E40F-4947-B0BC-C0030BE15CC9}"/>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챗봇 답변·연결</a:t>
            </a:r>
          </a:p>
        </p:txBody>
      </p:sp>
      <p:sp>
        <p:nvSpPr>
          <p:cNvPr id="25" name="">
            <a:extLst xmlns:a="http://schemas.openxmlformats.org/drawingml/2006/main">
              <a:ext uri="{FF2B5EF4-FFF2-40B4-BE49-F238E27FC236}">
                <a16:creationId xmlns:a16="http://schemas.microsoft.com/office/drawing/2014/main" id="{DED9A1F5-3E17-4FAF-90B7-8B4A38C3C0B0}"/>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0CD2E1FF-A2EF-426E-BB3F-FA7DC0623897}"/>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동일 질문 표현 변경·상충 규정·폐지된 서비스</a:t>
            </a:r>
          </a:p>
        </p:txBody>
      </p:sp>
      <p:sp>
        <p:nvSpPr>
          <p:cNvPr id="27" name="">
            <a:extLst xmlns:a="http://schemas.openxmlformats.org/drawingml/2006/main">
              <a:ext uri="{FF2B5EF4-FFF2-40B4-BE49-F238E27FC236}">
                <a16:creationId xmlns:a16="http://schemas.microsoft.com/office/drawing/2014/main" id="{ECD26864-6AB9-43B7-96AB-E4A7A64A0F6A}"/>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97BA1ACA-7D9D-4848-B806-01C0E8F015C9}"/>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OTI 반론을 함께 보존한 근거별 평가</a:t>
            </a:r>
          </a:p>
        </p:txBody>
      </p:sp>
      <p:sp>
        <p:nvSpPr>
          <p:cNvPr id="29" name="">
            <a:extLst xmlns:a="http://schemas.openxmlformats.org/drawingml/2006/main">
              <a:ext uri="{FF2B5EF4-FFF2-40B4-BE49-F238E27FC236}">
                <a16:creationId xmlns:a16="http://schemas.microsoft.com/office/drawing/2014/main" id="{FB811967-D1B6-45C2-8A03-882C9CE5E858}"/>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7202E211-B553-4576-852A-80EEC83717E3}"/>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회귀시험·오답 보완·계약 산출물의 대사</a:t>
            </a:r>
          </a:p>
        </p:txBody>
      </p:sp>
      <p:sp>
        <p:nvSpPr>
          <p:cNvPr id="31" name="">
            <a:extLst xmlns:a="http://schemas.openxmlformats.org/drawingml/2006/main">
              <a:ext uri="{FF2B5EF4-FFF2-40B4-BE49-F238E27FC236}">
                <a16:creationId xmlns:a16="http://schemas.microsoft.com/office/drawing/2014/main" id="{7576C08D-D57B-4291-A12C-5B62BD7A4D7D}"/>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7AC1C070-3F9A-4E01-8202-8F789F5704E7}"/>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질문별 정답·변형 질의 일관성·실제 서비스 도달 기록</a:t>
            </a:r>
          </a:p>
        </p:txBody>
      </p:sp>
    </p:spTree>
    <p:extLst>
      <p:ext uri="{BB962C8B-B14F-4D97-AF65-F5344CB8AC3E}">
        <p14:creationId xmlns:p14="http://schemas.microsoft.com/office/powerpoint/2010/main" val="1621341997"/>
      </p:ext>
    </p:extLst>
  </p:cSld>
</p:sld>
</file>

<file path=ppt/slides/slide7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A6CCB99-7E55-4D85-BEB3-AAB1AA0700D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AX13 / CCK 비교·재현 시험 설계</a:t>
            </a:r>
          </a:p>
        </p:txBody>
      </p:sp>
      <p:sp>
        <p:nvSpPr>
          <p:cNvPr id="2" name="">
            <a:extLst xmlns:a="http://schemas.openxmlformats.org/drawingml/2006/main">
              <a:ext uri="{FF2B5EF4-FFF2-40B4-BE49-F238E27FC236}">
                <a16:creationId xmlns:a16="http://schemas.microsoft.com/office/drawing/2014/main" id="{3BD0560A-03DE-457F-A23D-EA60F9D5A98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뉴욕 MyCity 챗봇 감사 · 벤치마킹</a:t>
            </a:r>
          </a:p>
        </p:txBody>
      </p:sp>
      <p:sp>
        <p:nvSpPr>
          <p:cNvPr id="3" name="">
            <a:extLst xmlns:a="http://schemas.openxmlformats.org/drawingml/2006/main">
              <a:ext uri="{FF2B5EF4-FFF2-40B4-BE49-F238E27FC236}">
                <a16:creationId xmlns:a16="http://schemas.microsoft.com/office/drawing/2014/main" id="{778CE12A-6D73-4522-BC2E-6C6E7F4AF2B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1319D3E-A5A4-46D5-9FC1-08FB7C0C1FF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D77CB54C-77E2-44EA-AECC-5779626C93C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72</a:t>
            </a:r>
          </a:p>
        </p:txBody>
      </p:sp>
      <p:sp>
        <p:nvSpPr>
          <p:cNvPr id="6" name="">
            <a:extLst xmlns:a="http://schemas.openxmlformats.org/drawingml/2006/main">
              <a:ext uri="{FF2B5EF4-FFF2-40B4-BE49-F238E27FC236}">
                <a16:creationId xmlns:a16="http://schemas.microsoft.com/office/drawing/2014/main" id="{2EB8B1CC-D323-43BF-B3CF-7C5020A47C0B}"/>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재발 방지 조건</a:t>
            </a:r>
          </a:p>
        </p:txBody>
      </p:sp>
      <p:sp>
        <p:nvSpPr>
          <p:cNvPr id="7" name="">
            <a:extLst xmlns:a="http://schemas.openxmlformats.org/drawingml/2006/main">
              <a:ext uri="{FF2B5EF4-FFF2-40B4-BE49-F238E27FC236}">
                <a16:creationId xmlns:a16="http://schemas.microsoft.com/office/drawing/2014/main" id="{6D2B2387-42E6-485F-98DA-E2A275CCCB9E}"/>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업무 완결 조건과 책임 범위 정의</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독립 평가셋·계약 산출물 추적</a:t>
            </a:r>
          </a:p>
        </p:txBody>
      </p:sp>
      <p:sp>
        <p:nvSpPr>
          <p:cNvPr id="8" name="">
            <a:extLst xmlns:a="http://schemas.openxmlformats.org/drawingml/2006/main">
              <a:ext uri="{FF2B5EF4-FFF2-40B4-BE49-F238E27FC236}">
                <a16:creationId xmlns:a16="http://schemas.microsoft.com/office/drawing/2014/main" id="{C4B52E68-76E2-41BE-88EF-330AAF5D0211}"/>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요인·시정 쟁점</a:t>
            </a:r>
          </a:p>
        </p:txBody>
      </p:sp>
      <p:sp>
        <p:nvSpPr>
          <p:cNvPr id="9" name="">
            <a:extLst xmlns:a="http://schemas.openxmlformats.org/drawingml/2006/main">
              <a:ext uri="{FF2B5EF4-FFF2-40B4-BE49-F238E27FC236}">
                <a16:creationId xmlns:a16="http://schemas.microsoft.com/office/drawing/2014/main" id="{5B85549F-2ABF-4B7C-BD02-60C20B8B2C1A}"/>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감사에서 지적된 부정확·비일관 답변</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통합서비스 계획·계약 감독의 미비</a:t>
            </a:r>
          </a:p>
        </p:txBody>
      </p:sp>
      <p:sp>
        <p:nvSpPr>
          <p:cNvPr id="10" name="">
            <a:extLst xmlns:a="http://schemas.openxmlformats.org/drawingml/2006/main">
              <a:ext uri="{FF2B5EF4-FFF2-40B4-BE49-F238E27FC236}">
                <a16:creationId xmlns:a16="http://schemas.microsoft.com/office/drawing/2014/main" id="{D59AA957-8B94-4FB9-BBD3-E31F80FE9CC0}"/>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B1D56F0F-C3E6-498C-9023-B9614846BFB9}"/>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OTI 반론을 함께 보존한 근거별 평가</a:t>
            </a:r>
          </a:p>
        </p:txBody>
      </p:sp>
      <p:sp>
        <p:nvSpPr>
          <p:cNvPr id="12" name="">
            <a:extLst xmlns:a="http://schemas.openxmlformats.org/drawingml/2006/main">
              <a:ext uri="{FF2B5EF4-FFF2-40B4-BE49-F238E27FC236}">
                <a16:creationId xmlns:a16="http://schemas.microsoft.com/office/drawing/2014/main" id="{DD557D70-CC73-4F98-BDAD-BA8839910507}"/>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373880D7-2BDE-41B7-9735-453555EE4AB8}"/>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사업자가 허가 조건을 질문해 공식 안내로 이동</a:t>
            </a:r>
          </a:p>
        </p:txBody>
      </p:sp>
      <p:sp>
        <p:nvSpPr>
          <p:cNvPr id="14" name="">
            <a:extLst xmlns:a="http://schemas.openxmlformats.org/drawingml/2006/main">
              <a:ext uri="{FF2B5EF4-FFF2-40B4-BE49-F238E27FC236}">
                <a16:creationId xmlns:a16="http://schemas.microsoft.com/office/drawing/2014/main" id="{350CEA42-3397-4AFB-84E8-E20DA189FB9F}"/>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1F1BE7AA-8330-4E33-98F3-DDDC00774574}"/>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동일 질문 표현 변경·상충 규정·폐지된 서비스</a:t>
            </a:r>
          </a:p>
        </p:txBody>
      </p:sp>
      <p:sp>
        <p:nvSpPr>
          <p:cNvPr id="16" name="">
            <a:extLst xmlns:a="http://schemas.openxmlformats.org/drawingml/2006/main">
              <a:ext uri="{FF2B5EF4-FFF2-40B4-BE49-F238E27FC236}">
                <a16:creationId xmlns:a16="http://schemas.microsoft.com/office/drawing/2014/main" id="{59E55348-8841-43DE-8731-366E4F80BF05}"/>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111E00BA-90BB-4EE6-A200-7A98D5FD9C94}"/>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질문별 정답·변형 질의 일관성·실제 서비스 도달 기</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록</a:t>
            </a:r>
          </a:p>
        </p:txBody>
      </p:sp>
    </p:spTree>
    <p:extLst>
      <p:ext uri="{BB962C8B-B14F-4D97-AF65-F5344CB8AC3E}">
        <p14:creationId xmlns:p14="http://schemas.microsoft.com/office/powerpoint/2010/main" val="606937247"/>
      </p:ext>
    </p:extLst>
  </p:cSld>
</p:sld>
</file>

<file path=ppt/slides/slide7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654CC1B-88A2-4AAA-99F1-C12255D32D0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AX14 / 성과 미검증 / 해외</a:t>
            </a:r>
          </a:p>
        </p:txBody>
      </p:sp>
      <p:sp>
        <p:nvSpPr>
          <p:cNvPr id="2" name="">
            <a:extLst xmlns:a="http://schemas.openxmlformats.org/drawingml/2006/main">
              <a:ext uri="{FF2B5EF4-FFF2-40B4-BE49-F238E27FC236}">
                <a16:creationId xmlns:a16="http://schemas.microsoft.com/office/drawing/2014/main" id="{7EDA7B42-4562-4E0C-BCFD-72254D098FF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DHL Protex AI 안전 실증</a:t>
            </a:r>
          </a:p>
        </p:txBody>
      </p:sp>
      <p:sp>
        <p:nvSpPr>
          <p:cNvPr id="3" name="">
            <a:extLst xmlns:a="http://schemas.openxmlformats.org/drawingml/2006/main">
              <a:ext uri="{FF2B5EF4-FFF2-40B4-BE49-F238E27FC236}">
                <a16:creationId xmlns:a16="http://schemas.microsoft.com/office/drawing/2014/main" id="{6624DCF2-0623-4365-A97E-D697DF812D4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2E57D9D-CCA8-42B7-8156-08664DCB7A4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F75FA240-1E2F-4F17-88B6-071F2D46FAB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73</a:t>
            </a:r>
          </a:p>
        </p:txBody>
      </p:sp>
      <p:sp>
        <p:nvSpPr>
          <p:cNvPr id="6" name="">
            <a:extLst xmlns:a="http://schemas.openxmlformats.org/drawingml/2006/main">
              <a:ext uri="{FF2B5EF4-FFF2-40B4-BE49-F238E27FC236}">
                <a16:creationId xmlns:a16="http://schemas.microsoft.com/office/drawing/2014/main" id="{A05E3A8F-DC54-4702-8919-985E365C4CBA}"/>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1D7CB05C-1E6F-454C-9131-8BB374A057CD}"/>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물류 작업장의 영상에서 위험 행동·근접 상황을 선별해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안전 담당자의 예방 조치를 돕는 사례. 탐지 이후의 검토</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·조치 연결이 현장 적용의 핵심.</a:t>
            </a:r>
          </a:p>
        </p:txBody>
      </p:sp>
      <p:sp>
        <p:nvSpPr>
          <p:cNvPr id="8" name="">
            <a:extLst xmlns:a="http://schemas.openxmlformats.org/drawingml/2006/main">
              <a:ext uri="{FF2B5EF4-FFF2-40B4-BE49-F238E27FC236}">
                <a16:creationId xmlns:a16="http://schemas.microsoft.com/office/drawing/2014/main" id="{25F91B00-B0D9-4C9E-9C2A-EC10CE28DB98}"/>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87749F60-C06A-45C2-A94B-B3E1B0587E06}"/>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구역·작업시간·영상 접근범위를 지정하고 위험 후보를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사건 단위로 저장하는 구조의 재구성. 담당자가 현장 상</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황을 확인해 개선 조치를 기록하고 재발 여부를 검토하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는 흐름.</a:t>
            </a:r>
          </a:p>
        </p:txBody>
      </p:sp>
      <p:sp>
        <p:nvSpPr>
          <p:cNvPr id="10" name="">
            <a:extLst xmlns:a="http://schemas.openxmlformats.org/drawingml/2006/main">
              <a:ext uri="{FF2B5EF4-FFF2-40B4-BE49-F238E27FC236}">
                <a16:creationId xmlns:a16="http://schemas.microsoft.com/office/drawing/2014/main" id="{F9B05883-C7A9-4695-85F8-1B3E0990DCA4}"/>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C94AA743-D647-44C2-9161-D094AEBB490E}"/>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시설·사업장 적용에서 카메라 설치만으로 안전 효과를</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주장하기 어려운 유형. 구역·작업별 오경보와 중요 미탐,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경보 확인·조치 시간, 조치 후 재발을 분리해 평가할 필요.</a:t>
            </a:r>
          </a:p>
        </p:txBody>
      </p:sp>
      <p:sp>
        <p:nvSpPr>
          <p:cNvPr id="12" name="">
            <a:extLst xmlns:a="http://schemas.openxmlformats.org/drawingml/2006/main">
              <a:ext uri="{FF2B5EF4-FFF2-40B4-BE49-F238E27FC236}">
                <a16:creationId xmlns:a16="http://schemas.microsoft.com/office/drawing/2014/main" id="{F3D4420B-026F-4B87-A604-F9A18250895D}"/>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5C971F27-4572-4958-BB9C-C28D9CEA16D7}"/>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현장 사건 사전·검토 큐·조치 이력</a:t>
            </a:r>
          </a:p>
        </p:txBody>
      </p:sp>
      <p:sp>
        <p:nvSpPr>
          <p:cNvPr id="14" name="">
            <a:extLst xmlns:a="http://schemas.openxmlformats.org/drawingml/2006/main">
              <a:ext uri="{FF2B5EF4-FFF2-40B4-BE49-F238E27FC236}">
                <a16:creationId xmlns:a16="http://schemas.microsoft.com/office/drawing/2014/main" id="{AB3336AB-0B0F-405A-A728-C2F71A31F206}"/>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A15C2E04-E46B-444C-90DC-3EE454F744FC}"/>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오탐·미탐·사람 가림·조치 누락 시나리오</a:t>
            </a:r>
          </a:p>
        </p:txBody>
      </p:sp>
      <p:sp>
        <p:nvSpPr>
          <p:cNvPr id="16" name="">
            <a:extLst xmlns:a="http://schemas.openxmlformats.org/drawingml/2006/main">
              <a:ext uri="{FF2B5EF4-FFF2-40B4-BE49-F238E27FC236}">
                <a16:creationId xmlns:a16="http://schemas.microsoft.com/office/drawing/2014/main" id="{9D044773-0473-4118-B04D-85A54824A749}"/>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CF5D28BB-5958-473B-93E2-4373D9A4F0D0}"/>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위험 확인시간 / 조치 이행률</a:t>
            </a:r>
          </a:p>
        </p:txBody>
      </p:sp>
      <p:sp>
        <p:nvSpPr>
          <p:cNvPr id="18" name="">
            <a:extLst xmlns:a="http://schemas.openxmlformats.org/drawingml/2006/main">
              <a:ext uri="{FF2B5EF4-FFF2-40B4-BE49-F238E27FC236}">
                <a16:creationId xmlns:a16="http://schemas.microsoft.com/office/drawing/2014/main" id="{246BB9D4-503D-476A-B0C8-0FEC914343F9}"/>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PoC 범위 · 전 사업장 확산·재해 감소 실측과 구분</a:t>
            </a:r>
          </a:p>
        </p:txBody>
      </p:sp>
    </p:spTree>
    <p:extLst>
      <p:ext uri="{BB962C8B-B14F-4D97-AF65-F5344CB8AC3E}">
        <p14:creationId xmlns:p14="http://schemas.microsoft.com/office/powerpoint/2010/main" val="341648545"/>
      </p:ext>
    </p:extLst>
  </p:cSld>
</p:sld>
</file>

<file path=ppt/slides/slide7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D8139BF-6BED-4DB7-BE56-6FFB22E3FB6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AX14 / As-Is → To-Be → 기대효과 → 확인 결과</a:t>
            </a:r>
          </a:p>
        </p:txBody>
      </p:sp>
      <p:sp>
        <p:nvSpPr>
          <p:cNvPr id="2" name="">
            <a:extLst xmlns:a="http://schemas.openxmlformats.org/drawingml/2006/main">
              <a:ext uri="{FF2B5EF4-FFF2-40B4-BE49-F238E27FC236}">
                <a16:creationId xmlns:a16="http://schemas.microsoft.com/office/drawing/2014/main" id="{F64932F2-BADC-4855-BA87-2FD404152B4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DHL Protex AI 안전 실증 · 기대와 결과</a:t>
            </a:r>
          </a:p>
        </p:txBody>
      </p:sp>
      <p:sp>
        <p:nvSpPr>
          <p:cNvPr id="3" name="">
            <a:extLst xmlns:a="http://schemas.openxmlformats.org/drawingml/2006/main">
              <a:ext uri="{FF2B5EF4-FFF2-40B4-BE49-F238E27FC236}">
                <a16:creationId xmlns:a16="http://schemas.microsoft.com/office/drawing/2014/main" id="{8AAA1621-390E-47E0-A7CF-B28772634C5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98BBD5C-2B76-4914-BC5E-301E5885459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F4628520-D73B-4B7D-B629-B1E4A03FF47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74</a:t>
            </a:r>
          </a:p>
        </p:txBody>
      </p:sp>
      <p:sp>
        <p:nvSpPr>
          <p:cNvPr id="6" name="">
            <a:extLst xmlns:a="http://schemas.openxmlformats.org/drawingml/2006/main">
              <a:ext uri="{FF2B5EF4-FFF2-40B4-BE49-F238E27FC236}">
                <a16:creationId xmlns:a16="http://schemas.microsoft.com/office/drawing/2014/main" id="{5BCB5107-A091-47A4-BD88-538DAFAF248F}"/>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2942A7E6-EBE1-49B6-A703-92FE65A9F9A0}"/>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물류 현장 위험 행동을 안전 담당자가 순찰·사후 기록에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의존해 포착</a:t>
            </a:r>
          </a:p>
        </p:txBody>
      </p:sp>
      <p:sp>
        <p:nvSpPr>
          <p:cNvPr id="8" name="">
            <a:extLst xmlns:a="http://schemas.openxmlformats.org/drawingml/2006/main">
              <a:ext uri="{FF2B5EF4-FFF2-40B4-BE49-F238E27FC236}">
                <a16:creationId xmlns:a16="http://schemas.microsoft.com/office/drawing/2014/main" id="{75D57B11-9E0D-4015-B790-9E5C41D8A0A7}"/>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51EC13CE-56BA-4574-AC29-16B4C5208DE2}"/>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현장 영상에서 위험 사건 후보를 자동 추출하고 안전 담당</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자가 선제 조치</a:t>
            </a:r>
          </a:p>
        </p:txBody>
      </p:sp>
      <p:sp>
        <p:nvSpPr>
          <p:cNvPr id="10" name="">
            <a:extLst xmlns:a="http://schemas.openxmlformats.org/drawingml/2006/main">
              <a:ext uri="{FF2B5EF4-FFF2-40B4-BE49-F238E27FC236}">
                <a16:creationId xmlns:a16="http://schemas.microsoft.com/office/drawing/2014/main" id="{B1DE8F2F-FACD-46AE-91EC-570FA330ECFC}"/>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07CADB13-BCEE-4A6E-8D0F-D978DB1273AB}"/>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위험 발견 시간 단축과 사고 예방</a:t>
            </a:r>
          </a:p>
        </p:txBody>
      </p:sp>
      <p:sp>
        <p:nvSpPr>
          <p:cNvPr id="12" name="">
            <a:extLst xmlns:a="http://schemas.openxmlformats.org/drawingml/2006/main">
              <a:ext uri="{FF2B5EF4-FFF2-40B4-BE49-F238E27FC236}">
                <a16:creationId xmlns:a16="http://schemas.microsoft.com/office/drawing/2014/main" id="{662B17D8-CA09-4FDE-8448-AACA2D2A210C}"/>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DD176381-3B98-4F2D-BC7F-4C9E8C5B38D5}"/>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DHL·Protex AI의 현장 영상 안전 적용·실증 사례 소개</a:t>
            </a:r>
          </a:p>
        </p:txBody>
      </p:sp>
      <p:sp>
        <p:nvSpPr>
          <p:cNvPr id="14" name="">
            <a:extLst xmlns:a="http://schemas.openxmlformats.org/drawingml/2006/main">
              <a:ext uri="{FF2B5EF4-FFF2-40B4-BE49-F238E27FC236}">
                <a16:creationId xmlns:a16="http://schemas.microsoft.com/office/drawing/2014/main" id="{9EBB6F25-A245-40E0-9144-357CAFFEC85D}"/>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기술 적용 사례는 공개됐으나 재해 감소·경고 정확도·사업장 확대의 검증 수치 부재</a:t>
            </a:r>
          </a:p>
        </p:txBody>
      </p:sp>
      <p:sp>
        <p:nvSpPr>
          <p:cNvPr id="15" name="">
            <a:extLst xmlns:a="http://schemas.openxmlformats.org/drawingml/2006/main">
              <a:ext uri="{FF2B5EF4-FFF2-40B4-BE49-F238E27FC236}">
                <a16:creationId xmlns:a16="http://schemas.microsoft.com/office/drawing/2014/main" id="{8FEFE876-6521-40AC-B412-748BC5CC2AA3}"/>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사업자 PoC 소개 · 사업자 PoC 설명 기준. 예방 효과의 확정 실적으로 해석 불가</a:t>
            </a:r>
          </a:p>
        </p:txBody>
      </p:sp>
    </p:spTree>
    <p:extLst>
      <p:ext uri="{BB962C8B-B14F-4D97-AF65-F5344CB8AC3E}">
        <p14:creationId xmlns:p14="http://schemas.microsoft.com/office/powerpoint/2010/main" val="1227483122"/>
      </p:ext>
    </p:extLst>
  </p:cSld>
</p:sld>
</file>

<file path=ppt/slides/slide7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6" name="">
            <a:extLst xmlns:a="http://schemas.openxmlformats.org/drawingml/2006/main">
              <a:ext uri="{FF2B5EF4-FFF2-40B4-BE49-F238E27FC236}">
                <a16:creationId xmlns:a16="http://schemas.microsoft.com/office/drawing/2014/main" id="{419FB884-8085-4C89-BE90-AA24F25CFA1C}"/>
              </a:ext>
            </a:extLst>
          </p:cNvPr>
          <p:cNvCxnSpPr>
            <a:stCxn xmlns:a="http://schemas.openxmlformats.org/drawingml/2006/main" id="34" idx="1"/>
            <a:endCxn xmlns:a="http://schemas.openxmlformats.org/drawingml/2006/main" id="13" idx="3"/>
          </p:cNvCxnSpPr>
          <p:nvPr/>
        </p:nvCxnSpPr>
        <p:spPr>
          <a:xfrm xmlns:a="http://schemas.openxmlformats.org/drawingml/2006/main" flipH="1" flipV="1">
            <a:off x="7096125" y="2352675"/>
            <a:ext cx="2524125" cy="2476500"/>
          </a:xfrm>
          <a:prstGeom xmlns:a="http://schemas.openxmlformats.org/drawingml/2006/main" prst="straightConnector1">
            <a:avLst/>
          </a:prstGeom>
          <a:ln xmlns:a="http://schemas.openxmlformats.org/drawingml/2006/main" w="19050">
            <a:solidFill>
              <a:srgbClr val="697F86"/>
            </a:solidFill>
            <a:tailEnd type="arrow" w="med" len="med"/>
          </a:ln>
        </p:spPr>
      </p:cxnSp>
      <p:cxnSp>
        <p:nvCxnSpPr>
          <p:cNvPr id="45" name="">
            <a:extLst xmlns:a="http://schemas.openxmlformats.org/drawingml/2006/main">
              <a:ext uri="{FF2B5EF4-FFF2-40B4-BE49-F238E27FC236}">
                <a16:creationId xmlns:a16="http://schemas.microsoft.com/office/drawing/2014/main" id="{B3E653BF-CF1F-4DD0-834F-A7310D0E71EB}"/>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9C3AF79A-B87F-4753-979D-4C7E421524BF}"/>
              </a:ext>
            </a:extLst>
          </p:cNvPr>
          <p:cNvCxnSpPr>
            <a:stCxn xmlns:a="http://schemas.openxmlformats.org/drawingml/2006/main" id="31" idx="0"/>
            <a:endCxn xmlns:a="http://schemas.openxmlformats.org/drawingml/2006/main" id="19" idx="2"/>
          </p:cNvCxnSpPr>
          <p:nvPr/>
        </p:nvCxnSpPr>
        <p:spPr>
          <a:xfrm xmlns:a="http://schemas.openxmlformats.org/drawingml/2006/main" flipV="1">
            <a:off x="8358188" y="2905125"/>
            <a:ext cx="2262187"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4930B390-0EC7-441D-8E6E-D6BBD782A5FF}"/>
              </a:ext>
            </a:extLst>
          </p:cNvPr>
          <p:cNvCxnSpPr>
            <a:stCxn xmlns:a="http://schemas.openxmlformats.org/drawingml/2006/main" id="16" idx="2"/>
            <a:endCxn xmlns:a="http://schemas.openxmlformats.org/drawingml/2006/main" id="31" idx="0"/>
          </p:cNvCxnSpPr>
          <p:nvPr/>
        </p:nvCxnSpPr>
        <p:spPr>
          <a:xfrm xmlns:a="http://schemas.openxmlformats.org/drawingml/2006/main">
            <a:off x="8358188" y="2905125"/>
            <a:ext cx="0"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2" name="">
            <a:extLst xmlns:a="http://schemas.openxmlformats.org/drawingml/2006/main">
              <a:ext uri="{FF2B5EF4-FFF2-40B4-BE49-F238E27FC236}">
                <a16:creationId xmlns:a16="http://schemas.microsoft.com/office/drawing/2014/main" id="{CF5D033E-87CE-4DED-A051-CDF59F7B08F0}"/>
              </a:ext>
            </a:extLst>
          </p:cNvPr>
          <p:cNvCxnSpPr>
            <a:stCxn xmlns:a="http://schemas.openxmlformats.org/drawingml/2006/main" id="28" idx="0"/>
            <a:endCxn xmlns:a="http://schemas.openxmlformats.org/drawingml/2006/main" id="16" idx="2"/>
          </p:cNvCxnSpPr>
          <p:nvPr/>
        </p:nvCxnSpPr>
        <p:spPr>
          <a:xfrm xmlns:a="http://schemas.openxmlformats.org/drawingml/2006/main" flipV="1">
            <a:off x="6096000" y="2905125"/>
            <a:ext cx="2262188"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1" name="">
            <a:extLst xmlns:a="http://schemas.openxmlformats.org/drawingml/2006/main">
              <a:ext uri="{FF2B5EF4-FFF2-40B4-BE49-F238E27FC236}">
                <a16:creationId xmlns:a16="http://schemas.microsoft.com/office/drawing/2014/main" id="{8E2DB336-0032-4EFF-816B-880EAD8C9FB3}"/>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20F48CF0-CEDE-479B-B817-C519BA0F1171}"/>
              </a:ext>
            </a:extLst>
          </p:cNvPr>
          <p:cNvCxnSpPr>
            <a:stCxn xmlns:a="http://schemas.openxmlformats.org/drawingml/2006/main" id="25" idx="0"/>
            <a:endCxn xmlns:a="http://schemas.openxmlformats.org/drawingml/2006/main" id="13" idx="2"/>
          </p:cNvCxnSpPr>
          <p:nvPr/>
        </p:nvCxnSpPr>
        <p:spPr>
          <a:xfrm xmlns:a="http://schemas.openxmlformats.org/drawingml/2006/main" flipV="1">
            <a:off x="3833813" y="2905125"/>
            <a:ext cx="2262187"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AA4CB4D8-BB12-40CF-977D-F106EBBF3AA1}"/>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BD1377D8-0CE9-4EAA-AFB3-D537AC521FFF}"/>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81ED285C-2D6C-4861-A270-61E71978B83C}"/>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8" name="">
            <a:extLst xmlns:a="http://schemas.openxmlformats.org/drawingml/2006/main">
              <a:ext uri="{FF2B5EF4-FFF2-40B4-BE49-F238E27FC236}">
                <a16:creationId xmlns:a16="http://schemas.microsoft.com/office/drawing/2014/main" id="{CC2AEF99-7313-452A-857E-0EC19223C5E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AX14 / 관측·안전 판정·현장 조치·환류</a:t>
            </a:r>
          </a:p>
        </p:txBody>
      </p:sp>
      <p:sp>
        <p:nvSpPr>
          <p:cNvPr id="2" name="">
            <a:extLst xmlns:a="http://schemas.openxmlformats.org/drawingml/2006/main">
              <a:ext uri="{FF2B5EF4-FFF2-40B4-BE49-F238E27FC236}">
                <a16:creationId xmlns:a16="http://schemas.microsoft.com/office/drawing/2014/main" id="{5FB4F7F6-EC1E-4E41-9CEC-7F0FFD84F01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DHL Protex AI 안전 실증 · 세부 서비스 구조</a:t>
            </a:r>
          </a:p>
        </p:txBody>
      </p:sp>
      <p:sp>
        <p:nvSpPr>
          <p:cNvPr id="3" name="">
            <a:extLst xmlns:a="http://schemas.openxmlformats.org/drawingml/2006/main">
              <a:ext uri="{FF2B5EF4-FFF2-40B4-BE49-F238E27FC236}">
                <a16:creationId xmlns:a16="http://schemas.microsoft.com/office/drawing/2014/main" id="{FC05D399-8956-4A72-80DD-D233E15B544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80EF531-32C8-43E9-8609-20645776BC7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C77C62D-318C-4E4C-92E7-4FB7DEE7608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75</a:t>
            </a:r>
          </a:p>
        </p:txBody>
      </p:sp>
      <p:sp>
        <p:nvSpPr>
          <p:cNvPr id="6" name="">
            <a:extLst xmlns:a="http://schemas.openxmlformats.org/drawingml/2006/main">
              <a:ext uri="{FF2B5EF4-FFF2-40B4-BE49-F238E27FC236}">
                <a16:creationId xmlns:a16="http://schemas.microsoft.com/office/drawing/2014/main" id="{89BA96E7-5054-4B63-91B8-66F8B5698B3E}"/>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현장 영상 → 위험 이벤트 탐지 → 안전 담당 검토 → 예방 조치</a:t>
            </a:r>
          </a:p>
        </p:txBody>
      </p:sp>
      <p:sp>
        <p:nvSpPr>
          <p:cNvPr id="7" name="">
            <a:extLst xmlns:a="http://schemas.openxmlformats.org/drawingml/2006/main">
              <a:ext uri="{FF2B5EF4-FFF2-40B4-BE49-F238E27FC236}">
                <a16:creationId xmlns:a16="http://schemas.microsoft.com/office/drawing/2014/main" id="{1684FA67-634C-41CF-BE0D-A935A49B913A}"/>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D6CF98F9-DD0B-474B-AABA-0CE7B2AE9C16}"/>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00CA0B02-CB9C-4798-BD96-ABED1235D119}"/>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영상·구역 지도</a:t>
            </a:r>
          </a:p>
        </p:txBody>
      </p:sp>
      <p:sp>
        <p:nvSpPr>
          <p:cNvPr id="10" name="">
            <a:extLst xmlns:a="http://schemas.openxmlformats.org/drawingml/2006/main">
              <a:ext uri="{FF2B5EF4-FFF2-40B4-BE49-F238E27FC236}">
                <a16:creationId xmlns:a16="http://schemas.microsoft.com/office/drawing/2014/main" id="{317630DB-A31F-44B5-8524-75A226B06CA4}"/>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5C3F149B-6945-48E9-AAE7-3376AE22F5F3}"/>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1B178063-EE08-49D6-95B7-1743DA8C3F4D}"/>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사건·위치 정합화</a:t>
            </a:r>
          </a:p>
        </p:txBody>
      </p:sp>
      <p:sp>
        <p:nvSpPr>
          <p:cNvPr id="13" name="">
            <a:extLst xmlns:a="http://schemas.openxmlformats.org/drawingml/2006/main">
              <a:ext uri="{FF2B5EF4-FFF2-40B4-BE49-F238E27FC236}">
                <a16:creationId xmlns:a16="http://schemas.microsoft.com/office/drawing/2014/main" id="{6C429F69-CB6E-4E81-8BCA-49B0D28D694C}"/>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373839D6-9B1C-46D2-8B15-34F11038FFF6}"/>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4A2840EF-4668-40B9-8F07-D6D579D6880A}"/>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위험 행동 탐지</a:t>
            </a:r>
          </a:p>
        </p:txBody>
      </p:sp>
      <p:sp>
        <p:nvSpPr>
          <p:cNvPr id="16" name="">
            <a:extLst xmlns:a="http://schemas.openxmlformats.org/drawingml/2006/main">
              <a:ext uri="{FF2B5EF4-FFF2-40B4-BE49-F238E27FC236}">
                <a16:creationId xmlns:a16="http://schemas.microsoft.com/office/drawing/2014/main" id="{94B4DBB6-FB92-42F3-94B0-1B46FC24394C}"/>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D61D5048-9F5F-4DA3-AFD7-7A9C8C95A664}"/>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9B08604D-DD43-4018-B3DC-8BAA37696855}"/>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오경보·미탐 검사</a:t>
            </a:r>
          </a:p>
        </p:txBody>
      </p:sp>
      <p:sp>
        <p:nvSpPr>
          <p:cNvPr id="19" name="">
            <a:extLst xmlns:a="http://schemas.openxmlformats.org/drawingml/2006/main">
              <a:ext uri="{FF2B5EF4-FFF2-40B4-BE49-F238E27FC236}">
                <a16:creationId xmlns:a16="http://schemas.microsoft.com/office/drawing/2014/main" id="{C15C7939-AF91-4494-A577-6F5EE512095E}"/>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858084F9-CBA0-477A-9545-578BFC4A823E}"/>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F83229EB-1DEE-476F-958C-0A92FF18DA98}"/>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개선 조치 인계</a:t>
            </a:r>
          </a:p>
        </p:txBody>
      </p:sp>
      <p:sp>
        <p:nvSpPr>
          <p:cNvPr id="22" name="">
            <a:extLst xmlns:a="http://schemas.openxmlformats.org/drawingml/2006/main">
              <a:ext uri="{FF2B5EF4-FFF2-40B4-BE49-F238E27FC236}">
                <a16:creationId xmlns:a16="http://schemas.microsoft.com/office/drawing/2014/main" id="{C0BFA244-7A52-49F8-A05E-48D3E436CF59}"/>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5E8D4447-5D93-4461-83E9-EAA42EE5AD02}"/>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70199849-3D1E-4A93-BC44-D5F831CD364A}"/>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구역·작업 맥락</a:t>
            </a:r>
          </a:p>
        </p:txBody>
      </p:sp>
      <p:sp>
        <p:nvSpPr>
          <p:cNvPr id="25" name="">
            <a:extLst xmlns:a="http://schemas.openxmlformats.org/drawingml/2006/main">
              <a:ext uri="{FF2B5EF4-FFF2-40B4-BE49-F238E27FC236}">
                <a16:creationId xmlns:a16="http://schemas.microsoft.com/office/drawing/2014/main" id="{6D10F244-9206-4A8D-A93E-3BB200B07E87}"/>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226765EE-41B3-4539-974C-828BCF7907D3}"/>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27" name="">
            <a:extLst xmlns:a="http://schemas.openxmlformats.org/drawingml/2006/main">
              <a:ext uri="{FF2B5EF4-FFF2-40B4-BE49-F238E27FC236}">
                <a16:creationId xmlns:a16="http://schemas.microsoft.com/office/drawing/2014/main" id="{F3EA44B3-510C-480F-A46F-FBC4E8751BDA}"/>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영상·이력 조회</a:t>
            </a:r>
          </a:p>
        </p:txBody>
      </p:sp>
      <p:sp>
        <p:nvSpPr>
          <p:cNvPr id="28" name="">
            <a:extLst xmlns:a="http://schemas.openxmlformats.org/drawingml/2006/main">
              <a:ext uri="{FF2B5EF4-FFF2-40B4-BE49-F238E27FC236}">
                <a16:creationId xmlns:a16="http://schemas.microsoft.com/office/drawing/2014/main" id="{F07FFDF5-F4EF-416C-A2B5-7D9A9E16A9B8}"/>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84C4AC94-8874-4A7D-A59D-44347780B311}"/>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30" name="">
            <a:extLst xmlns:a="http://schemas.openxmlformats.org/drawingml/2006/main">
              <a:ext uri="{FF2B5EF4-FFF2-40B4-BE49-F238E27FC236}">
                <a16:creationId xmlns:a16="http://schemas.microsoft.com/office/drawing/2014/main" id="{487AE2AB-677D-4712-8BF1-9D4FF570A769}"/>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영상 열람정책</a:t>
            </a:r>
          </a:p>
        </p:txBody>
      </p:sp>
      <p:sp>
        <p:nvSpPr>
          <p:cNvPr id="31" name="">
            <a:extLst xmlns:a="http://schemas.openxmlformats.org/drawingml/2006/main">
              <a:ext uri="{FF2B5EF4-FFF2-40B4-BE49-F238E27FC236}">
                <a16:creationId xmlns:a16="http://schemas.microsoft.com/office/drawing/2014/main" id="{760FCAA0-24D2-4DBD-8697-9BBE2B679BFE}"/>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5AE494BB-A30F-49DE-888A-09C7F861112F}"/>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2A0AC99B-7D30-49A9-9FD6-99B3F6F1D9C7}"/>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안전 담당 확인</a:t>
            </a:r>
          </a:p>
        </p:txBody>
      </p:sp>
      <p:sp>
        <p:nvSpPr>
          <p:cNvPr id="34" name="">
            <a:extLst xmlns:a="http://schemas.openxmlformats.org/drawingml/2006/main">
              <a:ext uri="{FF2B5EF4-FFF2-40B4-BE49-F238E27FC236}">
                <a16:creationId xmlns:a16="http://schemas.microsoft.com/office/drawing/2014/main" id="{7069A39E-BB8C-4B8B-8A2A-96E3F6765B95}"/>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96C4EF14-ACEA-4A46-9E5A-30B49AAA5242}"/>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51E26A6A-7CE7-416F-A31E-E54BE1451408}"/>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재발·조치 추적</a:t>
            </a:r>
          </a:p>
        </p:txBody>
      </p:sp>
      <p:sp>
        <p:nvSpPr>
          <p:cNvPr id="47" name="">
            <a:extLst xmlns:a="http://schemas.openxmlformats.org/drawingml/2006/main">
              <a:ext uri="{FF2B5EF4-FFF2-40B4-BE49-F238E27FC236}">
                <a16:creationId xmlns:a16="http://schemas.microsoft.com/office/drawing/2014/main" id="{EF2F9BC4-C1D9-4CCD-AF3C-4675A4C5BF19}"/>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826088290"/>
      </p:ext>
    </p:extLst>
  </p:cSld>
</p:sld>
</file>

<file path=ppt/slides/slide7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29EBA9D5-DCA9-48DE-8915-7E6FDF4A3FC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AX14 / 논리 인터페이스·복구 설계</a:t>
            </a:r>
          </a:p>
        </p:txBody>
      </p:sp>
      <p:sp>
        <p:nvSpPr>
          <p:cNvPr id="2" name="">
            <a:extLst xmlns:a="http://schemas.openxmlformats.org/drawingml/2006/main">
              <a:ext uri="{FF2B5EF4-FFF2-40B4-BE49-F238E27FC236}">
                <a16:creationId xmlns:a16="http://schemas.microsoft.com/office/drawing/2014/main" id="{53566904-8ABA-4D7E-887A-E4BCCFE071A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DHL Protex AI 안전 실증 · 데이터와 예외 처리</a:t>
            </a:r>
          </a:p>
        </p:txBody>
      </p:sp>
      <p:sp>
        <p:nvSpPr>
          <p:cNvPr id="3" name="">
            <a:extLst xmlns:a="http://schemas.openxmlformats.org/drawingml/2006/main">
              <a:ext uri="{FF2B5EF4-FFF2-40B4-BE49-F238E27FC236}">
                <a16:creationId xmlns:a16="http://schemas.microsoft.com/office/drawing/2014/main" id="{3F3C52D9-3680-48DA-9EED-5CE6C5CEE6F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677A270-1495-4FA7-8097-D88E020556A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7C0BFE53-429C-432B-99D0-92E61200A25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76</a:t>
            </a:r>
          </a:p>
        </p:txBody>
      </p:sp>
      <p:sp>
        <p:nvSpPr>
          <p:cNvPr id="6" name="">
            <a:extLst xmlns:a="http://schemas.openxmlformats.org/drawingml/2006/main">
              <a:ext uri="{FF2B5EF4-FFF2-40B4-BE49-F238E27FC236}">
                <a16:creationId xmlns:a16="http://schemas.microsoft.com/office/drawing/2014/main" id="{6B0EC3A1-6740-4552-AC95-5B1C6170ADC2}"/>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508173D5-B21C-4246-973E-731B9B4FFCB2}"/>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4C8A69F4-A6B7-4DCD-997A-546E47CDAD21}"/>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관측 입력</a:t>
            </a:r>
          </a:p>
        </p:txBody>
      </p:sp>
      <p:sp>
        <p:nvSpPr>
          <p:cNvPr id="9" name="">
            <a:extLst xmlns:a="http://schemas.openxmlformats.org/drawingml/2006/main">
              <a:ext uri="{FF2B5EF4-FFF2-40B4-BE49-F238E27FC236}">
                <a16:creationId xmlns:a16="http://schemas.microsoft.com/office/drawing/2014/main" id="{E7707C67-316D-4C95-BC3A-9C092A91DC31}"/>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이벤트·조치 기록</a:t>
            </a:r>
          </a:p>
        </p:txBody>
      </p:sp>
      <p:sp>
        <p:nvSpPr>
          <p:cNvPr id="10" name="">
            <a:extLst xmlns:a="http://schemas.openxmlformats.org/drawingml/2006/main">
              <a:ext uri="{FF2B5EF4-FFF2-40B4-BE49-F238E27FC236}">
                <a16:creationId xmlns:a16="http://schemas.microsoft.com/office/drawing/2014/main" id="{AA40CD61-4359-4DAE-A5B3-2E200C0468EB}"/>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B09546A-CD52-42C3-AFD9-5A02CB67A3C4}"/>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정합화 상태</a:t>
            </a:r>
          </a:p>
        </p:txBody>
      </p:sp>
      <p:sp>
        <p:nvSpPr>
          <p:cNvPr id="12" name="">
            <a:extLst xmlns:a="http://schemas.openxmlformats.org/drawingml/2006/main">
              <a:ext uri="{FF2B5EF4-FFF2-40B4-BE49-F238E27FC236}">
                <a16:creationId xmlns:a16="http://schemas.microsoft.com/office/drawing/2014/main" id="{DA98CE95-DE95-4F94-A9AD-F7B703D18DDB}"/>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4F76A6ED-4B1B-4DEF-B775-FD0BBAA42AB4}"/>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4AEFB83-0628-4D3C-B168-3E8328EEA154}"/>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위험·제어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후보</a:t>
            </a:r>
          </a:p>
        </p:txBody>
      </p:sp>
      <p:sp>
        <p:nvSpPr>
          <p:cNvPr id="15" name="">
            <a:extLst xmlns:a="http://schemas.openxmlformats.org/drawingml/2006/main">
              <a:ext uri="{FF2B5EF4-FFF2-40B4-BE49-F238E27FC236}">
                <a16:creationId xmlns:a16="http://schemas.microsoft.com/office/drawing/2014/main" id="{9DFA39A1-9680-446E-AE24-876CE0BECFE9}"/>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검토 이벤트</a:t>
            </a:r>
          </a:p>
        </p:txBody>
      </p:sp>
      <p:sp>
        <p:nvSpPr>
          <p:cNvPr id="16" name="">
            <a:extLst xmlns:a="http://schemas.openxmlformats.org/drawingml/2006/main">
              <a:ext uri="{FF2B5EF4-FFF2-40B4-BE49-F238E27FC236}">
                <a16:creationId xmlns:a16="http://schemas.microsoft.com/office/drawing/2014/main" id="{AE2A6E09-1766-4C0A-8876-6057826F8B27}"/>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596F355-5713-467E-B070-BC47C55D5D0F}"/>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안전 경계</a:t>
            </a:r>
          </a:p>
        </p:txBody>
      </p:sp>
      <p:sp>
        <p:nvSpPr>
          <p:cNvPr id="18" name="">
            <a:extLst xmlns:a="http://schemas.openxmlformats.org/drawingml/2006/main">
              <a:ext uri="{FF2B5EF4-FFF2-40B4-BE49-F238E27FC236}">
                <a16:creationId xmlns:a16="http://schemas.microsoft.com/office/drawing/2014/main" id="{2C536B0F-50A7-4109-B5BC-409A860F96AA}"/>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영상 열람정책</a:t>
            </a:r>
          </a:p>
        </p:txBody>
      </p:sp>
      <p:sp>
        <p:nvSpPr>
          <p:cNvPr id="19" name="">
            <a:extLst xmlns:a="http://schemas.openxmlformats.org/drawingml/2006/main">
              <a:ext uri="{FF2B5EF4-FFF2-40B4-BE49-F238E27FC236}">
                <a16:creationId xmlns:a16="http://schemas.microsoft.com/office/drawing/2014/main" id="{C12BF314-5480-4D4D-87AA-F302E936C1C2}"/>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3BAB7FE-DE15-4F80-A2F1-92C6E10A91FC}"/>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경고·조치</a:t>
            </a:r>
          </a:p>
        </p:txBody>
      </p:sp>
      <p:sp>
        <p:nvSpPr>
          <p:cNvPr id="21" name="">
            <a:extLst xmlns:a="http://schemas.openxmlformats.org/drawingml/2006/main">
              <a:ext uri="{FF2B5EF4-FFF2-40B4-BE49-F238E27FC236}">
                <a16:creationId xmlns:a16="http://schemas.microsoft.com/office/drawing/2014/main" id="{921A8618-DB66-4665-B72C-955362F8B550}"/>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예방 조치</a:t>
            </a:r>
          </a:p>
        </p:txBody>
      </p:sp>
      <p:sp>
        <p:nvSpPr>
          <p:cNvPr id="22" name="">
            <a:extLst xmlns:a="http://schemas.openxmlformats.org/drawingml/2006/main">
              <a:ext uri="{FF2B5EF4-FFF2-40B4-BE49-F238E27FC236}">
                <a16:creationId xmlns:a16="http://schemas.microsoft.com/office/drawing/2014/main" id="{C81C30A0-D54C-4380-815F-E44F6AE3A070}"/>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77F327B8-65A2-4E74-AB31-6EE3976DDCFA}"/>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다음 주기</a:t>
            </a:r>
          </a:p>
        </p:txBody>
      </p:sp>
      <p:sp>
        <p:nvSpPr>
          <p:cNvPr id="24" name="">
            <a:extLst xmlns:a="http://schemas.openxmlformats.org/drawingml/2006/main">
              <a:ext uri="{FF2B5EF4-FFF2-40B4-BE49-F238E27FC236}">
                <a16:creationId xmlns:a16="http://schemas.microsoft.com/office/drawing/2014/main" id="{6D2765AF-8729-40F1-A4A7-B462F5A32339}"/>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오탐·누락·조치 완료와 재발 여부 추적</a:t>
            </a:r>
          </a:p>
        </p:txBody>
      </p:sp>
      <p:sp>
        <p:nvSpPr>
          <p:cNvPr id="25" name="">
            <a:extLst xmlns:a="http://schemas.openxmlformats.org/drawingml/2006/main">
              <a:ext uri="{FF2B5EF4-FFF2-40B4-BE49-F238E27FC236}">
                <a16:creationId xmlns:a16="http://schemas.microsoft.com/office/drawing/2014/main" id="{75A5F880-830F-4953-8DEE-FAC59E5E7C9B}"/>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E7F0AC04-6746-48FE-A370-41C7CBAF57C4}"/>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가림·조명 변화·작업 동선 변경·비위험 행동</a:t>
            </a:r>
          </a:p>
        </p:txBody>
      </p:sp>
      <p:sp>
        <p:nvSpPr>
          <p:cNvPr id="27" name="">
            <a:extLst xmlns:a="http://schemas.openxmlformats.org/drawingml/2006/main">
              <a:ext uri="{FF2B5EF4-FFF2-40B4-BE49-F238E27FC236}">
                <a16:creationId xmlns:a16="http://schemas.microsoft.com/office/drawing/2014/main" id="{F732FD04-ED53-4644-817E-551904DAE6DB}"/>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44367913-64E8-4814-A7FA-17466D133744}"/>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오경보·중요 미탐과 조치 이행 측정</a:t>
            </a:r>
          </a:p>
        </p:txBody>
      </p:sp>
      <p:sp>
        <p:nvSpPr>
          <p:cNvPr id="29" name="">
            <a:extLst xmlns:a="http://schemas.openxmlformats.org/drawingml/2006/main">
              <a:ext uri="{FF2B5EF4-FFF2-40B4-BE49-F238E27FC236}">
                <a16:creationId xmlns:a16="http://schemas.microsoft.com/office/drawing/2014/main" id="{B4AC023D-837C-40A7-BDD5-1DAE603F44C7}"/>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D36F04DF-52B8-4E75-ACE3-D3E24C4BD2BC}"/>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오탐·누락·조치 완료와 재발 여부 추적</a:t>
            </a:r>
          </a:p>
        </p:txBody>
      </p:sp>
      <p:sp>
        <p:nvSpPr>
          <p:cNvPr id="31" name="">
            <a:extLst xmlns:a="http://schemas.openxmlformats.org/drawingml/2006/main">
              <a:ext uri="{FF2B5EF4-FFF2-40B4-BE49-F238E27FC236}">
                <a16:creationId xmlns:a16="http://schemas.microsoft.com/office/drawing/2014/main" id="{4E2343EE-FF7A-4593-AFB6-2D6310C1AC0B}"/>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1E3C417D-F918-4D81-8D19-CB29F661C3D9}"/>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사건 표본별 오탐·미탐과 확인·조치 완료 이력</a:t>
            </a:r>
          </a:p>
        </p:txBody>
      </p:sp>
    </p:spTree>
    <p:extLst>
      <p:ext uri="{BB962C8B-B14F-4D97-AF65-F5344CB8AC3E}">
        <p14:creationId xmlns:p14="http://schemas.microsoft.com/office/powerpoint/2010/main" val="1155588801"/>
      </p:ext>
    </p:extLst>
  </p:cSld>
</p:sld>
</file>

<file path=ppt/slides/slide7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321ADF6-E785-46B6-909B-D3FA51D606B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AX14 / CCK 비교·재현 시험 설계</a:t>
            </a:r>
          </a:p>
        </p:txBody>
      </p:sp>
      <p:sp>
        <p:nvSpPr>
          <p:cNvPr id="2" name="">
            <a:extLst xmlns:a="http://schemas.openxmlformats.org/drawingml/2006/main">
              <a:ext uri="{FF2B5EF4-FFF2-40B4-BE49-F238E27FC236}">
                <a16:creationId xmlns:a16="http://schemas.microsoft.com/office/drawing/2014/main" id="{B1EA74F8-187E-4911-A345-30D0214756D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DHL Protex AI 안전 실증 · 벤치마킹</a:t>
            </a:r>
          </a:p>
        </p:txBody>
      </p:sp>
      <p:sp>
        <p:nvSpPr>
          <p:cNvPr id="3" name="">
            <a:extLst xmlns:a="http://schemas.openxmlformats.org/drawingml/2006/main">
              <a:ext uri="{FF2B5EF4-FFF2-40B4-BE49-F238E27FC236}">
                <a16:creationId xmlns:a16="http://schemas.microsoft.com/office/drawing/2014/main" id="{BE2C0DD9-F8AC-47DC-B390-3E1DC030577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087B740-A527-4947-BFA8-914DB23FDFC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75C794A-DF5D-49F4-B866-84F4D865125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77</a:t>
            </a:r>
          </a:p>
        </p:txBody>
      </p:sp>
      <p:sp>
        <p:nvSpPr>
          <p:cNvPr id="6" name="">
            <a:extLst xmlns:a="http://schemas.openxmlformats.org/drawingml/2006/main">
              <a:ext uri="{FF2B5EF4-FFF2-40B4-BE49-F238E27FC236}">
                <a16:creationId xmlns:a16="http://schemas.microsoft.com/office/drawing/2014/main" id="{25A87C90-1253-4CD9-976A-33B1793BF44E}"/>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038A5AFC-2BBB-4A4E-8B12-4E41CCE64DD5}"/>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현장 영상에서 위험 이벤트 선별</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안전 담당자의 예방 조치 연결</a:t>
            </a:r>
          </a:p>
        </p:txBody>
      </p:sp>
      <p:sp>
        <p:nvSpPr>
          <p:cNvPr id="8" name="">
            <a:extLst xmlns:a="http://schemas.openxmlformats.org/drawingml/2006/main">
              <a:ext uri="{FF2B5EF4-FFF2-40B4-BE49-F238E27FC236}">
                <a16:creationId xmlns:a16="http://schemas.microsoft.com/office/drawing/2014/main" id="{79BF906D-0E70-407F-82B1-BEAE21EDFC81}"/>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4405AE11-E6C8-4409-A92C-3DCCD1B65A65}"/>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카메라 위치·작업 유형별 편차</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실증 탐지와 실제 재해 감소의 차이</a:t>
            </a:r>
          </a:p>
        </p:txBody>
      </p:sp>
      <p:sp>
        <p:nvSpPr>
          <p:cNvPr id="10" name="">
            <a:extLst xmlns:a="http://schemas.openxmlformats.org/drawingml/2006/main">
              <a:ext uri="{FF2B5EF4-FFF2-40B4-BE49-F238E27FC236}">
                <a16:creationId xmlns:a16="http://schemas.microsoft.com/office/drawing/2014/main" id="{E91F70E0-EA6F-48DA-ACC5-A2CF06508A89}"/>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3535C912-1DCA-4B41-847D-86A910E9581F}"/>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오경보·중요 미탐과 조치 이행 측정</a:t>
            </a:r>
          </a:p>
        </p:txBody>
      </p:sp>
      <p:sp>
        <p:nvSpPr>
          <p:cNvPr id="12" name="">
            <a:extLst xmlns:a="http://schemas.openxmlformats.org/drawingml/2006/main">
              <a:ext uri="{FF2B5EF4-FFF2-40B4-BE49-F238E27FC236}">
                <a16:creationId xmlns:a16="http://schemas.microsoft.com/office/drawing/2014/main" id="{60C5F5DA-31A3-4374-83E8-2E6F9B088BA8}"/>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2811A7B0-85D9-4FD3-8BD7-041100B1E8A2}"/>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영상에서 위험 상황을 발견하고 담당자가 조치 등</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록</a:t>
            </a:r>
          </a:p>
        </p:txBody>
      </p:sp>
      <p:sp>
        <p:nvSpPr>
          <p:cNvPr id="14" name="">
            <a:extLst xmlns:a="http://schemas.openxmlformats.org/drawingml/2006/main">
              <a:ext uri="{FF2B5EF4-FFF2-40B4-BE49-F238E27FC236}">
                <a16:creationId xmlns:a16="http://schemas.microsoft.com/office/drawing/2014/main" id="{EE382C6C-3A63-49F4-96C2-E52C2E979262}"/>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4F99DF01-5FF0-4611-ACC1-2609E051C0C0}"/>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가림·조명 변화·작업 동선 변경·비위험 행동</a:t>
            </a:r>
          </a:p>
        </p:txBody>
      </p:sp>
      <p:sp>
        <p:nvSpPr>
          <p:cNvPr id="16" name="">
            <a:extLst xmlns:a="http://schemas.openxmlformats.org/drawingml/2006/main">
              <a:ext uri="{FF2B5EF4-FFF2-40B4-BE49-F238E27FC236}">
                <a16:creationId xmlns:a16="http://schemas.microsoft.com/office/drawing/2014/main" id="{41F982B0-6AF7-48B1-8C18-5B3EEE282607}"/>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1953F7CB-47A3-4499-821F-A686ADB28228}"/>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사건 표본별 오탐·미탐과 확인·조치 완료 이력</a:t>
            </a:r>
          </a:p>
        </p:txBody>
      </p:sp>
    </p:spTree>
    <p:extLst>
      <p:ext uri="{BB962C8B-B14F-4D97-AF65-F5344CB8AC3E}">
        <p14:creationId xmlns:p14="http://schemas.microsoft.com/office/powerpoint/2010/main" val="1065303854"/>
      </p:ext>
    </p:extLst>
  </p:cSld>
</p:sld>
</file>

<file path=ppt/slides/slide7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731859D-FD4D-4A56-ACBE-2766E527F88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AX15 / 부분 성과 / 국내</a:t>
            </a:r>
          </a:p>
        </p:txBody>
      </p:sp>
      <p:sp>
        <p:nvSpPr>
          <p:cNvPr id="2" name="">
            <a:extLst xmlns:a="http://schemas.openxmlformats.org/drawingml/2006/main">
              <a:ext uri="{FF2B5EF4-FFF2-40B4-BE49-F238E27FC236}">
                <a16:creationId xmlns:a16="http://schemas.microsoft.com/office/drawing/2014/main" id="{0E97E123-23E6-4705-BB46-4D7DB9DC606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국세청 AI 전화상담</a:t>
            </a:r>
          </a:p>
        </p:txBody>
      </p:sp>
      <p:sp>
        <p:nvSpPr>
          <p:cNvPr id="3" name="">
            <a:extLst xmlns:a="http://schemas.openxmlformats.org/drawingml/2006/main">
              <a:ext uri="{FF2B5EF4-FFF2-40B4-BE49-F238E27FC236}">
                <a16:creationId xmlns:a16="http://schemas.microsoft.com/office/drawing/2014/main" id="{78704975-B28C-43AD-BCB6-2509C3EADBB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A495D8E-12ED-4135-AC47-4F5D15EB7B0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797F397-C5CC-49AB-8020-C985C9848B6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78</a:t>
            </a:r>
          </a:p>
        </p:txBody>
      </p:sp>
      <p:sp>
        <p:nvSpPr>
          <p:cNvPr id="6" name="">
            <a:extLst xmlns:a="http://schemas.openxmlformats.org/drawingml/2006/main">
              <a:ext uri="{FF2B5EF4-FFF2-40B4-BE49-F238E27FC236}">
                <a16:creationId xmlns:a16="http://schemas.microsoft.com/office/drawing/2014/main" id="{347DFDEC-7E18-45C7-BDB4-76E4AC58D8D4}"/>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99B583F5-3011-481D-B06D-3BC5C265B95A}"/>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반복 세무 문의를 전화 채널에서 안내하고 복잡한 질문</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을 상담원에게 연결하는 음성 상담 사례. 상담내용의 범</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위와 적용 연도를 정확히 식별하는 작업이 중요.</a:t>
            </a:r>
          </a:p>
        </p:txBody>
      </p:sp>
      <p:sp>
        <p:nvSpPr>
          <p:cNvPr id="8" name="">
            <a:extLst xmlns:a="http://schemas.openxmlformats.org/drawingml/2006/main">
              <a:ext uri="{FF2B5EF4-FFF2-40B4-BE49-F238E27FC236}">
                <a16:creationId xmlns:a16="http://schemas.microsoft.com/office/drawing/2014/main" id="{3B5F4E87-64C1-48AE-8B00-DEAA8F21F8EA}"/>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65C9108C-CE97-4442-B775-5A964209717E}"/>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발화의 세목·기간·질문 목적을 정리하고 승인 지식을 찾</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아 음성으로 안내하는 구조의 재구성. 응답이 불분명하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거나 예외 판단이 필요한 경우 대화 맥락을 상담원에게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전달.</a:t>
            </a:r>
          </a:p>
        </p:txBody>
      </p:sp>
      <p:sp>
        <p:nvSpPr>
          <p:cNvPr id="10" name="">
            <a:extLst xmlns:a="http://schemas.openxmlformats.org/drawingml/2006/main">
              <a:ext uri="{FF2B5EF4-FFF2-40B4-BE49-F238E27FC236}">
                <a16:creationId xmlns:a16="http://schemas.microsoft.com/office/drawing/2014/main" id="{8D1202CB-05DB-4527-B494-459BD5CE2DC2}"/>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53C6470F-90E6-442F-805D-13FD837C3086}"/>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음성 민원 접점에서 인식률만으로 검수하지 않고 필수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항목 확인과 인계 성공을 포함할 근거. 시범 운영과 전국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확대 계획, 실제 해결률을 각각 구분한 비교 필요.</a:t>
            </a:r>
          </a:p>
        </p:txBody>
      </p:sp>
      <p:sp>
        <p:nvSpPr>
          <p:cNvPr id="12" name="">
            <a:extLst xmlns:a="http://schemas.openxmlformats.org/drawingml/2006/main">
              <a:ext uri="{FF2B5EF4-FFF2-40B4-BE49-F238E27FC236}">
                <a16:creationId xmlns:a16="http://schemas.microsoft.com/office/drawing/2014/main" id="{0AF768AF-F7BB-44EB-88E4-1B34B96DEE80}"/>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517E036A-2915-4B09-85C6-CAD4B006CE25}"/>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발화 정리·확인·소관 서비스·상담 인계</a:t>
            </a:r>
          </a:p>
        </p:txBody>
      </p:sp>
      <p:sp>
        <p:nvSpPr>
          <p:cNvPr id="14" name="">
            <a:extLst xmlns:a="http://schemas.openxmlformats.org/drawingml/2006/main">
              <a:ext uri="{FF2B5EF4-FFF2-40B4-BE49-F238E27FC236}">
                <a16:creationId xmlns:a16="http://schemas.microsoft.com/office/drawing/2014/main" id="{7561C114-8E30-4A54-9536-95EA1C396E09}"/>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205DD778-204A-45AF-9E07-5E40372B59AD}"/>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고령·소음·중도 정정·상담 전환 과업 시험</a:t>
            </a:r>
          </a:p>
        </p:txBody>
      </p:sp>
      <p:sp>
        <p:nvSpPr>
          <p:cNvPr id="16" name="">
            <a:extLst xmlns:a="http://schemas.openxmlformats.org/drawingml/2006/main">
              <a:ext uri="{FF2B5EF4-FFF2-40B4-BE49-F238E27FC236}">
                <a16:creationId xmlns:a16="http://schemas.microsoft.com/office/drawing/2014/main" id="{0DA7B0F1-3D61-4E17-9603-940C62E71F70}"/>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F55DD879-BEF8-49E2-BA08-0954C86C84FE}"/>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안내 도달률 / 포기율 / 재문의율</a:t>
            </a:r>
          </a:p>
        </p:txBody>
      </p:sp>
      <p:sp>
        <p:nvSpPr>
          <p:cNvPr id="18" name="">
            <a:extLst xmlns:a="http://schemas.openxmlformats.org/drawingml/2006/main">
              <a:ext uri="{FF2B5EF4-FFF2-40B4-BE49-F238E27FC236}">
                <a16:creationId xmlns:a16="http://schemas.microsoft.com/office/drawing/2014/main" id="{0990EC89-3253-4DD8-87A1-B718DB01CAC3}"/>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대표전화 지정 분야의 서비스 확대 확인 · 대기시간·정확도 개선 효과는 미측정 · 개인별 과세 판단 자동화로 해석 금지</a:t>
            </a:r>
          </a:p>
        </p:txBody>
      </p:sp>
    </p:spTree>
    <p:extLst>
      <p:ext uri="{BB962C8B-B14F-4D97-AF65-F5344CB8AC3E}">
        <p14:creationId xmlns:p14="http://schemas.microsoft.com/office/powerpoint/2010/main" val="372028123"/>
      </p:ext>
    </p:extLst>
  </p:cSld>
</p:sld>
</file>

<file path=ppt/slides/slide7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9EC325E-F895-4B83-B6E3-2DC66D5EC24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AX15 / As-Is → To-Be → 기대효과 → 확인 결과</a:t>
            </a:r>
          </a:p>
        </p:txBody>
      </p:sp>
      <p:sp>
        <p:nvSpPr>
          <p:cNvPr id="2" name="">
            <a:extLst xmlns:a="http://schemas.openxmlformats.org/drawingml/2006/main">
              <a:ext uri="{FF2B5EF4-FFF2-40B4-BE49-F238E27FC236}">
                <a16:creationId xmlns:a16="http://schemas.microsoft.com/office/drawing/2014/main" id="{DA71D23E-B07B-4C68-9D22-2EFEE9ADF4F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국세청 AI 전화상담 · 기대와 결과</a:t>
            </a:r>
          </a:p>
        </p:txBody>
      </p:sp>
      <p:sp>
        <p:nvSpPr>
          <p:cNvPr id="3" name="">
            <a:extLst xmlns:a="http://schemas.openxmlformats.org/drawingml/2006/main">
              <a:ext uri="{FF2B5EF4-FFF2-40B4-BE49-F238E27FC236}">
                <a16:creationId xmlns:a16="http://schemas.microsoft.com/office/drawing/2014/main" id="{E7B34923-27A7-4DED-9A01-2A65ED67AE9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1393CB7-BF56-4F28-ADAC-6D47CF1146A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190F719D-A407-492C-96D0-BF3967D1216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79</a:t>
            </a:r>
          </a:p>
        </p:txBody>
      </p:sp>
      <p:sp>
        <p:nvSpPr>
          <p:cNvPr id="6" name="">
            <a:extLst xmlns:a="http://schemas.openxmlformats.org/drawingml/2006/main">
              <a:ext uri="{FF2B5EF4-FFF2-40B4-BE49-F238E27FC236}">
                <a16:creationId xmlns:a16="http://schemas.microsoft.com/office/drawing/2014/main" id="{257C7E54-3C12-4111-A567-D2EC00B7C913}"/>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749571E2-B90E-4BFC-B29C-3A4E86F4C0DB}"/>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납세자가 전화로 반복 세무 질문을 하고 상담원이 정형 안</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내에 응대</a:t>
            </a:r>
          </a:p>
        </p:txBody>
      </p:sp>
      <p:sp>
        <p:nvSpPr>
          <p:cNvPr id="8" name="">
            <a:extLst xmlns:a="http://schemas.openxmlformats.org/drawingml/2006/main">
              <a:ext uri="{FF2B5EF4-FFF2-40B4-BE49-F238E27FC236}">
                <a16:creationId xmlns:a16="http://schemas.microsoft.com/office/drawing/2014/main" id="{9AE2850A-C62D-4F26-81C3-E805539E0D46}"/>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62D90258-6B96-4E1B-B6CE-02AAC69187B3}"/>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음성 AI가 일반 세무 문의를 안내하고 예외·개인 판단은 상</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담원에게 인계</a:t>
            </a:r>
          </a:p>
        </p:txBody>
      </p:sp>
      <p:sp>
        <p:nvSpPr>
          <p:cNvPr id="10" name="">
            <a:extLst xmlns:a="http://schemas.openxmlformats.org/drawingml/2006/main">
              <a:ext uri="{FF2B5EF4-FFF2-40B4-BE49-F238E27FC236}">
                <a16:creationId xmlns:a16="http://schemas.microsoft.com/office/drawing/2014/main" id="{F2841D1E-B5F6-4F06-9042-C873F4E9E36D}"/>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409C0AC3-1F7B-45D8-BEF2-A6ABEF12472A}"/>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전화 대기·반복 응대 부담 감소와 접근성 확대</a:t>
            </a:r>
          </a:p>
        </p:txBody>
      </p:sp>
      <p:sp>
        <p:nvSpPr>
          <p:cNvPr id="12" name="">
            <a:extLst xmlns:a="http://schemas.openxmlformats.org/drawingml/2006/main">
              <a:ext uri="{FF2B5EF4-FFF2-40B4-BE49-F238E27FC236}">
                <a16:creationId xmlns:a16="http://schemas.microsoft.com/office/drawing/2014/main" id="{979684B4-74D4-4451-B1D3-869F53578712}"/>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8B28ACC6-66B1-4A5C-A46F-8FAF2FA6BCEC}"/>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국세청 공지에서 2024년 11월 14개 세무서 시범 후 12월</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30일 전국 133개 세무서 대표전화로 확대 시행; 상담 중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직원 연결 가능</a:t>
            </a:r>
          </a:p>
        </p:txBody>
      </p:sp>
      <p:sp>
        <p:nvSpPr>
          <p:cNvPr id="14" name="">
            <a:extLst xmlns:a="http://schemas.openxmlformats.org/drawingml/2006/main">
              <a:ext uri="{FF2B5EF4-FFF2-40B4-BE49-F238E27FC236}">
                <a16:creationId xmlns:a16="http://schemas.microsoft.com/office/drawing/2014/main" id="{E1BF353B-4014-462A-9130-D9F0B57EC5FC}"/>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부분 성과 · 전국 대표전화 적용은 공식 공지로 확인되나 상담 완료시간·정확도·대기시간의 비교 성과는 미제시</a:t>
            </a:r>
          </a:p>
        </p:txBody>
      </p:sp>
      <p:sp>
        <p:nvSpPr>
          <p:cNvPr id="15" name="">
            <a:extLst xmlns:a="http://schemas.openxmlformats.org/drawingml/2006/main">
              <a:ext uri="{FF2B5EF4-FFF2-40B4-BE49-F238E27FC236}">
                <a16:creationId xmlns:a16="http://schemas.microsoft.com/office/drawing/2014/main" id="{4034D789-A11D-469B-91E8-F19220B5D29C}"/>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공공기관 전국 확대 시행 · 대표전화의 지정 AI 상담 분야 기준. 담당자 직통전화·개인별 세액 판단 자동화 사례 아님</a:t>
            </a:r>
          </a:p>
        </p:txBody>
      </p:sp>
    </p:spTree>
    <p:extLst>
      <p:ext uri="{BB962C8B-B14F-4D97-AF65-F5344CB8AC3E}">
        <p14:creationId xmlns:p14="http://schemas.microsoft.com/office/powerpoint/2010/main" val="659392283"/>
      </p:ext>
    </p:extLst>
  </p:cSld>
</p:sld>
</file>

<file path=ppt/slides/slide8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2AFD48F0-0DF2-4545-9B98-A178DD49BBE6}"/>
              </a:ext>
            </a:extLst>
          </p:cNvPr>
          <p:cNvCxnSpPr>
            <a:stCxn xmlns:a="http://schemas.openxmlformats.org/drawingml/2006/main" id="31" idx="3"/>
            <a:endCxn xmlns:a="http://schemas.openxmlformats.org/drawingml/2006/main" id="34" idx="1"/>
          </p:cNvCxnSpPr>
          <p:nvPr/>
        </p:nvCxnSpPr>
        <p:spPr>
          <a:xfrm xmlns:a="http://schemas.openxmlformats.org/drawingml/2006/main">
            <a:off x="8604250" y="4829175"/>
            <a:ext cx="101600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765E6F02-9E62-45E2-935D-664D98B53A27}"/>
              </a:ext>
            </a:extLst>
          </p:cNvPr>
          <p:cNvCxnSpPr>
            <a:stCxn xmlns:a="http://schemas.openxmlformats.org/drawingml/2006/main" id="22" idx="1"/>
            <a:endCxn xmlns:a="http://schemas.openxmlformats.org/drawingml/2006/main" id="31" idx="3"/>
          </p:cNvCxnSpPr>
          <p:nvPr/>
        </p:nvCxnSpPr>
        <p:spPr>
          <a:xfrm xmlns:a="http://schemas.openxmlformats.org/drawingml/2006/main" flipH="1">
            <a:off x="8604250" y="2352675"/>
            <a:ext cx="133985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FBE002FE-71E5-467E-8E2E-4646DAA03D15}"/>
              </a:ext>
            </a:extLst>
          </p:cNvPr>
          <p:cNvCxnSpPr>
            <a:stCxn xmlns:a="http://schemas.openxmlformats.org/drawingml/2006/main" id="19" idx="3"/>
            <a:endCxn xmlns:a="http://schemas.openxmlformats.org/drawingml/2006/main" id="22" idx="1"/>
          </p:cNvCxnSpPr>
          <p:nvPr/>
        </p:nvCxnSpPr>
        <p:spPr>
          <a:xfrm xmlns:a="http://schemas.openxmlformats.org/drawingml/2006/main">
            <a:off x="974598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52107366-31EC-4597-B451-7C4AC3DB42F2}"/>
              </a:ext>
            </a:extLst>
          </p:cNvPr>
          <p:cNvCxnSpPr>
            <a:stCxn xmlns:a="http://schemas.openxmlformats.org/drawingml/2006/main" id="16" idx="3"/>
            <a:endCxn xmlns:a="http://schemas.openxmlformats.org/drawingml/2006/main" id="19" idx="1"/>
          </p:cNvCxnSpPr>
          <p:nvPr/>
        </p:nvCxnSpPr>
        <p:spPr>
          <a:xfrm xmlns:a="http://schemas.openxmlformats.org/drawingml/2006/main">
            <a:off x="787146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658AD3FF-51B7-4D5D-9A8B-B874E9908F04}"/>
              </a:ext>
            </a:extLst>
          </p:cNvPr>
          <p:cNvCxnSpPr>
            <a:stCxn xmlns:a="http://schemas.openxmlformats.org/drawingml/2006/main" id="13" idx="3"/>
            <a:endCxn xmlns:a="http://schemas.openxmlformats.org/drawingml/2006/main" id="16" idx="1"/>
          </p:cNvCxnSpPr>
          <p:nvPr/>
        </p:nvCxnSpPr>
        <p:spPr>
          <a:xfrm xmlns:a="http://schemas.openxmlformats.org/drawingml/2006/main">
            <a:off x="599694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699CF4D4-BFD5-47A4-B099-765B6EDF25B5}"/>
              </a:ext>
            </a:extLst>
          </p:cNvPr>
          <p:cNvCxnSpPr>
            <a:stCxn xmlns:a="http://schemas.openxmlformats.org/drawingml/2006/main" id="28" idx="0"/>
            <a:endCxn xmlns:a="http://schemas.openxmlformats.org/drawingml/2006/main" id="13" idx="2"/>
          </p:cNvCxnSpPr>
          <p:nvPr/>
        </p:nvCxnSpPr>
        <p:spPr>
          <a:xfrm xmlns:a="http://schemas.openxmlformats.org/drawingml/2006/main" flipV="1">
            <a:off x="4587875" y="2905125"/>
            <a:ext cx="570865"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418FB513-4A83-4251-8AE0-06FA9FF82FCD}"/>
              </a:ext>
            </a:extLst>
          </p:cNvPr>
          <p:cNvCxnSpPr>
            <a:stCxn xmlns:a="http://schemas.openxmlformats.org/drawingml/2006/main" id="25" idx="3"/>
            <a:endCxn xmlns:a="http://schemas.openxmlformats.org/drawingml/2006/main" id="28" idx="1"/>
          </p:cNvCxnSpPr>
          <p:nvPr/>
        </p:nvCxnSpPr>
        <p:spPr>
          <a:xfrm xmlns:a="http://schemas.openxmlformats.org/drawingml/2006/main">
            <a:off x="2571750" y="48291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D9C146F1-3E3E-44F9-9EE2-DD73B1D9D6F9}"/>
              </a:ext>
            </a:extLst>
          </p:cNvPr>
          <p:cNvCxnSpPr>
            <a:stCxn xmlns:a="http://schemas.openxmlformats.org/drawingml/2006/main" id="10" idx="3"/>
            <a:endCxn xmlns:a="http://schemas.openxmlformats.org/drawingml/2006/main" id="13" idx="1"/>
          </p:cNvCxnSpPr>
          <p:nvPr/>
        </p:nvCxnSpPr>
        <p:spPr>
          <a:xfrm xmlns:a="http://schemas.openxmlformats.org/drawingml/2006/main">
            <a:off x="412242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7" name="">
            <a:extLst xmlns:a="http://schemas.openxmlformats.org/drawingml/2006/main">
              <a:ext uri="{FF2B5EF4-FFF2-40B4-BE49-F238E27FC236}">
                <a16:creationId xmlns:a16="http://schemas.microsoft.com/office/drawing/2014/main" id="{A66B03FD-2302-4112-A2AB-A67770925503}"/>
              </a:ext>
            </a:extLst>
          </p:cNvPr>
          <p:cNvCxnSpPr>
            <a:stCxn xmlns:a="http://schemas.openxmlformats.org/drawingml/2006/main" id="7" idx="3"/>
            <a:endCxn xmlns:a="http://schemas.openxmlformats.org/drawingml/2006/main" id="10" idx="1"/>
          </p:cNvCxnSpPr>
          <p:nvPr/>
        </p:nvCxnSpPr>
        <p:spPr>
          <a:xfrm xmlns:a="http://schemas.openxmlformats.org/drawingml/2006/main">
            <a:off x="2247900" y="23526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4088E984-20A5-498D-B4FC-EBCD2922210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AX15 / 입력 구조화·확인·업무시스템 처리</a:t>
            </a:r>
          </a:p>
        </p:txBody>
      </p:sp>
      <p:sp>
        <p:nvSpPr>
          <p:cNvPr id="2" name="">
            <a:extLst xmlns:a="http://schemas.openxmlformats.org/drawingml/2006/main">
              <a:ext uri="{FF2B5EF4-FFF2-40B4-BE49-F238E27FC236}">
                <a16:creationId xmlns:a16="http://schemas.microsoft.com/office/drawing/2014/main" id="{C3D29654-C332-46C8-9694-7ED4369747A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국세청 AI 전화상담 · 세부 서비스 구조</a:t>
            </a:r>
          </a:p>
        </p:txBody>
      </p:sp>
      <p:sp>
        <p:nvSpPr>
          <p:cNvPr id="3" name="">
            <a:extLst xmlns:a="http://schemas.openxmlformats.org/drawingml/2006/main">
              <a:ext uri="{FF2B5EF4-FFF2-40B4-BE49-F238E27FC236}">
                <a16:creationId xmlns:a16="http://schemas.microsoft.com/office/drawing/2014/main" id="{69B57F46-7C0C-4901-946D-108439DFB4B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51BE31D-DD7D-448B-B9A7-8ECF10518BD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C906A36-D891-4CF6-AB22-E3C9E349F73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80</a:t>
            </a:r>
          </a:p>
        </p:txBody>
      </p:sp>
      <p:sp>
        <p:nvSpPr>
          <p:cNvPr id="6" name="">
            <a:extLst xmlns:a="http://schemas.openxmlformats.org/drawingml/2006/main">
              <a:ext uri="{FF2B5EF4-FFF2-40B4-BE49-F238E27FC236}">
                <a16:creationId xmlns:a16="http://schemas.microsoft.com/office/drawing/2014/main" id="{AC0B56BD-F624-4F5E-8593-A484F036DF3A}"/>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전화 발화 → 질의 의도 분류 → 세무 안내 → 추가 상담 연결</a:t>
            </a:r>
          </a:p>
        </p:txBody>
      </p:sp>
      <p:sp>
        <p:nvSpPr>
          <p:cNvPr id="7" name="">
            <a:extLst xmlns:a="http://schemas.openxmlformats.org/drawingml/2006/main">
              <a:ext uri="{FF2B5EF4-FFF2-40B4-BE49-F238E27FC236}">
                <a16:creationId xmlns:a16="http://schemas.microsoft.com/office/drawing/2014/main" id="{27A50938-925D-4E3B-A0E0-03F88F46328B}"/>
              </a:ext>
            </a:extLst>
          </p:cNvPr>
          <p:cNvSpPr>
            <a:spLocks xmlns:a="http://schemas.openxmlformats.org/drawingml/2006/main" noGrp="1"/>
          </p:cNvSpPr>
          <p:nvPr/>
        </p:nvSpPr>
        <p:spPr>
          <a:xfrm xmlns:a="http://schemas.openxmlformats.org/drawingml/2006/main">
            <a:off x="5715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6D8F19DE-DFDA-4D9F-819C-AD1A0240485D}"/>
              </a:ext>
            </a:extLst>
          </p:cNvPr>
          <p:cNvSpPr>
            <a:spLocks xmlns:a="http://schemas.openxmlformats.org/drawingml/2006/main" noGrp="1"/>
          </p:cNvSpPr>
          <p:nvPr/>
        </p:nvSpPr>
        <p:spPr>
          <a:xfrm xmlns:a="http://schemas.openxmlformats.org/drawingml/2006/main">
            <a:off x="6667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C7912939-BB0E-459B-9A93-0C997C01AA91}"/>
              </a:ext>
            </a:extLst>
          </p:cNvPr>
          <p:cNvSpPr>
            <a:spLocks xmlns:a="http://schemas.openxmlformats.org/drawingml/2006/main" noGrp="1"/>
          </p:cNvSpPr>
          <p:nvPr/>
        </p:nvSpPr>
        <p:spPr>
          <a:xfrm xmlns:a="http://schemas.openxmlformats.org/drawingml/2006/main">
            <a:off x="6667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전화 상담 접점</a:t>
            </a:r>
          </a:p>
        </p:txBody>
      </p:sp>
      <p:sp>
        <p:nvSpPr>
          <p:cNvPr id="10" name="">
            <a:extLst xmlns:a="http://schemas.openxmlformats.org/drawingml/2006/main">
              <a:ext uri="{FF2B5EF4-FFF2-40B4-BE49-F238E27FC236}">
                <a16:creationId xmlns:a16="http://schemas.microsoft.com/office/drawing/2014/main" id="{D281BEC3-8342-4305-908F-256B799961FB}"/>
              </a:ext>
            </a:extLst>
          </p:cNvPr>
          <p:cNvSpPr>
            <a:spLocks xmlns:a="http://schemas.openxmlformats.org/drawingml/2006/main" noGrp="1"/>
          </p:cNvSpPr>
          <p:nvPr/>
        </p:nvSpPr>
        <p:spPr>
          <a:xfrm xmlns:a="http://schemas.openxmlformats.org/drawingml/2006/main">
            <a:off x="244602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7E9B2535-15F0-48DE-9219-7CA094516052}"/>
              </a:ext>
            </a:extLst>
          </p:cNvPr>
          <p:cNvSpPr>
            <a:spLocks xmlns:a="http://schemas.openxmlformats.org/drawingml/2006/main" noGrp="1"/>
          </p:cNvSpPr>
          <p:nvPr/>
        </p:nvSpPr>
        <p:spPr>
          <a:xfrm xmlns:a="http://schemas.openxmlformats.org/drawingml/2006/main">
            <a:off x="254127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12" name="">
            <a:extLst xmlns:a="http://schemas.openxmlformats.org/drawingml/2006/main">
              <a:ext uri="{FF2B5EF4-FFF2-40B4-BE49-F238E27FC236}">
                <a16:creationId xmlns:a16="http://schemas.microsoft.com/office/drawing/2014/main" id="{3AB43438-EB1C-455E-A768-3FFFF13C4D19}"/>
              </a:ext>
            </a:extLst>
          </p:cNvPr>
          <p:cNvSpPr>
            <a:spLocks xmlns:a="http://schemas.openxmlformats.org/drawingml/2006/main" noGrp="1"/>
          </p:cNvSpPr>
          <p:nvPr/>
        </p:nvSpPr>
        <p:spPr>
          <a:xfrm xmlns:a="http://schemas.openxmlformats.org/drawingml/2006/main">
            <a:off x="254127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세목·기간 확인</a:t>
            </a:r>
          </a:p>
        </p:txBody>
      </p:sp>
      <p:sp>
        <p:nvSpPr>
          <p:cNvPr id="13" name="">
            <a:extLst xmlns:a="http://schemas.openxmlformats.org/drawingml/2006/main">
              <a:ext uri="{FF2B5EF4-FFF2-40B4-BE49-F238E27FC236}">
                <a16:creationId xmlns:a16="http://schemas.microsoft.com/office/drawing/2014/main" id="{E932639D-F7B5-4E15-BA75-12F1CE61BA21}"/>
              </a:ext>
            </a:extLst>
          </p:cNvPr>
          <p:cNvSpPr>
            <a:spLocks xmlns:a="http://schemas.openxmlformats.org/drawingml/2006/main" noGrp="1"/>
          </p:cNvSpPr>
          <p:nvPr/>
        </p:nvSpPr>
        <p:spPr>
          <a:xfrm xmlns:a="http://schemas.openxmlformats.org/drawingml/2006/main">
            <a:off x="432054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A1E53FE0-89B4-46F2-8806-BFAF5E275C91}"/>
              </a:ext>
            </a:extLst>
          </p:cNvPr>
          <p:cNvSpPr>
            <a:spLocks xmlns:a="http://schemas.openxmlformats.org/drawingml/2006/main" noGrp="1"/>
          </p:cNvSpPr>
          <p:nvPr/>
        </p:nvSpPr>
        <p:spPr>
          <a:xfrm xmlns:a="http://schemas.openxmlformats.org/drawingml/2006/main">
            <a:off x="441579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34C8862E-9E01-4B9F-B236-11AD285DDC85}"/>
              </a:ext>
            </a:extLst>
          </p:cNvPr>
          <p:cNvSpPr>
            <a:spLocks xmlns:a="http://schemas.openxmlformats.org/drawingml/2006/main" noGrp="1"/>
          </p:cNvSpPr>
          <p:nvPr/>
        </p:nvSpPr>
        <p:spPr>
          <a:xfrm xmlns:a="http://schemas.openxmlformats.org/drawingml/2006/main">
            <a:off x="441579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발화·의도 처리</a:t>
            </a:r>
          </a:p>
        </p:txBody>
      </p:sp>
      <p:sp>
        <p:nvSpPr>
          <p:cNvPr id="16" name="">
            <a:extLst xmlns:a="http://schemas.openxmlformats.org/drawingml/2006/main">
              <a:ext uri="{FF2B5EF4-FFF2-40B4-BE49-F238E27FC236}">
                <a16:creationId xmlns:a16="http://schemas.microsoft.com/office/drawing/2014/main" id="{2B9D82CF-AA2E-4715-8DD3-3CA5A3A2D5C6}"/>
              </a:ext>
            </a:extLst>
          </p:cNvPr>
          <p:cNvSpPr>
            <a:spLocks xmlns:a="http://schemas.openxmlformats.org/drawingml/2006/main" noGrp="1"/>
          </p:cNvSpPr>
          <p:nvPr/>
        </p:nvSpPr>
        <p:spPr>
          <a:xfrm xmlns:a="http://schemas.openxmlformats.org/drawingml/2006/main">
            <a:off x="6195060" y="18002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8E53E925-7BAF-4189-88A6-203BC8B68D42}"/>
              </a:ext>
            </a:extLst>
          </p:cNvPr>
          <p:cNvSpPr>
            <a:spLocks xmlns:a="http://schemas.openxmlformats.org/drawingml/2006/main" noGrp="1"/>
          </p:cNvSpPr>
          <p:nvPr/>
        </p:nvSpPr>
        <p:spPr>
          <a:xfrm xmlns:a="http://schemas.openxmlformats.org/drawingml/2006/main">
            <a:off x="629031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98050941-104D-4740-953D-699746D39FCF}"/>
              </a:ext>
            </a:extLst>
          </p:cNvPr>
          <p:cNvSpPr>
            <a:spLocks xmlns:a="http://schemas.openxmlformats.org/drawingml/2006/main" noGrp="1"/>
          </p:cNvSpPr>
          <p:nvPr/>
        </p:nvSpPr>
        <p:spPr>
          <a:xfrm xmlns:a="http://schemas.openxmlformats.org/drawingml/2006/main">
            <a:off x="629031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핵심 조건 확인</a:t>
            </a:r>
          </a:p>
        </p:txBody>
      </p:sp>
      <p:sp>
        <p:nvSpPr>
          <p:cNvPr id="19" name="">
            <a:extLst xmlns:a="http://schemas.openxmlformats.org/drawingml/2006/main">
              <a:ext uri="{FF2B5EF4-FFF2-40B4-BE49-F238E27FC236}">
                <a16:creationId xmlns:a16="http://schemas.microsoft.com/office/drawing/2014/main" id="{6FEDE2A6-5D9F-4E0C-B5F5-8404AEC78963}"/>
              </a:ext>
            </a:extLst>
          </p:cNvPr>
          <p:cNvSpPr>
            <a:spLocks xmlns:a="http://schemas.openxmlformats.org/drawingml/2006/main" noGrp="1"/>
          </p:cNvSpPr>
          <p:nvPr/>
        </p:nvSpPr>
        <p:spPr>
          <a:xfrm xmlns:a="http://schemas.openxmlformats.org/drawingml/2006/main">
            <a:off x="806958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3C491607-D089-412A-AB2F-61C911B6CCAC}"/>
              </a:ext>
            </a:extLst>
          </p:cNvPr>
          <p:cNvSpPr>
            <a:spLocks xmlns:a="http://schemas.openxmlformats.org/drawingml/2006/main" noGrp="1"/>
          </p:cNvSpPr>
          <p:nvPr/>
        </p:nvSpPr>
        <p:spPr>
          <a:xfrm xmlns:a="http://schemas.openxmlformats.org/drawingml/2006/main">
            <a:off x="816483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1" name="">
            <a:extLst xmlns:a="http://schemas.openxmlformats.org/drawingml/2006/main">
              <a:ext uri="{FF2B5EF4-FFF2-40B4-BE49-F238E27FC236}">
                <a16:creationId xmlns:a16="http://schemas.microsoft.com/office/drawing/2014/main" id="{1A588559-E7FA-4FC0-8C99-4A6352BDF9BD}"/>
              </a:ext>
            </a:extLst>
          </p:cNvPr>
          <p:cNvSpPr>
            <a:spLocks xmlns:a="http://schemas.openxmlformats.org/drawingml/2006/main" noGrp="1"/>
          </p:cNvSpPr>
          <p:nvPr/>
        </p:nvSpPr>
        <p:spPr>
          <a:xfrm xmlns:a="http://schemas.openxmlformats.org/drawingml/2006/main">
            <a:off x="816483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이용자·상담원</a:t>
            </a:r>
          </a:p>
        </p:txBody>
      </p:sp>
      <p:sp>
        <p:nvSpPr>
          <p:cNvPr id="22" name="">
            <a:extLst xmlns:a="http://schemas.openxmlformats.org/drawingml/2006/main">
              <a:ext uri="{FF2B5EF4-FFF2-40B4-BE49-F238E27FC236}">
                <a16:creationId xmlns:a16="http://schemas.microsoft.com/office/drawing/2014/main" id="{8773E5EC-F4DB-4741-90DA-CB0EE1604454}"/>
              </a:ext>
            </a:extLst>
          </p:cNvPr>
          <p:cNvSpPr>
            <a:spLocks xmlns:a="http://schemas.openxmlformats.org/drawingml/2006/main" noGrp="1"/>
          </p:cNvSpPr>
          <p:nvPr/>
        </p:nvSpPr>
        <p:spPr>
          <a:xfrm xmlns:a="http://schemas.openxmlformats.org/drawingml/2006/main">
            <a:off x="9944100" y="18002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177E2678-2B90-4676-8808-3B8A31F1F99D}"/>
              </a:ext>
            </a:extLst>
          </p:cNvPr>
          <p:cNvSpPr>
            <a:spLocks xmlns:a="http://schemas.openxmlformats.org/drawingml/2006/main" noGrp="1"/>
          </p:cNvSpPr>
          <p:nvPr/>
        </p:nvSpPr>
        <p:spPr>
          <a:xfrm xmlns:a="http://schemas.openxmlformats.org/drawingml/2006/main">
            <a:off x="10039350" y="18954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4" name="">
            <a:extLst xmlns:a="http://schemas.openxmlformats.org/drawingml/2006/main">
              <a:ext uri="{FF2B5EF4-FFF2-40B4-BE49-F238E27FC236}">
                <a16:creationId xmlns:a16="http://schemas.microsoft.com/office/drawing/2014/main" id="{9BDF3E2A-D47C-4BD4-9BFC-77B69ED66B9D}"/>
              </a:ext>
            </a:extLst>
          </p:cNvPr>
          <p:cNvSpPr>
            <a:spLocks xmlns:a="http://schemas.openxmlformats.org/drawingml/2006/main" noGrp="1"/>
          </p:cNvSpPr>
          <p:nvPr/>
        </p:nvSpPr>
        <p:spPr>
          <a:xfrm xmlns:a="http://schemas.openxmlformats.org/drawingml/2006/main">
            <a:off x="10039350" y="22098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음성 안내·인계</a:t>
            </a:r>
          </a:p>
        </p:txBody>
      </p:sp>
      <p:sp>
        <p:nvSpPr>
          <p:cNvPr id="25" name="">
            <a:extLst xmlns:a="http://schemas.openxmlformats.org/drawingml/2006/main">
              <a:ext uri="{FF2B5EF4-FFF2-40B4-BE49-F238E27FC236}">
                <a16:creationId xmlns:a16="http://schemas.microsoft.com/office/drawing/2014/main" id="{C7079340-CB04-4D14-B08F-FDD6B3DAF7C0}"/>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88F474A7-8DD9-49EC-9269-F7F7412188DF}"/>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7" name="">
            <a:extLst xmlns:a="http://schemas.openxmlformats.org/drawingml/2006/main">
              <a:ext uri="{FF2B5EF4-FFF2-40B4-BE49-F238E27FC236}">
                <a16:creationId xmlns:a16="http://schemas.microsoft.com/office/drawing/2014/main" id="{85516CC9-570D-4795-9155-8C0BAC88B731}"/>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세무 상담자료</a:t>
            </a:r>
          </a:p>
        </p:txBody>
      </p:sp>
      <p:sp>
        <p:nvSpPr>
          <p:cNvPr id="28" name="">
            <a:extLst xmlns:a="http://schemas.openxmlformats.org/drawingml/2006/main">
              <a:ext uri="{FF2B5EF4-FFF2-40B4-BE49-F238E27FC236}">
                <a16:creationId xmlns:a16="http://schemas.microsoft.com/office/drawing/2014/main" id="{574C65A4-E709-460E-B2D4-09D495C6AF7B}"/>
              </a:ext>
            </a:extLst>
          </p:cNvPr>
          <p:cNvSpPr>
            <a:spLocks xmlns:a="http://schemas.openxmlformats.org/drawingml/2006/main" noGrp="1"/>
          </p:cNvSpPr>
          <p:nvPr/>
        </p:nvSpPr>
        <p:spPr>
          <a:xfrm xmlns:a="http://schemas.openxmlformats.org/drawingml/2006/main">
            <a:off x="35877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B34F44CD-FB27-4383-9BE6-2572B8C917CF}"/>
              </a:ext>
            </a:extLst>
          </p:cNvPr>
          <p:cNvSpPr>
            <a:spLocks xmlns:a="http://schemas.openxmlformats.org/drawingml/2006/main" noGrp="1"/>
          </p:cNvSpPr>
          <p:nvPr/>
        </p:nvSpPr>
        <p:spPr>
          <a:xfrm xmlns:a="http://schemas.openxmlformats.org/drawingml/2006/main">
            <a:off x="36830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36913A23-88AF-4DA0-8091-C22AD9CBECA5}"/>
              </a:ext>
            </a:extLst>
          </p:cNvPr>
          <p:cNvSpPr>
            <a:spLocks xmlns:a="http://schemas.openxmlformats.org/drawingml/2006/main" noGrp="1"/>
          </p:cNvSpPr>
          <p:nvPr/>
        </p:nvSpPr>
        <p:spPr>
          <a:xfrm xmlns:a="http://schemas.openxmlformats.org/drawingml/2006/main">
            <a:off x="36830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승인 지식 검색</a:t>
            </a:r>
          </a:p>
        </p:txBody>
      </p:sp>
      <p:sp>
        <p:nvSpPr>
          <p:cNvPr id="31" name="">
            <a:extLst xmlns:a="http://schemas.openxmlformats.org/drawingml/2006/main">
              <a:ext uri="{FF2B5EF4-FFF2-40B4-BE49-F238E27FC236}">
                <a16:creationId xmlns:a16="http://schemas.microsoft.com/office/drawing/2014/main" id="{92A4D6C3-1721-4ECE-B13E-8A4629A6B69D}"/>
              </a:ext>
            </a:extLst>
          </p:cNvPr>
          <p:cNvSpPr>
            <a:spLocks xmlns:a="http://schemas.openxmlformats.org/drawingml/2006/main" noGrp="1"/>
          </p:cNvSpPr>
          <p:nvPr/>
        </p:nvSpPr>
        <p:spPr>
          <a:xfrm xmlns:a="http://schemas.openxmlformats.org/drawingml/2006/main">
            <a:off x="66040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746198A8-468A-4A58-8F93-25D002F858AC}"/>
              </a:ext>
            </a:extLst>
          </p:cNvPr>
          <p:cNvSpPr>
            <a:spLocks xmlns:a="http://schemas.openxmlformats.org/drawingml/2006/main" noGrp="1"/>
          </p:cNvSpPr>
          <p:nvPr/>
        </p:nvSpPr>
        <p:spPr>
          <a:xfrm xmlns:a="http://schemas.openxmlformats.org/drawingml/2006/main">
            <a:off x="66992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5D318828-C755-4FE6-B1FC-CF99AEBDE9E4}"/>
              </a:ext>
            </a:extLst>
          </p:cNvPr>
          <p:cNvSpPr>
            <a:spLocks xmlns:a="http://schemas.openxmlformats.org/drawingml/2006/main" noGrp="1"/>
          </p:cNvSpPr>
          <p:nvPr/>
        </p:nvSpPr>
        <p:spPr>
          <a:xfrm xmlns:a="http://schemas.openxmlformats.org/drawingml/2006/main">
            <a:off x="66992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지식·상담 이력</a:t>
            </a:r>
          </a:p>
        </p:txBody>
      </p:sp>
      <p:sp>
        <p:nvSpPr>
          <p:cNvPr id="34" name="">
            <a:extLst xmlns:a="http://schemas.openxmlformats.org/drawingml/2006/main">
              <a:ext uri="{FF2B5EF4-FFF2-40B4-BE49-F238E27FC236}">
                <a16:creationId xmlns:a16="http://schemas.microsoft.com/office/drawing/2014/main" id="{3D948D66-59C5-48AD-97C9-CD027C44CB6C}"/>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224E3D1F-1573-494E-84C0-FBF4AB452DBD}"/>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B6531F2B-39A8-4B11-8EE4-0E2906EEE662}"/>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반복 문의 분석</a:t>
            </a:r>
          </a:p>
        </p:txBody>
      </p:sp>
      <p:sp>
        <p:nvSpPr>
          <p:cNvPr id="46" name="">
            <a:extLst xmlns:a="http://schemas.openxmlformats.org/drawingml/2006/main">
              <a:ext uri="{FF2B5EF4-FFF2-40B4-BE49-F238E27FC236}">
                <a16:creationId xmlns:a16="http://schemas.microsoft.com/office/drawing/2014/main" id="{65DF1B34-05A6-485E-9BEB-06ED43550379}"/>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701932711"/>
      </p:ext>
    </p:extLst>
  </p:cSld>
</p:sld>
</file>

<file path=ppt/slides/slide8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A9E88524-1A23-4935-B38A-0654128FDBC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AX15 / 논리 인터페이스·복구 설계</a:t>
            </a:r>
          </a:p>
        </p:txBody>
      </p:sp>
      <p:sp>
        <p:nvSpPr>
          <p:cNvPr id="2" name="">
            <a:extLst xmlns:a="http://schemas.openxmlformats.org/drawingml/2006/main">
              <a:ext uri="{FF2B5EF4-FFF2-40B4-BE49-F238E27FC236}">
                <a16:creationId xmlns:a16="http://schemas.microsoft.com/office/drawing/2014/main" id="{4AE36904-5F38-43AA-A7E5-84A818D9ACC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국세청 AI 전화상담 · 데이터와 예외 처리</a:t>
            </a:r>
          </a:p>
        </p:txBody>
      </p:sp>
      <p:sp>
        <p:nvSpPr>
          <p:cNvPr id="3" name="">
            <a:extLst xmlns:a="http://schemas.openxmlformats.org/drawingml/2006/main">
              <a:ext uri="{FF2B5EF4-FFF2-40B4-BE49-F238E27FC236}">
                <a16:creationId xmlns:a16="http://schemas.microsoft.com/office/drawing/2014/main" id="{200270B9-CD49-4B2E-92D1-0B0CBC4F78B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6670FBD-A715-483D-A681-1E80A8DCE9A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38AE733-F0ED-4E58-B712-843F08C6E47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81</a:t>
            </a:r>
          </a:p>
        </p:txBody>
      </p:sp>
      <p:sp>
        <p:nvSpPr>
          <p:cNvPr id="6" name="">
            <a:extLst xmlns:a="http://schemas.openxmlformats.org/drawingml/2006/main">
              <a:ext uri="{FF2B5EF4-FFF2-40B4-BE49-F238E27FC236}">
                <a16:creationId xmlns:a16="http://schemas.microsoft.com/office/drawing/2014/main" id="{9A64A1AE-0F61-4B54-95FB-FD6FD9FC33F4}"/>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98D5E547-61ED-4B08-8A3E-5E7DAF7FD39E}"/>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DBFE7ED9-CF89-4D8D-B154-B76CCBE1EB1D}"/>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요청</a:t>
            </a:r>
          </a:p>
        </p:txBody>
      </p:sp>
      <p:sp>
        <p:nvSpPr>
          <p:cNvPr id="9" name="">
            <a:extLst xmlns:a="http://schemas.openxmlformats.org/drawingml/2006/main">
              <a:ext uri="{FF2B5EF4-FFF2-40B4-BE49-F238E27FC236}">
                <a16:creationId xmlns:a16="http://schemas.microsoft.com/office/drawing/2014/main" id="{E50ECEBE-295E-4E3F-9BA8-9C9805A43E4E}"/>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발화에서 세목·기간·문의 목적 확인</a:t>
            </a:r>
          </a:p>
        </p:txBody>
      </p:sp>
      <p:sp>
        <p:nvSpPr>
          <p:cNvPr id="10" name="">
            <a:extLst xmlns:a="http://schemas.openxmlformats.org/drawingml/2006/main">
              <a:ext uri="{FF2B5EF4-FFF2-40B4-BE49-F238E27FC236}">
                <a16:creationId xmlns:a16="http://schemas.microsoft.com/office/drawing/2014/main" id="{1A297366-16A0-467F-96C1-EB0FA8235DD0}"/>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999D3E5-F4ED-4B56-9D5D-3FA8DFDEA0D0}"/>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업무 필드</a:t>
            </a:r>
          </a:p>
        </p:txBody>
      </p:sp>
      <p:sp>
        <p:nvSpPr>
          <p:cNvPr id="12" name="">
            <a:extLst xmlns:a="http://schemas.openxmlformats.org/drawingml/2006/main">
              <a:ext uri="{FF2B5EF4-FFF2-40B4-BE49-F238E27FC236}">
                <a16:creationId xmlns:a16="http://schemas.microsoft.com/office/drawing/2014/main" id="{FCFBEE28-7BFF-480A-969A-1DF2E47A022B}"/>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전화 발화</a:t>
            </a:r>
          </a:p>
        </p:txBody>
      </p:sp>
      <p:sp>
        <p:nvSpPr>
          <p:cNvPr id="13" name="">
            <a:extLst xmlns:a="http://schemas.openxmlformats.org/drawingml/2006/main">
              <a:ext uri="{FF2B5EF4-FFF2-40B4-BE49-F238E27FC236}">
                <a16:creationId xmlns:a16="http://schemas.microsoft.com/office/drawing/2014/main" id="{8917E438-960F-4FCD-8424-9A42EDE6B37F}"/>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B7E64DC-50AB-4E1C-9A5D-C21E661E0569}"/>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원천 상태</a:t>
            </a:r>
          </a:p>
        </p:txBody>
      </p:sp>
      <p:sp>
        <p:nvSpPr>
          <p:cNvPr id="15" name="">
            <a:extLst xmlns:a="http://schemas.openxmlformats.org/drawingml/2006/main">
              <a:ext uri="{FF2B5EF4-FFF2-40B4-BE49-F238E27FC236}">
                <a16:creationId xmlns:a16="http://schemas.microsoft.com/office/drawing/2014/main" id="{EF1355F6-4ED7-4800-BFCD-8C417D4A09F9}"/>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세무 안내 지식</a:t>
            </a:r>
          </a:p>
        </p:txBody>
      </p:sp>
      <p:sp>
        <p:nvSpPr>
          <p:cNvPr id="16" name="">
            <a:extLst xmlns:a="http://schemas.openxmlformats.org/drawingml/2006/main">
              <a:ext uri="{FF2B5EF4-FFF2-40B4-BE49-F238E27FC236}">
                <a16:creationId xmlns:a16="http://schemas.microsoft.com/office/drawing/2014/main" id="{C9C713BE-E232-46B0-9731-D80A56665C37}"/>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D49D68F-9EA3-47C6-88C4-737942BF3BCA}"/>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구조화 초안</a:t>
            </a:r>
          </a:p>
        </p:txBody>
      </p:sp>
      <p:sp>
        <p:nvSpPr>
          <p:cNvPr id="18" name="">
            <a:extLst xmlns:a="http://schemas.openxmlformats.org/drawingml/2006/main">
              <a:ext uri="{FF2B5EF4-FFF2-40B4-BE49-F238E27FC236}">
                <a16:creationId xmlns:a16="http://schemas.microsoft.com/office/drawing/2014/main" id="{E2664BFE-C435-4816-ADEE-1367904BB7E4}"/>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세무 안내</a:t>
            </a:r>
          </a:p>
        </p:txBody>
      </p:sp>
      <p:sp>
        <p:nvSpPr>
          <p:cNvPr id="19" name="">
            <a:extLst xmlns:a="http://schemas.openxmlformats.org/drawingml/2006/main">
              <a:ext uri="{FF2B5EF4-FFF2-40B4-BE49-F238E27FC236}">
                <a16:creationId xmlns:a16="http://schemas.microsoft.com/office/drawing/2014/main" id="{9F785371-D774-4243-8F9D-B9B186C0D44F}"/>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E4BE86CD-D2E0-464F-8F01-7AA3929751C0}"/>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승인·실행</a:t>
            </a:r>
          </a:p>
        </p:txBody>
      </p:sp>
      <p:sp>
        <p:nvSpPr>
          <p:cNvPr id="21" name="">
            <a:extLst xmlns:a="http://schemas.openxmlformats.org/drawingml/2006/main">
              <a:ext uri="{FF2B5EF4-FFF2-40B4-BE49-F238E27FC236}">
                <a16:creationId xmlns:a16="http://schemas.microsoft.com/office/drawing/2014/main" id="{C1D32E0F-09B5-4B88-BFA1-3A5CFFF5C90A}"/>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후속 상담</a:t>
            </a:r>
          </a:p>
        </p:txBody>
      </p:sp>
      <p:sp>
        <p:nvSpPr>
          <p:cNvPr id="22" name="">
            <a:extLst xmlns:a="http://schemas.openxmlformats.org/drawingml/2006/main">
              <a:ext uri="{FF2B5EF4-FFF2-40B4-BE49-F238E27FC236}">
                <a16:creationId xmlns:a16="http://schemas.microsoft.com/office/drawing/2014/main" id="{CF49F5E8-763B-4953-B9AC-D647DC9C9F3F}"/>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5734EEA0-B66B-4315-834D-1FB8F06D2519}"/>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처리 상태</a:t>
            </a:r>
          </a:p>
        </p:txBody>
      </p:sp>
      <p:sp>
        <p:nvSpPr>
          <p:cNvPr id="24" name="">
            <a:extLst xmlns:a="http://schemas.openxmlformats.org/drawingml/2006/main">
              <a:ext uri="{FF2B5EF4-FFF2-40B4-BE49-F238E27FC236}">
                <a16:creationId xmlns:a16="http://schemas.microsoft.com/office/drawing/2014/main" id="{F0E9F4DC-FA04-42C1-9C6B-C9059A09108D}"/>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후속 상담</a:t>
            </a:r>
          </a:p>
        </p:txBody>
      </p:sp>
      <p:sp>
        <p:nvSpPr>
          <p:cNvPr id="25" name="">
            <a:extLst xmlns:a="http://schemas.openxmlformats.org/drawingml/2006/main">
              <a:ext uri="{FF2B5EF4-FFF2-40B4-BE49-F238E27FC236}">
                <a16:creationId xmlns:a16="http://schemas.microsoft.com/office/drawing/2014/main" id="{7E704A9F-8D07-4AD8-B64B-DF09DB7434D2}"/>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DF9FDF07-BB02-4FCE-95D6-DA245BBA5FB1}"/>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발화 인식 실패·다른 귀속연도·개인별 과세 판단 요청</a:t>
            </a:r>
          </a:p>
        </p:txBody>
      </p:sp>
      <p:sp>
        <p:nvSpPr>
          <p:cNvPr id="27" name="">
            <a:extLst xmlns:a="http://schemas.openxmlformats.org/drawingml/2006/main">
              <a:ext uri="{FF2B5EF4-FFF2-40B4-BE49-F238E27FC236}">
                <a16:creationId xmlns:a16="http://schemas.microsoft.com/office/drawing/2014/main" id="{45D2F4CA-6A87-468B-AD6A-1BAD7E36CC91}"/>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53CE513F-37EC-4A2B-9FF8-440635C1683D}"/>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핵심 발화 확인·전문 상담 전환</a:t>
            </a:r>
          </a:p>
        </p:txBody>
      </p:sp>
      <p:sp>
        <p:nvSpPr>
          <p:cNvPr id="29" name="">
            <a:extLst xmlns:a="http://schemas.openxmlformats.org/drawingml/2006/main">
              <a:ext uri="{FF2B5EF4-FFF2-40B4-BE49-F238E27FC236}">
                <a16:creationId xmlns:a16="http://schemas.microsoft.com/office/drawing/2014/main" id="{3B05CFD4-707F-43C9-BE7E-E6ACC098B1B7}"/>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A460E87B-0973-43B2-9B40-E00791094809}"/>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상담 이관·반복 문의·안내 오류 점검</a:t>
            </a:r>
          </a:p>
        </p:txBody>
      </p:sp>
      <p:sp>
        <p:nvSpPr>
          <p:cNvPr id="31" name="">
            <a:extLst xmlns:a="http://schemas.openxmlformats.org/drawingml/2006/main">
              <a:ext uri="{FF2B5EF4-FFF2-40B4-BE49-F238E27FC236}">
                <a16:creationId xmlns:a16="http://schemas.microsoft.com/office/drawing/2014/main" id="{A9BCF442-501A-43E4-BD48-D86CD171E203}"/>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059E94E0-E83D-405F-99F1-652A17483FFD}"/>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필수 항목 인식표와 상담원 인계·해결 여부</a:t>
            </a:r>
          </a:p>
        </p:txBody>
      </p:sp>
    </p:spTree>
    <p:extLst>
      <p:ext uri="{BB962C8B-B14F-4D97-AF65-F5344CB8AC3E}">
        <p14:creationId xmlns:p14="http://schemas.microsoft.com/office/powerpoint/2010/main" val="1549988924"/>
      </p:ext>
    </p:extLst>
  </p:cSld>
</p:sld>
</file>

<file path=ppt/slides/slide8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43255B0-9118-4102-B2A0-B2B20020A19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AX15 / CCK 비교·재현 시험 설계</a:t>
            </a:r>
          </a:p>
        </p:txBody>
      </p:sp>
      <p:sp>
        <p:nvSpPr>
          <p:cNvPr id="2" name="">
            <a:extLst xmlns:a="http://schemas.openxmlformats.org/drawingml/2006/main">
              <a:ext uri="{FF2B5EF4-FFF2-40B4-BE49-F238E27FC236}">
                <a16:creationId xmlns:a16="http://schemas.microsoft.com/office/drawing/2014/main" id="{9B5290D9-DC98-4E2E-9E33-9922CCAB16E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국세청 AI 전화상담 · 벤치마킹</a:t>
            </a:r>
          </a:p>
        </p:txBody>
      </p:sp>
      <p:sp>
        <p:nvSpPr>
          <p:cNvPr id="3" name="">
            <a:extLst xmlns:a="http://schemas.openxmlformats.org/drawingml/2006/main">
              <a:ext uri="{FF2B5EF4-FFF2-40B4-BE49-F238E27FC236}">
                <a16:creationId xmlns:a16="http://schemas.microsoft.com/office/drawing/2014/main" id="{2E366B89-053D-4D2C-A181-6083BBD8C8F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69A3B69-FEE5-4464-BBC9-A4E10C46FAC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6A8150D4-4F87-4292-B164-C4E9BF2BA2F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82</a:t>
            </a:r>
          </a:p>
        </p:txBody>
      </p:sp>
      <p:sp>
        <p:nvSpPr>
          <p:cNvPr id="6" name="">
            <a:extLst xmlns:a="http://schemas.openxmlformats.org/drawingml/2006/main">
              <a:ext uri="{FF2B5EF4-FFF2-40B4-BE49-F238E27FC236}">
                <a16:creationId xmlns:a16="http://schemas.microsoft.com/office/drawing/2014/main" id="{855064FD-4B4E-4BAF-A615-0E8548746D7F}"/>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C1C3ACAA-384D-4C61-8FE3-835F0A1EDFA7}"/>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전화 채널과 세무 안내 결합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시범 적용 후 확대 검토</a:t>
            </a:r>
          </a:p>
        </p:txBody>
      </p:sp>
      <p:sp>
        <p:nvSpPr>
          <p:cNvPr id="8" name="">
            <a:extLst xmlns:a="http://schemas.openxmlformats.org/drawingml/2006/main">
              <a:ext uri="{FF2B5EF4-FFF2-40B4-BE49-F238E27FC236}">
                <a16:creationId xmlns:a16="http://schemas.microsoft.com/office/drawing/2014/main" id="{B602BAE6-3564-4C25-B0AC-29157450A681}"/>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1432BF51-8C1E-434F-91E7-0FFC18434207}"/>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예외 세무상담의 잘못된 안내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시범 성과와 전국 운영의 혼동</a:t>
            </a:r>
          </a:p>
        </p:txBody>
      </p:sp>
      <p:sp>
        <p:nvSpPr>
          <p:cNvPr id="10" name="">
            <a:extLst xmlns:a="http://schemas.openxmlformats.org/drawingml/2006/main">
              <a:ext uri="{FF2B5EF4-FFF2-40B4-BE49-F238E27FC236}">
                <a16:creationId xmlns:a16="http://schemas.microsoft.com/office/drawing/2014/main" id="{0854282F-9A96-4F22-872B-06A13E2766C4}"/>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766FEC7E-2B53-4534-AF3D-7F50F5AEC367}"/>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핵심 발화 확인·전문 상담 전환</a:t>
            </a:r>
          </a:p>
        </p:txBody>
      </p:sp>
      <p:sp>
        <p:nvSpPr>
          <p:cNvPr id="12" name="">
            <a:extLst xmlns:a="http://schemas.openxmlformats.org/drawingml/2006/main">
              <a:ext uri="{FF2B5EF4-FFF2-40B4-BE49-F238E27FC236}">
                <a16:creationId xmlns:a16="http://schemas.microsoft.com/office/drawing/2014/main" id="{68CA3A04-E9D5-495A-A362-3FE796BC059F}"/>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DB3AA27C-842A-48B0-8E90-C79199E8F844}"/>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납세자의 세목·귀속연도를 확인한 뒤 안내·상담 전</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환</a:t>
            </a:r>
          </a:p>
        </p:txBody>
      </p:sp>
      <p:sp>
        <p:nvSpPr>
          <p:cNvPr id="14" name="">
            <a:extLst xmlns:a="http://schemas.openxmlformats.org/drawingml/2006/main">
              <a:ext uri="{FF2B5EF4-FFF2-40B4-BE49-F238E27FC236}">
                <a16:creationId xmlns:a16="http://schemas.microsoft.com/office/drawing/2014/main" id="{DA76BB1E-7BC0-417D-8367-C54DD0BB9D78}"/>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D97B013E-D092-478B-9B74-F4E0E0FB1C25}"/>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발화 인식 실패·다른 귀속연도·개인별 과세 판단 요</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청</a:t>
            </a:r>
          </a:p>
        </p:txBody>
      </p:sp>
      <p:sp>
        <p:nvSpPr>
          <p:cNvPr id="16" name="">
            <a:extLst xmlns:a="http://schemas.openxmlformats.org/drawingml/2006/main">
              <a:ext uri="{FF2B5EF4-FFF2-40B4-BE49-F238E27FC236}">
                <a16:creationId xmlns:a16="http://schemas.microsoft.com/office/drawing/2014/main" id="{F2E67029-5092-4975-8731-707DD6D31C33}"/>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D5DDAD0A-C0C1-41B3-AF2B-6B4E2A5C8C99}"/>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필수 항목 인식표와 상담원 인계·해결 여부</a:t>
            </a:r>
          </a:p>
        </p:txBody>
      </p:sp>
    </p:spTree>
    <p:extLst>
      <p:ext uri="{BB962C8B-B14F-4D97-AF65-F5344CB8AC3E}">
        <p14:creationId xmlns:p14="http://schemas.microsoft.com/office/powerpoint/2010/main" val="465610053"/>
      </p:ext>
    </p:extLst>
  </p:cSld>
</p:sld>
</file>

<file path=ppt/slides/slide8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8D25729-ABF0-49F1-9248-00A797C7002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AX16 / 성과 미검증 / 해외</a:t>
            </a:r>
          </a:p>
        </p:txBody>
      </p:sp>
      <p:sp>
        <p:nvSpPr>
          <p:cNvPr id="2" name="">
            <a:extLst xmlns:a="http://schemas.openxmlformats.org/drawingml/2006/main">
              <a:ext uri="{FF2B5EF4-FFF2-40B4-BE49-F238E27FC236}">
                <a16:creationId xmlns:a16="http://schemas.microsoft.com/office/drawing/2014/main" id="{9F382B8D-EAEC-460D-AE84-F069189A8D1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버스 충돌경고 확대</a:t>
            </a:r>
          </a:p>
        </p:txBody>
      </p:sp>
      <p:sp>
        <p:nvSpPr>
          <p:cNvPr id="3" name="">
            <a:extLst xmlns:a="http://schemas.openxmlformats.org/drawingml/2006/main">
              <a:ext uri="{FF2B5EF4-FFF2-40B4-BE49-F238E27FC236}">
                <a16:creationId xmlns:a16="http://schemas.microsoft.com/office/drawing/2014/main" id="{D452F4DD-86C2-46BF-95B3-69CD75CFD0A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CA39317-2CA1-495C-9A7E-366F2CFD178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2F22544-CAA7-4DCE-8AA1-3E4DBD3408E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83</a:t>
            </a:r>
          </a:p>
        </p:txBody>
      </p:sp>
      <p:sp>
        <p:nvSpPr>
          <p:cNvPr id="6" name="">
            <a:extLst xmlns:a="http://schemas.openxmlformats.org/drawingml/2006/main">
              <a:ext uri="{FF2B5EF4-FFF2-40B4-BE49-F238E27FC236}">
                <a16:creationId xmlns:a16="http://schemas.microsoft.com/office/drawing/2014/main" id="{414FE645-DDFB-4FF7-B523-E60162CAA741}"/>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A1695ED9-0284-4511-A2D0-C6E74FB965CA}"/>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버스 주변 위험을 감지해 운전자에게 즉시 경고하는 안</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전 지원 사례. 운전자의 판단과 대응을 전제로 한 경고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시스템이며 운행 후 위험 이벤트 검토와도 연결.</a:t>
            </a:r>
          </a:p>
        </p:txBody>
      </p:sp>
      <p:sp>
        <p:nvSpPr>
          <p:cNvPr id="8" name="">
            <a:extLst xmlns:a="http://schemas.openxmlformats.org/drawingml/2006/main">
              <a:ext uri="{FF2B5EF4-FFF2-40B4-BE49-F238E27FC236}">
                <a16:creationId xmlns:a16="http://schemas.microsoft.com/office/drawing/2014/main" id="{8EEC5EC3-9838-4A6B-9221-64D60C28BE30}"/>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EEE5981F-E45A-4170-8756-EB67011BA4AA}"/>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차량·시간·주변 상황을 센서·영상과 맞추고 위험 후보에</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서 경고로 이어지는 지연을 관리하는 구조. 경고 발생,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운전자 반응, 실제 위험 여부를 서로 다른 기록으로 보존</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하는 CCK 분석.</a:t>
            </a:r>
          </a:p>
        </p:txBody>
      </p:sp>
      <p:sp>
        <p:nvSpPr>
          <p:cNvPr id="10" name="">
            <a:extLst xmlns:a="http://schemas.openxmlformats.org/drawingml/2006/main">
              <a:ext uri="{FF2B5EF4-FFF2-40B4-BE49-F238E27FC236}">
                <a16:creationId xmlns:a16="http://schemas.microsoft.com/office/drawing/2014/main" id="{8A719745-D81A-4DAA-BB9F-CCE181089175}"/>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584F2A57-8C04-441B-9403-E57381B97043}"/>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적용에서는 경보 과다로 인한 무시와 중요한 위험의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미탐을 동시에 확인할 필요. 차량·도로·시간대별 경보 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연·정확도·수용성을 비교하고 보급 규모를 사고 감소 실적</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으로 환산하지 않는 평가.</a:t>
            </a:r>
          </a:p>
        </p:txBody>
      </p:sp>
      <p:sp>
        <p:nvSpPr>
          <p:cNvPr id="12" name="">
            <a:extLst xmlns:a="http://schemas.openxmlformats.org/drawingml/2006/main">
              <a:ext uri="{FF2B5EF4-FFF2-40B4-BE49-F238E27FC236}">
                <a16:creationId xmlns:a16="http://schemas.microsoft.com/office/drawing/2014/main" id="{0FBE9081-D0AB-4693-8138-6A6B397838CB}"/>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F619AACC-F297-4F3C-983C-9FE7F53212E1}"/>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장치 상태·경고 이력·점검 항목 매핑</a:t>
            </a:r>
          </a:p>
        </p:txBody>
      </p:sp>
      <p:sp>
        <p:nvSpPr>
          <p:cNvPr id="14" name="">
            <a:extLst xmlns:a="http://schemas.openxmlformats.org/drawingml/2006/main">
              <a:ext uri="{FF2B5EF4-FFF2-40B4-BE49-F238E27FC236}">
                <a16:creationId xmlns:a16="http://schemas.microsoft.com/office/drawing/2014/main" id="{06B3C59C-DB2C-4559-AA8C-AEFEC3611E63}"/>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FF889A02-6A03-43AD-9C4A-3727A114F3DB}"/>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결측·장치 고장·과경보 및 점검 증빙 대조</a:t>
            </a:r>
          </a:p>
        </p:txBody>
      </p:sp>
      <p:sp>
        <p:nvSpPr>
          <p:cNvPr id="16" name="">
            <a:extLst xmlns:a="http://schemas.openxmlformats.org/drawingml/2006/main">
              <a:ext uri="{FF2B5EF4-FFF2-40B4-BE49-F238E27FC236}">
                <a16:creationId xmlns:a16="http://schemas.microsoft.com/office/drawing/2014/main" id="{992B0462-AD59-4EE4-A40E-C0881AEEF6D8}"/>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C4CFAE50-B3F7-4139-9A7F-A821B7A0A1EC}"/>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경고 신뢰도 / 증빙 누락률</a:t>
            </a:r>
          </a:p>
        </p:txBody>
      </p:sp>
      <p:sp>
        <p:nvSpPr>
          <p:cNvPr id="18" name="">
            <a:extLst xmlns:a="http://schemas.openxmlformats.org/drawingml/2006/main">
              <a:ext uri="{FF2B5EF4-FFF2-40B4-BE49-F238E27FC236}">
                <a16:creationId xmlns:a16="http://schemas.microsoft.com/office/drawing/2014/main" id="{B42A19F8-D965-4764-8958-777581C0155B}"/>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계획·조달 단계와 전 차량 운영 성과 구분</a:t>
            </a:r>
          </a:p>
        </p:txBody>
      </p:sp>
    </p:spTree>
    <p:extLst>
      <p:ext uri="{BB962C8B-B14F-4D97-AF65-F5344CB8AC3E}">
        <p14:creationId xmlns:p14="http://schemas.microsoft.com/office/powerpoint/2010/main" val="2126869105"/>
      </p:ext>
    </p:extLst>
  </p:cSld>
</p:sld>
</file>

<file path=ppt/slides/slide8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70AFFA6-F29B-473B-84CE-209E3200836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AX16 / As-Is → To-Be → 기대효과 → 확인 결과</a:t>
            </a:r>
          </a:p>
        </p:txBody>
      </p:sp>
      <p:sp>
        <p:nvSpPr>
          <p:cNvPr id="2" name="">
            <a:extLst xmlns:a="http://schemas.openxmlformats.org/drawingml/2006/main">
              <a:ext uri="{FF2B5EF4-FFF2-40B4-BE49-F238E27FC236}">
                <a16:creationId xmlns:a16="http://schemas.microsoft.com/office/drawing/2014/main" id="{38AC374E-8C84-4D9A-A681-85B771C4469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버스 충돌경고 확대 · 기대와 결과</a:t>
            </a:r>
          </a:p>
        </p:txBody>
      </p:sp>
      <p:sp>
        <p:nvSpPr>
          <p:cNvPr id="3" name="">
            <a:extLst xmlns:a="http://schemas.openxmlformats.org/drawingml/2006/main">
              <a:ext uri="{FF2B5EF4-FFF2-40B4-BE49-F238E27FC236}">
                <a16:creationId xmlns:a16="http://schemas.microsoft.com/office/drawing/2014/main" id="{301261F6-3440-4827-A6AB-C849179A66D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AE53632-14C7-4395-B3F0-3019DCA7105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F8412FF8-613B-4D0F-A023-BE411B3C339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84</a:t>
            </a:r>
          </a:p>
        </p:txBody>
      </p:sp>
      <p:sp>
        <p:nvSpPr>
          <p:cNvPr id="6" name="">
            <a:extLst xmlns:a="http://schemas.openxmlformats.org/drawingml/2006/main">
              <a:ext uri="{FF2B5EF4-FFF2-40B4-BE49-F238E27FC236}">
                <a16:creationId xmlns:a16="http://schemas.microsoft.com/office/drawing/2014/main" id="{A67321CF-3992-4610-87FA-5B26C5BA7213}"/>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8A17988E-7D6E-441F-95B2-BD88E5CE8B08}"/>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버스 사고 위험을 운전자 인지·기존 안전장치에 의존해 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응</a:t>
            </a:r>
          </a:p>
        </p:txBody>
      </p:sp>
      <p:sp>
        <p:nvSpPr>
          <p:cNvPr id="8" name="">
            <a:extLst xmlns:a="http://schemas.openxmlformats.org/drawingml/2006/main">
              <a:ext uri="{FF2B5EF4-FFF2-40B4-BE49-F238E27FC236}">
                <a16:creationId xmlns:a16="http://schemas.microsoft.com/office/drawing/2014/main" id="{38DE6915-E45E-49B0-A26B-80680A36009B}"/>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4B1A1A28-DCB5-4DC1-9CA5-2DFA8145381F}"/>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차량 센서·영상 기반 충돌경고 기능을 단계적으로 버스에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도입·확대</a:t>
            </a:r>
          </a:p>
        </p:txBody>
      </p:sp>
      <p:sp>
        <p:nvSpPr>
          <p:cNvPr id="10" name="">
            <a:extLst xmlns:a="http://schemas.openxmlformats.org/drawingml/2006/main">
              <a:ext uri="{FF2B5EF4-FFF2-40B4-BE49-F238E27FC236}">
                <a16:creationId xmlns:a16="http://schemas.microsoft.com/office/drawing/2014/main" id="{05523422-4D30-48F7-8FE6-2410D8FF90BE}"/>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DD630ECE-CF4F-4A98-9376-A75AE9F30F24}"/>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위험의 조기 경고와 충돌 감소</a:t>
            </a:r>
          </a:p>
        </p:txBody>
      </p:sp>
      <p:sp>
        <p:nvSpPr>
          <p:cNvPr id="12" name="">
            <a:extLst xmlns:a="http://schemas.openxmlformats.org/drawingml/2006/main">
              <a:ext uri="{FF2B5EF4-FFF2-40B4-BE49-F238E27FC236}">
                <a16:creationId xmlns:a16="http://schemas.microsoft.com/office/drawing/2014/main" id="{293AA3F3-CE05-46C0-9FC0-2BDB2DCC75EF}"/>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5F89B23F-1A2A-466D-A47F-254A0DCC1B90}"/>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싱가포르 육상교통청의 도입·확대 방향 발표</a:t>
            </a:r>
          </a:p>
        </p:txBody>
      </p:sp>
      <p:sp>
        <p:nvSpPr>
          <p:cNvPr id="14" name="">
            <a:extLst xmlns:a="http://schemas.openxmlformats.org/drawingml/2006/main">
              <a:ext uri="{FF2B5EF4-FFF2-40B4-BE49-F238E27FC236}">
                <a16:creationId xmlns:a16="http://schemas.microsoft.com/office/drawing/2014/main" id="{E617BDCB-B372-46D2-89CE-F11C366C0589}"/>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계획·도입 발표만으로 실제 차량 적용률과 충돌 감소를 확인할 수 없음</a:t>
            </a:r>
          </a:p>
        </p:txBody>
      </p:sp>
      <p:sp>
        <p:nvSpPr>
          <p:cNvPr id="15" name="">
            <a:extLst xmlns:a="http://schemas.openxmlformats.org/drawingml/2006/main">
              <a:ext uri="{FF2B5EF4-FFF2-40B4-BE49-F238E27FC236}">
                <a16:creationId xmlns:a16="http://schemas.microsoft.com/office/drawing/2014/main" id="{B49357A7-3E15-4ACB-940F-214FBFD5BC1E}"/>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정부 조달·확대 계획 · 발표 시점의 계획 기준. 운행·사고 결과의 실측치 미확인</a:t>
            </a:r>
          </a:p>
        </p:txBody>
      </p:sp>
    </p:spTree>
    <p:extLst>
      <p:ext uri="{BB962C8B-B14F-4D97-AF65-F5344CB8AC3E}">
        <p14:creationId xmlns:p14="http://schemas.microsoft.com/office/powerpoint/2010/main" val="465240829"/>
      </p:ext>
    </p:extLst>
  </p:cSld>
</p:sld>
</file>

<file path=ppt/slides/slide8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6" name="">
            <a:extLst xmlns:a="http://schemas.openxmlformats.org/drawingml/2006/main">
              <a:ext uri="{FF2B5EF4-FFF2-40B4-BE49-F238E27FC236}">
                <a16:creationId xmlns:a16="http://schemas.microsoft.com/office/drawing/2014/main" id="{1A76DBD9-AED8-4E69-9539-C5C9015E6BD6}"/>
              </a:ext>
            </a:extLst>
          </p:cNvPr>
          <p:cNvCxnSpPr>
            <a:stCxn xmlns:a="http://schemas.openxmlformats.org/drawingml/2006/main" id="34" idx="1"/>
            <a:endCxn xmlns:a="http://schemas.openxmlformats.org/drawingml/2006/main" id="13" idx="3"/>
          </p:cNvCxnSpPr>
          <p:nvPr/>
        </p:nvCxnSpPr>
        <p:spPr>
          <a:xfrm xmlns:a="http://schemas.openxmlformats.org/drawingml/2006/main" flipH="1" flipV="1">
            <a:off x="7096125" y="2352675"/>
            <a:ext cx="2524125" cy="2476500"/>
          </a:xfrm>
          <a:prstGeom xmlns:a="http://schemas.openxmlformats.org/drawingml/2006/main" prst="straightConnector1">
            <a:avLst/>
          </a:prstGeom>
          <a:ln xmlns:a="http://schemas.openxmlformats.org/drawingml/2006/main" w="19050">
            <a:solidFill>
              <a:srgbClr val="697F86"/>
            </a:solidFill>
            <a:tailEnd type="arrow" w="med" len="med"/>
          </a:ln>
        </p:spPr>
      </p:cxnSp>
      <p:cxnSp>
        <p:nvCxnSpPr>
          <p:cNvPr id="45" name="">
            <a:extLst xmlns:a="http://schemas.openxmlformats.org/drawingml/2006/main">
              <a:ext uri="{FF2B5EF4-FFF2-40B4-BE49-F238E27FC236}">
                <a16:creationId xmlns:a16="http://schemas.microsoft.com/office/drawing/2014/main" id="{46672E83-BEAA-4978-9C9D-47E838F67350}"/>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AC25EC63-597E-47B1-B99E-C7D698DE3E43}"/>
              </a:ext>
            </a:extLst>
          </p:cNvPr>
          <p:cNvCxnSpPr>
            <a:stCxn xmlns:a="http://schemas.openxmlformats.org/drawingml/2006/main" id="31" idx="0"/>
            <a:endCxn xmlns:a="http://schemas.openxmlformats.org/drawingml/2006/main" id="19" idx="2"/>
          </p:cNvCxnSpPr>
          <p:nvPr/>
        </p:nvCxnSpPr>
        <p:spPr>
          <a:xfrm xmlns:a="http://schemas.openxmlformats.org/drawingml/2006/main" flipV="1">
            <a:off x="8358188" y="2905125"/>
            <a:ext cx="2262187"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C79CCC01-598A-4D4F-B9B7-8BB2D036AE7A}"/>
              </a:ext>
            </a:extLst>
          </p:cNvPr>
          <p:cNvCxnSpPr>
            <a:stCxn xmlns:a="http://schemas.openxmlformats.org/drawingml/2006/main" id="16" idx="2"/>
            <a:endCxn xmlns:a="http://schemas.openxmlformats.org/drawingml/2006/main" id="31" idx="0"/>
          </p:cNvCxnSpPr>
          <p:nvPr/>
        </p:nvCxnSpPr>
        <p:spPr>
          <a:xfrm xmlns:a="http://schemas.openxmlformats.org/drawingml/2006/main">
            <a:off x="8358188" y="2905125"/>
            <a:ext cx="0"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2" name="">
            <a:extLst xmlns:a="http://schemas.openxmlformats.org/drawingml/2006/main">
              <a:ext uri="{FF2B5EF4-FFF2-40B4-BE49-F238E27FC236}">
                <a16:creationId xmlns:a16="http://schemas.microsoft.com/office/drawing/2014/main" id="{662237D0-62C5-4A10-AE17-52B2E499A299}"/>
              </a:ext>
            </a:extLst>
          </p:cNvPr>
          <p:cNvCxnSpPr>
            <a:stCxn xmlns:a="http://schemas.openxmlformats.org/drawingml/2006/main" id="28" idx="0"/>
            <a:endCxn xmlns:a="http://schemas.openxmlformats.org/drawingml/2006/main" id="16" idx="2"/>
          </p:cNvCxnSpPr>
          <p:nvPr/>
        </p:nvCxnSpPr>
        <p:spPr>
          <a:xfrm xmlns:a="http://schemas.openxmlformats.org/drawingml/2006/main" flipV="1">
            <a:off x="6096000" y="2905125"/>
            <a:ext cx="2262188"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1" name="">
            <a:extLst xmlns:a="http://schemas.openxmlformats.org/drawingml/2006/main">
              <a:ext uri="{FF2B5EF4-FFF2-40B4-BE49-F238E27FC236}">
                <a16:creationId xmlns:a16="http://schemas.microsoft.com/office/drawing/2014/main" id="{12AB225C-44CA-43FB-A985-33792B542DE6}"/>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3FCEFF20-59A5-4E4B-87FA-464893A420D0}"/>
              </a:ext>
            </a:extLst>
          </p:cNvPr>
          <p:cNvCxnSpPr>
            <a:stCxn xmlns:a="http://schemas.openxmlformats.org/drawingml/2006/main" id="25" idx="0"/>
            <a:endCxn xmlns:a="http://schemas.openxmlformats.org/drawingml/2006/main" id="13" idx="2"/>
          </p:cNvCxnSpPr>
          <p:nvPr/>
        </p:nvCxnSpPr>
        <p:spPr>
          <a:xfrm xmlns:a="http://schemas.openxmlformats.org/drawingml/2006/main" flipV="1">
            <a:off x="3833813" y="2905125"/>
            <a:ext cx="2262187"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7B26D9C4-85D3-42A0-AD7B-5A024E0274EF}"/>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39CFC978-B92D-4031-B580-BC46BC719E67}"/>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BECBD42E-F744-4842-BC88-AC317D0709B9}"/>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8" name="">
            <a:extLst xmlns:a="http://schemas.openxmlformats.org/drawingml/2006/main">
              <a:ext uri="{FF2B5EF4-FFF2-40B4-BE49-F238E27FC236}">
                <a16:creationId xmlns:a16="http://schemas.microsoft.com/office/drawing/2014/main" id="{1AC62DCB-7F90-4E4F-ACBE-129073F6CC4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AX16 / 관측·안전 판정·현장 조치·환류</a:t>
            </a:r>
          </a:p>
        </p:txBody>
      </p:sp>
      <p:sp>
        <p:nvSpPr>
          <p:cNvPr id="2" name="">
            <a:extLst xmlns:a="http://schemas.openxmlformats.org/drawingml/2006/main">
              <a:ext uri="{FF2B5EF4-FFF2-40B4-BE49-F238E27FC236}">
                <a16:creationId xmlns:a16="http://schemas.microsoft.com/office/drawing/2014/main" id="{0CEC7F81-FDB2-4C43-A209-DD1614C221C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버스 충돌경고 확대 · 세부 서비스 구조</a:t>
            </a:r>
          </a:p>
        </p:txBody>
      </p:sp>
      <p:sp>
        <p:nvSpPr>
          <p:cNvPr id="3" name="">
            <a:extLst xmlns:a="http://schemas.openxmlformats.org/drawingml/2006/main">
              <a:ext uri="{FF2B5EF4-FFF2-40B4-BE49-F238E27FC236}">
                <a16:creationId xmlns:a16="http://schemas.microsoft.com/office/drawing/2014/main" id="{89817FCD-FF5A-4418-9F6E-64810CF9B42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892F737-C976-42BF-970C-C9D5174FD75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79B665A-D998-4B99-9044-1336A47EA58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85</a:t>
            </a:r>
          </a:p>
        </p:txBody>
      </p:sp>
      <p:sp>
        <p:nvSpPr>
          <p:cNvPr id="6" name="">
            <a:extLst xmlns:a="http://schemas.openxmlformats.org/drawingml/2006/main">
              <a:ext uri="{FF2B5EF4-FFF2-40B4-BE49-F238E27FC236}">
                <a16:creationId xmlns:a16="http://schemas.microsoft.com/office/drawing/2014/main" id="{3FE7C36E-575E-4F3E-A02B-802A8BCD5EAA}"/>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차량 센서·영상 → 위험 판단 → 운전자 경고 → 운행 안전 검토</a:t>
            </a:r>
          </a:p>
        </p:txBody>
      </p:sp>
      <p:sp>
        <p:nvSpPr>
          <p:cNvPr id="7" name="">
            <a:extLst xmlns:a="http://schemas.openxmlformats.org/drawingml/2006/main">
              <a:ext uri="{FF2B5EF4-FFF2-40B4-BE49-F238E27FC236}">
                <a16:creationId xmlns:a16="http://schemas.microsoft.com/office/drawing/2014/main" id="{4AE5C0B6-3258-4504-B827-450DE2BDEA81}"/>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9091BDEB-2CD9-45A4-ABBA-8E7A5C85029F}"/>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584EA341-CD5E-4BA4-8C28-ADC245BB185E}"/>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영상·센서 자료</a:t>
            </a:r>
          </a:p>
        </p:txBody>
      </p:sp>
      <p:sp>
        <p:nvSpPr>
          <p:cNvPr id="10" name="">
            <a:extLst xmlns:a="http://schemas.openxmlformats.org/drawingml/2006/main">
              <a:ext uri="{FF2B5EF4-FFF2-40B4-BE49-F238E27FC236}">
                <a16:creationId xmlns:a16="http://schemas.microsoft.com/office/drawing/2014/main" id="{81D48BF7-FA39-4B82-B9EF-749AFC941A54}"/>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CF90E29B-3521-42B5-987E-F637F049D0F1}"/>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B892874D-9480-4F4C-B099-2AEC0055029D}"/>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시간 동기화</a:t>
            </a:r>
          </a:p>
        </p:txBody>
      </p:sp>
      <p:sp>
        <p:nvSpPr>
          <p:cNvPr id="13" name="">
            <a:extLst xmlns:a="http://schemas.openxmlformats.org/drawingml/2006/main">
              <a:ext uri="{FF2B5EF4-FFF2-40B4-BE49-F238E27FC236}">
                <a16:creationId xmlns:a16="http://schemas.microsoft.com/office/drawing/2014/main" id="{6F7B0082-68F7-4342-9287-64AED3EF07ED}"/>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B01C0A80-EDDB-4149-BDF4-AC304446D680}"/>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7A75D315-3358-4988-A52E-E11FF5E1722E}"/>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충돌 위험 탐지</a:t>
            </a:r>
          </a:p>
        </p:txBody>
      </p:sp>
      <p:sp>
        <p:nvSpPr>
          <p:cNvPr id="16" name="">
            <a:extLst xmlns:a="http://schemas.openxmlformats.org/drawingml/2006/main">
              <a:ext uri="{FF2B5EF4-FFF2-40B4-BE49-F238E27FC236}">
                <a16:creationId xmlns:a16="http://schemas.microsoft.com/office/drawing/2014/main" id="{EC06DE77-CE4E-4A56-A713-CEE53462CE9C}"/>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D1452A97-9D1F-47C5-B8B5-A43ECC78FDAC}"/>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AADAD0A2-C102-48F1-9D53-B5C86F0D61A3}"/>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경보 지연 검사</a:t>
            </a:r>
          </a:p>
        </p:txBody>
      </p:sp>
      <p:sp>
        <p:nvSpPr>
          <p:cNvPr id="19" name="">
            <a:extLst xmlns:a="http://schemas.openxmlformats.org/drawingml/2006/main">
              <a:ext uri="{FF2B5EF4-FFF2-40B4-BE49-F238E27FC236}">
                <a16:creationId xmlns:a16="http://schemas.microsoft.com/office/drawing/2014/main" id="{2A6F9304-EC6A-4A17-9A3D-73EA6980D14B}"/>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8F97CED4-3037-418A-8403-CF8F96FA299E}"/>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C4B0421F-1996-4521-B16F-883C8482C4D7}"/>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위험 경고 전달</a:t>
            </a:r>
          </a:p>
        </p:txBody>
      </p:sp>
      <p:sp>
        <p:nvSpPr>
          <p:cNvPr id="22" name="">
            <a:extLst xmlns:a="http://schemas.openxmlformats.org/drawingml/2006/main">
              <a:ext uri="{FF2B5EF4-FFF2-40B4-BE49-F238E27FC236}">
                <a16:creationId xmlns:a16="http://schemas.microsoft.com/office/drawing/2014/main" id="{AD34C93D-70FB-4C63-98D8-DCD0AD7FC3DE}"/>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23AA39DE-BCB0-4BCF-A74D-BD6BD4E0085D}"/>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378D3A7B-035D-4E4E-B293-CD5D24FB1136}"/>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차량·주변 맥락</a:t>
            </a:r>
          </a:p>
        </p:txBody>
      </p:sp>
      <p:sp>
        <p:nvSpPr>
          <p:cNvPr id="25" name="">
            <a:extLst xmlns:a="http://schemas.openxmlformats.org/drawingml/2006/main">
              <a:ext uri="{FF2B5EF4-FFF2-40B4-BE49-F238E27FC236}">
                <a16:creationId xmlns:a16="http://schemas.microsoft.com/office/drawing/2014/main" id="{EC3A4B74-628B-44C3-94C8-E3D7CB16A92A}"/>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0F929F9D-B01D-48BE-ABE7-EB31A37AB761}"/>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27" name="">
            <a:extLst xmlns:a="http://schemas.openxmlformats.org/drawingml/2006/main">
              <a:ext uri="{FF2B5EF4-FFF2-40B4-BE49-F238E27FC236}">
                <a16:creationId xmlns:a16="http://schemas.microsoft.com/office/drawing/2014/main" id="{8256F788-C246-4543-8B81-56265E3FA7D5}"/>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영상·센서 조회</a:t>
            </a:r>
          </a:p>
        </p:txBody>
      </p:sp>
      <p:sp>
        <p:nvSpPr>
          <p:cNvPr id="28" name="">
            <a:extLst xmlns:a="http://schemas.openxmlformats.org/drawingml/2006/main">
              <a:ext uri="{FF2B5EF4-FFF2-40B4-BE49-F238E27FC236}">
                <a16:creationId xmlns:a16="http://schemas.microsoft.com/office/drawing/2014/main" id="{6451AA1B-65BE-4984-BBFF-9B31B906D3C5}"/>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5E575DFD-E777-4EFD-8C10-AD13DA2B1735}"/>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30" name="">
            <a:extLst xmlns:a="http://schemas.openxmlformats.org/drawingml/2006/main">
              <a:ext uri="{FF2B5EF4-FFF2-40B4-BE49-F238E27FC236}">
                <a16:creationId xmlns:a16="http://schemas.microsoft.com/office/drawing/2014/main" id="{22BE83B2-0530-49E8-BF50-3FD62BF61E49}"/>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차량 안전 경계</a:t>
            </a:r>
          </a:p>
        </p:txBody>
      </p:sp>
      <p:sp>
        <p:nvSpPr>
          <p:cNvPr id="31" name="">
            <a:extLst xmlns:a="http://schemas.openxmlformats.org/drawingml/2006/main">
              <a:ext uri="{FF2B5EF4-FFF2-40B4-BE49-F238E27FC236}">
                <a16:creationId xmlns:a16="http://schemas.microsoft.com/office/drawing/2014/main" id="{69F93FA4-72E5-4344-B59D-47DE4C85157D}"/>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D0D9A8CC-24AC-4725-881E-C6DAEF55955E}"/>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8A6F8595-2D5F-4407-9C61-95DF591A124C}"/>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운전자 상황 판단</a:t>
            </a:r>
          </a:p>
        </p:txBody>
      </p:sp>
      <p:sp>
        <p:nvSpPr>
          <p:cNvPr id="34" name="">
            <a:extLst xmlns:a="http://schemas.openxmlformats.org/drawingml/2006/main">
              <a:ext uri="{FF2B5EF4-FFF2-40B4-BE49-F238E27FC236}">
                <a16:creationId xmlns:a16="http://schemas.microsoft.com/office/drawing/2014/main" id="{939A67F4-7FC5-430E-8851-A43F6C29CDC1}"/>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79E4EAC1-8CCA-4798-A7B1-1983B137DB07}"/>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F3E915AB-5FC0-4F02-BC89-3352CBD38D20}"/>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운행 후 검토</a:t>
            </a:r>
          </a:p>
        </p:txBody>
      </p:sp>
      <p:sp>
        <p:nvSpPr>
          <p:cNvPr id="47" name="">
            <a:extLst xmlns:a="http://schemas.openxmlformats.org/drawingml/2006/main">
              <a:ext uri="{FF2B5EF4-FFF2-40B4-BE49-F238E27FC236}">
                <a16:creationId xmlns:a16="http://schemas.microsoft.com/office/drawing/2014/main" id="{3ECE645B-38FD-4626-B685-A879B550B095}"/>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538304124"/>
      </p:ext>
    </p:extLst>
  </p:cSld>
</p:sld>
</file>

<file path=ppt/slides/slide8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B2EEFF07-1714-4ECE-8CCF-CAE66436FBE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AX16 / 논리 인터페이스·복구 설계</a:t>
            </a:r>
          </a:p>
        </p:txBody>
      </p:sp>
      <p:sp>
        <p:nvSpPr>
          <p:cNvPr id="2" name="">
            <a:extLst xmlns:a="http://schemas.openxmlformats.org/drawingml/2006/main">
              <a:ext uri="{FF2B5EF4-FFF2-40B4-BE49-F238E27FC236}">
                <a16:creationId xmlns:a16="http://schemas.microsoft.com/office/drawing/2014/main" id="{DDFC673B-F628-44ED-8362-D3E618FE725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버스 충돌경고 확대 · 데이터와 예외 처리</a:t>
            </a:r>
          </a:p>
        </p:txBody>
      </p:sp>
      <p:sp>
        <p:nvSpPr>
          <p:cNvPr id="3" name="">
            <a:extLst xmlns:a="http://schemas.openxmlformats.org/drawingml/2006/main">
              <a:ext uri="{FF2B5EF4-FFF2-40B4-BE49-F238E27FC236}">
                <a16:creationId xmlns:a16="http://schemas.microsoft.com/office/drawing/2014/main" id="{8A52070D-0FAE-42ED-9B02-B964B60BD88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D56D4FE-D83F-41F6-B528-E9732A5FF00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31908F84-775B-453E-B457-1E302E6C486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86</a:t>
            </a:r>
          </a:p>
        </p:txBody>
      </p:sp>
      <p:sp>
        <p:nvSpPr>
          <p:cNvPr id="6" name="">
            <a:extLst xmlns:a="http://schemas.openxmlformats.org/drawingml/2006/main">
              <a:ext uri="{FF2B5EF4-FFF2-40B4-BE49-F238E27FC236}">
                <a16:creationId xmlns:a16="http://schemas.microsoft.com/office/drawing/2014/main" id="{C23FABA4-2791-4AEF-BA1E-99DBA5710E0F}"/>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28F7774C-9DB2-4D24-AFA0-69C370425BEC}"/>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0CDB2735-9A2D-4CF5-ABD3-6B6E651C76BF}"/>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관측 입력</a:t>
            </a:r>
          </a:p>
        </p:txBody>
      </p:sp>
      <p:sp>
        <p:nvSpPr>
          <p:cNvPr id="9" name="">
            <a:extLst xmlns:a="http://schemas.openxmlformats.org/drawingml/2006/main">
              <a:ext uri="{FF2B5EF4-FFF2-40B4-BE49-F238E27FC236}">
                <a16:creationId xmlns:a16="http://schemas.microsoft.com/office/drawing/2014/main" id="{669ADC90-DEA1-4EE6-85D6-DC3DAF44E94F}"/>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위험 이벤트 기록</a:t>
            </a:r>
          </a:p>
        </p:txBody>
      </p:sp>
      <p:sp>
        <p:nvSpPr>
          <p:cNvPr id="10" name="">
            <a:extLst xmlns:a="http://schemas.openxmlformats.org/drawingml/2006/main">
              <a:ext uri="{FF2B5EF4-FFF2-40B4-BE49-F238E27FC236}">
                <a16:creationId xmlns:a16="http://schemas.microsoft.com/office/drawing/2014/main" id="{ADBFD4FC-B34B-4F95-B23A-9AE2E7484D3F}"/>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BB3F9A6-4B2E-4CA4-879C-39EC5E165ED3}"/>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정합화 상태</a:t>
            </a:r>
          </a:p>
        </p:txBody>
      </p:sp>
      <p:sp>
        <p:nvSpPr>
          <p:cNvPr id="12" name="">
            <a:extLst xmlns:a="http://schemas.openxmlformats.org/drawingml/2006/main">
              <a:ext uri="{FF2B5EF4-FFF2-40B4-BE49-F238E27FC236}">
                <a16:creationId xmlns:a16="http://schemas.microsoft.com/office/drawing/2014/main" id="{ED93C41F-6E2F-4A21-8F3D-CCCE37DDEEC7}"/>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E36920C0-B246-4D1C-8523-4D6F95FD0CFC}"/>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12C97C5-4C44-4EF3-9C69-79D0E8A7DDD2}"/>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위험·제어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후보</a:t>
            </a:r>
          </a:p>
        </p:txBody>
      </p:sp>
      <p:sp>
        <p:nvSpPr>
          <p:cNvPr id="15" name="">
            <a:extLst xmlns:a="http://schemas.openxmlformats.org/drawingml/2006/main">
              <a:ext uri="{FF2B5EF4-FFF2-40B4-BE49-F238E27FC236}">
                <a16:creationId xmlns:a16="http://schemas.microsoft.com/office/drawing/2014/main" id="{0C9C02E9-5489-4DA6-BEED-8E487B9C816C}"/>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경고</a:t>
            </a:r>
          </a:p>
        </p:txBody>
      </p:sp>
      <p:sp>
        <p:nvSpPr>
          <p:cNvPr id="16" name="">
            <a:extLst xmlns:a="http://schemas.openxmlformats.org/drawingml/2006/main">
              <a:ext uri="{FF2B5EF4-FFF2-40B4-BE49-F238E27FC236}">
                <a16:creationId xmlns:a16="http://schemas.microsoft.com/office/drawing/2014/main" id="{9ABD3C61-C928-4C45-9CC6-892F602BB780}"/>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4B605F4-E8C3-4470-B317-24F066497D83}"/>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안전 경계</a:t>
            </a:r>
          </a:p>
        </p:txBody>
      </p:sp>
      <p:sp>
        <p:nvSpPr>
          <p:cNvPr id="18" name="">
            <a:extLst xmlns:a="http://schemas.openxmlformats.org/drawingml/2006/main">
              <a:ext uri="{FF2B5EF4-FFF2-40B4-BE49-F238E27FC236}">
                <a16:creationId xmlns:a16="http://schemas.microsoft.com/office/drawing/2014/main" id="{B7896C0F-695D-417B-9E7A-B96BA3BF4D12}"/>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차량 안전 경계</a:t>
            </a:r>
          </a:p>
        </p:txBody>
      </p:sp>
      <p:sp>
        <p:nvSpPr>
          <p:cNvPr id="19" name="">
            <a:extLst xmlns:a="http://schemas.openxmlformats.org/drawingml/2006/main">
              <a:ext uri="{FF2B5EF4-FFF2-40B4-BE49-F238E27FC236}">
                <a16:creationId xmlns:a16="http://schemas.microsoft.com/office/drawing/2014/main" id="{4D1D5F88-3920-4437-8028-9A300CBF16C3}"/>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181907DA-B9AD-41E5-AFF8-6DBE18CC04AF}"/>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경고·조치</a:t>
            </a:r>
          </a:p>
        </p:txBody>
      </p:sp>
      <p:sp>
        <p:nvSpPr>
          <p:cNvPr id="21" name="">
            <a:extLst xmlns:a="http://schemas.openxmlformats.org/drawingml/2006/main">
              <a:ext uri="{FF2B5EF4-FFF2-40B4-BE49-F238E27FC236}">
                <a16:creationId xmlns:a16="http://schemas.microsoft.com/office/drawing/2014/main" id="{763D022E-6017-48B7-9FF5-498DC3C3CCF6}"/>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운행 후 검토</a:t>
            </a:r>
          </a:p>
        </p:txBody>
      </p:sp>
      <p:sp>
        <p:nvSpPr>
          <p:cNvPr id="22" name="">
            <a:extLst xmlns:a="http://schemas.openxmlformats.org/drawingml/2006/main">
              <a:ext uri="{FF2B5EF4-FFF2-40B4-BE49-F238E27FC236}">
                <a16:creationId xmlns:a16="http://schemas.microsoft.com/office/drawing/2014/main" id="{94E7585D-88C4-4A17-8572-7C13BD43AC08}"/>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B053AA02-1C5C-4302-B286-F91708FDA466}"/>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다음 주기</a:t>
            </a:r>
          </a:p>
        </p:txBody>
      </p:sp>
      <p:sp>
        <p:nvSpPr>
          <p:cNvPr id="24" name="">
            <a:extLst xmlns:a="http://schemas.openxmlformats.org/drawingml/2006/main">
              <a:ext uri="{FF2B5EF4-FFF2-40B4-BE49-F238E27FC236}">
                <a16:creationId xmlns:a16="http://schemas.microsoft.com/office/drawing/2014/main" id="{3D7128DD-B790-4E40-B52E-158DCBB4EF0F}"/>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오경보·미탐과 운전자 반응의 표본 확인</a:t>
            </a:r>
          </a:p>
        </p:txBody>
      </p:sp>
      <p:sp>
        <p:nvSpPr>
          <p:cNvPr id="25" name="">
            <a:extLst xmlns:a="http://schemas.openxmlformats.org/drawingml/2006/main">
              <a:ext uri="{FF2B5EF4-FFF2-40B4-BE49-F238E27FC236}">
                <a16:creationId xmlns:a16="http://schemas.microsoft.com/office/drawing/2014/main" id="{0A00F9DC-17C6-4F48-8107-99BD457E4052}"/>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FE74AD3C-D73A-4351-8424-A28CB9EFCC1B}"/>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우천·야간·가림·정차 상태의 비위험 객체</a:t>
            </a:r>
          </a:p>
        </p:txBody>
      </p:sp>
      <p:sp>
        <p:nvSpPr>
          <p:cNvPr id="27" name="">
            <a:extLst xmlns:a="http://schemas.openxmlformats.org/drawingml/2006/main">
              <a:ext uri="{FF2B5EF4-FFF2-40B4-BE49-F238E27FC236}">
                <a16:creationId xmlns:a16="http://schemas.microsoft.com/office/drawing/2014/main" id="{B13F5147-61E9-408C-8A51-2480FEC2C70F}"/>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E7FD89B7-EB06-4106-9C71-A0556B0561D8}"/>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경보 지연·오탐·운전자 수용성 평가</a:t>
            </a:r>
          </a:p>
        </p:txBody>
      </p:sp>
      <p:sp>
        <p:nvSpPr>
          <p:cNvPr id="29" name="">
            <a:extLst xmlns:a="http://schemas.openxmlformats.org/drawingml/2006/main">
              <a:ext uri="{FF2B5EF4-FFF2-40B4-BE49-F238E27FC236}">
                <a16:creationId xmlns:a16="http://schemas.microsoft.com/office/drawing/2014/main" id="{79DE276A-0BAD-4047-AE36-D878E377464E}"/>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A5CFFC91-7991-445E-B84D-5233509E5ABE}"/>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오경보·미탐과 운전자 반응의 표본 확인</a:t>
            </a:r>
          </a:p>
        </p:txBody>
      </p:sp>
      <p:sp>
        <p:nvSpPr>
          <p:cNvPr id="31" name="">
            <a:extLst xmlns:a="http://schemas.openxmlformats.org/drawingml/2006/main">
              <a:ext uri="{FF2B5EF4-FFF2-40B4-BE49-F238E27FC236}">
                <a16:creationId xmlns:a16="http://schemas.microsoft.com/office/drawing/2014/main" id="{B48CC46A-3FA9-4B29-8CD1-1BC7B4FEEBAF}"/>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5717ABCB-575D-44AF-A55D-64A8707F38AA}"/>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환경별 경고 적정성과 운전자 반응의 표본 기록</a:t>
            </a:r>
          </a:p>
        </p:txBody>
      </p:sp>
    </p:spTree>
    <p:extLst>
      <p:ext uri="{BB962C8B-B14F-4D97-AF65-F5344CB8AC3E}">
        <p14:creationId xmlns:p14="http://schemas.microsoft.com/office/powerpoint/2010/main" val="2034382449"/>
      </p:ext>
    </p:extLst>
  </p:cSld>
</p:sld>
</file>

<file path=ppt/slides/slide8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B84C096-0047-4964-9B2D-7E4D147B3E9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AX16 / CCK 비교·재현 시험 설계</a:t>
            </a:r>
          </a:p>
        </p:txBody>
      </p:sp>
      <p:sp>
        <p:nvSpPr>
          <p:cNvPr id="2" name="">
            <a:extLst xmlns:a="http://schemas.openxmlformats.org/drawingml/2006/main">
              <a:ext uri="{FF2B5EF4-FFF2-40B4-BE49-F238E27FC236}">
                <a16:creationId xmlns:a16="http://schemas.microsoft.com/office/drawing/2014/main" id="{8A0F4A7D-D3C1-4527-AB5D-F9EDCC8DE26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싱가포르 버스 충돌경고 확대 · 벤치마킹</a:t>
            </a:r>
          </a:p>
        </p:txBody>
      </p:sp>
      <p:sp>
        <p:nvSpPr>
          <p:cNvPr id="3" name="">
            <a:extLst xmlns:a="http://schemas.openxmlformats.org/drawingml/2006/main">
              <a:ext uri="{FF2B5EF4-FFF2-40B4-BE49-F238E27FC236}">
                <a16:creationId xmlns:a16="http://schemas.microsoft.com/office/drawing/2014/main" id="{78797A1E-C5D7-47B2-9326-8C3B38BEF76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0E91744-4659-4AA3-96DB-E2310EA0E25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733FCB8C-AA44-4F76-880B-B46E7FE9328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87</a:t>
            </a:r>
          </a:p>
        </p:txBody>
      </p:sp>
      <p:sp>
        <p:nvSpPr>
          <p:cNvPr id="6" name="">
            <a:extLst xmlns:a="http://schemas.openxmlformats.org/drawingml/2006/main">
              <a:ext uri="{FF2B5EF4-FFF2-40B4-BE49-F238E27FC236}">
                <a16:creationId xmlns:a16="http://schemas.microsoft.com/office/drawing/2014/main" id="{E6E60A87-E2FD-4E56-BA88-236DC0DFA541}"/>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22F4E556-75E4-4F40-9999-87BB2D95458E}"/>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차량의 위험 인지와 즉시 경고</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운전자 대응을 전제로 한 안전 지원</a:t>
            </a:r>
          </a:p>
        </p:txBody>
      </p:sp>
      <p:sp>
        <p:nvSpPr>
          <p:cNvPr id="8" name="">
            <a:extLst xmlns:a="http://schemas.openxmlformats.org/drawingml/2006/main">
              <a:ext uri="{FF2B5EF4-FFF2-40B4-BE49-F238E27FC236}">
                <a16:creationId xmlns:a16="http://schemas.microsoft.com/office/drawing/2014/main" id="{95C20EA7-BD68-4A67-9561-C9D1111E3978}"/>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FFE943F1-BFF0-4E06-BCCE-0BFFE7CAACD3}"/>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경보 과다에 따른 무시 위험</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확대 계획을 사고 감소 실적으로 해석</a:t>
            </a:r>
          </a:p>
        </p:txBody>
      </p:sp>
      <p:sp>
        <p:nvSpPr>
          <p:cNvPr id="10" name="">
            <a:extLst xmlns:a="http://schemas.openxmlformats.org/drawingml/2006/main">
              <a:ext uri="{FF2B5EF4-FFF2-40B4-BE49-F238E27FC236}">
                <a16:creationId xmlns:a16="http://schemas.microsoft.com/office/drawing/2014/main" id="{85A31682-95F0-431D-B745-FCD2222783DE}"/>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71F242CA-EC08-4A24-B815-A813AAEBAF44}"/>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경보 지연·오탐·운전자 수용성 평가</a:t>
            </a:r>
          </a:p>
        </p:txBody>
      </p:sp>
      <p:sp>
        <p:nvSpPr>
          <p:cNvPr id="12" name="">
            <a:extLst xmlns:a="http://schemas.openxmlformats.org/drawingml/2006/main">
              <a:ext uri="{FF2B5EF4-FFF2-40B4-BE49-F238E27FC236}">
                <a16:creationId xmlns:a16="http://schemas.microsoft.com/office/drawing/2014/main" id="{2DBD96FA-E8AF-4FE2-89E1-1C491A805618}"/>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664923F1-EE73-47A1-9D4B-3A60BAF31952}"/>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운행 중 접근 위험을 감지하고 운전자에게 경고</a:t>
            </a:r>
          </a:p>
        </p:txBody>
      </p:sp>
      <p:sp>
        <p:nvSpPr>
          <p:cNvPr id="14" name="">
            <a:extLst xmlns:a="http://schemas.openxmlformats.org/drawingml/2006/main">
              <a:ext uri="{FF2B5EF4-FFF2-40B4-BE49-F238E27FC236}">
                <a16:creationId xmlns:a16="http://schemas.microsoft.com/office/drawing/2014/main" id="{0D61696C-EA8E-4270-AF39-CE91375E3908}"/>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AC9CA4A6-406A-4387-BF37-F518F3075962}"/>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우천·야간·가림·정차 상태의 비위험 객체</a:t>
            </a:r>
          </a:p>
        </p:txBody>
      </p:sp>
      <p:sp>
        <p:nvSpPr>
          <p:cNvPr id="16" name="">
            <a:extLst xmlns:a="http://schemas.openxmlformats.org/drawingml/2006/main">
              <a:ext uri="{FF2B5EF4-FFF2-40B4-BE49-F238E27FC236}">
                <a16:creationId xmlns:a16="http://schemas.microsoft.com/office/drawing/2014/main" id="{000198A3-0304-459E-968C-485683BF95CC}"/>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DA026E95-EE74-4207-AB2B-5DAD0A67D5F1}"/>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환경별 경고 적정성과 운전자 반응의 표본 기록</a:t>
            </a:r>
          </a:p>
        </p:txBody>
      </p:sp>
    </p:spTree>
    <p:extLst>
      <p:ext uri="{BB962C8B-B14F-4D97-AF65-F5344CB8AC3E}">
        <p14:creationId xmlns:p14="http://schemas.microsoft.com/office/powerpoint/2010/main" val="666371338"/>
      </p:ext>
    </p:extLst>
  </p:cSld>
</p:sld>
</file>

<file path=ppt/slides/slide8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3A4A21B-A03E-4CAB-82A3-919213B87CD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AX17 / 부분 성과 / 국내</a:t>
            </a:r>
          </a:p>
        </p:txBody>
      </p:sp>
      <p:sp>
        <p:nvSpPr>
          <p:cNvPr id="2" name="">
            <a:extLst xmlns:a="http://schemas.openxmlformats.org/drawingml/2006/main">
              <a:ext uri="{FF2B5EF4-FFF2-40B4-BE49-F238E27FC236}">
                <a16:creationId xmlns:a16="http://schemas.microsoft.com/office/drawing/2014/main" id="{091293B5-B78B-49D3-AD31-4907B60EEB2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코레일 자동검측·AI 확대</a:t>
            </a:r>
          </a:p>
        </p:txBody>
      </p:sp>
      <p:sp>
        <p:nvSpPr>
          <p:cNvPr id="3" name="">
            <a:extLst xmlns:a="http://schemas.openxmlformats.org/drawingml/2006/main">
              <a:ext uri="{FF2B5EF4-FFF2-40B4-BE49-F238E27FC236}">
                <a16:creationId xmlns:a16="http://schemas.microsoft.com/office/drawing/2014/main" id="{13BBE524-0666-4401-901F-BF92E90AE27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0585EE6-0005-4A9D-83ED-DB2FABA8FAE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EA399A9-5108-46C4-B7B6-3B82002D248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88</a:t>
            </a:r>
          </a:p>
        </p:txBody>
      </p:sp>
      <p:sp>
        <p:nvSpPr>
          <p:cNvPr id="6" name="">
            <a:extLst xmlns:a="http://schemas.openxmlformats.org/drawingml/2006/main">
              <a:ext uri="{FF2B5EF4-FFF2-40B4-BE49-F238E27FC236}">
                <a16:creationId xmlns:a16="http://schemas.microsoft.com/office/drawing/2014/main" id="{7EE7077D-2904-4320-ADFB-DDD7C96D1F98}"/>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20A15062-75DD-45AD-B3F7-53EC180A56ED}"/>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철도 설비의 자동검측 자료를 유지보수 검토에 활용하는</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사례. 검측 데이터 확보, AI 이상 분석, 현장 정비 판단</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은 서로 다른 기능·사업 범위.</a:t>
            </a:r>
          </a:p>
        </p:txBody>
      </p:sp>
      <p:sp>
        <p:nvSpPr>
          <p:cNvPr id="8" name="">
            <a:extLst xmlns:a="http://schemas.openxmlformats.org/drawingml/2006/main">
              <a:ext uri="{FF2B5EF4-FFF2-40B4-BE49-F238E27FC236}">
                <a16:creationId xmlns:a16="http://schemas.microsoft.com/office/drawing/2014/main" id="{F46C7F3F-F00E-46DF-B3E4-D23A8C87315B}"/>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67940CEF-FEE3-4BF3-B2C2-2DA35CE40B24}"/>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노선·설비 ID·검측구간을 기준으로 관측값과 과거 정비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이력을 결합하고 이상 후보를 점검자에게 제공하는 재구</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성. 현장 확인과 조치 후 재검측을 연결해 후보의 유효성</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을 확인.</a:t>
            </a:r>
          </a:p>
        </p:txBody>
      </p:sp>
      <p:sp>
        <p:nvSpPr>
          <p:cNvPr id="10" name="">
            <a:extLst xmlns:a="http://schemas.openxmlformats.org/drawingml/2006/main">
              <a:ext uri="{FF2B5EF4-FFF2-40B4-BE49-F238E27FC236}">
                <a16:creationId xmlns:a16="http://schemas.microsoft.com/office/drawing/2014/main" id="{85A42CE8-0687-4416-8D01-583A97171B11}"/>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76BFF19F-F15C-4618-8E65-CF4807B6C390}"/>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철도 안전 업무에서는 기존 자동검측 장비와 추가 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석 모델을 분리해 재사용 범위를 산정할 필요. 실제 결함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정답, 설비별 탐지 편차, 정비 조치·재점검 증빙을 검수에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연결.</a:t>
            </a:r>
          </a:p>
        </p:txBody>
      </p:sp>
      <p:sp>
        <p:nvSpPr>
          <p:cNvPr id="12" name="">
            <a:extLst xmlns:a="http://schemas.openxmlformats.org/drawingml/2006/main">
              <a:ext uri="{FF2B5EF4-FFF2-40B4-BE49-F238E27FC236}">
                <a16:creationId xmlns:a16="http://schemas.microsoft.com/office/drawing/2014/main" id="{3CC08505-3B11-4981-98BB-6C2884D3290A}"/>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18EE5D3F-FC12-4971-89C3-D4D697DC6DFF}"/>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설비 ID·판정 기준·검사 시점 대사</a:t>
            </a:r>
          </a:p>
        </p:txBody>
      </p:sp>
      <p:sp>
        <p:nvSpPr>
          <p:cNvPr id="14" name="">
            <a:extLst xmlns:a="http://schemas.openxmlformats.org/drawingml/2006/main">
              <a:ext uri="{FF2B5EF4-FFF2-40B4-BE49-F238E27FC236}">
                <a16:creationId xmlns:a16="http://schemas.microsoft.com/office/drawing/2014/main" id="{FEAF023C-ED33-44F9-B0DC-759F97C503A9}"/>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4BD4BE08-74F2-4846-8567-8799C6BE903F}"/>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정상·이상·판정 변경 및 미조치 자료 재현</a:t>
            </a:r>
          </a:p>
        </p:txBody>
      </p:sp>
      <p:sp>
        <p:nvSpPr>
          <p:cNvPr id="16" name="">
            <a:extLst xmlns:a="http://schemas.openxmlformats.org/drawingml/2006/main">
              <a:ext uri="{FF2B5EF4-FFF2-40B4-BE49-F238E27FC236}">
                <a16:creationId xmlns:a16="http://schemas.microsoft.com/office/drawing/2014/main" id="{DF63E240-8DD9-4BC9-91D4-AC976CBD6B0D}"/>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9714C332-E614-44AE-8498-32B7F7148CA8}"/>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검사 검토시간 / 증거 누락률</a:t>
            </a:r>
          </a:p>
        </p:txBody>
      </p:sp>
      <p:sp>
        <p:nvSpPr>
          <p:cNvPr id="18" name="">
            <a:extLst xmlns:a="http://schemas.openxmlformats.org/drawingml/2006/main">
              <a:ext uri="{FF2B5EF4-FFF2-40B4-BE49-F238E27FC236}">
                <a16:creationId xmlns:a16="http://schemas.microsoft.com/office/drawing/2014/main" id="{B9FBFA1E-6BC1-4517-949E-B56CEE9111B7}"/>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현재 검측 기능과 향후 AI 확대 구분 · 안전 감소 효과의 인과 검증 별도</a:t>
            </a:r>
          </a:p>
        </p:txBody>
      </p:sp>
    </p:spTree>
    <p:extLst>
      <p:ext uri="{BB962C8B-B14F-4D97-AF65-F5344CB8AC3E}">
        <p14:creationId xmlns:p14="http://schemas.microsoft.com/office/powerpoint/2010/main" val="1426483479"/>
      </p:ext>
    </p:extLst>
  </p:cSld>
</p:sld>
</file>

<file path=ppt/slides/slide8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4126541-1F5D-4143-AA6E-851E3E39A08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AX17 / As-Is → To-Be → 기대효과 → 확인 결과</a:t>
            </a:r>
          </a:p>
        </p:txBody>
      </p:sp>
      <p:sp>
        <p:nvSpPr>
          <p:cNvPr id="2" name="">
            <a:extLst xmlns:a="http://schemas.openxmlformats.org/drawingml/2006/main">
              <a:ext uri="{FF2B5EF4-FFF2-40B4-BE49-F238E27FC236}">
                <a16:creationId xmlns:a16="http://schemas.microsoft.com/office/drawing/2014/main" id="{6D3539FE-EB3D-4C27-977D-0AADF3F7247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코레일 자동검측·AI 확대 · 기대와 결과</a:t>
            </a:r>
          </a:p>
        </p:txBody>
      </p:sp>
      <p:sp>
        <p:nvSpPr>
          <p:cNvPr id="3" name="">
            <a:extLst xmlns:a="http://schemas.openxmlformats.org/drawingml/2006/main">
              <a:ext uri="{FF2B5EF4-FFF2-40B4-BE49-F238E27FC236}">
                <a16:creationId xmlns:a16="http://schemas.microsoft.com/office/drawing/2014/main" id="{B58F505E-AE48-45F8-B7BC-A5658A34572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0244BA5-F8C7-46A1-8D68-645C8861B2D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7DC1116E-323B-4F72-AB0E-16E98567A12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89</a:t>
            </a:r>
          </a:p>
        </p:txBody>
      </p:sp>
      <p:sp>
        <p:nvSpPr>
          <p:cNvPr id="6" name="">
            <a:extLst xmlns:a="http://schemas.openxmlformats.org/drawingml/2006/main">
              <a:ext uri="{FF2B5EF4-FFF2-40B4-BE49-F238E27FC236}">
                <a16:creationId xmlns:a16="http://schemas.microsoft.com/office/drawing/2014/main" id="{3D21A89E-129F-4799-A178-9002C5D0A4FB}"/>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AD54970F-28E0-4013-B490-91680C7C1861}"/>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철도 설비의 인력 점검과 검측 결과 판독·정비 우선순위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판단에 시간 소요</a:t>
            </a:r>
          </a:p>
        </p:txBody>
      </p:sp>
      <p:sp>
        <p:nvSpPr>
          <p:cNvPr id="8" name="">
            <a:extLst xmlns:a="http://schemas.openxmlformats.org/drawingml/2006/main">
              <a:ext uri="{FF2B5EF4-FFF2-40B4-BE49-F238E27FC236}">
                <a16:creationId xmlns:a16="http://schemas.microsoft.com/office/drawing/2014/main" id="{2488293E-1874-42D0-A248-ABD26A38E1C8}"/>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E607CA1C-0C6B-4E9B-B81A-FC3C38C07F36}"/>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자동검측 데이터를 이상 후보 추출에 활용하고 향후 AI 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석으로 점검·정비 지원 확대</a:t>
            </a:r>
          </a:p>
        </p:txBody>
      </p:sp>
      <p:sp>
        <p:nvSpPr>
          <p:cNvPr id="10" name="">
            <a:extLst xmlns:a="http://schemas.openxmlformats.org/drawingml/2006/main">
              <a:ext uri="{FF2B5EF4-FFF2-40B4-BE49-F238E27FC236}">
                <a16:creationId xmlns:a16="http://schemas.microsoft.com/office/drawing/2014/main" id="{35D567EF-B429-49FF-92E1-7C5B4781F4A0}"/>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4D542066-6114-411D-91A7-A72483592B3D}"/>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결함 조기 발견과 정비 효율·안전성 향상</a:t>
            </a:r>
          </a:p>
        </p:txBody>
      </p:sp>
      <p:sp>
        <p:nvSpPr>
          <p:cNvPr id="12" name="">
            <a:extLst xmlns:a="http://schemas.openxmlformats.org/drawingml/2006/main">
              <a:ext uri="{FF2B5EF4-FFF2-40B4-BE49-F238E27FC236}">
                <a16:creationId xmlns:a16="http://schemas.microsoft.com/office/drawing/2014/main" id="{68BDD40C-23F1-4B22-B0AB-29BB6E2D9627}"/>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9DDCD4A6-DEB0-41A8-9C3C-9E33417471B5}"/>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코레일이 자동검측 열차 운영과 2025년 상반기 까치집 1</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80여 건 탐지·제거를 발표; 검측자료 AI 종합분석·예지정</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비는 고도화 계획</a:t>
            </a:r>
          </a:p>
        </p:txBody>
      </p:sp>
      <p:sp>
        <p:nvSpPr>
          <p:cNvPr id="14" name="">
            <a:extLst xmlns:a="http://schemas.openxmlformats.org/drawingml/2006/main">
              <a:ext uri="{FF2B5EF4-FFF2-40B4-BE49-F238E27FC236}">
                <a16:creationId xmlns:a16="http://schemas.microsoft.com/office/drawing/2014/main" id="{0FCFE700-6925-4733-A6DA-90DF0FEF9E91}"/>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부분 성과 · 자동검측의 현장 탐지·조치 실적은 확인; 계획된 AI 분석의 성과와 사고 감소는 별도 확인 필요</a:t>
            </a:r>
          </a:p>
        </p:txBody>
      </p:sp>
      <p:sp>
        <p:nvSpPr>
          <p:cNvPr id="15" name="">
            <a:extLst xmlns:a="http://schemas.openxmlformats.org/drawingml/2006/main">
              <a:ext uri="{FF2B5EF4-FFF2-40B4-BE49-F238E27FC236}">
                <a16:creationId xmlns:a16="http://schemas.microsoft.com/office/drawing/2014/main" id="{85A808B0-23EB-4EF3-9A7D-F37FD4C86737}"/>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운영 중 검측과 AI 향후 계획 혼재 · 기존 자동검측 실적을 장래 AI 고도화 실적으로 합산하지 않음</a:t>
            </a:r>
          </a:p>
        </p:txBody>
      </p:sp>
    </p:spTree>
    <p:extLst>
      <p:ext uri="{BB962C8B-B14F-4D97-AF65-F5344CB8AC3E}">
        <p14:creationId xmlns:p14="http://schemas.microsoft.com/office/powerpoint/2010/main" val="340939469"/>
      </p:ext>
    </p:extLst>
  </p:cSld>
</p:sld>
</file>

<file path=ppt/slides/slide9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6" name="">
            <a:extLst xmlns:a="http://schemas.openxmlformats.org/drawingml/2006/main">
              <a:ext uri="{FF2B5EF4-FFF2-40B4-BE49-F238E27FC236}">
                <a16:creationId xmlns:a16="http://schemas.microsoft.com/office/drawing/2014/main" id="{166A0796-2A90-4880-A409-536CA1DD638C}"/>
              </a:ext>
            </a:extLst>
          </p:cNvPr>
          <p:cNvCxnSpPr>
            <a:stCxn xmlns:a="http://schemas.openxmlformats.org/drawingml/2006/main" id="34" idx="1"/>
            <a:endCxn xmlns:a="http://schemas.openxmlformats.org/drawingml/2006/main" id="13" idx="3"/>
          </p:cNvCxnSpPr>
          <p:nvPr/>
        </p:nvCxnSpPr>
        <p:spPr>
          <a:xfrm xmlns:a="http://schemas.openxmlformats.org/drawingml/2006/main" flipH="1" flipV="1">
            <a:off x="7096125" y="2352675"/>
            <a:ext cx="2524125" cy="2476500"/>
          </a:xfrm>
          <a:prstGeom xmlns:a="http://schemas.openxmlformats.org/drawingml/2006/main" prst="straightConnector1">
            <a:avLst/>
          </a:prstGeom>
          <a:ln xmlns:a="http://schemas.openxmlformats.org/drawingml/2006/main" w="19050">
            <a:solidFill>
              <a:srgbClr val="697F86"/>
            </a:solidFill>
            <a:tailEnd type="arrow" w="med" len="med"/>
          </a:ln>
        </p:spPr>
      </p:cxnSp>
      <p:cxnSp>
        <p:nvCxnSpPr>
          <p:cNvPr id="45" name="">
            <a:extLst xmlns:a="http://schemas.openxmlformats.org/drawingml/2006/main">
              <a:ext uri="{FF2B5EF4-FFF2-40B4-BE49-F238E27FC236}">
                <a16:creationId xmlns:a16="http://schemas.microsoft.com/office/drawing/2014/main" id="{46E60576-C264-4950-8BD9-C4919EDF4CCF}"/>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72345F67-A294-43D3-ABC7-6FE8C56AB411}"/>
              </a:ext>
            </a:extLst>
          </p:cNvPr>
          <p:cNvCxnSpPr>
            <a:stCxn xmlns:a="http://schemas.openxmlformats.org/drawingml/2006/main" id="31" idx="0"/>
            <a:endCxn xmlns:a="http://schemas.openxmlformats.org/drawingml/2006/main" id="19" idx="2"/>
          </p:cNvCxnSpPr>
          <p:nvPr/>
        </p:nvCxnSpPr>
        <p:spPr>
          <a:xfrm xmlns:a="http://schemas.openxmlformats.org/drawingml/2006/main" flipV="1">
            <a:off x="8358188" y="2905125"/>
            <a:ext cx="2262187"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4F177E6E-EEED-4114-9F45-A620BBF4CFE8}"/>
              </a:ext>
            </a:extLst>
          </p:cNvPr>
          <p:cNvCxnSpPr>
            <a:stCxn xmlns:a="http://schemas.openxmlformats.org/drawingml/2006/main" id="16" idx="2"/>
            <a:endCxn xmlns:a="http://schemas.openxmlformats.org/drawingml/2006/main" id="31" idx="0"/>
          </p:cNvCxnSpPr>
          <p:nvPr/>
        </p:nvCxnSpPr>
        <p:spPr>
          <a:xfrm xmlns:a="http://schemas.openxmlformats.org/drawingml/2006/main">
            <a:off x="8358188" y="2905125"/>
            <a:ext cx="0"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2" name="">
            <a:extLst xmlns:a="http://schemas.openxmlformats.org/drawingml/2006/main">
              <a:ext uri="{FF2B5EF4-FFF2-40B4-BE49-F238E27FC236}">
                <a16:creationId xmlns:a16="http://schemas.microsoft.com/office/drawing/2014/main" id="{28A09A51-5456-4F39-993F-66FDC779EA74}"/>
              </a:ext>
            </a:extLst>
          </p:cNvPr>
          <p:cNvCxnSpPr>
            <a:stCxn xmlns:a="http://schemas.openxmlformats.org/drawingml/2006/main" id="28" idx="0"/>
            <a:endCxn xmlns:a="http://schemas.openxmlformats.org/drawingml/2006/main" id="16" idx="2"/>
          </p:cNvCxnSpPr>
          <p:nvPr/>
        </p:nvCxnSpPr>
        <p:spPr>
          <a:xfrm xmlns:a="http://schemas.openxmlformats.org/drawingml/2006/main" flipV="1">
            <a:off x="6096000" y="2905125"/>
            <a:ext cx="2262188"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1" name="">
            <a:extLst xmlns:a="http://schemas.openxmlformats.org/drawingml/2006/main">
              <a:ext uri="{FF2B5EF4-FFF2-40B4-BE49-F238E27FC236}">
                <a16:creationId xmlns:a16="http://schemas.microsoft.com/office/drawing/2014/main" id="{15A634B3-3FFA-4039-AD87-D7340BFD66C7}"/>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1007E5F6-F65E-428C-9313-BBC151642E28}"/>
              </a:ext>
            </a:extLst>
          </p:cNvPr>
          <p:cNvCxnSpPr>
            <a:stCxn xmlns:a="http://schemas.openxmlformats.org/drawingml/2006/main" id="25" idx="0"/>
            <a:endCxn xmlns:a="http://schemas.openxmlformats.org/drawingml/2006/main" id="13" idx="2"/>
          </p:cNvCxnSpPr>
          <p:nvPr/>
        </p:nvCxnSpPr>
        <p:spPr>
          <a:xfrm xmlns:a="http://schemas.openxmlformats.org/drawingml/2006/main" flipV="1">
            <a:off x="3833813" y="2905125"/>
            <a:ext cx="2262187"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5088432B-E9C1-4E9A-B767-B805743D4858}"/>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26307C9F-4F87-4105-A3EB-11E0C3C9AA58}"/>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1FD05198-FF38-4942-B3C0-888606730D17}"/>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8" name="">
            <a:extLst xmlns:a="http://schemas.openxmlformats.org/drawingml/2006/main">
              <a:ext uri="{FF2B5EF4-FFF2-40B4-BE49-F238E27FC236}">
                <a16:creationId xmlns:a16="http://schemas.microsoft.com/office/drawing/2014/main" id="{9B30D635-93E5-4FB1-B814-980433A66E0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AX17 / 관측·안전 판정·현장 조치·환류</a:t>
            </a:r>
          </a:p>
        </p:txBody>
      </p:sp>
      <p:sp>
        <p:nvSpPr>
          <p:cNvPr id="2" name="">
            <a:extLst xmlns:a="http://schemas.openxmlformats.org/drawingml/2006/main">
              <a:ext uri="{FF2B5EF4-FFF2-40B4-BE49-F238E27FC236}">
                <a16:creationId xmlns:a16="http://schemas.microsoft.com/office/drawing/2014/main" id="{F5F269D7-39D5-46FC-98D8-28188D4BB25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코레일 자동검측·AI 확대 · 세부 서비스 구조</a:t>
            </a:r>
          </a:p>
        </p:txBody>
      </p:sp>
      <p:sp>
        <p:nvSpPr>
          <p:cNvPr id="3" name="">
            <a:extLst xmlns:a="http://schemas.openxmlformats.org/drawingml/2006/main">
              <a:ext uri="{FF2B5EF4-FFF2-40B4-BE49-F238E27FC236}">
                <a16:creationId xmlns:a16="http://schemas.microsoft.com/office/drawing/2014/main" id="{E0C4C715-AA9F-4439-AD0E-65C80CC56D4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AE233F0-8460-4FED-9DE7-062B09F2625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1703DEA8-9174-47A6-89C9-BD3B1C0E178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90</a:t>
            </a:r>
          </a:p>
        </p:txBody>
      </p:sp>
      <p:sp>
        <p:nvSpPr>
          <p:cNvPr id="6" name="">
            <a:extLst xmlns:a="http://schemas.openxmlformats.org/drawingml/2006/main">
              <a:ext uri="{FF2B5EF4-FFF2-40B4-BE49-F238E27FC236}">
                <a16:creationId xmlns:a16="http://schemas.microsoft.com/office/drawing/2014/main" id="{8126CDDA-0497-446C-8358-C32EDEC596C9}"/>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검측·영상 수집 → 이상 후보 추출 → 전문가 확인 → 정비·검사 이력</a:t>
            </a:r>
          </a:p>
        </p:txBody>
      </p:sp>
      <p:sp>
        <p:nvSpPr>
          <p:cNvPr id="7" name="">
            <a:extLst xmlns:a="http://schemas.openxmlformats.org/drawingml/2006/main">
              <a:ext uri="{FF2B5EF4-FFF2-40B4-BE49-F238E27FC236}">
                <a16:creationId xmlns:a16="http://schemas.microsoft.com/office/drawing/2014/main" id="{942C2D4A-8B65-4A01-8A55-093A8F6D4FB8}"/>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8D555E1C-F419-45C8-9B46-1B591AD26DDE}"/>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E098C941-1E21-4DB1-9517-0CCE58BBD66E}"/>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설비·검측 자료</a:t>
            </a:r>
          </a:p>
        </p:txBody>
      </p:sp>
      <p:sp>
        <p:nvSpPr>
          <p:cNvPr id="10" name="">
            <a:extLst xmlns:a="http://schemas.openxmlformats.org/drawingml/2006/main">
              <a:ext uri="{FF2B5EF4-FFF2-40B4-BE49-F238E27FC236}">
                <a16:creationId xmlns:a16="http://schemas.microsoft.com/office/drawing/2014/main" id="{0E5AB6D0-2AFC-44DE-A3E2-4B839FC48988}"/>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FE127886-7268-421E-AD9A-616C4A6BC95D}"/>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A80068D3-6402-474C-9D20-FABFF2F879CA}"/>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위치·단위 정합화</a:t>
            </a:r>
          </a:p>
        </p:txBody>
      </p:sp>
      <p:sp>
        <p:nvSpPr>
          <p:cNvPr id="13" name="">
            <a:extLst xmlns:a="http://schemas.openxmlformats.org/drawingml/2006/main">
              <a:ext uri="{FF2B5EF4-FFF2-40B4-BE49-F238E27FC236}">
                <a16:creationId xmlns:a16="http://schemas.microsoft.com/office/drawing/2014/main" id="{2F72BD41-B8C7-499C-9FDE-502C5DF72C89}"/>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C332BEAA-037D-40ED-AA3B-BCA9CC80C3C1}"/>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41A72DF0-18C2-4011-AB4E-E27CB7BC34B0}"/>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이상 후보 분석</a:t>
            </a:r>
          </a:p>
        </p:txBody>
      </p:sp>
      <p:sp>
        <p:nvSpPr>
          <p:cNvPr id="16" name="">
            <a:extLst xmlns:a="http://schemas.openxmlformats.org/drawingml/2006/main">
              <a:ext uri="{FF2B5EF4-FFF2-40B4-BE49-F238E27FC236}">
                <a16:creationId xmlns:a16="http://schemas.microsoft.com/office/drawing/2014/main" id="{68A3AE96-5CD2-4EE2-B1F9-8EF486A23E4E}"/>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1052B68B-C5B4-4983-AA63-276F46EF2623}"/>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92C411D4-23FA-4828-81DC-FEF75658CD02}"/>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결함 기준 대조</a:t>
            </a:r>
          </a:p>
        </p:txBody>
      </p:sp>
      <p:sp>
        <p:nvSpPr>
          <p:cNvPr id="19" name="">
            <a:extLst xmlns:a="http://schemas.openxmlformats.org/drawingml/2006/main">
              <a:ext uri="{FF2B5EF4-FFF2-40B4-BE49-F238E27FC236}">
                <a16:creationId xmlns:a16="http://schemas.microsoft.com/office/drawing/2014/main" id="{0A277DBD-33A5-4463-B918-AB15E98014AE}"/>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21BA6B31-DC61-4782-A91B-A190D55F1718}"/>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4CD16441-1825-4B0F-9E21-9347E4ECE947}"/>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정비계획 반영</a:t>
            </a:r>
          </a:p>
        </p:txBody>
      </p:sp>
      <p:sp>
        <p:nvSpPr>
          <p:cNvPr id="22" name="">
            <a:extLst xmlns:a="http://schemas.openxmlformats.org/drawingml/2006/main">
              <a:ext uri="{FF2B5EF4-FFF2-40B4-BE49-F238E27FC236}">
                <a16:creationId xmlns:a16="http://schemas.microsoft.com/office/drawing/2014/main" id="{95027257-4613-4B5A-98B2-1456F2023D1A}"/>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8729B954-CF8A-462A-A155-4A53190D0C99}"/>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7D6E4CA2-7FCD-4739-9BFF-8F7A08963CAB}"/>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노선·설비 ID</a:t>
            </a:r>
          </a:p>
        </p:txBody>
      </p:sp>
      <p:sp>
        <p:nvSpPr>
          <p:cNvPr id="25" name="">
            <a:extLst xmlns:a="http://schemas.openxmlformats.org/drawingml/2006/main">
              <a:ext uri="{FF2B5EF4-FFF2-40B4-BE49-F238E27FC236}">
                <a16:creationId xmlns:a16="http://schemas.microsoft.com/office/drawing/2014/main" id="{9E224185-999F-45B6-8870-5557292DA454}"/>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D0CA566A-1237-49F0-B5A3-53473AF39BE3}"/>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27" name="">
            <a:extLst xmlns:a="http://schemas.openxmlformats.org/drawingml/2006/main">
              <a:ext uri="{FF2B5EF4-FFF2-40B4-BE49-F238E27FC236}">
                <a16:creationId xmlns:a16="http://schemas.microsoft.com/office/drawing/2014/main" id="{18AD4CD7-EEBE-4312-A0DE-C0AA3FBD4EE1}"/>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검측·정비 조회</a:t>
            </a:r>
          </a:p>
        </p:txBody>
      </p:sp>
      <p:sp>
        <p:nvSpPr>
          <p:cNvPr id="28" name="">
            <a:extLst xmlns:a="http://schemas.openxmlformats.org/drawingml/2006/main">
              <a:ext uri="{FF2B5EF4-FFF2-40B4-BE49-F238E27FC236}">
                <a16:creationId xmlns:a16="http://schemas.microsoft.com/office/drawing/2014/main" id="{B4635D79-BA12-4DE7-A014-3C22DEC03CBB}"/>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B2F0E4FC-AFBC-45D7-9F56-2EFE32175560}"/>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30" name="">
            <a:extLst xmlns:a="http://schemas.openxmlformats.org/drawingml/2006/main">
              <a:ext uri="{FF2B5EF4-FFF2-40B4-BE49-F238E27FC236}">
                <a16:creationId xmlns:a16="http://schemas.microsoft.com/office/drawing/2014/main" id="{5B7F2CF3-F7A3-4A1B-B7F9-C9E7C41B7934}"/>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점검·판정 기준</a:t>
            </a:r>
          </a:p>
        </p:txBody>
      </p:sp>
      <p:sp>
        <p:nvSpPr>
          <p:cNvPr id="31" name="">
            <a:extLst xmlns:a="http://schemas.openxmlformats.org/drawingml/2006/main">
              <a:ext uri="{FF2B5EF4-FFF2-40B4-BE49-F238E27FC236}">
                <a16:creationId xmlns:a16="http://schemas.microsoft.com/office/drawing/2014/main" id="{C286A7FA-6241-47AB-B5A7-78010D43EE6B}"/>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DE6AA0A7-68E7-4813-9555-0FEE2ABF3BDC}"/>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6DA53CDD-C9F8-42D3-9538-945D6D8D7912}"/>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점검 담당 확인</a:t>
            </a:r>
          </a:p>
        </p:txBody>
      </p:sp>
      <p:sp>
        <p:nvSpPr>
          <p:cNvPr id="34" name="">
            <a:extLst xmlns:a="http://schemas.openxmlformats.org/drawingml/2006/main">
              <a:ext uri="{FF2B5EF4-FFF2-40B4-BE49-F238E27FC236}">
                <a16:creationId xmlns:a16="http://schemas.microsoft.com/office/drawing/2014/main" id="{3FC1478F-5045-4322-8F6A-BDB0872D9C85}"/>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969E18EB-F56B-45E5-ACC8-05FC4E087023}"/>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443AA6CA-9A4A-4C80-BC9A-96F6A081C657}"/>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조치 후 재검측</a:t>
            </a:r>
          </a:p>
        </p:txBody>
      </p:sp>
      <p:sp>
        <p:nvSpPr>
          <p:cNvPr id="47" name="">
            <a:extLst xmlns:a="http://schemas.openxmlformats.org/drawingml/2006/main">
              <a:ext uri="{FF2B5EF4-FFF2-40B4-BE49-F238E27FC236}">
                <a16:creationId xmlns:a16="http://schemas.microsoft.com/office/drawing/2014/main" id="{6281EC4B-8C39-46C5-AAFC-17EC21F51AA0}"/>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818691810"/>
      </p:ext>
    </p:extLst>
  </p:cSld>
</p:sld>
</file>

<file path=ppt/slides/slide9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60033DBF-377B-449C-AAB4-A8528DC9906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AX17 / 논리 인터페이스·복구 설계</a:t>
            </a:r>
          </a:p>
        </p:txBody>
      </p:sp>
      <p:sp>
        <p:nvSpPr>
          <p:cNvPr id="2" name="">
            <a:extLst xmlns:a="http://schemas.openxmlformats.org/drawingml/2006/main">
              <a:ext uri="{FF2B5EF4-FFF2-40B4-BE49-F238E27FC236}">
                <a16:creationId xmlns:a16="http://schemas.microsoft.com/office/drawing/2014/main" id="{350C1A19-CC2F-4C4B-BA71-7628C9F04F2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코레일 자동검측·AI 확대 · 데이터와 예외 처리</a:t>
            </a:r>
          </a:p>
        </p:txBody>
      </p:sp>
      <p:sp>
        <p:nvSpPr>
          <p:cNvPr id="3" name="">
            <a:extLst xmlns:a="http://schemas.openxmlformats.org/drawingml/2006/main">
              <a:ext uri="{FF2B5EF4-FFF2-40B4-BE49-F238E27FC236}">
                <a16:creationId xmlns:a16="http://schemas.microsoft.com/office/drawing/2014/main" id="{DA13D0E6-A35E-4B79-A995-55402209E75B}"/>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02BC46D-A26B-49F2-A760-DD31D692E7E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E0617F0F-E8BB-442E-97A3-3D19284983A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91</a:t>
            </a:r>
          </a:p>
        </p:txBody>
      </p:sp>
      <p:sp>
        <p:nvSpPr>
          <p:cNvPr id="6" name="">
            <a:extLst xmlns:a="http://schemas.openxmlformats.org/drawingml/2006/main">
              <a:ext uri="{FF2B5EF4-FFF2-40B4-BE49-F238E27FC236}">
                <a16:creationId xmlns:a16="http://schemas.microsoft.com/office/drawing/2014/main" id="{AD5FAB45-FFA1-4019-8E6F-9F47D190ED99}"/>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A6BD1AE1-805E-4239-811E-E549D1759C09}"/>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54A80304-9D1D-4CDA-AB96-B4FE8B48E52C}"/>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관측 입력</a:t>
            </a:r>
          </a:p>
        </p:txBody>
      </p:sp>
      <p:sp>
        <p:nvSpPr>
          <p:cNvPr id="9" name="">
            <a:extLst xmlns:a="http://schemas.openxmlformats.org/drawingml/2006/main">
              <a:ext uri="{FF2B5EF4-FFF2-40B4-BE49-F238E27FC236}">
                <a16:creationId xmlns:a16="http://schemas.microsoft.com/office/drawing/2014/main" id="{E403E0F7-CD30-4FEF-A0EC-8684A5E65380}"/>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검측·정비 기록</a:t>
            </a:r>
          </a:p>
        </p:txBody>
      </p:sp>
      <p:sp>
        <p:nvSpPr>
          <p:cNvPr id="10" name="">
            <a:extLst xmlns:a="http://schemas.openxmlformats.org/drawingml/2006/main">
              <a:ext uri="{FF2B5EF4-FFF2-40B4-BE49-F238E27FC236}">
                <a16:creationId xmlns:a16="http://schemas.microsoft.com/office/drawing/2014/main" id="{0B60D6E7-CB25-4EC8-8478-CE6747159721}"/>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D2E53E0-FE63-416F-A496-A2B64E404FE4}"/>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정합화 상태</a:t>
            </a:r>
          </a:p>
        </p:txBody>
      </p:sp>
      <p:sp>
        <p:nvSpPr>
          <p:cNvPr id="12" name="">
            <a:extLst xmlns:a="http://schemas.openxmlformats.org/drawingml/2006/main">
              <a:ext uri="{FF2B5EF4-FFF2-40B4-BE49-F238E27FC236}">
                <a16:creationId xmlns:a16="http://schemas.microsoft.com/office/drawing/2014/main" id="{3F985275-9B0D-45CF-A790-C3216141FD24}"/>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C3128855-A04A-4C83-95D3-960A3B7B1230}"/>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C276E9B-CDB5-434F-B912-115EADD18106}"/>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위험·제어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후보</a:t>
            </a:r>
          </a:p>
        </p:txBody>
      </p:sp>
      <p:sp>
        <p:nvSpPr>
          <p:cNvPr id="15" name="">
            <a:extLst xmlns:a="http://schemas.openxmlformats.org/drawingml/2006/main">
              <a:ext uri="{FF2B5EF4-FFF2-40B4-BE49-F238E27FC236}">
                <a16:creationId xmlns:a16="http://schemas.microsoft.com/office/drawing/2014/main" id="{33169A66-FF55-4289-8CDB-733A768FCF8F}"/>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전문가 확인</a:t>
            </a:r>
          </a:p>
        </p:txBody>
      </p:sp>
      <p:sp>
        <p:nvSpPr>
          <p:cNvPr id="16" name="">
            <a:extLst xmlns:a="http://schemas.openxmlformats.org/drawingml/2006/main">
              <a:ext uri="{FF2B5EF4-FFF2-40B4-BE49-F238E27FC236}">
                <a16:creationId xmlns:a16="http://schemas.microsoft.com/office/drawing/2014/main" id="{01C1528F-E18A-4671-B574-FC62049A40E2}"/>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AA5212F-7F68-48CF-BC1F-4A1F48D1232D}"/>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안전 경계</a:t>
            </a:r>
          </a:p>
        </p:txBody>
      </p:sp>
      <p:sp>
        <p:nvSpPr>
          <p:cNvPr id="18" name="">
            <a:extLst xmlns:a="http://schemas.openxmlformats.org/drawingml/2006/main">
              <a:ext uri="{FF2B5EF4-FFF2-40B4-BE49-F238E27FC236}">
                <a16:creationId xmlns:a16="http://schemas.microsoft.com/office/drawing/2014/main" id="{1B4677AE-E713-4405-AF58-539945B95235}"/>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점검·판정 기준</a:t>
            </a:r>
          </a:p>
        </p:txBody>
      </p:sp>
      <p:sp>
        <p:nvSpPr>
          <p:cNvPr id="19" name="">
            <a:extLst xmlns:a="http://schemas.openxmlformats.org/drawingml/2006/main">
              <a:ext uri="{FF2B5EF4-FFF2-40B4-BE49-F238E27FC236}">
                <a16:creationId xmlns:a16="http://schemas.microsoft.com/office/drawing/2014/main" id="{753E4DF9-4559-43D7-9006-43F3666552BE}"/>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9289D88-4596-4038-A568-737972614C8D}"/>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경고·조치</a:t>
            </a:r>
          </a:p>
        </p:txBody>
      </p:sp>
      <p:sp>
        <p:nvSpPr>
          <p:cNvPr id="21" name="">
            <a:extLst xmlns:a="http://schemas.openxmlformats.org/drawingml/2006/main">
              <a:ext uri="{FF2B5EF4-FFF2-40B4-BE49-F238E27FC236}">
                <a16:creationId xmlns:a16="http://schemas.microsoft.com/office/drawing/2014/main" id="{D2516E11-848C-4869-A51C-63C229C8CC45}"/>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정비 기록</a:t>
            </a:r>
          </a:p>
        </p:txBody>
      </p:sp>
      <p:sp>
        <p:nvSpPr>
          <p:cNvPr id="22" name="">
            <a:extLst xmlns:a="http://schemas.openxmlformats.org/drawingml/2006/main">
              <a:ext uri="{FF2B5EF4-FFF2-40B4-BE49-F238E27FC236}">
                <a16:creationId xmlns:a16="http://schemas.microsoft.com/office/drawing/2014/main" id="{E6D63110-4545-4D15-87C8-7BC446EA71BC}"/>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A0F9433-89E3-48BB-93BE-C34A013F4CF8}"/>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다음 주기</a:t>
            </a:r>
          </a:p>
        </p:txBody>
      </p:sp>
      <p:sp>
        <p:nvSpPr>
          <p:cNvPr id="24" name="">
            <a:extLst xmlns:a="http://schemas.openxmlformats.org/drawingml/2006/main">
              <a:ext uri="{FF2B5EF4-FFF2-40B4-BE49-F238E27FC236}">
                <a16:creationId xmlns:a16="http://schemas.microsoft.com/office/drawing/2014/main" id="{0C537A78-42A9-4847-9756-172F901151D1}"/>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현장 확인값과 조치 후 재검측 결과 비교</a:t>
            </a:r>
          </a:p>
        </p:txBody>
      </p:sp>
      <p:sp>
        <p:nvSpPr>
          <p:cNvPr id="25" name="">
            <a:extLst xmlns:a="http://schemas.openxmlformats.org/drawingml/2006/main">
              <a:ext uri="{FF2B5EF4-FFF2-40B4-BE49-F238E27FC236}">
                <a16:creationId xmlns:a16="http://schemas.microsoft.com/office/drawing/2014/main" id="{3F02D523-D5E7-4755-B74A-0E7D688E116B}"/>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1A9B579D-AA42-4EEE-8B3F-AB8FA3089944}"/>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설비 ID 불일치·센서 튐·정비 후 상태 미갱신</a:t>
            </a:r>
          </a:p>
        </p:txBody>
      </p:sp>
      <p:sp>
        <p:nvSpPr>
          <p:cNvPr id="27" name="">
            <a:extLst xmlns:a="http://schemas.openxmlformats.org/drawingml/2006/main">
              <a:ext uri="{FF2B5EF4-FFF2-40B4-BE49-F238E27FC236}">
                <a16:creationId xmlns:a16="http://schemas.microsoft.com/office/drawing/2014/main" id="{9D3425CA-2AB0-4485-B0D7-89C52B315D3B}"/>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969727EB-F0EB-4F49-8026-7AA50B299A9D}"/>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실제 결함과 검측 후보 대사</a:t>
            </a:r>
          </a:p>
        </p:txBody>
      </p:sp>
      <p:sp>
        <p:nvSpPr>
          <p:cNvPr id="29" name="">
            <a:extLst xmlns:a="http://schemas.openxmlformats.org/drawingml/2006/main">
              <a:ext uri="{FF2B5EF4-FFF2-40B4-BE49-F238E27FC236}">
                <a16:creationId xmlns:a16="http://schemas.microsoft.com/office/drawing/2014/main" id="{0304FC9A-2327-4CD4-BCD0-FAA7D98BD3A1}"/>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D1201B27-D64D-47FB-95A2-B6092A43C0A8}"/>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현장 확인값과 조치 후 재검측 결과 비교</a:t>
            </a:r>
          </a:p>
        </p:txBody>
      </p:sp>
      <p:sp>
        <p:nvSpPr>
          <p:cNvPr id="31" name="">
            <a:extLst xmlns:a="http://schemas.openxmlformats.org/drawingml/2006/main">
              <a:ext uri="{FF2B5EF4-FFF2-40B4-BE49-F238E27FC236}">
                <a16:creationId xmlns:a16="http://schemas.microsoft.com/office/drawing/2014/main" id="{76A7B4E0-F3D8-46BA-B738-27F58A214E90}"/>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8666F60C-37EE-4C2A-86F0-ABCD9C2F8AAB}"/>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검측 원천·설비·현장 판정·재검측 연결표</a:t>
            </a:r>
          </a:p>
        </p:txBody>
      </p:sp>
    </p:spTree>
    <p:extLst>
      <p:ext uri="{BB962C8B-B14F-4D97-AF65-F5344CB8AC3E}">
        <p14:creationId xmlns:p14="http://schemas.microsoft.com/office/powerpoint/2010/main" val="1186676931"/>
      </p:ext>
    </p:extLst>
  </p:cSld>
</p:sld>
</file>

<file path=ppt/slides/slide9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144E247-F885-4355-8A5D-5039359F4EB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AX17 / CCK 비교·재현 시험 설계</a:t>
            </a:r>
          </a:p>
        </p:txBody>
      </p:sp>
      <p:sp>
        <p:nvSpPr>
          <p:cNvPr id="2" name="">
            <a:extLst xmlns:a="http://schemas.openxmlformats.org/drawingml/2006/main">
              <a:ext uri="{FF2B5EF4-FFF2-40B4-BE49-F238E27FC236}">
                <a16:creationId xmlns:a16="http://schemas.microsoft.com/office/drawing/2014/main" id="{D1DAA8FD-BB98-4830-992B-1EC4CE3A5CB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코레일 자동검측·AI 확대 · 벤치마킹</a:t>
            </a:r>
          </a:p>
        </p:txBody>
      </p:sp>
      <p:sp>
        <p:nvSpPr>
          <p:cNvPr id="3" name="">
            <a:extLst xmlns:a="http://schemas.openxmlformats.org/drawingml/2006/main">
              <a:ext uri="{FF2B5EF4-FFF2-40B4-BE49-F238E27FC236}">
                <a16:creationId xmlns:a16="http://schemas.microsoft.com/office/drawing/2014/main" id="{2983C6D5-C0CE-4F29-BFFE-D7551E4A95E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42488EC-771D-44B4-9E7F-8AF1E0930E0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DB5434D2-0F6F-4AFE-95F3-C9A8657EA12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92</a:t>
            </a:r>
          </a:p>
        </p:txBody>
      </p:sp>
      <p:sp>
        <p:nvSpPr>
          <p:cNvPr id="6" name="">
            <a:extLst xmlns:a="http://schemas.openxmlformats.org/drawingml/2006/main">
              <a:ext uri="{FF2B5EF4-FFF2-40B4-BE49-F238E27FC236}">
                <a16:creationId xmlns:a16="http://schemas.microsoft.com/office/drawing/2014/main" id="{96AF9752-9A9E-4834-AB48-EFFC89C0F1A4}"/>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3B96F9F0-AF8F-46DC-8F5E-E7E0804FE548}"/>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자동검측 자료의 지속 확보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이상 후보와 정비 이력 연결</a:t>
            </a:r>
          </a:p>
        </p:txBody>
      </p:sp>
      <p:sp>
        <p:nvSpPr>
          <p:cNvPr id="8" name="">
            <a:extLst xmlns:a="http://schemas.openxmlformats.org/drawingml/2006/main">
              <a:ext uri="{FF2B5EF4-FFF2-40B4-BE49-F238E27FC236}">
                <a16:creationId xmlns:a16="http://schemas.microsoft.com/office/drawing/2014/main" id="{04472CC7-BEEB-4394-8A1E-CDB7D75F9BCB}"/>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A841AC3B-46EC-4FC8-BCE0-DF2D6F43EAFE}"/>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자동검측과 AI 개발 범위 혼동</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설비·노선별 탐지 편차</a:t>
            </a:r>
          </a:p>
        </p:txBody>
      </p:sp>
      <p:sp>
        <p:nvSpPr>
          <p:cNvPr id="10" name="">
            <a:extLst xmlns:a="http://schemas.openxmlformats.org/drawingml/2006/main">
              <a:ext uri="{FF2B5EF4-FFF2-40B4-BE49-F238E27FC236}">
                <a16:creationId xmlns:a16="http://schemas.microsoft.com/office/drawing/2014/main" id="{84182280-EC06-4B6C-BACC-DF820CFF9A45}"/>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B83C70DF-1E6C-4EEB-B51F-8DAD1F35F908}"/>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실제 결함과 검측 후보 대사</a:t>
            </a:r>
          </a:p>
        </p:txBody>
      </p:sp>
      <p:sp>
        <p:nvSpPr>
          <p:cNvPr id="12" name="">
            <a:extLst xmlns:a="http://schemas.openxmlformats.org/drawingml/2006/main">
              <a:ext uri="{FF2B5EF4-FFF2-40B4-BE49-F238E27FC236}">
                <a16:creationId xmlns:a16="http://schemas.microsoft.com/office/drawing/2014/main" id="{6603E5DC-8400-465C-AC69-2DAB92B654E8}"/>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DFE11D21-4458-4651-9291-B03CEBB21D73}"/>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검측 이상을 설비대장에 연결하고 점검 대상 선정</a:t>
            </a:r>
          </a:p>
        </p:txBody>
      </p:sp>
      <p:sp>
        <p:nvSpPr>
          <p:cNvPr id="14" name="">
            <a:extLst xmlns:a="http://schemas.openxmlformats.org/drawingml/2006/main">
              <a:ext uri="{FF2B5EF4-FFF2-40B4-BE49-F238E27FC236}">
                <a16:creationId xmlns:a16="http://schemas.microsoft.com/office/drawing/2014/main" id="{71709237-669B-413D-A0D9-0938DDC41EA6}"/>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6A271552-5E69-4648-BC6A-0AD7BD400C89}"/>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설비 ID 불일치·센서 튐·정비 후 상태 미갱신</a:t>
            </a:r>
          </a:p>
        </p:txBody>
      </p:sp>
      <p:sp>
        <p:nvSpPr>
          <p:cNvPr id="16" name="">
            <a:extLst xmlns:a="http://schemas.openxmlformats.org/drawingml/2006/main">
              <a:ext uri="{FF2B5EF4-FFF2-40B4-BE49-F238E27FC236}">
                <a16:creationId xmlns:a16="http://schemas.microsoft.com/office/drawing/2014/main" id="{40FC368A-3B70-4B5A-B413-7431A2B3D586}"/>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7C252087-ED50-4205-991C-874B8A874FAA}"/>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검측 원천·설비·현장 판정·재검측 연결표</a:t>
            </a:r>
          </a:p>
        </p:txBody>
      </p:sp>
    </p:spTree>
    <p:extLst>
      <p:ext uri="{BB962C8B-B14F-4D97-AF65-F5344CB8AC3E}">
        <p14:creationId xmlns:p14="http://schemas.microsoft.com/office/powerpoint/2010/main" val="1301747063"/>
      </p:ext>
    </p:extLst>
  </p:cSld>
</p:sld>
</file>

<file path=ppt/slides/slide9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5845788-B360-4A52-BCDB-4ED29C2A31E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AX18 / 성과 미검증 / 해외</a:t>
            </a:r>
          </a:p>
        </p:txBody>
      </p:sp>
      <p:sp>
        <p:nvSpPr>
          <p:cNvPr id="2" name="">
            <a:extLst xmlns:a="http://schemas.openxmlformats.org/drawingml/2006/main">
              <a:ext uri="{FF2B5EF4-FFF2-40B4-BE49-F238E27FC236}">
                <a16:creationId xmlns:a16="http://schemas.microsoft.com/office/drawing/2014/main" id="{E2B94D76-C959-4997-B96A-2BB894D733A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Network Rail Insight</a:t>
            </a:r>
          </a:p>
        </p:txBody>
      </p:sp>
      <p:sp>
        <p:nvSpPr>
          <p:cNvPr id="3" name="">
            <a:extLst xmlns:a="http://schemas.openxmlformats.org/drawingml/2006/main">
              <a:ext uri="{FF2B5EF4-FFF2-40B4-BE49-F238E27FC236}">
                <a16:creationId xmlns:a16="http://schemas.microsoft.com/office/drawing/2014/main" id="{31BBB547-8132-4DE3-B0F0-59F40E68364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52BC93E-EB37-4EBF-90E2-9C461C06B92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118B188A-397A-4F5E-93EC-219802D810F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93</a:t>
            </a:r>
          </a:p>
        </p:txBody>
      </p:sp>
      <p:sp>
        <p:nvSpPr>
          <p:cNvPr id="6" name="">
            <a:extLst xmlns:a="http://schemas.openxmlformats.org/drawingml/2006/main">
              <a:ext uri="{FF2B5EF4-FFF2-40B4-BE49-F238E27FC236}">
                <a16:creationId xmlns:a16="http://schemas.microsoft.com/office/drawing/2014/main" id="{8A758A00-6ABF-400D-9670-7AC5BC9D13A6}"/>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92FBA395-1C53-4E6A-A92F-B2F23596B32A}"/>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여러 철도 설비의 관측 자료를 통합해 예방정비 우선순</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위를 지원하는 사례. 서로 다른 설비 데이터의 품질과 식</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별자를 맞추는 기반 작업이 주요 전제.</a:t>
            </a:r>
          </a:p>
        </p:txBody>
      </p:sp>
      <p:sp>
        <p:nvSpPr>
          <p:cNvPr id="8" name="">
            <a:extLst xmlns:a="http://schemas.openxmlformats.org/drawingml/2006/main">
              <a:ext uri="{FF2B5EF4-FFF2-40B4-BE49-F238E27FC236}">
                <a16:creationId xmlns:a16="http://schemas.microsoft.com/office/drawing/2014/main" id="{912EE124-3DD3-4FFE-8F34-450B89C4DF7E}"/>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A907987A-4B2F-469A-BC80-D6F48B462845}"/>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설비 ID에 관측·위치·고장·정비 이력을 연결하고 이상 신</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호를 합쳐 점검 후보를 만드는 구조. 위험 순위는 현장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담당자의 확인 후 정비계획으로 전환하고 실제 결함 여</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부를 환류.</a:t>
            </a:r>
          </a:p>
        </p:txBody>
      </p:sp>
      <p:sp>
        <p:nvSpPr>
          <p:cNvPr id="10" name="">
            <a:extLst xmlns:a="http://schemas.openxmlformats.org/drawingml/2006/main">
              <a:ext uri="{FF2B5EF4-FFF2-40B4-BE49-F238E27FC236}">
                <a16:creationId xmlns:a16="http://schemas.microsoft.com/office/drawing/2014/main" id="{A94DAF69-DAE1-42B3-A0D1-EDA933069A78}"/>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7CD23AA8-FD3F-4942-A732-3603AAF089CF}"/>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CCK에서는 이상 경보를 정비 완료로 처리하지 않는 상태</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모델을 적용. 누락 설비, 관측 결측, 실제 결함과 오경보,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점검 후 조치 완료를 함께 추적하는 TS 후속 업무 설계.</a:t>
            </a:r>
          </a:p>
        </p:txBody>
      </p:sp>
      <p:sp>
        <p:nvSpPr>
          <p:cNvPr id="12" name="">
            <a:extLst xmlns:a="http://schemas.openxmlformats.org/drawingml/2006/main">
              <a:ext uri="{FF2B5EF4-FFF2-40B4-BE49-F238E27FC236}">
                <a16:creationId xmlns:a16="http://schemas.microsoft.com/office/drawing/2014/main" id="{339246DC-B93D-4F15-8022-34F197DB7DA5}"/>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1024E7E4-22D1-4BA4-869F-BD45FCFAD4FC}"/>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설비별 위험 근거 묶음·담당 배정·기한 관리</a:t>
            </a:r>
          </a:p>
        </p:txBody>
      </p:sp>
      <p:sp>
        <p:nvSpPr>
          <p:cNvPr id="14" name="">
            <a:extLst xmlns:a="http://schemas.openxmlformats.org/drawingml/2006/main">
              <a:ext uri="{FF2B5EF4-FFF2-40B4-BE49-F238E27FC236}">
                <a16:creationId xmlns:a16="http://schemas.microsoft.com/office/drawing/2014/main" id="{44EDB764-8A67-40AA-BFE7-F02806D0DB70}"/>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112FF55D-47FD-4515-9775-7CD7F1226F4F}"/>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결측·상충 신호·미조치 건 우선순위 검증</a:t>
            </a:r>
          </a:p>
        </p:txBody>
      </p:sp>
      <p:sp>
        <p:nvSpPr>
          <p:cNvPr id="16" name="">
            <a:extLst xmlns:a="http://schemas.openxmlformats.org/drawingml/2006/main">
              <a:ext uri="{FF2B5EF4-FFF2-40B4-BE49-F238E27FC236}">
                <a16:creationId xmlns:a16="http://schemas.microsoft.com/office/drawing/2014/main" id="{AB4CC2BE-CC58-4D0B-86E6-1A2813508348}"/>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3FBD8EA1-8A31-4873-BBD1-115E2C5CA460}"/>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점검 준비시간 / 미조치 추적률</a:t>
            </a:r>
          </a:p>
        </p:txBody>
      </p:sp>
      <p:sp>
        <p:nvSpPr>
          <p:cNvPr id="18" name="">
            <a:extLst xmlns:a="http://schemas.openxmlformats.org/drawingml/2006/main">
              <a:ext uri="{FF2B5EF4-FFF2-40B4-BE49-F238E27FC236}">
                <a16:creationId xmlns:a16="http://schemas.microsoft.com/office/drawing/2014/main" id="{B6D882AA-7370-4ADF-AF25-E166F55F54B3}"/>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철도 운영사 사례 · TS의 검사·감독 책임 범위에 맞춘 현지화 필요</a:t>
            </a:r>
          </a:p>
        </p:txBody>
      </p:sp>
    </p:spTree>
    <p:extLst>
      <p:ext uri="{BB962C8B-B14F-4D97-AF65-F5344CB8AC3E}">
        <p14:creationId xmlns:p14="http://schemas.microsoft.com/office/powerpoint/2010/main" val="1985991161"/>
      </p:ext>
    </p:extLst>
  </p:cSld>
</p:sld>
</file>

<file path=ppt/slides/slide9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373527E-4F16-4D87-A591-1BCD430F0E0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AX18 / As-Is → To-Be → 기대효과 → 확인 결과</a:t>
            </a:r>
          </a:p>
        </p:txBody>
      </p:sp>
      <p:sp>
        <p:nvSpPr>
          <p:cNvPr id="2" name="">
            <a:extLst xmlns:a="http://schemas.openxmlformats.org/drawingml/2006/main">
              <a:ext uri="{FF2B5EF4-FFF2-40B4-BE49-F238E27FC236}">
                <a16:creationId xmlns:a16="http://schemas.microsoft.com/office/drawing/2014/main" id="{7E35ABF0-8A60-498A-92E1-66C4E2A95DD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Network Rail Insight · 기대와 결과</a:t>
            </a:r>
          </a:p>
        </p:txBody>
      </p:sp>
      <p:sp>
        <p:nvSpPr>
          <p:cNvPr id="3" name="">
            <a:extLst xmlns:a="http://schemas.openxmlformats.org/drawingml/2006/main">
              <a:ext uri="{FF2B5EF4-FFF2-40B4-BE49-F238E27FC236}">
                <a16:creationId xmlns:a16="http://schemas.microsoft.com/office/drawing/2014/main" id="{3407F662-9EB7-4E16-AA60-326B9550F75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2AD1A46-9DD2-4A53-9D41-CDC5D06F5F7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FD754661-EB43-40BF-9C40-0A5A56447B0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94</a:t>
            </a:r>
          </a:p>
        </p:txBody>
      </p:sp>
      <p:sp>
        <p:nvSpPr>
          <p:cNvPr id="6" name="">
            <a:extLst xmlns:a="http://schemas.openxmlformats.org/drawingml/2006/main">
              <a:ext uri="{FF2B5EF4-FFF2-40B4-BE49-F238E27FC236}">
                <a16:creationId xmlns:a16="http://schemas.microsoft.com/office/drawing/2014/main" id="{D37FB635-79AA-40C6-8E8D-6ECB82266840}"/>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38558764-4B8C-4B22-BF08-BF85494B6AD0}"/>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철도 설비·고장 자료가 분산되어 유지보수 우선순위와 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험의 조기 판단이 어려움</a:t>
            </a:r>
          </a:p>
        </p:txBody>
      </p:sp>
      <p:sp>
        <p:nvSpPr>
          <p:cNvPr id="8" name="">
            <a:extLst xmlns:a="http://schemas.openxmlformats.org/drawingml/2006/main">
              <a:ext uri="{FF2B5EF4-FFF2-40B4-BE49-F238E27FC236}">
                <a16:creationId xmlns:a16="http://schemas.microsoft.com/office/drawing/2014/main" id="{255DA3BA-9E44-4AC5-860B-AF1C01A7930A}"/>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8896C703-A37D-4617-8B2E-31F9201B2649}"/>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설비 데이터·영상·AI 분석을 통합해 담당자가 예지정비 조</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치를 선택</a:t>
            </a:r>
          </a:p>
        </p:txBody>
      </p:sp>
      <p:sp>
        <p:nvSpPr>
          <p:cNvPr id="10" name="">
            <a:extLst xmlns:a="http://schemas.openxmlformats.org/drawingml/2006/main">
              <a:ext uri="{FF2B5EF4-FFF2-40B4-BE49-F238E27FC236}">
                <a16:creationId xmlns:a16="http://schemas.microsoft.com/office/drawing/2014/main" id="{F11B1F29-43A0-4EFE-80B8-CF4B505E1A43}"/>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A5B44C5C-2820-444D-9B15-C8EB36931019}"/>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고장 조기 발견과 지연·유지관리 비용 감소</a:t>
            </a:r>
          </a:p>
        </p:txBody>
      </p:sp>
      <p:sp>
        <p:nvSpPr>
          <p:cNvPr id="12" name="">
            <a:extLst xmlns:a="http://schemas.openxmlformats.org/drawingml/2006/main">
              <a:ext uri="{FF2B5EF4-FFF2-40B4-BE49-F238E27FC236}">
                <a16:creationId xmlns:a16="http://schemas.microsoft.com/office/drawing/2014/main" id="{C9FDFDB9-2979-4E70-B351-7344A5A25ED0}"/>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C3349AF7-E6D5-4233-ACF7-B15FD06EA389}"/>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Network Rail이 AI 기반 철도 유지관리 적용 사례를 운영</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기관 자료로 소개</a:t>
            </a:r>
          </a:p>
        </p:txBody>
      </p:sp>
      <p:sp>
        <p:nvSpPr>
          <p:cNvPr id="14" name="">
            <a:extLst xmlns:a="http://schemas.openxmlformats.org/drawingml/2006/main">
              <a:ext uri="{FF2B5EF4-FFF2-40B4-BE49-F238E27FC236}">
                <a16:creationId xmlns:a16="http://schemas.microsoft.com/office/drawing/2014/main" id="{E0F6D861-DEA9-41F6-BEFA-9C5D9D181666}"/>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적용 설명은 확인되나 고장 조기발견·지연·비용 개선의 전후 비교 결과 부재</a:t>
            </a:r>
          </a:p>
        </p:txBody>
      </p:sp>
      <p:sp>
        <p:nvSpPr>
          <p:cNvPr id="15" name="">
            <a:extLst xmlns:a="http://schemas.openxmlformats.org/drawingml/2006/main">
              <a:ext uri="{FF2B5EF4-FFF2-40B4-BE49-F238E27FC236}">
                <a16:creationId xmlns:a16="http://schemas.microsoft.com/office/drawing/2014/main" id="{094FEBF0-AA64-49DC-A756-3A04ACC63766}"/>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철도 운영기관 사례 발표 · 철도 운영기관 발표 기준. TS 검사·감독 업무 성과와 구분</a:t>
            </a:r>
          </a:p>
        </p:txBody>
      </p:sp>
    </p:spTree>
    <p:extLst>
      <p:ext uri="{BB962C8B-B14F-4D97-AF65-F5344CB8AC3E}">
        <p14:creationId xmlns:p14="http://schemas.microsoft.com/office/powerpoint/2010/main" val="1591611337"/>
      </p:ext>
    </p:extLst>
  </p:cSld>
</p:sld>
</file>

<file path=ppt/slides/slide9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6" name="">
            <a:extLst xmlns:a="http://schemas.openxmlformats.org/drawingml/2006/main">
              <a:ext uri="{FF2B5EF4-FFF2-40B4-BE49-F238E27FC236}">
                <a16:creationId xmlns:a16="http://schemas.microsoft.com/office/drawing/2014/main" id="{1657A72F-DC22-4F66-B146-87AD7429EF46}"/>
              </a:ext>
            </a:extLst>
          </p:cNvPr>
          <p:cNvCxnSpPr>
            <a:stCxn xmlns:a="http://schemas.openxmlformats.org/drawingml/2006/main" id="34" idx="1"/>
            <a:endCxn xmlns:a="http://schemas.openxmlformats.org/drawingml/2006/main" id="13" idx="3"/>
          </p:cNvCxnSpPr>
          <p:nvPr/>
        </p:nvCxnSpPr>
        <p:spPr>
          <a:xfrm xmlns:a="http://schemas.openxmlformats.org/drawingml/2006/main" flipH="1" flipV="1">
            <a:off x="7096125" y="2352675"/>
            <a:ext cx="2524125" cy="2476500"/>
          </a:xfrm>
          <a:prstGeom xmlns:a="http://schemas.openxmlformats.org/drawingml/2006/main" prst="straightConnector1">
            <a:avLst/>
          </a:prstGeom>
          <a:ln xmlns:a="http://schemas.openxmlformats.org/drawingml/2006/main" w="19050">
            <a:solidFill>
              <a:srgbClr val="697F86"/>
            </a:solidFill>
            <a:tailEnd type="arrow" w="med" len="med"/>
          </a:ln>
        </p:spPr>
      </p:cxnSp>
      <p:cxnSp>
        <p:nvCxnSpPr>
          <p:cNvPr id="45" name="">
            <a:extLst xmlns:a="http://schemas.openxmlformats.org/drawingml/2006/main">
              <a:ext uri="{FF2B5EF4-FFF2-40B4-BE49-F238E27FC236}">
                <a16:creationId xmlns:a16="http://schemas.microsoft.com/office/drawing/2014/main" id="{82F81577-E223-4663-9893-A3B2C5BA6A7C}"/>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9D0ED9F4-B09A-41FC-B546-72151C72E1EE}"/>
              </a:ext>
            </a:extLst>
          </p:cNvPr>
          <p:cNvCxnSpPr>
            <a:stCxn xmlns:a="http://schemas.openxmlformats.org/drawingml/2006/main" id="31" idx="0"/>
            <a:endCxn xmlns:a="http://schemas.openxmlformats.org/drawingml/2006/main" id="19" idx="2"/>
          </p:cNvCxnSpPr>
          <p:nvPr/>
        </p:nvCxnSpPr>
        <p:spPr>
          <a:xfrm xmlns:a="http://schemas.openxmlformats.org/drawingml/2006/main" flipV="1">
            <a:off x="8358188" y="2905125"/>
            <a:ext cx="2262187"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5377ACFA-3310-4499-9009-8C818C2F4366}"/>
              </a:ext>
            </a:extLst>
          </p:cNvPr>
          <p:cNvCxnSpPr>
            <a:stCxn xmlns:a="http://schemas.openxmlformats.org/drawingml/2006/main" id="16" idx="2"/>
            <a:endCxn xmlns:a="http://schemas.openxmlformats.org/drawingml/2006/main" id="31" idx="0"/>
          </p:cNvCxnSpPr>
          <p:nvPr/>
        </p:nvCxnSpPr>
        <p:spPr>
          <a:xfrm xmlns:a="http://schemas.openxmlformats.org/drawingml/2006/main">
            <a:off x="8358188" y="2905125"/>
            <a:ext cx="0"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2" name="">
            <a:extLst xmlns:a="http://schemas.openxmlformats.org/drawingml/2006/main">
              <a:ext uri="{FF2B5EF4-FFF2-40B4-BE49-F238E27FC236}">
                <a16:creationId xmlns:a16="http://schemas.microsoft.com/office/drawing/2014/main" id="{B2F28B46-6036-4746-8DA5-A5BFD7E4D08E}"/>
              </a:ext>
            </a:extLst>
          </p:cNvPr>
          <p:cNvCxnSpPr>
            <a:stCxn xmlns:a="http://schemas.openxmlformats.org/drawingml/2006/main" id="28" idx="0"/>
            <a:endCxn xmlns:a="http://schemas.openxmlformats.org/drawingml/2006/main" id="16" idx="2"/>
          </p:cNvCxnSpPr>
          <p:nvPr/>
        </p:nvCxnSpPr>
        <p:spPr>
          <a:xfrm xmlns:a="http://schemas.openxmlformats.org/drawingml/2006/main" flipV="1">
            <a:off x="6096000" y="2905125"/>
            <a:ext cx="2262188"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1" name="">
            <a:extLst xmlns:a="http://schemas.openxmlformats.org/drawingml/2006/main">
              <a:ext uri="{FF2B5EF4-FFF2-40B4-BE49-F238E27FC236}">
                <a16:creationId xmlns:a16="http://schemas.microsoft.com/office/drawing/2014/main" id="{72E9C413-7CBC-4327-911C-2D0D76449E98}"/>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C33700A6-4471-436E-BEB6-3A0955AE9F5E}"/>
              </a:ext>
            </a:extLst>
          </p:cNvPr>
          <p:cNvCxnSpPr>
            <a:stCxn xmlns:a="http://schemas.openxmlformats.org/drawingml/2006/main" id="25" idx="0"/>
            <a:endCxn xmlns:a="http://schemas.openxmlformats.org/drawingml/2006/main" id="13" idx="2"/>
          </p:cNvCxnSpPr>
          <p:nvPr/>
        </p:nvCxnSpPr>
        <p:spPr>
          <a:xfrm xmlns:a="http://schemas.openxmlformats.org/drawingml/2006/main" flipV="1">
            <a:off x="3833813" y="2905125"/>
            <a:ext cx="2262187"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59369DB9-09A4-4639-8966-2E6EAE20BD17}"/>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C90DE948-389E-438C-A930-F2F0F821DFD1}"/>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E1BBDBFA-0B94-42A4-81DF-AFBA62B95E15}"/>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8" name="">
            <a:extLst xmlns:a="http://schemas.openxmlformats.org/drawingml/2006/main">
              <a:ext uri="{FF2B5EF4-FFF2-40B4-BE49-F238E27FC236}">
                <a16:creationId xmlns:a16="http://schemas.microsoft.com/office/drawing/2014/main" id="{B00B44C7-C560-4BB1-9807-859124ACB26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AX18 / 관측·안전 판정·현장 조치·환류</a:t>
            </a:r>
          </a:p>
        </p:txBody>
      </p:sp>
      <p:sp>
        <p:nvSpPr>
          <p:cNvPr id="2" name="">
            <a:extLst xmlns:a="http://schemas.openxmlformats.org/drawingml/2006/main">
              <a:ext uri="{FF2B5EF4-FFF2-40B4-BE49-F238E27FC236}">
                <a16:creationId xmlns:a16="http://schemas.microsoft.com/office/drawing/2014/main" id="{3F024707-D867-41C6-A0C2-D6375C7AF7E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Network Rail Insight · 세부 서비스 구조</a:t>
            </a:r>
          </a:p>
        </p:txBody>
      </p:sp>
      <p:sp>
        <p:nvSpPr>
          <p:cNvPr id="3" name="">
            <a:extLst xmlns:a="http://schemas.openxmlformats.org/drawingml/2006/main">
              <a:ext uri="{FF2B5EF4-FFF2-40B4-BE49-F238E27FC236}">
                <a16:creationId xmlns:a16="http://schemas.microsoft.com/office/drawing/2014/main" id="{EEDA1485-A1C3-40D4-9D6A-02A678A938D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447C174-D968-4C0A-AFEB-2D1C5A4189C9}"/>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18B21CF-6C2C-4520-9C7B-1FB93DB4343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95</a:t>
            </a:r>
          </a:p>
        </p:txBody>
      </p:sp>
      <p:sp>
        <p:nvSpPr>
          <p:cNvPr id="6" name="">
            <a:extLst xmlns:a="http://schemas.openxmlformats.org/drawingml/2006/main">
              <a:ext uri="{FF2B5EF4-FFF2-40B4-BE49-F238E27FC236}">
                <a16:creationId xmlns:a16="http://schemas.microsoft.com/office/drawing/2014/main" id="{DCBF74AE-CDD5-460C-858F-8724837AF7F0}"/>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설비·검측 자료 → AI 이상 분석 → 정비 우선순위 → 담당자 조치</a:t>
            </a:r>
          </a:p>
        </p:txBody>
      </p:sp>
      <p:sp>
        <p:nvSpPr>
          <p:cNvPr id="7" name="">
            <a:extLst xmlns:a="http://schemas.openxmlformats.org/drawingml/2006/main">
              <a:ext uri="{FF2B5EF4-FFF2-40B4-BE49-F238E27FC236}">
                <a16:creationId xmlns:a16="http://schemas.microsoft.com/office/drawing/2014/main" id="{A8413E97-6BC0-44BC-882A-EA2B0DC8175C}"/>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C473ED71-E2DA-4E6E-8442-ABF86833C4B0}"/>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331A24A2-EE31-4C06-BEF1-263E32067A39}"/>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관측·설비대장</a:t>
            </a:r>
          </a:p>
        </p:txBody>
      </p:sp>
      <p:sp>
        <p:nvSpPr>
          <p:cNvPr id="10" name="">
            <a:extLst xmlns:a="http://schemas.openxmlformats.org/drawingml/2006/main">
              <a:ext uri="{FF2B5EF4-FFF2-40B4-BE49-F238E27FC236}">
                <a16:creationId xmlns:a16="http://schemas.microsoft.com/office/drawing/2014/main" id="{1F4C75E5-5DF4-4C6E-ABEA-C5192423327B}"/>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3C0D6809-4D5C-4CDC-9535-1F8DB8529D78}"/>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2504C46C-8CB0-4569-937C-632BA3D4A4BE}"/>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설비 식별자 통합</a:t>
            </a:r>
          </a:p>
        </p:txBody>
      </p:sp>
      <p:sp>
        <p:nvSpPr>
          <p:cNvPr id="13" name="">
            <a:extLst xmlns:a="http://schemas.openxmlformats.org/drawingml/2006/main">
              <a:ext uri="{FF2B5EF4-FFF2-40B4-BE49-F238E27FC236}">
                <a16:creationId xmlns:a16="http://schemas.microsoft.com/office/drawing/2014/main" id="{6B022332-D01C-45A1-9A1F-B0936F72BCE9}"/>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4093E6BB-9447-4306-B967-7C368C579470}"/>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B973BA8A-8AEF-4859-B797-0C54854DA236}"/>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이상 신호 결합</a:t>
            </a:r>
          </a:p>
        </p:txBody>
      </p:sp>
      <p:sp>
        <p:nvSpPr>
          <p:cNvPr id="16" name="">
            <a:extLst xmlns:a="http://schemas.openxmlformats.org/drawingml/2006/main">
              <a:ext uri="{FF2B5EF4-FFF2-40B4-BE49-F238E27FC236}">
                <a16:creationId xmlns:a16="http://schemas.microsoft.com/office/drawing/2014/main" id="{1B82A09C-5E3D-440C-9B1D-B107AB51C8A1}"/>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F3F31E7F-1CDA-4428-9EC7-9E3FE198F5B0}"/>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E7119653-420B-411A-A81A-EDE526545717}"/>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누락 설비 검사</a:t>
            </a:r>
          </a:p>
        </p:txBody>
      </p:sp>
      <p:sp>
        <p:nvSpPr>
          <p:cNvPr id="19" name="">
            <a:extLst xmlns:a="http://schemas.openxmlformats.org/drawingml/2006/main">
              <a:ext uri="{FF2B5EF4-FFF2-40B4-BE49-F238E27FC236}">
                <a16:creationId xmlns:a16="http://schemas.microsoft.com/office/drawing/2014/main" id="{FC21EE21-34A5-4D7F-9E13-EDBA841EF449}"/>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DD45EF81-AC9B-4E16-A5DB-A1AFA2248A62}"/>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95AD25A6-CCC4-4D58-A84D-73B19F4E39D3}"/>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정비 우선순위</a:t>
            </a:r>
          </a:p>
        </p:txBody>
      </p:sp>
      <p:sp>
        <p:nvSpPr>
          <p:cNvPr id="22" name="">
            <a:extLst xmlns:a="http://schemas.openxmlformats.org/drawingml/2006/main">
              <a:ext uri="{FF2B5EF4-FFF2-40B4-BE49-F238E27FC236}">
                <a16:creationId xmlns:a16="http://schemas.microsoft.com/office/drawing/2014/main" id="{79B510A2-6B26-4626-BF21-C26DFAC3A105}"/>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8B8B1EFF-6ECB-4E91-89B0-C5C6984F53C7}"/>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609C1D94-2A2D-4B20-A04C-B948E792C68A}"/>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위치·고장 맥락</a:t>
            </a:r>
          </a:p>
        </p:txBody>
      </p:sp>
      <p:sp>
        <p:nvSpPr>
          <p:cNvPr id="25" name="">
            <a:extLst xmlns:a="http://schemas.openxmlformats.org/drawingml/2006/main">
              <a:ext uri="{FF2B5EF4-FFF2-40B4-BE49-F238E27FC236}">
                <a16:creationId xmlns:a16="http://schemas.microsoft.com/office/drawing/2014/main" id="{0090FDFD-CB62-4543-9E36-C3E434D09D3D}"/>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9A703D5C-8DA2-4136-88B8-8DB5B533ADE9}"/>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27" name="">
            <a:extLst xmlns:a="http://schemas.openxmlformats.org/drawingml/2006/main">
              <a:ext uri="{FF2B5EF4-FFF2-40B4-BE49-F238E27FC236}">
                <a16:creationId xmlns:a16="http://schemas.microsoft.com/office/drawing/2014/main" id="{19E59BD4-1219-4F9B-BEF4-71262B5B8C69}"/>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다종 관측 조회</a:t>
            </a:r>
          </a:p>
        </p:txBody>
      </p:sp>
      <p:sp>
        <p:nvSpPr>
          <p:cNvPr id="28" name="">
            <a:extLst xmlns:a="http://schemas.openxmlformats.org/drawingml/2006/main">
              <a:ext uri="{FF2B5EF4-FFF2-40B4-BE49-F238E27FC236}">
                <a16:creationId xmlns:a16="http://schemas.microsoft.com/office/drawing/2014/main" id="{C0AEDF82-0062-413F-B78D-45A3103AF103}"/>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5B755293-894B-4C30-86C0-B5F70F734841}"/>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30" name="">
            <a:extLst xmlns:a="http://schemas.openxmlformats.org/drawingml/2006/main">
              <a:ext uri="{FF2B5EF4-FFF2-40B4-BE49-F238E27FC236}">
                <a16:creationId xmlns:a16="http://schemas.microsoft.com/office/drawing/2014/main" id="{077C6C14-C31C-45A0-AC4C-67F5902692B5}"/>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설비 관리 책임</a:t>
            </a:r>
          </a:p>
        </p:txBody>
      </p:sp>
      <p:sp>
        <p:nvSpPr>
          <p:cNvPr id="31" name="">
            <a:extLst xmlns:a="http://schemas.openxmlformats.org/drawingml/2006/main">
              <a:ext uri="{FF2B5EF4-FFF2-40B4-BE49-F238E27FC236}">
                <a16:creationId xmlns:a16="http://schemas.microsoft.com/office/drawing/2014/main" id="{3C854AAF-3D78-480A-8828-4EE9073FA126}"/>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969A0014-BCCE-4EC6-B20C-20F0EE71AEB7}"/>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745BC1EC-3C81-47F3-85B4-6B2F95ABC07D}"/>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현장 점검 확인</a:t>
            </a:r>
          </a:p>
        </p:txBody>
      </p:sp>
      <p:sp>
        <p:nvSpPr>
          <p:cNvPr id="34" name="">
            <a:extLst xmlns:a="http://schemas.openxmlformats.org/drawingml/2006/main">
              <a:ext uri="{FF2B5EF4-FFF2-40B4-BE49-F238E27FC236}">
                <a16:creationId xmlns:a16="http://schemas.microsoft.com/office/drawing/2014/main" id="{276E7EAC-A6EA-4CD8-9116-1DA0899870BE}"/>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BC52F732-BF9E-4007-A74C-C47A56BE3825}"/>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E3B103BB-CC1F-4034-93BE-00FA45C6C058}"/>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결함 결과 환류</a:t>
            </a:r>
          </a:p>
        </p:txBody>
      </p:sp>
      <p:sp>
        <p:nvSpPr>
          <p:cNvPr id="47" name="">
            <a:extLst xmlns:a="http://schemas.openxmlformats.org/drawingml/2006/main">
              <a:ext uri="{FF2B5EF4-FFF2-40B4-BE49-F238E27FC236}">
                <a16:creationId xmlns:a16="http://schemas.microsoft.com/office/drawing/2014/main" id="{4D290794-9EC9-46C0-AC45-51995EFF7992}"/>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763651337"/>
      </p:ext>
    </p:extLst>
  </p:cSld>
</p:sld>
</file>

<file path=ppt/slides/slide9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F32376C0-75D8-456C-A40A-405FCE4D283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AX18 / 논리 인터페이스·복구 설계</a:t>
            </a:r>
          </a:p>
        </p:txBody>
      </p:sp>
      <p:sp>
        <p:nvSpPr>
          <p:cNvPr id="2" name="">
            <a:extLst xmlns:a="http://schemas.openxmlformats.org/drawingml/2006/main">
              <a:ext uri="{FF2B5EF4-FFF2-40B4-BE49-F238E27FC236}">
                <a16:creationId xmlns:a16="http://schemas.microsoft.com/office/drawing/2014/main" id="{F6618279-DAC4-4367-B6CA-517239B87BB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Network Rail Insight · 데이터와 예외 처리</a:t>
            </a:r>
          </a:p>
        </p:txBody>
      </p:sp>
      <p:sp>
        <p:nvSpPr>
          <p:cNvPr id="3" name="">
            <a:extLst xmlns:a="http://schemas.openxmlformats.org/drawingml/2006/main">
              <a:ext uri="{FF2B5EF4-FFF2-40B4-BE49-F238E27FC236}">
                <a16:creationId xmlns:a16="http://schemas.microsoft.com/office/drawing/2014/main" id="{EB2B1694-1B44-4255-918B-0A7354BA006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5F2C622-CF54-409E-B468-F76D7C0BC27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64CECF76-963A-4AD3-B918-ADE3C01FDE2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96</a:t>
            </a:r>
          </a:p>
        </p:txBody>
      </p:sp>
      <p:sp>
        <p:nvSpPr>
          <p:cNvPr id="6" name="">
            <a:extLst xmlns:a="http://schemas.openxmlformats.org/drawingml/2006/main">
              <a:ext uri="{FF2B5EF4-FFF2-40B4-BE49-F238E27FC236}">
                <a16:creationId xmlns:a16="http://schemas.microsoft.com/office/drawing/2014/main" id="{3341FAA0-99D1-440F-9697-0FC7E147790D}"/>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84BDF181-8BC5-48BC-B405-76854F43D1E4}"/>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AF2E72F3-1087-428D-A7C4-2685F87513D8}"/>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관측 입력</a:t>
            </a:r>
          </a:p>
        </p:txBody>
      </p:sp>
      <p:sp>
        <p:nvSpPr>
          <p:cNvPr id="9" name="">
            <a:extLst xmlns:a="http://schemas.openxmlformats.org/drawingml/2006/main">
              <a:ext uri="{FF2B5EF4-FFF2-40B4-BE49-F238E27FC236}">
                <a16:creationId xmlns:a16="http://schemas.microsoft.com/office/drawing/2014/main" id="{BB98A6C7-A9EE-408E-89EA-B6F154FF411A}"/>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설비·이상 이력</a:t>
            </a:r>
          </a:p>
        </p:txBody>
      </p:sp>
      <p:sp>
        <p:nvSpPr>
          <p:cNvPr id="10" name="">
            <a:extLst xmlns:a="http://schemas.openxmlformats.org/drawingml/2006/main">
              <a:ext uri="{FF2B5EF4-FFF2-40B4-BE49-F238E27FC236}">
                <a16:creationId xmlns:a16="http://schemas.microsoft.com/office/drawing/2014/main" id="{38C5C7E4-4D2D-4CD6-A006-A25771FC9B96}"/>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777EFC2-3DC5-4D47-895F-735B86597079}"/>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정합화 상태</a:t>
            </a:r>
          </a:p>
        </p:txBody>
      </p:sp>
      <p:sp>
        <p:nvSpPr>
          <p:cNvPr id="12" name="">
            <a:extLst xmlns:a="http://schemas.openxmlformats.org/drawingml/2006/main">
              <a:ext uri="{FF2B5EF4-FFF2-40B4-BE49-F238E27FC236}">
                <a16:creationId xmlns:a16="http://schemas.microsoft.com/office/drawing/2014/main" id="{0F7A2689-0B63-4A31-9041-2B68D2A99D08}"/>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96769FDE-94B9-4351-AEE8-C493C9D7C57C}"/>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C3D670C-29B7-43A0-BE13-6C56C5FB1F84}"/>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위험·제어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후보</a:t>
            </a:r>
          </a:p>
        </p:txBody>
      </p:sp>
      <p:sp>
        <p:nvSpPr>
          <p:cNvPr id="15" name="">
            <a:extLst xmlns:a="http://schemas.openxmlformats.org/drawingml/2006/main">
              <a:ext uri="{FF2B5EF4-FFF2-40B4-BE49-F238E27FC236}">
                <a16:creationId xmlns:a16="http://schemas.microsoft.com/office/drawing/2014/main" id="{CF485D9D-7084-4C7C-BA8D-388E7C712A30}"/>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정비 우선순위</a:t>
            </a:r>
          </a:p>
        </p:txBody>
      </p:sp>
      <p:sp>
        <p:nvSpPr>
          <p:cNvPr id="16" name="">
            <a:extLst xmlns:a="http://schemas.openxmlformats.org/drawingml/2006/main">
              <a:ext uri="{FF2B5EF4-FFF2-40B4-BE49-F238E27FC236}">
                <a16:creationId xmlns:a16="http://schemas.microsoft.com/office/drawing/2014/main" id="{E19B0B98-B6D2-4CCF-88C6-73A0B075F1A8}"/>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DCEF901-A735-4490-B234-55B8D3647B8E}"/>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안전 경계</a:t>
            </a:r>
          </a:p>
        </p:txBody>
      </p:sp>
      <p:sp>
        <p:nvSpPr>
          <p:cNvPr id="18" name="">
            <a:extLst xmlns:a="http://schemas.openxmlformats.org/drawingml/2006/main">
              <a:ext uri="{FF2B5EF4-FFF2-40B4-BE49-F238E27FC236}">
                <a16:creationId xmlns:a16="http://schemas.microsoft.com/office/drawing/2014/main" id="{8FEBFC52-73AF-4481-8A6F-80EA851791A8}"/>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설비 관리 책임</a:t>
            </a:r>
          </a:p>
        </p:txBody>
      </p:sp>
      <p:sp>
        <p:nvSpPr>
          <p:cNvPr id="19" name="">
            <a:extLst xmlns:a="http://schemas.openxmlformats.org/drawingml/2006/main">
              <a:ext uri="{FF2B5EF4-FFF2-40B4-BE49-F238E27FC236}">
                <a16:creationId xmlns:a16="http://schemas.microsoft.com/office/drawing/2014/main" id="{69144B69-36C9-4D33-A5DD-53C96A9A3E0E}"/>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2ECBEFBD-B78A-4BEB-8A38-CD4A64DA78B3}"/>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경고·조치</a:t>
            </a:r>
          </a:p>
        </p:txBody>
      </p:sp>
      <p:sp>
        <p:nvSpPr>
          <p:cNvPr id="21" name="">
            <a:extLst xmlns:a="http://schemas.openxmlformats.org/drawingml/2006/main">
              <a:ext uri="{FF2B5EF4-FFF2-40B4-BE49-F238E27FC236}">
                <a16:creationId xmlns:a16="http://schemas.microsoft.com/office/drawing/2014/main" id="{5ACC9061-82E9-4755-9A04-9302DB948B3E}"/>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조치·재점검</a:t>
            </a:r>
          </a:p>
        </p:txBody>
      </p:sp>
      <p:sp>
        <p:nvSpPr>
          <p:cNvPr id="22" name="">
            <a:extLst xmlns:a="http://schemas.openxmlformats.org/drawingml/2006/main">
              <a:ext uri="{FF2B5EF4-FFF2-40B4-BE49-F238E27FC236}">
                <a16:creationId xmlns:a16="http://schemas.microsoft.com/office/drawing/2014/main" id="{586EFE8A-82A1-4C88-8EA2-37535281131A}"/>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66CB5A76-6E8D-410D-AD1B-225C750D4701}"/>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다음 주기</a:t>
            </a:r>
          </a:p>
        </p:txBody>
      </p:sp>
      <p:sp>
        <p:nvSpPr>
          <p:cNvPr id="24" name="">
            <a:extLst xmlns:a="http://schemas.openxmlformats.org/drawingml/2006/main">
              <a:ext uri="{FF2B5EF4-FFF2-40B4-BE49-F238E27FC236}">
                <a16:creationId xmlns:a16="http://schemas.microsoft.com/office/drawing/2014/main" id="{C9832BE6-2EE7-42E4-89F3-9F7D4BAF9763}"/>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현장 판정과 실제 결함을 다음 분석에 반영</a:t>
            </a:r>
          </a:p>
        </p:txBody>
      </p:sp>
      <p:sp>
        <p:nvSpPr>
          <p:cNvPr id="25" name="">
            <a:extLst xmlns:a="http://schemas.openxmlformats.org/drawingml/2006/main">
              <a:ext uri="{FF2B5EF4-FFF2-40B4-BE49-F238E27FC236}">
                <a16:creationId xmlns:a16="http://schemas.microsoft.com/office/drawing/2014/main" id="{EA84DAFC-44B2-4E00-81DA-73987DC0C42F}"/>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F58F6162-ABCE-4F52-A3FC-78D12A2376A8}"/>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데이터 지연·상충 신호·정비 완료 이력 누락</a:t>
            </a:r>
          </a:p>
        </p:txBody>
      </p:sp>
      <p:sp>
        <p:nvSpPr>
          <p:cNvPr id="27" name="">
            <a:extLst xmlns:a="http://schemas.openxmlformats.org/drawingml/2006/main">
              <a:ext uri="{FF2B5EF4-FFF2-40B4-BE49-F238E27FC236}">
                <a16:creationId xmlns:a16="http://schemas.microsoft.com/office/drawing/2014/main" id="{6E440B9C-A947-4932-87B2-3921C097D5C4}"/>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6632CFA7-6424-4501-B586-610FCB9FFBD1}"/>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누락 설비·중요 결함 별도 평가</a:t>
            </a:r>
          </a:p>
        </p:txBody>
      </p:sp>
      <p:sp>
        <p:nvSpPr>
          <p:cNvPr id="29" name="">
            <a:extLst xmlns:a="http://schemas.openxmlformats.org/drawingml/2006/main">
              <a:ext uri="{FF2B5EF4-FFF2-40B4-BE49-F238E27FC236}">
                <a16:creationId xmlns:a16="http://schemas.microsoft.com/office/drawing/2014/main" id="{B984971C-8984-47F4-82F7-786C36CED862}"/>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A32BCB13-170D-4AC8-B7AB-2BCA495D3A7E}"/>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현장 판정과 실제 결함을 다음 분석에 반영</a:t>
            </a:r>
          </a:p>
        </p:txBody>
      </p:sp>
      <p:sp>
        <p:nvSpPr>
          <p:cNvPr id="31" name="">
            <a:extLst xmlns:a="http://schemas.openxmlformats.org/drawingml/2006/main">
              <a:ext uri="{FF2B5EF4-FFF2-40B4-BE49-F238E27FC236}">
                <a16:creationId xmlns:a16="http://schemas.microsoft.com/office/drawing/2014/main" id="{797FC2A7-08DF-473A-8850-545BE50F49A2}"/>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AC91E7C0-CF1E-43EA-8559-A88BB2CD2D3B}"/>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우선순위 근거와 현장 확인·정비 결과 대사</a:t>
            </a:r>
          </a:p>
        </p:txBody>
      </p:sp>
    </p:spTree>
    <p:extLst>
      <p:ext uri="{BB962C8B-B14F-4D97-AF65-F5344CB8AC3E}">
        <p14:creationId xmlns:p14="http://schemas.microsoft.com/office/powerpoint/2010/main" val="884473743"/>
      </p:ext>
    </p:extLst>
  </p:cSld>
</p:sld>
</file>

<file path=ppt/slides/slide9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E045878-A469-43DF-B3FE-7C43C614A63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AX18 / CCK 비교·재현 시험 설계</a:t>
            </a:r>
          </a:p>
        </p:txBody>
      </p:sp>
      <p:sp>
        <p:nvSpPr>
          <p:cNvPr id="2" name="">
            <a:extLst xmlns:a="http://schemas.openxmlformats.org/drawingml/2006/main">
              <a:ext uri="{FF2B5EF4-FFF2-40B4-BE49-F238E27FC236}">
                <a16:creationId xmlns:a16="http://schemas.microsoft.com/office/drawing/2014/main" id="{C4BB35FE-4520-4D55-AC9E-1FDD033AFF0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Network Rail Insight · 벤치마킹</a:t>
            </a:r>
          </a:p>
        </p:txBody>
      </p:sp>
      <p:sp>
        <p:nvSpPr>
          <p:cNvPr id="3" name="">
            <a:extLst xmlns:a="http://schemas.openxmlformats.org/drawingml/2006/main">
              <a:ext uri="{FF2B5EF4-FFF2-40B4-BE49-F238E27FC236}">
                <a16:creationId xmlns:a16="http://schemas.microsoft.com/office/drawing/2014/main" id="{4A7CB526-A291-4557-9357-5B958AFECB3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54B91BE-BD33-418B-897C-D35E96016BA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BD2D3889-0C35-4099-AA91-DA2A4B5581F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97</a:t>
            </a:r>
          </a:p>
        </p:txBody>
      </p:sp>
      <p:sp>
        <p:nvSpPr>
          <p:cNvPr id="6" name="">
            <a:extLst xmlns:a="http://schemas.openxmlformats.org/drawingml/2006/main">
              <a:ext uri="{FF2B5EF4-FFF2-40B4-BE49-F238E27FC236}">
                <a16:creationId xmlns:a16="http://schemas.microsoft.com/office/drawing/2014/main" id="{6181E368-ACC2-41C7-B743-1410BA9A71AF}"/>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7317F812-F729-47ED-8F0D-35836CE631A0}"/>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여러 설비 자료의 통합 분석</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정비 우선순위와 현장 조치 연결</a:t>
            </a:r>
          </a:p>
        </p:txBody>
      </p:sp>
      <p:sp>
        <p:nvSpPr>
          <p:cNvPr id="8" name="">
            <a:extLst xmlns:a="http://schemas.openxmlformats.org/drawingml/2006/main">
              <a:ext uri="{FF2B5EF4-FFF2-40B4-BE49-F238E27FC236}">
                <a16:creationId xmlns:a16="http://schemas.microsoft.com/office/drawing/2014/main" id="{6B4404AE-420A-4808-8423-2509D581A0B1}"/>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5B9902E7-12B1-46A9-89A5-317D99B919FD}"/>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설비별 데이터 품질 차이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권고를 정비 완료로 간주하는 위험</a:t>
            </a:r>
          </a:p>
        </p:txBody>
      </p:sp>
      <p:sp>
        <p:nvSpPr>
          <p:cNvPr id="10" name="">
            <a:extLst xmlns:a="http://schemas.openxmlformats.org/drawingml/2006/main">
              <a:ext uri="{FF2B5EF4-FFF2-40B4-BE49-F238E27FC236}">
                <a16:creationId xmlns:a16="http://schemas.microsoft.com/office/drawing/2014/main" id="{986DAE58-86C3-45D7-9AE3-4E1DA5F24D52}"/>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D740A1A3-FA88-48B4-B8B7-E00D18FC2C67}"/>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누락 설비·중요 결함 별도 평가</a:t>
            </a:r>
          </a:p>
        </p:txBody>
      </p:sp>
      <p:sp>
        <p:nvSpPr>
          <p:cNvPr id="12" name="">
            <a:extLst xmlns:a="http://schemas.openxmlformats.org/drawingml/2006/main">
              <a:ext uri="{FF2B5EF4-FFF2-40B4-BE49-F238E27FC236}">
                <a16:creationId xmlns:a16="http://schemas.microsoft.com/office/drawing/2014/main" id="{EF051ED0-442B-49BE-8115-103A3DB6F092}"/>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5A0ED396-DD87-42C2-8D3F-8AF2216DA9A3}"/>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설비의 여러 관측 신호로 정비 우선순위를 검토</a:t>
            </a:r>
          </a:p>
        </p:txBody>
      </p:sp>
      <p:sp>
        <p:nvSpPr>
          <p:cNvPr id="14" name="">
            <a:extLst xmlns:a="http://schemas.openxmlformats.org/drawingml/2006/main">
              <a:ext uri="{FF2B5EF4-FFF2-40B4-BE49-F238E27FC236}">
                <a16:creationId xmlns:a16="http://schemas.microsoft.com/office/drawing/2014/main" id="{8D956B9A-DD0E-4124-82E2-EC48501BE4C0}"/>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3B199FAD-8076-4238-9632-31D30814230A}"/>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데이터 지연·상충 신호·정비 완료 이력 누락</a:t>
            </a:r>
          </a:p>
        </p:txBody>
      </p:sp>
      <p:sp>
        <p:nvSpPr>
          <p:cNvPr id="16" name="">
            <a:extLst xmlns:a="http://schemas.openxmlformats.org/drawingml/2006/main">
              <a:ext uri="{FF2B5EF4-FFF2-40B4-BE49-F238E27FC236}">
                <a16:creationId xmlns:a16="http://schemas.microsoft.com/office/drawing/2014/main" id="{39A10D96-0954-47F1-AFB7-2AB1A282A275}"/>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C9975D6F-4314-4866-8C0B-D680BE45C165}"/>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우선순위 근거와 현장 확인·정비 결과 대사</a:t>
            </a:r>
          </a:p>
        </p:txBody>
      </p:sp>
    </p:spTree>
    <p:extLst>
      <p:ext uri="{BB962C8B-B14F-4D97-AF65-F5344CB8AC3E}">
        <p14:creationId xmlns:p14="http://schemas.microsoft.com/office/powerpoint/2010/main" val="228093481"/>
      </p:ext>
    </p:extLst>
  </p:cSld>
</p:sld>
</file>

<file path=ppt/slides/slide9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6A8E1B8-588A-4247-BB8E-14159B8EA68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AX19 / 성과 미검증 / 국내</a:t>
            </a:r>
          </a:p>
        </p:txBody>
      </p:sp>
      <p:sp>
        <p:nvSpPr>
          <p:cNvPr id="2" name="">
            <a:extLst xmlns:a="http://schemas.openxmlformats.org/drawingml/2006/main">
              <a:ext uri="{FF2B5EF4-FFF2-40B4-BE49-F238E27FC236}">
                <a16:creationId xmlns:a16="http://schemas.microsoft.com/office/drawing/2014/main" id="{98BD8764-E303-4BBA-BC98-97B99021867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청년농업인 특화 AI 상담</a:t>
            </a:r>
          </a:p>
        </p:txBody>
      </p:sp>
      <p:sp>
        <p:nvSpPr>
          <p:cNvPr id="3" name="">
            <a:extLst xmlns:a="http://schemas.openxmlformats.org/drawingml/2006/main">
              <a:ext uri="{FF2B5EF4-FFF2-40B4-BE49-F238E27FC236}">
                <a16:creationId xmlns:a16="http://schemas.microsoft.com/office/drawing/2014/main" id="{4D91B5D8-6813-4913-918F-526624E4485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49F1CC0-FE4C-4AD3-9C43-7A7E7BE85E2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046789C4-36C7-4192-852E-84890326E5F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98</a:t>
            </a:r>
          </a:p>
        </p:txBody>
      </p:sp>
      <p:sp>
        <p:nvSpPr>
          <p:cNvPr id="6" name="">
            <a:extLst xmlns:a="http://schemas.openxmlformats.org/drawingml/2006/main">
              <a:ext uri="{FF2B5EF4-FFF2-40B4-BE49-F238E27FC236}">
                <a16:creationId xmlns:a16="http://schemas.microsoft.com/office/drawing/2014/main" id="{9295E265-F534-46E9-8875-3A91AA8BC281}"/>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DBF7727C-0A7D-43B1-B261-AD7B65CFF01B}"/>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농업인이 작물·지역·생육 상황에 맞는 전문지식을 찾도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록 지원하는 상담 사례. 범용 질문 답변에 현장 문맥과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전문가 확인을 결합하는 유형.</a:t>
            </a:r>
          </a:p>
        </p:txBody>
      </p:sp>
      <p:sp>
        <p:nvSpPr>
          <p:cNvPr id="8" name="">
            <a:extLst xmlns:a="http://schemas.openxmlformats.org/drawingml/2006/main">
              <a:ext uri="{FF2B5EF4-FFF2-40B4-BE49-F238E27FC236}">
                <a16:creationId xmlns:a16="http://schemas.microsoft.com/office/drawing/2014/main" id="{BA9FB82F-57A7-486D-A559-2F09822E70D3}"/>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0FA39B40-6B83-44CC-9465-AE03A558E5AD}"/>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입력에서 작물·생육단계·지역·문제 상황을 정리한 뒤 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련 기술자료를 검색하고 원문 근거를 안내하는 구조의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재구성. 정보가 부족하거나 지역 예외가 있는 질문은 추</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가 확인·전문가 상담으로 연결.</a:t>
            </a:r>
          </a:p>
        </p:txBody>
      </p:sp>
      <p:sp>
        <p:nvSpPr>
          <p:cNvPr id="10" name="">
            <a:extLst xmlns:a="http://schemas.openxmlformats.org/drawingml/2006/main">
              <a:ext uri="{FF2B5EF4-FFF2-40B4-BE49-F238E27FC236}">
                <a16:creationId xmlns:a16="http://schemas.microsoft.com/office/drawing/2014/main" id="{60D1C435-1FE0-4789-9E01-AF5C4F83385F}"/>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D47AA89B-0139-4194-A973-67A8F79240F2}"/>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업무에는 차량·시설·지역·시행일 등 도메인 문맥을 먼</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저 확보하는 방식으로 현지화. 평균 정답률보다 상황별 오</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류와 전문가 전환율, 실제 업무에 맞는 안내인지의 검토가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중요.</a:t>
            </a:r>
          </a:p>
        </p:txBody>
      </p:sp>
      <p:sp>
        <p:nvSpPr>
          <p:cNvPr id="12" name="">
            <a:extLst xmlns:a="http://schemas.openxmlformats.org/drawingml/2006/main">
              <a:ext uri="{FF2B5EF4-FFF2-40B4-BE49-F238E27FC236}">
                <a16:creationId xmlns:a16="http://schemas.microsoft.com/office/drawing/2014/main" id="{6ABB12B9-0070-4728-8531-DE544CD6A730}"/>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065C8741-28D2-455E-9A6E-DF16E4C490B4}"/>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업종·지역·자격 조건·지원 절차 사전</a:t>
            </a:r>
          </a:p>
        </p:txBody>
      </p:sp>
      <p:sp>
        <p:nvSpPr>
          <p:cNvPr id="14" name="">
            <a:extLst xmlns:a="http://schemas.openxmlformats.org/drawingml/2006/main">
              <a:ext uri="{FF2B5EF4-FFF2-40B4-BE49-F238E27FC236}">
                <a16:creationId xmlns:a16="http://schemas.microsoft.com/office/drawing/2014/main" id="{7BCC3A1F-76AA-4DD6-B845-B7E561A41977}"/>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C85D5AB4-CCFC-447A-81A2-17974D856A76}"/>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업종·지역별 답변 근거와 신청 조건 대조</a:t>
            </a:r>
          </a:p>
        </p:txBody>
      </p:sp>
      <p:sp>
        <p:nvSpPr>
          <p:cNvPr id="16" name="">
            <a:extLst xmlns:a="http://schemas.openxmlformats.org/drawingml/2006/main">
              <a:ext uri="{FF2B5EF4-FFF2-40B4-BE49-F238E27FC236}">
                <a16:creationId xmlns:a16="http://schemas.microsoft.com/office/drawing/2014/main" id="{66CE3EAF-6E0A-4E85-B843-A33CB989A025}"/>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504F7389-245B-41C6-B89F-E983CD070C3E}"/>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정보 탐색시간 / 조건 오안내율</a:t>
            </a:r>
          </a:p>
        </p:txBody>
      </p:sp>
      <p:sp>
        <p:nvSpPr>
          <p:cNvPr id="18" name="">
            <a:extLst xmlns:a="http://schemas.openxmlformats.org/drawingml/2006/main">
              <a:ext uri="{FF2B5EF4-FFF2-40B4-BE49-F238E27FC236}">
                <a16:creationId xmlns:a16="http://schemas.microsoft.com/office/drawing/2014/main" id="{CC81250F-A9B2-4BB9-9C0A-78BD1935E9F1}"/>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기관 실증 사례 수록 · 정착·소득 개선 인과효과 실측과 구분</a:t>
            </a:r>
          </a:p>
        </p:txBody>
      </p:sp>
    </p:spTree>
    <p:extLst>
      <p:ext uri="{BB962C8B-B14F-4D97-AF65-F5344CB8AC3E}">
        <p14:creationId xmlns:p14="http://schemas.microsoft.com/office/powerpoint/2010/main" val="1875089580"/>
      </p:ext>
    </p:extLst>
  </p:cSld>
</p:sld>
</file>

<file path=ppt/slides/slide9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833B62D-7DCA-4B91-A21C-20E41E4984B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AX19 / As-Is → To-Be → 기대효과 → 확인 결과</a:t>
            </a:r>
          </a:p>
        </p:txBody>
      </p:sp>
      <p:sp>
        <p:nvSpPr>
          <p:cNvPr id="2" name="">
            <a:extLst xmlns:a="http://schemas.openxmlformats.org/drawingml/2006/main">
              <a:ext uri="{FF2B5EF4-FFF2-40B4-BE49-F238E27FC236}">
                <a16:creationId xmlns:a16="http://schemas.microsoft.com/office/drawing/2014/main" id="{7C24DF11-1A8A-4E53-AA85-65789BEF505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청년농업인 특화 AI 상담 · 기대와 결과</a:t>
            </a:r>
          </a:p>
        </p:txBody>
      </p:sp>
      <p:sp>
        <p:nvSpPr>
          <p:cNvPr id="3" name="">
            <a:extLst xmlns:a="http://schemas.openxmlformats.org/drawingml/2006/main">
              <a:ext uri="{FF2B5EF4-FFF2-40B4-BE49-F238E27FC236}">
                <a16:creationId xmlns:a16="http://schemas.microsoft.com/office/drawing/2014/main" id="{2449E9AA-A357-4A61-A481-63D292E7F33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8D6A446-1C8D-442B-AC4A-62F6F069524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BD06DF5A-8411-4F85-B37E-6FB29158D07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99</a:t>
            </a:r>
          </a:p>
        </p:txBody>
      </p:sp>
      <p:sp>
        <p:nvSpPr>
          <p:cNvPr id="6" name="">
            <a:extLst xmlns:a="http://schemas.openxmlformats.org/drawingml/2006/main">
              <a:ext uri="{FF2B5EF4-FFF2-40B4-BE49-F238E27FC236}">
                <a16:creationId xmlns:a16="http://schemas.microsoft.com/office/drawing/2014/main" id="{758D4E7A-C367-4EDF-BA9A-8CCE9FF3B772}"/>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E23B35BA-EEB3-4C1F-8BAB-DBC4C0329E9C}"/>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청년농업인이 작물·지역 상황에 맞는 영농 지식을 전문가·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분산 자료에서 탐색</a:t>
            </a:r>
          </a:p>
        </p:txBody>
      </p:sp>
      <p:sp>
        <p:nvSpPr>
          <p:cNvPr id="8" name="">
            <a:extLst xmlns:a="http://schemas.openxmlformats.org/drawingml/2006/main">
              <a:ext uri="{FF2B5EF4-FFF2-40B4-BE49-F238E27FC236}">
                <a16:creationId xmlns:a16="http://schemas.microsoft.com/office/drawing/2014/main" id="{DAF9517E-A511-49C7-9E28-2DB757FAC486}"/>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AC399431-2A82-416B-B4DB-CC18EBD3F013}"/>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농업기술 앱에 위치·작물 맥락을 반영한 AI 상담을 결합</a:t>
            </a:r>
          </a:p>
        </p:txBody>
      </p:sp>
      <p:sp>
        <p:nvSpPr>
          <p:cNvPr id="10" name="">
            <a:extLst xmlns:a="http://schemas.openxmlformats.org/drawingml/2006/main">
              <a:ext uri="{FF2B5EF4-FFF2-40B4-BE49-F238E27FC236}">
                <a16:creationId xmlns:a16="http://schemas.microsoft.com/office/drawing/2014/main" id="{2C49341F-1794-4C37-B692-81D2CD1B61EE}"/>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7306C159-165E-4F5C-9F17-AF8EA6B5569B}"/>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상담 접근성·답변 속도 향상 및 현장 의사결정 지원</a:t>
            </a:r>
          </a:p>
        </p:txBody>
      </p:sp>
      <p:sp>
        <p:nvSpPr>
          <p:cNvPr id="12" name="">
            <a:extLst xmlns:a="http://schemas.openxmlformats.org/drawingml/2006/main">
              <a:ext uri="{FF2B5EF4-FFF2-40B4-BE49-F238E27FC236}">
                <a16:creationId xmlns:a16="http://schemas.microsoft.com/office/drawing/2014/main" id="{B3CE7285-4CCF-448D-9304-ADDFF1A959AB}"/>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A8A3F856-4B07-494F-BD1F-32DF4388909A}"/>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공공 사례집이 전문가·청년농업인 사전 평가와 2025년 2</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월 서비스 개시를 소개</a:t>
            </a:r>
          </a:p>
        </p:txBody>
      </p:sp>
      <p:sp>
        <p:nvSpPr>
          <p:cNvPr id="14" name="">
            <a:extLst xmlns:a="http://schemas.openxmlformats.org/drawingml/2006/main">
              <a:ext uri="{FF2B5EF4-FFF2-40B4-BE49-F238E27FC236}">
                <a16:creationId xmlns:a16="http://schemas.microsoft.com/office/drawing/2014/main" id="{FFA5E5E0-31F8-47BC-B461-6F8A77C68749}"/>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사전 평가·서비스 개시만 확인; 실제 이용률·답변 품질·농가 의사결정 효과의 측정 결과 부재</a:t>
            </a:r>
          </a:p>
        </p:txBody>
      </p:sp>
      <p:sp>
        <p:nvSpPr>
          <p:cNvPr id="15" name="">
            <a:extLst xmlns:a="http://schemas.openxmlformats.org/drawingml/2006/main">
              <a:ext uri="{FF2B5EF4-FFF2-40B4-BE49-F238E27FC236}">
                <a16:creationId xmlns:a16="http://schemas.microsoft.com/office/drawing/2014/main" id="{A9AE717D-A225-4C47-A507-3AA36C1D4002}"/>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정부 실증 사례집·서비스 개시 · 공공 사례집 수록 범위. 원 운영기관의 상세 성과 자료 미확인</a:t>
            </a:r>
          </a:p>
        </p:txBody>
      </p:sp>
    </p:spTree>
    <p:extLst>
      <p:ext uri="{BB962C8B-B14F-4D97-AF65-F5344CB8AC3E}">
        <p14:creationId xmlns:p14="http://schemas.microsoft.com/office/powerpoint/2010/main" val="832452007"/>
      </p:ext>
    </p:extLst>
  </p:cSld>
</p:sld>
</file>

<file path=ppt/slides/slide10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D7859F40-77A7-4F2E-8C01-E8452513137C}"/>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C4F8CA1B-E9C9-4BA2-B9F3-320E7583E928}"/>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454B2B93-BB05-40DA-B692-D9ED1A5D64C3}"/>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932B4F5F-C91B-4A42-8CC1-8027DB7162D5}"/>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5ACB99B3-203E-4268-89B8-51BB3DC104F4}"/>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E55A7E3A-2889-4054-A64D-EA6A30624FCF}"/>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FBEA7577-A036-4629-9097-B39AE997FB69}"/>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7CA86B5B-E17F-40F3-B1FB-A1C9D33592F9}"/>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6FE45465-EE42-4639-91D7-2D87C93A7E72}"/>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50C2B5E2-69CE-482F-ABD9-20FC0B80C03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AX19 / 지식 갱신·검색·근거 응답</a:t>
            </a:r>
          </a:p>
        </p:txBody>
      </p:sp>
      <p:sp>
        <p:nvSpPr>
          <p:cNvPr id="2" name="">
            <a:extLst xmlns:a="http://schemas.openxmlformats.org/drawingml/2006/main">
              <a:ext uri="{FF2B5EF4-FFF2-40B4-BE49-F238E27FC236}">
                <a16:creationId xmlns:a16="http://schemas.microsoft.com/office/drawing/2014/main" id="{FC3ECC39-6BF3-4763-80D0-904EC9FC17A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청년농업인 특화 AI 상담 · 세부 서비스 구조</a:t>
            </a:r>
          </a:p>
        </p:txBody>
      </p:sp>
      <p:sp>
        <p:nvSpPr>
          <p:cNvPr id="3" name="">
            <a:extLst xmlns:a="http://schemas.openxmlformats.org/drawingml/2006/main">
              <a:ext uri="{FF2B5EF4-FFF2-40B4-BE49-F238E27FC236}">
                <a16:creationId xmlns:a16="http://schemas.microsoft.com/office/drawing/2014/main" id="{FE46BBC2-1450-4BE6-BEB8-411D916CE6B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5F563D4-7881-4C61-906B-B831EE4116C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A8041A6-61A1-4ED5-BDB0-F12E7067D05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100</a:t>
            </a:r>
          </a:p>
        </p:txBody>
      </p:sp>
      <p:sp>
        <p:nvSpPr>
          <p:cNvPr id="6" name="">
            <a:extLst xmlns:a="http://schemas.openxmlformats.org/drawingml/2006/main">
              <a:ext uri="{FF2B5EF4-FFF2-40B4-BE49-F238E27FC236}">
                <a16:creationId xmlns:a16="http://schemas.microsoft.com/office/drawing/2014/main" id="{6FE89332-2D18-40F5-9C60-D6B7BEEBDB62}"/>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영농 지식 → 위치·작물 맥락 → 전문 상담 → 현업·이용자 평가</a:t>
            </a:r>
          </a:p>
        </p:txBody>
      </p:sp>
      <p:sp>
        <p:nvSpPr>
          <p:cNvPr id="7" name="">
            <a:extLst xmlns:a="http://schemas.openxmlformats.org/drawingml/2006/main">
              <a:ext uri="{FF2B5EF4-FFF2-40B4-BE49-F238E27FC236}">
                <a16:creationId xmlns:a16="http://schemas.microsoft.com/office/drawing/2014/main" id="{5DF18E3E-1B9E-4E24-B331-34A2C466AED2}"/>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1CC65FAB-75EF-475C-B268-66314004AA13}"/>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B32BE7D1-7625-476D-AADB-6255600AA34B}"/>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기술·상담 자료</a:t>
            </a:r>
          </a:p>
        </p:txBody>
      </p:sp>
      <p:sp>
        <p:nvSpPr>
          <p:cNvPr id="10" name="">
            <a:extLst xmlns:a="http://schemas.openxmlformats.org/drawingml/2006/main">
              <a:ext uri="{FF2B5EF4-FFF2-40B4-BE49-F238E27FC236}">
                <a16:creationId xmlns:a16="http://schemas.microsoft.com/office/drawing/2014/main" id="{960E4257-9A9A-46DA-ABBD-F6A2CB6E6DA8}"/>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762B3839-AECA-4D96-93CB-E81D4CC1B578}"/>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ABEC9665-6149-4C2E-A4C6-D608D3064CB2}"/>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작물·지역 태깅</a:t>
            </a:r>
          </a:p>
        </p:txBody>
      </p:sp>
      <p:sp>
        <p:nvSpPr>
          <p:cNvPr id="13" name="">
            <a:extLst xmlns:a="http://schemas.openxmlformats.org/drawingml/2006/main">
              <a:ext uri="{FF2B5EF4-FFF2-40B4-BE49-F238E27FC236}">
                <a16:creationId xmlns:a16="http://schemas.microsoft.com/office/drawing/2014/main" id="{D8CAB6D9-5C4C-4F58-9D93-B136C998F463}"/>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97D1041C-8372-4534-84DF-638E18CE3226}"/>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68A82FDA-A513-4943-B5CA-1302F000DE2E}"/>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문서·평가셋</a:t>
            </a:r>
          </a:p>
        </p:txBody>
      </p:sp>
      <p:sp>
        <p:nvSpPr>
          <p:cNvPr id="16" name="">
            <a:extLst xmlns:a="http://schemas.openxmlformats.org/drawingml/2006/main">
              <a:ext uri="{FF2B5EF4-FFF2-40B4-BE49-F238E27FC236}">
                <a16:creationId xmlns:a16="http://schemas.microsoft.com/office/drawing/2014/main" id="{1DD04EE1-2346-460C-861C-1750DD7F44A5}"/>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83FE0FA0-1E4F-4F2A-9131-130C817E880F}"/>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B61C7A9F-59E0-4AF3-A97E-1BDC36D3FAE9}"/>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농업 지식 검색</a:t>
            </a:r>
          </a:p>
        </p:txBody>
      </p:sp>
      <p:sp>
        <p:nvSpPr>
          <p:cNvPr id="19" name="">
            <a:extLst xmlns:a="http://schemas.openxmlformats.org/drawingml/2006/main">
              <a:ext uri="{FF2B5EF4-FFF2-40B4-BE49-F238E27FC236}">
                <a16:creationId xmlns:a16="http://schemas.microsoft.com/office/drawing/2014/main" id="{86542598-E8BC-46BB-9FB0-AFDC7E11930B}"/>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B71FBD28-79BA-4285-B83D-D7560929CE07}"/>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A4129597-A720-4970-9079-26CB3213835C}"/>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영농 질의 접점</a:t>
            </a:r>
          </a:p>
        </p:txBody>
      </p:sp>
      <p:sp>
        <p:nvSpPr>
          <p:cNvPr id="22" name="">
            <a:extLst xmlns:a="http://schemas.openxmlformats.org/drawingml/2006/main">
              <a:ext uri="{FF2B5EF4-FFF2-40B4-BE49-F238E27FC236}">
                <a16:creationId xmlns:a16="http://schemas.microsoft.com/office/drawing/2014/main" id="{968E5F64-B16B-4534-B0F8-7B743F9F7F1A}"/>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1D441BC7-4464-477A-906D-B6B1D8A4D2F0}"/>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A91A3852-0153-4CD8-AF7C-B20A628C2C9C}"/>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작물·생육단계</a:t>
            </a:r>
          </a:p>
        </p:txBody>
      </p:sp>
      <p:sp>
        <p:nvSpPr>
          <p:cNvPr id="25" name="">
            <a:extLst xmlns:a="http://schemas.openxmlformats.org/drawingml/2006/main">
              <a:ext uri="{FF2B5EF4-FFF2-40B4-BE49-F238E27FC236}">
                <a16:creationId xmlns:a16="http://schemas.microsoft.com/office/drawing/2014/main" id="{52A34CB7-E3FE-4B9E-8CA0-082F2C83E7AA}"/>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9BDCC351-DBC1-4BB4-84F5-DC811D6F2B71}"/>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D744C179-E7A9-4CC7-B2B0-AAB376B3912D}"/>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맥락형 상담 생성</a:t>
            </a:r>
          </a:p>
        </p:txBody>
      </p:sp>
      <p:sp>
        <p:nvSpPr>
          <p:cNvPr id="28" name="">
            <a:extLst xmlns:a="http://schemas.openxmlformats.org/drawingml/2006/main">
              <a:ext uri="{FF2B5EF4-FFF2-40B4-BE49-F238E27FC236}">
                <a16:creationId xmlns:a16="http://schemas.microsoft.com/office/drawing/2014/main" id="{015EC834-7308-4E13-BDB1-2B24EA11FC39}"/>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31354197-697B-4B6F-A79F-02C6D975ADFE}"/>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4CC9C01B-526B-4ED2-996B-DC1092DE2AB5}"/>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지역·상황 대조</a:t>
            </a:r>
          </a:p>
        </p:txBody>
      </p:sp>
      <p:sp>
        <p:nvSpPr>
          <p:cNvPr id="31" name="">
            <a:extLst xmlns:a="http://schemas.openxmlformats.org/drawingml/2006/main">
              <a:ext uri="{FF2B5EF4-FFF2-40B4-BE49-F238E27FC236}">
                <a16:creationId xmlns:a16="http://schemas.microsoft.com/office/drawing/2014/main" id="{3313CB2F-52E9-44A3-87A2-B46F3278F572}"/>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E6543432-F3C1-4A5B-BCDA-5C88B0A07E0C}"/>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63970ABB-06B7-4DB9-B59C-A19E7DE21EC9}"/>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전문가 확인</a:t>
            </a:r>
          </a:p>
        </p:txBody>
      </p:sp>
      <p:sp>
        <p:nvSpPr>
          <p:cNvPr id="34" name="">
            <a:extLst xmlns:a="http://schemas.openxmlformats.org/drawingml/2006/main">
              <a:ext uri="{FF2B5EF4-FFF2-40B4-BE49-F238E27FC236}">
                <a16:creationId xmlns:a16="http://schemas.microsoft.com/office/drawing/2014/main" id="{F6CC37C4-6194-4582-85BD-3FD2125908C5}"/>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8C7A3C6E-FFEF-4BEA-A3C5-9A32C72B3805}"/>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F3C7DA48-8168-462D-9F74-3468B7259162}"/>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원문·상담 연결</a:t>
            </a:r>
          </a:p>
        </p:txBody>
      </p:sp>
      <p:sp>
        <p:nvSpPr>
          <p:cNvPr id="46" name="">
            <a:extLst xmlns:a="http://schemas.openxmlformats.org/drawingml/2006/main">
              <a:ext uri="{FF2B5EF4-FFF2-40B4-BE49-F238E27FC236}">
                <a16:creationId xmlns:a16="http://schemas.microsoft.com/office/drawing/2014/main" id="{313883BA-100F-40E2-BB51-17782D348A48}"/>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266993451"/>
      </p:ext>
    </p:extLst>
  </p:cSld>
</p:sld>
</file>

<file path=ppt/slides/slide10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C759807D-F839-4CEC-AA9B-A0D91316B2D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AX19 / 논리 인터페이스·복구 설계</a:t>
            </a:r>
          </a:p>
        </p:txBody>
      </p:sp>
      <p:sp>
        <p:nvSpPr>
          <p:cNvPr id="2" name="">
            <a:extLst xmlns:a="http://schemas.openxmlformats.org/drawingml/2006/main">
              <a:ext uri="{FF2B5EF4-FFF2-40B4-BE49-F238E27FC236}">
                <a16:creationId xmlns:a16="http://schemas.microsoft.com/office/drawing/2014/main" id="{F5C1D34B-82F6-4DE8-8EB4-46DFA57F413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청년농업인 특화 AI 상담 · 데이터와 예외 처리</a:t>
            </a:r>
          </a:p>
        </p:txBody>
      </p:sp>
      <p:sp>
        <p:nvSpPr>
          <p:cNvPr id="3" name="">
            <a:extLst xmlns:a="http://schemas.openxmlformats.org/drawingml/2006/main">
              <a:ext uri="{FF2B5EF4-FFF2-40B4-BE49-F238E27FC236}">
                <a16:creationId xmlns:a16="http://schemas.microsoft.com/office/drawing/2014/main" id="{731B8B83-B077-49DA-BCA4-3D247BDE682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3D5516F-0796-4C3A-B3DA-86A13089D92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28234BD-C86A-43C8-BA2C-8DEE39352F5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101</a:t>
            </a:r>
          </a:p>
        </p:txBody>
      </p:sp>
      <p:sp>
        <p:nvSpPr>
          <p:cNvPr id="6" name="">
            <a:extLst xmlns:a="http://schemas.openxmlformats.org/drawingml/2006/main">
              <a:ext uri="{FF2B5EF4-FFF2-40B4-BE49-F238E27FC236}">
                <a16:creationId xmlns:a16="http://schemas.microsoft.com/office/drawing/2014/main" id="{DDAFBDCB-9724-459D-95FA-246FCF632D75}"/>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76719DC9-B215-4FB2-B540-6592FBD52BB7}"/>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B2EDE7E7-E0AC-4A83-BF91-CE182D07E3CE}"/>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AF02CD69-10C8-4CA0-96B3-EAC39747D3F3}"/>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영농 지식</a:t>
            </a:r>
          </a:p>
        </p:txBody>
      </p:sp>
      <p:sp>
        <p:nvSpPr>
          <p:cNvPr id="10" name="">
            <a:extLst xmlns:a="http://schemas.openxmlformats.org/drawingml/2006/main">
              <a:ext uri="{FF2B5EF4-FFF2-40B4-BE49-F238E27FC236}">
                <a16:creationId xmlns:a16="http://schemas.microsoft.com/office/drawing/2014/main" id="{3F7B743F-748A-4401-BB35-01C55C67BBC2}"/>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EE1563D-40E8-41C1-97A1-245E26DA3892}"/>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AAB8AEC2-6A00-44AD-95DC-E7E4EADF483F}"/>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92DE6241-4D35-47BC-81A7-3AC4F830EE2C}"/>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4D0A7B1-8CAA-4C6B-9CD5-40777C1D902F}"/>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8D9672D7-8551-4865-B6B3-922929E38861}"/>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작물·지역·생육단계·문제 상황 확인</a:t>
            </a:r>
          </a:p>
        </p:txBody>
      </p:sp>
      <p:sp>
        <p:nvSpPr>
          <p:cNvPr id="16" name="">
            <a:extLst xmlns:a="http://schemas.openxmlformats.org/drawingml/2006/main">
              <a:ext uri="{FF2B5EF4-FFF2-40B4-BE49-F238E27FC236}">
                <a16:creationId xmlns:a16="http://schemas.microsoft.com/office/drawing/2014/main" id="{464D946D-2522-416C-8946-31696061F4EC}"/>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F2D9B39-F7B6-4789-9507-02759065A5EE}"/>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CE6BF4CC-E2E5-4790-A722-F3F35FE7F600}"/>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조건별 근거 일치와 전문가 전환 판정표</a:t>
            </a:r>
          </a:p>
        </p:txBody>
      </p:sp>
      <p:sp>
        <p:nvSpPr>
          <p:cNvPr id="19" name="">
            <a:extLst xmlns:a="http://schemas.openxmlformats.org/drawingml/2006/main">
              <a:ext uri="{FF2B5EF4-FFF2-40B4-BE49-F238E27FC236}">
                <a16:creationId xmlns:a16="http://schemas.microsoft.com/office/drawing/2014/main" id="{EE731C35-7606-4047-B974-C056BB5DCC11}"/>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90356E4D-01AE-457E-BEFA-073F1BE379D0}"/>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45F6EC74-6D07-485B-9136-12B87B184DC8}"/>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관련 영농 근거</a:t>
            </a:r>
          </a:p>
        </p:txBody>
      </p:sp>
      <p:sp>
        <p:nvSpPr>
          <p:cNvPr id="22" name="">
            <a:extLst xmlns:a="http://schemas.openxmlformats.org/drawingml/2006/main">
              <a:ext uri="{FF2B5EF4-FFF2-40B4-BE49-F238E27FC236}">
                <a16:creationId xmlns:a16="http://schemas.microsoft.com/office/drawing/2014/main" id="{1EF03CFA-455B-47D8-BF61-DD7A57C6A0A9}"/>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8F5D521-9B99-4BF8-B1BB-6C6146B7D6BE}"/>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960AA0DC-0299-45DE-90F0-FFAAB87B4A12}"/>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상담 답변</a:t>
            </a:r>
          </a:p>
        </p:txBody>
      </p:sp>
      <p:sp>
        <p:nvSpPr>
          <p:cNvPr id="25" name="">
            <a:extLst xmlns:a="http://schemas.openxmlformats.org/drawingml/2006/main">
              <a:ext uri="{FF2B5EF4-FFF2-40B4-BE49-F238E27FC236}">
                <a16:creationId xmlns:a16="http://schemas.microsoft.com/office/drawing/2014/main" id="{ACF45176-4C58-4E1C-9EA1-D791456C9FA2}"/>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43EDB102-7BED-4C40-A2A9-09CC6871E763}"/>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다른 작물 지침·증상 누락·전문가 판단이 필요한 요청</a:t>
            </a:r>
          </a:p>
        </p:txBody>
      </p:sp>
      <p:sp>
        <p:nvSpPr>
          <p:cNvPr id="27" name="">
            <a:extLst xmlns:a="http://schemas.openxmlformats.org/drawingml/2006/main">
              <a:ext uri="{FF2B5EF4-FFF2-40B4-BE49-F238E27FC236}">
                <a16:creationId xmlns:a16="http://schemas.microsoft.com/office/drawing/2014/main" id="{F987DAEA-AC42-402A-A99B-61353DB2EF6B}"/>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43A6B9FE-73B0-4713-8B5D-974768437AA8}"/>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지역·작물별 정답 및 전문가 전환</a:t>
            </a:r>
          </a:p>
        </p:txBody>
      </p:sp>
      <p:sp>
        <p:nvSpPr>
          <p:cNvPr id="29" name="">
            <a:extLst xmlns:a="http://schemas.openxmlformats.org/drawingml/2006/main">
              <a:ext uri="{FF2B5EF4-FFF2-40B4-BE49-F238E27FC236}">
                <a16:creationId xmlns:a16="http://schemas.microsoft.com/office/drawing/2014/main" id="{2FF09A94-6A94-4CF1-9C62-4F454B4A626B}"/>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03D0FB38-B443-4E79-A2AE-59D7645AD8D4}"/>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작물·상황별 오답과 현장 적용성 검토</a:t>
            </a:r>
          </a:p>
        </p:txBody>
      </p:sp>
      <p:sp>
        <p:nvSpPr>
          <p:cNvPr id="31" name="">
            <a:extLst xmlns:a="http://schemas.openxmlformats.org/drawingml/2006/main">
              <a:ext uri="{FF2B5EF4-FFF2-40B4-BE49-F238E27FC236}">
                <a16:creationId xmlns:a16="http://schemas.microsoft.com/office/drawing/2014/main" id="{38C7B376-8C61-4A1A-BD3C-5443AE7C3B4C}"/>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773FE9EC-F924-4BD9-9CF8-AB9D9DBF9DCD}"/>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조건별 근거 일치와 전문가 전환 판정표</a:t>
            </a:r>
          </a:p>
        </p:txBody>
      </p:sp>
    </p:spTree>
    <p:extLst>
      <p:ext uri="{BB962C8B-B14F-4D97-AF65-F5344CB8AC3E}">
        <p14:creationId xmlns:p14="http://schemas.microsoft.com/office/powerpoint/2010/main" val="1564796238"/>
      </p:ext>
    </p:extLst>
  </p:cSld>
</p:sld>
</file>

<file path=ppt/slides/slide10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81B8123-25AC-4A52-BE2A-F268BE8DCBB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AX19 / CCK 비교·재현 시험 설계</a:t>
            </a:r>
          </a:p>
        </p:txBody>
      </p:sp>
      <p:sp>
        <p:nvSpPr>
          <p:cNvPr id="2" name="">
            <a:extLst xmlns:a="http://schemas.openxmlformats.org/drawingml/2006/main">
              <a:ext uri="{FF2B5EF4-FFF2-40B4-BE49-F238E27FC236}">
                <a16:creationId xmlns:a16="http://schemas.microsoft.com/office/drawing/2014/main" id="{F9576B07-19FE-4F3E-978C-689F33187B4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청년농업인 특화 AI 상담 · 벤치마킹</a:t>
            </a:r>
          </a:p>
        </p:txBody>
      </p:sp>
      <p:sp>
        <p:nvSpPr>
          <p:cNvPr id="3" name="">
            <a:extLst xmlns:a="http://schemas.openxmlformats.org/drawingml/2006/main">
              <a:ext uri="{FF2B5EF4-FFF2-40B4-BE49-F238E27FC236}">
                <a16:creationId xmlns:a16="http://schemas.microsoft.com/office/drawing/2014/main" id="{8A07395B-BFEE-44E9-9608-0F29959FB47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BAE3E7B-494C-4625-8C30-388AA1F8F2A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517A208-5F69-46B7-A212-85CEA2CF5E0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102</a:t>
            </a:r>
          </a:p>
        </p:txBody>
      </p:sp>
      <p:sp>
        <p:nvSpPr>
          <p:cNvPr id="6" name="">
            <a:extLst xmlns:a="http://schemas.openxmlformats.org/drawingml/2006/main">
              <a:ext uri="{FF2B5EF4-FFF2-40B4-BE49-F238E27FC236}">
                <a16:creationId xmlns:a16="http://schemas.microsoft.com/office/drawing/2014/main" id="{6D880655-296A-4798-94DC-AA589FE791A7}"/>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A553E720-E744-44E2-9496-B9EF0B8457D9}"/>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작물·위치 맥락의 전문 지식 연결</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전문가·이용자 사전 평가</a:t>
            </a:r>
          </a:p>
        </p:txBody>
      </p:sp>
      <p:sp>
        <p:nvSpPr>
          <p:cNvPr id="8" name="">
            <a:extLst xmlns:a="http://schemas.openxmlformats.org/drawingml/2006/main">
              <a:ext uri="{FF2B5EF4-FFF2-40B4-BE49-F238E27FC236}">
                <a16:creationId xmlns:a16="http://schemas.microsoft.com/office/drawing/2014/main" id="{766C15D9-D170-484C-A8C5-6429428B4D99}"/>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9791499E-10A5-4821-8505-12023C36B985}"/>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지역·생육환경 예외</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상담 답변과 현장 적합성의 간극</a:t>
            </a:r>
          </a:p>
        </p:txBody>
      </p:sp>
      <p:sp>
        <p:nvSpPr>
          <p:cNvPr id="10" name="">
            <a:extLst xmlns:a="http://schemas.openxmlformats.org/drawingml/2006/main">
              <a:ext uri="{FF2B5EF4-FFF2-40B4-BE49-F238E27FC236}">
                <a16:creationId xmlns:a16="http://schemas.microsoft.com/office/drawing/2014/main" id="{A777495E-0D36-431A-89C8-B5A3D227CE1F}"/>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D846E683-B19D-42D6-B7C2-0535816CDD66}"/>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지역·작물별 정답 및 전문가 전환</a:t>
            </a:r>
          </a:p>
        </p:txBody>
      </p:sp>
      <p:sp>
        <p:nvSpPr>
          <p:cNvPr id="12" name="">
            <a:extLst xmlns:a="http://schemas.openxmlformats.org/drawingml/2006/main">
              <a:ext uri="{FF2B5EF4-FFF2-40B4-BE49-F238E27FC236}">
                <a16:creationId xmlns:a16="http://schemas.microsoft.com/office/drawing/2014/main" id="{3E46BA73-FE3A-4D66-983D-C0B2F84BB53C}"/>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26E27296-F8B6-4C25-B029-A389A0C170FC}"/>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작물·지역·생육단계에 맞는 기술 지식 안내</a:t>
            </a:r>
          </a:p>
        </p:txBody>
      </p:sp>
      <p:sp>
        <p:nvSpPr>
          <p:cNvPr id="14" name="">
            <a:extLst xmlns:a="http://schemas.openxmlformats.org/drawingml/2006/main">
              <a:ext uri="{FF2B5EF4-FFF2-40B4-BE49-F238E27FC236}">
                <a16:creationId xmlns:a16="http://schemas.microsoft.com/office/drawing/2014/main" id="{3F6CDF2F-A127-42FF-8F4D-AB41035E5348}"/>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FC384453-3EB3-4692-92D4-D30E9D9E33AF}"/>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다른 작물 지침·증상 누락·전문가 판단이 필요한 요</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청</a:t>
            </a:r>
          </a:p>
        </p:txBody>
      </p:sp>
      <p:sp>
        <p:nvSpPr>
          <p:cNvPr id="16" name="">
            <a:extLst xmlns:a="http://schemas.openxmlformats.org/drawingml/2006/main">
              <a:ext uri="{FF2B5EF4-FFF2-40B4-BE49-F238E27FC236}">
                <a16:creationId xmlns:a16="http://schemas.microsoft.com/office/drawing/2014/main" id="{6A918030-FB00-4FE7-A657-E834D00B4FC9}"/>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8A0E3400-0230-4E8F-8114-DE7CE8294C1B}"/>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조건별 근거 일치와 전문가 전환 판정표</a:t>
            </a:r>
          </a:p>
        </p:txBody>
      </p:sp>
    </p:spTree>
    <p:extLst>
      <p:ext uri="{BB962C8B-B14F-4D97-AF65-F5344CB8AC3E}">
        <p14:creationId xmlns:p14="http://schemas.microsoft.com/office/powerpoint/2010/main" val="1839313141"/>
      </p:ext>
    </p:extLst>
  </p:cSld>
</p:sld>
</file>

<file path=ppt/slides/slide10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6246B85-837B-4A51-8FD1-18376622E2E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AX20 / 성과 미검증 / 국내</a:t>
            </a:r>
          </a:p>
        </p:txBody>
      </p:sp>
      <p:sp>
        <p:nvSpPr>
          <p:cNvPr id="2" name="">
            <a:extLst xmlns:a="http://schemas.openxmlformats.org/drawingml/2006/main">
              <a:ext uri="{FF2B5EF4-FFF2-40B4-BE49-F238E27FC236}">
                <a16:creationId xmlns:a16="http://schemas.microsoft.com/office/drawing/2014/main" id="{6486B91E-7B36-420D-83C9-9A6A2E7276A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K-인파관리지원시스템</a:t>
            </a:r>
          </a:p>
        </p:txBody>
      </p:sp>
      <p:sp>
        <p:nvSpPr>
          <p:cNvPr id="3" name="">
            <a:extLst xmlns:a="http://schemas.openxmlformats.org/drawingml/2006/main">
              <a:ext uri="{FF2B5EF4-FFF2-40B4-BE49-F238E27FC236}">
                <a16:creationId xmlns:a16="http://schemas.microsoft.com/office/drawing/2014/main" id="{3D6C6629-F4C2-4DDB-B300-A21058E76F3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E46EEF5-015A-4BEA-8A6D-AA800ECAE38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B201D521-6250-405D-A7E2-D6A48916669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103</a:t>
            </a:r>
          </a:p>
        </p:txBody>
      </p:sp>
      <p:sp>
        <p:nvSpPr>
          <p:cNvPr id="6" name="">
            <a:extLst xmlns:a="http://schemas.openxmlformats.org/drawingml/2006/main">
              <a:ext uri="{FF2B5EF4-FFF2-40B4-BE49-F238E27FC236}">
                <a16:creationId xmlns:a16="http://schemas.microsoft.com/office/drawing/2014/main" id="{70674B43-58F1-49A7-9AA2-7C8FEB934E97}"/>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C1085E15-E935-4BE3-941F-DF3DBCE5F972}"/>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유동인구와 공간정보를 결합해 밀집 위험을 상황실과 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장 대응부서에 전달하는 사례. 추정 밀집도와 실제 현장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상태를 확인하는 조직적 대응이 결합된 구조.</a:t>
            </a:r>
          </a:p>
        </p:txBody>
      </p:sp>
      <p:sp>
        <p:nvSpPr>
          <p:cNvPr id="8" name="">
            <a:extLst xmlns:a="http://schemas.openxmlformats.org/drawingml/2006/main">
              <a:ext uri="{FF2B5EF4-FFF2-40B4-BE49-F238E27FC236}">
                <a16:creationId xmlns:a16="http://schemas.microsoft.com/office/drawing/2014/main" id="{27064396-8207-47E5-A844-03806F54C042}"/>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3260719C-FCD4-4119-B30F-84CEAF682309}"/>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시간·구역·행사 맥락에 따라 집계 자료를 정합화하고 GI</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S 상황판과 경보를 생성하는 재구성. 경보 발생, 상황실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확인, 현장 출동·통제, 결과 보고를 별도 상태로 연결.</a:t>
            </a:r>
          </a:p>
        </p:txBody>
      </p:sp>
      <p:sp>
        <p:nvSpPr>
          <p:cNvPr id="10" name="">
            <a:extLst xmlns:a="http://schemas.openxmlformats.org/drawingml/2006/main">
              <a:ext uri="{FF2B5EF4-FFF2-40B4-BE49-F238E27FC236}">
                <a16:creationId xmlns:a16="http://schemas.microsoft.com/office/drawing/2014/main" id="{7E9E6C83-2D85-45CC-9E38-B812A1520D7E}"/>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7F1BD6E1-A5A1-47C7-9EFD-2578B1D5B9AF}"/>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교통·시설 안전 적용에서 집계 공간 단위와 관측 편차</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를 먼저 확인할 필요. 오경보·미탐 외에 알림 수신·확인·대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응까지 걸린 시간과 담당 부서의 인계 누락을 검수할 대상</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a:t>
            </a:r>
          </a:p>
        </p:txBody>
      </p:sp>
      <p:sp>
        <p:nvSpPr>
          <p:cNvPr id="12" name="">
            <a:extLst xmlns:a="http://schemas.openxmlformats.org/drawingml/2006/main">
              <a:ext uri="{FF2B5EF4-FFF2-40B4-BE49-F238E27FC236}">
                <a16:creationId xmlns:a16="http://schemas.microsoft.com/office/drawing/2014/main" id="{BFC126BA-B19F-402F-806A-C957F2ED4A41}"/>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04F0D470-9E7E-4856-A363-42BCFD955880}"/>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장소·시간·단계·담당 기관 매핑</a:t>
            </a:r>
          </a:p>
        </p:txBody>
      </p:sp>
      <p:sp>
        <p:nvSpPr>
          <p:cNvPr id="14" name="">
            <a:extLst xmlns:a="http://schemas.openxmlformats.org/drawingml/2006/main">
              <a:ext uri="{FF2B5EF4-FFF2-40B4-BE49-F238E27FC236}">
                <a16:creationId xmlns:a16="http://schemas.microsoft.com/office/drawing/2014/main" id="{0FAE4C49-7E87-4497-AC86-7BC71FA210E4}"/>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B3041B6C-8C54-4F5F-B231-0EDF63B0F874}"/>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자료 지연·경계 지역·알림 미수신 시험</a:t>
            </a:r>
          </a:p>
        </p:txBody>
      </p:sp>
      <p:sp>
        <p:nvSpPr>
          <p:cNvPr id="16" name="">
            <a:extLst xmlns:a="http://schemas.openxmlformats.org/drawingml/2006/main">
              <a:ext uri="{FF2B5EF4-FFF2-40B4-BE49-F238E27FC236}">
                <a16:creationId xmlns:a16="http://schemas.microsoft.com/office/drawing/2014/main" id="{228C2521-D398-4EEA-8CA3-6E74996EC2D8}"/>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0F45D20A-302E-4113-882E-6B07C05E2FED}"/>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상황 전파시간 / 조치 누락률</a:t>
            </a:r>
          </a:p>
        </p:txBody>
      </p:sp>
      <p:sp>
        <p:nvSpPr>
          <p:cNvPr id="18" name="">
            <a:extLst xmlns:a="http://schemas.openxmlformats.org/drawingml/2006/main">
              <a:ext uri="{FF2B5EF4-FFF2-40B4-BE49-F238E27FC236}">
                <a16:creationId xmlns:a16="http://schemas.microsoft.com/office/drawing/2014/main" id="{A916195C-3D17-4C9D-9DA2-00F2D2260F3C}"/>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데이터 분석 운영 사례 · 생성형 AI 아님 · 사고 감소 인과효과 별도</a:t>
            </a:r>
          </a:p>
        </p:txBody>
      </p:sp>
    </p:spTree>
    <p:extLst>
      <p:ext uri="{BB962C8B-B14F-4D97-AF65-F5344CB8AC3E}">
        <p14:creationId xmlns:p14="http://schemas.microsoft.com/office/powerpoint/2010/main" val="2108169369"/>
      </p:ext>
    </p:extLst>
  </p:cSld>
</p:sld>
</file>

<file path=ppt/slides/slide10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8711A33-E231-40B5-BF17-5983EA514B7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AX20 / As-Is → To-Be → 기대효과 → 확인 결과</a:t>
            </a:r>
          </a:p>
        </p:txBody>
      </p:sp>
      <p:sp>
        <p:nvSpPr>
          <p:cNvPr id="2" name="">
            <a:extLst xmlns:a="http://schemas.openxmlformats.org/drawingml/2006/main">
              <a:ext uri="{FF2B5EF4-FFF2-40B4-BE49-F238E27FC236}">
                <a16:creationId xmlns:a16="http://schemas.microsoft.com/office/drawing/2014/main" id="{D143E199-3313-4F51-B751-5D927D00D6E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K-인파관리지원시스템 · 기대와 결과</a:t>
            </a:r>
          </a:p>
        </p:txBody>
      </p:sp>
      <p:sp>
        <p:nvSpPr>
          <p:cNvPr id="3" name="">
            <a:extLst xmlns:a="http://schemas.openxmlformats.org/drawingml/2006/main">
              <a:ext uri="{FF2B5EF4-FFF2-40B4-BE49-F238E27FC236}">
                <a16:creationId xmlns:a16="http://schemas.microsoft.com/office/drawing/2014/main" id="{053A22C9-EA83-4518-8FBB-2D28D23EE49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714C32D-EA96-4D23-A71A-2071049787E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BE8BF2B9-6E2C-448A-8885-B2E500124C8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104</a:t>
            </a:r>
          </a:p>
        </p:txBody>
      </p:sp>
      <p:sp>
        <p:nvSpPr>
          <p:cNvPr id="6" name="">
            <a:extLst xmlns:a="http://schemas.openxmlformats.org/drawingml/2006/main">
              <a:ext uri="{FF2B5EF4-FFF2-40B4-BE49-F238E27FC236}">
                <a16:creationId xmlns:a16="http://schemas.microsoft.com/office/drawing/2014/main" id="{E5F7B65E-0C2B-40D7-9DD1-67CCF69A7E7C}"/>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D08CFFF4-809C-4780-9D19-142C0C7FB04F}"/>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인파 밀집 정보를 지역·시점별로 모아 지자체가 실시간 확</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인하기 어려움</a:t>
            </a:r>
          </a:p>
        </p:txBody>
      </p:sp>
      <p:sp>
        <p:nvSpPr>
          <p:cNvPr id="8" name="">
            <a:extLst xmlns:a="http://schemas.openxmlformats.org/drawingml/2006/main">
              <a:ext uri="{FF2B5EF4-FFF2-40B4-BE49-F238E27FC236}">
                <a16:creationId xmlns:a16="http://schemas.microsoft.com/office/drawing/2014/main" id="{AFC51397-90ED-4E0E-AF67-6C5FD8CE0AE6}"/>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C883A09E-CE83-4C29-9DB3-ADA41C6010C4}"/>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유동인구·공간정보를 분석해 GIS 상황판과 위험 알림 제</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a:t>
            </a:r>
          </a:p>
        </p:txBody>
      </p:sp>
      <p:sp>
        <p:nvSpPr>
          <p:cNvPr id="10" name="">
            <a:extLst xmlns:a="http://schemas.openxmlformats.org/drawingml/2006/main">
              <a:ext uri="{FF2B5EF4-FFF2-40B4-BE49-F238E27FC236}">
                <a16:creationId xmlns:a16="http://schemas.microsoft.com/office/drawing/2014/main" id="{BB584BE0-C8E8-48D4-96BB-11CC1DD4056C}"/>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679671A5-FAB4-4737-9FA8-7643EC686123}"/>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군중 밀집 조기 인지와 현장 조치 시간 단축</a:t>
            </a:r>
          </a:p>
        </p:txBody>
      </p:sp>
      <p:sp>
        <p:nvSpPr>
          <p:cNvPr id="12" name="">
            <a:extLst xmlns:a="http://schemas.openxmlformats.org/drawingml/2006/main">
              <a:ext uri="{FF2B5EF4-FFF2-40B4-BE49-F238E27FC236}">
                <a16:creationId xmlns:a16="http://schemas.microsoft.com/office/drawing/2014/main" id="{5CC0C923-12D2-420B-91CC-43A1259612F6}"/>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7718A6AA-83FB-425E-981C-F771A294D83F}"/>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공공 사례집이 K-인파관리지원시스템의 구축·상황판 운영</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을 소개</a:t>
            </a:r>
          </a:p>
        </p:txBody>
      </p:sp>
      <p:sp>
        <p:nvSpPr>
          <p:cNvPr id="14" name="">
            <a:extLst xmlns:a="http://schemas.openxmlformats.org/drawingml/2006/main">
              <a:ext uri="{FF2B5EF4-FFF2-40B4-BE49-F238E27FC236}">
                <a16:creationId xmlns:a16="http://schemas.microsoft.com/office/drawing/2014/main" id="{B792B552-1B46-43A7-B888-2EDF7CB2B420}"/>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상황판 제공은 확인되나 위험 감지 정확도·현장 조치시간·사고 감소의 측정 결과 부재</a:t>
            </a:r>
          </a:p>
        </p:txBody>
      </p:sp>
      <p:sp>
        <p:nvSpPr>
          <p:cNvPr id="15" name="">
            <a:extLst xmlns:a="http://schemas.openxmlformats.org/drawingml/2006/main">
              <a:ext uri="{FF2B5EF4-FFF2-40B4-BE49-F238E27FC236}">
                <a16:creationId xmlns:a16="http://schemas.microsoft.com/office/drawing/2014/main" id="{05CB5B57-6EB9-4F9E-AD01-B1EBC1670956}"/>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정부 구축·운영 사례집 · 데이터 분석 시스템. 생성형 AI 도입이나 사고 예방 인과성과로 확대 불가</a:t>
            </a:r>
          </a:p>
        </p:txBody>
      </p:sp>
    </p:spTree>
    <p:extLst>
      <p:ext uri="{BB962C8B-B14F-4D97-AF65-F5344CB8AC3E}">
        <p14:creationId xmlns:p14="http://schemas.microsoft.com/office/powerpoint/2010/main" val="1236597938"/>
      </p:ext>
    </p:extLst>
  </p:cSld>
</p:sld>
</file>

<file path=ppt/slides/slide10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6" name="">
            <a:extLst xmlns:a="http://schemas.openxmlformats.org/drawingml/2006/main">
              <a:ext uri="{FF2B5EF4-FFF2-40B4-BE49-F238E27FC236}">
                <a16:creationId xmlns:a16="http://schemas.microsoft.com/office/drawing/2014/main" id="{E7716078-FCEC-49E1-9B3A-5E636F62BE4A}"/>
              </a:ext>
            </a:extLst>
          </p:cNvPr>
          <p:cNvCxnSpPr>
            <a:stCxn xmlns:a="http://schemas.openxmlformats.org/drawingml/2006/main" id="34" idx="1"/>
            <a:endCxn xmlns:a="http://schemas.openxmlformats.org/drawingml/2006/main" id="13" idx="3"/>
          </p:cNvCxnSpPr>
          <p:nvPr/>
        </p:nvCxnSpPr>
        <p:spPr>
          <a:xfrm xmlns:a="http://schemas.openxmlformats.org/drawingml/2006/main" flipH="1" flipV="1">
            <a:off x="7096125" y="2352675"/>
            <a:ext cx="2524125" cy="2476500"/>
          </a:xfrm>
          <a:prstGeom xmlns:a="http://schemas.openxmlformats.org/drawingml/2006/main" prst="straightConnector1">
            <a:avLst/>
          </a:prstGeom>
          <a:ln xmlns:a="http://schemas.openxmlformats.org/drawingml/2006/main" w="19050">
            <a:solidFill>
              <a:srgbClr val="697F86"/>
            </a:solidFill>
            <a:tailEnd type="arrow" w="med" len="med"/>
          </a:ln>
        </p:spPr>
      </p:cxnSp>
      <p:cxnSp>
        <p:nvCxnSpPr>
          <p:cNvPr id="45" name="">
            <a:extLst xmlns:a="http://schemas.openxmlformats.org/drawingml/2006/main">
              <a:ext uri="{FF2B5EF4-FFF2-40B4-BE49-F238E27FC236}">
                <a16:creationId xmlns:a16="http://schemas.microsoft.com/office/drawing/2014/main" id="{2E50A7B0-A5E8-4767-BA88-114CA04E0E43}"/>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969CB9EA-FB06-472F-ACD5-13596FA02734}"/>
              </a:ext>
            </a:extLst>
          </p:cNvPr>
          <p:cNvCxnSpPr>
            <a:stCxn xmlns:a="http://schemas.openxmlformats.org/drawingml/2006/main" id="31" idx="0"/>
            <a:endCxn xmlns:a="http://schemas.openxmlformats.org/drawingml/2006/main" id="19" idx="2"/>
          </p:cNvCxnSpPr>
          <p:nvPr/>
        </p:nvCxnSpPr>
        <p:spPr>
          <a:xfrm xmlns:a="http://schemas.openxmlformats.org/drawingml/2006/main" flipV="1">
            <a:off x="8358188" y="2905125"/>
            <a:ext cx="2262187"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5FF413FC-C5B1-446D-AA9E-28F6B4C0BDC3}"/>
              </a:ext>
            </a:extLst>
          </p:cNvPr>
          <p:cNvCxnSpPr>
            <a:stCxn xmlns:a="http://schemas.openxmlformats.org/drawingml/2006/main" id="16" idx="2"/>
            <a:endCxn xmlns:a="http://schemas.openxmlformats.org/drawingml/2006/main" id="31" idx="0"/>
          </p:cNvCxnSpPr>
          <p:nvPr/>
        </p:nvCxnSpPr>
        <p:spPr>
          <a:xfrm xmlns:a="http://schemas.openxmlformats.org/drawingml/2006/main">
            <a:off x="8358188" y="2905125"/>
            <a:ext cx="0"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2" name="">
            <a:extLst xmlns:a="http://schemas.openxmlformats.org/drawingml/2006/main">
              <a:ext uri="{FF2B5EF4-FFF2-40B4-BE49-F238E27FC236}">
                <a16:creationId xmlns:a16="http://schemas.microsoft.com/office/drawing/2014/main" id="{1B8E0A64-DD6A-443B-9FF7-8A1523E11602}"/>
              </a:ext>
            </a:extLst>
          </p:cNvPr>
          <p:cNvCxnSpPr>
            <a:stCxn xmlns:a="http://schemas.openxmlformats.org/drawingml/2006/main" id="28" idx="0"/>
            <a:endCxn xmlns:a="http://schemas.openxmlformats.org/drawingml/2006/main" id="16" idx="2"/>
          </p:cNvCxnSpPr>
          <p:nvPr/>
        </p:nvCxnSpPr>
        <p:spPr>
          <a:xfrm xmlns:a="http://schemas.openxmlformats.org/drawingml/2006/main" flipV="1">
            <a:off x="6096000" y="2905125"/>
            <a:ext cx="2262188" cy="137160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41" name="">
            <a:extLst xmlns:a="http://schemas.openxmlformats.org/drawingml/2006/main">
              <a:ext uri="{FF2B5EF4-FFF2-40B4-BE49-F238E27FC236}">
                <a16:creationId xmlns:a16="http://schemas.microsoft.com/office/drawing/2014/main" id="{97382BAF-F87E-456E-B885-6647B9EA89EE}"/>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5AD77636-B4E5-44AD-A425-589544858C1B}"/>
              </a:ext>
            </a:extLst>
          </p:cNvPr>
          <p:cNvCxnSpPr>
            <a:stCxn xmlns:a="http://schemas.openxmlformats.org/drawingml/2006/main" id="25" idx="0"/>
            <a:endCxn xmlns:a="http://schemas.openxmlformats.org/drawingml/2006/main" id="13" idx="2"/>
          </p:cNvCxnSpPr>
          <p:nvPr/>
        </p:nvCxnSpPr>
        <p:spPr>
          <a:xfrm xmlns:a="http://schemas.openxmlformats.org/drawingml/2006/main" flipV="1">
            <a:off x="3833813" y="2905125"/>
            <a:ext cx="2262187"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CB87953B-34A0-4BEB-B200-1E828E87C99E}"/>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528BA868-67BE-4B78-A7AE-9CC956F3B0DB}"/>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CEB2C9DB-2511-49BD-AA75-6F008AF3A526}"/>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8" name="">
            <a:extLst xmlns:a="http://schemas.openxmlformats.org/drawingml/2006/main">
              <a:ext uri="{FF2B5EF4-FFF2-40B4-BE49-F238E27FC236}">
                <a16:creationId xmlns:a16="http://schemas.microsoft.com/office/drawing/2014/main" id="{D60213F6-1D59-4E73-B43A-601B53A44FE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AX20 / 관측·안전 판정·현장 조치·환류</a:t>
            </a:r>
          </a:p>
        </p:txBody>
      </p:sp>
      <p:sp>
        <p:nvSpPr>
          <p:cNvPr id="2" name="">
            <a:extLst xmlns:a="http://schemas.openxmlformats.org/drawingml/2006/main">
              <a:ext uri="{FF2B5EF4-FFF2-40B4-BE49-F238E27FC236}">
                <a16:creationId xmlns:a16="http://schemas.microsoft.com/office/drawing/2014/main" id="{016E13E0-03DD-4E1A-841C-15DD91FA53E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K-인파관리지원시스템 · 세부 서비스 구조</a:t>
            </a:r>
          </a:p>
        </p:txBody>
      </p:sp>
      <p:sp>
        <p:nvSpPr>
          <p:cNvPr id="3" name="">
            <a:extLst xmlns:a="http://schemas.openxmlformats.org/drawingml/2006/main">
              <a:ext uri="{FF2B5EF4-FFF2-40B4-BE49-F238E27FC236}">
                <a16:creationId xmlns:a16="http://schemas.microsoft.com/office/drawing/2014/main" id="{B319DC85-53F3-4F30-958F-A2A7CCC0553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A886BF7-1062-4190-8F90-01A9465C721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BAF4420-99D1-43A5-B52E-A3DB8A20401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105</a:t>
            </a:r>
          </a:p>
        </p:txBody>
      </p:sp>
      <p:sp>
        <p:nvSpPr>
          <p:cNvPr id="6" name="">
            <a:extLst xmlns:a="http://schemas.openxmlformats.org/drawingml/2006/main">
              <a:ext uri="{FF2B5EF4-FFF2-40B4-BE49-F238E27FC236}">
                <a16:creationId xmlns:a16="http://schemas.microsoft.com/office/drawing/2014/main" id="{9D82A89A-127C-40B5-8314-151194B8C50A}"/>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유동인구·공간정보 → 밀집도 분석 → GIS·위험 알림 → 지자체 대응</a:t>
            </a:r>
          </a:p>
        </p:txBody>
      </p:sp>
      <p:sp>
        <p:nvSpPr>
          <p:cNvPr id="7" name="">
            <a:extLst xmlns:a="http://schemas.openxmlformats.org/drawingml/2006/main">
              <a:ext uri="{FF2B5EF4-FFF2-40B4-BE49-F238E27FC236}">
                <a16:creationId xmlns:a16="http://schemas.microsoft.com/office/drawing/2014/main" id="{6303AFC2-05D2-4CC9-8C7C-5922366C8A92}"/>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0FE1C100-B011-4941-822D-E8A6CED66B06}"/>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46601E41-F5AC-483C-AA6F-F358F874DB17}"/>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유동인구·GIS</a:t>
            </a:r>
          </a:p>
        </p:txBody>
      </p:sp>
      <p:sp>
        <p:nvSpPr>
          <p:cNvPr id="10" name="">
            <a:extLst xmlns:a="http://schemas.openxmlformats.org/drawingml/2006/main">
              <a:ext uri="{FF2B5EF4-FFF2-40B4-BE49-F238E27FC236}">
                <a16:creationId xmlns:a16="http://schemas.microsoft.com/office/drawing/2014/main" id="{A7599402-D5C0-423F-BCB3-9EDBB3E00093}"/>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44ABFC87-9713-4ED3-B573-A28943B39034}"/>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1422BD42-1140-4960-921C-E2CDF21946F1}"/>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시간·구역 정합화</a:t>
            </a:r>
          </a:p>
        </p:txBody>
      </p:sp>
      <p:sp>
        <p:nvSpPr>
          <p:cNvPr id="13" name="">
            <a:extLst xmlns:a="http://schemas.openxmlformats.org/drawingml/2006/main">
              <a:ext uri="{FF2B5EF4-FFF2-40B4-BE49-F238E27FC236}">
                <a16:creationId xmlns:a16="http://schemas.microsoft.com/office/drawing/2014/main" id="{C294084F-8D0F-431E-A56F-738023DD7FCB}"/>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E5669FD0-DD74-452A-A28B-9AF134EBE4ED}"/>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5" name="">
            <a:extLst xmlns:a="http://schemas.openxmlformats.org/drawingml/2006/main">
              <a:ext uri="{FF2B5EF4-FFF2-40B4-BE49-F238E27FC236}">
                <a16:creationId xmlns:a16="http://schemas.microsoft.com/office/drawing/2014/main" id="{4C4A50E0-F97B-4940-B463-41B6E1D971E5}"/>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밀집 위험 분석</a:t>
            </a:r>
          </a:p>
        </p:txBody>
      </p:sp>
      <p:sp>
        <p:nvSpPr>
          <p:cNvPr id="16" name="">
            <a:extLst xmlns:a="http://schemas.openxmlformats.org/drawingml/2006/main">
              <a:ext uri="{FF2B5EF4-FFF2-40B4-BE49-F238E27FC236}">
                <a16:creationId xmlns:a16="http://schemas.microsoft.com/office/drawing/2014/main" id="{1E81E9DD-B748-4069-8E5B-874AD609850F}"/>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F0D22D2A-DA7F-48C4-A162-FFC5EA755743}"/>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8" name="">
            <a:extLst xmlns:a="http://schemas.openxmlformats.org/drawingml/2006/main">
              <a:ext uri="{FF2B5EF4-FFF2-40B4-BE49-F238E27FC236}">
                <a16:creationId xmlns:a16="http://schemas.microsoft.com/office/drawing/2014/main" id="{524A9AD6-7909-469B-A900-662DC80DB4D2}"/>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관측·추정 대조</a:t>
            </a:r>
          </a:p>
        </p:txBody>
      </p:sp>
      <p:sp>
        <p:nvSpPr>
          <p:cNvPr id="19" name="">
            <a:extLst xmlns:a="http://schemas.openxmlformats.org/drawingml/2006/main">
              <a:ext uri="{FF2B5EF4-FFF2-40B4-BE49-F238E27FC236}">
                <a16:creationId xmlns:a16="http://schemas.microsoft.com/office/drawing/2014/main" id="{EB2314B7-BD6E-4775-82EC-92B1F41A15A9}"/>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8519E54B-198E-4D92-B490-2F945DC25FC8}"/>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36DEC577-4584-4459-84EE-42FCCDF1C6B0}"/>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현장 대응 알림</a:t>
            </a:r>
          </a:p>
        </p:txBody>
      </p:sp>
      <p:sp>
        <p:nvSpPr>
          <p:cNvPr id="22" name="">
            <a:extLst xmlns:a="http://schemas.openxmlformats.org/drawingml/2006/main">
              <a:ext uri="{FF2B5EF4-FFF2-40B4-BE49-F238E27FC236}">
                <a16:creationId xmlns:a16="http://schemas.microsoft.com/office/drawing/2014/main" id="{C14462B3-C7CE-4D3A-AEFC-D07F0B79487C}"/>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9512560A-B259-4254-A385-FB2BE157D22D}"/>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54AD788C-776A-48AE-9E81-E703D7424E30}"/>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구역·행사 맥락</a:t>
            </a:r>
          </a:p>
        </p:txBody>
      </p:sp>
      <p:sp>
        <p:nvSpPr>
          <p:cNvPr id="25" name="">
            <a:extLst xmlns:a="http://schemas.openxmlformats.org/drawingml/2006/main">
              <a:ext uri="{FF2B5EF4-FFF2-40B4-BE49-F238E27FC236}">
                <a16:creationId xmlns:a16="http://schemas.microsoft.com/office/drawing/2014/main" id="{969AF36A-5916-40EE-A76C-E52F142832C3}"/>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0C60CF98-F745-4BF1-A094-49FFC13FC5A1}"/>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27" name="">
            <a:extLst xmlns:a="http://schemas.openxmlformats.org/drawingml/2006/main">
              <a:ext uri="{FF2B5EF4-FFF2-40B4-BE49-F238E27FC236}">
                <a16:creationId xmlns:a16="http://schemas.microsoft.com/office/drawing/2014/main" id="{D6D9646F-5877-4542-8590-35E2464E9989}"/>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인구·공간 조회</a:t>
            </a:r>
          </a:p>
        </p:txBody>
      </p:sp>
      <p:sp>
        <p:nvSpPr>
          <p:cNvPr id="28" name="">
            <a:extLst xmlns:a="http://schemas.openxmlformats.org/drawingml/2006/main">
              <a:ext uri="{FF2B5EF4-FFF2-40B4-BE49-F238E27FC236}">
                <a16:creationId xmlns:a16="http://schemas.microsoft.com/office/drawing/2014/main" id="{41B58D4C-35F0-407B-A5CF-ED9EA84F5100}"/>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136C8C07-B689-492B-ABC6-EB9ED30145C3}"/>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C12 / 권한·정책</a:t>
            </a:r>
          </a:p>
        </p:txBody>
      </p:sp>
      <p:sp>
        <p:nvSpPr>
          <p:cNvPr id="30" name="">
            <a:extLst xmlns:a="http://schemas.openxmlformats.org/drawingml/2006/main">
              <a:ext uri="{FF2B5EF4-FFF2-40B4-BE49-F238E27FC236}">
                <a16:creationId xmlns:a16="http://schemas.microsoft.com/office/drawing/2014/main" id="{964AD97F-7EEE-43A4-AE99-3B998E73C4D0}"/>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집계·경보 기준</a:t>
            </a:r>
          </a:p>
        </p:txBody>
      </p:sp>
      <p:sp>
        <p:nvSpPr>
          <p:cNvPr id="31" name="">
            <a:extLst xmlns:a="http://schemas.openxmlformats.org/drawingml/2006/main">
              <a:ext uri="{FF2B5EF4-FFF2-40B4-BE49-F238E27FC236}">
                <a16:creationId xmlns:a16="http://schemas.microsoft.com/office/drawing/2014/main" id="{45BCCBE4-CCAD-4159-96C1-E213406D93A1}"/>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3954A311-03C1-49B5-B91A-8E7F33C335B5}"/>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C2E655D8-5FDE-4942-85E5-A9453A4014DF}"/>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상황실 확인</a:t>
            </a:r>
          </a:p>
        </p:txBody>
      </p:sp>
      <p:sp>
        <p:nvSpPr>
          <p:cNvPr id="34" name="">
            <a:extLst xmlns:a="http://schemas.openxmlformats.org/drawingml/2006/main">
              <a:ext uri="{FF2B5EF4-FFF2-40B4-BE49-F238E27FC236}">
                <a16:creationId xmlns:a16="http://schemas.microsoft.com/office/drawing/2014/main" id="{D34B5C8C-215D-443D-8D27-A9F57C451F93}"/>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A25B6A16-361E-4540-8DED-96BA18A05D38}"/>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D4956989-05D8-474F-B4FD-950CB1BFB3DC}"/>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대응시간 추적</a:t>
            </a:r>
          </a:p>
        </p:txBody>
      </p:sp>
      <p:sp>
        <p:nvSpPr>
          <p:cNvPr id="47" name="">
            <a:extLst xmlns:a="http://schemas.openxmlformats.org/drawingml/2006/main">
              <a:ext uri="{FF2B5EF4-FFF2-40B4-BE49-F238E27FC236}">
                <a16:creationId xmlns:a16="http://schemas.microsoft.com/office/drawing/2014/main" id="{45128814-EC60-4D46-B01D-9DD3034B7824}"/>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470655311"/>
      </p:ext>
    </p:extLst>
  </p:cSld>
</p:sld>
</file>

<file path=ppt/slides/slide10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5870EC66-12C9-4830-9AD1-B42FDC90EB4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AX20 / 논리 인터페이스·복구 설계</a:t>
            </a:r>
          </a:p>
        </p:txBody>
      </p:sp>
      <p:sp>
        <p:nvSpPr>
          <p:cNvPr id="2" name="">
            <a:extLst xmlns:a="http://schemas.openxmlformats.org/drawingml/2006/main">
              <a:ext uri="{FF2B5EF4-FFF2-40B4-BE49-F238E27FC236}">
                <a16:creationId xmlns:a16="http://schemas.microsoft.com/office/drawing/2014/main" id="{AF1F4319-8697-4D58-90C1-FEFF8C0A5DE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K-인파관리지원시스템 · 데이터와 예외 처리</a:t>
            </a:r>
          </a:p>
        </p:txBody>
      </p:sp>
      <p:sp>
        <p:nvSpPr>
          <p:cNvPr id="3" name="">
            <a:extLst xmlns:a="http://schemas.openxmlformats.org/drawingml/2006/main">
              <a:ext uri="{FF2B5EF4-FFF2-40B4-BE49-F238E27FC236}">
                <a16:creationId xmlns:a16="http://schemas.microsoft.com/office/drawing/2014/main" id="{6E587445-E83F-4C1F-A36F-CAC6CFFB341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08DBFDD-BC0C-484E-AD95-E243BB8B27C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217A7497-A9C8-4A8D-94DB-BD0AC0A28B6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106</a:t>
            </a:r>
          </a:p>
        </p:txBody>
      </p:sp>
      <p:sp>
        <p:nvSpPr>
          <p:cNvPr id="6" name="">
            <a:extLst xmlns:a="http://schemas.openxmlformats.org/drawingml/2006/main">
              <a:ext uri="{FF2B5EF4-FFF2-40B4-BE49-F238E27FC236}">
                <a16:creationId xmlns:a16="http://schemas.microsoft.com/office/drawing/2014/main" id="{E77633CD-4315-4594-8E3B-AEE18C66FE1D}"/>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32E700B0-3EF4-4B86-AC1A-3EFDFFA98066}"/>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5EE0F1E8-01DA-4E52-8D42-834B8F633547}"/>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관측 입력</a:t>
            </a:r>
          </a:p>
        </p:txBody>
      </p:sp>
      <p:sp>
        <p:nvSpPr>
          <p:cNvPr id="9" name="">
            <a:extLst xmlns:a="http://schemas.openxmlformats.org/drawingml/2006/main">
              <a:ext uri="{FF2B5EF4-FFF2-40B4-BE49-F238E27FC236}">
                <a16:creationId xmlns:a16="http://schemas.microsoft.com/office/drawing/2014/main" id="{7B3F307B-A7A3-4449-9A88-3B20ECDE29AC}"/>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지역별 밀집 이력</a:t>
            </a:r>
          </a:p>
        </p:txBody>
      </p:sp>
      <p:sp>
        <p:nvSpPr>
          <p:cNvPr id="10" name="">
            <a:extLst xmlns:a="http://schemas.openxmlformats.org/drawingml/2006/main">
              <a:ext uri="{FF2B5EF4-FFF2-40B4-BE49-F238E27FC236}">
                <a16:creationId xmlns:a16="http://schemas.microsoft.com/office/drawing/2014/main" id="{0148B601-7EFD-4062-91F0-BEEABB9B931E}"/>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E8FBA32-3ED5-484D-9AA7-0B57DC8B3883}"/>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정합화 상태</a:t>
            </a:r>
          </a:p>
        </p:txBody>
      </p:sp>
      <p:sp>
        <p:nvSpPr>
          <p:cNvPr id="12" name="">
            <a:extLst xmlns:a="http://schemas.openxmlformats.org/drawingml/2006/main">
              <a:ext uri="{FF2B5EF4-FFF2-40B4-BE49-F238E27FC236}">
                <a16:creationId xmlns:a16="http://schemas.microsoft.com/office/drawing/2014/main" id="{E393A780-24A4-480D-A150-CDD2168896A1}"/>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35B4B0FC-77E4-4F58-AC27-41AA3827DB3E}"/>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7861863-68E4-4683-96EC-9EFADD93CC2B}"/>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위험·제어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후보</a:t>
            </a:r>
          </a:p>
        </p:txBody>
      </p:sp>
      <p:sp>
        <p:nvSpPr>
          <p:cNvPr id="15" name="">
            <a:extLst xmlns:a="http://schemas.openxmlformats.org/drawingml/2006/main">
              <a:ext uri="{FF2B5EF4-FFF2-40B4-BE49-F238E27FC236}">
                <a16:creationId xmlns:a16="http://schemas.microsoft.com/office/drawing/2014/main" id="{A413D46E-43BD-4CF8-8157-42F365F52EFC}"/>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위험 알림</a:t>
            </a:r>
          </a:p>
        </p:txBody>
      </p:sp>
      <p:sp>
        <p:nvSpPr>
          <p:cNvPr id="16" name="">
            <a:extLst xmlns:a="http://schemas.openxmlformats.org/drawingml/2006/main">
              <a:ext uri="{FF2B5EF4-FFF2-40B4-BE49-F238E27FC236}">
                <a16:creationId xmlns:a16="http://schemas.microsoft.com/office/drawing/2014/main" id="{C7CCA9FF-1058-4E26-AB71-AFE5F6513CE0}"/>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9FC7B0F-B347-4385-8813-88FCA9011DAF}"/>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안전 경계</a:t>
            </a:r>
          </a:p>
        </p:txBody>
      </p:sp>
      <p:sp>
        <p:nvSpPr>
          <p:cNvPr id="18" name="">
            <a:extLst xmlns:a="http://schemas.openxmlformats.org/drawingml/2006/main">
              <a:ext uri="{FF2B5EF4-FFF2-40B4-BE49-F238E27FC236}">
                <a16:creationId xmlns:a16="http://schemas.microsoft.com/office/drawing/2014/main" id="{783F5776-CFB1-47A7-B1B9-0240BA3A0418}"/>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집계·경보 기준</a:t>
            </a:r>
          </a:p>
        </p:txBody>
      </p:sp>
      <p:sp>
        <p:nvSpPr>
          <p:cNvPr id="19" name="">
            <a:extLst xmlns:a="http://schemas.openxmlformats.org/drawingml/2006/main">
              <a:ext uri="{FF2B5EF4-FFF2-40B4-BE49-F238E27FC236}">
                <a16:creationId xmlns:a16="http://schemas.microsoft.com/office/drawing/2014/main" id="{821EE5AA-C0F2-4318-8564-2FCC068C43F9}"/>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2EF75D1-4F3C-4010-A15B-F5DBDB0057E9}"/>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경고·조치</a:t>
            </a:r>
          </a:p>
        </p:txBody>
      </p:sp>
      <p:sp>
        <p:nvSpPr>
          <p:cNvPr id="21" name="">
            <a:extLst xmlns:a="http://schemas.openxmlformats.org/drawingml/2006/main">
              <a:ext uri="{FF2B5EF4-FFF2-40B4-BE49-F238E27FC236}">
                <a16:creationId xmlns:a16="http://schemas.microsoft.com/office/drawing/2014/main" id="{7A463C98-9C30-40D6-B389-35FA72E6B30F}"/>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현장 대응</a:t>
            </a:r>
          </a:p>
        </p:txBody>
      </p:sp>
      <p:sp>
        <p:nvSpPr>
          <p:cNvPr id="22" name="">
            <a:extLst xmlns:a="http://schemas.openxmlformats.org/drawingml/2006/main">
              <a:ext uri="{FF2B5EF4-FFF2-40B4-BE49-F238E27FC236}">
                <a16:creationId xmlns:a16="http://schemas.microsoft.com/office/drawing/2014/main" id="{06FF284C-83C3-4447-A821-FEE2971375DD}"/>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05E41BAD-DE71-4970-82DD-595BBC83E642}"/>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다음 주기</a:t>
            </a:r>
          </a:p>
        </p:txBody>
      </p:sp>
      <p:sp>
        <p:nvSpPr>
          <p:cNvPr id="24" name="">
            <a:extLst xmlns:a="http://schemas.openxmlformats.org/drawingml/2006/main">
              <a:ext uri="{FF2B5EF4-FFF2-40B4-BE49-F238E27FC236}">
                <a16:creationId xmlns:a16="http://schemas.microsoft.com/office/drawing/2014/main" id="{DA9553A9-2D4F-4A8E-AFEF-338DCF9F28F9}"/>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실제 밀집상태·경보·대응시간 대조</a:t>
            </a:r>
          </a:p>
        </p:txBody>
      </p:sp>
      <p:sp>
        <p:nvSpPr>
          <p:cNvPr id="25" name="">
            <a:extLst xmlns:a="http://schemas.openxmlformats.org/drawingml/2006/main">
              <a:ext uri="{FF2B5EF4-FFF2-40B4-BE49-F238E27FC236}">
                <a16:creationId xmlns:a16="http://schemas.microsoft.com/office/drawing/2014/main" id="{E0FD458A-20A3-40CA-AC5A-DC715941D2AF}"/>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B649ADBD-B538-4E8A-80C6-0679E19D655B}"/>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집계 지연·통신 표본 편향·구역 경계 변경</a:t>
            </a:r>
          </a:p>
        </p:txBody>
      </p:sp>
      <p:sp>
        <p:nvSpPr>
          <p:cNvPr id="27" name="">
            <a:extLst xmlns:a="http://schemas.openxmlformats.org/drawingml/2006/main">
              <a:ext uri="{FF2B5EF4-FFF2-40B4-BE49-F238E27FC236}">
                <a16:creationId xmlns:a16="http://schemas.microsoft.com/office/drawing/2014/main" id="{EAA51A59-098A-4771-B9A9-8E4A76F53952}"/>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46352470-1914-41C6-A1D4-623996D8D598}"/>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공간·시간 단위 대사와 조치 확인</a:t>
            </a:r>
          </a:p>
        </p:txBody>
      </p:sp>
      <p:sp>
        <p:nvSpPr>
          <p:cNvPr id="29" name="">
            <a:extLst xmlns:a="http://schemas.openxmlformats.org/drawingml/2006/main">
              <a:ext uri="{FF2B5EF4-FFF2-40B4-BE49-F238E27FC236}">
                <a16:creationId xmlns:a16="http://schemas.microsoft.com/office/drawing/2014/main" id="{28274C5C-0740-44D7-BA36-1783C23B20E6}"/>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A319C2AE-3F3C-496D-ACF3-AF417AC3FB80}"/>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실제 밀집상태·경보·대응시간 대조</a:t>
            </a:r>
          </a:p>
        </p:txBody>
      </p:sp>
      <p:sp>
        <p:nvSpPr>
          <p:cNvPr id="31" name="">
            <a:extLst xmlns:a="http://schemas.openxmlformats.org/drawingml/2006/main">
              <a:ext uri="{FF2B5EF4-FFF2-40B4-BE49-F238E27FC236}">
                <a16:creationId xmlns:a16="http://schemas.microsoft.com/office/drawing/2014/main" id="{6058DB51-6514-482C-9FDA-A31153C702D4}"/>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702CC5DB-0DF1-4E93-9469-B5974CA004C9}"/>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현장 밀집상태 대비 경보·전파·조치 시각</a:t>
            </a:r>
          </a:p>
        </p:txBody>
      </p:sp>
    </p:spTree>
    <p:extLst>
      <p:ext uri="{BB962C8B-B14F-4D97-AF65-F5344CB8AC3E}">
        <p14:creationId xmlns:p14="http://schemas.microsoft.com/office/powerpoint/2010/main" val="275877515"/>
      </p:ext>
    </p:extLst>
  </p:cSld>
</p:sld>
</file>

<file path=ppt/slides/slide10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F7E4011-F036-4F87-9AB3-C11F6E26E11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AX20 / CCK 비교·재현 시험 설계</a:t>
            </a:r>
          </a:p>
        </p:txBody>
      </p:sp>
      <p:sp>
        <p:nvSpPr>
          <p:cNvPr id="2" name="">
            <a:extLst xmlns:a="http://schemas.openxmlformats.org/drawingml/2006/main">
              <a:ext uri="{FF2B5EF4-FFF2-40B4-BE49-F238E27FC236}">
                <a16:creationId xmlns:a16="http://schemas.microsoft.com/office/drawing/2014/main" id="{C07E0435-4CDB-4BEC-8825-54C73DF5379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K-인파관리지원시스템 · 벤치마킹</a:t>
            </a:r>
          </a:p>
        </p:txBody>
      </p:sp>
      <p:sp>
        <p:nvSpPr>
          <p:cNvPr id="3" name="">
            <a:extLst xmlns:a="http://schemas.openxmlformats.org/drawingml/2006/main">
              <a:ext uri="{FF2B5EF4-FFF2-40B4-BE49-F238E27FC236}">
                <a16:creationId xmlns:a16="http://schemas.microsoft.com/office/drawing/2014/main" id="{FA8EAA45-2087-456E-8415-33095FAD564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7826331-8DBF-415F-A38E-F26B6F4AD4E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F72E8892-5D89-4A55-A56E-8A2A08571C1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107</a:t>
            </a:r>
          </a:p>
        </p:txBody>
      </p:sp>
      <p:sp>
        <p:nvSpPr>
          <p:cNvPr id="6" name="">
            <a:extLst xmlns:a="http://schemas.openxmlformats.org/drawingml/2006/main">
              <a:ext uri="{FF2B5EF4-FFF2-40B4-BE49-F238E27FC236}">
                <a16:creationId xmlns:a16="http://schemas.microsoft.com/office/drawing/2014/main" id="{FC71DF07-DA2A-46CB-95E9-8091711B0527}"/>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1CC346EF-04B9-4227-80EA-02EA199FA464}"/>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공간정보와 유동인구의 결합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상황판·알림과 지자체 대응 연결</a:t>
            </a:r>
          </a:p>
        </p:txBody>
      </p:sp>
      <p:sp>
        <p:nvSpPr>
          <p:cNvPr id="8" name="">
            <a:extLst xmlns:a="http://schemas.openxmlformats.org/drawingml/2006/main">
              <a:ext uri="{FF2B5EF4-FFF2-40B4-BE49-F238E27FC236}">
                <a16:creationId xmlns:a16="http://schemas.microsoft.com/office/drawing/2014/main" id="{98CA0BA1-2871-4431-962A-1907013828E9}"/>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F20BE5A0-404D-487A-950E-4A4E6F431A3A}"/>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추정 인구와 실제 밀집의 차이</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알림 발생과 대응 완료의 혼동</a:t>
            </a:r>
          </a:p>
        </p:txBody>
      </p:sp>
      <p:sp>
        <p:nvSpPr>
          <p:cNvPr id="10" name="">
            <a:extLst xmlns:a="http://schemas.openxmlformats.org/drawingml/2006/main">
              <a:ext uri="{FF2B5EF4-FFF2-40B4-BE49-F238E27FC236}">
                <a16:creationId xmlns:a16="http://schemas.microsoft.com/office/drawing/2014/main" id="{D60FD7B7-C8A6-4F31-B613-5C8125751ABA}"/>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0402CB01-84E6-4730-8807-5682B3499767}"/>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공간·시간 단위 대사와 조치 확인</a:t>
            </a:r>
          </a:p>
        </p:txBody>
      </p:sp>
      <p:sp>
        <p:nvSpPr>
          <p:cNvPr id="12" name="">
            <a:extLst xmlns:a="http://schemas.openxmlformats.org/drawingml/2006/main">
              <a:ext uri="{FF2B5EF4-FFF2-40B4-BE49-F238E27FC236}">
                <a16:creationId xmlns:a16="http://schemas.microsoft.com/office/drawing/2014/main" id="{C14BFFD2-FF3B-47C2-8560-15B53DA202AF}"/>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574584F8-4372-43A5-9D65-627CB831C5B7}"/>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구역별 인파 밀집을 파악하고 현장 확인 요청</a:t>
            </a:r>
          </a:p>
        </p:txBody>
      </p:sp>
      <p:sp>
        <p:nvSpPr>
          <p:cNvPr id="14" name="">
            <a:extLst xmlns:a="http://schemas.openxmlformats.org/drawingml/2006/main">
              <a:ext uri="{FF2B5EF4-FFF2-40B4-BE49-F238E27FC236}">
                <a16:creationId xmlns:a16="http://schemas.microsoft.com/office/drawing/2014/main" id="{3DE7978E-BD0B-4607-B22E-FFAAC9FF92A3}"/>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46FE46FC-09F3-4937-BDF6-7E96E911DDFD}"/>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집계 지연·통신 표본 편향·구역 경계 변경</a:t>
            </a:r>
          </a:p>
        </p:txBody>
      </p:sp>
      <p:sp>
        <p:nvSpPr>
          <p:cNvPr id="16" name="">
            <a:extLst xmlns:a="http://schemas.openxmlformats.org/drawingml/2006/main">
              <a:ext uri="{FF2B5EF4-FFF2-40B4-BE49-F238E27FC236}">
                <a16:creationId xmlns:a16="http://schemas.microsoft.com/office/drawing/2014/main" id="{7ACEEEFF-18DD-43FA-85DE-41685B7EE1D9}"/>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6528700A-897F-4434-99E8-4C5FE842AF80}"/>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현장 밀집상태 대비 경보·전파·조치 시각</a:t>
            </a:r>
          </a:p>
        </p:txBody>
      </p:sp>
    </p:spTree>
    <p:extLst>
      <p:ext uri="{BB962C8B-B14F-4D97-AF65-F5344CB8AC3E}">
        <p14:creationId xmlns:p14="http://schemas.microsoft.com/office/powerpoint/2010/main" val="1211351688"/>
      </p:ext>
    </p:extLst>
  </p:cSld>
</p:sld>
</file>

<file path=ppt/slides/slide10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497FE21-83FF-4A07-B7F7-3ED24FCEBD3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AX21 / 성과 미검증 / 국내</a:t>
            </a:r>
          </a:p>
        </p:txBody>
      </p:sp>
      <p:sp>
        <p:nvSpPr>
          <p:cNvPr id="2" name="">
            <a:extLst xmlns:a="http://schemas.openxmlformats.org/drawingml/2006/main">
              <a:ext uri="{FF2B5EF4-FFF2-40B4-BE49-F238E27FC236}">
                <a16:creationId xmlns:a16="http://schemas.microsoft.com/office/drawing/2014/main" id="{7630A310-D0F9-4394-ABC9-3C52B13C37B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항공안전 이슈 분석 AI PoC</a:t>
            </a:r>
          </a:p>
        </p:txBody>
      </p:sp>
      <p:sp>
        <p:nvSpPr>
          <p:cNvPr id="3" name="">
            <a:extLst xmlns:a="http://schemas.openxmlformats.org/drawingml/2006/main">
              <a:ext uri="{FF2B5EF4-FFF2-40B4-BE49-F238E27FC236}">
                <a16:creationId xmlns:a16="http://schemas.microsoft.com/office/drawing/2014/main" id="{98092413-8BDA-4A48-AE23-B0F87424E10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AA6A4EA-364C-4720-BEFA-A9D74D53B54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8BAFC4FA-44AC-45DB-BEBB-83F0AE789831}"/>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108</a:t>
            </a:r>
          </a:p>
        </p:txBody>
      </p:sp>
      <p:sp>
        <p:nvSpPr>
          <p:cNvPr id="6" name="">
            <a:extLst xmlns:a="http://schemas.openxmlformats.org/drawingml/2006/main">
              <a:ext uri="{FF2B5EF4-FFF2-40B4-BE49-F238E27FC236}">
                <a16:creationId xmlns:a16="http://schemas.microsoft.com/office/drawing/2014/main" id="{046E734F-A729-41F2-BF7D-89EB8E01F64B}"/>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B9248451-1DD3-4C77-9341-7879C211DA7C}"/>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항공안전 관련 기사에서 사건과 위험 요인을 찾아 분석</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원의 검토를 돕는 사례. 다국어 자료의 번역·요약과 정해</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진 안전 분류체계 적용이 결합된 업무.</a:t>
            </a:r>
          </a:p>
        </p:txBody>
      </p:sp>
      <p:sp>
        <p:nvSpPr>
          <p:cNvPr id="8" name="">
            <a:extLst xmlns:a="http://schemas.openxmlformats.org/drawingml/2006/main">
              <a:ext uri="{FF2B5EF4-FFF2-40B4-BE49-F238E27FC236}">
                <a16:creationId xmlns:a16="http://schemas.microsoft.com/office/drawing/2014/main" id="{1124AB60-6D05-4F5D-BDB6-3157DC1191AE}"/>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0DD83299-D7EB-41BB-9C8C-FF66927F1253}"/>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기사 출처·발생일·항공업무를 식별한 뒤 번역문과 원문</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을 연결하고 위험 태그 후보를 제시하는 재구성. 분석원</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의 수정값과 판정 근거를 보존해 분류 누락·오역을 회귀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평가.</a:t>
            </a:r>
          </a:p>
        </p:txBody>
      </p:sp>
      <p:sp>
        <p:nvSpPr>
          <p:cNvPr id="10" name="">
            <a:extLst xmlns:a="http://schemas.openxmlformats.org/drawingml/2006/main">
              <a:ext uri="{FF2B5EF4-FFF2-40B4-BE49-F238E27FC236}">
                <a16:creationId xmlns:a16="http://schemas.microsoft.com/office/drawing/2014/main" id="{D5116BC3-52CB-4E40-A202-E1CDAC7E7E87}"/>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3785A6CD-9957-41B6-B443-C35B541D1FF6}"/>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적용에서는 기사량 처리보다 사건·시각·위험등급의 정</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확한 추출과 근거 추적을 우선. 원문 대비 중요 사건 누락,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분류체계 개정, 다국어 전문용어 오역을 독립 시험할 필요</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a:t>
            </a:r>
          </a:p>
        </p:txBody>
      </p:sp>
      <p:sp>
        <p:nvSpPr>
          <p:cNvPr id="12" name="">
            <a:extLst xmlns:a="http://schemas.openxmlformats.org/drawingml/2006/main">
              <a:ext uri="{FF2B5EF4-FFF2-40B4-BE49-F238E27FC236}">
                <a16:creationId xmlns:a16="http://schemas.microsoft.com/office/drawing/2014/main" id="{C3639964-579C-478F-8C2B-ABAE1F726E90}"/>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B0A97306-70A0-4D8D-A4A3-45F0AAA3332D}"/>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안전 이슈 분류셋·근거 위치·검토 기록</a:t>
            </a:r>
          </a:p>
        </p:txBody>
      </p:sp>
      <p:sp>
        <p:nvSpPr>
          <p:cNvPr id="14" name="">
            <a:extLst xmlns:a="http://schemas.openxmlformats.org/drawingml/2006/main">
              <a:ext uri="{FF2B5EF4-FFF2-40B4-BE49-F238E27FC236}">
                <a16:creationId xmlns:a16="http://schemas.microsoft.com/office/drawing/2014/main" id="{C979B005-889D-4797-BD8F-907C84BD0142}"/>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79ED09C0-F358-4BC0-BD41-26D34E27D928}"/>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위험 유형별 누락·오분류·번역 오류 평가</a:t>
            </a:r>
          </a:p>
        </p:txBody>
      </p:sp>
      <p:sp>
        <p:nvSpPr>
          <p:cNvPr id="16" name="">
            <a:extLst xmlns:a="http://schemas.openxmlformats.org/drawingml/2006/main">
              <a:ext uri="{FF2B5EF4-FFF2-40B4-BE49-F238E27FC236}">
                <a16:creationId xmlns:a16="http://schemas.microsoft.com/office/drawing/2014/main" id="{9092E9B3-6239-463E-A6DF-24707F04EFD6}"/>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40C60319-E096-4F89-8760-A76A9F7E1D6A}"/>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분류 재현율 / 검토 포함 소요시간</a:t>
            </a:r>
          </a:p>
        </p:txBody>
      </p:sp>
      <p:sp>
        <p:nvSpPr>
          <p:cNvPr id="18" name="">
            <a:extLst xmlns:a="http://schemas.openxmlformats.org/drawingml/2006/main">
              <a:ext uri="{FF2B5EF4-FFF2-40B4-BE49-F238E27FC236}">
                <a16:creationId xmlns:a16="http://schemas.microsoft.com/office/drawing/2014/main" id="{8FB4181E-CF7E-4082-98D0-A7031BC4D7BA}"/>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PoC 범위 · 운영 생산성 실측으로 해석 금지</a:t>
            </a:r>
          </a:p>
        </p:txBody>
      </p:sp>
    </p:spTree>
    <p:extLst>
      <p:ext uri="{BB962C8B-B14F-4D97-AF65-F5344CB8AC3E}">
        <p14:creationId xmlns:p14="http://schemas.microsoft.com/office/powerpoint/2010/main" val="60933815"/>
      </p:ext>
    </p:extLst>
  </p:cSld>
</p:sld>
</file>

<file path=ppt/slides/slide10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C982A68-D70A-4B28-947B-6C3DC41DA82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AX21 / As-Is → To-Be → 기대효과 → 확인 결과</a:t>
            </a:r>
          </a:p>
        </p:txBody>
      </p:sp>
      <p:sp>
        <p:nvSpPr>
          <p:cNvPr id="2" name="">
            <a:extLst xmlns:a="http://schemas.openxmlformats.org/drawingml/2006/main">
              <a:ext uri="{FF2B5EF4-FFF2-40B4-BE49-F238E27FC236}">
                <a16:creationId xmlns:a16="http://schemas.microsoft.com/office/drawing/2014/main" id="{6C7DCA81-EDD4-49F3-AC3A-6560EB3966F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항공안전 이슈 분석 AI PoC · 기대와 결과</a:t>
            </a:r>
          </a:p>
        </p:txBody>
      </p:sp>
      <p:sp>
        <p:nvSpPr>
          <p:cNvPr id="3" name="">
            <a:extLst xmlns:a="http://schemas.openxmlformats.org/drawingml/2006/main">
              <a:ext uri="{FF2B5EF4-FFF2-40B4-BE49-F238E27FC236}">
                <a16:creationId xmlns:a16="http://schemas.microsoft.com/office/drawing/2014/main" id="{A92F7318-9018-4102-A17F-F6F4CE3FAAF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B791702-8FE9-4043-8B56-67F7501A52B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8A3078ED-D0F1-4085-A23B-B52E8FDD2FE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109</a:t>
            </a:r>
          </a:p>
        </p:txBody>
      </p:sp>
      <p:sp>
        <p:nvSpPr>
          <p:cNvPr id="6" name="">
            <a:extLst xmlns:a="http://schemas.openxmlformats.org/drawingml/2006/main">
              <a:ext uri="{FF2B5EF4-FFF2-40B4-BE49-F238E27FC236}">
                <a16:creationId xmlns:a16="http://schemas.microsoft.com/office/drawing/2014/main" id="{A4F791EA-313E-42B1-B766-A1F98C0B270D}"/>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32633435-747A-4E1B-B151-F97A83331587}"/>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항공안전 분석원이 다국어 기사·문서를 수작업 번역·요약·</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위험 분류</a:t>
            </a:r>
          </a:p>
        </p:txBody>
      </p:sp>
      <p:sp>
        <p:nvSpPr>
          <p:cNvPr id="8" name="">
            <a:extLst xmlns:a="http://schemas.openxmlformats.org/drawingml/2006/main">
              <a:ext uri="{FF2B5EF4-FFF2-40B4-BE49-F238E27FC236}">
                <a16:creationId xmlns:a16="http://schemas.microsoft.com/office/drawing/2014/main" id="{0EA7ECF5-E51D-41C5-87E0-0035EB022BEB}"/>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36A7DF47-AE00-44E6-9C70-C53B27FB9970}"/>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RAG·분류 모델이 위험 후보와 근거를 정리하고 분석원이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재검토</a:t>
            </a:r>
          </a:p>
        </p:txBody>
      </p:sp>
      <p:sp>
        <p:nvSpPr>
          <p:cNvPr id="10" name="">
            <a:extLst xmlns:a="http://schemas.openxmlformats.org/drawingml/2006/main">
              <a:ext uri="{FF2B5EF4-FFF2-40B4-BE49-F238E27FC236}">
                <a16:creationId xmlns:a16="http://schemas.microsoft.com/office/drawing/2014/main" id="{2784E8C1-B394-409C-AB15-97E66A7BD502}"/>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0F82F98C-915B-4DD8-B948-60A2A1618BA3}"/>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안전 이슈 수집·검토 속도와 누락 방지</a:t>
            </a:r>
          </a:p>
        </p:txBody>
      </p:sp>
      <p:sp>
        <p:nvSpPr>
          <p:cNvPr id="12" name="">
            <a:extLst xmlns:a="http://schemas.openxmlformats.org/drawingml/2006/main">
              <a:ext uri="{FF2B5EF4-FFF2-40B4-BE49-F238E27FC236}">
                <a16:creationId xmlns:a16="http://schemas.microsoft.com/office/drawing/2014/main" id="{CC87C976-35DE-486F-965F-8E9766C8BD57}"/>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305A9082-4839-4946-B14E-85FE086760DB}"/>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공공 사례집이 항공안전 기사 기반 번역·요약·위험 분류의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기술 실증을 기록</a:t>
            </a:r>
          </a:p>
        </p:txBody>
      </p:sp>
      <p:sp>
        <p:nvSpPr>
          <p:cNvPr id="14" name="">
            <a:extLst xmlns:a="http://schemas.openxmlformats.org/drawingml/2006/main">
              <a:ext uri="{FF2B5EF4-FFF2-40B4-BE49-F238E27FC236}">
                <a16:creationId xmlns:a16="http://schemas.microsoft.com/office/drawing/2014/main" id="{DD6B1393-74B3-4AA4-9782-E41622124070}"/>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PoC 기능 확인만으로 운영 정확도·시간 절감·후속 안전조치 성과 판단 불가</a:t>
            </a:r>
          </a:p>
        </p:txBody>
      </p:sp>
      <p:sp>
        <p:nvSpPr>
          <p:cNvPr id="15" name="">
            <a:extLst xmlns:a="http://schemas.openxmlformats.org/drawingml/2006/main">
              <a:ext uri="{FF2B5EF4-FFF2-40B4-BE49-F238E27FC236}">
                <a16:creationId xmlns:a16="http://schemas.microsoft.com/office/drawing/2014/main" id="{4604CDE7-7BDD-46BD-95F3-679E81B477E1}"/>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정부 기술 실증 사례집 · 정부 사례집의 실증 설명 기준. 운영 규모·비교시험 미확인</a:t>
            </a:r>
          </a:p>
        </p:txBody>
      </p:sp>
    </p:spTree>
    <p:extLst>
      <p:ext uri="{BB962C8B-B14F-4D97-AF65-F5344CB8AC3E}">
        <p14:creationId xmlns:p14="http://schemas.microsoft.com/office/powerpoint/2010/main" val="2027202917"/>
      </p:ext>
    </p:extLst>
  </p:cSld>
</p:sld>
</file>

<file path=ppt/slides/slide11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2CD437D2-F199-48B0-823A-2877E6215055}"/>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8D39C666-2FE6-4DC6-BB15-2ED8F3C61437}"/>
              </a:ext>
            </a:extLst>
          </p:cNvPr>
          <p:cNvCxnSpPr>
            <a:stCxn xmlns:a="http://schemas.openxmlformats.org/drawingml/2006/main" id="13" idx="2"/>
            <a:endCxn xmlns:a="http://schemas.openxmlformats.org/drawingml/2006/main" id="31" idx="0"/>
          </p:cNvCxnSpPr>
          <p:nvPr/>
        </p:nvCxnSpPr>
        <p:spPr>
          <a:xfrm xmlns:a="http://schemas.openxmlformats.org/drawingml/2006/main">
            <a:off x="6096000" y="2905125"/>
            <a:ext cx="2262188"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B7BBBEBA-3BC9-44DE-8617-1E689B6D9CB8}"/>
              </a:ext>
            </a:extLst>
          </p:cNvPr>
          <p:cNvCxnSpPr>
            <a:stCxn xmlns:a="http://schemas.openxmlformats.org/drawingml/2006/main" id="16" idx="3"/>
            <a:endCxn xmlns:a="http://schemas.openxmlformats.org/drawingml/2006/main" id="19" idx="1"/>
          </p:cNvCxnSpPr>
          <p:nvPr/>
        </p:nvCxnSpPr>
        <p:spPr>
          <a:xfrm xmlns:a="http://schemas.openxmlformats.org/drawingml/2006/main">
            <a:off x="9358313"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114C04C3-1216-4BC7-B1F6-FA035A5587A0}"/>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B073AFDD-3AEE-409A-8395-C7348884A344}"/>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CB9901B7-7C14-4CBE-A261-C62F7EFBA765}"/>
              </a:ext>
            </a:extLst>
          </p:cNvPr>
          <p:cNvCxnSpPr>
            <a:stCxn xmlns:a="http://schemas.openxmlformats.org/drawingml/2006/main" id="28" idx="0"/>
            <a:endCxn xmlns:a="http://schemas.openxmlformats.org/drawingml/2006/main" id="13" idx="2"/>
          </p:cNvCxnSpPr>
          <p:nvPr/>
        </p:nvCxnSpPr>
        <p:spPr>
          <a:xfrm xmlns:a="http://schemas.openxmlformats.org/drawingml/2006/main" flipV="1">
            <a:off x="6096000"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4546F166-C94B-4421-935E-8FE202407D9F}"/>
              </a:ext>
            </a:extLst>
          </p:cNvPr>
          <p:cNvCxnSpPr>
            <a:stCxn xmlns:a="http://schemas.openxmlformats.org/drawingml/2006/main" id="25" idx="0"/>
            <a:endCxn xmlns:a="http://schemas.openxmlformats.org/drawingml/2006/main" id="10" idx="2"/>
          </p:cNvCxnSpPr>
          <p:nvPr/>
        </p:nvCxnSpPr>
        <p:spPr>
          <a:xfrm xmlns:a="http://schemas.openxmlformats.org/drawingml/2006/main" flipV="1">
            <a:off x="3833813"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90D7E1B5-2AE4-4AEB-BFC5-5001106242E2}"/>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CD4B3822-E707-4FCC-979B-310B036D9234}"/>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4697F691-FA16-4EE3-996B-6CD5BD07EF7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AX21 / 원문 추출·대조·사람 확정</a:t>
            </a:r>
          </a:p>
        </p:txBody>
      </p:sp>
      <p:sp>
        <p:nvSpPr>
          <p:cNvPr id="2" name="">
            <a:extLst xmlns:a="http://schemas.openxmlformats.org/drawingml/2006/main">
              <a:ext uri="{FF2B5EF4-FFF2-40B4-BE49-F238E27FC236}">
                <a16:creationId xmlns:a16="http://schemas.microsoft.com/office/drawing/2014/main" id="{7C06F74F-FA27-44D8-9C7A-E21FA6B0414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항공안전 이슈 분석 AI PoC · 세부 서비스 구조</a:t>
            </a:r>
          </a:p>
        </p:txBody>
      </p:sp>
      <p:sp>
        <p:nvSpPr>
          <p:cNvPr id="3" name="">
            <a:extLst xmlns:a="http://schemas.openxmlformats.org/drawingml/2006/main">
              <a:ext uri="{FF2B5EF4-FFF2-40B4-BE49-F238E27FC236}">
                <a16:creationId xmlns:a16="http://schemas.microsoft.com/office/drawing/2014/main" id="{2EAFB91F-66D2-4D9F-952B-B3E46948127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E730B3D-5C10-4D8D-89F7-CFCC24F5F96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A35B8A1A-238A-4C44-9A5B-5F3797E1024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110</a:t>
            </a:r>
          </a:p>
        </p:txBody>
      </p:sp>
      <p:sp>
        <p:nvSpPr>
          <p:cNvPr id="6" name="">
            <a:extLst xmlns:a="http://schemas.openxmlformats.org/drawingml/2006/main">
              <a:ext uri="{FF2B5EF4-FFF2-40B4-BE49-F238E27FC236}">
                <a16:creationId xmlns:a16="http://schemas.microsoft.com/office/drawing/2014/main" id="{2DBBA975-C4C3-43F5-BBF4-25E809EE48F1}"/>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항공안전 기사 → 전처리·RAG → 요약·위험 분류 → 분석원 재검토</a:t>
            </a:r>
          </a:p>
        </p:txBody>
      </p:sp>
      <p:sp>
        <p:nvSpPr>
          <p:cNvPr id="7" name="">
            <a:extLst xmlns:a="http://schemas.openxmlformats.org/drawingml/2006/main">
              <a:ext uri="{FF2B5EF4-FFF2-40B4-BE49-F238E27FC236}">
                <a16:creationId xmlns:a16="http://schemas.microsoft.com/office/drawing/2014/main" id="{EE23238E-AD09-4EF1-929F-D84BA3FEC92E}"/>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3005087D-6182-4D31-83AD-FD4DF9913CEC}"/>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0CEA4168-38F2-4EA8-BE9B-1B82100FEF36}"/>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기사 수집 접점</a:t>
            </a:r>
          </a:p>
        </p:txBody>
      </p:sp>
      <p:sp>
        <p:nvSpPr>
          <p:cNvPr id="10" name="">
            <a:extLst xmlns:a="http://schemas.openxmlformats.org/drawingml/2006/main">
              <a:ext uri="{FF2B5EF4-FFF2-40B4-BE49-F238E27FC236}">
                <a16:creationId xmlns:a16="http://schemas.microsoft.com/office/drawing/2014/main" id="{B440042B-CC74-45D1-A20B-FB5334E759CB}"/>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F68137F6-34B1-421C-8D79-BA897EEE6F97}"/>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2" name="">
            <a:extLst xmlns:a="http://schemas.openxmlformats.org/drawingml/2006/main">
              <a:ext uri="{FF2B5EF4-FFF2-40B4-BE49-F238E27FC236}">
                <a16:creationId xmlns:a16="http://schemas.microsoft.com/office/drawing/2014/main" id="{C9DF72C7-D40E-40E3-BBE7-C298B7B4C5B6}"/>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번역·요약·태깅</a:t>
            </a:r>
          </a:p>
        </p:txBody>
      </p:sp>
      <p:sp>
        <p:nvSpPr>
          <p:cNvPr id="13" name="">
            <a:extLst xmlns:a="http://schemas.openxmlformats.org/drawingml/2006/main">
              <a:ext uri="{FF2B5EF4-FFF2-40B4-BE49-F238E27FC236}">
                <a16:creationId xmlns:a16="http://schemas.microsoft.com/office/drawing/2014/main" id="{ABB723F6-BE2F-41C8-A5B5-D31831E2A0CF}"/>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CFB8E811-7E6E-4ED5-9056-B272761ED38D}"/>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5" name="">
            <a:extLst xmlns:a="http://schemas.openxmlformats.org/drawingml/2006/main">
              <a:ext uri="{FF2B5EF4-FFF2-40B4-BE49-F238E27FC236}">
                <a16:creationId xmlns:a16="http://schemas.microsoft.com/office/drawing/2014/main" id="{E3749024-2B48-4555-8265-81B31DEF09DF}"/>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사건·등급 대조</a:t>
            </a:r>
          </a:p>
        </p:txBody>
      </p:sp>
      <p:sp>
        <p:nvSpPr>
          <p:cNvPr id="16" name="">
            <a:extLst xmlns:a="http://schemas.openxmlformats.org/drawingml/2006/main">
              <a:ext uri="{FF2B5EF4-FFF2-40B4-BE49-F238E27FC236}">
                <a16:creationId xmlns:a16="http://schemas.microsoft.com/office/drawing/2014/main" id="{0CDA3CD7-FC17-4425-825D-5A039992B60F}"/>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4BEF2367-5457-4284-A89A-BEF8522AD08B}"/>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18" name="">
            <a:extLst xmlns:a="http://schemas.openxmlformats.org/drawingml/2006/main">
              <a:ext uri="{FF2B5EF4-FFF2-40B4-BE49-F238E27FC236}">
                <a16:creationId xmlns:a16="http://schemas.microsoft.com/office/drawing/2014/main" id="{A74A6A69-559D-4C6C-BBA7-D4ECD8B4811C}"/>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분석원 수정</a:t>
            </a:r>
          </a:p>
        </p:txBody>
      </p:sp>
      <p:sp>
        <p:nvSpPr>
          <p:cNvPr id="19" name="">
            <a:extLst xmlns:a="http://schemas.openxmlformats.org/drawingml/2006/main">
              <a:ext uri="{FF2B5EF4-FFF2-40B4-BE49-F238E27FC236}">
                <a16:creationId xmlns:a16="http://schemas.microsoft.com/office/drawing/2014/main" id="{2A635894-C0E0-4FA6-B819-A5CE8CA81FE4}"/>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E4E4FA28-A21A-43D9-898B-8CB81DE97EC8}"/>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77877785-8293-4A20-AD54-F6881E7D6848}"/>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검토 보고서</a:t>
            </a:r>
          </a:p>
        </p:txBody>
      </p:sp>
      <p:sp>
        <p:nvSpPr>
          <p:cNvPr id="22" name="">
            <a:extLst xmlns:a="http://schemas.openxmlformats.org/drawingml/2006/main">
              <a:ext uri="{FF2B5EF4-FFF2-40B4-BE49-F238E27FC236}">
                <a16:creationId xmlns:a16="http://schemas.microsoft.com/office/drawing/2014/main" id="{5FC8F2BF-79A2-41B4-86C4-155B28ED69D1}"/>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AA2442EC-C247-4EA1-8317-2EC17D5087F4}"/>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4" name="">
            <a:extLst xmlns:a="http://schemas.openxmlformats.org/drawingml/2006/main">
              <a:ext uri="{FF2B5EF4-FFF2-40B4-BE49-F238E27FC236}">
                <a16:creationId xmlns:a16="http://schemas.microsoft.com/office/drawing/2014/main" id="{FA665CF1-499E-4B34-9BFA-984A4C1E56A5}"/>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기사·안전 분류</a:t>
            </a:r>
          </a:p>
        </p:txBody>
      </p:sp>
      <p:sp>
        <p:nvSpPr>
          <p:cNvPr id="25" name="">
            <a:extLst xmlns:a="http://schemas.openxmlformats.org/drawingml/2006/main">
              <a:ext uri="{FF2B5EF4-FFF2-40B4-BE49-F238E27FC236}">
                <a16:creationId xmlns:a16="http://schemas.microsoft.com/office/drawing/2014/main" id="{A0C50EFE-EB23-422C-9223-89D80A8C607A}"/>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3475E56C-982A-41B1-AADA-9D8FF3D9D8C3}"/>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27" name="">
            <a:extLst xmlns:a="http://schemas.openxmlformats.org/drawingml/2006/main">
              <a:ext uri="{FF2B5EF4-FFF2-40B4-BE49-F238E27FC236}">
                <a16:creationId xmlns:a16="http://schemas.microsoft.com/office/drawing/2014/main" id="{2EBBD1EC-74B1-4200-A99B-8C494F255EFB}"/>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번역·판본 정리</a:t>
            </a:r>
          </a:p>
        </p:txBody>
      </p:sp>
      <p:sp>
        <p:nvSpPr>
          <p:cNvPr id="28" name="">
            <a:extLst xmlns:a="http://schemas.openxmlformats.org/drawingml/2006/main">
              <a:ext uri="{FF2B5EF4-FFF2-40B4-BE49-F238E27FC236}">
                <a16:creationId xmlns:a16="http://schemas.microsoft.com/office/drawing/2014/main" id="{CD23B585-06EA-40F1-BC16-D58A24BC404D}"/>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EA15659A-CFCB-426A-B660-BD3A019CBDEB}"/>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D31DE343-BE45-4961-9785-07DB278E5C0C}"/>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분류 지식 검색</a:t>
            </a:r>
          </a:p>
        </p:txBody>
      </p:sp>
      <p:sp>
        <p:nvSpPr>
          <p:cNvPr id="31" name="">
            <a:extLst xmlns:a="http://schemas.openxmlformats.org/drawingml/2006/main">
              <a:ext uri="{FF2B5EF4-FFF2-40B4-BE49-F238E27FC236}">
                <a16:creationId xmlns:a16="http://schemas.microsoft.com/office/drawing/2014/main" id="{065FB096-EF2F-4062-BE10-2AC6B9464EDC}"/>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84B495A7-A6AD-4360-9E17-B41658679866}"/>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4446A6E2-0E57-4F8B-A4AB-A2D991C70188}"/>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기사·분류 이력</a:t>
            </a:r>
          </a:p>
        </p:txBody>
      </p:sp>
      <p:sp>
        <p:nvSpPr>
          <p:cNvPr id="34" name="">
            <a:extLst xmlns:a="http://schemas.openxmlformats.org/drawingml/2006/main">
              <a:ext uri="{FF2B5EF4-FFF2-40B4-BE49-F238E27FC236}">
                <a16:creationId xmlns:a16="http://schemas.microsoft.com/office/drawing/2014/main" id="{E5B0E0C6-33CA-4F8E-AAA8-65897A6D84D0}"/>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B92AE3DE-7CCB-4D5D-A008-D21CFDEDFB8A}"/>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37B347D7-FF06-411B-AA0F-D9763A8B2199}"/>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누락 회귀평가</a:t>
            </a:r>
          </a:p>
        </p:txBody>
      </p:sp>
      <p:sp>
        <p:nvSpPr>
          <p:cNvPr id="46" name="">
            <a:extLst xmlns:a="http://schemas.openxmlformats.org/drawingml/2006/main">
              <a:ext uri="{FF2B5EF4-FFF2-40B4-BE49-F238E27FC236}">
                <a16:creationId xmlns:a16="http://schemas.microsoft.com/office/drawing/2014/main" id="{4E63B0A1-519B-4F04-919E-127A70809E95}"/>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725133882"/>
      </p:ext>
    </p:extLst>
  </p:cSld>
</p:sld>
</file>

<file path=ppt/slides/slide11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F8DEFFCF-4AD3-4A41-BDE9-09EE0E91172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AX21 / 논리 인터페이스·복구 설계</a:t>
            </a:r>
          </a:p>
        </p:txBody>
      </p:sp>
      <p:sp>
        <p:nvSpPr>
          <p:cNvPr id="2" name="">
            <a:extLst xmlns:a="http://schemas.openxmlformats.org/drawingml/2006/main">
              <a:ext uri="{FF2B5EF4-FFF2-40B4-BE49-F238E27FC236}">
                <a16:creationId xmlns:a16="http://schemas.microsoft.com/office/drawing/2014/main" id="{C80B2621-D745-4851-B91F-08C0EFFFBE0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항공안전 이슈 분석 AI PoC · 데이터와 예외 처리</a:t>
            </a:r>
          </a:p>
        </p:txBody>
      </p:sp>
      <p:sp>
        <p:nvSpPr>
          <p:cNvPr id="3" name="">
            <a:extLst xmlns:a="http://schemas.openxmlformats.org/drawingml/2006/main">
              <a:ext uri="{FF2B5EF4-FFF2-40B4-BE49-F238E27FC236}">
                <a16:creationId xmlns:a16="http://schemas.microsoft.com/office/drawing/2014/main" id="{629AEA04-E0B3-4B2B-8D6F-BE075351A93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BAB6CEC-F71D-469B-BA07-D52E5008DC7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DE5468F-CE62-4B4D-8C20-8E29C6B7598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111</a:t>
            </a:r>
          </a:p>
        </p:txBody>
      </p:sp>
      <p:sp>
        <p:nvSpPr>
          <p:cNvPr id="6" name="">
            <a:extLst xmlns:a="http://schemas.openxmlformats.org/drawingml/2006/main">
              <a:ext uri="{FF2B5EF4-FFF2-40B4-BE49-F238E27FC236}">
                <a16:creationId xmlns:a16="http://schemas.microsoft.com/office/drawing/2014/main" id="{21A4E298-443D-4D2E-86FC-896FCDA4A863}"/>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D120BD4B-9D82-48DB-8F0B-348D35BD742A}"/>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258A4110-FF56-4361-8886-F94ABF5BF39C}"/>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원문 반입</a:t>
            </a:r>
          </a:p>
        </p:txBody>
      </p:sp>
      <p:sp>
        <p:nvSpPr>
          <p:cNvPr id="9" name="">
            <a:extLst xmlns:a="http://schemas.openxmlformats.org/drawingml/2006/main">
              <a:ext uri="{FF2B5EF4-FFF2-40B4-BE49-F238E27FC236}">
                <a16:creationId xmlns:a16="http://schemas.microsoft.com/office/drawing/2014/main" id="{76CD83E8-080B-4D04-BB07-5A0257FAA173}"/>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기사·위험 분류체계</a:t>
            </a:r>
          </a:p>
        </p:txBody>
      </p:sp>
      <p:sp>
        <p:nvSpPr>
          <p:cNvPr id="10" name="">
            <a:extLst xmlns:a="http://schemas.openxmlformats.org/drawingml/2006/main">
              <a:ext uri="{FF2B5EF4-FFF2-40B4-BE49-F238E27FC236}">
                <a16:creationId xmlns:a16="http://schemas.microsoft.com/office/drawing/2014/main" id="{454D45F8-7CB7-4E6A-BF67-83D538055E4D}"/>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E8CC95E-DE40-4981-BE8F-C053354BCF94}"/>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정제 원문</a:t>
            </a:r>
          </a:p>
        </p:txBody>
      </p:sp>
      <p:sp>
        <p:nvSpPr>
          <p:cNvPr id="12" name="">
            <a:extLst xmlns:a="http://schemas.openxmlformats.org/drawingml/2006/main">
              <a:ext uri="{FF2B5EF4-FFF2-40B4-BE49-F238E27FC236}">
                <a16:creationId xmlns:a16="http://schemas.microsoft.com/office/drawing/2014/main" id="{137ED5CD-0CE8-47B4-8A3C-9F659CB1C79A}"/>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BBE9ECF7-C7C7-43F2-86FA-5E210F5D6836}"/>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9AD5742-F899-4CE5-910C-235FAB3374B3}"/>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추출값</a:t>
            </a:r>
          </a:p>
        </p:txBody>
      </p:sp>
      <p:sp>
        <p:nvSpPr>
          <p:cNvPr id="15" name="">
            <a:extLst xmlns:a="http://schemas.openxmlformats.org/drawingml/2006/main">
              <a:ext uri="{FF2B5EF4-FFF2-40B4-BE49-F238E27FC236}">
                <a16:creationId xmlns:a16="http://schemas.microsoft.com/office/drawing/2014/main" id="{0F740AF6-D0A5-494F-8F4C-BCDDDF004911}"/>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요약·위험 태그</a:t>
            </a:r>
          </a:p>
        </p:txBody>
      </p:sp>
      <p:sp>
        <p:nvSpPr>
          <p:cNvPr id="16" name="">
            <a:extLst xmlns:a="http://schemas.openxmlformats.org/drawingml/2006/main">
              <a:ext uri="{FF2B5EF4-FFF2-40B4-BE49-F238E27FC236}">
                <a16:creationId xmlns:a16="http://schemas.microsoft.com/office/drawing/2014/main" id="{2599CEE7-B3D7-4CEE-A58B-72178935195C}"/>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018F20C-A3CE-4FB0-B063-D3BF0D820EC6}"/>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규정·대조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기준</a:t>
            </a:r>
          </a:p>
        </p:txBody>
      </p:sp>
      <p:sp>
        <p:nvSpPr>
          <p:cNvPr id="18" name="">
            <a:extLst xmlns:a="http://schemas.openxmlformats.org/drawingml/2006/main">
              <a:ext uri="{FF2B5EF4-FFF2-40B4-BE49-F238E27FC236}">
                <a16:creationId xmlns:a16="http://schemas.microsoft.com/office/drawing/2014/main" id="{E6716C8F-D337-41BC-8320-6654B5E927DF}"/>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분석용 문서</a:t>
            </a:r>
          </a:p>
        </p:txBody>
      </p:sp>
      <p:sp>
        <p:nvSpPr>
          <p:cNvPr id="19" name="">
            <a:extLst xmlns:a="http://schemas.openxmlformats.org/drawingml/2006/main">
              <a:ext uri="{FF2B5EF4-FFF2-40B4-BE49-F238E27FC236}">
                <a16:creationId xmlns:a16="http://schemas.microsoft.com/office/drawing/2014/main" id="{7313CCC8-8AFC-4654-B88A-964FB58230F2}"/>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25D5C967-79E1-450F-A349-E109C357144F}"/>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불일치·누락</a:t>
            </a:r>
          </a:p>
        </p:txBody>
      </p:sp>
      <p:sp>
        <p:nvSpPr>
          <p:cNvPr id="21" name="">
            <a:extLst xmlns:a="http://schemas.openxmlformats.org/drawingml/2006/main">
              <a:ext uri="{FF2B5EF4-FFF2-40B4-BE49-F238E27FC236}">
                <a16:creationId xmlns:a16="http://schemas.microsoft.com/office/drawing/2014/main" id="{28F91776-EB38-4701-9528-6B5FE92D6299}"/>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요약·위험 태그</a:t>
            </a:r>
          </a:p>
        </p:txBody>
      </p:sp>
      <p:sp>
        <p:nvSpPr>
          <p:cNvPr id="22" name="">
            <a:extLst xmlns:a="http://schemas.openxmlformats.org/drawingml/2006/main">
              <a:ext uri="{FF2B5EF4-FFF2-40B4-BE49-F238E27FC236}">
                <a16:creationId xmlns:a16="http://schemas.microsoft.com/office/drawing/2014/main" id="{647C8518-6F1A-4473-B00A-2FC39947234C}"/>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1D566E7-AF8C-4BBF-B776-D8D4127F7113}"/>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확정 결과</a:t>
            </a:r>
          </a:p>
        </p:txBody>
      </p:sp>
      <p:sp>
        <p:nvSpPr>
          <p:cNvPr id="24" name="">
            <a:extLst xmlns:a="http://schemas.openxmlformats.org/drawingml/2006/main">
              <a:ext uri="{FF2B5EF4-FFF2-40B4-BE49-F238E27FC236}">
                <a16:creationId xmlns:a16="http://schemas.microsoft.com/office/drawing/2014/main" id="{9FCC7283-A86C-4445-A181-D758FBF00ECB}"/>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분석원 수정</a:t>
            </a:r>
          </a:p>
        </p:txBody>
      </p:sp>
      <p:sp>
        <p:nvSpPr>
          <p:cNvPr id="25" name="">
            <a:extLst xmlns:a="http://schemas.openxmlformats.org/drawingml/2006/main">
              <a:ext uri="{FF2B5EF4-FFF2-40B4-BE49-F238E27FC236}">
                <a16:creationId xmlns:a16="http://schemas.microsoft.com/office/drawing/2014/main" id="{901F96D6-A045-4A79-AEDF-DEEF09710674}"/>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BC903344-885A-415B-A849-52E5CAE83E78}"/>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다른 사건의 혼합·번역 부정문 오류·분류 중복</a:t>
            </a:r>
          </a:p>
        </p:txBody>
      </p:sp>
      <p:sp>
        <p:nvSpPr>
          <p:cNvPr id="27" name="">
            <a:extLst xmlns:a="http://schemas.openxmlformats.org/drawingml/2006/main">
              <a:ext uri="{FF2B5EF4-FFF2-40B4-BE49-F238E27FC236}">
                <a16:creationId xmlns:a16="http://schemas.microsoft.com/office/drawing/2014/main" id="{E3D51677-2E12-4166-8E1B-B4530710F0D2}"/>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BC22CD4D-08A4-48B4-8FE0-DC5092C5E2ED}"/>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원문 사건·시각·위험등급 대조</a:t>
            </a:r>
          </a:p>
        </p:txBody>
      </p:sp>
      <p:sp>
        <p:nvSpPr>
          <p:cNvPr id="29" name="">
            <a:extLst xmlns:a="http://schemas.openxmlformats.org/drawingml/2006/main">
              <a:ext uri="{FF2B5EF4-FFF2-40B4-BE49-F238E27FC236}">
                <a16:creationId xmlns:a16="http://schemas.microsoft.com/office/drawing/2014/main" id="{BA865A06-E64F-4403-9639-4DA9CAE95760}"/>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6D9E5054-67FD-479B-AA39-D1F2A7D82B0E}"/>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분석원 수정과 분류 누락의 회귀 평가</a:t>
            </a:r>
          </a:p>
        </p:txBody>
      </p:sp>
      <p:sp>
        <p:nvSpPr>
          <p:cNvPr id="31" name="">
            <a:extLst xmlns:a="http://schemas.openxmlformats.org/drawingml/2006/main">
              <a:ext uri="{FF2B5EF4-FFF2-40B4-BE49-F238E27FC236}">
                <a16:creationId xmlns:a16="http://schemas.microsoft.com/office/drawing/2014/main" id="{19C758AC-2B8C-449F-A00E-C8DDA035A866}"/>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001E6E8F-C90A-4283-BD8B-BECDE93A407E}"/>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원문 구간과 번역·분류·분석원 수정 연결표</a:t>
            </a:r>
          </a:p>
        </p:txBody>
      </p:sp>
    </p:spTree>
    <p:extLst>
      <p:ext uri="{BB962C8B-B14F-4D97-AF65-F5344CB8AC3E}">
        <p14:creationId xmlns:p14="http://schemas.microsoft.com/office/powerpoint/2010/main" val="1655874552"/>
      </p:ext>
    </p:extLst>
  </p:cSld>
</p:sld>
</file>

<file path=ppt/slides/slide11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F02B66F-2155-428D-BD59-CD7C69D29FF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AX21 / CCK 비교·재현 시험 설계</a:t>
            </a:r>
          </a:p>
        </p:txBody>
      </p:sp>
      <p:sp>
        <p:nvSpPr>
          <p:cNvPr id="2" name="">
            <a:extLst xmlns:a="http://schemas.openxmlformats.org/drawingml/2006/main">
              <a:ext uri="{FF2B5EF4-FFF2-40B4-BE49-F238E27FC236}">
                <a16:creationId xmlns:a16="http://schemas.microsoft.com/office/drawing/2014/main" id="{BA6D6B1F-E54E-454B-8791-CA54E3E6D83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항공안전 이슈 분석 AI PoC · 벤치마킹</a:t>
            </a:r>
          </a:p>
        </p:txBody>
      </p:sp>
      <p:sp>
        <p:nvSpPr>
          <p:cNvPr id="3" name="">
            <a:extLst xmlns:a="http://schemas.openxmlformats.org/drawingml/2006/main">
              <a:ext uri="{FF2B5EF4-FFF2-40B4-BE49-F238E27FC236}">
                <a16:creationId xmlns:a16="http://schemas.microsoft.com/office/drawing/2014/main" id="{F6716F43-37D2-4EA4-B27B-F98F0ECC267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C81802F-818B-4DF3-A332-5D3F92F7883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3E994CE4-614F-483A-B0EF-163A47BF022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112</a:t>
            </a:r>
          </a:p>
        </p:txBody>
      </p:sp>
      <p:sp>
        <p:nvSpPr>
          <p:cNvPr id="6" name="">
            <a:extLst xmlns:a="http://schemas.openxmlformats.org/drawingml/2006/main">
              <a:ext uri="{FF2B5EF4-FFF2-40B4-BE49-F238E27FC236}">
                <a16:creationId xmlns:a16="http://schemas.microsoft.com/office/drawing/2014/main" id="{45DEEAB1-9452-42F9-9D3A-D7C27D42052E}"/>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FB7A719B-3D2B-4A6A-9A71-B7968CFC84AE}"/>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분류체계에 맞춘 번역·요약</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안전 분석원의 재검토</a:t>
            </a:r>
          </a:p>
        </p:txBody>
      </p:sp>
      <p:sp>
        <p:nvSpPr>
          <p:cNvPr id="8" name="">
            <a:extLst xmlns:a="http://schemas.openxmlformats.org/drawingml/2006/main">
              <a:ext uri="{FF2B5EF4-FFF2-40B4-BE49-F238E27FC236}">
                <a16:creationId xmlns:a16="http://schemas.microsoft.com/office/drawing/2014/main" id="{C91485DA-6225-470F-BAE7-13E3AAF14D55}"/>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878904C6-5280-4EBA-A73D-7423A0A62735}"/>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다국어 용어·위험 분류 오류</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기사 요약에서 중요 사건 누락</a:t>
            </a:r>
          </a:p>
        </p:txBody>
      </p:sp>
      <p:sp>
        <p:nvSpPr>
          <p:cNvPr id="10" name="">
            <a:extLst xmlns:a="http://schemas.openxmlformats.org/drawingml/2006/main">
              <a:ext uri="{FF2B5EF4-FFF2-40B4-BE49-F238E27FC236}">
                <a16:creationId xmlns:a16="http://schemas.microsoft.com/office/drawing/2014/main" id="{178B3825-060F-42C9-82CE-9D372E2324AB}"/>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DB0BF7CA-58C0-4E88-BC8A-13F254B8CDF0}"/>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원문 사건·시각·위험등급 대조</a:t>
            </a:r>
          </a:p>
        </p:txBody>
      </p:sp>
      <p:sp>
        <p:nvSpPr>
          <p:cNvPr id="12" name="">
            <a:extLst xmlns:a="http://schemas.openxmlformats.org/drawingml/2006/main">
              <a:ext uri="{FF2B5EF4-FFF2-40B4-BE49-F238E27FC236}">
                <a16:creationId xmlns:a16="http://schemas.microsoft.com/office/drawing/2014/main" id="{0F32A437-FFBA-4A99-9011-96BF25B01A25}"/>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F5EF5CD6-A325-4188-9B86-AFBD90F53FA9}"/>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기사의 사건·번역·분류 근거를 분석원이 검토</a:t>
            </a:r>
          </a:p>
        </p:txBody>
      </p:sp>
      <p:sp>
        <p:nvSpPr>
          <p:cNvPr id="14" name="">
            <a:extLst xmlns:a="http://schemas.openxmlformats.org/drawingml/2006/main">
              <a:ext uri="{FF2B5EF4-FFF2-40B4-BE49-F238E27FC236}">
                <a16:creationId xmlns:a16="http://schemas.microsoft.com/office/drawing/2014/main" id="{2E6DDD40-BF3B-48DF-BBC2-DAD28F57533D}"/>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5267FBF4-B0D0-428A-9077-42E872F74118}"/>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다른 사건의 혼합·번역 부정문 오류·분류 중복</a:t>
            </a:r>
          </a:p>
        </p:txBody>
      </p:sp>
      <p:sp>
        <p:nvSpPr>
          <p:cNvPr id="16" name="">
            <a:extLst xmlns:a="http://schemas.openxmlformats.org/drawingml/2006/main">
              <a:ext uri="{FF2B5EF4-FFF2-40B4-BE49-F238E27FC236}">
                <a16:creationId xmlns:a16="http://schemas.microsoft.com/office/drawing/2014/main" id="{CE23CDB7-71A6-44E3-B591-19F606AB841A}"/>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82B3AA1A-1BA5-4067-A10A-A6BF1C881169}"/>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원문 구간과 번역·분류·분석원 수정 연결표</a:t>
            </a:r>
          </a:p>
        </p:txBody>
      </p:sp>
    </p:spTree>
    <p:extLst>
      <p:ext uri="{BB962C8B-B14F-4D97-AF65-F5344CB8AC3E}">
        <p14:creationId xmlns:p14="http://schemas.microsoft.com/office/powerpoint/2010/main" val="2062511356"/>
      </p:ext>
    </p:extLst>
  </p:cSld>
</p:sld>
</file>

<file path=ppt/slides/slide11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33B676F-8E7C-4CE1-AD28-03397E20258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AX22 / 성과 미검증 / 국내</a:t>
            </a:r>
          </a:p>
        </p:txBody>
      </p:sp>
      <p:sp>
        <p:nvSpPr>
          <p:cNvPr id="2" name="">
            <a:extLst xmlns:a="http://schemas.openxmlformats.org/drawingml/2006/main">
              <a:ext uri="{FF2B5EF4-FFF2-40B4-BE49-F238E27FC236}">
                <a16:creationId xmlns:a16="http://schemas.microsoft.com/office/drawing/2014/main" id="{1C59D8B6-BFDF-4368-AE44-4EBB9336078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도시철도 교통안전 GPT</a:t>
            </a:r>
          </a:p>
        </p:txBody>
      </p:sp>
      <p:sp>
        <p:nvSpPr>
          <p:cNvPr id="3" name="">
            <a:extLst xmlns:a="http://schemas.openxmlformats.org/drawingml/2006/main">
              <a:ext uri="{FF2B5EF4-FFF2-40B4-BE49-F238E27FC236}">
                <a16:creationId xmlns:a16="http://schemas.microsoft.com/office/drawing/2014/main" id="{7C2091C2-0CF9-4DA2-9AA6-E0675D15E93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27492FE-6D0C-4C7C-8E34-B26B37F6CD0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86D28B1A-105D-48BE-A8F9-9C526714D6F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113</a:t>
            </a:r>
          </a:p>
        </p:txBody>
      </p:sp>
      <p:sp>
        <p:nvSpPr>
          <p:cNvPr id="6" name="">
            <a:extLst xmlns:a="http://schemas.openxmlformats.org/drawingml/2006/main">
              <a:ext uri="{FF2B5EF4-FFF2-40B4-BE49-F238E27FC236}">
                <a16:creationId xmlns:a16="http://schemas.microsoft.com/office/drawing/2014/main" id="{0C04285C-5193-4212-856E-3A3A06E4E6AB}"/>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41D0D948-0569-418D-9F47-6D9C3624867A}"/>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도시철도 안전 업무에서 법령·사규·매뉴얼을 함께 검색</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하는 질의응답 사례. 자료가 여러 위치와 판본으로 존재</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할 때 관련 조문을 찾는 작업의 지원.</a:t>
            </a:r>
          </a:p>
        </p:txBody>
      </p:sp>
      <p:sp>
        <p:nvSpPr>
          <p:cNvPr id="8" name="">
            <a:extLst xmlns:a="http://schemas.openxmlformats.org/drawingml/2006/main">
              <a:ext uri="{FF2B5EF4-FFF2-40B4-BE49-F238E27FC236}">
                <a16:creationId xmlns:a16="http://schemas.microsoft.com/office/drawing/2014/main" id="{A9849238-C6AC-4819-850A-4A135250AD9E}"/>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CFD4D21B-7D11-4CEF-9505-E509263A519B}"/>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질의의 업무·설비·적용 시점을 바탕으로 유효 문서를 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색하고 조문 위치를 포함한 답변을 구성하는 재구성. 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장 담당자가 예외 조건과 시행일을 확인한 후 업무에 참</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고하는 흐름.</a:t>
            </a:r>
          </a:p>
        </p:txBody>
      </p:sp>
      <p:sp>
        <p:nvSpPr>
          <p:cNvPr id="10" name="">
            <a:extLst xmlns:a="http://schemas.openxmlformats.org/drawingml/2006/main">
              <a:ext uri="{FF2B5EF4-FFF2-40B4-BE49-F238E27FC236}">
                <a16:creationId xmlns:a16="http://schemas.microsoft.com/office/drawing/2014/main" id="{7EFE8C9B-A86F-4B0F-AEA1-FAE26E346C1C}"/>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4EEB979D-4DC0-450F-9F84-D0F61FDF181C}"/>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CCK에서는 검색 답변과 안전 승인 권한을 분리하고 개정</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전후 충돌 답변을 시험할 근거. 구판 회수, 조문 위치 일치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예외 조건 누락과 검토시간을 TS 부서별로 측정할 필요.</a:t>
            </a:r>
          </a:p>
        </p:txBody>
      </p:sp>
      <p:sp>
        <p:nvSpPr>
          <p:cNvPr id="12" name="">
            <a:extLst xmlns:a="http://schemas.openxmlformats.org/drawingml/2006/main">
              <a:ext uri="{FF2B5EF4-FFF2-40B4-BE49-F238E27FC236}">
                <a16:creationId xmlns:a16="http://schemas.microsoft.com/office/drawing/2014/main" id="{E0C113CD-4042-495B-86E8-69FB071B6590}"/>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5C06A51E-2E97-4882-B4DB-393C2AF05AE5}"/>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규정 효력일·폐지 문서·업무별 평가셋</a:t>
            </a:r>
          </a:p>
        </p:txBody>
      </p:sp>
      <p:sp>
        <p:nvSpPr>
          <p:cNvPr id="14" name="">
            <a:extLst xmlns:a="http://schemas.openxmlformats.org/drawingml/2006/main">
              <a:ext uri="{FF2B5EF4-FFF2-40B4-BE49-F238E27FC236}">
                <a16:creationId xmlns:a16="http://schemas.microsoft.com/office/drawing/2014/main" id="{1BD582A6-117E-4EB8-BE8C-1B9FDD17BDFA}"/>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8C8CDA37-DA20-4032-BF6C-FDF2E5239D92}"/>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동일 질문의 개정 전후 근거·답변 일치 시험</a:t>
            </a:r>
          </a:p>
        </p:txBody>
      </p:sp>
      <p:sp>
        <p:nvSpPr>
          <p:cNvPr id="16" name="">
            <a:extLst xmlns:a="http://schemas.openxmlformats.org/drawingml/2006/main">
              <a:ext uri="{FF2B5EF4-FFF2-40B4-BE49-F238E27FC236}">
                <a16:creationId xmlns:a16="http://schemas.microsoft.com/office/drawing/2014/main" id="{3CFAF27C-DF2F-454E-852A-8BCF302913AD}"/>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03C84B5D-576C-405E-9202-10A038406821}"/>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근거 정확도 / 검토시간</a:t>
            </a:r>
          </a:p>
        </p:txBody>
      </p:sp>
      <p:sp>
        <p:nvSpPr>
          <p:cNvPr id="18" name="">
            <a:extLst xmlns:a="http://schemas.openxmlformats.org/drawingml/2006/main">
              <a:ext uri="{FF2B5EF4-FFF2-40B4-BE49-F238E27FC236}">
                <a16:creationId xmlns:a16="http://schemas.microsoft.com/office/drawing/2014/main" id="{AA2D99C9-5D7C-4677-B929-D4CD8A43CF09}"/>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실증과 기대효과 소개 · 사고 예방의 인과성과 수치 미제시</a:t>
            </a:r>
          </a:p>
        </p:txBody>
      </p:sp>
    </p:spTree>
    <p:extLst>
      <p:ext uri="{BB962C8B-B14F-4D97-AF65-F5344CB8AC3E}">
        <p14:creationId xmlns:p14="http://schemas.microsoft.com/office/powerpoint/2010/main" val="484772617"/>
      </p:ext>
    </p:extLst>
  </p:cSld>
</p:sld>
</file>

<file path=ppt/slides/slide11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F41FDD8-4E3B-4A3B-8940-80B74B9E914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AX22 / As-Is → To-Be → 기대효과 → 확인 결과</a:t>
            </a:r>
          </a:p>
        </p:txBody>
      </p:sp>
      <p:sp>
        <p:nvSpPr>
          <p:cNvPr id="2" name="">
            <a:extLst xmlns:a="http://schemas.openxmlformats.org/drawingml/2006/main">
              <a:ext uri="{FF2B5EF4-FFF2-40B4-BE49-F238E27FC236}">
                <a16:creationId xmlns:a16="http://schemas.microsoft.com/office/drawing/2014/main" id="{E8EBDABC-30F0-4DE7-8968-C531F46517E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도시철도 교통안전 GPT · 기대와 결과</a:t>
            </a:r>
          </a:p>
        </p:txBody>
      </p:sp>
      <p:sp>
        <p:nvSpPr>
          <p:cNvPr id="3" name="">
            <a:extLst xmlns:a="http://schemas.openxmlformats.org/drawingml/2006/main">
              <a:ext uri="{FF2B5EF4-FFF2-40B4-BE49-F238E27FC236}">
                <a16:creationId xmlns:a16="http://schemas.microsoft.com/office/drawing/2014/main" id="{06075491-4B82-4F14-82BC-5A64C10F375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4679C30-00F1-4302-930E-F9F29ADB9F9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FF5464E-D01D-4E52-A54A-45A75684172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114</a:t>
            </a:r>
          </a:p>
        </p:txBody>
      </p:sp>
      <p:sp>
        <p:nvSpPr>
          <p:cNvPr id="6" name="">
            <a:extLst xmlns:a="http://schemas.openxmlformats.org/drawingml/2006/main">
              <a:ext uri="{FF2B5EF4-FFF2-40B4-BE49-F238E27FC236}">
                <a16:creationId xmlns:a16="http://schemas.microsoft.com/office/drawing/2014/main" id="{6F2BA2E9-24B5-46B8-9534-00E0E32A01DD}"/>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70F9C006-B147-4DB1-A4C7-3FBC6B9EE09A}"/>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도시철도 안전 담당자가 법령·사규·매뉴얼의 최신 조항을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개별 검색</a:t>
            </a:r>
          </a:p>
        </p:txBody>
      </p:sp>
      <p:sp>
        <p:nvSpPr>
          <p:cNvPr id="8" name="">
            <a:extLst xmlns:a="http://schemas.openxmlformats.org/drawingml/2006/main">
              <a:ext uri="{FF2B5EF4-FFF2-40B4-BE49-F238E27FC236}">
                <a16:creationId xmlns:a16="http://schemas.microsoft.com/office/drawing/2014/main" id="{B4220170-E25E-4A63-BD1E-94BC2E3D9928}"/>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81A73DA7-D559-4349-BE35-378C95BDD831}"/>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선정 문서를 검색해 근거가 연결된 안전 질의응답 제공</a:t>
            </a:r>
          </a:p>
        </p:txBody>
      </p:sp>
      <p:sp>
        <p:nvSpPr>
          <p:cNvPr id="10" name="">
            <a:extLst xmlns:a="http://schemas.openxmlformats.org/drawingml/2006/main">
              <a:ext uri="{FF2B5EF4-FFF2-40B4-BE49-F238E27FC236}">
                <a16:creationId xmlns:a16="http://schemas.microsoft.com/office/drawing/2014/main" id="{AFD8EA06-BBB2-475B-95BA-D3FBA0960526}"/>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563F3B59-DD1A-4BFF-A907-1A0A5734E376}"/>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규정 탐색시간 감소와 업무 판단의 근거 일치도 향상</a:t>
            </a:r>
          </a:p>
        </p:txBody>
      </p:sp>
      <p:sp>
        <p:nvSpPr>
          <p:cNvPr id="12" name="">
            <a:extLst xmlns:a="http://schemas.openxmlformats.org/drawingml/2006/main">
              <a:ext uri="{FF2B5EF4-FFF2-40B4-BE49-F238E27FC236}">
                <a16:creationId xmlns:a16="http://schemas.microsoft.com/office/drawing/2014/main" id="{A7CE8A8B-9D68-4F29-B1C6-7FB183AB3495}"/>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75E983AE-07D3-4677-8FC1-867E9441286E}"/>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공공 사례집이 안전 법령·사규·매뉴얼 기반 GPT 서비스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실증을 소개</a:t>
            </a:r>
          </a:p>
        </p:txBody>
      </p:sp>
      <p:sp>
        <p:nvSpPr>
          <p:cNvPr id="14" name="">
            <a:extLst xmlns:a="http://schemas.openxmlformats.org/drawingml/2006/main">
              <a:ext uri="{FF2B5EF4-FFF2-40B4-BE49-F238E27FC236}">
                <a16:creationId xmlns:a16="http://schemas.microsoft.com/office/drawing/2014/main" id="{839EDAEE-FCF7-48FD-8599-A4E676B34B25}"/>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실증 범위는 확인되나 최신 판본 정답률·현장 사용률·사고 감소 실측 부재</a:t>
            </a:r>
          </a:p>
        </p:txBody>
      </p:sp>
      <p:sp>
        <p:nvSpPr>
          <p:cNvPr id="15" name="">
            <a:extLst xmlns:a="http://schemas.openxmlformats.org/drawingml/2006/main">
              <a:ext uri="{FF2B5EF4-FFF2-40B4-BE49-F238E27FC236}">
                <a16:creationId xmlns:a16="http://schemas.microsoft.com/office/drawing/2014/main" id="{F57BA7F3-39F2-495D-BFC3-2111F8E11634}"/>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정부 실증 사례집 · 선정 문서의 실증 사례. 안전 판단 자동 승인으로 해석 불가</a:t>
            </a:r>
          </a:p>
        </p:txBody>
      </p:sp>
    </p:spTree>
    <p:extLst>
      <p:ext uri="{BB962C8B-B14F-4D97-AF65-F5344CB8AC3E}">
        <p14:creationId xmlns:p14="http://schemas.microsoft.com/office/powerpoint/2010/main" val="2001287457"/>
      </p:ext>
    </p:extLst>
  </p:cSld>
</p:sld>
</file>

<file path=ppt/slides/slide11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F64EB7A1-062F-4A9B-87C7-16E08FA853EA}"/>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08C709AC-A348-42AF-810D-9C46937D96F6}"/>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CE56A46C-F22B-4CEF-B764-CE0825CDDFC7}"/>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EB898EE4-7A34-4EA2-A647-4E9568AFDCD7}"/>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52844BB8-323F-4162-B392-C6FE4860D449}"/>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B2A5367A-85BA-4A3C-AF32-A7623AA31DBA}"/>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467FC91F-D6AE-4BCD-90C0-21205178231B}"/>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8A7BCE0B-7AF2-4BF1-9F31-5FF35C3CF911}"/>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B69144BC-9DB8-4CAA-9521-06E047B73C31}"/>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81B99546-BE22-4DBF-B0AE-12CC146F661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AX22 / 지식 갱신·검색·근거 응답</a:t>
            </a:r>
          </a:p>
        </p:txBody>
      </p:sp>
      <p:sp>
        <p:nvSpPr>
          <p:cNvPr id="2" name="">
            <a:extLst xmlns:a="http://schemas.openxmlformats.org/drawingml/2006/main">
              <a:ext uri="{FF2B5EF4-FFF2-40B4-BE49-F238E27FC236}">
                <a16:creationId xmlns:a16="http://schemas.microsoft.com/office/drawing/2014/main" id="{385AB2FB-621C-467D-BBA2-30366CC9F88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도시철도 교통안전 GPT · 세부 서비스 구조</a:t>
            </a:r>
          </a:p>
        </p:txBody>
      </p:sp>
      <p:sp>
        <p:nvSpPr>
          <p:cNvPr id="3" name="">
            <a:extLst xmlns:a="http://schemas.openxmlformats.org/drawingml/2006/main">
              <a:ext uri="{FF2B5EF4-FFF2-40B4-BE49-F238E27FC236}">
                <a16:creationId xmlns:a16="http://schemas.microsoft.com/office/drawing/2014/main" id="{5BE57060-D0F3-45A0-8682-5E9665D7928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64DD4F2-9F98-42C1-ABC3-0AC46B93D70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316F40C3-A6D0-4F3A-B5E0-6CF1A54C1B5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115</a:t>
            </a:r>
          </a:p>
        </p:txBody>
      </p:sp>
      <p:sp>
        <p:nvSpPr>
          <p:cNvPr id="6" name="">
            <a:extLst xmlns:a="http://schemas.openxmlformats.org/drawingml/2006/main">
              <a:ext uri="{FF2B5EF4-FFF2-40B4-BE49-F238E27FC236}">
                <a16:creationId xmlns:a16="http://schemas.microsoft.com/office/drawing/2014/main" id="{FDAD3223-BAF5-4DDB-96BD-06E3CA203E3E}"/>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법령·사규·매뉴얼 → 전처리·검색 → 안전 Q&amp;A → 안전 담당 검토</a:t>
            </a:r>
          </a:p>
        </p:txBody>
      </p:sp>
      <p:sp>
        <p:nvSpPr>
          <p:cNvPr id="7" name="">
            <a:extLst xmlns:a="http://schemas.openxmlformats.org/drawingml/2006/main">
              <a:ext uri="{FF2B5EF4-FFF2-40B4-BE49-F238E27FC236}">
                <a16:creationId xmlns:a16="http://schemas.microsoft.com/office/drawing/2014/main" id="{87D5A850-4DC1-45B3-9E66-5976F159C42A}"/>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2C1ACE51-53E3-4348-83DC-88CBB4F4CF75}"/>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22242DAE-40B1-4B2A-B4A2-9C12F7A644D8}"/>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법령·사규·매뉴얼</a:t>
            </a:r>
          </a:p>
        </p:txBody>
      </p:sp>
      <p:sp>
        <p:nvSpPr>
          <p:cNvPr id="10" name="">
            <a:extLst xmlns:a="http://schemas.openxmlformats.org/drawingml/2006/main">
              <a:ext uri="{FF2B5EF4-FFF2-40B4-BE49-F238E27FC236}">
                <a16:creationId xmlns:a16="http://schemas.microsoft.com/office/drawing/2014/main" id="{5A6B0B09-4506-4A15-90DE-EDFD46250C77}"/>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60CE7502-093A-4F62-A2F2-7FBE7A5B1676}"/>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90A61E5D-3EDA-4591-B05B-F009F87314B0}"/>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조문·개정일 색인</a:t>
            </a:r>
          </a:p>
        </p:txBody>
      </p:sp>
      <p:sp>
        <p:nvSpPr>
          <p:cNvPr id="13" name="">
            <a:extLst xmlns:a="http://schemas.openxmlformats.org/drawingml/2006/main">
              <a:ext uri="{FF2B5EF4-FFF2-40B4-BE49-F238E27FC236}">
                <a16:creationId xmlns:a16="http://schemas.microsoft.com/office/drawing/2014/main" id="{EED1A17F-932E-4CAC-A9A1-6C3DA6D3557D}"/>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50A668CD-CCEE-48C8-8E30-D227D2F4574B}"/>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0090C69C-3127-4E6F-AF9B-CDAACC8054C5}"/>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유효 문서·답변</a:t>
            </a:r>
          </a:p>
        </p:txBody>
      </p:sp>
      <p:sp>
        <p:nvSpPr>
          <p:cNvPr id="16" name="">
            <a:extLst xmlns:a="http://schemas.openxmlformats.org/drawingml/2006/main">
              <a:ext uri="{FF2B5EF4-FFF2-40B4-BE49-F238E27FC236}">
                <a16:creationId xmlns:a16="http://schemas.microsoft.com/office/drawing/2014/main" id="{FD2BB24B-88A7-461C-8314-6A0AC37FF955}"/>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7B2593C0-0BB8-4F23-B9E4-4D732532A3F9}"/>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350507B0-5B7C-448C-A5DF-6A8FAD0DA730}"/>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유효 조문 검색</a:t>
            </a:r>
          </a:p>
        </p:txBody>
      </p:sp>
      <p:sp>
        <p:nvSpPr>
          <p:cNvPr id="19" name="">
            <a:extLst xmlns:a="http://schemas.openxmlformats.org/drawingml/2006/main">
              <a:ext uri="{FF2B5EF4-FFF2-40B4-BE49-F238E27FC236}">
                <a16:creationId xmlns:a16="http://schemas.microsoft.com/office/drawing/2014/main" id="{339C2126-3015-4314-8A0E-7D021321A4F2}"/>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56F88DF8-95D4-4ACD-8BD9-6A378C14DEDE}"/>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3AB74330-8874-4F55-B0D9-87D979239461}"/>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안전업무 질의</a:t>
            </a:r>
          </a:p>
        </p:txBody>
      </p:sp>
      <p:sp>
        <p:nvSpPr>
          <p:cNvPr id="22" name="">
            <a:extLst xmlns:a="http://schemas.openxmlformats.org/drawingml/2006/main">
              <a:ext uri="{FF2B5EF4-FFF2-40B4-BE49-F238E27FC236}">
                <a16:creationId xmlns:a16="http://schemas.microsoft.com/office/drawing/2014/main" id="{18720DB8-D169-4ACE-BBEF-68FCBA920940}"/>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4FEA68B8-C6F0-4B66-827B-C010E97EDE7B}"/>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4C816EBD-A2C7-4D56-BB31-D3F786E3D25E}"/>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설비·적용시점</a:t>
            </a:r>
          </a:p>
        </p:txBody>
      </p:sp>
      <p:sp>
        <p:nvSpPr>
          <p:cNvPr id="25" name="">
            <a:extLst xmlns:a="http://schemas.openxmlformats.org/drawingml/2006/main">
              <a:ext uri="{FF2B5EF4-FFF2-40B4-BE49-F238E27FC236}">
                <a16:creationId xmlns:a16="http://schemas.microsoft.com/office/drawing/2014/main" id="{CA391B1D-5242-47C8-9143-6F00D1FF6993}"/>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90E4B4D4-28AA-40C8-BD68-8679B95DD201}"/>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BAA792B5-0309-4C7A-87D6-3B3B6F753490}"/>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근거 답변 생성</a:t>
            </a:r>
          </a:p>
        </p:txBody>
      </p:sp>
      <p:sp>
        <p:nvSpPr>
          <p:cNvPr id="28" name="">
            <a:extLst xmlns:a="http://schemas.openxmlformats.org/drawingml/2006/main">
              <a:ext uri="{FF2B5EF4-FFF2-40B4-BE49-F238E27FC236}">
                <a16:creationId xmlns:a16="http://schemas.microsoft.com/office/drawing/2014/main" id="{D8EA7E09-C8C0-42E7-AEEB-23838468D41A}"/>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51C3A74B-F6BE-420E-9411-BBDDAF18E3F5}"/>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DCCC071D-ADC4-4359-87C6-015945E34AF1}"/>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시행일·예외 대조</a:t>
            </a:r>
          </a:p>
        </p:txBody>
      </p:sp>
      <p:sp>
        <p:nvSpPr>
          <p:cNvPr id="31" name="">
            <a:extLst xmlns:a="http://schemas.openxmlformats.org/drawingml/2006/main">
              <a:ext uri="{FF2B5EF4-FFF2-40B4-BE49-F238E27FC236}">
                <a16:creationId xmlns:a16="http://schemas.microsoft.com/office/drawing/2014/main" id="{2094DB43-A035-4394-9511-0461C0FE1024}"/>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9543D01A-EAB5-4FD5-A19D-D90715F7A592}"/>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369B3C5C-23F8-46E6-BE4D-82E9A03C7FB9}"/>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현장 담당 검토</a:t>
            </a:r>
          </a:p>
        </p:txBody>
      </p:sp>
      <p:sp>
        <p:nvSpPr>
          <p:cNvPr id="34" name="">
            <a:extLst xmlns:a="http://schemas.openxmlformats.org/drawingml/2006/main">
              <a:ext uri="{FF2B5EF4-FFF2-40B4-BE49-F238E27FC236}">
                <a16:creationId xmlns:a16="http://schemas.microsoft.com/office/drawing/2014/main" id="{BD9E42BA-F442-49B9-B31D-028DDE478A4D}"/>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BB3F967E-CAA7-488D-A90F-E3BD1684DAD0}"/>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0E63EF2B-8730-425C-9230-C2E297821C79}"/>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안전업무 참고</a:t>
            </a:r>
          </a:p>
        </p:txBody>
      </p:sp>
      <p:sp>
        <p:nvSpPr>
          <p:cNvPr id="46" name="">
            <a:extLst xmlns:a="http://schemas.openxmlformats.org/drawingml/2006/main">
              <a:ext uri="{FF2B5EF4-FFF2-40B4-BE49-F238E27FC236}">
                <a16:creationId xmlns:a16="http://schemas.microsoft.com/office/drawing/2014/main" id="{D910606C-10AC-4632-9688-6B61DB16C72F}"/>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2040208675"/>
      </p:ext>
    </p:extLst>
  </p:cSld>
</p:sld>
</file>

<file path=ppt/slides/slide11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F16D4E47-BB5A-4555-B39F-7120167FD7A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AX22 / 논리 인터페이스·복구 설계</a:t>
            </a:r>
          </a:p>
        </p:txBody>
      </p:sp>
      <p:sp>
        <p:nvSpPr>
          <p:cNvPr id="2" name="">
            <a:extLst xmlns:a="http://schemas.openxmlformats.org/drawingml/2006/main">
              <a:ext uri="{FF2B5EF4-FFF2-40B4-BE49-F238E27FC236}">
                <a16:creationId xmlns:a16="http://schemas.microsoft.com/office/drawing/2014/main" id="{FD699C65-834C-4EFB-A7A9-20E303C5128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도시철도 교통안전 GPT · 데이터와 예외 처리</a:t>
            </a:r>
          </a:p>
        </p:txBody>
      </p:sp>
      <p:sp>
        <p:nvSpPr>
          <p:cNvPr id="3" name="">
            <a:extLst xmlns:a="http://schemas.openxmlformats.org/drawingml/2006/main">
              <a:ext uri="{FF2B5EF4-FFF2-40B4-BE49-F238E27FC236}">
                <a16:creationId xmlns:a16="http://schemas.microsoft.com/office/drawing/2014/main" id="{D7D63EFF-0A1C-40DF-8F48-F09052CB5BD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F26EEAB-EB54-43E0-B3A0-05EF39A32A9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07272B1B-410A-4FE8-8471-2E3BB21A850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116</a:t>
            </a:r>
          </a:p>
        </p:txBody>
      </p:sp>
      <p:sp>
        <p:nvSpPr>
          <p:cNvPr id="6" name="">
            <a:extLst xmlns:a="http://schemas.openxmlformats.org/drawingml/2006/main">
              <a:ext uri="{FF2B5EF4-FFF2-40B4-BE49-F238E27FC236}">
                <a16:creationId xmlns:a16="http://schemas.microsoft.com/office/drawing/2014/main" id="{F9835523-4053-47E3-BE9A-47EBA50CCCD3}"/>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CDFAABFD-E7D3-4B07-B42B-9D968B3EB66E}"/>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FD7CD638-E799-430A-86EB-A21B7A2C759F}"/>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B258B3D6-0F27-44A3-8525-91B2DF93A150}"/>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안전 규정·매뉴얼</a:t>
            </a:r>
          </a:p>
        </p:txBody>
      </p:sp>
      <p:sp>
        <p:nvSpPr>
          <p:cNvPr id="10" name="">
            <a:extLst xmlns:a="http://schemas.openxmlformats.org/drawingml/2006/main">
              <a:ext uri="{FF2B5EF4-FFF2-40B4-BE49-F238E27FC236}">
                <a16:creationId xmlns:a16="http://schemas.microsoft.com/office/drawing/2014/main" id="{C0812D47-DC53-45A8-B7D4-ED9A3A71210F}"/>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0AB0812-36A9-46D6-8604-B2B1662439A8}"/>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7160F76E-ADD7-4D06-8095-239EAD440B43}"/>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4B01BC8D-BBE7-4FE1-B038-FC274241D4D6}"/>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80F9F8D-C906-4284-8BF1-034E63DCD8EA}"/>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4BE91695-8CBE-4E42-B6C4-F94CB07046F3}"/>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업무·설비·적용 시점 확인</a:t>
            </a:r>
          </a:p>
        </p:txBody>
      </p:sp>
      <p:sp>
        <p:nvSpPr>
          <p:cNvPr id="16" name="">
            <a:extLst xmlns:a="http://schemas.openxmlformats.org/drawingml/2006/main">
              <a:ext uri="{FF2B5EF4-FFF2-40B4-BE49-F238E27FC236}">
                <a16:creationId xmlns:a16="http://schemas.microsoft.com/office/drawing/2014/main" id="{3D1AB487-9207-4EC8-8129-2ED1982C52FF}"/>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C63D9BE-D868-4544-8356-E29D8977B946}"/>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06701099-07A0-40E2-BB58-27907917D798}"/>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판본·조문 정답표와 충돌 경고·응답 보류 결</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과</a:t>
            </a:r>
          </a:p>
        </p:txBody>
      </p:sp>
      <p:sp>
        <p:nvSpPr>
          <p:cNvPr id="19" name="">
            <a:extLst xmlns:a="http://schemas.openxmlformats.org/drawingml/2006/main">
              <a:ext uri="{FF2B5EF4-FFF2-40B4-BE49-F238E27FC236}">
                <a16:creationId xmlns:a16="http://schemas.microsoft.com/office/drawing/2014/main" id="{5651BA97-4BA2-4E4A-8DBE-3E14D467589C}"/>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8DE4ABE-A3C2-480A-8AA2-49EB864F8EA0}"/>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F21962EC-8DF0-4DFD-A396-804B63309106}"/>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관련 조문</a:t>
            </a:r>
          </a:p>
        </p:txBody>
      </p:sp>
      <p:sp>
        <p:nvSpPr>
          <p:cNvPr id="22" name="">
            <a:extLst xmlns:a="http://schemas.openxmlformats.org/drawingml/2006/main">
              <a:ext uri="{FF2B5EF4-FFF2-40B4-BE49-F238E27FC236}">
                <a16:creationId xmlns:a16="http://schemas.microsoft.com/office/drawing/2014/main" id="{0C7F2631-B6D0-4D89-8A6B-7BDACCF30165}"/>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DD3140D-EE77-4594-9CB8-21A3D920010A}"/>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2584D262-74B0-4BF6-9E90-35FE37CB6892}"/>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근거 답변</a:t>
            </a:r>
          </a:p>
        </p:txBody>
      </p:sp>
      <p:sp>
        <p:nvSpPr>
          <p:cNvPr id="25" name="">
            <a:extLst xmlns:a="http://schemas.openxmlformats.org/drawingml/2006/main">
              <a:ext uri="{FF2B5EF4-FFF2-40B4-BE49-F238E27FC236}">
                <a16:creationId xmlns:a16="http://schemas.microsoft.com/office/drawing/2014/main" id="{307D1C15-3CD5-46FC-9755-01CC93E9AF7A}"/>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68E0D4A9-C42B-4269-96E8-ED1857847E21}"/>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폐지 규정·상위 법령과 사규 충돌·근거 부재</a:t>
            </a:r>
          </a:p>
        </p:txBody>
      </p:sp>
      <p:sp>
        <p:nvSpPr>
          <p:cNvPr id="27" name="">
            <a:extLst xmlns:a="http://schemas.openxmlformats.org/drawingml/2006/main">
              <a:ext uri="{FF2B5EF4-FFF2-40B4-BE49-F238E27FC236}">
                <a16:creationId xmlns:a16="http://schemas.microsoft.com/office/drawing/2014/main" id="{790F2F59-73D7-4298-98DF-891A89E32441}"/>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194597FD-4A53-4640-A0CE-1C1E83C097E2}"/>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시행일·조문 위치·예외 조건 검증</a:t>
            </a:r>
          </a:p>
        </p:txBody>
      </p:sp>
      <p:sp>
        <p:nvSpPr>
          <p:cNvPr id="29" name="">
            <a:extLst xmlns:a="http://schemas.openxmlformats.org/drawingml/2006/main">
              <a:ext uri="{FF2B5EF4-FFF2-40B4-BE49-F238E27FC236}">
                <a16:creationId xmlns:a16="http://schemas.microsoft.com/office/drawing/2014/main" id="{5564B6EC-A204-460F-B2D4-AB8BFBAAFD8B}"/>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97DB4EC7-06B9-43E6-91E4-0EA8BD13D1CD}"/>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개정 후 구버전 인용과 충돌 답변 시험</a:t>
            </a:r>
          </a:p>
        </p:txBody>
      </p:sp>
      <p:sp>
        <p:nvSpPr>
          <p:cNvPr id="31" name="">
            <a:extLst xmlns:a="http://schemas.openxmlformats.org/drawingml/2006/main">
              <a:ext uri="{FF2B5EF4-FFF2-40B4-BE49-F238E27FC236}">
                <a16:creationId xmlns:a16="http://schemas.microsoft.com/office/drawing/2014/main" id="{66EC6AEB-B635-4B68-90F3-132D2E89552C}"/>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FE89B81E-9986-4FE3-A52F-B310D690B2E6}"/>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판본·조문 정답표와 충돌 경고·응답 보류 결과</a:t>
            </a:r>
          </a:p>
        </p:txBody>
      </p:sp>
    </p:spTree>
    <p:extLst>
      <p:ext uri="{BB962C8B-B14F-4D97-AF65-F5344CB8AC3E}">
        <p14:creationId xmlns:p14="http://schemas.microsoft.com/office/powerpoint/2010/main" val="1609681825"/>
      </p:ext>
    </p:extLst>
  </p:cSld>
</p:sld>
</file>

<file path=ppt/slides/slide11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E4698E4-F805-48DB-A306-C3C5861BD91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AX22 / CCK 비교·재현 시험 설계</a:t>
            </a:r>
          </a:p>
        </p:txBody>
      </p:sp>
      <p:sp>
        <p:nvSpPr>
          <p:cNvPr id="2" name="">
            <a:extLst xmlns:a="http://schemas.openxmlformats.org/drawingml/2006/main">
              <a:ext uri="{FF2B5EF4-FFF2-40B4-BE49-F238E27FC236}">
                <a16:creationId xmlns:a16="http://schemas.microsoft.com/office/drawing/2014/main" id="{86CA59DC-4F5F-474D-9ADA-3C57E985678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도시철도 교통안전 GPT · 벤치마킹</a:t>
            </a:r>
          </a:p>
        </p:txBody>
      </p:sp>
      <p:sp>
        <p:nvSpPr>
          <p:cNvPr id="3" name="">
            <a:extLst xmlns:a="http://schemas.openxmlformats.org/drawingml/2006/main">
              <a:ext uri="{FF2B5EF4-FFF2-40B4-BE49-F238E27FC236}">
                <a16:creationId xmlns:a16="http://schemas.microsoft.com/office/drawing/2014/main" id="{3CC6A51E-20D5-4230-899B-0AE831A622E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45EE32D-8AF1-4467-A15A-D2509E2EDC8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BE1AF5B1-E8FA-4964-AB9D-04F0B0F89BF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117</a:t>
            </a:r>
          </a:p>
        </p:txBody>
      </p:sp>
      <p:sp>
        <p:nvSpPr>
          <p:cNvPr id="6" name="">
            <a:extLst xmlns:a="http://schemas.openxmlformats.org/drawingml/2006/main">
              <a:ext uri="{FF2B5EF4-FFF2-40B4-BE49-F238E27FC236}">
                <a16:creationId xmlns:a16="http://schemas.microsoft.com/office/drawing/2014/main" id="{61F9717B-29E4-47EA-B5E4-8C7E829683D2}"/>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A42787E6-11B0-4A5C-BF93-68ADF26F0265}"/>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법령·사규·매뉴얼의 통합 검색</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안전 담당자의 근거 검토</a:t>
            </a:r>
          </a:p>
        </p:txBody>
      </p:sp>
      <p:sp>
        <p:nvSpPr>
          <p:cNvPr id="8" name="">
            <a:extLst xmlns:a="http://schemas.openxmlformats.org/drawingml/2006/main">
              <a:ext uri="{FF2B5EF4-FFF2-40B4-BE49-F238E27FC236}">
                <a16:creationId xmlns:a16="http://schemas.microsoft.com/office/drawing/2014/main" id="{BDCE4AF8-8E08-4BE2-AAF6-0CD34D0F00DB}"/>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BE366DC6-0B8B-4ACE-971A-08C89C008B3C}"/>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폐지·개정 전 문서 인용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질의응답을 안전 승인으로 오인</a:t>
            </a:r>
          </a:p>
        </p:txBody>
      </p:sp>
      <p:sp>
        <p:nvSpPr>
          <p:cNvPr id="10" name="">
            <a:extLst xmlns:a="http://schemas.openxmlformats.org/drawingml/2006/main">
              <a:ext uri="{FF2B5EF4-FFF2-40B4-BE49-F238E27FC236}">
                <a16:creationId xmlns:a16="http://schemas.microsoft.com/office/drawing/2014/main" id="{FB3B7B01-62A9-4DDA-B3F8-959C50D740A8}"/>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73E05EBE-E6FE-4F6D-9B8F-9CF9F662F5D7}"/>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시행일·조문 위치·예외 조건 검증</a:t>
            </a:r>
          </a:p>
        </p:txBody>
      </p:sp>
      <p:sp>
        <p:nvSpPr>
          <p:cNvPr id="12" name="">
            <a:extLst xmlns:a="http://schemas.openxmlformats.org/drawingml/2006/main">
              <a:ext uri="{FF2B5EF4-FFF2-40B4-BE49-F238E27FC236}">
                <a16:creationId xmlns:a16="http://schemas.microsoft.com/office/drawing/2014/main" id="{716BFF81-F2D4-4A26-9759-C0B96B9E285C}"/>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B3851871-8A7F-42C6-B9C2-8128A1192DBD}"/>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현장 질문에 적용 시점의 안전 규정과 조문 제공</a:t>
            </a:r>
          </a:p>
        </p:txBody>
      </p:sp>
      <p:sp>
        <p:nvSpPr>
          <p:cNvPr id="14" name="">
            <a:extLst xmlns:a="http://schemas.openxmlformats.org/drawingml/2006/main">
              <a:ext uri="{FF2B5EF4-FFF2-40B4-BE49-F238E27FC236}">
                <a16:creationId xmlns:a16="http://schemas.microsoft.com/office/drawing/2014/main" id="{74482A71-3570-44EC-B17A-61DB81B3B9C9}"/>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076597CB-8B6A-48A8-8C8F-95CE4BA6DB6B}"/>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폐지 규정·상위 법령과 사규 충돌·근거 부재</a:t>
            </a:r>
          </a:p>
        </p:txBody>
      </p:sp>
      <p:sp>
        <p:nvSpPr>
          <p:cNvPr id="16" name="">
            <a:extLst xmlns:a="http://schemas.openxmlformats.org/drawingml/2006/main">
              <a:ext uri="{FF2B5EF4-FFF2-40B4-BE49-F238E27FC236}">
                <a16:creationId xmlns:a16="http://schemas.microsoft.com/office/drawing/2014/main" id="{1A4AD031-BFA5-4B60-BA85-2A97546188D8}"/>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889DA9DC-74C5-48B6-9846-E5E224C14537}"/>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판본·조문 정답표와 충돌 경고·응답 보류 결과</a:t>
            </a:r>
          </a:p>
        </p:txBody>
      </p:sp>
    </p:spTree>
    <p:extLst>
      <p:ext uri="{BB962C8B-B14F-4D97-AF65-F5344CB8AC3E}">
        <p14:creationId xmlns:p14="http://schemas.microsoft.com/office/powerpoint/2010/main" val="1396033514"/>
      </p:ext>
    </p:extLst>
  </p:cSld>
</p:sld>
</file>

<file path=ppt/slides/slide11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737623C-74AA-4199-962C-B4B562D329A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AX23 / 성과 미검증 / 국내</a:t>
            </a:r>
          </a:p>
        </p:txBody>
      </p:sp>
      <p:sp>
        <p:nvSpPr>
          <p:cNvPr id="2" name="">
            <a:extLst xmlns:a="http://schemas.openxmlformats.org/drawingml/2006/main">
              <a:ext uri="{FF2B5EF4-FFF2-40B4-BE49-F238E27FC236}">
                <a16:creationId xmlns:a16="http://schemas.microsoft.com/office/drawing/2014/main" id="{6757671D-9E1D-4816-BACF-9F24032049BA}"/>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경찰 AI 교통안전 시스템</a:t>
            </a:r>
          </a:p>
        </p:txBody>
      </p:sp>
      <p:sp>
        <p:nvSpPr>
          <p:cNvPr id="3" name="">
            <a:extLst xmlns:a="http://schemas.openxmlformats.org/drawingml/2006/main">
              <a:ext uri="{FF2B5EF4-FFF2-40B4-BE49-F238E27FC236}">
                <a16:creationId xmlns:a16="http://schemas.microsoft.com/office/drawing/2014/main" id="{F59F5A15-7FFD-4DE6-91AD-FF9753A51BD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1B93429-A252-46EE-ACF6-6EA5F908EC4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E706D554-E729-4E86-80C2-F88D48872EC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118</a:t>
            </a:r>
          </a:p>
        </p:txBody>
      </p:sp>
      <p:sp>
        <p:nvSpPr>
          <p:cNvPr id="6" name="">
            <a:extLst xmlns:a="http://schemas.openxmlformats.org/drawingml/2006/main">
              <a:ext uri="{FF2B5EF4-FFF2-40B4-BE49-F238E27FC236}">
                <a16:creationId xmlns:a16="http://schemas.microsoft.com/office/drawing/2014/main" id="{EE685B0E-2983-4F3F-8853-FFAC4552A61B}"/>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89D992D2-DBEC-44D5-98DD-879F5D34289B}"/>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사고·단속·시설·기상·교통량을 결합해 지역별 교통 위험</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을 분석하는 사례. 다양한 원천의 시간·공간 단위를 맞추</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고 현장 실증으로 예측을 평가하는 유형.</a:t>
            </a:r>
          </a:p>
        </p:txBody>
      </p:sp>
      <p:sp>
        <p:nvSpPr>
          <p:cNvPr id="8" name="">
            <a:extLst xmlns:a="http://schemas.openxmlformats.org/drawingml/2006/main">
              <a:ext uri="{FF2B5EF4-FFF2-40B4-BE49-F238E27FC236}">
                <a16:creationId xmlns:a16="http://schemas.microsoft.com/office/drawing/2014/main" id="{6F84DB13-C100-4A55-91E0-3C263AC4488D}"/>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FA980330-D9CF-4D6F-818D-3838D2E52784}"/>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원천 자료를 정합화하고 결측·표본 편차를 검사한 뒤 학</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습·평가 특징을 구성하는 재구성. 위험 순위는 단속·시설</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개선 담당자의 검토 자료로 전달하고 실제 개입 결과를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별도 기록.</a:t>
            </a:r>
          </a:p>
        </p:txBody>
      </p:sp>
      <p:sp>
        <p:nvSpPr>
          <p:cNvPr id="10" name="">
            <a:extLst xmlns:a="http://schemas.openxmlformats.org/drawingml/2006/main">
              <a:ext uri="{FF2B5EF4-FFF2-40B4-BE49-F238E27FC236}">
                <a16:creationId xmlns:a16="http://schemas.microsoft.com/office/drawing/2014/main" id="{8E36CB0D-5A15-492A-A95F-AA4013C5128F}"/>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6F22BF62-7372-42CB-8A00-703DB4DE2744}"/>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 비교에서는 시간·지역 분리 평가로 데이터 누수를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막고 희귀 사고의 미탐을 별도로 확인. 예측 성능과 개입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후 사고 변화의 인과효과를 구분하고 관할 부서별 조치 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력을 연결할 필요.</a:t>
            </a:r>
          </a:p>
        </p:txBody>
      </p:sp>
      <p:sp>
        <p:nvSpPr>
          <p:cNvPr id="12" name="">
            <a:extLst xmlns:a="http://schemas.openxmlformats.org/drawingml/2006/main">
              <a:ext uri="{FF2B5EF4-FFF2-40B4-BE49-F238E27FC236}">
                <a16:creationId xmlns:a16="http://schemas.microsoft.com/office/drawing/2014/main" id="{724C14AD-ED6F-42C6-BC40-82ACF8398699}"/>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66CEEED8-C068-4B5E-AE82-83B6C7665610}"/>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지역·도로·시점 정규화 및 개선 이력 연결</a:t>
            </a:r>
          </a:p>
        </p:txBody>
      </p:sp>
      <p:sp>
        <p:nvSpPr>
          <p:cNvPr id="14" name="">
            <a:extLst xmlns:a="http://schemas.openxmlformats.org/drawingml/2006/main">
              <a:ext uri="{FF2B5EF4-FFF2-40B4-BE49-F238E27FC236}">
                <a16:creationId xmlns:a16="http://schemas.microsoft.com/office/drawing/2014/main" id="{0AF8D931-1F22-413C-8FC2-242B1C07BF5A}"/>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49D9A9F5-BADF-40A2-8590-3441BDDD05D1}"/>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시간·지역 분리 검증과 데이터 누락 시험</a:t>
            </a:r>
          </a:p>
        </p:txBody>
      </p:sp>
      <p:sp>
        <p:nvSpPr>
          <p:cNvPr id="16" name="">
            <a:extLst xmlns:a="http://schemas.openxmlformats.org/drawingml/2006/main">
              <a:ext uri="{FF2B5EF4-FFF2-40B4-BE49-F238E27FC236}">
                <a16:creationId xmlns:a16="http://schemas.microsoft.com/office/drawing/2014/main" id="{0085653B-942E-4DE7-A787-DB90DB8C60B1}"/>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EBD712A4-C468-41D9-8E11-1DA7D7780E99}"/>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위험 탐지율 / 예방 조치 이행률</a:t>
            </a:r>
          </a:p>
        </p:txBody>
      </p:sp>
      <p:sp>
        <p:nvSpPr>
          <p:cNvPr id="18" name="">
            <a:extLst xmlns:a="http://schemas.openxmlformats.org/drawingml/2006/main">
              <a:ext uri="{FF2B5EF4-FFF2-40B4-BE49-F238E27FC236}">
                <a16:creationId xmlns:a16="http://schemas.microsoft.com/office/drawing/2014/main" id="{E3168072-FC15-42C6-9F6D-5BA3250B601E}"/>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지역 실증 범위 · 전국 사고 감소 성과로 확대 불가</a:t>
            </a:r>
          </a:p>
        </p:txBody>
      </p:sp>
    </p:spTree>
    <p:extLst>
      <p:ext uri="{BB962C8B-B14F-4D97-AF65-F5344CB8AC3E}">
        <p14:creationId xmlns:p14="http://schemas.microsoft.com/office/powerpoint/2010/main" val="1705564114"/>
      </p:ext>
    </p:extLst>
  </p:cSld>
</p:sld>
</file>

<file path=ppt/slides/slide11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871807C-E571-4A5B-B69F-41884D4827F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AX23 / As-Is → To-Be → 기대효과 → 확인 결과</a:t>
            </a:r>
          </a:p>
        </p:txBody>
      </p:sp>
      <p:sp>
        <p:nvSpPr>
          <p:cNvPr id="2" name="">
            <a:extLst xmlns:a="http://schemas.openxmlformats.org/drawingml/2006/main">
              <a:ext uri="{FF2B5EF4-FFF2-40B4-BE49-F238E27FC236}">
                <a16:creationId xmlns:a16="http://schemas.microsoft.com/office/drawing/2014/main" id="{D2ABC105-830F-49A4-8FC5-351BD54C1FB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경찰 AI 교통안전 시스템 · 기대와 결과</a:t>
            </a:r>
          </a:p>
        </p:txBody>
      </p:sp>
      <p:sp>
        <p:nvSpPr>
          <p:cNvPr id="3" name="">
            <a:extLst xmlns:a="http://schemas.openxmlformats.org/drawingml/2006/main">
              <a:ext uri="{FF2B5EF4-FFF2-40B4-BE49-F238E27FC236}">
                <a16:creationId xmlns:a16="http://schemas.microsoft.com/office/drawing/2014/main" id="{8F363B16-5A03-4D6B-BB6F-AB87568A6DF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1C3CA5A-12FB-4ACB-B885-8BADC46068E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7E1AB58-DD48-4F78-9BD2-E9E7EA9A7DC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119</a:t>
            </a:r>
          </a:p>
        </p:txBody>
      </p:sp>
      <p:sp>
        <p:nvSpPr>
          <p:cNvPr id="6" name="">
            <a:extLst xmlns:a="http://schemas.openxmlformats.org/drawingml/2006/main">
              <a:ext uri="{FF2B5EF4-FFF2-40B4-BE49-F238E27FC236}">
                <a16:creationId xmlns:a16="http://schemas.microsoft.com/office/drawing/2014/main" id="{D92A29A1-9313-4F96-BD59-21F46252D204}"/>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23CDADE2-37B4-4119-A098-631C0C236FCC}"/>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교통사고·단속·시설·기상 자료가 분산되어 지역별 위험 예</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측·단속 계획에 재가공 필요</a:t>
            </a:r>
          </a:p>
        </p:txBody>
      </p:sp>
      <p:sp>
        <p:nvSpPr>
          <p:cNvPr id="8" name="">
            <a:extLst xmlns:a="http://schemas.openxmlformats.org/drawingml/2006/main">
              <a:ext uri="{FF2B5EF4-FFF2-40B4-BE49-F238E27FC236}">
                <a16:creationId xmlns:a16="http://schemas.microsoft.com/office/drawing/2014/main" id="{2DC6E18D-3AA2-4A4F-981A-75B05C481A7B}"/>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462E86F9-F4AB-4870-9499-DDADF3B92336}"/>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민관 자료를 통합해 사고 위험도를 예측하고 지역 현장조</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치에 연결</a:t>
            </a:r>
          </a:p>
        </p:txBody>
      </p:sp>
      <p:sp>
        <p:nvSpPr>
          <p:cNvPr id="10" name="">
            <a:extLst xmlns:a="http://schemas.openxmlformats.org/drawingml/2006/main">
              <a:ext uri="{FF2B5EF4-FFF2-40B4-BE49-F238E27FC236}">
                <a16:creationId xmlns:a16="http://schemas.microsoft.com/office/drawing/2014/main" id="{D3FFCF33-E69A-458E-91CE-41FF5D62B020}"/>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8A0CA7ED-94F8-48F8-A499-3E963D57DE18}"/>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사고 고위험지점의 선제 관리와 점검 자원 배분 개선</a:t>
            </a:r>
          </a:p>
        </p:txBody>
      </p:sp>
      <p:sp>
        <p:nvSpPr>
          <p:cNvPr id="12" name="">
            <a:extLst xmlns:a="http://schemas.openxmlformats.org/drawingml/2006/main">
              <a:ext uri="{FF2B5EF4-FFF2-40B4-BE49-F238E27FC236}">
                <a16:creationId xmlns:a16="http://schemas.microsoft.com/office/drawing/2014/main" id="{E582751D-908B-42D1-82AF-4C5629EC6D84}"/>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D3DC7F32-79A0-4C97-A8B3-DC3ECD91357E}"/>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공공 사례집이 AI 교통안전 시스템 구축과 지역 실증을 소</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개</a:t>
            </a:r>
          </a:p>
        </p:txBody>
      </p:sp>
      <p:sp>
        <p:nvSpPr>
          <p:cNvPr id="14" name="">
            <a:extLst xmlns:a="http://schemas.openxmlformats.org/drawingml/2006/main">
              <a:ext uri="{FF2B5EF4-FFF2-40B4-BE49-F238E27FC236}">
                <a16:creationId xmlns:a16="http://schemas.microsoft.com/office/drawing/2014/main" id="{4218D065-CCC3-48AF-B4D0-72954A54F115}"/>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지역 실증 사실과 전국 사고 감소의 실측·인과평가는 별개</a:t>
            </a:r>
          </a:p>
        </p:txBody>
      </p:sp>
      <p:sp>
        <p:nvSpPr>
          <p:cNvPr id="15" name="">
            <a:extLst xmlns:a="http://schemas.openxmlformats.org/drawingml/2006/main">
              <a:ext uri="{FF2B5EF4-FFF2-40B4-BE49-F238E27FC236}">
                <a16:creationId xmlns:a16="http://schemas.microsoft.com/office/drawing/2014/main" id="{410724C6-DF42-4CD6-A4C4-285704A209AB}"/>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정부 지역 실증 사례집 · 공공 사례집 요약 기준. 예측 성능·조치 효과의 원 평가표 미확인</a:t>
            </a:r>
          </a:p>
        </p:txBody>
      </p:sp>
    </p:spTree>
    <p:extLst>
      <p:ext uri="{BB962C8B-B14F-4D97-AF65-F5344CB8AC3E}">
        <p14:creationId xmlns:p14="http://schemas.microsoft.com/office/powerpoint/2010/main" val="1543738836"/>
      </p:ext>
    </p:extLst>
  </p:cSld>
</p:sld>
</file>

<file path=ppt/slides/slide12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38" name="">
            <a:extLst xmlns:a="http://schemas.openxmlformats.org/drawingml/2006/main">
              <a:ext uri="{FF2B5EF4-FFF2-40B4-BE49-F238E27FC236}">
                <a16:creationId xmlns:a16="http://schemas.microsoft.com/office/drawing/2014/main" id="{D0792D25-2E8A-4B70-8194-41032EF6E881}"/>
              </a:ext>
            </a:extLst>
          </p:cNvPr>
          <p:cNvCxnSpPr>
            <a:stCxn xmlns:a="http://schemas.openxmlformats.org/drawingml/2006/main" id="28" idx="0"/>
            <a:endCxn xmlns:a="http://schemas.openxmlformats.org/drawingml/2006/main" id="13" idx="2"/>
          </p:cNvCxnSpPr>
          <p:nvPr/>
        </p:nvCxnSpPr>
        <p:spPr>
          <a:xfrm xmlns:a="http://schemas.openxmlformats.org/drawingml/2006/main" flipV="1">
            <a:off x="10620375" y="2905125"/>
            <a:ext cx="0" cy="1371600"/>
          </a:xfrm>
          <a:prstGeom xmlns:a="http://schemas.openxmlformats.org/drawingml/2006/main" prst="straightConnector1">
            <a:avLst/>
          </a:prstGeom>
          <a:ln xmlns:a="http://schemas.openxmlformats.org/drawingml/2006/main" w="19050">
            <a:solidFill>
              <a:srgbClr val="697F86"/>
            </a:solidFill>
            <a:tailEnd type="arrow" w="med" len="med"/>
          </a:ln>
        </p:spPr>
      </p:cxnSp>
      <p:cxnSp>
        <p:nvCxnSpPr>
          <p:cNvPr id="37" name="">
            <a:extLst xmlns:a="http://schemas.openxmlformats.org/drawingml/2006/main">
              <a:ext uri="{FF2B5EF4-FFF2-40B4-BE49-F238E27FC236}">
                <a16:creationId xmlns:a16="http://schemas.microsoft.com/office/drawing/2014/main" id="{B09380A7-F540-4677-875C-B8406119A386}"/>
              </a:ext>
            </a:extLst>
          </p:cNvPr>
          <p:cNvCxnSpPr>
            <a:stCxn xmlns:a="http://schemas.openxmlformats.org/drawingml/2006/main" id="25" idx="3"/>
            <a:endCxn xmlns:a="http://schemas.openxmlformats.org/drawingml/2006/main" id="28" idx="1"/>
          </p:cNvCxnSpPr>
          <p:nvPr/>
        </p:nvCxnSpPr>
        <p:spPr>
          <a:xfrm xmlns:a="http://schemas.openxmlformats.org/drawingml/2006/main">
            <a:off x="9358313" y="48291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6" name="">
            <a:extLst xmlns:a="http://schemas.openxmlformats.org/drawingml/2006/main">
              <a:ext uri="{FF2B5EF4-FFF2-40B4-BE49-F238E27FC236}">
                <a16:creationId xmlns:a16="http://schemas.microsoft.com/office/drawing/2014/main" id="{7C36889A-F7AE-4AD0-A789-B1EE999CD601}"/>
              </a:ext>
            </a:extLst>
          </p:cNvPr>
          <p:cNvCxnSpPr>
            <a:stCxn xmlns:a="http://schemas.openxmlformats.org/drawingml/2006/main" id="22" idx="3"/>
            <a:endCxn xmlns:a="http://schemas.openxmlformats.org/drawingml/2006/main" id="25" idx="1"/>
          </p:cNvCxnSpPr>
          <p:nvPr/>
        </p:nvCxnSpPr>
        <p:spPr>
          <a:xfrm xmlns:a="http://schemas.openxmlformats.org/drawingml/2006/main">
            <a:off x="7096125" y="48291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5" name="">
            <a:extLst xmlns:a="http://schemas.openxmlformats.org/drawingml/2006/main">
              <a:ext uri="{FF2B5EF4-FFF2-40B4-BE49-F238E27FC236}">
                <a16:creationId xmlns:a16="http://schemas.microsoft.com/office/drawing/2014/main" id="{3314980F-A983-40ED-A14A-11984259BAF0}"/>
              </a:ext>
            </a:extLst>
          </p:cNvPr>
          <p:cNvCxnSpPr>
            <a:stCxn xmlns:a="http://schemas.openxmlformats.org/drawingml/2006/main" id="19" idx="3"/>
            <a:endCxn xmlns:a="http://schemas.openxmlformats.org/drawingml/2006/main" id="22" idx="1"/>
          </p:cNvCxnSpPr>
          <p:nvPr/>
        </p:nvCxnSpPr>
        <p:spPr>
          <a:xfrm xmlns:a="http://schemas.openxmlformats.org/drawingml/2006/main">
            <a:off x="4833938" y="4829175"/>
            <a:ext cx="261937" cy="0"/>
          </a:xfrm>
          <a:prstGeom xmlns:a="http://schemas.openxmlformats.org/drawingml/2006/main" prst="straightConnector1">
            <a:avLst/>
          </a:prstGeom>
          <a:ln xmlns:a="http://schemas.openxmlformats.org/drawingml/2006/main" w="19050">
            <a:solidFill>
              <a:srgbClr val="5B6693"/>
            </a:solidFill>
            <a:tailEnd type="arrow" w="med" len="med"/>
          </a:ln>
        </p:spPr>
      </p:cxnSp>
      <p:cxnSp>
        <p:nvCxnSpPr>
          <p:cNvPr id="34" name="">
            <a:extLst xmlns:a="http://schemas.openxmlformats.org/drawingml/2006/main">
              <a:ext uri="{FF2B5EF4-FFF2-40B4-BE49-F238E27FC236}">
                <a16:creationId xmlns:a16="http://schemas.microsoft.com/office/drawing/2014/main" id="{EF703443-D06A-4B3F-BDA1-77D807C1122F}"/>
              </a:ext>
            </a:extLst>
          </p:cNvPr>
          <p:cNvCxnSpPr>
            <a:stCxn xmlns:a="http://schemas.openxmlformats.org/drawingml/2006/main" id="16" idx="3"/>
            <a:endCxn xmlns:a="http://schemas.openxmlformats.org/drawingml/2006/main" id="19"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3" name="">
            <a:extLst xmlns:a="http://schemas.openxmlformats.org/drawingml/2006/main">
              <a:ext uri="{FF2B5EF4-FFF2-40B4-BE49-F238E27FC236}">
                <a16:creationId xmlns:a16="http://schemas.microsoft.com/office/drawing/2014/main" id="{61CD83AD-B406-4C7B-B9C3-0AFF50A569D9}"/>
              </a:ext>
            </a:extLst>
          </p:cNvPr>
          <p:cNvCxnSpPr>
            <a:stCxn xmlns:a="http://schemas.openxmlformats.org/drawingml/2006/main" id="13" idx="1"/>
            <a:endCxn xmlns:a="http://schemas.openxmlformats.org/drawingml/2006/main" id="16" idx="3"/>
          </p:cNvCxnSpPr>
          <p:nvPr/>
        </p:nvCxnSpPr>
        <p:spPr>
          <a:xfrm xmlns:a="http://schemas.openxmlformats.org/drawingml/2006/main" flipH="1">
            <a:off x="2571750" y="2352675"/>
            <a:ext cx="7048500" cy="24765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2" name="">
            <a:extLst xmlns:a="http://schemas.openxmlformats.org/drawingml/2006/main">
              <a:ext uri="{FF2B5EF4-FFF2-40B4-BE49-F238E27FC236}">
                <a16:creationId xmlns:a16="http://schemas.microsoft.com/office/drawing/2014/main" id="{97D0C499-26DF-4BF3-A983-E296432077B2}"/>
              </a:ext>
            </a:extLst>
          </p:cNvPr>
          <p:cNvCxnSpPr>
            <a:stCxn xmlns:a="http://schemas.openxmlformats.org/drawingml/2006/main" id="10" idx="3"/>
            <a:endCxn xmlns:a="http://schemas.openxmlformats.org/drawingml/2006/main" id="13" idx="1"/>
          </p:cNvCxnSpPr>
          <p:nvPr/>
        </p:nvCxnSpPr>
        <p:spPr>
          <a:xfrm xmlns:a="http://schemas.openxmlformats.org/drawingml/2006/main">
            <a:off x="7096125" y="2352675"/>
            <a:ext cx="2524125"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1" name="">
            <a:extLst xmlns:a="http://schemas.openxmlformats.org/drawingml/2006/main">
              <a:ext uri="{FF2B5EF4-FFF2-40B4-BE49-F238E27FC236}">
                <a16:creationId xmlns:a16="http://schemas.microsoft.com/office/drawing/2014/main" id="{38D5930F-252C-4781-B308-3746FB9253A0}"/>
              </a:ext>
            </a:extLst>
          </p:cNvPr>
          <p:cNvCxnSpPr>
            <a:stCxn xmlns:a="http://schemas.openxmlformats.org/drawingml/2006/main" id="7" idx="3"/>
            <a:endCxn xmlns:a="http://schemas.openxmlformats.org/drawingml/2006/main" id="13" idx="1"/>
          </p:cNvCxnSpPr>
          <p:nvPr/>
        </p:nvCxnSpPr>
        <p:spPr>
          <a:xfrm xmlns:a="http://schemas.openxmlformats.org/drawingml/2006/main">
            <a:off x="2571750" y="2352675"/>
            <a:ext cx="70485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0" name="">
            <a:extLst xmlns:a="http://schemas.openxmlformats.org/drawingml/2006/main">
              <a:ext uri="{FF2B5EF4-FFF2-40B4-BE49-F238E27FC236}">
                <a16:creationId xmlns:a16="http://schemas.microsoft.com/office/drawing/2014/main" id="{F7DE3FD6-F2AE-4E3A-96C8-860616AF6FF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AX23 / 복수 자료 결합·분석·검토·평가</a:t>
            </a:r>
          </a:p>
        </p:txBody>
      </p:sp>
      <p:sp>
        <p:nvSpPr>
          <p:cNvPr id="2" name="">
            <a:extLst xmlns:a="http://schemas.openxmlformats.org/drawingml/2006/main">
              <a:ext uri="{FF2B5EF4-FFF2-40B4-BE49-F238E27FC236}">
                <a16:creationId xmlns:a16="http://schemas.microsoft.com/office/drawing/2014/main" id="{09ACAB7E-0D9C-4AD3-9CED-0B23E8B17AD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경찰 AI 교통안전 시스템 · 세부 서비스 구조</a:t>
            </a:r>
          </a:p>
        </p:txBody>
      </p:sp>
      <p:sp>
        <p:nvSpPr>
          <p:cNvPr id="3" name="">
            <a:extLst xmlns:a="http://schemas.openxmlformats.org/drawingml/2006/main">
              <a:ext uri="{FF2B5EF4-FFF2-40B4-BE49-F238E27FC236}">
                <a16:creationId xmlns:a16="http://schemas.microsoft.com/office/drawing/2014/main" id="{2F039571-C6A6-4E5C-B5D8-9AFFD8EB51E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9B1D48F-B1DA-4D8B-867E-11F20375482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AEEF74E-707F-4768-A791-67578411A58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120</a:t>
            </a:r>
          </a:p>
        </p:txBody>
      </p:sp>
      <p:sp>
        <p:nvSpPr>
          <p:cNvPr id="6" name="">
            <a:extLst xmlns:a="http://schemas.openxmlformats.org/drawingml/2006/main">
              <a:ext uri="{FF2B5EF4-FFF2-40B4-BE49-F238E27FC236}">
                <a16:creationId xmlns:a16="http://schemas.microsoft.com/office/drawing/2014/main" id="{44AA7952-FEFB-4E00-81E4-B57EAA90F413}"/>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민관 교통 데이터 → 전처리·MLOps → 사고 위험 예측 → 지역 실증·현장 대응</a:t>
            </a:r>
          </a:p>
        </p:txBody>
      </p:sp>
      <p:sp>
        <p:nvSpPr>
          <p:cNvPr id="7" name="">
            <a:extLst xmlns:a="http://schemas.openxmlformats.org/drawingml/2006/main">
              <a:ext uri="{FF2B5EF4-FFF2-40B4-BE49-F238E27FC236}">
                <a16:creationId xmlns:a16="http://schemas.microsoft.com/office/drawing/2014/main" id="{311BE824-5BB7-4B3E-8FD3-79366715E738}"/>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BB5B71C3-3168-4FAE-90DE-D8EAA53FE107}"/>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51AE0308-C720-44E6-8D47-AC899A61C67F}"/>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사고·기상·시설</a:t>
            </a:r>
          </a:p>
        </p:txBody>
      </p:sp>
      <p:sp>
        <p:nvSpPr>
          <p:cNvPr id="10" name="">
            <a:extLst xmlns:a="http://schemas.openxmlformats.org/drawingml/2006/main">
              <a:ext uri="{FF2B5EF4-FFF2-40B4-BE49-F238E27FC236}">
                <a16:creationId xmlns:a16="http://schemas.microsoft.com/office/drawing/2014/main" id="{98183686-D1C3-4D3F-9B4F-93435A8D87A1}"/>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4DF1F6E9-AA24-4119-B250-AEAED19B3E88}"/>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2" name="">
            <a:extLst xmlns:a="http://schemas.openxmlformats.org/drawingml/2006/main">
              <a:ext uri="{FF2B5EF4-FFF2-40B4-BE49-F238E27FC236}">
                <a16:creationId xmlns:a16="http://schemas.microsoft.com/office/drawing/2014/main" id="{D758456F-48B0-4F2D-9F20-4F111AC0118F}"/>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교통 특징 조회</a:t>
            </a:r>
          </a:p>
        </p:txBody>
      </p:sp>
      <p:sp>
        <p:nvSpPr>
          <p:cNvPr id="13" name="">
            <a:extLst xmlns:a="http://schemas.openxmlformats.org/drawingml/2006/main">
              <a:ext uri="{FF2B5EF4-FFF2-40B4-BE49-F238E27FC236}">
                <a16:creationId xmlns:a16="http://schemas.microsoft.com/office/drawing/2014/main" id="{18C1DBD7-22CB-4192-A000-3A4C55FFE1B1}"/>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28699AB8-8E9C-4D18-9998-CFDE93C942F9}"/>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5" name="">
            <a:extLst xmlns:a="http://schemas.openxmlformats.org/drawingml/2006/main">
              <a:ext uri="{FF2B5EF4-FFF2-40B4-BE49-F238E27FC236}">
                <a16:creationId xmlns:a16="http://schemas.microsoft.com/office/drawing/2014/main" id="{2EC205E5-495D-479F-A1FD-6F4489F16066}"/>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시공간·결측 정리</a:t>
            </a:r>
          </a:p>
        </p:txBody>
      </p:sp>
      <p:sp>
        <p:nvSpPr>
          <p:cNvPr id="16" name="">
            <a:extLst xmlns:a="http://schemas.openxmlformats.org/drawingml/2006/main">
              <a:ext uri="{FF2B5EF4-FFF2-40B4-BE49-F238E27FC236}">
                <a16:creationId xmlns:a16="http://schemas.microsoft.com/office/drawing/2014/main" id="{E05A26EE-8AAF-4D15-B701-314A87CB7110}"/>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0CC72C61-4989-4941-88B8-85FFDB753ED2}"/>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8" name="">
            <a:extLst xmlns:a="http://schemas.openxmlformats.org/drawingml/2006/main">
              <a:ext uri="{FF2B5EF4-FFF2-40B4-BE49-F238E27FC236}">
                <a16:creationId xmlns:a16="http://schemas.microsoft.com/office/drawing/2014/main" id="{781CC996-5C89-4848-BCCB-F3EB866EFCD2}"/>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위험 순위 예측</a:t>
            </a:r>
          </a:p>
        </p:txBody>
      </p:sp>
      <p:sp>
        <p:nvSpPr>
          <p:cNvPr id="19" name="">
            <a:extLst xmlns:a="http://schemas.openxmlformats.org/drawingml/2006/main">
              <a:ext uri="{FF2B5EF4-FFF2-40B4-BE49-F238E27FC236}">
                <a16:creationId xmlns:a16="http://schemas.microsoft.com/office/drawing/2014/main" id="{D9DAE223-DCE1-4C1D-BDA3-D01EA59C269B}"/>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343804D9-3071-4B45-80BC-2D498880D02C}"/>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21" name="">
            <a:extLst xmlns:a="http://schemas.openxmlformats.org/drawingml/2006/main">
              <a:ext uri="{FF2B5EF4-FFF2-40B4-BE49-F238E27FC236}">
                <a16:creationId xmlns:a16="http://schemas.microsoft.com/office/drawing/2014/main" id="{C442CE88-C881-486F-9B47-0CB95219B2D3}"/>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누수·편향 검사</a:t>
            </a:r>
          </a:p>
        </p:txBody>
      </p:sp>
      <p:sp>
        <p:nvSpPr>
          <p:cNvPr id="22" name="">
            <a:extLst xmlns:a="http://schemas.openxmlformats.org/drawingml/2006/main">
              <a:ext uri="{FF2B5EF4-FFF2-40B4-BE49-F238E27FC236}">
                <a16:creationId xmlns:a16="http://schemas.microsoft.com/office/drawing/2014/main" id="{468EAA02-2424-49AD-8ED9-BB88B150C38F}"/>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B7109042-F09F-439F-B84A-1BA04A2257DB}"/>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24" name="">
            <a:extLst xmlns:a="http://schemas.openxmlformats.org/drawingml/2006/main">
              <a:ext uri="{FF2B5EF4-FFF2-40B4-BE49-F238E27FC236}">
                <a16:creationId xmlns:a16="http://schemas.microsoft.com/office/drawing/2014/main" id="{65076402-C49E-439D-84C1-0F3F337186FA}"/>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안전 담당 검토</a:t>
            </a:r>
          </a:p>
        </p:txBody>
      </p:sp>
      <p:sp>
        <p:nvSpPr>
          <p:cNvPr id="25" name="">
            <a:extLst xmlns:a="http://schemas.openxmlformats.org/drawingml/2006/main">
              <a:ext uri="{FF2B5EF4-FFF2-40B4-BE49-F238E27FC236}">
                <a16:creationId xmlns:a16="http://schemas.microsoft.com/office/drawing/2014/main" id="{FF935EEA-128A-4459-AA42-C55FF3F3D485}"/>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74DCC9CA-095D-4772-B95A-1DADE0FBE288}"/>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7" name="">
            <a:extLst xmlns:a="http://schemas.openxmlformats.org/drawingml/2006/main">
              <a:ext uri="{FF2B5EF4-FFF2-40B4-BE49-F238E27FC236}">
                <a16:creationId xmlns:a16="http://schemas.microsoft.com/office/drawing/2014/main" id="{0D54DD3E-6DA3-498D-A115-13F62FD334B9}"/>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단속·시설 계획</a:t>
            </a:r>
          </a:p>
        </p:txBody>
      </p:sp>
      <p:sp>
        <p:nvSpPr>
          <p:cNvPr id="28" name="">
            <a:extLst xmlns:a="http://schemas.openxmlformats.org/drawingml/2006/main">
              <a:ext uri="{FF2B5EF4-FFF2-40B4-BE49-F238E27FC236}">
                <a16:creationId xmlns:a16="http://schemas.microsoft.com/office/drawing/2014/main" id="{08DE11A4-DE77-406F-86EE-9FAEB9390A1B}"/>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64EA7753-6DFF-44F1-8384-0600BFBC7810}"/>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0" name="">
            <a:extLst xmlns:a="http://schemas.openxmlformats.org/drawingml/2006/main">
              <a:ext uri="{FF2B5EF4-FFF2-40B4-BE49-F238E27FC236}">
                <a16:creationId xmlns:a16="http://schemas.microsoft.com/office/drawing/2014/main" id="{501F01E1-A56F-4CC9-BAFA-458C2D4D4942}"/>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지역 실증 평가</a:t>
            </a:r>
          </a:p>
        </p:txBody>
      </p:sp>
      <p:sp>
        <p:nvSpPr>
          <p:cNvPr id="39" name="">
            <a:extLst xmlns:a="http://schemas.openxmlformats.org/drawingml/2006/main">
              <a:ext uri="{FF2B5EF4-FFF2-40B4-BE49-F238E27FC236}">
                <a16:creationId xmlns:a16="http://schemas.microsoft.com/office/drawing/2014/main" id="{80923E4B-71C9-41EB-AF15-80C11A4874F6}"/>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68402811"/>
      </p:ext>
    </p:extLst>
  </p:cSld>
</p:sld>
</file>

<file path=ppt/slides/slide12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5A291CC5-17AE-4BC9-BEA7-909A68C60FE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AX23 / 논리 인터페이스·복구 설계</a:t>
            </a:r>
          </a:p>
        </p:txBody>
      </p:sp>
      <p:sp>
        <p:nvSpPr>
          <p:cNvPr id="2" name="">
            <a:extLst xmlns:a="http://schemas.openxmlformats.org/drawingml/2006/main">
              <a:ext uri="{FF2B5EF4-FFF2-40B4-BE49-F238E27FC236}">
                <a16:creationId xmlns:a16="http://schemas.microsoft.com/office/drawing/2014/main" id="{0B1601E1-12D3-46EB-BDA4-DA7AFF1E815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경찰 AI 교통안전 시스템 · 데이터와 예외 처리</a:t>
            </a:r>
          </a:p>
        </p:txBody>
      </p:sp>
      <p:sp>
        <p:nvSpPr>
          <p:cNvPr id="3" name="">
            <a:extLst xmlns:a="http://schemas.openxmlformats.org/drawingml/2006/main">
              <a:ext uri="{FF2B5EF4-FFF2-40B4-BE49-F238E27FC236}">
                <a16:creationId xmlns:a16="http://schemas.microsoft.com/office/drawing/2014/main" id="{38198AE8-F7D6-4828-B1D0-32A95217871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50EF108-C2EF-44F7-ADCA-97EF1158F50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FD7B898A-A3C2-4320-9B49-CDB6C536CEF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121</a:t>
            </a:r>
          </a:p>
        </p:txBody>
      </p:sp>
      <p:sp>
        <p:nvSpPr>
          <p:cNvPr id="6" name="">
            <a:extLst xmlns:a="http://schemas.openxmlformats.org/drawingml/2006/main">
              <a:ext uri="{FF2B5EF4-FFF2-40B4-BE49-F238E27FC236}">
                <a16:creationId xmlns:a16="http://schemas.microsoft.com/office/drawing/2014/main" id="{E9994CC0-63FA-4F78-BF58-AAEF29249591}"/>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C3401F6C-8BBA-47AA-9570-D84A9528FA73}"/>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909FACEF-52B4-45B9-8966-18001B976A9A}"/>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관측 자료</a:t>
            </a:r>
          </a:p>
        </p:txBody>
      </p:sp>
      <p:sp>
        <p:nvSpPr>
          <p:cNvPr id="9" name="">
            <a:extLst xmlns:a="http://schemas.openxmlformats.org/drawingml/2006/main">
              <a:ext uri="{FF2B5EF4-FFF2-40B4-BE49-F238E27FC236}">
                <a16:creationId xmlns:a16="http://schemas.microsoft.com/office/drawing/2014/main" id="{C1BBE0DF-361B-45B2-A7AF-97F9992D87CF}"/>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지역별 위험 특징</a:t>
            </a:r>
          </a:p>
        </p:txBody>
      </p:sp>
      <p:sp>
        <p:nvSpPr>
          <p:cNvPr id="10" name="">
            <a:extLst xmlns:a="http://schemas.openxmlformats.org/drawingml/2006/main">
              <a:ext uri="{FF2B5EF4-FFF2-40B4-BE49-F238E27FC236}">
                <a16:creationId xmlns:a16="http://schemas.microsoft.com/office/drawing/2014/main" id="{547714DF-D4D7-4022-AADD-68955CF12C04}"/>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4CD88CC-BEA4-4CF3-BB00-CE462FBAFF4C}"/>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비교 자료</a:t>
            </a:r>
          </a:p>
        </p:txBody>
      </p:sp>
      <p:sp>
        <p:nvSpPr>
          <p:cNvPr id="12" name="">
            <a:extLst xmlns:a="http://schemas.openxmlformats.org/drawingml/2006/main">
              <a:ext uri="{FF2B5EF4-FFF2-40B4-BE49-F238E27FC236}">
                <a16:creationId xmlns:a16="http://schemas.microsoft.com/office/drawing/2014/main" id="{38AAD2B8-6720-428E-B9AB-5FA78CF313E6}"/>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학습·평가 특징</a:t>
            </a:r>
          </a:p>
        </p:txBody>
      </p:sp>
      <p:sp>
        <p:nvSpPr>
          <p:cNvPr id="13" name="">
            <a:extLst xmlns:a="http://schemas.openxmlformats.org/drawingml/2006/main">
              <a:ext uri="{FF2B5EF4-FFF2-40B4-BE49-F238E27FC236}">
                <a16:creationId xmlns:a16="http://schemas.microsoft.com/office/drawing/2014/main" id="{79258CF7-A547-4359-B291-5B4072848D5C}"/>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B329374-12B4-4E97-952E-755ABB41F072}"/>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정합화 특징</a:t>
            </a:r>
          </a:p>
        </p:txBody>
      </p:sp>
      <p:sp>
        <p:nvSpPr>
          <p:cNvPr id="15" name="">
            <a:extLst xmlns:a="http://schemas.openxmlformats.org/drawingml/2006/main">
              <a:ext uri="{FF2B5EF4-FFF2-40B4-BE49-F238E27FC236}">
                <a16:creationId xmlns:a16="http://schemas.microsoft.com/office/drawing/2014/main" id="{E9A503F4-64F4-4CCF-8FB6-D54DFB15ED35}"/>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6" name="">
            <a:extLst xmlns:a="http://schemas.openxmlformats.org/drawingml/2006/main">
              <a:ext uri="{FF2B5EF4-FFF2-40B4-BE49-F238E27FC236}">
                <a16:creationId xmlns:a16="http://schemas.microsoft.com/office/drawing/2014/main" id="{7429D3A5-F377-4942-A845-92605B139768}"/>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40CBB93-CF1F-4248-85C2-280C74C0BE52}"/>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예측·분류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결과</a:t>
            </a:r>
          </a:p>
        </p:txBody>
      </p:sp>
      <p:sp>
        <p:nvSpPr>
          <p:cNvPr id="18" name="">
            <a:extLst xmlns:a="http://schemas.openxmlformats.org/drawingml/2006/main">
              <a:ext uri="{FF2B5EF4-FFF2-40B4-BE49-F238E27FC236}">
                <a16:creationId xmlns:a16="http://schemas.microsoft.com/office/drawing/2014/main" id="{D64F96C3-9833-42EB-8C95-D67FD8B6A561}"/>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위험 순위</a:t>
            </a:r>
          </a:p>
        </p:txBody>
      </p:sp>
      <p:sp>
        <p:nvSpPr>
          <p:cNvPr id="19" name="">
            <a:extLst xmlns:a="http://schemas.openxmlformats.org/drawingml/2006/main">
              <a:ext uri="{FF2B5EF4-FFF2-40B4-BE49-F238E27FC236}">
                <a16:creationId xmlns:a16="http://schemas.microsoft.com/office/drawing/2014/main" id="{0FAE374C-854D-4675-90BE-C2CB08851436}"/>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8BDA29D-CAD8-4EE1-8CD1-BB3BD14C7CEF}"/>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오차·편향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확인</a:t>
            </a:r>
          </a:p>
        </p:txBody>
      </p:sp>
      <p:sp>
        <p:nvSpPr>
          <p:cNvPr id="21" name="">
            <a:extLst xmlns:a="http://schemas.openxmlformats.org/drawingml/2006/main">
              <a:ext uri="{FF2B5EF4-FFF2-40B4-BE49-F238E27FC236}">
                <a16:creationId xmlns:a16="http://schemas.microsoft.com/office/drawing/2014/main" id="{8CBB7A0E-79C2-43C4-8E07-A11F42105905}"/>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위험 순위</a:t>
            </a:r>
          </a:p>
        </p:txBody>
      </p:sp>
      <p:sp>
        <p:nvSpPr>
          <p:cNvPr id="22" name="">
            <a:extLst xmlns:a="http://schemas.openxmlformats.org/drawingml/2006/main">
              <a:ext uri="{FF2B5EF4-FFF2-40B4-BE49-F238E27FC236}">
                <a16:creationId xmlns:a16="http://schemas.microsoft.com/office/drawing/2014/main" id="{DDBE4DAD-CBBD-47D1-B391-0810E754D304}"/>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7DA33B07-3939-497C-93A6-7F1FD90B07EC}"/>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적용 결과</a:t>
            </a:r>
          </a:p>
        </p:txBody>
      </p:sp>
      <p:sp>
        <p:nvSpPr>
          <p:cNvPr id="24" name="">
            <a:extLst xmlns:a="http://schemas.openxmlformats.org/drawingml/2006/main">
              <a:ext uri="{FF2B5EF4-FFF2-40B4-BE49-F238E27FC236}">
                <a16:creationId xmlns:a16="http://schemas.microsoft.com/office/drawing/2014/main" id="{02FB6BE1-DBED-4865-A74E-7E7763C1943C}"/>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현장 조치 검토</a:t>
            </a:r>
          </a:p>
        </p:txBody>
      </p:sp>
      <p:sp>
        <p:nvSpPr>
          <p:cNvPr id="25" name="">
            <a:extLst xmlns:a="http://schemas.openxmlformats.org/drawingml/2006/main">
              <a:ext uri="{FF2B5EF4-FFF2-40B4-BE49-F238E27FC236}">
                <a16:creationId xmlns:a16="http://schemas.microsoft.com/office/drawing/2014/main" id="{6DECC5DA-CA5C-4A2D-80B0-2A13C970261A}"/>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709DAD9C-B78D-421C-B3FD-486863BF89C3}"/>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공간 코드 변경·기상 결측·학습 이후 자료 유입</a:t>
            </a:r>
          </a:p>
        </p:txBody>
      </p:sp>
      <p:sp>
        <p:nvSpPr>
          <p:cNvPr id="27" name="">
            <a:extLst xmlns:a="http://schemas.openxmlformats.org/drawingml/2006/main">
              <a:ext uri="{FF2B5EF4-FFF2-40B4-BE49-F238E27FC236}">
                <a16:creationId xmlns:a16="http://schemas.microsoft.com/office/drawing/2014/main" id="{495035BA-5321-4851-80CE-CBFDC68B7F20}"/>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C64E25DF-DF9C-41B9-A317-967D7D6597E8}"/>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시간·지역 분리 평가와 누수 차단</a:t>
            </a:r>
          </a:p>
        </p:txBody>
      </p:sp>
      <p:sp>
        <p:nvSpPr>
          <p:cNvPr id="29" name="">
            <a:extLst xmlns:a="http://schemas.openxmlformats.org/drawingml/2006/main">
              <a:ext uri="{FF2B5EF4-FFF2-40B4-BE49-F238E27FC236}">
                <a16:creationId xmlns:a16="http://schemas.microsoft.com/office/drawing/2014/main" id="{DA1B0CFA-B691-4F3F-837B-511C41C3D41C}"/>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A770CC0C-4D0F-4D3C-8F71-AC765B07C8F3}"/>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예측 오차·지역 편차·개입 후 지표 평가</a:t>
            </a:r>
          </a:p>
        </p:txBody>
      </p:sp>
      <p:sp>
        <p:nvSpPr>
          <p:cNvPr id="31" name="">
            <a:extLst xmlns:a="http://schemas.openxmlformats.org/drawingml/2006/main">
              <a:ext uri="{FF2B5EF4-FFF2-40B4-BE49-F238E27FC236}">
                <a16:creationId xmlns:a16="http://schemas.microsoft.com/office/drawing/2014/main" id="{A7AA5129-120B-46C4-9EE9-23D7E738ABC2}"/>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15BBAFD5-771C-475E-B236-22BE487682E7}"/>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시공간 분리 평가와 지역별 오차·대응 기록</a:t>
            </a:r>
          </a:p>
        </p:txBody>
      </p:sp>
    </p:spTree>
    <p:extLst>
      <p:ext uri="{BB962C8B-B14F-4D97-AF65-F5344CB8AC3E}">
        <p14:creationId xmlns:p14="http://schemas.microsoft.com/office/powerpoint/2010/main" val="121440190"/>
      </p:ext>
    </p:extLst>
  </p:cSld>
</p:sld>
</file>

<file path=ppt/slides/slide12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0AB8E1D-F1AE-4BCE-B234-9C3B06CFA1F5}"/>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AX23 / CCK 비교·재현 시험 설계</a:t>
            </a:r>
          </a:p>
        </p:txBody>
      </p:sp>
      <p:sp>
        <p:nvSpPr>
          <p:cNvPr id="2" name="">
            <a:extLst xmlns:a="http://schemas.openxmlformats.org/drawingml/2006/main">
              <a:ext uri="{FF2B5EF4-FFF2-40B4-BE49-F238E27FC236}">
                <a16:creationId xmlns:a16="http://schemas.microsoft.com/office/drawing/2014/main" id="{011BB74E-B22A-4BE7-8457-29259555EB11}"/>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경찰 AI 교통안전 시스템 · 벤치마킹</a:t>
            </a:r>
          </a:p>
        </p:txBody>
      </p:sp>
      <p:sp>
        <p:nvSpPr>
          <p:cNvPr id="3" name="">
            <a:extLst xmlns:a="http://schemas.openxmlformats.org/drawingml/2006/main">
              <a:ext uri="{FF2B5EF4-FFF2-40B4-BE49-F238E27FC236}">
                <a16:creationId xmlns:a16="http://schemas.microsoft.com/office/drawing/2014/main" id="{60E42FA1-0FB0-423E-81DA-93E57E90654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726AC9C-6EAB-43BB-A88C-CD7459B287D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454EE2F-56C3-4714-8283-1BA8C12937B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122</a:t>
            </a:r>
          </a:p>
        </p:txBody>
      </p:sp>
      <p:sp>
        <p:nvSpPr>
          <p:cNvPr id="6" name="">
            <a:extLst xmlns:a="http://schemas.openxmlformats.org/drawingml/2006/main">
              <a:ext uri="{FF2B5EF4-FFF2-40B4-BE49-F238E27FC236}">
                <a16:creationId xmlns:a16="http://schemas.microsoft.com/office/drawing/2014/main" id="{21F3036D-F480-4F3A-AD70-FB2D778C90D6}"/>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DB72EF27-1178-4585-9A75-AB9A68E036E1}"/>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사고·시설·기상·교통량 결합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지역 현장 실증으로 위험 검토</a:t>
            </a:r>
          </a:p>
        </p:txBody>
      </p:sp>
      <p:sp>
        <p:nvSpPr>
          <p:cNvPr id="8" name="">
            <a:extLst xmlns:a="http://schemas.openxmlformats.org/drawingml/2006/main">
              <a:ext uri="{FF2B5EF4-FFF2-40B4-BE49-F238E27FC236}">
                <a16:creationId xmlns:a16="http://schemas.microsoft.com/office/drawing/2014/main" id="{DF1F605F-0782-40BA-857B-7E7581676B52}"/>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0A6EDEA2-7062-44ED-850F-02076EFB5F1B}"/>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희귀 사고의 표본 불균형</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예측지표를 예방 효과로 환산</a:t>
            </a:r>
          </a:p>
        </p:txBody>
      </p:sp>
      <p:sp>
        <p:nvSpPr>
          <p:cNvPr id="10" name="">
            <a:extLst xmlns:a="http://schemas.openxmlformats.org/drawingml/2006/main">
              <a:ext uri="{FF2B5EF4-FFF2-40B4-BE49-F238E27FC236}">
                <a16:creationId xmlns:a16="http://schemas.microsoft.com/office/drawing/2014/main" id="{F9AE9EBD-1A79-486D-9F95-46F3627293AC}"/>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633EE1C9-160D-44D3-A672-2C18FE3D24CB}"/>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시간·지역 분리 평가와 누수 차단</a:t>
            </a:r>
          </a:p>
        </p:txBody>
      </p:sp>
      <p:sp>
        <p:nvSpPr>
          <p:cNvPr id="12" name="">
            <a:extLst xmlns:a="http://schemas.openxmlformats.org/drawingml/2006/main">
              <a:ext uri="{FF2B5EF4-FFF2-40B4-BE49-F238E27FC236}">
                <a16:creationId xmlns:a16="http://schemas.microsoft.com/office/drawing/2014/main" id="{6D6E1532-C877-4F84-83FA-6999BD0FFC6C}"/>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18B5BB00-1184-4CDA-9DFB-5AC5D3B2837A}"/>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같은 지역·기간의 사고 위험을 분석하고 대응 후보 </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선정</a:t>
            </a:r>
          </a:p>
        </p:txBody>
      </p:sp>
      <p:sp>
        <p:nvSpPr>
          <p:cNvPr id="14" name="">
            <a:extLst xmlns:a="http://schemas.openxmlformats.org/drawingml/2006/main">
              <a:ext uri="{FF2B5EF4-FFF2-40B4-BE49-F238E27FC236}">
                <a16:creationId xmlns:a16="http://schemas.microsoft.com/office/drawing/2014/main" id="{535EAEF4-F94D-4093-9608-06EC285D770E}"/>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9BDC91E3-0857-45C5-946D-DD4D60A607AA}"/>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공간 코드 변경·기상 결측·학습 이후 자료 유입</a:t>
            </a:r>
          </a:p>
        </p:txBody>
      </p:sp>
      <p:sp>
        <p:nvSpPr>
          <p:cNvPr id="16" name="">
            <a:extLst xmlns:a="http://schemas.openxmlformats.org/drawingml/2006/main">
              <a:ext uri="{FF2B5EF4-FFF2-40B4-BE49-F238E27FC236}">
                <a16:creationId xmlns:a16="http://schemas.microsoft.com/office/drawing/2014/main" id="{10FE3128-C156-4F16-9F76-CCE00585BE44}"/>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A40C524B-DD6F-401B-984A-0321172C905A}"/>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시공간 분리 평가와 지역별 오차·대응 기록</a:t>
            </a:r>
          </a:p>
        </p:txBody>
      </p:sp>
    </p:spTree>
    <p:extLst>
      <p:ext uri="{BB962C8B-B14F-4D97-AF65-F5344CB8AC3E}">
        <p14:creationId xmlns:p14="http://schemas.microsoft.com/office/powerpoint/2010/main" val="1972890860"/>
      </p:ext>
    </p:extLst>
  </p:cSld>
</p:sld>
</file>

<file path=ppt/slides/slide12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34C5340-5366-4270-A52E-1D65E5F6C46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AX24 / 성과 미검증 / 국내</a:t>
            </a:r>
          </a:p>
        </p:txBody>
      </p:sp>
      <p:sp>
        <p:nvSpPr>
          <p:cNvPr id="2" name="">
            <a:extLst xmlns:a="http://schemas.openxmlformats.org/drawingml/2006/main">
              <a:ext uri="{FF2B5EF4-FFF2-40B4-BE49-F238E27FC236}">
                <a16:creationId xmlns:a16="http://schemas.microsoft.com/office/drawing/2014/main" id="{4350C671-06D0-47B9-A5AA-BC11D29A56C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국가 R&amp;D 사업비 Risk 지원</a:t>
            </a:r>
          </a:p>
        </p:txBody>
      </p:sp>
      <p:sp>
        <p:nvSpPr>
          <p:cNvPr id="3" name="">
            <a:extLst xmlns:a="http://schemas.openxmlformats.org/drawingml/2006/main">
              <a:ext uri="{FF2B5EF4-FFF2-40B4-BE49-F238E27FC236}">
                <a16:creationId xmlns:a16="http://schemas.microsoft.com/office/drawing/2014/main" id="{9389FED6-884A-4B6E-ADFB-31F4DD0BA02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4DE3D56-9A9D-40CB-83FA-236AA83721D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E163ACCA-689E-482A-876F-DD5CAA0C5FF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123</a:t>
            </a:r>
          </a:p>
        </p:txBody>
      </p:sp>
      <p:sp>
        <p:nvSpPr>
          <p:cNvPr id="6" name="">
            <a:extLst xmlns:a="http://schemas.openxmlformats.org/drawingml/2006/main">
              <a:ext uri="{FF2B5EF4-FFF2-40B4-BE49-F238E27FC236}">
                <a16:creationId xmlns:a16="http://schemas.microsoft.com/office/drawing/2014/main" id="{A6B70D73-8CDE-4213-82C0-2B8259BE4617}"/>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0DED99BE-880E-423A-A492-2DF73155F4F6}"/>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연구비 집행 자료와 부처·사업별 지침을 연결해 상담·증</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빙·서식 작성을 지원하는 사례. 같은 지출 항목도 사업·</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협약연도에 따라 적용 기준이 다른 업무.</a:t>
            </a:r>
          </a:p>
        </p:txBody>
      </p:sp>
      <p:sp>
        <p:nvSpPr>
          <p:cNvPr id="8" name="">
            <a:extLst xmlns:a="http://schemas.openxmlformats.org/drawingml/2006/main">
              <a:ext uri="{FF2B5EF4-FFF2-40B4-BE49-F238E27FC236}">
                <a16:creationId xmlns:a16="http://schemas.microsoft.com/office/drawing/2014/main" id="{0DE3BD22-FF5B-4A33-8142-0CE5F1F42E74}"/>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AFF63FCE-0E73-4168-802D-9EE589A0C43E}"/>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부처·사업·협약기간·집행항목을 먼저 식별하고 해당 판</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본의 규정과 거래증빙을 대조하는 재구성. 누락 서류·예</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외 조건·서식 초안을 담당 검토자에게 전달하는 흐름.</a:t>
            </a:r>
          </a:p>
        </p:txBody>
      </p:sp>
      <p:sp>
        <p:nvSpPr>
          <p:cNvPr id="10" name="">
            <a:extLst xmlns:a="http://schemas.openxmlformats.org/drawingml/2006/main">
              <a:ext uri="{FF2B5EF4-FFF2-40B4-BE49-F238E27FC236}">
                <a16:creationId xmlns:a16="http://schemas.microsoft.com/office/drawing/2014/main" id="{B822255F-D511-441F-BCC3-844D7D180C3E}"/>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D08D05AC-E833-4CF6-AB1C-F4B00F42A5EA}"/>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 AI PMS에 적용할 경우 지침 검색·양식 재사용과 적</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정 집행 판단을 분리. 사업 변경·연차 차이·증빙 누락 시험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을 수행하고 요구사항·검수·제출 증빙의 추적에 연결할 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요.</a:t>
            </a:r>
          </a:p>
        </p:txBody>
      </p:sp>
      <p:sp>
        <p:nvSpPr>
          <p:cNvPr id="12" name="">
            <a:extLst xmlns:a="http://schemas.openxmlformats.org/drawingml/2006/main">
              <a:ext uri="{FF2B5EF4-FFF2-40B4-BE49-F238E27FC236}">
                <a16:creationId xmlns:a16="http://schemas.microsoft.com/office/drawing/2014/main" id="{40176BC9-3256-4A01-806A-87E25819F7E9}"/>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AB104339-262D-4AD7-89BC-B9F026AA1275}"/>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부처·사업·계약 판본·증빙 요구 매핑</a:t>
            </a:r>
          </a:p>
        </p:txBody>
      </p:sp>
      <p:sp>
        <p:nvSpPr>
          <p:cNvPr id="14" name="">
            <a:extLst xmlns:a="http://schemas.openxmlformats.org/drawingml/2006/main">
              <a:ext uri="{FF2B5EF4-FFF2-40B4-BE49-F238E27FC236}">
                <a16:creationId xmlns:a16="http://schemas.microsoft.com/office/drawing/2014/main" id="{A6D09C2B-06BA-471B-9548-D5F87EFCF3F4}"/>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5CB25435-3696-4171-85CC-165A31627258}"/>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유효 규정·증빙 누락·목적 외 자료 차단 시험</a:t>
            </a:r>
          </a:p>
        </p:txBody>
      </p:sp>
      <p:sp>
        <p:nvSpPr>
          <p:cNvPr id="16" name="">
            <a:extLst xmlns:a="http://schemas.openxmlformats.org/drawingml/2006/main">
              <a:ext uri="{FF2B5EF4-FFF2-40B4-BE49-F238E27FC236}">
                <a16:creationId xmlns:a16="http://schemas.microsoft.com/office/drawing/2014/main" id="{8D7C4697-937D-4BA7-B898-8268F7CEAA08}"/>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CB21BB4A-0209-4B20-B40D-C1D9DACA9F78}"/>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보완 왕복 횟수 / 검토 소요시간</a:t>
            </a:r>
          </a:p>
        </p:txBody>
      </p:sp>
      <p:sp>
        <p:nvSpPr>
          <p:cNvPr id="18" name="">
            <a:extLst xmlns:a="http://schemas.openxmlformats.org/drawingml/2006/main">
              <a:ext uri="{FF2B5EF4-FFF2-40B4-BE49-F238E27FC236}">
                <a16:creationId xmlns:a16="http://schemas.microsoft.com/office/drawing/2014/main" id="{C99B308B-3E59-487C-8801-F7951CB02EF4}"/>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성과 항목이 기대효과 중심 · 행정 부담 감소 실측 별도</a:t>
            </a:r>
          </a:p>
        </p:txBody>
      </p:sp>
    </p:spTree>
    <p:extLst>
      <p:ext uri="{BB962C8B-B14F-4D97-AF65-F5344CB8AC3E}">
        <p14:creationId xmlns:p14="http://schemas.microsoft.com/office/powerpoint/2010/main" val="109698536"/>
      </p:ext>
    </p:extLst>
  </p:cSld>
</p:sld>
</file>

<file path=ppt/slides/slide12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43A0E98-6866-4971-85CA-B812B159E0D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AX24 / As-Is → To-Be → 기대효과 → 확인 결과</a:t>
            </a:r>
          </a:p>
        </p:txBody>
      </p:sp>
      <p:sp>
        <p:nvSpPr>
          <p:cNvPr id="2" name="">
            <a:extLst xmlns:a="http://schemas.openxmlformats.org/drawingml/2006/main">
              <a:ext uri="{FF2B5EF4-FFF2-40B4-BE49-F238E27FC236}">
                <a16:creationId xmlns:a16="http://schemas.microsoft.com/office/drawing/2014/main" id="{2BC8391A-E02C-4609-8ABE-A99176F4B58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국가 R&amp;D 사업비 Risk 지원 · 기대와 결과</a:t>
            </a:r>
          </a:p>
        </p:txBody>
      </p:sp>
      <p:sp>
        <p:nvSpPr>
          <p:cNvPr id="3" name="">
            <a:extLst xmlns:a="http://schemas.openxmlformats.org/drawingml/2006/main">
              <a:ext uri="{FF2B5EF4-FFF2-40B4-BE49-F238E27FC236}">
                <a16:creationId xmlns:a16="http://schemas.microsoft.com/office/drawing/2014/main" id="{A4AB6D57-FE0D-4CEE-98AB-39AD98DB45E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C0D99AD-DFB4-4854-8227-66BB7D8B982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A3DBAC2-1AA9-48E4-9EFD-1AF7D99736C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124</a:t>
            </a:r>
          </a:p>
        </p:txBody>
      </p:sp>
      <p:sp>
        <p:nvSpPr>
          <p:cNvPr id="6" name="">
            <a:extLst xmlns:a="http://schemas.openxmlformats.org/drawingml/2006/main">
              <a:ext uri="{FF2B5EF4-FFF2-40B4-BE49-F238E27FC236}">
                <a16:creationId xmlns:a16="http://schemas.microsoft.com/office/drawing/2014/main" id="{289E6D4E-1BA0-4EEC-B399-09122DA4E243}"/>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A12D4CCC-2B7C-46C9-914B-E5BECE4DFB6D}"/>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연구기관이 부처별 R&amp;D 규정·협약 조건·집행증빙을 대조</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하며 서식을 수작업 작성</a:t>
            </a:r>
          </a:p>
        </p:txBody>
      </p:sp>
      <p:sp>
        <p:nvSpPr>
          <p:cNvPr id="8" name="">
            <a:extLst xmlns:a="http://schemas.openxmlformats.org/drawingml/2006/main">
              <a:ext uri="{FF2B5EF4-FFF2-40B4-BE49-F238E27FC236}">
                <a16:creationId xmlns:a16="http://schemas.microsoft.com/office/drawing/2014/main" id="{8BB24BE0-538C-4872-A632-FB95E3830931}"/>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6686AD0C-804F-4C1E-8BBD-8F72DEC7640E}"/>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규정 질의, 지출자료 수집, 위험 표시와 서식 초안 작성을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한 흐름으로 지원</a:t>
            </a:r>
          </a:p>
        </p:txBody>
      </p:sp>
      <p:sp>
        <p:nvSpPr>
          <p:cNvPr id="10" name="">
            <a:extLst xmlns:a="http://schemas.openxmlformats.org/drawingml/2006/main">
              <a:ext uri="{FF2B5EF4-FFF2-40B4-BE49-F238E27FC236}">
                <a16:creationId xmlns:a16="http://schemas.microsoft.com/office/drawing/2014/main" id="{E8F18C8E-591C-4553-835C-ED7B2FE1EA0D}"/>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A936632B-9CAF-4C71-BE9E-5263962D3D20}"/>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집행 오류·보완 요구 및 정산 준비 시간 감소</a:t>
            </a:r>
          </a:p>
        </p:txBody>
      </p:sp>
      <p:sp>
        <p:nvSpPr>
          <p:cNvPr id="12" name="">
            <a:extLst xmlns:a="http://schemas.openxmlformats.org/drawingml/2006/main">
              <a:ext uri="{FF2B5EF4-FFF2-40B4-BE49-F238E27FC236}">
                <a16:creationId xmlns:a16="http://schemas.microsoft.com/office/drawing/2014/main" id="{877AA219-29E9-437B-8763-60C3BD0F8E47}"/>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B2343248-E32B-4684-B0C9-B7612DB5ECEE}"/>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공공 사례집이 R&amp;D 사업비 Risk 지원 솔루션 개발과 지원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기능을 설명</a:t>
            </a:r>
          </a:p>
        </p:txBody>
      </p:sp>
      <p:sp>
        <p:nvSpPr>
          <p:cNvPr id="14" name="">
            <a:extLst xmlns:a="http://schemas.openxmlformats.org/drawingml/2006/main">
              <a:ext uri="{FF2B5EF4-FFF2-40B4-BE49-F238E27FC236}">
                <a16:creationId xmlns:a16="http://schemas.microsoft.com/office/drawing/2014/main" id="{05FD7A96-36F6-4F82-A914-2E7046124C1C}"/>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기능 설명과 기대효과만으로 실제 부적정 집행 감소·행정시간 절감 확인 불가</a:t>
            </a:r>
          </a:p>
        </p:txBody>
      </p:sp>
      <p:sp>
        <p:nvSpPr>
          <p:cNvPr id="15" name="">
            <a:extLst xmlns:a="http://schemas.openxmlformats.org/drawingml/2006/main">
              <a:ext uri="{FF2B5EF4-FFF2-40B4-BE49-F238E27FC236}">
                <a16:creationId xmlns:a16="http://schemas.microsoft.com/office/drawing/2014/main" id="{CE8A5A91-B039-44DC-9C9C-87746E987000}"/>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정부 개발 사례집·성과 미측정 · 사업·부처·협약별 규정 차이. 개발 범위와 운영 성과의 구분 필요</a:t>
            </a:r>
          </a:p>
        </p:txBody>
      </p:sp>
    </p:spTree>
    <p:extLst>
      <p:ext uri="{BB962C8B-B14F-4D97-AF65-F5344CB8AC3E}">
        <p14:creationId xmlns:p14="http://schemas.microsoft.com/office/powerpoint/2010/main" val="1020758687"/>
      </p:ext>
    </p:extLst>
  </p:cSld>
</p:sld>
</file>

<file path=ppt/slides/slide12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09BA9AF0-47D7-4016-9EC9-126DA8477D20}"/>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49EBA22E-82B0-41EE-BB2A-8E19C202F0CE}"/>
              </a:ext>
            </a:extLst>
          </p:cNvPr>
          <p:cNvCxnSpPr>
            <a:stCxn xmlns:a="http://schemas.openxmlformats.org/drawingml/2006/main" id="13" idx="2"/>
            <a:endCxn xmlns:a="http://schemas.openxmlformats.org/drawingml/2006/main" id="31" idx="0"/>
          </p:cNvCxnSpPr>
          <p:nvPr/>
        </p:nvCxnSpPr>
        <p:spPr>
          <a:xfrm xmlns:a="http://schemas.openxmlformats.org/drawingml/2006/main">
            <a:off x="6096000" y="2905125"/>
            <a:ext cx="2262188"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A1BA6B85-B7E7-47DD-BBDB-8D1CF973B45D}"/>
              </a:ext>
            </a:extLst>
          </p:cNvPr>
          <p:cNvCxnSpPr>
            <a:stCxn xmlns:a="http://schemas.openxmlformats.org/drawingml/2006/main" id="16" idx="3"/>
            <a:endCxn xmlns:a="http://schemas.openxmlformats.org/drawingml/2006/main" id="19" idx="1"/>
          </p:cNvCxnSpPr>
          <p:nvPr/>
        </p:nvCxnSpPr>
        <p:spPr>
          <a:xfrm xmlns:a="http://schemas.openxmlformats.org/drawingml/2006/main">
            <a:off x="9358313"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FF5CB8DA-64FE-4ACB-A0BC-8C127F466CE6}"/>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6CD4A675-4BAE-4445-A0F4-1038A78B509B}"/>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ADD12B2C-F3D7-4449-8F8D-F9C94DA68252}"/>
              </a:ext>
            </a:extLst>
          </p:cNvPr>
          <p:cNvCxnSpPr>
            <a:stCxn xmlns:a="http://schemas.openxmlformats.org/drawingml/2006/main" id="28" idx="0"/>
            <a:endCxn xmlns:a="http://schemas.openxmlformats.org/drawingml/2006/main" id="13" idx="2"/>
          </p:cNvCxnSpPr>
          <p:nvPr/>
        </p:nvCxnSpPr>
        <p:spPr>
          <a:xfrm xmlns:a="http://schemas.openxmlformats.org/drawingml/2006/main" flipV="1">
            <a:off x="6096000"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EC8C533D-89AA-441A-8067-C98E2A7290BB}"/>
              </a:ext>
            </a:extLst>
          </p:cNvPr>
          <p:cNvCxnSpPr>
            <a:stCxn xmlns:a="http://schemas.openxmlformats.org/drawingml/2006/main" id="25" idx="0"/>
            <a:endCxn xmlns:a="http://schemas.openxmlformats.org/drawingml/2006/main" id="10" idx="2"/>
          </p:cNvCxnSpPr>
          <p:nvPr/>
        </p:nvCxnSpPr>
        <p:spPr>
          <a:xfrm xmlns:a="http://schemas.openxmlformats.org/drawingml/2006/main" flipV="1">
            <a:off x="3833813"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97630CC6-56A8-4AB6-A461-2D20A7DF2DAD}"/>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C27315D1-F705-448E-A9B4-DE183660D895}"/>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7A4A001A-07C2-4BD9-BFE5-13C320C8A25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AX24 / 원문 추출·대조·사람 확정</a:t>
            </a:r>
          </a:p>
        </p:txBody>
      </p:sp>
      <p:sp>
        <p:nvSpPr>
          <p:cNvPr id="2" name="">
            <a:extLst xmlns:a="http://schemas.openxmlformats.org/drawingml/2006/main">
              <a:ext uri="{FF2B5EF4-FFF2-40B4-BE49-F238E27FC236}">
                <a16:creationId xmlns:a16="http://schemas.microsoft.com/office/drawing/2014/main" id="{D99934C6-0906-4BDB-9F68-7316433DCF5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국가 R&amp;D 사업비 Risk 지원 · 세부 서비스 구조</a:t>
            </a:r>
          </a:p>
        </p:txBody>
      </p:sp>
      <p:sp>
        <p:nvSpPr>
          <p:cNvPr id="3" name="">
            <a:extLst xmlns:a="http://schemas.openxmlformats.org/drawingml/2006/main">
              <a:ext uri="{FF2B5EF4-FFF2-40B4-BE49-F238E27FC236}">
                <a16:creationId xmlns:a16="http://schemas.microsoft.com/office/drawing/2014/main" id="{F3FFD64E-F467-4EF2-B200-5FBFAEE9084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818494B-F489-4264-954E-90404290B0F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7711239C-D435-41CE-B90E-BBC695D151C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125</a:t>
            </a:r>
          </a:p>
        </p:txBody>
      </p:sp>
      <p:sp>
        <p:nvSpPr>
          <p:cNvPr id="6" name="">
            <a:extLst xmlns:a="http://schemas.openxmlformats.org/drawingml/2006/main">
              <a:ext uri="{FF2B5EF4-FFF2-40B4-BE49-F238E27FC236}">
                <a16:creationId xmlns:a16="http://schemas.microsoft.com/office/drawing/2014/main" id="{37134B36-A4E0-44EA-A3A6-852F75AC3208}"/>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부처 지침·집행자료 → 규정 질의 → 서식·증빙 정리 → 연구자·기관 검토</a:t>
            </a:r>
          </a:p>
        </p:txBody>
      </p:sp>
      <p:sp>
        <p:nvSpPr>
          <p:cNvPr id="7" name="">
            <a:extLst xmlns:a="http://schemas.openxmlformats.org/drawingml/2006/main">
              <a:ext uri="{FF2B5EF4-FFF2-40B4-BE49-F238E27FC236}">
                <a16:creationId xmlns:a16="http://schemas.microsoft.com/office/drawing/2014/main" id="{B22CE59C-D8D1-47FC-B481-3751FDB2B872}"/>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58CF0C67-161A-4CC3-B8EA-FC78F61C6BB7}"/>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ABCF641E-BDF5-470F-AACD-43EB250929E0}"/>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연구비 질의</a:t>
            </a:r>
          </a:p>
        </p:txBody>
      </p:sp>
      <p:sp>
        <p:nvSpPr>
          <p:cNvPr id="10" name="">
            <a:extLst xmlns:a="http://schemas.openxmlformats.org/drawingml/2006/main">
              <a:ext uri="{FF2B5EF4-FFF2-40B4-BE49-F238E27FC236}">
                <a16:creationId xmlns:a16="http://schemas.microsoft.com/office/drawing/2014/main" id="{840117D9-9B0F-4CA0-9ACF-A69FAF601C5E}"/>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D25A3ABB-B52A-44E6-BCC4-70053305AC1C}"/>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2" name="">
            <a:extLst xmlns:a="http://schemas.openxmlformats.org/drawingml/2006/main">
              <a:ext uri="{FF2B5EF4-FFF2-40B4-BE49-F238E27FC236}">
                <a16:creationId xmlns:a16="http://schemas.microsoft.com/office/drawing/2014/main" id="{7056C567-924F-48A7-9815-C210EA49E9D5}"/>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조건 비교·서식</a:t>
            </a:r>
          </a:p>
        </p:txBody>
      </p:sp>
      <p:sp>
        <p:nvSpPr>
          <p:cNvPr id="13" name="">
            <a:extLst xmlns:a="http://schemas.openxmlformats.org/drawingml/2006/main">
              <a:ext uri="{FF2B5EF4-FFF2-40B4-BE49-F238E27FC236}">
                <a16:creationId xmlns:a16="http://schemas.microsoft.com/office/drawing/2014/main" id="{60FABE07-F8D6-46F0-8BAA-2A9296E89500}"/>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0BCBE630-4B6E-4E1F-8E28-33814F76F1CE}"/>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5" name="">
            <a:extLst xmlns:a="http://schemas.openxmlformats.org/drawingml/2006/main">
              <a:ext uri="{FF2B5EF4-FFF2-40B4-BE49-F238E27FC236}">
                <a16:creationId xmlns:a16="http://schemas.microsoft.com/office/drawing/2014/main" id="{68D771E7-8B36-4D99-92CE-6CAF3A9F5F06}"/>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판본·누락 검사</a:t>
            </a:r>
          </a:p>
        </p:txBody>
      </p:sp>
      <p:sp>
        <p:nvSpPr>
          <p:cNvPr id="16" name="">
            <a:extLst xmlns:a="http://schemas.openxmlformats.org/drawingml/2006/main">
              <a:ext uri="{FF2B5EF4-FFF2-40B4-BE49-F238E27FC236}">
                <a16:creationId xmlns:a16="http://schemas.microsoft.com/office/drawing/2014/main" id="{035A9024-94F7-4CB1-8F4B-A61BBEF22712}"/>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2E5683EB-DB5D-4AD4-A35B-73905AF13FDA}"/>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18" name="">
            <a:extLst xmlns:a="http://schemas.openxmlformats.org/drawingml/2006/main">
              <a:ext uri="{FF2B5EF4-FFF2-40B4-BE49-F238E27FC236}">
                <a16:creationId xmlns:a16="http://schemas.microsoft.com/office/drawing/2014/main" id="{07353094-9DB8-4C76-8D5A-2C538B7EB983}"/>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기관 검토자 확인</a:t>
            </a:r>
          </a:p>
        </p:txBody>
      </p:sp>
      <p:sp>
        <p:nvSpPr>
          <p:cNvPr id="19" name="">
            <a:extLst xmlns:a="http://schemas.openxmlformats.org/drawingml/2006/main">
              <a:ext uri="{FF2B5EF4-FFF2-40B4-BE49-F238E27FC236}">
                <a16:creationId xmlns:a16="http://schemas.microsoft.com/office/drawing/2014/main" id="{59517CC7-DBF4-4800-B900-AC7AE9EC1BA6}"/>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BF43520F-4212-48A1-AD07-52FFBECAF580}"/>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7EB337D6-6D0B-4404-B45C-EC145CB7F1ED}"/>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보완·집행 검토</a:t>
            </a:r>
          </a:p>
        </p:txBody>
      </p:sp>
      <p:sp>
        <p:nvSpPr>
          <p:cNvPr id="22" name="">
            <a:extLst xmlns:a="http://schemas.openxmlformats.org/drawingml/2006/main">
              <a:ext uri="{FF2B5EF4-FFF2-40B4-BE49-F238E27FC236}">
                <a16:creationId xmlns:a16="http://schemas.microsoft.com/office/drawing/2014/main" id="{088AFB51-73C7-4CB2-BA4F-EBF284C21F90}"/>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76A2C317-0084-442C-B2C3-EB4DC6D42525}"/>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4" name="">
            <a:extLst xmlns:a="http://schemas.openxmlformats.org/drawingml/2006/main">
              <a:ext uri="{FF2B5EF4-FFF2-40B4-BE49-F238E27FC236}">
                <a16:creationId xmlns:a16="http://schemas.microsoft.com/office/drawing/2014/main" id="{4CE65ABB-97E8-4BD4-B7D9-7F464F549A7A}"/>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지침·거래 증빙</a:t>
            </a:r>
          </a:p>
        </p:txBody>
      </p:sp>
      <p:sp>
        <p:nvSpPr>
          <p:cNvPr id="25" name="">
            <a:extLst xmlns:a="http://schemas.openxmlformats.org/drawingml/2006/main">
              <a:ext uri="{FF2B5EF4-FFF2-40B4-BE49-F238E27FC236}">
                <a16:creationId xmlns:a16="http://schemas.microsoft.com/office/drawing/2014/main" id="{6965A883-B38D-414F-876E-9F68B5F8C516}"/>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98881085-EF5C-448E-95C5-0B77A0D8148E}"/>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27" name="">
            <a:extLst xmlns:a="http://schemas.openxmlformats.org/drawingml/2006/main">
              <a:ext uri="{FF2B5EF4-FFF2-40B4-BE49-F238E27FC236}">
                <a16:creationId xmlns:a16="http://schemas.microsoft.com/office/drawing/2014/main" id="{DE2C63D7-03D7-493A-9080-15C3653982B8}"/>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판본·항목 연결</a:t>
            </a:r>
          </a:p>
        </p:txBody>
      </p:sp>
      <p:sp>
        <p:nvSpPr>
          <p:cNvPr id="28" name="">
            <a:extLst xmlns:a="http://schemas.openxmlformats.org/drawingml/2006/main">
              <a:ext uri="{FF2B5EF4-FFF2-40B4-BE49-F238E27FC236}">
                <a16:creationId xmlns:a16="http://schemas.microsoft.com/office/drawing/2014/main" id="{01EBBC50-B57E-46FF-AD48-B4C7C0D1AE2D}"/>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A28B0509-3AB0-46D1-BB30-082548A135F0}"/>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8E530613-F785-4582-BA3B-E54FE2446726}"/>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규정·증빙 조회</a:t>
            </a:r>
          </a:p>
        </p:txBody>
      </p:sp>
      <p:sp>
        <p:nvSpPr>
          <p:cNvPr id="31" name="">
            <a:extLst xmlns:a="http://schemas.openxmlformats.org/drawingml/2006/main">
              <a:ext uri="{FF2B5EF4-FFF2-40B4-BE49-F238E27FC236}">
                <a16:creationId xmlns:a16="http://schemas.microsoft.com/office/drawing/2014/main" id="{AC1D8CAF-236D-4FB0-8BDF-65074FA7177C}"/>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6A16F75A-5F9B-4200-8444-9D0EEF282469}"/>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5434661A-2642-48EC-83E6-A3B3B57EB996}"/>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집행·근거 기록</a:t>
            </a:r>
          </a:p>
        </p:txBody>
      </p:sp>
      <p:sp>
        <p:nvSpPr>
          <p:cNvPr id="34" name="">
            <a:extLst xmlns:a="http://schemas.openxmlformats.org/drawingml/2006/main">
              <a:ext uri="{FF2B5EF4-FFF2-40B4-BE49-F238E27FC236}">
                <a16:creationId xmlns:a16="http://schemas.microsoft.com/office/drawing/2014/main" id="{933465B5-D941-4299-9C21-07CAD840F2BE}"/>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04FEAB21-7FC7-408F-AC46-D58C77F25FCC}"/>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0A9A11CA-3672-4010-BA5C-93355E7F124A}"/>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오분류 추적</a:t>
            </a:r>
          </a:p>
        </p:txBody>
      </p:sp>
      <p:sp>
        <p:nvSpPr>
          <p:cNvPr id="46" name="">
            <a:extLst xmlns:a="http://schemas.openxmlformats.org/drawingml/2006/main">
              <a:ext uri="{FF2B5EF4-FFF2-40B4-BE49-F238E27FC236}">
                <a16:creationId xmlns:a16="http://schemas.microsoft.com/office/drawing/2014/main" id="{F2C1FC80-E5A0-4BB0-8CD0-F5C3BF2AA64E}"/>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860758801"/>
      </p:ext>
    </p:extLst>
  </p:cSld>
</p:sld>
</file>

<file path=ppt/slides/slide12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045833E3-7868-4107-ACD6-0A144E96F6F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AX24 / 논리 인터페이스·복구 설계</a:t>
            </a:r>
          </a:p>
        </p:txBody>
      </p:sp>
      <p:sp>
        <p:nvSpPr>
          <p:cNvPr id="2" name="">
            <a:extLst xmlns:a="http://schemas.openxmlformats.org/drawingml/2006/main">
              <a:ext uri="{FF2B5EF4-FFF2-40B4-BE49-F238E27FC236}">
                <a16:creationId xmlns:a16="http://schemas.microsoft.com/office/drawing/2014/main" id="{9487F159-3C6E-4CF7-9CCA-161D066B6CE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국가 R&amp;D 사업비 Risk 지원 · 데이터와 예외 처리</a:t>
            </a:r>
          </a:p>
        </p:txBody>
      </p:sp>
      <p:sp>
        <p:nvSpPr>
          <p:cNvPr id="3" name="">
            <a:extLst xmlns:a="http://schemas.openxmlformats.org/drawingml/2006/main">
              <a:ext uri="{FF2B5EF4-FFF2-40B4-BE49-F238E27FC236}">
                <a16:creationId xmlns:a16="http://schemas.microsoft.com/office/drawing/2014/main" id="{E540DCEC-2C23-4FBA-A683-2228C86F0C6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A0D9C45-8A6E-4098-85DB-D88AC46A8B0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134FDF40-CD67-4FBB-AF3D-47D5902FEEE4}"/>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126</a:t>
            </a:r>
          </a:p>
        </p:txBody>
      </p:sp>
      <p:sp>
        <p:nvSpPr>
          <p:cNvPr id="6" name="">
            <a:extLst xmlns:a="http://schemas.openxmlformats.org/drawingml/2006/main">
              <a:ext uri="{FF2B5EF4-FFF2-40B4-BE49-F238E27FC236}">
                <a16:creationId xmlns:a16="http://schemas.microsoft.com/office/drawing/2014/main" id="{1822D34B-6150-42BD-9D4B-84475278FF7F}"/>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C0CB5D7C-A817-462C-8E5F-829E383DC016}"/>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0ADF0DE7-DD7E-41EF-9CF6-E8ACEDED153B}"/>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원문 반입</a:t>
            </a:r>
          </a:p>
        </p:txBody>
      </p:sp>
      <p:sp>
        <p:nvSpPr>
          <p:cNvPr id="9" name="">
            <a:extLst xmlns:a="http://schemas.openxmlformats.org/drawingml/2006/main">
              <a:ext uri="{FF2B5EF4-FFF2-40B4-BE49-F238E27FC236}">
                <a16:creationId xmlns:a16="http://schemas.microsoft.com/office/drawing/2014/main" id="{F197E292-D67A-4A88-8AFD-F801890854A5}"/>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지침·증빙 기록</a:t>
            </a:r>
          </a:p>
        </p:txBody>
      </p:sp>
      <p:sp>
        <p:nvSpPr>
          <p:cNvPr id="10" name="">
            <a:extLst xmlns:a="http://schemas.openxmlformats.org/drawingml/2006/main">
              <a:ext uri="{FF2B5EF4-FFF2-40B4-BE49-F238E27FC236}">
                <a16:creationId xmlns:a16="http://schemas.microsoft.com/office/drawing/2014/main" id="{D7ED4C18-0C70-42E0-95A1-C22DEF547F35}"/>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15E017C-0472-4123-93E5-B096291944AC}"/>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정제 원문</a:t>
            </a:r>
          </a:p>
        </p:txBody>
      </p:sp>
      <p:sp>
        <p:nvSpPr>
          <p:cNvPr id="12" name="">
            <a:extLst xmlns:a="http://schemas.openxmlformats.org/drawingml/2006/main">
              <a:ext uri="{FF2B5EF4-FFF2-40B4-BE49-F238E27FC236}">
                <a16:creationId xmlns:a16="http://schemas.microsoft.com/office/drawing/2014/main" id="{89738912-C9C3-4274-97D2-BB7EDE19309F}"/>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A3B1D3FC-0075-4477-B6E0-9FC96EBB52AE}"/>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CD14D45-AB1E-4252-B97A-FD2F5F236F37}"/>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추출값</a:t>
            </a:r>
          </a:p>
        </p:txBody>
      </p:sp>
      <p:sp>
        <p:nvSpPr>
          <p:cNvPr id="15" name="">
            <a:extLst xmlns:a="http://schemas.openxmlformats.org/drawingml/2006/main">
              <a:ext uri="{FF2B5EF4-FFF2-40B4-BE49-F238E27FC236}">
                <a16:creationId xmlns:a16="http://schemas.microsoft.com/office/drawing/2014/main" id="{40097EB5-FB91-41EB-9C62-1906976CFC24}"/>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서식·증빙 목록</a:t>
            </a:r>
          </a:p>
        </p:txBody>
      </p:sp>
      <p:sp>
        <p:nvSpPr>
          <p:cNvPr id="16" name="">
            <a:extLst xmlns:a="http://schemas.openxmlformats.org/drawingml/2006/main">
              <a:ext uri="{FF2B5EF4-FFF2-40B4-BE49-F238E27FC236}">
                <a16:creationId xmlns:a16="http://schemas.microsoft.com/office/drawing/2014/main" id="{250015D0-7772-4E1B-A47A-B9AB0A6E9248}"/>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74B9F18-59E5-46A5-B4FC-14D46D3EE724}"/>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규정·대조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기준</a:t>
            </a:r>
          </a:p>
        </p:txBody>
      </p:sp>
      <p:sp>
        <p:nvSpPr>
          <p:cNvPr id="18" name="">
            <a:extLst xmlns:a="http://schemas.openxmlformats.org/drawingml/2006/main">
              <a:ext uri="{FF2B5EF4-FFF2-40B4-BE49-F238E27FC236}">
                <a16:creationId xmlns:a16="http://schemas.microsoft.com/office/drawing/2014/main" id="{895700D7-7C23-4991-9802-B2EF985858DE}"/>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적용 규정</a:t>
            </a:r>
          </a:p>
        </p:txBody>
      </p:sp>
      <p:sp>
        <p:nvSpPr>
          <p:cNvPr id="19" name="">
            <a:extLst xmlns:a="http://schemas.openxmlformats.org/drawingml/2006/main">
              <a:ext uri="{FF2B5EF4-FFF2-40B4-BE49-F238E27FC236}">
                <a16:creationId xmlns:a16="http://schemas.microsoft.com/office/drawing/2014/main" id="{C50F2575-53E9-4594-9BD8-521F13756491}"/>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5D91249-390B-47EC-A661-BEE7AC9ED501}"/>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불일치·누락</a:t>
            </a:r>
          </a:p>
        </p:txBody>
      </p:sp>
      <p:sp>
        <p:nvSpPr>
          <p:cNvPr id="21" name="">
            <a:extLst xmlns:a="http://schemas.openxmlformats.org/drawingml/2006/main">
              <a:ext uri="{FF2B5EF4-FFF2-40B4-BE49-F238E27FC236}">
                <a16:creationId xmlns:a16="http://schemas.microsoft.com/office/drawing/2014/main" id="{7867E754-83CB-4D7B-BC0F-9B9D6FD2AFEE}"/>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서식·증빙 목록</a:t>
            </a:r>
          </a:p>
        </p:txBody>
      </p:sp>
      <p:sp>
        <p:nvSpPr>
          <p:cNvPr id="22" name="">
            <a:extLst xmlns:a="http://schemas.openxmlformats.org/drawingml/2006/main">
              <a:ext uri="{FF2B5EF4-FFF2-40B4-BE49-F238E27FC236}">
                <a16:creationId xmlns:a16="http://schemas.microsoft.com/office/drawing/2014/main" id="{A06A1CFD-FB44-4319-9212-C1D18D00D35C}"/>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837FCA2-5C8A-4D87-B689-88F78A817C58}"/>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확정 결과</a:t>
            </a:r>
          </a:p>
        </p:txBody>
      </p:sp>
      <p:sp>
        <p:nvSpPr>
          <p:cNvPr id="24" name="">
            <a:extLst xmlns:a="http://schemas.openxmlformats.org/drawingml/2006/main">
              <a:ext uri="{FF2B5EF4-FFF2-40B4-BE49-F238E27FC236}">
                <a16:creationId xmlns:a16="http://schemas.microsoft.com/office/drawing/2014/main" id="{2B56A77D-F845-44FC-AD3E-2F3AEEB64E2B}"/>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보완·검토 결과</a:t>
            </a:r>
          </a:p>
        </p:txBody>
      </p:sp>
      <p:sp>
        <p:nvSpPr>
          <p:cNvPr id="25" name="">
            <a:extLst xmlns:a="http://schemas.openxmlformats.org/drawingml/2006/main">
              <a:ext uri="{FF2B5EF4-FFF2-40B4-BE49-F238E27FC236}">
                <a16:creationId xmlns:a16="http://schemas.microsoft.com/office/drawing/2014/main" id="{AA9D6AEB-B373-4DF5-B618-278ACBC7D5C8}"/>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A500E759-41C3-4639-8961-E7C064411123}"/>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다른 부처 지침·기간 외 거래·중복 집행 증빙</a:t>
            </a:r>
          </a:p>
        </p:txBody>
      </p:sp>
      <p:sp>
        <p:nvSpPr>
          <p:cNvPr id="27" name="">
            <a:extLst xmlns:a="http://schemas.openxmlformats.org/drawingml/2006/main">
              <a:ext uri="{FF2B5EF4-FFF2-40B4-BE49-F238E27FC236}">
                <a16:creationId xmlns:a16="http://schemas.microsoft.com/office/drawing/2014/main" id="{B0EEB25B-4676-434A-98CD-912142FEE8F8}"/>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34453E70-CDF0-4A30-B723-66663EF296DE}"/>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사업·판본별 의무와 예외 대사</a:t>
            </a:r>
          </a:p>
        </p:txBody>
      </p:sp>
      <p:sp>
        <p:nvSpPr>
          <p:cNvPr id="29" name="">
            <a:extLst xmlns:a="http://schemas.openxmlformats.org/drawingml/2006/main">
              <a:ext uri="{FF2B5EF4-FFF2-40B4-BE49-F238E27FC236}">
                <a16:creationId xmlns:a16="http://schemas.microsoft.com/office/drawing/2014/main" id="{0F6D06AD-A9D8-4FDC-A27B-2D84E2C83CDB}"/>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7941B4ED-0430-4531-8D61-4776972B048F}"/>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오분류·증빙 누락과 검토 결과 추적</a:t>
            </a:r>
          </a:p>
        </p:txBody>
      </p:sp>
      <p:sp>
        <p:nvSpPr>
          <p:cNvPr id="31" name="">
            <a:extLst xmlns:a="http://schemas.openxmlformats.org/drawingml/2006/main">
              <a:ext uri="{FF2B5EF4-FFF2-40B4-BE49-F238E27FC236}">
                <a16:creationId xmlns:a16="http://schemas.microsoft.com/office/drawing/2014/main" id="{09F44764-4FAB-4264-BF6B-805713927A3D}"/>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497A953B-A789-4AE3-95F2-A4E1E7BE6EA5}"/>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요건·거래·증빙·검토자 연결표와 누락 검출 결과</a:t>
            </a:r>
          </a:p>
        </p:txBody>
      </p:sp>
    </p:spTree>
    <p:extLst>
      <p:ext uri="{BB962C8B-B14F-4D97-AF65-F5344CB8AC3E}">
        <p14:creationId xmlns:p14="http://schemas.microsoft.com/office/powerpoint/2010/main" val="108876307"/>
      </p:ext>
    </p:extLst>
  </p:cSld>
</p:sld>
</file>

<file path=ppt/slides/slide12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89FB2DF-99DD-4FC9-978C-D4468861A46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AX24 / CCK 비교·재현 시험 설계</a:t>
            </a:r>
          </a:p>
        </p:txBody>
      </p:sp>
      <p:sp>
        <p:nvSpPr>
          <p:cNvPr id="2" name="">
            <a:extLst xmlns:a="http://schemas.openxmlformats.org/drawingml/2006/main">
              <a:ext uri="{FF2B5EF4-FFF2-40B4-BE49-F238E27FC236}">
                <a16:creationId xmlns:a16="http://schemas.microsoft.com/office/drawing/2014/main" id="{3D832A4E-26AE-4DA0-82D9-693ACC3BB32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국가 R&amp;D 사업비 Risk 지원 · 벤치마킹</a:t>
            </a:r>
          </a:p>
        </p:txBody>
      </p:sp>
      <p:sp>
        <p:nvSpPr>
          <p:cNvPr id="3" name="">
            <a:extLst xmlns:a="http://schemas.openxmlformats.org/drawingml/2006/main">
              <a:ext uri="{FF2B5EF4-FFF2-40B4-BE49-F238E27FC236}">
                <a16:creationId xmlns:a16="http://schemas.microsoft.com/office/drawing/2014/main" id="{99CBDDBC-D1D9-4361-AAB0-AFD0AE6EF81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0A36D7E-99F7-4AC9-A7DE-EC2C34A4FB1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7FC6DFD7-7631-4482-931A-6E60C0A73AE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127</a:t>
            </a:r>
          </a:p>
        </p:txBody>
      </p:sp>
      <p:sp>
        <p:nvSpPr>
          <p:cNvPr id="6" name="">
            <a:extLst xmlns:a="http://schemas.openxmlformats.org/drawingml/2006/main">
              <a:ext uri="{FF2B5EF4-FFF2-40B4-BE49-F238E27FC236}">
                <a16:creationId xmlns:a16="http://schemas.microsoft.com/office/drawing/2014/main" id="{16E2025A-96BA-454D-9D60-B8AD9CA70AD2}"/>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15C33D74-D22A-41E0-983F-B154D85016F6}"/>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부처 지침과 집행 자료 연결</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서식·증빙을 검토 과정에 결합</a:t>
            </a:r>
          </a:p>
        </p:txBody>
      </p:sp>
      <p:sp>
        <p:nvSpPr>
          <p:cNvPr id="8" name="">
            <a:extLst xmlns:a="http://schemas.openxmlformats.org/drawingml/2006/main">
              <a:ext uri="{FF2B5EF4-FFF2-40B4-BE49-F238E27FC236}">
                <a16:creationId xmlns:a16="http://schemas.microsoft.com/office/drawing/2014/main" id="{04428784-9F19-48FB-923D-A8E4030E591E}"/>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4F05461F-439D-4B2C-92FB-7CB88D1B0D4E}"/>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부처·연차별 집행기준 혼용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서식 생성과 적정 집행 판정의 혼동</a:t>
            </a:r>
          </a:p>
        </p:txBody>
      </p:sp>
      <p:sp>
        <p:nvSpPr>
          <p:cNvPr id="10" name="">
            <a:extLst xmlns:a="http://schemas.openxmlformats.org/drawingml/2006/main">
              <a:ext uri="{FF2B5EF4-FFF2-40B4-BE49-F238E27FC236}">
                <a16:creationId xmlns:a16="http://schemas.microsoft.com/office/drawing/2014/main" id="{0F66FFC1-F1A9-48AA-B3CD-5F4491488921}"/>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BF2FCBC9-2B48-4F25-9E3D-87CBE09AC59B}"/>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사업·판본별 의무와 예외 대사</a:t>
            </a:r>
          </a:p>
        </p:txBody>
      </p:sp>
      <p:sp>
        <p:nvSpPr>
          <p:cNvPr id="12" name="">
            <a:extLst xmlns:a="http://schemas.openxmlformats.org/drawingml/2006/main">
              <a:ext uri="{FF2B5EF4-FFF2-40B4-BE49-F238E27FC236}">
                <a16:creationId xmlns:a16="http://schemas.microsoft.com/office/drawing/2014/main" id="{A122E96A-FD5A-4DEA-87D0-7151253BE6B3}"/>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AB8AB804-0A0E-40D7-89B0-2AA28BC02D4B}"/>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부처·사업·협약기간에 맞는 집행 조건과 증빙 확인</a:t>
            </a:r>
          </a:p>
        </p:txBody>
      </p:sp>
      <p:sp>
        <p:nvSpPr>
          <p:cNvPr id="14" name="">
            <a:extLst xmlns:a="http://schemas.openxmlformats.org/drawingml/2006/main">
              <a:ext uri="{FF2B5EF4-FFF2-40B4-BE49-F238E27FC236}">
                <a16:creationId xmlns:a16="http://schemas.microsoft.com/office/drawing/2014/main" id="{6ADD3289-992E-4D1D-A307-5980B666450B}"/>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1EB62E51-4C48-437E-8231-7B040A330EB1}"/>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다른 부처 지침·기간 외 거래·중복 집행 증빙</a:t>
            </a:r>
          </a:p>
        </p:txBody>
      </p:sp>
      <p:sp>
        <p:nvSpPr>
          <p:cNvPr id="16" name="">
            <a:extLst xmlns:a="http://schemas.openxmlformats.org/drawingml/2006/main">
              <a:ext uri="{FF2B5EF4-FFF2-40B4-BE49-F238E27FC236}">
                <a16:creationId xmlns:a16="http://schemas.microsoft.com/office/drawing/2014/main" id="{B46FE61E-2740-487B-A161-E0E6B6D2E486}"/>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02A37F29-0540-44B3-A04A-29CBA7AB2AB1}"/>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요건·거래·증빙·검토자 연결표와 누락 검출 결과</a:t>
            </a:r>
          </a:p>
        </p:txBody>
      </p:sp>
    </p:spTree>
    <p:extLst>
      <p:ext uri="{BB962C8B-B14F-4D97-AF65-F5344CB8AC3E}">
        <p14:creationId xmlns:p14="http://schemas.microsoft.com/office/powerpoint/2010/main" val="1834332847"/>
      </p:ext>
    </p:extLst>
  </p:cSld>
</p:sld>
</file>

<file path=ppt/slides/slide12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33D3187-1610-4B83-8F02-3C9CC4B732F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AX25 / 성과 미검증 / 국내</a:t>
            </a:r>
          </a:p>
        </p:txBody>
      </p:sp>
      <p:sp>
        <p:nvSpPr>
          <p:cNvPr id="2" name="">
            <a:extLst xmlns:a="http://schemas.openxmlformats.org/drawingml/2006/main">
              <a:ext uri="{FF2B5EF4-FFF2-40B4-BE49-F238E27FC236}">
                <a16:creationId xmlns:a16="http://schemas.microsoft.com/office/drawing/2014/main" id="{13A788E9-4F7A-48F4-88FF-5C73DB144E9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조달청 e-제안요청 도움</a:t>
            </a:r>
          </a:p>
        </p:txBody>
      </p:sp>
      <p:sp>
        <p:nvSpPr>
          <p:cNvPr id="3" name="">
            <a:extLst xmlns:a="http://schemas.openxmlformats.org/drawingml/2006/main">
              <a:ext uri="{FF2B5EF4-FFF2-40B4-BE49-F238E27FC236}">
                <a16:creationId xmlns:a16="http://schemas.microsoft.com/office/drawing/2014/main" id="{51CC58DE-ACEE-4AEA-90D5-B190ABC1CA1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447931F-1F53-4C0E-8E7C-6613EF68B42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E3366E7-769E-4222-80CB-B2EBBB0E494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128</a:t>
            </a:r>
          </a:p>
        </p:txBody>
      </p:sp>
      <p:sp>
        <p:nvSpPr>
          <p:cNvPr id="6" name="">
            <a:extLst xmlns:a="http://schemas.openxmlformats.org/drawingml/2006/main">
              <a:ext uri="{FF2B5EF4-FFF2-40B4-BE49-F238E27FC236}">
                <a16:creationId xmlns:a16="http://schemas.microsoft.com/office/drawing/2014/main" id="{0042BB78-A5F9-4336-96A4-9A7878B461FB}"/>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B94AFCD1-E4D9-48F2-B348-25D11751D7A5}"/>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기존 RFP와 사업 수요를 분석해 목차·키워드·요구사항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초안을 만드는 지원 사례. 과거 문서를 재활용하면서 신</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규 범위와 기존 의무의 중복을 피하는 작업이 핵심.</a:t>
            </a:r>
          </a:p>
        </p:txBody>
      </p:sp>
      <p:sp>
        <p:nvSpPr>
          <p:cNvPr id="8" name="">
            <a:extLst xmlns:a="http://schemas.openxmlformats.org/drawingml/2006/main">
              <a:ext uri="{FF2B5EF4-FFF2-40B4-BE49-F238E27FC236}">
                <a16:creationId xmlns:a16="http://schemas.microsoft.com/office/drawing/2014/main" id="{76797BFB-AB01-4B86-A18E-6FBE51AFDF2F}"/>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C05E0ADF-FA8B-4EBF-9BF9-FC3682B985E2}"/>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사업 목적·현재 시스템·추가 개발 범위를 입력하고 목차</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별 요구 후보를 구성하는 재구성. 담당자가 출처·누락·중</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복·검수 가능성을 확인한 뒤 요구 ID와 시험 항목을 연결</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a:t>
            </a:r>
          </a:p>
        </p:txBody>
      </p:sp>
      <p:sp>
        <p:nvSpPr>
          <p:cNvPr id="10" name="">
            <a:extLst xmlns:a="http://schemas.openxmlformats.org/drawingml/2006/main">
              <a:ext uri="{FF2B5EF4-FFF2-40B4-BE49-F238E27FC236}">
                <a16:creationId xmlns:a16="http://schemas.microsoft.com/office/drawing/2014/main" id="{79503D42-C896-4085-A419-2B2E43745A73}"/>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4A715D8D-9075-463B-84D3-18B93DB986E0}"/>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CCK 제안·사업관리 스킬에서는 문서 생성보다 근거와 요</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구·검수의 추적을 공통 기능으로 활용. 기존 과업 복사, 빈</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검수기준, 법령 판본 혼용을 포함한 검토 시나리오 필요.</a:t>
            </a:r>
          </a:p>
        </p:txBody>
      </p:sp>
      <p:sp>
        <p:nvSpPr>
          <p:cNvPr id="12" name="">
            <a:extLst xmlns:a="http://schemas.openxmlformats.org/drawingml/2006/main">
              <a:ext uri="{FF2B5EF4-FFF2-40B4-BE49-F238E27FC236}">
                <a16:creationId xmlns:a16="http://schemas.microsoft.com/office/drawing/2014/main" id="{35605E32-B925-462C-86B0-E823F94F866F}"/>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E9620390-1DF9-4ED4-9877-ACD0BCB62DE5}"/>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요구ID·원문·산출물·검수의 누락 검사</a:t>
            </a:r>
          </a:p>
        </p:txBody>
      </p:sp>
      <p:sp>
        <p:nvSpPr>
          <p:cNvPr id="14" name="">
            <a:extLst xmlns:a="http://schemas.openxmlformats.org/drawingml/2006/main">
              <a:ext uri="{FF2B5EF4-FFF2-40B4-BE49-F238E27FC236}">
                <a16:creationId xmlns:a16="http://schemas.microsoft.com/office/drawing/2014/main" id="{8AB81B9F-EB9B-4308-BEAE-2623A4F63B73}"/>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1609A22D-D426-4D02-BED1-DCECDDDB5DF1}"/>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누락·중복·상충 요구 및 근거 없는 성능 목표 탐지</a:t>
            </a:r>
          </a:p>
        </p:txBody>
      </p:sp>
      <p:sp>
        <p:nvSpPr>
          <p:cNvPr id="16" name="">
            <a:extLst xmlns:a="http://schemas.openxmlformats.org/drawingml/2006/main">
              <a:ext uri="{FF2B5EF4-FFF2-40B4-BE49-F238E27FC236}">
                <a16:creationId xmlns:a16="http://schemas.microsoft.com/office/drawing/2014/main" id="{4D1345D1-676E-4352-BFC3-37510F7DF4BF}"/>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995A4DA1-EDC0-4EBF-A54B-5D8EEB1823A3}"/>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작성·보완 시간 / 추적 누락률</a:t>
            </a:r>
          </a:p>
        </p:txBody>
      </p:sp>
      <p:sp>
        <p:nvSpPr>
          <p:cNvPr id="18" name="">
            <a:extLst xmlns:a="http://schemas.openxmlformats.org/drawingml/2006/main">
              <a:ext uri="{FF2B5EF4-FFF2-40B4-BE49-F238E27FC236}">
                <a16:creationId xmlns:a16="http://schemas.microsoft.com/office/drawing/2014/main" id="{82666455-79E4-41E5-8551-02537805155F}"/>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작성 지원 범위 · 요구사항·예산의 자동 승인과 구분</a:t>
            </a:r>
          </a:p>
        </p:txBody>
      </p:sp>
    </p:spTree>
    <p:extLst>
      <p:ext uri="{BB962C8B-B14F-4D97-AF65-F5344CB8AC3E}">
        <p14:creationId xmlns:p14="http://schemas.microsoft.com/office/powerpoint/2010/main" val="1794608386"/>
      </p:ext>
    </p:extLst>
  </p:cSld>
</p:sld>
</file>

<file path=ppt/slides/slide12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D76FF13-E1FD-43B1-8EC2-ED1BB6EAB4A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AX25 / As-Is → To-Be → 기대효과 → 확인 결과</a:t>
            </a:r>
          </a:p>
        </p:txBody>
      </p:sp>
      <p:sp>
        <p:nvSpPr>
          <p:cNvPr id="2" name="">
            <a:extLst xmlns:a="http://schemas.openxmlformats.org/drawingml/2006/main">
              <a:ext uri="{FF2B5EF4-FFF2-40B4-BE49-F238E27FC236}">
                <a16:creationId xmlns:a16="http://schemas.microsoft.com/office/drawing/2014/main" id="{09FF22E9-37FB-423E-A7BE-17B29571DCB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조달청 e-제안요청 도움 · 기대와 결과</a:t>
            </a:r>
          </a:p>
        </p:txBody>
      </p:sp>
      <p:sp>
        <p:nvSpPr>
          <p:cNvPr id="3" name="">
            <a:extLst xmlns:a="http://schemas.openxmlformats.org/drawingml/2006/main">
              <a:ext uri="{FF2B5EF4-FFF2-40B4-BE49-F238E27FC236}">
                <a16:creationId xmlns:a16="http://schemas.microsoft.com/office/drawing/2014/main" id="{27FE6120-00F1-4D70-9ED9-2AD67C83E58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515009B-DAFC-42D0-9B15-D73552F437D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58916CC4-6A7F-4C42-B656-917D60FCF8D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129</a:t>
            </a:r>
          </a:p>
        </p:txBody>
      </p:sp>
      <p:sp>
        <p:nvSpPr>
          <p:cNvPr id="6" name="">
            <a:extLst xmlns:a="http://schemas.openxmlformats.org/drawingml/2006/main">
              <a:ext uri="{FF2B5EF4-FFF2-40B4-BE49-F238E27FC236}">
                <a16:creationId xmlns:a16="http://schemas.microsoft.com/office/drawing/2014/main" id="{C7E8C89E-E25D-4775-AC4A-EFDB5FD0A5E4}"/>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B24DB3CA-8FDC-42C1-B4E3-020F42F59103}"/>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담당자가 이전 RFP에서 요구사항·목차를 추출해 신규 과</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업 초안을 수작업 작성</a:t>
            </a:r>
          </a:p>
        </p:txBody>
      </p:sp>
      <p:sp>
        <p:nvSpPr>
          <p:cNvPr id="8" name="">
            <a:extLst xmlns:a="http://schemas.openxmlformats.org/drawingml/2006/main">
              <a:ext uri="{FF2B5EF4-FFF2-40B4-BE49-F238E27FC236}">
                <a16:creationId xmlns:a16="http://schemas.microsoft.com/office/drawing/2014/main" id="{6B8DABB3-C286-46BA-9DC0-B70527E6084A}"/>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C23F9070-9407-40BD-84DA-1861E68633DC}"/>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기존 RFP의 목차·키워드를 추출하고 담당자가 검증한 뒤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신규 초안 구성</a:t>
            </a:r>
          </a:p>
        </p:txBody>
      </p:sp>
      <p:sp>
        <p:nvSpPr>
          <p:cNvPr id="10" name="">
            <a:extLst xmlns:a="http://schemas.openxmlformats.org/drawingml/2006/main">
              <a:ext uri="{FF2B5EF4-FFF2-40B4-BE49-F238E27FC236}">
                <a16:creationId xmlns:a16="http://schemas.microsoft.com/office/drawing/2014/main" id="{5185E6B7-D178-49EE-B1E8-C81607C5EC04}"/>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31BDE9F9-2CE6-4110-9B34-44BBA4132150}"/>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초안 작성시간 단축과 누락·중복 요구 감소</a:t>
            </a:r>
          </a:p>
        </p:txBody>
      </p:sp>
      <p:sp>
        <p:nvSpPr>
          <p:cNvPr id="12" name="">
            <a:extLst xmlns:a="http://schemas.openxmlformats.org/drawingml/2006/main">
              <a:ext uri="{FF2B5EF4-FFF2-40B4-BE49-F238E27FC236}">
                <a16:creationId xmlns:a16="http://schemas.microsoft.com/office/drawing/2014/main" id="{9BBA7CF8-D8F0-44E1-8D3B-FA6A845627CE}"/>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B60FEF33-5A6B-4B4D-9A99-9A0EE8659A4D}"/>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공공 사례집이 2023년 PoC와 2024년 고도화 범위를 소</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개</a:t>
            </a:r>
          </a:p>
        </p:txBody>
      </p:sp>
      <p:sp>
        <p:nvSpPr>
          <p:cNvPr id="14" name="">
            <a:extLst xmlns:a="http://schemas.openxmlformats.org/drawingml/2006/main">
              <a:ext uri="{FF2B5EF4-FFF2-40B4-BE49-F238E27FC236}">
                <a16:creationId xmlns:a16="http://schemas.microsoft.com/office/drawing/2014/main" id="{500954A8-0292-4FBD-A90E-74377BAFB130}"/>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PoC·고도화 추진은 확인되나 작성시간·요구사항 오류율의 실측 결과 없음</a:t>
            </a:r>
          </a:p>
        </p:txBody>
      </p:sp>
      <p:sp>
        <p:nvSpPr>
          <p:cNvPr id="15" name="">
            <a:extLst xmlns:a="http://schemas.openxmlformats.org/drawingml/2006/main">
              <a:ext uri="{FF2B5EF4-FFF2-40B4-BE49-F238E27FC236}">
                <a16:creationId xmlns:a16="http://schemas.microsoft.com/office/drawing/2014/main" id="{5C235D04-EC6A-41A6-A368-CE8CFB19C00F}"/>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정부 PoC·고도화 사례집 · 초안 작성 지원 사례. 계약 범위·예산·검수 기준의 자동 확정 아님</a:t>
            </a:r>
          </a:p>
        </p:txBody>
      </p:sp>
    </p:spTree>
    <p:extLst>
      <p:ext uri="{BB962C8B-B14F-4D97-AF65-F5344CB8AC3E}">
        <p14:creationId xmlns:p14="http://schemas.microsoft.com/office/powerpoint/2010/main" val="1924109033"/>
      </p:ext>
    </p:extLst>
  </p:cSld>
</p:sld>
</file>

<file path=ppt/slides/slide13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1E55C29A-0CBC-41B2-8273-A8FFD97C3D84}"/>
              </a:ext>
            </a:extLst>
          </p:cNvPr>
          <p:cNvCxnSpPr>
            <a:stCxn xmlns:a="http://schemas.openxmlformats.org/drawingml/2006/main" id="19" idx="2"/>
            <a:endCxn xmlns:a="http://schemas.openxmlformats.org/drawingml/2006/main" id="34" idx="0"/>
          </p:cNvCxnSpPr>
          <p:nvPr/>
        </p:nvCxnSpPr>
        <p:spPr>
          <a:xfrm xmlns:a="http://schemas.openxmlformats.org/drawingml/2006/main">
            <a:off x="10620375" y="2905125"/>
            <a:ext cx="0"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4313BD81-2A7E-4E0D-BD83-585E57B83A69}"/>
              </a:ext>
            </a:extLst>
          </p:cNvPr>
          <p:cNvCxnSpPr>
            <a:stCxn xmlns:a="http://schemas.openxmlformats.org/drawingml/2006/main" id="13" idx="2"/>
            <a:endCxn xmlns:a="http://schemas.openxmlformats.org/drawingml/2006/main" id="31" idx="0"/>
          </p:cNvCxnSpPr>
          <p:nvPr/>
        </p:nvCxnSpPr>
        <p:spPr>
          <a:xfrm xmlns:a="http://schemas.openxmlformats.org/drawingml/2006/main">
            <a:off x="6096000" y="2905125"/>
            <a:ext cx="2262188" cy="13716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131C1ED8-E6E3-4266-A7F1-5BDD41617D19}"/>
              </a:ext>
            </a:extLst>
          </p:cNvPr>
          <p:cNvCxnSpPr>
            <a:stCxn xmlns:a="http://schemas.openxmlformats.org/drawingml/2006/main" id="16" idx="3"/>
            <a:endCxn xmlns:a="http://schemas.openxmlformats.org/drawingml/2006/main" id="19" idx="1"/>
          </p:cNvCxnSpPr>
          <p:nvPr/>
        </p:nvCxnSpPr>
        <p:spPr>
          <a:xfrm xmlns:a="http://schemas.openxmlformats.org/drawingml/2006/main">
            <a:off x="9358313"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98B8FA2E-21A3-439A-9E99-6B280C84FBD4}"/>
              </a:ext>
            </a:extLst>
          </p:cNvPr>
          <p:cNvCxnSpPr>
            <a:stCxn xmlns:a="http://schemas.openxmlformats.org/drawingml/2006/main" id="13" idx="3"/>
            <a:endCxn xmlns:a="http://schemas.openxmlformats.org/drawingml/2006/main" id="16" idx="1"/>
          </p:cNvCxnSpPr>
          <p:nvPr/>
        </p:nvCxnSpPr>
        <p:spPr>
          <a:xfrm xmlns:a="http://schemas.openxmlformats.org/drawingml/2006/main">
            <a:off x="7096125"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166A7AB0-C30E-43A6-A937-9505CBFBE8A9}"/>
              </a:ext>
            </a:extLst>
          </p:cNvPr>
          <p:cNvCxnSpPr>
            <a:stCxn xmlns:a="http://schemas.openxmlformats.org/drawingml/2006/main" id="10" idx="3"/>
            <a:endCxn xmlns:a="http://schemas.openxmlformats.org/drawingml/2006/main" id="13" idx="1"/>
          </p:cNvCxnSpPr>
          <p:nvPr/>
        </p:nvCxnSpPr>
        <p:spPr>
          <a:xfrm xmlns:a="http://schemas.openxmlformats.org/drawingml/2006/main">
            <a:off x="4833938" y="2352675"/>
            <a:ext cx="261937"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38FA13DA-BF1E-472D-A657-84A3F80DEBA5}"/>
              </a:ext>
            </a:extLst>
          </p:cNvPr>
          <p:cNvCxnSpPr>
            <a:stCxn xmlns:a="http://schemas.openxmlformats.org/drawingml/2006/main" id="28" idx="0"/>
            <a:endCxn xmlns:a="http://schemas.openxmlformats.org/drawingml/2006/main" id="13" idx="2"/>
          </p:cNvCxnSpPr>
          <p:nvPr/>
        </p:nvCxnSpPr>
        <p:spPr>
          <a:xfrm xmlns:a="http://schemas.openxmlformats.org/drawingml/2006/main" flipV="1">
            <a:off x="6096000"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9" name="">
            <a:extLst xmlns:a="http://schemas.openxmlformats.org/drawingml/2006/main">
              <a:ext uri="{FF2B5EF4-FFF2-40B4-BE49-F238E27FC236}">
                <a16:creationId xmlns:a16="http://schemas.microsoft.com/office/drawing/2014/main" id="{B3D735BB-DE3A-49DA-A910-9E4B5F955C88}"/>
              </a:ext>
            </a:extLst>
          </p:cNvPr>
          <p:cNvCxnSpPr>
            <a:stCxn xmlns:a="http://schemas.openxmlformats.org/drawingml/2006/main" id="25" idx="0"/>
            <a:endCxn xmlns:a="http://schemas.openxmlformats.org/drawingml/2006/main" id="10" idx="2"/>
          </p:cNvCxnSpPr>
          <p:nvPr/>
        </p:nvCxnSpPr>
        <p:spPr>
          <a:xfrm xmlns:a="http://schemas.openxmlformats.org/drawingml/2006/main" flipV="1">
            <a:off x="3833813" y="2905125"/>
            <a:ext cx="0" cy="137160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80DEDDB9-0058-4079-AFE9-D37737980097}"/>
              </a:ext>
            </a:extLst>
          </p:cNvPr>
          <p:cNvCxnSpPr>
            <a:stCxn xmlns:a="http://schemas.openxmlformats.org/drawingml/2006/main" id="22" idx="3"/>
            <a:endCxn xmlns:a="http://schemas.openxmlformats.org/drawingml/2006/main" id="25" idx="1"/>
          </p:cNvCxnSpPr>
          <p:nvPr/>
        </p:nvCxnSpPr>
        <p:spPr>
          <a:xfrm xmlns:a="http://schemas.openxmlformats.org/drawingml/2006/main">
            <a:off x="2571750" y="4829175"/>
            <a:ext cx="261938"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AF0E9B6C-8E7F-4426-98DA-0508C1C16CB3}"/>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261938" cy="0"/>
          </a:xfrm>
          <a:prstGeom xmlns:a="http://schemas.openxmlformats.org/drawingml/2006/main" prst="straightConnector1">
            <a:avLst/>
          </a:prstGeom>
          <a:ln xmlns:a="http://schemas.openxmlformats.org/drawingml/2006/main" w="19050">
            <a:solidFill>
              <a:srgbClr val="42634B"/>
            </a:solidFill>
            <a:tailEnd type="arrow" w="med" len="med"/>
          </a:ln>
        </p:spPr>
      </p:cxnSp>
      <p:sp>
        <p:nvSpPr>
          <p:cNvPr id="47" name="">
            <a:extLst xmlns:a="http://schemas.openxmlformats.org/drawingml/2006/main">
              <a:ext uri="{FF2B5EF4-FFF2-40B4-BE49-F238E27FC236}">
                <a16:creationId xmlns:a16="http://schemas.microsoft.com/office/drawing/2014/main" id="{3BB180E6-53FA-4233-ABDA-DD95743B801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AX25 / 원문 추출·대조·사람 확정</a:t>
            </a:r>
          </a:p>
        </p:txBody>
      </p:sp>
      <p:sp>
        <p:nvSpPr>
          <p:cNvPr id="2" name="">
            <a:extLst xmlns:a="http://schemas.openxmlformats.org/drawingml/2006/main">
              <a:ext uri="{FF2B5EF4-FFF2-40B4-BE49-F238E27FC236}">
                <a16:creationId xmlns:a16="http://schemas.microsoft.com/office/drawing/2014/main" id="{09C54FE3-FF8C-4E04-9D69-AF59076B2348}"/>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조달청 e-제안요청 도움 · 세부 서비스 구조</a:t>
            </a:r>
          </a:p>
        </p:txBody>
      </p:sp>
      <p:sp>
        <p:nvSpPr>
          <p:cNvPr id="3" name="">
            <a:extLst xmlns:a="http://schemas.openxmlformats.org/drawingml/2006/main">
              <a:ext uri="{FF2B5EF4-FFF2-40B4-BE49-F238E27FC236}">
                <a16:creationId xmlns:a16="http://schemas.microsoft.com/office/drawing/2014/main" id="{844CC814-1F3B-4BD5-A947-4F20E81B112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B01EB74-AC6F-4763-A4A7-DB0BEA4F199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68B0BEEE-0605-4062-9F9C-03EA74E4666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130</a:t>
            </a:r>
          </a:p>
        </p:txBody>
      </p:sp>
      <p:sp>
        <p:nvSpPr>
          <p:cNvPr id="6" name="">
            <a:extLst xmlns:a="http://schemas.openxmlformats.org/drawingml/2006/main">
              <a:ext uri="{FF2B5EF4-FFF2-40B4-BE49-F238E27FC236}">
                <a16:creationId xmlns:a16="http://schemas.microsoft.com/office/drawing/2014/main" id="{A9E94B35-F9DE-4528-BB3D-C7FACAF5892D}"/>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기존 RFP → 목차·키워드 추출 → 담당자 검증 → 초안 구성</a:t>
            </a:r>
          </a:p>
        </p:txBody>
      </p:sp>
      <p:sp>
        <p:nvSpPr>
          <p:cNvPr id="7" name="">
            <a:extLst xmlns:a="http://schemas.openxmlformats.org/drawingml/2006/main">
              <a:ext uri="{FF2B5EF4-FFF2-40B4-BE49-F238E27FC236}">
                <a16:creationId xmlns:a16="http://schemas.microsoft.com/office/drawing/2014/main" id="{8E0556AB-5A9B-4026-9DEA-9AFB3456DA25}"/>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0190732B-CDAC-42AE-86CA-29B4F1B60B4D}"/>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9" name="">
            <a:extLst xmlns:a="http://schemas.openxmlformats.org/drawingml/2006/main">
              <a:ext uri="{FF2B5EF4-FFF2-40B4-BE49-F238E27FC236}">
                <a16:creationId xmlns:a16="http://schemas.microsoft.com/office/drawing/2014/main" id="{BD91191E-CB68-4B0D-94E7-4DB942AD34CE}"/>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RFP 작성 요청</a:t>
            </a:r>
          </a:p>
        </p:txBody>
      </p:sp>
      <p:sp>
        <p:nvSpPr>
          <p:cNvPr id="10" name="">
            <a:extLst xmlns:a="http://schemas.openxmlformats.org/drawingml/2006/main">
              <a:ext uri="{FF2B5EF4-FFF2-40B4-BE49-F238E27FC236}">
                <a16:creationId xmlns:a16="http://schemas.microsoft.com/office/drawing/2014/main" id="{5B5BCB2D-4AB9-4136-BAF6-5EDE6C39B104}"/>
              </a:ext>
            </a:extLst>
          </p:cNvPr>
          <p:cNvSpPr>
            <a:spLocks xmlns:a="http://schemas.openxmlformats.org/drawingml/2006/main" noGrp="1"/>
          </p:cNvSpPr>
          <p:nvPr/>
        </p:nvSpPr>
        <p:spPr>
          <a:xfrm xmlns:a="http://schemas.openxmlformats.org/drawingml/2006/main">
            <a:off x="2833688"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C724F2C0-B3B4-4426-99D7-D6C0299E9C63}"/>
              </a:ext>
            </a:extLst>
          </p:cNvPr>
          <p:cNvSpPr>
            <a:spLocks xmlns:a="http://schemas.openxmlformats.org/drawingml/2006/main" noGrp="1"/>
          </p:cNvSpPr>
          <p:nvPr/>
        </p:nvSpPr>
        <p:spPr>
          <a:xfrm xmlns:a="http://schemas.openxmlformats.org/drawingml/2006/main">
            <a:off x="2928938"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12" name="">
            <a:extLst xmlns:a="http://schemas.openxmlformats.org/drawingml/2006/main">
              <a:ext uri="{FF2B5EF4-FFF2-40B4-BE49-F238E27FC236}">
                <a16:creationId xmlns:a16="http://schemas.microsoft.com/office/drawing/2014/main" id="{4DC85D8A-04B6-48A5-B094-133BB049EDDF}"/>
              </a:ext>
            </a:extLst>
          </p:cNvPr>
          <p:cNvSpPr>
            <a:spLocks xmlns:a="http://schemas.openxmlformats.org/drawingml/2006/main" noGrp="1"/>
          </p:cNvSpPr>
          <p:nvPr/>
        </p:nvSpPr>
        <p:spPr>
          <a:xfrm xmlns:a="http://schemas.openxmlformats.org/drawingml/2006/main">
            <a:off x="2928938"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목차·초안 생성</a:t>
            </a:r>
          </a:p>
        </p:txBody>
      </p:sp>
      <p:sp>
        <p:nvSpPr>
          <p:cNvPr id="13" name="">
            <a:extLst xmlns:a="http://schemas.openxmlformats.org/drawingml/2006/main">
              <a:ext uri="{FF2B5EF4-FFF2-40B4-BE49-F238E27FC236}">
                <a16:creationId xmlns:a16="http://schemas.microsoft.com/office/drawing/2014/main" id="{D1BB23F1-1153-4E49-9D8C-8D10D1AE0CAC}"/>
              </a:ext>
            </a:extLst>
          </p:cNvPr>
          <p:cNvSpPr>
            <a:spLocks xmlns:a="http://schemas.openxmlformats.org/drawingml/2006/main" noGrp="1"/>
          </p:cNvSpPr>
          <p:nvPr/>
        </p:nvSpPr>
        <p:spPr>
          <a:xfrm xmlns:a="http://schemas.openxmlformats.org/drawingml/2006/main">
            <a:off x="5095875" y="1800225"/>
            <a:ext cx="200025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CDF238C0-EFF9-495E-893C-FD892849CCA8}"/>
              </a:ext>
            </a:extLst>
          </p:cNvPr>
          <p:cNvSpPr>
            <a:spLocks xmlns:a="http://schemas.openxmlformats.org/drawingml/2006/main" noGrp="1"/>
          </p:cNvSpPr>
          <p:nvPr/>
        </p:nvSpPr>
        <p:spPr>
          <a:xfrm xmlns:a="http://schemas.openxmlformats.org/drawingml/2006/main">
            <a:off x="5191125"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15" name="">
            <a:extLst xmlns:a="http://schemas.openxmlformats.org/drawingml/2006/main">
              <a:ext uri="{FF2B5EF4-FFF2-40B4-BE49-F238E27FC236}">
                <a16:creationId xmlns:a16="http://schemas.microsoft.com/office/drawing/2014/main" id="{764333FB-3262-42A1-8CAC-2D60DF47984F}"/>
              </a:ext>
            </a:extLst>
          </p:cNvPr>
          <p:cNvSpPr>
            <a:spLocks xmlns:a="http://schemas.openxmlformats.org/drawingml/2006/main" noGrp="1"/>
          </p:cNvSpPr>
          <p:nvPr/>
        </p:nvSpPr>
        <p:spPr>
          <a:xfrm xmlns:a="http://schemas.openxmlformats.org/drawingml/2006/main">
            <a:off x="5191125"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중복·누락 대조</a:t>
            </a:r>
          </a:p>
        </p:txBody>
      </p:sp>
      <p:sp>
        <p:nvSpPr>
          <p:cNvPr id="16" name="">
            <a:extLst xmlns:a="http://schemas.openxmlformats.org/drawingml/2006/main">
              <a:ext uri="{FF2B5EF4-FFF2-40B4-BE49-F238E27FC236}">
                <a16:creationId xmlns:a16="http://schemas.microsoft.com/office/drawing/2014/main" id="{39F1A8C3-A26A-48A6-B6E4-C9A02E00A607}"/>
              </a:ext>
            </a:extLst>
          </p:cNvPr>
          <p:cNvSpPr>
            <a:spLocks xmlns:a="http://schemas.openxmlformats.org/drawingml/2006/main" noGrp="1"/>
          </p:cNvSpPr>
          <p:nvPr/>
        </p:nvSpPr>
        <p:spPr>
          <a:xfrm xmlns:a="http://schemas.openxmlformats.org/drawingml/2006/main">
            <a:off x="7358063"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E2144EAB-AD97-4699-9BF3-DFC5DC8FB13A}"/>
              </a:ext>
            </a:extLst>
          </p:cNvPr>
          <p:cNvSpPr>
            <a:spLocks xmlns:a="http://schemas.openxmlformats.org/drawingml/2006/main" noGrp="1"/>
          </p:cNvSpPr>
          <p:nvPr/>
        </p:nvSpPr>
        <p:spPr>
          <a:xfrm xmlns:a="http://schemas.openxmlformats.org/drawingml/2006/main">
            <a:off x="7453313"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18" name="">
            <a:extLst xmlns:a="http://schemas.openxmlformats.org/drawingml/2006/main">
              <a:ext uri="{FF2B5EF4-FFF2-40B4-BE49-F238E27FC236}">
                <a16:creationId xmlns:a16="http://schemas.microsoft.com/office/drawing/2014/main" id="{A371A843-F48E-4BBE-B855-1262B9339459}"/>
              </a:ext>
            </a:extLst>
          </p:cNvPr>
          <p:cNvSpPr>
            <a:spLocks xmlns:a="http://schemas.openxmlformats.org/drawingml/2006/main" noGrp="1"/>
          </p:cNvSpPr>
          <p:nvPr/>
        </p:nvSpPr>
        <p:spPr>
          <a:xfrm xmlns:a="http://schemas.openxmlformats.org/drawingml/2006/main">
            <a:off x="7453313"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발주 담당 검토</a:t>
            </a:r>
          </a:p>
        </p:txBody>
      </p:sp>
      <p:sp>
        <p:nvSpPr>
          <p:cNvPr id="19" name="">
            <a:extLst xmlns:a="http://schemas.openxmlformats.org/drawingml/2006/main">
              <a:ext uri="{FF2B5EF4-FFF2-40B4-BE49-F238E27FC236}">
                <a16:creationId xmlns:a16="http://schemas.microsoft.com/office/drawing/2014/main" id="{538E01D8-97BC-4364-AA8F-3E6DD50E28AC}"/>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D022D0B6-05F9-4AFC-9C64-759D3AB3F831}"/>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21" name="">
            <a:extLst xmlns:a="http://schemas.openxmlformats.org/drawingml/2006/main">
              <a:ext uri="{FF2B5EF4-FFF2-40B4-BE49-F238E27FC236}">
                <a16:creationId xmlns:a16="http://schemas.microsoft.com/office/drawing/2014/main" id="{A849A877-A900-4B9A-A5A0-71E09D8D9D35}"/>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요구·검수 명세</a:t>
            </a:r>
          </a:p>
        </p:txBody>
      </p:sp>
      <p:sp>
        <p:nvSpPr>
          <p:cNvPr id="22" name="">
            <a:extLst xmlns:a="http://schemas.openxmlformats.org/drawingml/2006/main">
              <a:ext uri="{FF2B5EF4-FFF2-40B4-BE49-F238E27FC236}">
                <a16:creationId xmlns:a16="http://schemas.microsoft.com/office/drawing/2014/main" id="{71F67B0F-3D5D-419D-9318-116E74E76DD9}"/>
              </a:ext>
            </a:extLst>
          </p:cNvPr>
          <p:cNvSpPr>
            <a:spLocks xmlns:a="http://schemas.openxmlformats.org/drawingml/2006/main" noGrp="1"/>
          </p:cNvSpPr>
          <p:nvPr/>
        </p:nvSpPr>
        <p:spPr>
          <a:xfrm xmlns:a="http://schemas.openxmlformats.org/drawingml/2006/main">
            <a:off x="571500"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052CAF5C-D2C6-4167-AA48-CE081BA93F14}"/>
              </a:ext>
            </a:extLst>
          </p:cNvPr>
          <p:cNvSpPr>
            <a:spLocks xmlns:a="http://schemas.openxmlformats.org/drawingml/2006/main" noGrp="1"/>
          </p:cNvSpPr>
          <p:nvPr/>
        </p:nvSpPr>
        <p:spPr>
          <a:xfrm xmlns:a="http://schemas.openxmlformats.org/drawingml/2006/main">
            <a:off x="66675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24" name="">
            <a:extLst xmlns:a="http://schemas.openxmlformats.org/drawingml/2006/main">
              <a:ext uri="{FF2B5EF4-FFF2-40B4-BE49-F238E27FC236}">
                <a16:creationId xmlns:a16="http://schemas.microsoft.com/office/drawing/2014/main" id="{E183E7C0-F64A-4221-8439-641BA6EFDE88}"/>
              </a:ext>
            </a:extLst>
          </p:cNvPr>
          <p:cNvSpPr>
            <a:spLocks xmlns:a="http://schemas.openxmlformats.org/drawingml/2006/main" noGrp="1"/>
          </p:cNvSpPr>
          <p:nvPr/>
        </p:nvSpPr>
        <p:spPr>
          <a:xfrm xmlns:a="http://schemas.openxmlformats.org/drawingml/2006/main">
            <a:off x="66675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기존 RFP·수요</a:t>
            </a:r>
          </a:p>
        </p:txBody>
      </p:sp>
      <p:sp>
        <p:nvSpPr>
          <p:cNvPr id="25" name="">
            <a:extLst xmlns:a="http://schemas.openxmlformats.org/drawingml/2006/main">
              <a:ext uri="{FF2B5EF4-FFF2-40B4-BE49-F238E27FC236}">
                <a16:creationId xmlns:a16="http://schemas.microsoft.com/office/drawing/2014/main" id="{753E1733-969D-4570-A73C-4B615CFCA09B}"/>
              </a:ext>
            </a:extLst>
          </p:cNvPr>
          <p:cNvSpPr>
            <a:spLocks xmlns:a="http://schemas.openxmlformats.org/drawingml/2006/main" noGrp="1"/>
          </p:cNvSpPr>
          <p:nvPr/>
        </p:nvSpPr>
        <p:spPr>
          <a:xfrm xmlns:a="http://schemas.openxmlformats.org/drawingml/2006/main">
            <a:off x="2833688"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579013E6-FE26-49A6-BA10-B60C7ACBA077}"/>
              </a:ext>
            </a:extLst>
          </p:cNvPr>
          <p:cNvSpPr>
            <a:spLocks xmlns:a="http://schemas.openxmlformats.org/drawingml/2006/main" noGrp="1"/>
          </p:cNvSpPr>
          <p:nvPr/>
        </p:nvSpPr>
        <p:spPr>
          <a:xfrm xmlns:a="http://schemas.openxmlformats.org/drawingml/2006/main">
            <a:off x="2928938"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27" name="">
            <a:extLst xmlns:a="http://schemas.openxmlformats.org/drawingml/2006/main">
              <a:ext uri="{FF2B5EF4-FFF2-40B4-BE49-F238E27FC236}">
                <a16:creationId xmlns:a16="http://schemas.microsoft.com/office/drawing/2014/main" id="{9149C878-B55C-4223-B41E-24F389A8FA8E}"/>
              </a:ext>
            </a:extLst>
          </p:cNvPr>
          <p:cNvSpPr>
            <a:spLocks xmlns:a="http://schemas.openxmlformats.org/drawingml/2006/main" noGrp="1"/>
          </p:cNvSpPr>
          <p:nvPr/>
        </p:nvSpPr>
        <p:spPr>
          <a:xfrm xmlns:a="http://schemas.openxmlformats.org/drawingml/2006/main">
            <a:off x="2928938"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목차·ID 구조화</a:t>
            </a:r>
          </a:p>
        </p:txBody>
      </p:sp>
      <p:sp>
        <p:nvSpPr>
          <p:cNvPr id="28" name="">
            <a:extLst xmlns:a="http://schemas.openxmlformats.org/drawingml/2006/main">
              <a:ext uri="{FF2B5EF4-FFF2-40B4-BE49-F238E27FC236}">
                <a16:creationId xmlns:a16="http://schemas.microsoft.com/office/drawing/2014/main" id="{711277DE-C966-477E-8AC3-2E98F95A8DCF}"/>
              </a:ext>
            </a:extLst>
          </p:cNvPr>
          <p:cNvSpPr>
            <a:spLocks xmlns:a="http://schemas.openxmlformats.org/drawingml/2006/main" noGrp="1"/>
          </p:cNvSpPr>
          <p:nvPr/>
        </p:nvSpPr>
        <p:spPr>
          <a:xfrm xmlns:a="http://schemas.openxmlformats.org/drawingml/2006/main">
            <a:off x="5095875"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57CFBEA1-4472-4B4E-9412-0F4127A3D5E5}"/>
              </a:ext>
            </a:extLst>
          </p:cNvPr>
          <p:cNvSpPr>
            <a:spLocks xmlns:a="http://schemas.openxmlformats.org/drawingml/2006/main" noGrp="1"/>
          </p:cNvSpPr>
          <p:nvPr/>
        </p:nvSpPr>
        <p:spPr>
          <a:xfrm xmlns:a="http://schemas.openxmlformats.org/drawingml/2006/main">
            <a:off x="5191125"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30" name="">
            <a:extLst xmlns:a="http://schemas.openxmlformats.org/drawingml/2006/main">
              <a:ext uri="{FF2B5EF4-FFF2-40B4-BE49-F238E27FC236}">
                <a16:creationId xmlns:a16="http://schemas.microsoft.com/office/drawing/2014/main" id="{60354676-C025-41E3-8368-156D9B46375F}"/>
              </a:ext>
            </a:extLst>
          </p:cNvPr>
          <p:cNvSpPr>
            <a:spLocks xmlns:a="http://schemas.openxmlformats.org/drawingml/2006/main" noGrp="1"/>
          </p:cNvSpPr>
          <p:nvPr/>
        </p:nvSpPr>
        <p:spPr>
          <a:xfrm xmlns:a="http://schemas.openxmlformats.org/drawingml/2006/main">
            <a:off x="5191125"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지침·요구 조회</a:t>
            </a:r>
          </a:p>
        </p:txBody>
      </p:sp>
      <p:sp>
        <p:nvSpPr>
          <p:cNvPr id="31" name="">
            <a:extLst xmlns:a="http://schemas.openxmlformats.org/drawingml/2006/main">
              <a:ext uri="{FF2B5EF4-FFF2-40B4-BE49-F238E27FC236}">
                <a16:creationId xmlns:a16="http://schemas.microsoft.com/office/drawing/2014/main" id="{621CA496-CE70-4D55-A061-3ADCA61BDDDF}"/>
              </a:ext>
            </a:extLst>
          </p:cNvPr>
          <p:cNvSpPr>
            <a:spLocks xmlns:a="http://schemas.openxmlformats.org/drawingml/2006/main" noGrp="1"/>
          </p:cNvSpPr>
          <p:nvPr/>
        </p:nvSpPr>
        <p:spPr>
          <a:xfrm xmlns:a="http://schemas.openxmlformats.org/drawingml/2006/main">
            <a:off x="7358063" y="42767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45E16FE6-8CE9-4E54-B5F1-05CF33FD4F1D}"/>
              </a:ext>
            </a:extLst>
          </p:cNvPr>
          <p:cNvSpPr>
            <a:spLocks xmlns:a="http://schemas.openxmlformats.org/drawingml/2006/main" noGrp="1"/>
          </p:cNvSpPr>
          <p:nvPr/>
        </p:nvSpPr>
        <p:spPr>
          <a:xfrm xmlns:a="http://schemas.openxmlformats.org/drawingml/2006/main">
            <a:off x="7453313"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33" name="">
            <a:extLst xmlns:a="http://schemas.openxmlformats.org/drawingml/2006/main">
              <a:ext uri="{FF2B5EF4-FFF2-40B4-BE49-F238E27FC236}">
                <a16:creationId xmlns:a16="http://schemas.microsoft.com/office/drawing/2014/main" id="{85090614-CFDA-40D1-A9CA-023321E9449D}"/>
              </a:ext>
            </a:extLst>
          </p:cNvPr>
          <p:cNvSpPr>
            <a:spLocks xmlns:a="http://schemas.openxmlformats.org/drawingml/2006/main" noGrp="1"/>
          </p:cNvSpPr>
          <p:nvPr/>
        </p:nvSpPr>
        <p:spPr>
          <a:xfrm xmlns:a="http://schemas.openxmlformats.org/drawingml/2006/main">
            <a:off x="7453313"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요구·검수 원장</a:t>
            </a:r>
          </a:p>
        </p:txBody>
      </p:sp>
      <p:sp>
        <p:nvSpPr>
          <p:cNvPr id="34" name="">
            <a:extLst xmlns:a="http://schemas.openxmlformats.org/drawingml/2006/main">
              <a:ext uri="{FF2B5EF4-FFF2-40B4-BE49-F238E27FC236}">
                <a16:creationId xmlns:a16="http://schemas.microsoft.com/office/drawing/2014/main" id="{4F502DA9-400F-40E4-A968-1463DC7C164F}"/>
              </a:ext>
            </a:extLst>
          </p:cNvPr>
          <p:cNvSpPr>
            <a:spLocks xmlns:a="http://schemas.openxmlformats.org/drawingml/2006/main" noGrp="1"/>
          </p:cNvSpPr>
          <p:nvPr/>
        </p:nvSpPr>
        <p:spPr>
          <a:xfrm xmlns:a="http://schemas.openxmlformats.org/drawingml/2006/main">
            <a:off x="9620250" y="42767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CE8C5320-F5BD-4470-8D20-662EDD710FEC}"/>
              </a:ext>
            </a:extLst>
          </p:cNvPr>
          <p:cNvSpPr>
            <a:spLocks xmlns:a="http://schemas.openxmlformats.org/drawingml/2006/main" noGrp="1"/>
          </p:cNvSpPr>
          <p:nvPr/>
        </p:nvSpPr>
        <p:spPr>
          <a:xfrm xmlns:a="http://schemas.openxmlformats.org/drawingml/2006/main">
            <a:off x="9715500" y="43719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C08 / 운영 관측</a:t>
            </a:r>
          </a:p>
        </p:txBody>
      </p:sp>
      <p:sp>
        <p:nvSpPr>
          <p:cNvPr id="36" name="">
            <a:extLst xmlns:a="http://schemas.openxmlformats.org/drawingml/2006/main">
              <a:ext uri="{FF2B5EF4-FFF2-40B4-BE49-F238E27FC236}">
                <a16:creationId xmlns:a16="http://schemas.microsoft.com/office/drawing/2014/main" id="{F3046E1F-A2E6-4D5F-B4B2-F1248C7B9C92}"/>
              </a:ext>
            </a:extLst>
          </p:cNvPr>
          <p:cNvSpPr>
            <a:spLocks xmlns:a="http://schemas.openxmlformats.org/drawingml/2006/main" noGrp="1"/>
          </p:cNvSpPr>
          <p:nvPr/>
        </p:nvSpPr>
        <p:spPr>
          <a:xfrm xmlns:a="http://schemas.openxmlformats.org/drawingml/2006/main">
            <a:off x="9715500" y="46863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변경 추적</a:t>
            </a:r>
          </a:p>
        </p:txBody>
      </p:sp>
      <p:sp>
        <p:nvSpPr>
          <p:cNvPr id="46" name="">
            <a:extLst xmlns:a="http://schemas.openxmlformats.org/drawingml/2006/main">
              <a:ext uri="{FF2B5EF4-FFF2-40B4-BE49-F238E27FC236}">
                <a16:creationId xmlns:a16="http://schemas.microsoft.com/office/drawing/2014/main" id="{B9EDE9C0-9D21-4F84-B1BC-4CEF85A3249B}"/>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1645389862"/>
      </p:ext>
    </p:extLst>
  </p:cSld>
</p:sld>
</file>

<file path=ppt/slides/slide13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2C784477-291E-46D0-B910-50137B7BC09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AX25 / 논리 인터페이스·복구 설계</a:t>
            </a:r>
          </a:p>
        </p:txBody>
      </p:sp>
      <p:sp>
        <p:nvSpPr>
          <p:cNvPr id="2" name="">
            <a:extLst xmlns:a="http://schemas.openxmlformats.org/drawingml/2006/main">
              <a:ext uri="{FF2B5EF4-FFF2-40B4-BE49-F238E27FC236}">
                <a16:creationId xmlns:a16="http://schemas.microsoft.com/office/drawing/2014/main" id="{8A73B947-56B6-45B1-8993-CA708F8E000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조달청 e-제안요청 도움 · 데이터와 예외 처리</a:t>
            </a:r>
          </a:p>
        </p:txBody>
      </p:sp>
      <p:sp>
        <p:nvSpPr>
          <p:cNvPr id="3" name="">
            <a:extLst xmlns:a="http://schemas.openxmlformats.org/drawingml/2006/main">
              <a:ext uri="{FF2B5EF4-FFF2-40B4-BE49-F238E27FC236}">
                <a16:creationId xmlns:a16="http://schemas.microsoft.com/office/drawing/2014/main" id="{E94728D6-04CB-473D-9274-E3CB1C29530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EB2B9D0-20A2-4A43-ADF5-E981AD3AA56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EB0D9C7-6260-4AA2-8AAC-289DDD8FD42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131</a:t>
            </a:r>
          </a:p>
        </p:txBody>
      </p:sp>
      <p:sp>
        <p:nvSpPr>
          <p:cNvPr id="6" name="">
            <a:extLst xmlns:a="http://schemas.openxmlformats.org/drawingml/2006/main">
              <a:ext uri="{FF2B5EF4-FFF2-40B4-BE49-F238E27FC236}">
                <a16:creationId xmlns:a16="http://schemas.microsoft.com/office/drawing/2014/main" id="{B4D363C2-6AB5-4CFF-BAC7-0BAF858760CB}"/>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D910CBF4-6138-47F2-A56E-B7F1EBECD7D7}"/>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B86F2DBC-4E43-42DE-AAAE-1F8480FF7519}"/>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원문 반입</a:t>
            </a:r>
          </a:p>
        </p:txBody>
      </p:sp>
      <p:sp>
        <p:nvSpPr>
          <p:cNvPr id="9" name="">
            <a:extLst xmlns:a="http://schemas.openxmlformats.org/drawingml/2006/main">
              <a:ext uri="{FF2B5EF4-FFF2-40B4-BE49-F238E27FC236}">
                <a16:creationId xmlns:a16="http://schemas.microsoft.com/office/drawing/2014/main" id="{CB2118E4-1BAD-48B6-8B0A-37340623B99F}"/>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요구·검수 자료</a:t>
            </a:r>
          </a:p>
        </p:txBody>
      </p:sp>
      <p:sp>
        <p:nvSpPr>
          <p:cNvPr id="10" name="">
            <a:extLst xmlns:a="http://schemas.openxmlformats.org/drawingml/2006/main">
              <a:ext uri="{FF2B5EF4-FFF2-40B4-BE49-F238E27FC236}">
                <a16:creationId xmlns:a16="http://schemas.microsoft.com/office/drawing/2014/main" id="{2FE633B6-6A94-4980-A1B2-E6D73BCA9944}"/>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9D0D9EE-27ED-410C-AD78-37658D8CE6DA}"/>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정제 원문</a:t>
            </a:r>
          </a:p>
        </p:txBody>
      </p:sp>
      <p:sp>
        <p:nvSpPr>
          <p:cNvPr id="12" name="">
            <a:extLst xmlns:a="http://schemas.openxmlformats.org/drawingml/2006/main">
              <a:ext uri="{FF2B5EF4-FFF2-40B4-BE49-F238E27FC236}">
                <a16:creationId xmlns:a16="http://schemas.microsoft.com/office/drawing/2014/main" id="{745CA243-DCDA-4AB3-B196-CBE8F1A9E18D}"/>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58F80D09-6EE6-4F87-85C4-345C0EFE2CF8}"/>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E63CD2C-1F97-4192-98C7-00120CDFE823}"/>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추출값</a:t>
            </a:r>
          </a:p>
        </p:txBody>
      </p:sp>
      <p:sp>
        <p:nvSpPr>
          <p:cNvPr id="15" name="">
            <a:extLst xmlns:a="http://schemas.openxmlformats.org/drawingml/2006/main">
              <a:ext uri="{FF2B5EF4-FFF2-40B4-BE49-F238E27FC236}">
                <a16:creationId xmlns:a16="http://schemas.microsoft.com/office/drawing/2014/main" id="{20A95ADE-9AC7-44C0-ABDC-5D06BA929FE4}"/>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검증된 목차</a:t>
            </a:r>
          </a:p>
        </p:txBody>
      </p:sp>
      <p:sp>
        <p:nvSpPr>
          <p:cNvPr id="16" name="">
            <a:extLst xmlns:a="http://schemas.openxmlformats.org/drawingml/2006/main">
              <a:ext uri="{FF2B5EF4-FFF2-40B4-BE49-F238E27FC236}">
                <a16:creationId xmlns:a16="http://schemas.microsoft.com/office/drawing/2014/main" id="{D84C4750-B2DA-4F5A-B918-CE295B28FDD7}"/>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AEA0680-CE7C-45EE-AFFC-92CE352A484E}"/>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규정·대조 </a:t>
            </a:r>
          </a:p>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기준</a:t>
            </a:r>
          </a:p>
        </p:txBody>
      </p:sp>
      <p:sp>
        <p:nvSpPr>
          <p:cNvPr id="18" name="">
            <a:extLst xmlns:a="http://schemas.openxmlformats.org/drawingml/2006/main">
              <a:ext uri="{FF2B5EF4-FFF2-40B4-BE49-F238E27FC236}">
                <a16:creationId xmlns:a16="http://schemas.microsoft.com/office/drawing/2014/main" id="{0DF00EBF-B06E-400F-9473-E942F03AB14A}"/>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요구 후보</a:t>
            </a:r>
          </a:p>
        </p:txBody>
      </p:sp>
      <p:sp>
        <p:nvSpPr>
          <p:cNvPr id="19" name="">
            <a:extLst xmlns:a="http://schemas.openxmlformats.org/drawingml/2006/main">
              <a:ext uri="{FF2B5EF4-FFF2-40B4-BE49-F238E27FC236}">
                <a16:creationId xmlns:a16="http://schemas.microsoft.com/office/drawing/2014/main" id="{26354D18-28DC-4D88-8DAE-3DD6DE3B8F1E}"/>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B1B3AB5-C2F1-4201-9FFD-248957FEEDCA}"/>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불일치·누락</a:t>
            </a:r>
          </a:p>
        </p:txBody>
      </p:sp>
      <p:sp>
        <p:nvSpPr>
          <p:cNvPr id="21" name="">
            <a:extLst xmlns:a="http://schemas.openxmlformats.org/drawingml/2006/main">
              <a:ext uri="{FF2B5EF4-FFF2-40B4-BE49-F238E27FC236}">
                <a16:creationId xmlns:a16="http://schemas.microsoft.com/office/drawing/2014/main" id="{F2EB3307-7213-4BFE-9EF1-530617247B94}"/>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검증된 목차</a:t>
            </a:r>
          </a:p>
        </p:txBody>
      </p:sp>
      <p:sp>
        <p:nvSpPr>
          <p:cNvPr id="22" name="">
            <a:extLst xmlns:a="http://schemas.openxmlformats.org/drawingml/2006/main">
              <a:ext uri="{FF2B5EF4-FFF2-40B4-BE49-F238E27FC236}">
                <a16:creationId xmlns:a16="http://schemas.microsoft.com/office/drawing/2014/main" id="{D786B87E-62DA-49EE-9FB6-FC1DBE405926}"/>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8164CE0B-75E1-414C-9ED6-2B73CFD0AC9F}"/>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확정 결과</a:t>
            </a:r>
          </a:p>
        </p:txBody>
      </p:sp>
      <p:sp>
        <p:nvSpPr>
          <p:cNvPr id="24" name="">
            <a:extLst xmlns:a="http://schemas.openxmlformats.org/drawingml/2006/main">
              <a:ext uri="{FF2B5EF4-FFF2-40B4-BE49-F238E27FC236}">
                <a16:creationId xmlns:a16="http://schemas.microsoft.com/office/drawing/2014/main" id="{6323731B-4B26-44CA-8B14-7535B50BE043}"/>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RFP 초안</a:t>
            </a:r>
          </a:p>
        </p:txBody>
      </p:sp>
      <p:sp>
        <p:nvSpPr>
          <p:cNvPr id="25" name="">
            <a:extLst xmlns:a="http://schemas.openxmlformats.org/drawingml/2006/main">
              <a:ext uri="{FF2B5EF4-FFF2-40B4-BE49-F238E27FC236}">
                <a16:creationId xmlns:a16="http://schemas.microsoft.com/office/drawing/2014/main" id="{E0712207-653F-4F11-9814-AA68A7AD63A7}"/>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B7133C39-0709-4319-95E8-E332C555EF4A}"/>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기존 계약 중복·수치 근거 부재·검수 불가능 요구</a:t>
            </a:r>
          </a:p>
        </p:txBody>
      </p:sp>
      <p:sp>
        <p:nvSpPr>
          <p:cNvPr id="27" name="">
            <a:extLst xmlns:a="http://schemas.openxmlformats.org/drawingml/2006/main">
              <a:ext uri="{FF2B5EF4-FFF2-40B4-BE49-F238E27FC236}">
                <a16:creationId xmlns:a16="http://schemas.microsoft.com/office/drawing/2014/main" id="{62A7A4F4-5075-48F0-BF14-4F4FE95AF368}"/>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6FF2C9C0-D1E5-4E0F-9BD4-15D6E36B2B73}"/>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사업 범위·기존 의무·검수 연결 확인</a:t>
            </a:r>
          </a:p>
        </p:txBody>
      </p:sp>
      <p:sp>
        <p:nvSpPr>
          <p:cNvPr id="29" name="">
            <a:extLst xmlns:a="http://schemas.openxmlformats.org/drawingml/2006/main">
              <a:ext uri="{FF2B5EF4-FFF2-40B4-BE49-F238E27FC236}">
                <a16:creationId xmlns:a16="http://schemas.microsoft.com/office/drawing/2014/main" id="{1FF350FC-1A07-4263-B1EE-AF6D0B2F778C}"/>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36CDD4DD-2E28-4C02-9E9E-E83430877381}"/>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수정 이력과 요구사항·검수 연결 누락 검사</a:t>
            </a:r>
          </a:p>
        </p:txBody>
      </p:sp>
      <p:sp>
        <p:nvSpPr>
          <p:cNvPr id="31" name="">
            <a:extLst xmlns:a="http://schemas.openxmlformats.org/drawingml/2006/main">
              <a:ext uri="{FF2B5EF4-FFF2-40B4-BE49-F238E27FC236}">
                <a16:creationId xmlns:a16="http://schemas.microsoft.com/office/drawing/2014/main" id="{856A52CF-F12C-44D2-9EAC-BFC982832C87}"/>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701530F8-A045-496F-BA84-8595A14C087C}"/>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요구사항별 범위·출처·검수 연결 및 담당자 수정 기록</a:t>
            </a:r>
          </a:p>
        </p:txBody>
      </p:sp>
    </p:spTree>
    <p:extLst>
      <p:ext uri="{BB962C8B-B14F-4D97-AF65-F5344CB8AC3E}">
        <p14:creationId xmlns:p14="http://schemas.microsoft.com/office/powerpoint/2010/main" val="2047255514"/>
      </p:ext>
    </p:extLst>
  </p:cSld>
</p:sld>
</file>

<file path=ppt/slides/slide13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9CAA161-DA26-4779-87A7-96B889072D5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AX25 / CCK 비교·재현 시험 설계</a:t>
            </a:r>
          </a:p>
        </p:txBody>
      </p:sp>
      <p:sp>
        <p:nvSpPr>
          <p:cNvPr id="2" name="">
            <a:extLst xmlns:a="http://schemas.openxmlformats.org/drawingml/2006/main">
              <a:ext uri="{FF2B5EF4-FFF2-40B4-BE49-F238E27FC236}">
                <a16:creationId xmlns:a16="http://schemas.microsoft.com/office/drawing/2014/main" id="{0FBA8484-8D8B-49C9-BF5E-8D238DD2E7B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조달청 e-제안요청 도움 · 벤치마킹</a:t>
            </a:r>
          </a:p>
        </p:txBody>
      </p:sp>
      <p:sp>
        <p:nvSpPr>
          <p:cNvPr id="3" name="">
            <a:extLst xmlns:a="http://schemas.openxmlformats.org/drawingml/2006/main">
              <a:ext uri="{FF2B5EF4-FFF2-40B4-BE49-F238E27FC236}">
                <a16:creationId xmlns:a16="http://schemas.microsoft.com/office/drawing/2014/main" id="{31D8D1CF-1BEC-4DB7-9D59-51DE05AFD22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8322776-CE75-4607-9299-8331D036E14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4C1CBFC-B296-4E28-9749-0E6A5728A81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132</a:t>
            </a:r>
          </a:p>
        </p:txBody>
      </p:sp>
      <p:sp>
        <p:nvSpPr>
          <p:cNvPr id="6" name="">
            <a:extLst xmlns:a="http://schemas.openxmlformats.org/drawingml/2006/main">
              <a:ext uri="{FF2B5EF4-FFF2-40B4-BE49-F238E27FC236}">
                <a16:creationId xmlns:a16="http://schemas.microsoft.com/office/drawing/2014/main" id="{6FB01CB4-A835-439A-9C8A-FBC0EFF9F5D9}"/>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4CC60322-5C43-403E-AC9D-F5CFD4FA7507}"/>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RFP 목차·키워드의 구조화</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사용자 검증을 통한 초안 구성</a:t>
            </a:r>
          </a:p>
        </p:txBody>
      </p:sp>
      <p:sp>
        <p:nvSpPr>
          <p:cNvPr id="8" name="">
            <a:extLst xmlns:a="http://schemas.openxmlformats.org/drawingml/2006/main">
              <a:ext uri="{FF2B5EF4-FFF2-40B4-BE49-F238E27FC236}">
                <a16:creationId xmlns:a16="http://schemas.microsoft.com/office/drawing/2014/main" id="{1F21AEFD-26BB-4A44-AB9D-11738DA66357}"/>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D52E3075-C132-4BF1-9893-D08F3D868007}"/>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과거 과업의 무비판적 재사용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필수 요구·검수 항목 누락</a:t>
            </a:r>
          </a:p>
        </p:txBody>
      </p:sp>
      <p:sp>
        <p:nvSpPr>
          <p:cNvPr id="10" name="">
            <a:extLst xmlns:a="http://schemas.openxmlformats.org/drawingml/2006/main">
              <a:ext uri="{FF2B5EF4-FFF2-40B4-BE49-F238E27FC236}">
                <a16:creationId xmlns:a16="http://schemas.microsoft.com/office/drawing/2014/main" id="{BE43959C-2211-4D31-A816-9355CFFA588A}"/>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1294E209-304A-48A4-B424-BEEAD918A376}"/>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사업 범위·기존 의무·검수 연결 확인</a:t>
            </a:r>
          </a:p>
        </p:txBody>
      </p:sp>
      <p:sp>
        <p:nvSpPr>
          <p:cNvPr id="12" name="">
            <a:extLst xmlns:a="http://schemas.openxmlformats.org/drawingml/2006/main">
              <a:ext uri="{FF2B5EF4-FFF2-40B4-BE49-F238E27FC236}">
                <a16:creationId xmlns:a16="http://schemas.microsoft.com/office/drawing/2014/main" id="{16A71272-2D86-4BCE-B2DD-CAA042B32C04}"/>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2EC93FDB-8D03-4CF1-93AF-2A6B3805845E}"/>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사업 범위에 맞는 RFP 요구와 검수 초안 구성</a:t>
            </a:r>
          </a:p>
        </p:txBody>
      </p:sp>
      <p:sp>
        <p:nvSpPr>
          <p:cNvPr id="14" name="">
            <a:extLst xmlns:a="http://schemas.openxmlformats.org/drawingml/2006/main">
              <a:ext uri="{FF2B5EF4-FFF2-40B4-BE49-F238E27FC236}">
                <a16:creationId xmlns:a16="http://schemas.microsoft.com/office/drawing/2014/main" id="{97110CD4-F078-41EA-A94D-390A1DCB800E}"/>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33E31923-F882-49F0-ADA4-8A567DADBCE1}"/>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기존 계약 중복·수치 근거 부재·검수 불가능 요구</a:t>
            </a:r>
          </a:p>
        </p:txBody>
      </p:sp>
      <p:sp>
        <p:nvSpPr>
          <p:cNvPr id="16" name="">
            <a:extLst xmlns:a="http://schemas.openxmlformats.org/drawingml/2006/main">
              <a:ext uri="{FF2B5EF4-FFF2-40B4-BE49-F238E27FC236}">
                <a16:creationId xmlns:a16="http://schemas.microsoft.com/office/drawing/2014/main" id="{193734B2-8B22-457E-8E1F-E3857C80D763}"/>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A6640040-341B-4A0E-A7E0-FC984E204027}"/>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요구사항별 범위·출처·검수 연결 및 담당자 수정 기</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록</a:t>
            </a:r>
          </a:p>
        </p:txBody>
      </p:sp>
    </p:spTree>
    <p:extLst>
      <p:ext uri="{BB962C8B-B14F-4D97-AF65-F5344CB8AC3E}">
        <p14:creationId xmlns:p14="http://schemas.microsoft.com/office/powerpoint/2010/main" val="1901283025"/>
      </p:ext>
    </p:extLst>
  </p:cSld>
</p:sld>
</file>

<file path=ppt/slides/slide13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5320439-5D27-4111-B656-BBF04C300528}"/>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AX26 / 성과 미검증 / 국내</a:t>
            </a:r>
          </a:p>
        </p:txBody>
      </p:sp>
      <p:sp>
        <p:nvSpPr>
          <p:cNvPr id="2" name="">
            <a:extLst xmlns:a="http://schemas.openxmlformats.org/drawingml/2006/main">
              <a:ext uri="{FF2B5EF4-FFF2-40B4-BE49-F238E27FC236}">
                <a16:creationId xmlns:a16="http://schemas.microsoft.com/office/drawing/2014/main" id="{4DF85B2D-18DD-4AD5-B0EE-D8616CA9C2A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교육행정 응대 AI PoC</a:t>
            </a:r>
          </a:p>
        </p:txBody>
      </p:sp>
      <p:sp>
        <p:nvSpPr>
          <p:cNvPr id="3" name="">
            <a:extLst xmlns:a="http://schemas.openxmlformats.org/drawingml/2006/main">
              <a:ext uri="{FF2B5EF4-FFF2-40B4-BE49-F238E27FC236}">
                <a16:creationId xmlns:a16="http://schemas.microsoft.com/office/drawing/2014/main" id="{8F562CF7-D82B-4A05-8A1F-A25F40D011E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53D9FE4-DEF7-417E-A8B8-9CBB822ABE8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1D93FDD5-FBFB-4641-AA13-1A0C05D66F1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133</a:t>
            </a:r>
          </a:p>
        </p:txBody>
      </p:sp>
      <p:sp>
        <p:nvSpPr>
          <p:cNvPr id="6" name="">
            <a:extLst xmlns:a="http://schemas.openxmlformats.org/drawingml/2006/main">
              <a:ext uri="{FF2B5EF4-FFF2-40B4-BE49-F238E27FC236}">
                <a16:creationId xmlns:a16="http://schemas.microsoft.com/office/drawing/2014/main" id="{0140DFF9-4712-493B-9025-85B0E33AB03E}"/>
              </a:ext>
            </a:extLst>
          </p:cNvPr>
          <p:cNvSpPr>
            <a:spLocks xmlns:a="http://schemas.openxmlformats.org/drawingml/2006/main" noGrp="1"/>
          </p:cNvSpPr>
          <p:nvPr/>
        </p:nvSpPr>
        <p:spPr>
          <a:xfrm xmlns:a="http://schemas.openxmlformats.org/drawingml/2006/main">
            <a:off x="571500" y="17145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추진 배경·대상 업무</a:t>
            </a:r>
          </a:p>
        </p:txBody>
      </p:sp>
      <p:sp>
        <p:nvSpPr>
          <p:cNvPr id="7" name="">
            <a:extLst xmlns:a="http://schemas.openxmlformats.org/drawingml/2006/main">
              <a:ext uri="{FF2B5EF4-FFF2-40B4-BE49-F238E27FC236}">
                <a16:creationId xmlns:a16="http://schemas.microsoft.com/office/drawing/2014/main" id="{2AAEA5B4-84A6-4079-A5DF-F4C2D58FB703}"/>
              </a:ext>
            </a:extLst>
          </p:cNvPr>
          <p:cNvSpPr>
            <a:spLocks xmlns:a="http://schemas.openxmlformats.org/drawingml/2006/main" noGrp="1"/>
          </p:cNvSpPr>
          <p:nvPr/>
        </p:nvSpPr>
        <p:spPr>
          <a:xfrm xmlns:a="http://schemas.openxmlformats.org/drawingml/2006/main">
            <a:off x="571500" y="2066925"/>
            <a:ext cx="5334000"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학교급·학년도별 학교생활기록부 지침을 교직원 질의에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연결하는 사례. 같은 질문이라도 적용 연도·학교급·업무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상황에 따라 근거가 달라지는 규정형 업무.</a:t>
            </a:r>
          </a:p>
        </p:txBody>
      </p:sp>
      <p:sp>
        <p:nvSpPr>
          <p:cNvPr id="8" name="">
            <a:extLst xmlns:a="http://schemas.openxmlformats.org/drawingml/2006/main">
              <a:ext uri="{FF2B5EF4-FFF2-40B4-BE49-F238E27FC236}">
                <a16:creationId xmlns:a16="http://schemas.microsoft.com/office/drawing/2014/main" id="{0CAC7BDE-48D0-456D-8313-45D1C00F56E0}"/>
              </a:ext>
            </a:extLst>
          </p:cNvPr>
          <p:cNvSpPr>
            <a:spLocks xmlns:a="http://schemas.openxmlformats.org/drawingml/2006/main" noGrp="1"/>
          </p:cNvSpPr>
          <p:nvPr/>
        </p:nvSpPr>
        <p:spPr>
          <a:xfrm xmlns:a="http://schemas.openxmlformats.org/drawingml/2006/main">
            <a:off x="571500" y="382905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구현 방식·업무 변화</a:t>
            </a:r>
          </a:p>
        </p:txBody>
      </p:sp>
      <p:sp>
        <p:nvSpPr>
          <p:cNvPr id="9" name="">
            <a:extLst xmlns:a="http://schemas.openxmlformats.org/drawingml/2006/main">
              <a:ext uri="{FF2B5EF4-FFF2-40B4-BE49-F238E27FC236}">
                <a16:creationId xmlns:a16="http://schemas.microsoft.com/office/drawing/2014/main" id="{84CE3E6E-F817-4AF8-BB0C-6AACCF62553D}"/>
              </a:ext>
            </a:extLst>
          </p:cNvPr>
          <p:cNvSpPr>
            <a:spLocks xmlns:a="http://schemas.openxmlformats.org/drawingml/2006/main" noGrp="1"/>
          </p:cNvSpPr>
          <p:nvPr/>
        </p:nvSpPr>
        <p:spPr>
          <a:xfrm xmlns:a="http://schemas.openxmlformats.org/drawingml/2006/main">
            <a:off x="571500" y="4181475"/>
            <a:ext cx="5334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질의 문맥을 확보한 뒤 해당 지침 판본과 페이지를 검색</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해 근거를 제공하는 재구성. 답변의 편집·검토 과정에서</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도 원문 페이지와 적용 조건을 함께 보존.</a:t>
            </a:r>
          </a:p>
        </p:txBody>
      </p:sp>
      <p:sp>
        <p:nvSpPr>
          <p:cNvPr id="10" name="">
            <a:extLst xmlns:a="http://schemas.openxmlformats.org/drawingml/2006/main">
              <a:ext uri="{FF2B5EF4-FFF2-40B4-BE49-F238E27FC236}">
                <a16:creationId xmlns:a16="http://schemas.microsoft.com/office/drawing/2014/main" id="{5E05177F-25A6-4C67-9569-87979D52E971}"/>
              </a:ext>
            </a:extLst>
          </p:cNvPr>
          <p:cNvSpPr>
            <a:spLocks xmlns:a="http://schemas.openxmlformats.org/drawingml/2006/main" noGrp="1"/>
          </p:cNvSpPr>
          <p:nvPr/>
        </p:nvSpPr>
        <p:spPr>
          <a:xfrm xmlns:a="http://schemas.openxmlformats.org/drawingml/2006/main">
            <a:off x="6381750" y="17145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관점의 시사점</a:t>
            </a:r>
          </a:p>
        </p:txBody>
      </p:sp>
      <p:sp>
        <p:nvSpPr>
          <p:cNvPr id="11" name="">
            <a:extLst xmlns:a="http://schemas.openxmlformats.org/drawingml/2006/main">
              <a:ext uri="{FF2B5EF4-FFF2-40B4-BE49-F238E27FC236}">
                <a16:creationId xmlns:a16="http://schemas.microsoft.com/office/drawing/2014/main" id="{7F923522-D4C4-43E0-99F2-7F9EF3E558B9}"/>
              </a:ext>
            </a:extLst>
          </p:cNvPr>
          <p:cNvSpPr>
            <a:spLocks xmlns:a="http://schemas.openxmlformats.org/drawingml/2006/main" noGrp="1"/>
          </p:cNvSpPr>
          <p:nvPr/>
        </p:nvSpPr>
        <p:spPr>
          <a:xfrm xmlns:a="http://schemas.openxmlformats.org/drawingml/2006/main">
            <a:off x="6381750" y="2066925"/>
            <a:ext cx="52387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TS 조직 네이티브 AI에서는 소속·직무뿐 아니라 업무 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상과 시행일을 검색 조건으로 추가하는 참고. 연도 혼용·</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학교급 혼용·예외 조항 누락에 해당하는 TS 도메인 시험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셋의 별도 구성.</a:t>
            </a:r>
          </a:p>
        </p:txBody>
      </p:sp>
      <p:sp>
        <p:nvSpPr>
          <p:cNvPr id="12" name="">
            <a:extLst xmlns:a="http://schemas.openxmlformats.org/drawingml/2006/main">
              <a:ext uri="{FF2B5EF4-FFF2-40B4-BE49-F238E27FC236}">
                <a16:creationId xmlns:a16="http://schemas.microsoft.com/office/drawing/2014/main" id="{11A7EF0A-6971-44A0-8737-5AD863D430E7}"/>
              </a:ext>
            </a:extLst>
          </p:cNvPr>
          <p:cNvSpPr>
            <a:spLocks xmlns:a="http://schemas.openxmlformats.org/drawingml/2006/main" noGrp="1"/>
          </p:cNvSpPr>
          <p:nvPr/>
        </p:nvSpPr>
        <p:spPr>
          <a:xfrm xmlns:a="http://schemas.openxmlformats.org/drawingml/2006/main">
            <a:off x="6381750" y="33909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13" name="">
            <a:extLst xmlns:a="http://schemas.openxmlformats.org/drawingml/2006/main">
              <a:ext uri="{FF2B5EF4-FFF2-40B4-BE49-F238E27FC236}">
                <a16:creationId xmlns:a16="http://schemas.microsoft.com/office/drawing/2014/main" id="{7C609D28-99B2-4F29-9C61-A1D960E7B6D3}"/>
              </a:ext>
            </a:extLst>
          </p:cNvPr>
          <p:cNvSpPr>
            <a:spLocks xmlns:a="http://schemas.openxmlformats.org/drawingml/2006/main" noGrp="1"/>
          </p:cNvSpPr>
          <p:nvPr/>
        </p:nvSpPr>
        <p:spPr>
          <a:xfrm xmlns:a="http://schemas.openxmlformats.org/drawingml/2006/main">
            <a:off x="6381750" y="3743325"/>
            <a:ext cx="5238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직무별 검색 필터·출처 페이지·오류 피드백</a:t>
            </a:r>
          </a:p>
        </p:txBody>
      </p:sp>
      <p:sp>
        <p:nvSpPr>
          <p:cNvPr id="14" name="">
            <a:extLst xmlns:a="http://schemas.openxmlformats.org/drawingml/2006/main">
              <a:ext uri="{FF2B5EF4-FFF2-40B4-BE49-F238E27FC236}">
                <a16:creationId xmlns:a16="http://schemas.microsoft.com/office/drawing/2014/main" id="{952E06DD-31C4-49F4-9324-4B74965CB808}"/>
              </a:ext>
            </a:extLst>
          </p:cNvPr>
          <p:cNvSpPr>
            <a:spLocks xmlns:a="http://schemas.openxmlformats.org/drawingml/2006/main" noGrp="1"/>
          </p:cNvSpPr>
          <p:nvPr/>
        </p:nvSpPr>
        <p:spPr>
          <a:xfrm xmlns:a="http://schemas.openxmlformats.org/drawingml/2006/main">
            <a:off x="6381750" y="429577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반영</a:t>
            </a:r>
          </a:p>
        </p:txBody>
      </p:sp>
      <p:sp>
        <p:nvSpPr>
          <p:cNvPr id="15" name="">
            <a:extLst xmlns:a="http://schemas.openxmlformats.org/drawingml/2006/main">
              <a:ext uri="{FF2B5EF4-FFF2-40B4-BE49-F238E27FC236}">
                <a16:creationId xmlns:a16="http://schemas.microsoft.com/office/drawing/2014/main" id="{6F302F11-B766-4B7E-A967-BD7CC60EC2B4}"/>
              </a:ext>
            </a:extLst>
          </p:cNvPr>
          <p:cNvSpPr>
            <a:spLocks xmlns:a="http://schemas.openxmlformats.org/drawingml/2006/main" noGrp="1"/>
          </p:cNvSpPr>
          <p:nvPr/>
        </p:nvSpPr>
        <p:spPr>
          <a:xfrm xmlns:a="http://schemas.openxmlformats.org/drawingml/2006/main">
            <a:off x="6381750" y="464820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부서·직무 변경 전후 검색 근거 대조</a:t>
            </a:r>
          </a:p>
        </p:txBody>
      </p:sp>
      <p:sp>
        <p:nvSpPr>
          <p:cNvPr id="16" name="">
            <a:extLst xmlns:a="http://schemas.openxmlformats.org/drawingml/2006/main">
              <a:ext uri="{FF2B5EF4-FFF2-40B4-BE49-F238E27FC236}">
                <a16:creationId xmlns:a16="http://schemas.microsoft.com/office/drawing/2014/main" id="{1F1A97A4-59D1-4BD5-A8CB-8CAFDB43434E}"/>
              </a:ext>
            </a:extLst>
          </p:cNvPr>
          <p:cNvSpPr>
            <a:spLocks xmlns:a="http://schemas.openxmlformats.org/drawingml/2006/main" noGrp="1"/>
          </p:cNvSpPr>
          <p:nvPr/>
        </p:nvSpPr>
        <p:spPr>
          <a:xfrm xmlns:a="http://schemas.openxmlformats.org/drawingml/2006/main">
            <a:off x="6381750" y="5257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지표</a:t>
            </a:r>
          </a:p>
        </p:txBody>
      </p:sp>
      <p:sp>
        <p:nvSpPr>
          <p:cNvPr id="17" name="">
            <a:extLst xmlns:a="http://schemas.openxmlformats.org/drawingml/2006/main">
              <a:ext uri="{FF2B5EF4-FFF2-40B4-BE49-F238E27FC236}">
                <a16:creationId xmlns:a16="http://schemas.microsoft.com/office/drawing/2014/main" id="{90564893-245F-46AF-8EAE-BA7EBE0A6A2E}"/>
              </a:ext>
            </a:extLst>
          </p:cNvPr>
          <p:cNvSpPr>
            <a:spLocks xmlns:a="http://schemas.openxmlformats.org/drawingml/2006/main" noGrp="1"/>
          </p:cNvSpPr>
          <p:nvPr/>
        </p:nvSpPr>
        <p:spPr>
          <a:xfrm xmlns:a="http://schemas.openxmlformats.org/drawingml/2006/main">
            <a:off x="6381750" y="561022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28352B"/>
                </a:solidFill>
                <a:latin typeface="Pretendard"/>
                <a:ea typeface="Pretendard"/>
                <a:cs typeface="Pretendard"/>
              </a:defRPr>
            </a:defPPr>
            <a:lvl1pPr>
              <a:defRPr sz="1500" b="0">
                <a:solidFill>
                  <a:srgbClr val="28352B"/>
                </a:solidFill>
                <a:latin typeface="Pretendard"/>
                <a:ea typeface="Pretendard"/>
                <a:cs typeface="Pretendard"/>
              </a:defRPr>
            </a:lvl1pPr>
            <a:lvl2pPr>
              <a:defRPr sz="1500" b="0">
                <a:solidFill>
                  <a:srgbClr val="28352B"/>
                </a:solidFill>
                <a:latin typeface="Pretendard"/>
                <a:ea typeface="Pretendard"/>
                <a:cs typeface="Pretendard"/>
              </a:defRPr>
            </a:lvl2pPr>
            <a:lvl3pPr>
              <a:defRPr sz="1500" b="0">
                <a:solidFill>
                  <a:srgbClr val="28352B"/>
                </a:solidFill>
                <a:latin typeface="Pretendard"/>
                <a:ea typeface="Pretendard"/>
                <a:cs typeface="Pretendard"/>
              </a:defRPr>
            </a:lvl3pPr>
            <a:lvl4pPr>
              <a:defRPr sz="1500" b="0">
                <a:solidFill>
                  <a:srgbClr val="28352B"/>
                </a:solidFill>
                <a:latin typeface="Pretendard"/>
                <a:ea typeface="Pretendard"/>
                <a:cs typeface="Pretendard"/>
              </a:defRPr>
            </a:lvl4pPr>
            <a:lvl5pPr>
              <a:defRPr sz="1500" b="0">
                <a:solidFill>
                  <a:srgbClr val="28352B"/>
                </a:solidFill>
                <a:latin typeface="Pretendard"/>
                <a:ea typeface="Pretendard"/>
                <a:cs typeface="Pretendard"/>
              </a:defRPr>
            </a:lvl5pPr>
            <a:lvl6pPr>
              <a:defRPr sz="1500" b="0">
                <a:solidFill>
                  <a:srgbClr val="28352B"/>
                </a:solidFill>
                <a:latin typeface="Pretendard"/>
                <a:ea typeface="Pretendard"/>
                <a:cs typeface="Pretendard"/>
              </a:defRPr>
            </a:lvl6pPr>
            <a:lvl7pPr>
              <a:defRPr sz="1500" b="0">
                <a:solidFill>
                  <a:srgbClr val="28352B"/>
                </a:solidFill>
                <a:latin typeface="Pretendard"/>
                <a:ea typeface="Pretendard"/>
                <a:cs typeface="Pretendard"/>
              </a:defRPr>
            </a:lvl7pPr>
            <a:lvl8pPr>
              <a:defRPr sz="1500" b="0">
                <a:solidFill>
                  <a:srgbClr val="28352B"/>
                </a:solidFill>
                <a:latin typeface="Pretendard"/>
                <a:ea typeface="Pretendard"/>
                <a:cs typeface="Pretendard"/>
              </a:defRPr>
            </a:lvl8pPr>
            <a:lvl9pPr>
              <a:defRPr sz="1500" b="0">
                <a:solidFill>
                  <a:srgbClr val="28352B"/>
                </a:solidFill>
                <a:latin typeface="Pretendard"/>
                <a:ea typeface="Pretendard"/>
                <a:cs typeface="Pretendard"/>
              </a:defRPr>
            </a:lvl9pPr>
          </a:lstStyle>
          <a:p xmlns:a="http://schemas.openxmlformats.org/drawingml/2006/main">
            <a:pPr>
              <a:defRPr sz="1500" b="0">
                <a:solidFill>
                  <a:srgbClr val="28352B"/>
                </a:solidFill>
                <a:latin typeface="Pretendard"/>
                <a:ea typeface="Pretendard"/>
                <a:cs typeface="Pretendard"/>
              </a:defRPr>
            </a:pPr>
            <a:r>
              <a:rPr sz="1500" b="0">
                <a:solidFill>
                  <a:srgbClr val="28352B"/>
                </a:solidFill>
                <a:latin typeface="Pretendard"/>
                <a:ea typeface="Pretendard"/>
                <a:cs typeface="Pretendard"/>
              </a:rPr>
              <a:t>근거 일치율 / 보완시간</a:t>
            </a:r>
          </a:p>
        </p:txBody>
      </p:sp>
      <p:sp>
        <p:nvSpPr>
          <p:cNvPr id="18" name="">
            <a:extLst xmlns:a="http://schemas.openxmlformats.org/drawingml/2006/main">
              <a:ext uri="{FF2B5EF4-FFF2-40B4-BE49-F238E27FC236}">
                <a16:creationId xmlns:a16="http://schemas.microsoft.com/office/drawing/2014/main" id="{FBB4B9D4-E101-428D-A21D-1D5FD68325F6}"/>
              </a:ext>
            </a:extLst>
          </p:cNvPr>
          <p:cNvSpPr>
            <a:spLocks xmlns:a="http://schemas.openxmlformats.org/drawingml/2006/main" noGrp="1"/>
          </p:cNvSpPr>
          <p:nvPr/>
        </p:nvSpPr>
        <p:spPr>
          <a:xfrm xmlns:a="http://schemas.openxmlformats.org/drawingml/2006/main">
            <a:off x="571500" y="13620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선정 문서·업무 범위의 PoC · 전체 교육행정 자동화와 구분</a:t>
            </a:r>
          </a:p>
        </p:txBody>
      </p:sp>
    </p:spTree>
    <p:extLst>
      <p:ext uri="{BB962C8B-B14F-4D97-AF65-F5344CB8AC3E}">
        <p14:creationId xmlns:p14="http://schemas.microsoft.com/office/powerpoint/2010/main" val="1679833310"/>
      </p:ext>
    </p:extLst>
  </p:cSld>
</p:sld>
</file>

<file path=ppt/slides/slide13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9FCF582-8A71-4EB4-8030-F4248E11E22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AX26 / As-Is → To-Be → 기대효과 → 확인 결과</a:t>
            </a:r>
          </a:p>
        </p:txBody>
      </p:sp>
      <p:sp>
        <p:nvSpPr>
          <p:cNvPr id="2" name="">
            <a:extLst xmlns:a="http://schemas.openxmlformats.org/drawingml/2006/main">
              <a:ext uri="{FF2B5EF4-FFF2-40B4-BE49-F238E27FC236}">
                <a16:creationId xmlns:a16="http://schemas.microsoft.com/office/drawing/2014/main" id="{26A91463-096E-4159-A21B-8F352274E65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교육행정 응대 AI PoC · 기대와 결과</a:t>
            </a:r>
          </a:p>
        </p:txBody>
      </p:sp>
      <p:sp>
        <p:nvSpPr>
          <p:cNvPr id="3" name="">
            <a:extLst xmlns:a="http://schemas.openxmlformats.org/drawingml/2006/main">
              <a:ext uri="{FF2B5EF4-FFF2-40B4-BE49-F238E27FC236}">
                <a16:creationId xmlns:a16="http://schemas.microsoft.com/office/drawing/2014/main" id="{778ECADC-1ECD-4AA8-982D-8170C9161B2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041FE73-AE4B-4110-AA47-178A64B4F25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D2DF4D93-789D-459B-A8C2-01946F946BA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134</a:t>
            </a:r>
          </a:p>
        </p:txBody>
      </p:sp>
      <p:sp>
        <p:nvSpPr>
          <p:cNvPr id="6" name="">
            <a:extLst xmlns:a="http://schemas.openxmlformats.org/drawingml/2006/main">
              <a:ext uri="{FF2B5EF4-FFF2-40B4-BE49-F238E27FC236}">
                <a16:creationId xmlns:a16="http://schemas.microsoft.com/office/drawing/2014/main" id="{C2F8C344-A361-4CE0-B4A6-05743DDC9EBD}"/>
              </a:ext>
            </a:extLst>
          </p:cNvPr>
          <p:cNvSpPr>
            <a:spLocks xmlns:a="http://schemas.openxmlformats.org/drawingml/2006/main" noGrp="1"/>
          </p:cNvSpPr>
          <p:nvPr/>
        </p:nvSpPr>
        <p:spPr>
          <a:xfrm xmlns:a="http://schemas.openxmlformats.org/drawingml/2006/main">
            <a:off x="571500" y="16954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As-Is · 기존 문제</a:t>
            </a:r>
          </a:p>
        </p:txBody>
      </p:sp>
      <p:sp>
        <p:nvSpPr>
          <p:cNvPr id="7" name="">
            <a:extLst xmlns:a="http://schemas.openxmlformats.org/drawingml/2006/main">
              <a:ext uri="{FF2B5EF4-FFF2-40B4-BE49-F238E27FC236}">
                <a16:creationId xmlns:a16="http://schemas.microsoft.com/office/drawing/2014/main" id="{6FB560A5-7F98-4B9F-B6DA-5C30BD06ABDC}"/>
              </a:ext>
            </a:extLst>
          </p:cNvPr>
          <p:cNvSpPr>
            <a:spLocks xmlns:a="http://schemas.openxmlformats.org/drawingml/2006/main" noGrp="1"/>
          </p:cNvSpPr>
          <p:nvPr/>
        </p:nvSpPr>
        <p:spPr>
          <a:xfrm xmlns:a="http://schemas.openxmlformats.org/drawingml/2006/main">
            <a:off x="571500" y="204787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교직원이 학교급·학년도별 생활기록부 지침과 질의응답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문서에서 근거 페이지를 탐색</a:t>
            </a:r>
          </a:p>
        </p:txBody>
      </p:sp>
      <p:sp>
        <p:nvSpPr>
          <p:cNvPr id="8" name="">
            <a:extLst xmlns:a="http://schemas.openxmlformats.org/drawingml/2006/main">
              <a:ext uri="{FF2B5EF4-FFF2-40B4-BE49-F238E27FC236}">
                <a16:creationId xmlns:a16="http://schemas.microsoft.com/office/drawing/2014/main" id="{C1A520EA-6AAD-470C-B890-0885A5403091}"/>
              </a:ext>
            </a:extLst>
          </p:cNvPr>
          <p:cNvSpPr>
            <a:spLocks xmlns:a="http://schemas.openxmlformats.org/drawingml/2006/main" noGrp="1"/>
          </p:cNvSpPr>
          <p:nvPr/>
        </p:nvSpPr>
        <p:spPr>
          <a:xfrm xmlns:a="http://schemas.openxmlformats.org/drawingml/2006/main">
            <a:off x="6334125" y="16954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To-Be · 의도한 변화</a:t>
            </a:r>
          </a:p>
        </p:txBody>
      </p:sp>
      <p:sp>
        <p:nvSpPr>
          <p:cNvPr id="9" name="">
            <a:extLst xmlns:a="http://schemas.openxmlformats.org/drawingml/2006/main">
              <a:ext uri="{FF2B5EF4-FFF2-40B4-BE49-F238E27FC236}">
                <a16:creationId xmlns:a16="http://schemas.microsoft.com/office/drawing/2014/main" id="{F699D9E2-F359-4127-BB8A-6B5D07F8EDC6}"/>
              </a:ext>
            </a:extLst>
          </p:cNvPr>
          <p:cNvSpPr>
            <a:spLocks xmlns:a="http://schemas.openxmlformats.org/drawingml/2006/main" noGrp="1"/>
          </p:cNvSpPr>
          <p:nvPr/>
        </p:nvSpPr>
        <p:spPr>
          <a:xfrm xmlns:a="http://schemas.openxmlformats.org/drawingml/2006/main">
            <a:off x="6334125" y="204787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해당 학교급·연도의 지침을 검색하고 원문 페이지와 함께 </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답변하는 RAG 실증</a:t>
            </a:r>
          </a:p>
        </p:txBody>
      </p:sp>
      <p:sp>
        <p:nvSpPr>
          <p:cNvPr id="10" name="">
            <a:extLst xmlns:a="http://schemas.openxmlformats.org/drawingml/2006/main">
              <a:ext uri="{FF2B5EF4-FFF2-40B4-BE49-F238E27FC236}">
                <a16:creationId xmlns:a16="http://schemas.microsoft.com/office/drawing/2014/main" id="{D20A499E-A8D8-46E6-8F07-1201E7F36432}"/>
              </a:ext>
            </a:extLst>
          </p:cNvPr>
          <p:cNvSpPr>
            <a:spLocks xmlns:a="http://schemas.openxmlformats.org/drawingml/2006/main" noGrp="1"/>
          </p:cNvSpPr>
          <p:nvPr/>
        </p:nvSpPr>
        <p:spPr>
          <a:xfrm xmlns:a="http://schemas.openxmlformats.org/drawingml/2006/main">
            <a:off x="571500" y="33528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 · 목표</a:t>
            </a:r>
          </a:p>
        </p:txBody>
      </p:sp>
      <p:sp>
        <p:nvSpPr>
          <p:cNvPr id="11" name="">
            <a:extLst xmlns:a="http://schemas.openxmlformats.org/drawingml/2006/main">
              <a:ext uri="{FF2B5EF4-FFF2-40B4-BE49-F238E27FC236}">
                <a16:creationId xmlns:a16="http://schemas.microsoft.com/office/drawing/2014/main" id="{83C46905-7498-4DC2-AFAF-6170F340B000}"/>
              </a:ext>
            </a:extLst>
          </p:cNvPr>
          <p:cNvSpPr>
            <a:spLocks xmlns:a="http://schemas.openxmlformats.org/drawingml/2006/main" noGrp="1"/>
          </p:cNvSpPr>
          <p:nvPr/>
        </p:nvSpPr>
        <p:spPr>
          <a:xfrm xmlns:a="http://schemas.openxmlformats.org/drawingml/2006/main">
            <a:off x="571500" y="3705225"/>
            <a:ext cx="52387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문서 탐색시간 감소와 근거 판본의 일치도 향상</a:t>
            </a:r>
          </a:p>
        </p:txBody>
      </p:sp>
      <p:sp>
        <p:nvSpPr>
          <p:cNvPr id="12" name="">
            <a:extLst xmlns:a="http://schemas.openxmlformats.org/drawingml/2006/main">
              <a:ext uri="{FF2B5EF4-FFF2-40B4-BE49-F238E27FC236}">
                <a16:creationId xmlns:a16="http://schemas.microsoft.com/office/drawing/2014/main" id="{1AFAE252-CE48-4D9D-B179-0EE938200CF4}"/>
              </a:ext>
            </a:extLst>
          </p:cNvPr>
          <p:cNvSpPr>
            <a:spLocks xmlns:a="http://schemas.openxmlformats.org/drawingml/2006/main" noGrp="1"/>
          </p:cNvSpPr>
          <p:nvPr/>
        </p:nvSpPr>
        <p:spPr>
          <a:xfrm xmlns:a="http://schemas.openxmlformats.org/drawingml/2006/main">
            <a:off x="6334125" y="33528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확인 결과 · 관찰</a:t>
            </a:r>
          </a:p>
        </p:txBody>
      </p:sp>
      <p:sp>
        <p:nvSpPr>
          <p:cNvPr id="13" name="">
            <a:extLst xmlns:a="http://schemas.openxmlformats.org/drawingml/2006/main">
              <a:ext uri="{FF2B5EF4-FFF2-40B4-BE49-F238E27FC236}">
                <a16:creationId xmlns:a16="http://schemas.microsoft.com/office/drawing/2014/main" id="{D0008436-A2B7-4896-8775-065C4DB3C52F}"/>
              </a:ext>
            </a:extLst>
          </p:cNvPr>
          <p:cNvSpPr>
            <a:spLocks xmlns:a="http://schemas.openxmlformats.org/drawingml/2006/main" noGrp="1"/>
          </p:cNvSpPr>
          <p:nvPr/>
        </p:nvSpPr>
        <p:spPr>
          <a:xfrm xmlns:a="http://schemas.openxmlformats.org/drawingml/2006/main">
            <a:off x="6334125" y="3705225"/>
            <a:ext cx="5286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공공 사례집이 선정 지침·질의응답 자료 기반 PoC와 원문</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페이지 연결을 설명</a:t>
            </a:r>
          </a:p>
        </p:txBody>
      </p:sp>
      <p:sp>
        <p:nvSpPr>
          <p:cNvPr id="14" name="">
            <a:extLst xmlns:a="http://schemas.openxmlformats.org/drawingml/2006/main">
              <a:ext uri="{FF2B5EF4-FFF2-40B4-BE49-F238E27FC236}">
                <a16:creationId xmlns:a16="http://schemas.microsoft.com/office/drawing/2014/main" id="{05860C59-DAE8-4059-851D-61663B9050B1}"/>
              </a:ext>
            </a:extLst>
          </p:cNvPr>
          <p:cNvSpPr>
            <a:spLocks xmlns:a="http://schemas.openxmlformats.org/drawingml/2006/main" noGrp="1"/>
          </p:cNvSpPr>
          <p:nvPr/>
        </p:nvSpPr>
        <p:spPr>
          <a:xfrm xmlns:a="http://schemas.openxmlformats.org/drawingml/2006/main">
            <a:off x="571500" y="5095875"/>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성과 미검증 · 기능 실증은 확인되나 학교급·학년도 교차 오류율과 현장 업무시간의 실측 미확인</a:t>
            </a:r>
          </a:p>
        </p:txBody>
      </p:sp>
      <p:sp>
        <p:nvSpPr>
          <p:cNvPr id="15" name="">
            <a:extLst xmlns:a="http://schemas.openxmlformats.org/drawingml/2006/main">
              <a:ext uri="{FF2B5EF4-FFF2-40B4-BE49-F238E27FC236}">
                <a16:creationId xmlns:a16="http://schemas.microsoft.com/office/drawing/2014/main" id="{DED81285-705A-4762-8F89-14819DFA1020}"/>
              </a:ext>
            </a:extLst>
          </p:cNvPr>
          <p:cNvSpPr>
            <a:spLocks xmlns:a="http://schemas.openxmlformats.org/drawingml/2006/main" noGrp="1"/>
          </p:cNvSpPr>
          <p:nvPr/>
        </p:nvSpPr>
        <p:spPr>
          <a:xfrm xmlns:a="http://schemas.openxmlformats.org/drawingml/2006/main">
            <a:off x="571500" y="581025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정부 문서 범위 PoC · 선정 문서 PoC. 교육행정 전체 자동화·학생기록 정정 권한과 별개</a:t>
            </a:r>
          </a:p>
        </p:txBody>
      </p:sp>
    </p:spTree>
    <p:extLst>
      <p:ext uri="{BB962C8B-B14F-4D97-AF65-F5344CB8AC3E}">
        <p14:creationId xmlns:p14="http://schemas.microsoft.com/office/powerpoint/2010/main" val="2045657560"/>
      </p:ext>
    </p:extLst>
  </p:cSld>
</p:sld>
</file>

<file path=ppt/slides/slide13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cxnSp>
        <p:nvCxnSpPr>
          <p:cNvPr id="45" name="">
            <a:extLst xmlns:a="http://schemas.openxmlformats.org/drawingml/2006/main">
              <a:ext uri="{FF2B5EF4-FFF2-40B4-BE49-F238E27FC236}">
                <a16:creationId xmlns:a16="http://schemas.microsoft.com/office/drawing/2014/main" id="{F1A67179-D86A-44B3-80C1-C3432FCE0A53}"/>
              </a:ext>
            </a:extLst>
          </p:cNvPr>
          <p:cNvCxnSpPr>
            <a:stCxn xmlns:a="http://schemas.openxmlformats.org/drawingml/2006/main" id="31" idx="3"/>
            <a:endCxn xmlns:a="http://schemas.openxmlformats.org/drawingml/2006/main" id="34" idx="1"/>
          </p:cNvCxnSpPr>
          <p:nvPr/>
        </p:nvCxnSpPr>
        <p:spPr>
          <a:xfrm xmlns:a="http://schemas.openxmlformats.org/drawingml/2006/main">
            <a:off x="974598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4" name="">
            <a:extLst xmlns:a="http://schemas.openxmlformats.org/drawingml/2006/main">
              <a:ext uri="{FF2B5EF4-FFF2-40B4-BE49-F238E27FC236}">
                <a16:creationId xmlns:a16="http://schemas.microsoft.com/office/drawing/2014/main" id="{B680BC21-2E62-428D-8233-2BA4582F311D}"/>
              </a:ext>
            </a:extLst>
          </p:cNvPr>
          <p:cNvCxnSpPr>
            <a:stCxn xmlns:a="http://schemas.openxmlformats.org/drawingml/2006/main" id="28" idx="3"/>
            <a:endCxn xmlns:a="http://schemas.openxmlformats.org/drawingml/2006/main" id="31" idx="1"/>
          </p:cNvCxnSpPr>
          <p:nvPr/>
        </p:nvCxnSpPr>
        <p:spPr>
          <a:xfrm xmlns:a="http://schemas.openxmlformats.org/drawingml/2006/main">
            <a:off x="787146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3" name="">
            <a:extLst xmlns:a="http://schemas.openxmlformats.org/drawingml/2006/main">
              <a:ext uri="{FF2B5EF4-FFF2-40B4-BE49-F238E27FC236}">
                <a16:creationId xmlns:a16="http://schemas.microsoft.com/office/drawing/2014/main" id="{8B456B3A-12D4-4058-A617-24A4D5B838B4}"/>
              </a:ext>
            </a:extLst>
          </p:cNvPr>
          <p:cNvCxnSpPr>
            <a:stCxn xmlns:a="http://schemas.openxmlformats.org/drawingml/2006/main" id="25" idx="3"/>
            <a:endCxn xmlns:a="http://schemas.openxmlformats.org/drawingml/2006/main" id="28" idx="1"/>
          </p:cNvCxnSpPr>
          <p:nvPr/>
        </p:nvCxnSpPr>
        <p:spPr>
          <a:xfrm xmlns:a="http://schemas.openxmlformats.org/drawingml/2006/main">
            <a:off x="599694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2" name="">
            <a:extLst xmlns:a="http://schemas.openxmlformats.org/drawingml/2006/main">
              <a:ext uri="{FF2B5EF4-FFF2-40B4-BE49-F238E27FC236}">
                <a16:creationId xmlns:a16="http://schemas.microsoft.com/office/drawing/2014/main" id="{0934BBE1-4F34-4DAB-B209-8851E38BDA62}"/>
              </a:ext>
            </a:extLst>
          </p:cNvPr>
          <p:cNvCxnSpPr>
            <a:stCxn xmlns:a="http://schemas.openxmlformats.org/drawingml/2006/main" id="16" idx="1"/>
            <a:endCxn xmlns:a="http://schemas.openxmlformats.org/drawingml/2006/main" id="25" idx="3"/>
          </p:cNvCxnSpPr>
          <p:nvPr/>
        </p:nvCxnSpPr>
        <p:spPr>
          <a:xfrm xmlns:a="http://schemas.openxmlformats.org/drawingml/2006/main" flipH="1">
            <a:off x="5996940" y="2352675"/>
            <a:ext cx="362331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1" name="">
            <a:extLst xmlns:a="http://schemas.openxmlformats.org/drawingml/2006/main">
              <a:ext uri="{FF2B5EF4-FFF2-40B4-BE49-F238E27FC236}">
                <a16:creationId xmlns:a16="http://schemas.microsoft.com/office/drawing/2014/main" id="{77641144-BAD9-4E5E-82F4-0F8CECC0EAC6}"/>
              </a:ext>
            </a:extLst>
          </p:cNvPr>
          <p:cNvCxnSpPr>
            <a:stCxn xmlns:a="http://schemas.openxmlformats.org/drawingml/2006/main" id="22" idx="3"/>
            <a:endCxn xmlns:a="http://schemas.openxmlformats.org/drawingml/2006/main" id="16" idx="1"/>
          </p:cNvCxnSpPr>
          <p:nvPr/>
        </p:nvCxnSpPr>
        <p:spPr>
          <a:xfrm xmlns:a="http://schemas.openxmlformats.org/drawingml/2006/main" flipV="1">
            <a:off x="4122420" y="2352675"/>
            <a:ext cx="5497830" cy="247650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40" name="">
            <a:extLst xmlns:a="http://schemas.openxmlformats.org/drawingml/2006/main">
              <a:ext uri="{FF2B5EF4-FFF2-40B4-BE49-F238E27FC236}">
                <a16:creationId xmlns:a16="http://schemas.microsoft.com/office/drawing/2014/main" id="{F5C54F92-A990-4585-ACBF-9596E1E31F71}"/>
              </a:ext>
            </a:extLst>
          </p:cNvPr>
          <p:cNvCxnSpPr>
            <a:stCxn xmlns:a="http://schemas.openxmlformats.org/drawingml/2006/main" id="19" idx="3"/>
            <a:endCxn xmlns:a="http://schemas.openxmlformats.org/drawingml/2006/main" id="22" idx="1"/>
          </p:cNvCxnSpPr>
          <p:nvPr/>
        </p:nvCxnSpPr>
        <p:spPr>
          <a:xfrm xmlns:a="http://schemas.openxmlformats.org/drawingml/2006/main">
            <a:off x="2247900" y="4829175"/>
            <a:ext cx="198120" cy="0"/>
          </a:xfrm>
          <a:prstGeom xmlns:a="http://schemas.openxmlformats.org/drawingml/2006/main" prst="straightConnector1">
            <a:avLst/>
          </a:prstGeom>
          <a:ln xmlns:a="http://schemas.openxmlformats.org/drawingml/2006/main" w="19050">
            <a:solidFill>
              <a:srgbClr val="42634B"/>
            </a:solidFill>
            <a:tailEnd type="arrow" w="med" len="med"/>
          </a:ln>
        </p:spPr>
      </p:cxnSp>
      <p:cxnSp>
        <p:nvCxnSpPr>
          <p:cNvPr id="39" name="">
            <a:extLst xmlns:a="http://schemas.openxmlformats.org/drawingml/2006/main">
              <a:ext uri="{FF2B5EF4-FFF2-40B4-BE49-F238E27FC236}">
                <a16:creationId xmlns:a16="http://schemas.microsoft.com/office/drawing/2014/main" id="{8283159D-A16E-4835-8B72-F29F0F84C8D5}"/>
              </a:ext>
            </a:extLst>
          </p:cNvPr>
          <p:cNvCxnSpPr>
            <a:stCxn xmlns:a="http://schemas.openxmlformats.org/drawingml/2006/main" id="13" idx="3"/>
            <a:endCxn xmlns:a="http://schemas.openxmlformats.org/drawingml/2006/main" id="16" idx="1"/>
          </p:cNvCxnSpPr>
          <p:nvPr/>
        </p:nvCxnSpPr>
        <p:spPr>
          <a:xfrm xmlns:a="http://schemas.openxmlformats.org/drawingml/2006/main">
            <a:off x="86042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8" name="">
            <a:extLst xmlns:a="http://schemas.openxmlformats.org/drawingml/2006/main">
              <a:ext uri="{FF2B5EF4-FFF2-40B4-BE49-F238E27FC236}">
                <a16:creationId xmlns:a16="http://schemas.microsoft.com/office/drawing/2014/main" id="{222212D5-BEDF-4BB4-BE7D-52D07C071401}"/>
              </a:ext>
            </a:extLst>
          </p:cNvPr>
          <p:cNvCxnSpPr>
            <a:stCxn xmlns:a="http://schemas.openxmlformats.org/drawingml/2006/main" id="10" idx="3"/>
            <a:endCxn xmlns:a="http://schemas.openxmlformats.org/drawingml/2006/main" id="13" idx="1"/>
          </p:cNvCxnSpPr>
          <p:nvPr/>
        </p:nvCxnSpPr>
        <p:spPr>
          <a:xfrm xmlns:a="http://schemas.openxmlformats.org/drawingml/2006/main">
            <a:off x="558800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cxnSp>
        <p:nvCxnSpPr>
          <p:cNvPr id="37" name="">
            <a:extLst xmlns:a="http://schemas.openxmlformats.org/drawingml/2006/main">
              <a:ext uri="{FF2B5EF4-FFF2-40B4-BE49-F238E27FC236}">
                <a16:creationId xmlns:a16="http://schemas.microsoft.com/office/drawing/2014/main" id="{163E55DB-EF16-4BE4-9509-FB16A38F9B38}"/>
              </a:ext>
            </a:extLst>
          </p:cNvPr>
          <p:cNvCxnSpPr>
            <a:stCxn xmlns:a="http://schemas.openxmlformats.org/drawingml/2006/main" id="7" idx="3"/>
            <a:endCxn xmlns:a="http://schemas.openxmlformats.org/drawingml/2006/main" id="10" idx="1"/>
          </p:cNvCxnSpPr>
          <p:nvPr/>
        </p:nvCxnSpPr>
        <p:spPr>
          <a:xfrm xmlns:a="http://schemas.openxmlformats.org/drawingml/2006/main">
            <a:off x="2571750" y="2352675"/>
            <a:ext cx="1016000" cy="0"/>
          </a:xfrm>
          <a:prstGeom xmlns:a="http://schemas.openxmlformats.org/drawingml/2006/main" prst="straightConnector1">
            <a:avLst/>
          </a:prstGeom>
          <a:ln xmlns:a="http://schemas.openxmlformats.org/drawingml/2006/main" w="19050">
            <a:solidFill>
              <a:srgbClr val="917B51"/>
            </a:solidFill>
            <a:tailEnd type="arrow" w="med" len="med"/>
          </a:ln>
        </p:spPr>
      </p:cxnSp>
      <p:sp>
        <p:nvSpPr>
          <p:cNvPr id="47" name="">
            <a:extLst xmlns:a="http://schemas.openxmlformats.org/drawingml/2006/main">
              <a:ext uri="{FF2B5EF4-FFF2-40B4-BE49-F238E27FC236}">
                <a16:creationId xmlns:a16="http://schemas.microsoft.com/office/drawing/2014/main" id="{499FDF91-E088-40E8-964F-A6DF84F3127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AX26 / 지식 갱신·검색·근거 응답</a:t>
            </a:r>
          </a:p>
        </p:txBody>
      </p:sp>
      <p:sp>
        <p:nvSpPr>
          <p:cNvPr id="2" name="">
            <a:extLst xmlns:a="http://schemas.openxmlformats.org/drawingml/2006/main">
              <a:ext uri="{FF2B5EF4-FFF2-40B4-BE49-F238E27FC236}">
                <a16:creationId xmlns:a16="http://schemas.microsoft.com/office/drawing/2014/main" id="{F27444D4-743E-4522-8A73-9B1334E21A5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교육행정 응대 AI PoC · 세부 서비스 구조</a:t>
            </a:r>
          </a:p>
        </p:txBody>
      </p:sp>
      <p:sp>
        <p:nvSpPr>
          <p:cNvPr id="3" name="">
            <a:extLst xmlns:a="http://schemas.openxmlformats.org/drawingml/2006/main">
              <a:ext uri="{FF2B5EF4-FFF2-40B4-BE49-F238E27FC236}">
                <a16:creationId xmlns:a16="http://schemas.microsoft.com/office/drawing/2014/main" id="{CB04150F-6D1A-41C3-AD6F-76D0C742498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E621A15-A859-4CC6-9778-39232E8AA29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84384EB-4EB9-421D-BA54-C93BCC9CB26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135</a:t>
            </a:r>
          </a:p>
        </p:txBody>
      </p:sp>
      <p:sp>
        <p:nvSpPr>
          <p:cNvPr id="6" name="">
            <a:extLst xmlns:a="http://schemas.openxmlformats.org/drawingml/2006/main">
              <a:ext uri="{FF2B5EF4-FFF2-40B4-BE49-F238E27FC236}">
                <a16:creationId xmlns:a16="http://schemas.microsoft.com/office/drawing/2014/main" id="{31317A95-6962-4464-97B6-A3F03A37BF00}"/>
              </a:ext>
            </a:extLst>
          </p:cNvPr>
          <p:cNvSpPr>
            <a:spLocks xmlns:a="http://schemas.openxmlformats.org/drawingml/2006/main" noGrp="1"/>
          </p:cNvSpPr>
          <p:nvPr/>
        </p:nvSpPr>
        <p:spPr>
          <a:xfrm xmlns:a="http://schemas.openxmlformats.org/drawingml/2006/main">
            <a:off x="571500" y="1438275"/>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42634B"/>
                </a:solidFill>
                <a:latin typeface="Pretendard"/>
                <a:ea typeface="Pretendard"/>
                <a:cs typeface="Pretendard"/>
              </a:defRPr>
            </a:defPPr>
            <a:lvl1pPr>
              <a:defRPr sz="1350" b="0">
                <a:solidFill>
                  <a:srgbClr val="42634B"/>
                </a:solidFill>
                <a:latin typeface="Pretendard"/>
                <a:ea typeface="Pretendard"/>
                <a:cs typeface="Pretendard"/>
              </a:defRPr>
            </a:lvl1pPr>
            <a:lvl2pPr>
              <a:defRPr sz="1350" b="0">
                <a:solidFill>
                  <a:srgbClr val="42634B"/>
                </a:solidFill>
                <a:latin typeface="Pretendard"/>
                <a:ea typeface="Pretendard"/>
                <a:cs typeface="Pretendard"/>
              </a:defRPr>
            </a:lvl2pPr>
            <a:lvl3pPr>
              <a:defRPr sz="1350" b="0">
                <a:solidFill>
                  <a:srgbClr val="42634B"/>
                </a:solidFill>
                <a:latin typeface="Pretendard"/>
                <a:ea typeface="Pretendard"/>
                <a:cs typeface="Pretendard"/>
              </a:defRPr>
            </a:lvl3pPr>
            <a:lvl4pPr>
              <a:defRPr sz="1350" b="0">
                <a:solidFill>
                  <a:srgbClr val="42634B"/>
                </a:solidFill>
                <a:latin typeface="Pretendard"/>
                <a:ea typeface="Pretendard"/>
                <a:cs typeface="Pretendard"/>
              </a:defRPr>
            </a:lvl4pPr>
            <a:lvl5pPr>
              <a:defRPr sz="1350" b="0">
                <a:solidFill>
                  <a:srgbClr val="42634B"/>
                </a:solidFill>
                <a:latin typeface="Pretendard"/>
                <a:ea typeface="Pretendard"/>
                <a:cs typeface="Pretendard"/>
              </a:defRPr>
            </a:lvl5pPr>
            <a:lvl6pPr>
              <a:defRPr sz="1350" b="0">
                <a:solidFill>
                  <a:srgbClr val="42634B"/>
                </a:solidFill>
                <a:latin typeface="Pretendard"/>
                <a:ea typeface="Pretendard"/>
                <a:cs typeface="Pretendard"/>
              </a:defRPr>
            </a:lvl6pPr>
            <a:lvl7pPr>
              <a:defRPr sz="1350" b="0">
                <a:solidFill>
                  <a:srgbClr val="42634B"/>
                </a:solidFill>
                <a:latin typeface="Pretendard"/>
                <a:ea typeface="Pretendard"/>
                <a:cs typeface="Pretendard"/>
              </a:defRPr>
            </a:lvl7pPr>
            <a:lvl8pPr>
              <a:defRPr sz="1350" b="0">
                <a:solidFill>
                  <a:srgbClr val="42634B"/>
                </a:solidFill>
                <a:latin typeface="Pretendard"/>
                <a:ea typeface="Pretendard"/>
                <a:cs typeface="Pretendard"/>
              </a:defRPr>
            </a:lvl8pPr>
            <a:lvl9pPr>
              <a:defRPr sz="1350" b="0">
                <a:solidFill>
                  <a:srgbClr val="42634B"/>
                </a:solidFill>
                <a:latin typeface="Pretendard"/>
                <a:ea typeface="Pretendard"/>
                <a:cs typeface="Pretendard"/>
              </a:defRPr>
            </a:lvl9pPr>
          </a:lstStyle>
          <a:p xmlns:a="http://schemas.openxmlformats.org/drawingml/2006/main">
            <a:pPr>
              <a:defRPr sz="1350" b="0">
                <a:solidFill>
                  <a:srgbClr val="42634B"/>
                </a:solidFill>
                <a:latin typeface="Pretendard"/>
                <a:ea typeface="Pretendard"/>
                <a:cs typeface="Pretendard"/>
              </a:defRPr>
            </a:pPr>
            <a:r>
              <a:rPr sz="1350" b="0">
                <a:solidFill>
                  <a:srgbClr val="42634B"/>
                </a:solidFill>
                <a:latin typeface="Pretendard"/>
                <a:ea typeface="Pretendard"/>
                <a:cs typeface="Pretendard"/>
              </a:rPr>
              <a:t>학교급별 지침 → 문서 전처리·RAG → 근거 페이지 답변 → 교직원 검증</a:t>
            </a:r>
          </a:p>
        </p:txBody>
      </p:sp>
      <p:sp>
        <p:nvSpPr>
          <p:cNvPr id="7" name="">
            <a:extLst xmlns:a="http://schemas.openxmlformats.org/drawingml/2006/main">
              <a:ext uri="{FF2B5EF4-FFF2-40B4-BE49-F238E27FC236}">
                <a16:creationId xmlns:a16="http://schemas.microsoft.com/office/drawing/2014/main" id="{7894DE52-8069-455D-89E7-D0E7B300B3FE}"/>
              </a:ext>
            </a:extLst>
          </p:cNvPr>
          <p:cNvSpPr>
            <a:spLocks xmlns:a="http://schemas.openxmlformats.org/drawingml/2006/main" noGrp="1"/>
          </p:cNvSpPr>
          <p:nvPr/>
        </p:nvSpPr>
        <p:spPr>
          <a:xfrm xmlns:a="http://schemas.openxmlformats.org/drawingml/2006/main">
            <a:off x="5715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8" name="">
            <a:extLst xmlns:a="http://schemas.openxmlformats.org/drawingml/2006/main">
              <a:ext uri="{FF2B5EF4-FFF2-40B4-BE49-F238E27FC236}">
                <a16:creationId xmlns:a16="http://schemas.microsoft.com/office/drawing/2014/main" id="{47AEE41F-9C7A-47D3-ACC0-5192D01F9EC6}"/>
              </a:ext>
            </a:extLst>
          </p:cNvPr>
          <p:cNvSpPr>
            <a:spLocks xmlns:a="http://schemas.openxmlformats.org/drawingml/2006/main" noGrp="1"/>
          </p:cNvSpPr>
          <p:nvPr/>
        </p:nvSpPr>
        <p:spPr>
          <a:xfrm xmlns:a="http://schemas.openxmlformats.org/drawingml/2006/main">
            <a:off x="6667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C09 / 데이터 원천</a:t>
            </a:r>
          </a:p>
        </p:txBody>
      </p:sp>
      <p:sp>
        <p:nvSpPr>
          <p:cNvPr id="9" name="">
            <a:extLst xmlns:a="http://schemas.openxmlformats.org/drawingml/2006/main">
              <a:ext uri="{FF2B5EF4-FFF2-40B4-BE49-F238E27FC236}">
                <a16:creationId xmlns:a16="http://schemas.microsoft.com/office/drawing/2014/main" id="{927BFD5A-1655-452E-8B87-95C120134C4A}"/>
              </a:ext>
            </a:extLst>
          </p:cNvPr>
          <p:cNvSpPr>
            <a:spLocks xmlns:a="http://schemas.openxmlformats.org/drawingml/2006/main" noGrp="1"/>
          </p:cNvSpPr>
          <p:nvPr/>
        </p:nvSpPr>
        <p:spPr>
          <a:xfrm xmlns:a="http://schemas.openxmlformats.org/drawingml/2006/main">
            <a:off x="6667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지침·질의응답</a:t>
            </a:r>
          </a:p>
        </p:txBody>
      </p:sp>
      <p:sp>
        <p:nvSpPr>
          <p:cNvPr id="10" name="">
            <a:extLst xmlns:a="http://schemas.openxmlformats.org/drawingml/2006/main">
              <a:ext uri="{FF2B5EF4-FFF2-40B4-BE49-F238E27FC236}">
                <a16:creationId xmlns:a16="http://schemas.microsoft.com/office/drawing/2014/main" id="{1DE98AFD-C9F1-4EF9-BC7F-6EA15E48C310}"/>
              </a:ext>
            </a:extLst>
          </p:cNvPr>
          <p:cNvSpPr>
            <a:spLocks xmlns:a="http://schemas.openxmlformats.org/drawingml/2006/main" noGrp="1"/>
          </p:cNvSpPr>
          <p:nvPr/>
        </p:nvSpPr>
        <p:spPr>
          <a:xfrm xmlns:a="http://schemas.openxmlformats.org/drawingml/2006/main">
            <a:off x="358775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1" name="">
            <a:extLst xmlns:a="http://schemas.openxmlformats.org/drawingml/2006/main">
              <a:ext uri="{FF2B5EF4-FFF2-40B4-BE49-F238E27FC236}">
                <a16:creationId xmlns:a16="http://schemas.microsoft.com/office/drawing/2014/main" id="{1147C09B-AB18-40B7-BBD6-38D7DED68230}"/>
              </a:ext>
            </a:extLst>
          </p:cNvPr>
          <p:cNvSpPr>
            <a:spLocks xmlns:a="http://schemas.openxmlformats.org/drawingml/2006/main" noGrp="1"/>
          </p:cNvSpPr>
          <p:nvPr/>
        </p:nvSpPr>
        <p:spPr>
          <a:xfrm xmlns:a="http://schemas.openxmlformats.org/drawingml/2006/main">
            <a:off x="36830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C10 / 준비·갱신</a:t>
            </a:r>
          </a:p>
        </p:txBody>
      </p:sp>
      <p:sp>
        <p:nvSpPr>
          <p:cNvPr id="12" name="">
            <a:extLst xmlns:a="http://schemas.openxmlformats.org/drawingml/2006/main">
              <a:ext uri="{FF2B5EF4-FFF2-40B4-BE49-F238E27FC236}">
                <a16:creationId xmlns:a16="http://schemas.microsoft.com/office/drawing/2014/main" id="{B3F46E07-C3D0-4896-9520-5503EE9C509B}"/>
              </a:ext>
            </a:extLst>
          </p:cNvPr>
          <p:cNvSpPr>
            <a:spLocks xmlns:a="http://schemas.openxmlformats.org/drawingml/2006/main" noGrp="1"/>
          </p:cNvSpPr>
          <p:nvPr/>
        </p:nvSpPr>
        <p:spPr>
          <a:xfrm xmlns:a="http://schemas.openxmlformats.org/drawingml/2006/main">
            <a:off x="36830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페이지·판본 색인</a:t>
            </a:r>
          </a:p>
        </p:txBody>
      </p:sp>
      <p:sp>
        <p:nvSpPr>
          <p:cNvPr id="13" name="">
            <a:extLst xmlns:a="http://schemas.openxmlformats.org/drawingml/2006/main">
              <a:ext uri="{FF2B5EF4-FFF2-40B4-BE49-F238E27FC236}">
                <a16:creationId xmlns:a16="http://schemas.microsoft.com/office/drawing/2014/main" id="{99A5FC21-973B-42BF-AF49-EBB38ED028AD}"/>
              </a:ext>
            </a:extLst>
          </p:cNvPr>
          <p:cNvSpPr>
            <a:spLocks xmlns:a="http://schemas.openxmlformats.org/drawingml/2006/main" noGrp="1"/>
          </p:cNvSpPr>
          <p:nvPr/>
        </p:nvSpPr>
        <p:spPr>
          <a:xfrm xmlns:a="http://schemas.openxmlformats.org/drawingml/2006/main">
            <a:off x="6604000" y="1800225"/>
            <a:ext cx="2000250" cy="1104900"/>
          </a:xfrm>
          <a:prstGeom xmlns:a="http://schemas.openxmlformats.org/drawingml/2006/main" prst="rect">
            <a:avLst/>
          </a:prstGeom>
          <a:solidFill xmlns:a="http://schemas.openxmlformats.org/drawingml/2006/main">
            <a:srgbClr val="F5F2EA"/>
          </a:solidFill>
          <a:ln xmlns:a="http://schemas.openxmlformats.org/drawingml/2006/main" w="9525">
            <a:solidFill>
              <a:srgbClr val="D4DDD5"/>
            </a:solidFill>
          </a:ln>
        </p:spPr>
      </p:sp>
      <p:sp>
        <p:nvSpPr>
          <p:cNvPr id="14" name="">
            <a:extLst xmlns:a="http://schemas.openxmlformats.org/drawingml/2006/main">
              <a:ext uri="{FF2B5EF4-FFF2-40B4-BE49-F238E27FC236}">
                <a16:creationId xmlns:a16="http://schemas.microsoft.com/office/drawing/2014/main" id="{FB4BFD17-9938-49F3-980A-6101F72AA0B4}"/>
              </a:ext>
            </a:extLst>
          </p:cNvPr>
          <p:cNvSpPr>
            <a:spLocks xmlns:a="http://schemas.openxmlformats.org/drawingml/2006/main" noGrp="1"/>
          </p:cNvSpPr>
          <p:nvPr/>
        </p:nvSpPr>
        <p:spPr>
          <a:xfrm xmlns:a="http://schemas.openxmlformats.org/drawingml/2006/main">
            <a:off x="669925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C11 / 상태·지식 저장</a:t>
            </a:r>
          </a:p>
        </p:txBody>
      </p:sp>
      <p:sp>
        <p:nvSpPr>
          <p:cNvPr id="15" name="">
            <a:extLst xmlns:a="http://schemas.openxmlformats.org/drawingml/2006/main">
              <a:ext uri="{FF2B5EF4-FFF2-40B4-BE49-F238E27FC236}">
                <a16:creationId xmlns:a16="http://schemas.microsoft.com/office/drawing/2014/main" id="{B2429C30-8F8E-4284-89BC-F5D0C6BDED20}"/>
              </a:ext>
            </a:extLst>
          </p:cNvPr>
          <p:cNvSpPr>
            <a:spLocks xmlns:a="http://schemas.openxmlformats.org/drawingml/2006/main" noGrp="1"/>
          </p:cNvSpPr>
          <p:nvPr/>
        </p:nvSpPr>
        <p:spPr>
          <a:xfrm xmlns:a="http://schemas.openxmlformats.org/drawingml/2006/main">
            <a:off x="669925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지침·평가셋</a:t>
            </a:r>
          </a:p>
        </p:txBody>
      </p:sp>
      <p:sp>
        <p:nvSpPr>
          <p:cNvPr id="16" name="">
            <a:extLst xmlns:a="http://schemas.openxmlformats.org/drawingml/2006/main">
              <a:ext uri="{FF2B5EF4-FFF2-40B4-BE49-F238E27FC236}">
                <a16:creationId xmlns:a16="http://schemas.microsoft.com/office/drawing/2014/main" id="{B0C2BE63-1566-4F24-B39D-418BB4EB164B}"/>
              </a:ext>
            </a:extLst>
          </p:cNvPr>
          <p:cNvSpPr>
            <a:spLocks xmlns:a="http://schemas.openxmlformats.org/drawingml/2006/main" noGrp="1"/>
          </p:cNvSpPr>
          <p:nvPr/>
        </p:nvSpPr>
        <p:spPr>
          <a:xfrm xmlns:a="http://schemas.openxmlformats.org/drawingml/2006/main">
            <a:off x="9620250" y="1800225"/>
            <a:ext cx="200025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17" name="">
            <a:extLst xmlns:a="http://schemas.openxmlformats.org/drawingml/2006/main">
              <a:ext uri="{FF2B5EF4-FFF2-40B4-BE49-F238E27FC236}">
                <a16:creationId xmlns:a16="http://schemas.microsoft.com/office/drawing/2014/main" id="{344316B4-5491-44D9-8087-C8030796439F}"/>
              </a:ext>
            </a:extLst>
          </p:cNvPr>
          <p:cNvSpPr>
            <a:spLocks xmlns:a="http://schemas.openxmlformats.org/drawingml/2006/main" noGrp="1"/>
          </p:cNvSpPr>
          <p:nvPr/>
        </p:nvSpPr>
        <p:spPr>
          <a:xfrm xmlns:a="http://schemas.openxmlformats.org/drawingml/2006/main">
            <a:off x="9715500" y="1895475"/>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C03 / 자료 조회</a:t>
            </a:r>
          </a:p>
        </p:txBody>
      </p:sp>
      <p:sp>
        <p:nvSpPr>
          <p:cNvPr id="18" name="">
            <a:extLst xmlns:a="http://schemas.openxmlformats.org/drawingml/2006/main">
              <a:ext uri="{FF2B5EF4-FFF2-40B4-BE49-F238E27FC236}">
                <a16:creationId xmlns:a16="http://schemas.microsoft.com/office/drawing/2014/main" id="{0A8D3376-6B0F-4A0A-88FC-E92CE7CE77E9}"/>
              </a:ext>
            </a:extLst>
          </p:cNvPr>
          <p:cNvSpPr>
            <a:spLocks xmlns:a="http://schemas.openxmlformats.org/drawingml/2006/main" noGrp="1"/>
          </p:cNvSpPr>
          <p:nvPr/>
        </p:nvSpPr>
        <p:spPr>
          <a:xfrm xmlns:a="http://schemas.openxmlformats.org/drawingml/2006/main">
            <a:off x="9715500" y="2209800"/>
            <a:ext cx="1809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유효 지침 검색</a:t>
            </a:r>
          </a:p>
        </p:txBody>
      </p:sp>
      <p:sp>
        <p:nvSpPr>
          <p:cNvPr id="19" name="">
            <a:extLst xmlns:a="http://schemas.openxmlformats.org/drawingml/2006/main">
              <a:ext uri="{FF2B5EF4-FFF2-40B4-BE49-F238E27FC236}">
                <a16:creationId xmlns:a16="http://schemas.microsoft.com/office/drawing/2014/main" id="{2785E0D8-FAB0-491F-A57B-BAE2198B9349}"/>
              </a:ext>
            </a:extLst>
          </p:cNvPr>
          <p:cNvSpPr>
            <a:spLocks xmlns:a="http://schemas.openxmlformats.org/drawingml/2006/main" noGrp="1"/>
          </p:cNvSpPr>
          <p:nvPr/>
        </p:nvSpPr>
        <p:spPr>
          <a:xfrm xmlns:a="http://schemas.openxmlformats.org/drawingml/2006/main">
            <a:off x="5715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0" name="">
            <a:extLst xmlns:a="http://schemas.openxmlformats.org/drawingml/2006/main">
              <a:ext uri="{FF2B5EF4-FFF2-40B4-BE49-F238E27FC236}">
                <a16:creationId xmlns:a16="http://schemas.microsoft.com/office/drawing/2014/main" id="{8F2AED31-877C-45FA-8D76-43CAF7E11124}"/>
              </a:ext>
            </a:extLst>
          </p:cNvPr>
          <p:cNvSpPr>
            <a:spLocks xmlns:a="http://schemas.openxmlformats.org/drawingml/2006/main" noGrp="1"/>
          </p:cNvSpPr>
          <p:nvPr/>
        </p:nvSpPr>
        <p:spPr>
          <a:xfrm xmlns:a="http://schemas.openxmlformats.org/drawingml/2006/main">
            <a:off x="6667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C01 / 이용 접점</a:t>
            </a:r>
          </a:p>
        </p:txBody>
      </p:sp>
      <p:sp>
        <p:nvSpPr>
          <p:cNvPr id="21" name="">
            <a:extLst xmlns:a="http://schemas.openxmlformats.org/drawingml/2006/main">
              <a:ext uri="{FF2B5EF4-FFF2-40B4-BE49-F238E27FC236}">
                <a16:creationId xmlns:a16="http://schemas.microsoft.com/office/drawing/2014/main" id="{19B6738C-70AC-4E68-8127-ACF346BF73A1}"/>
              </a:ext>
            </a:extLst>
          </p:cNvPr>
          <p:cNvSpPr>
            <a:spLocks xmlns:a="http://schemas.openxmlformats.org/drawingml/2006/main" noGrp="1"/>
          </p:cNvSpPr>
          <p:nvPr/>
        </p:nvSpPr>
        <p:spPr>
          <a:xfrm xmlns:a="http://schemas.openxmlformats.org/drawingml/2006/main">
            <a:off x="6667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교직원 질의</a:t>
            </a:r>
          </a:p>
        </p:txBody>
      </p:sp>
      <p:sp>
        <p:nvSpPr>
          <p:cNvPr id="22" name="">
            <a:extLst xmlns:a="http://schemas.openxmlformats.org/drawingml/2006/main">
              <a:ext uri="{FF2B5EF4-FFF2-40B4-BE49-F238E27FC236}">
                <a16:creationId xmlns:a16="http://schemas.microsoft.com/office/drawing/2014/main" id="{C4F74E92-8EA8-4007-B652-2D4AAAB7FBF0}"/>
              </a:ext>
            </a:extLst>
          </p:cNvPr>
          <p:cNvSpPr>
            <a:spLocks xmlns:a="http://schemas.openxmlformats.org/drawingml/2006/main" noGrp="1"/>
          </p:cNvSpPr>
          <p:nvPr/>
        </p:nvSpPr>
        <p:spPr>
          <a:xfrm xmlns:a="http://schemas.openxmlformats.org/drawingml/2006/main">
            <a:off x="244602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3" name="">
            <a:extLst xmlns:a="http://schemas.openxmlformats.org/drawingml/2006/main">
              <a:ext uri="{FF2B5EF4-FFF2-40B4-BE49-F238E27FC236}">
                <a16:creationId xmlns:a16="http://schemas.microsoft.com/office/drawing/2014/main" id="{C0988297-4956-48DD-B98B-BF2D6A8C0F0A}"/>
              </a:ext>
            </a:extLst>
          </p:cNvPr>
          <p:cNvSpPr>
            <a:spLocks xmlns:a="http://schemas.openxmlformats.org/drawingml/2006/main" noGrp="1"/>
          </p:cNvSpPr>
          <p:nvPr/>
        </p:nvSpPr>
        <p:spPr>
          <a:xfrm xmlns:a="http://schemas.openxmlformats.org/drawingml/2006/main">
            <a:off x="254127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C02 / 업무 문맥</a:t>
            </a:r>
          </a:p>
        </p:txBody>
      </p:sp>
      <p:sp>
        <p:nvSpPr>
          <p:cNvPr id="24" name="">
            <a:extLst xmlns:a="http://schemas.openxmlformats.org/drawingml/2006/main">
              <a:ext uri="{FF2B5EF4-FFF2-40B4-BE49-F238E27FC236}">
                <a16:creationId xmlns:a16="http://schemas.microsoft.com/office/drawing/2014/main" id="{9EB55D5F-A237-43C0-86BE-59EA34684C8F}"/>
              </a:ext>
            </a:extLst>
          </p:cNvPr>
          <p:cNvSpPr>
            <a:spLocks xmlns:a="http://schemas.openxmlformats.org/drawingml/2006/main" noGrp="1"/>
          </p:cNvSpPr>
          <p:nvPr/>
        </p:nvSpPr>
        <p:spPr>
          <a:xfrm xmlns:a="http://schemas.openxmlformats.org/drawingml/2006/main">
            <a:off x="254127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학교급·학년도</a:t>
            </a:r>
          </a:p>
        </p:txBody>
      </p:sp>
      <p:sp>
        <p:nvSpPr>
          <p:cNvPr id="25" name="">
            <a:extLst xmlns:a="http://schemas.openxmlformats.org/drawingml/2006/main">
              <a:ext uri="{FF2B5EF4-FFF2-40B4-BE49-F238E27FC236}">
                <a16:creationId xmlns:a16="http://schemas.microsoft.com/office/drawing/2014/main" id="{A599C2EA-73B6-4000-9F47-F87AB4E1DCC8}"/>
              </a:ext>
            </a:extLst>
          </p:cNvPr>
          <p:cNvSpPr>
            <a:spLocks xmlns:a="http://schemas.openxmlformats.org/drawingml/2006/main" noGrp="1"/>
          </p:cNvSpPr>
          <p:nvPr/>
        </p:nvSpPr>
        <p:spPr>
          <a:xfrm xmlns:a="http://schemas.openxmlformats.org/drawingml/2006/main">
            <a:off x="432054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26" name="">
            <a:extLst xmlns:a="http://schemas.openxmlformats.org/drawingml/2006/main">
              <a:ext uri="{FF2B5EF4-FFF2-40B4-BE49-F238E27FC236}">
                <a16:creationId xmlns:a16="http://schemas.microsoft.com/office/drawing/2014/main" id="{7E83BE78-9116-4D6A-98BA-4A5E7AE12FA4}"/>
              </a:ext>
            </a:extLst>
          </p:cNvPr>
          <p:cNvSpPr>
            <a:spLocks xmlns:a="http://schemas.openxmlformats.org/drawingml/2006/main" noGrp="1"/>
          </p:cNvSpPr>
          <p:nvPr/>
        </p:nvSpPr>
        <p:spPr>
          <a:xfrm xmlns:a="http://schemas.openxmlformats.org/drawingml/2006/main">
            <a:off x="441579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C04 / 핵심 처리</a:t>
            </a:r>
          </a:p>
        </p:txBody>
      </p:sp>
      <p:sp>
        <p:nvSpPr>
          <p:cNvPr id="27" name="">
            <a:extLst xmlns:a="http://schemas.openxmlformats.org/drawingml/2006/main">
              <a:ext uri="{FF2B5EF4-FFF2-40B4-BE49-F238E27FC236}">
                <a16:creationId xmlns:a16="http://schemas.microsoft.com/office/drawing/2014/main" id="{6677986D-8F04-4400-9B37-1DE842056391}"/>
              </a:ext>
            </a:extLst>
          </p:cNvPr>
          <p:cNvSpPr>
            <a:spLocks xmlns:a="http://schemas.openxmlformats.org/drawingml/2006/main" noGrp="1"/>
          </p:cNvSpPr>
          <p:nvPr/>
        </p:nvSpPr>
        <p:spPr>
          <a:xfrm xmlns:a="http://schemas.openxmlformats.org/drawingml/2006/main">
            <a:off x="441579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근거 답변 생성</a:t>
            </a:r>
          </a:p>
        </p:txBody>
      </p:sp>
      <p:sp>
        <p:nvSpPr>
          <p:cNvPr id="28" name="">
            <a:extLst xmlns:a="http://schemas.openxmlformats.org/drawingml/2006/main">
              <a:ext uri="{FF2B5EF4-FFF2-40B4-BE49-F238E27FC236}">
                <a16:creationId xmlns:a16="http://schemas.microsoft.com/office/drawing/2014/main" id="{AEE37353-6A62-4AF2-A816-0D0D3832C968}"/>
              </a:ext>
            </a:extLst>
          </p:cNvPr>
          <p:cNvSpPr>
            <a:spLocks xmlns:a="http://schemas.openxmlformats.org/drawingml/2006/main" noGrp="1"/>
          </p:cNvSpPr>
          <p:nvPr/>
        </p:nvSpPr>
        <p:spPr>
          <a:xfrm xmlns:a="http://schemas.openxmlformats.org/drawingml/2006/main">
            <a:off x="6195060" y="4276725"/>
            <a:ext cx="1676400" cy="1104900"/>
          </a:xfrm>
          <a:prstGeom xmlns:a="http://schemas.openxmlformats.org/drawingml/2006/main" prst="rect">
            <a:avLst/>
          </a:prstGeom>
          <a:solidFill xmlns:a="http://schemas.openxmlformats.org/drawingml/2006/main">
            <a:srgbClr val="EEF0F8"/>
          </a:solidFill>
          <a:ln xmlns:a="http://schemas.openxmlformats.org/drawingml/2006/main" w="9525">
            <a:solidFill>
              <a:srgbClr val="D4DDD5"/>
            </a:solidFill>
          </a:ln>
        </p:spPr>
      </p:sp>
      <p:sp>
        <p:nvSpPr>
          <p:cNvPr id="29" name="">
            <a:extLst xmlns:a="http://schemas.openxmlformats.org/drawingml/2006/main">
              <a:ext uri="{FF2B5EF4-FFF2-40B4-BE49-F238E27FC236}">
                <a16:creationId xmlns:a16="http://schemas.microsoft.com/office/drawing/2014/main" id="{B53C9E29-EE17-463E-BB83-976AB3D9EB82}"/>
              </a:ext>
            </a:extLst>
          </p:cNvPr>
          <p:cNvSpPr>
            <a:spLocks xmlns:a="http://schemas.openxmlformats.org/drawingml/2006/main" noGrp="1"/>
          </p:cNvSpPr>
          <p:nvPr/>
        </p:nvSpPr>
        <p:spPr>
          <a:xfrm xmlns:a="http://schemas.openxmlformats.org/drawingml/2006/main">
            <a:off x="629031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C05 / 결과 검증</a:t>
            </a:r>
          </a:p>
        </p:txBody>
      </p:sp>
      <p:sp>
        <p:nvSpPr>
          <p:cNvPr id="30" name="">
            <a:extLst xmlns:a="http://schemas.openxmlformats.org/drawingml/2006/main">
              <a:ext uri="{FF2B5EF4-FFF2-40B4-BE49-F238E27FC236}">
                <a16:creationId xmlns:a16="http://schemas.microsoft.com/office/drawing/2014/main" id="{A7550075-6075-415E-A9E0-CA3FD0D8381E}"/>
              </a:ext>
            </a:extLst>
          </p:cNvPr>
          <p:cNvSpPr>
            <a:spLocks xmlns:a="http://schemas.openxmlformats.org/drawingml/2006/main" noGrp="1"/>
          </p:cNvSpPr>
          <p:nvPr/>
        </p:nvSpPr>
        <p:spPr>
          <a:xfrm xmlns:a="http://schemas.openxmlformats.org/drawingml/2006/main">
            <a:off x="629031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페이지·예외 대조</a:t>
            </a:r>
          </a:p>
        </p:txBody>
      </p:sp>
      <p:sp>
        <p:nvSpPr>
          <p:cNvPr id="31" name="">
            <a:extLst xmlns:a="http://schemas.openxmlformats.org/drawingml/2006/main">
              <a:ext uri="{FF2B5EF4-FFF2-40B4-BE49-F238E27FC236}">
                <a16:creationId xmlns:a16="http://schemas.microsoft.com/office/drawing/2014/main" id="{8C340A3B-1F42-4F5F-8FE1-B69CAEE035D9}"/>
              </a:ext>
            </a:extLst>
          </p:cNvPr>
          <p:cNvSpPr>
            <a:spLocks xmlns:a="http://schemas.openxmlformats.org/drawingml/2006/main" noGrp="1"/>
          </p:cNvSpPr>
          <p:nvPr/>
        </p:nvSpPr>
        <p:spPr>
          <a:xfrm xmlns:a="http://schemas.openxmlformats.org/drawingml/2006/main">
            <a:off x="806958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2" name="">
            <a:extLst xmlns:a="http://schemas.openxmlformats.org/drawingml/2006/main">
              <a:ext uri="{FF2B5EF4-FFF2-40B4-BE49-F238E27FC236}">
                <a16:creationId xmlns:a16="http://schemas.microsoft.com/office/drawing/2014/main" id="{9BED57AD-42E2-4142-80DE-3C8C688A4EFB}"/>
              </a:ext>
            </a:extLst>
          </p:cNvPr>
          <p:cNvSpPr>
            <a:spLocks xmlns:a="http://schemas.openxmlformats.org/drawingml/2006/main" noGrp="1"/>
          </p:cNvSpPr>
          <p:nvPr/>
        </p:nvSpPr>
        <p:spPr>
          <a:xfrm xmlns:a="http://schemas.openxmlformats.org/drawingml/2006/main">
            <a:off x="816483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C06 / 사람 확인</a:t>
            </a:r>
          </a:p>
        </p:txBody>
      </p:sp>
      <p:sp>
        <p:nvSpPr>
          <p:cNvPr id="33" name="">
            <a:extLst xmlns:a="http://schemas.openxmlformats.org/drawingml/2006/main">
              <a:ext uri="{FF2B5EF4-FFF2-40B4-BE49-F238E27FC236}">
                <a16:creationId xmlns:a16="http://schemas.microsoft.com/office/drawing/2014/main" id="{3E79AFC2-CB97-473D-8E7E-FA4E047316B5}"/>
              </a:ext>
            </a:extLst>
          </p:cNvPr>
          <p:cNvSpPr>
            <a:spLocks xmlns:a="http://schemas.openxmlformats.org/drawingml/2006/main" noGrp="1"/>
          </p:cNvSpPr>
          <p:nvPr/>
        </p:nvSpPr>
        <p:spPr>
          <a:xfrm xmlns:a="http://schemas.openxmlformats.org/drawingml/2006/main">
            <a:off x="816483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교직원 원문 확인</a:t>
            </a:r>
          </a:p>
        </p:txBody>
      </p:sp>
      <p:sp>
        <p:nvSpPr>
          <p:cNvPr id="34" name="">
            <a:extLst xmlns:a="http://schemas.openxmlformats.org/drawingml/2006/main">
              <a:ext uri="{FF2B5EF4-FFF2-40B4-BE49-F238E27FC236}">
                <a16:creationId xmlns:a16="http://schemas.microsoft.com/office/drawing/2014/main" id="{97867C21-7BAE-44E2-81AC-BC9E44E88493}"/>
              </a:ext>
            </a:extLst>
          </p:cNvPr>
          <p:cNvSpPr>
            <a:spLocks xmlns:a="http://schemas.openxmlformats.org/drawingml/2006/main" noGrp="1"/>
          </p:cNvSpPr>
          <p:nvPr/>
        </p:nvSpPr>
        <p:spPr>
          <a:xfrm xmlns:a="http://schemas.openxmlformats.org/drawingml/2006/main">
            <a:off x="9944100" y="4276725"/>
            <a:ext cx="1676400" cy="1104900"/>
          </a:xfrm>
          <a:prstGeom xmlns:a="http://schemas.openxmlformats.org/drawingml/2006/main" prst="rect">
            <a:avLst/>
          </a:prstGeom>
          <a:solidFill xmlns:a="http://schemas.openxmlformats.org/drawingml/2006/main">
            <a:srgbClr val="FFFFFF"/>
          </a:solidFill>
          <a:ln xmlns:a="http://schemas.openxmlformats.org/drawingml/2006/main" w="9525">
            <a:solidFill>
              <a:srgbClr val="D4DDD5"/>
            </a:solidFill>
          </a:ln>
        </p:spPr>
      </p:sp>
      <p:sp>
        <p:nvSpPr>
          <p:cNvPr id="35" name="">
            <a:extLst xmlns:a="http://schemas.openxmlformats.org/drawingml/2006/main">
              <a:ext uri="{FF2B5EF4-FFF2-40B4-BE49-F238E27FC236}">
                <a16:creationId xmlns:a16="http://schemas.microsoft.com/office/drawing/2014/main" id="{217F990D-CE74-4443-B65D-F26340290059}"/>
              </a:ext>
            </a:extLst>
          </p:cNvPr>
          <p:cNvSpPr>
            <a:spLocks xmlns:a="http://schemas.openxmlformats.org/drawingml/2006/main" noGrp="1"/>
          </p:cNvSpPr>
          <p:nvPr/>
        </p:nvSpPr>
        <p:spPr>
          <a:xfrm xmlns:a="http://schemas.openxmlformats.org/drawingml/2006/main">
            <a:off x="10039350" y="4371975"/>
            <a:ext cx="14859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87369"/>
                </a:solidFill>
                <a:latin typeface="Pretendard"/>
                <a:ea typeface="Pretendard"/>
                <a:cs typeface="Pretendard"/>
              </a:defRPr>
            </a:defPPr>
            <a:lvl1pPr>
              <a:defRPr sz="1050" b="0">
                <a:solidFill>
                  <a:srgbClr val="687369"/>
                </a:solidFill>
                <a:latin typeface="Pretendard"/>
                <a:ea typeface="Pretendard"/>
                <a:cs typeface="Pretendard"/>
              </a:defRPr>
            </a:lvl1pPr>
            <a:lvl2pPr>
              <a:defRPr sz="1050" b="0">
                <a:solidFill>
                  <a:srgbClr val="687369"/>
                </a:solidFill>
                <a:latin typeface="Pretendard"/>
                <a:ea typeface="Pretendard"/>
                <a:cs typeface="Pretendard"/>
              </a:defRPr>
            </a:lvl2pPr>
            <a:lvl3pPr>
              <a:defRPr sz="1050" b="0">
                <a:solidFill>
                  <a:srgbClr val="687369"/>
                </a:solidFill>
                <a:latin typeface="Pretendard"/>
                <a:ea typeface="Pretendard"/>
                <a:cs typeface="Pretendard"/>
              </a:defRPr>
            </a:lvl3pPr>
            <a:lvl4pPr>
              <a:defRPr sz="1050" b="0">
                <a:solidFill>
                  <a:srgbClr val="687369"/>
                </a:solidFill>
                <a:latin typeface="Pretendard"/>
                <a:ea typeface="Pretendard"/>
                <a:cs typeface="Pretendard"/>
              </a:defRPr>
            </a:lvl4pPr>
            <a:lvl5pPr>
              <a:defRPr sz="1050" b="0">
                <a:solidFill>
                  <a:srgbClr val="687369"/>
                </a:solidFill>
                <a:latin typeface="Pretendard"/>
                <a:ea typeface="Pretendard"/>
                <a:cs typeface="Pretendard"/>
              </a:defRPr>
            </a:lvl5pPr>
            <a:lvl6pPr>
              <a:defRPr sz="1050" b="0">
                <a:solidFill>
                  <a:srgbClr val="687369"/>
                </a:solidFill>
                <a:latin typeface="Pretendard"/>
                <a:ea typeface="Pretendard"/>
                <a:cs typeface="Pretendard"/>
              </a:defRPr>
            </a:lvl6pPr>
            <a:lvl7pPr>
              <a:defRPr sz="1050" b="0">
                <a:solidFill>
                  <a:srgbClr val="687369"/>
                </a:solidFill>
                <a:latin typeface="Pretendard"/>
                <a:ea typeface="Pretendard"/>
                <a:cs typeface="Pretendard"/>
              </a:defRPr>
            </a:lvl7pPr>
            <a:lvl8pPr>
              <a:defRPr sz="1050" b="0">
                <a:solidFill>
                  <a:srgbClr val="687369"/>
                </a:solidFill>
                <a:latin typeface="Pretendard"/>
                <a:ea typeface="Pretendard"/>
                <a:cs typeface="Pretendard"/>
              </a:defRPr>
            </a:lvl8pPr>
            <a:lvl9pPr>
              <a:defRPr sz="1050" b="0">
                <a:solidFill>
                  <a:srgbClr val="687369"/>
                </a:solidFill>
                <a:latin typeface="Pretendard"/>
                <a:ea typeface="Pretendard"/>
                <a:cs typeface="Pretendard"/>
              </a:defRPr>
            </a:lvl9pPr>
          </a:lstStyle>
          <a:p xmlns:a="http://schemas.openxmlformats.org/drawingml/2006/main">
            <a:pPr>
              <a:defRPr sz="1050" b="0">
                <a:solidFill>
                  <a:srgbClr val="687369"/>
                </a:solidFill>
                <a:latin typeface="Pretendard"/>
                <a:ea typeface="Pretendard"/>
                <a:cs typeface="Pretendard"/>
              </a:defRPr>
            </a:pPr>
            <a:r>
              <a:rPr sz="1050" b="0">
                <a:solidFill>
                  <a:srgbClr val="687369"/>
                </a:solidFill>
                <a:latin typeface="Pretendard"/>
                <a:ea typeface="Pretendard"/>
                <a:cs typeface="Pretendard"/>
              </a:rPr>
              <a:t>C07 / 업무 연결</a:t>
            </a:r>
          </a:p>
        </p:txBody>
      </p:sp>
      <p:sp>
        <p:nvSpPr>
          <p:cNvPr id="36" name="">
            <a:extLst xmlns:a="http://schemas.openxmlformats.org/drawingml/2006/main">
              <a:ext uri="{FF2B5EF4-FFF2-40B4-BE49-F238E27FC236}">
                <a16:creationId xmlns:a16="http://schemas.microsoft.com/office/drawing/2014/main" id="{C1A64A30-1A93-4CDC-979D-01BF47EFB597}"/>
              </a:ext>
            </a:extLst>
          </p:cNvPr>
          <p:cNvSpPr>
            <a:spLocks xmlns:a="http://schemas.openxmlformats.org/drawingml/2006/main" noGrp="1"/>
          </p:cNvSpPr>
          <p:nvPr/>
        </p:nvSpPr>
        <p:spPr>
          <a:xfrm xmlns:a="http://schemas.openxmlformats.org/drawingml/2006/main">
            <a:off x="10039350" y="4686300"/>
            <a:ext cx="1485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행정업무 적용</a:t>
            </a:r>
          </a:p>
        </p:txBody>
      </p:sp>
      <p:sp>
        <p:nvSpPr>
          <p:cNvPr id="46" name="">
            <a:extLst xmlns:a="http://schemas.openxmlformats.org/drawingml/2006/main">
              <a:ext uri="{FF2B5EF4-FFF2-40B4-BE49-F238E27FC236}">
                <a16:creationId xmlns:a16="http://schemas.microsoft.com/office/drawing/2014/main" id="{D855B017-6021-443C-A052-56FFBCC18CDF}"/>
              </a:ext>
            </a:extLst>
          </p:cNvPr>
          <p:cNvSpPr>
            <a:spLocks xmlns:a="http://schemas.openxmlformats.org/drawingml/2006/main" noGrp="1"/>
          </p:cNvSpPr>
          <p:nvPr/>
        </p:nvSpPr>
        <p:spPr>
          <a:xfrm xmlns:a="http://schemas.openxmlformats.org/drawingml/2006/main">
            <a:off x="571500" y="5924550"/>
            <a:ext cx="1104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CCK 사례별 논리 재구성 / 원문 도면과 실제 시스템 배치 구분</a:t>
            </a:r>
          </a:p>
        </p:txBody>
      </p:sp>
    </p:spTree>
    <p:extLst>
      <p:ext uri="{BB962C8B-B14F-4D97-AF65-F5344CB8AC3E}">
        <p14:creationId xmlns:p14="http://schemas.microsoft.com/office/powerpoint/2010/main" val="655437173"/>
      </p:ext>
    </p:extLst>
  </p:cSld>
</p:sld>
</file>

<file path=ppt/slides/slide13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17A8B98A-1906-489F-A235-3D3BE0EB784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AX26 / 논리 인터페이스·복구 설계</a:t>
            </a:r>
          </a:p>
        </p:txBody>
      </p:sp>
      <p:sp>
        <p:nvSpPr>
          <p:cNvPr id="2" name="">
            <a:extLst xmlns:a="http://schemas.openxmlformats.org/drawingml/2006/main">
              <a:ext uri="{FF2B5EF4-FFF2-40B4-BE49-F238E27FC236}">
                <a16:creationId xmlns:a16="http://schemas.microsoft.com/office/drawing/2014/main" id="{DFB2C687-7D93-4915-AA56-4E7B5ECA60D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교육행정 응대 AI PoC · 데이터와 예외 처리</a:t>
            </a:r>
          </a:p>
        </p:txBody>
      </p:sp>
      <p:sp>
        <p:nvSpPr>
          <p:cNvPr id="3" name="">
            <a:extLst xmlns:a="http://schemas.openxmlformats.org/drawingml/2006/main">
              <a:ext uri="{FF2B5EF4-FFF2-40B4-BE49-F238E27FC236}">
                <a16:creationId xmlns:a16="http://schemas.microsoft.com/office/drawing/2014/main" id="{C81AE46F-6B58-44BB-AE9A-8F32101154D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EB7153C-40B3-40FA-A261-5E11A1B77D7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B3BA024E-7099-40A2-91A5-7622B488289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136</a:t>
            </a:r>
          </a:p>
        </p:txBody>
      </p:sp>
      <p:sp>
        <p:nvSpPr>
          <p:cNvPr id="6" name="">
            <a:extLst xmlns:a="http://schemas.openxmlformats.org/drawingml/2006/main">
              <a:ext uri="{FF2B5EF4-FFF2-40B4-BE49-F238E27FC236}">
                <a16:creationId xmlns:a16="http://schemas.microsoft.com/office/drawing/2014/main" id="{2664F1B5-3D38-40B3-89D3-3057C71BBCD9}"/>
              </a:ext>
            </a:extLst>
          </p:cNvPr>
          <p:cNvSpPr>
            <a:spLocks xmlns:a="http://schemas.openxmlformats.org/drawingml/2006/main" noGrp="1"/>
          </p:cNvSpPr>
          <p:nvPr/>
        </p:nvSpPr>
        <p:spPr>
          <a:xfrm xmlns:a="http://schemas.openxmlformats.org/drawingml/2006/main">
            <a:off x="571500" y="1676400"/>
            <a:ext cx="533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요청·처리·결과의 전달</a:t>
            </a:r>
          </a:p>
        </p:txBody>
      </p:sp>
      <p:sp>
        <p:nvSpPr>
          <p:cNvPr id="7" name="">
            <a:extLst xmlns:a="http://schemas.openxmlformats.org/drawingml/2006/main">
              <a:ext uri="{FF2B5EF4-FFF2-40B4-BE49-F238E27FC236}">
                <a16:creationId xmlns:a16="http://schemas.microsoft.com/office/drawing/2014/main" id="{0A2A6544-70A8-4254-8B15-3F3A95F63B74}"/>
              </a:ext>
            </a:extLst>
          </p:cNvPr>
          <p:cNvSpPr>
            <a:spLocks xmlns:a="http://schemas.openxmlformats.org/drawingml/2006/main" noGrp="1"/>
          </p:cNvSpPr>
          <p:nvPr/>
        </p:nvSpPr>
        <p:spPr>
          <a:xfrm xmlns:a="http://schemas.openxmlformats.org/drawingml/2006/main">
            <a:off x="6334125" y="16764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1">
                <a:solidFill>
                  <a:srgbClr val="42634B"/>
                </a:solidFill>
                <a:latin typeface="Pretendard"/>
                <a:ea typeface="Pretendard"/>
                <a:cs typeface="Pretendard"/>
              </a:defRPr>
            </a:defPPr>
            <a:lvl1pPr>
              <a:defRPr sz="1650" b="1">
                <a:solidFill>
                  <a:srgbClr val="42634B"/>
                </a:solidFill>
                <a:latin typeface="Pretendard"/>
                <a:ea typeface="Pretendard"/>
                <a:cs typeface="Pretendard"/>
              </a:defRPr>
            </a:lvl1pPr>
            <a:lvl2pPr>
              <a:defRPr sz="1650" b="1">
                <a:solidFill>
                  <a:srgbClr val="42634B"/>
                </a:solidFill>
                <a:latin typeface="Pretendard"/>
                <a:ea typeface="Pretendard"/>
                <a:cs typeface="Pretendard"/>
              </a:defRPr>
            </a:lvl2pPr>
            <a:lvl3pPr>
              <a:defRPr sz="1650" b="1">
                <a:solidFill>
                  <a:srgbClr val="42634B"/>
                </a:solidFill>
                <a:latin typeface="Pretendard"/>
                <a:ea typeface="Pretendard"/>
                <a:cs typeface="Pretendard"/>
              </a:defRPr>
            </a:lvl3pPr>
            <a:lvl4pPr>
              <a:defRPr sz="1650" b="1">
                <a:solidFill>
                  <a:srgbClr val="42634B"/>
                </a:solidFill>
                <a:latin typeface="Pretendard"/>
                <a:ea typeface="Pretendard"/>
                <a:cs typeface="Pretendard"/>
              </a:defRPr>
            </a:lvl4pPr>
            <a:lvl5pPr>
              <a:defRPr sz="1650" b="1">
                <a:solidFill>
                  <a:srgbClr val="42634B"/>
                </a:solidFill>
                <a:latin typeface="Pretendard"/>
                <a:ea typeface="Pretendard"/>
                <a:cs typeface="Pretendard"/>
              </a:defRPr>
            </a:lvl5pPr>
            <a:lvl6pPr>
              <a:defRPr sz="1650" b="1">
                <a:solidFill>
                  <a:srgbClr val="42634B"/>
                </a:solidFill>
                <a:latin typeface="Pretendard"/>
                <a:ea typeface="Pretendard"/>
                <a:cs typeface="Pretendard"/>
              </a:defRPr>
            </a:lvl6pPr>
            <a:lvl7pPr>
              <a:defRPr sz="1650" b="1">
                <a:solidFill>
                  <a:srgbClr val="42634B"/>
                </a:solidFill>
                <a:latin typeface="Pretendard"/>
                <a:ea typeface="Pretendard"/>
                <a:cs typeface="Pretendard"/>
              </a:defRPr>
            </a:lvl7pPr>
            <a:lvl8pPr>
              <a:defRPr sz="1650" b="1">
                <a:solidFill>
                  <a:srgbClr val="42634B"/>
                </a:solidFill>
                <a:latin typeface="Pretendard"/>
                <a:ea typeface="Pretendard"/>
                <a:cs typeface="Pretendard"/>
              </a:defRPr>
            </a:lvl8pPr>
            <a:lvl9pPr>
              <a:defRPr sz="1650" b="1">
                <a:solidFill>
                  <a:srgbClr val="42634B"/>
                </a:solidFill>
                <a:latin typeface="Pretendard"/>
                <a:ea typeface="Pretendard"/>
                <a:cs typeface="Pretendard"/>
              </a:defRPr>
            </a:lvl9pPr>
          </a:lstStyle>
          <a:p xmlns:a="http://schemas.openxmlformats.org/drawingml/2006/main">
            <a:pPr>
              <a:defRPr sz="1650" b="1">
                <a:solidFill>
                  <a:srgbClr val="42634B"/>
                </a:solidFill>
                <a:latin typeface="Pretendard"/>
                <a:ea typeface="Pretendard"/>
                <a:cs typeface="Pretendard"/>
              </a:defRPr>
            </a:pPr>
            <a:r>
              <a:rPr sz="1650" b="1">
                <a:solidFill>
                  <a:srgbClr val="42634B"/>
                </a:solidFill>
                <a:latin typeface="Pretendard"/>
                <a:ea typeface="Pretendard"/>
                <a:cs typeface="Pretendard"/>
              </a:rPr>
              <a:t>예외·복구 경로</a:t>
            </a:r>
          </a:p>
        </p:txBody>
      </p:sp>
      <p:sp>
        <p:nvSpPr>
          <p:cNvPr id="8" name="">
            <a:extLst xmlns:a="http://schemas.openxmlformats.org/drawingml/2006/main">
              <a:ext uri="{FF2B5EF4-FFF2-40B4-BE49-F238E27FC236}">
                <a16:creationId xmlns:a16="http://schemas.microsoft.com/office/drawing/2014/main" id="{FA2F9C42-BE67-43D5-9549-3745DBC75940}"/>
              </a:ext>
            </a:extLst>
          </p:cNvPr>
          <p:cNvSpPr>
            <a:spLocks xmlns:a="http://schemas.openxmlformats.org/drawingml/2006/main" noGrp="1"/>
          </p:cNvSpPr>
          <p:nvPr/>
        </p:nvSpPr>
        <p:spPr>
          <a:xfrm xmlns:a="http://schemas.openxmlformats.org/drawingml/2006/main">
            <a:off x="571500" y="21145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IF-01 공식 자료</a:t>
            </a:r>
          </a:p>
        </p:txBody>
      </p:sp>
      <p:sp>
        <p:nvSpPr>
          <p:cNvPr id="9" name="">
            <a:extLst xmlns:a="http://schemas.openxmlformats.org/drawingml/2006/main">
              <a:ext uri="{FF2B5EF4-FFF2-40B4-BE49-F238E27FC236}">
                <a16:creationId xmlns:a16="http://schemas.microsoft.com/office/drawing/2014/main" id="{479E5CC9-6BBB-449F-8C24-E5BE4476273B}"/>
              </a:ext>
            </a:extLst>
          </p:cNvPr>
          <p:cNvSpPr>
            <a:spLocks xmlns:a="http://schemas.openxmlformats.org/drawingml/2006/main" noGrp="1"/>
          </p:cNvSpPr>
          <p:nvPr/>
        </p:nvSpPr>
        <p:spPr>
          <a:xfrm xmlns:a="http://schemas.openxmlformats.org/drawingml/2006/main">
            <a:off x="2333625" y="21145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학교급별 지침</a:t>
            </a:r>
          </a:p>
        </p:txBody>
      </p:sp>
      <p:sp>
        <p:nvSpPr>
          <p:cNvPr id="10" name="">
            <a:extLst xmlns:a="http://schemas.openxmlformats.org/drawingml/2006/main">
              <a:ext uri="{FF2B5EF4-FFF2-40B4-BE49-F238E27FC236}">
                <a16:creationId xmlns:a16="http://schemas.microsoft.com/office/drawing/2014/main" id="{74BCF2F4-7741-4AE4-8259-6FB4022E0B02}"/>
              </a:ext>
            </a:extLst>
          </p:cNvPr>
          <p:cNvSpPr>
            <a:spLocks xmlns:a="http://schemas.openxmlformats.org/drawingml/2006/main" noGrp="1"/>
          </p:cNvSpPr>
          <p:nvPr/>
        </p:nvSpPr>
        <p:spPr>
          <a:xfrm xmlns:a="http://schemas.openxmlformats.org/drawingml/2006/main">
            <a:off x="571500" y="26765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F9169D6-2085-4815-9D95-74DA350DD1F1}"/>
              </a:ext>
            </a:extLst>
          </p:cNvPr>
          <p:cNvSpPr>
            <a:spLocks xmlns:a="http://schemas.openxmlformats.org/drawingml/2006/main" noGrp="1"/>
          </p:cNvSpPr>
          <p:nvPr/>
        </p:nvSpPr>
        <p:spPr>
          <a:xfrm xmlns:a="http://schemas.openxmlformats.org/drawingml/2006/main">
            <a:off x="571500" y="27432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IF-02 판본·색인</a:t>
            </a:r>
          </a:p>
        </p:txBody>
      </p:sp>
      <p:sp>
        <p:nvSpPr>
          <p:cNvPr id="12" name="">
            <a:extLst xmlns:a="http://schemas.openxmlformats.org/drawingml/2006/main">
              <a:ext uri="{FF2B5EF4-FFF2-40B4-BE49-F238E27FC236}">
                <a16:creationId xmlns:a16="http://schemas.microsoft.com/office/drawing/2014/main" id="{A3BF66C5-188E-4654-A084-D0F8DD4FCE51}"/>
              </a:ext>
            </a:extLst>
          </p:cNvPr>
          <p:cNvSpPr>
            <a:spLocks xmlns:a="http://schemas.openxmlformats.org/drawingml/2006/main" noGrp="1"/>
          </p:cNvSpPr>
          <p:nvPr/>
        </p:nvSpPr>
        <p:spPr>
          <a:xfrm xmlns:a="http://schemas.openxmlformats.org/drawingml/2006/main">
            <a:off x="2333625" y="27432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처리에 사용할 자료·출처·문맥</a:t>
            </a:r>
          </a:p>
        </p:txBody>
      </p:sp>
      <p:sp>
        <p:nvSpPr>
          <p:cNvPr id="13" name="">
            <a:extLst xmlns:a="http://schemas.openxmlformats.org/drawingml/2006/main">
              <a:ext uri="{FF2B5EF4-FFF2-40B4-BE49-F238E27FC236}">
                <a16:creationId xmlns:a16="http://schemas.microsoft.com/office/drawing/2014/main" id="{00EB7D58-C788-40F6-8826-BE64E1672824}"/>
              </a:ext>
            </a:extLst>
          </p:cNvPr>
          <p:cNvSpPr>
            <a:spLocks xmlns:a="http://schemas.openxmlformats.org/drawingml/2006/main" noGrp="1"/>
          </p:cNvSpPr>
          <p:nvPr/>
        </p:nvSpPr>
        <p:spPr>
          <a:xfrm xmlns:a="http://schemas.openxmlformats.org/drawingml/2006/main">
            <a:off x="571500" y="33051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3CF6083-6750-4D29-A699-5EC08BC9F34E}"/>
              </a:ext>
            </a:extLst>
          </p:cNvPr>
          <p:cNvSpPr>
            <a:spLocks xmlns:a="http://schemas.openxmlformats.org/drawingml/2006/main" noGrp="1"/>
          </p:cNvSpPr>
          <p:nvPr/>
        </p:nvSpPr>
        <p:spPr>
          <a:xfrm xmlns:a="http://schemas.openxmlformats.org/drawingml/2006/main">
            <a:off x="571500" y="33718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IF-03 질문·목적</a:t>
            </a:r>
          </a:p>
        </p:txBody>
      </p:sp>
      <p:sp>
        <p:nvSpPr>
          <p:cNvPr id="15" name="">
            <a:extLst xmlns:a="http://schemas.openxmlformats.org/drawingml/2006/main">
              <a:ext uri="{FF2B5EF4-FFF2-40B4-BE49-F238E27FC236}">
                <a16:creationId xmlns:a16="http://schemas.microsoft.com/office/drawing/2014/main" id="{3AA3CA1B-3940-4489-A719-D515A0A65E2B}"/>
              </a:ext>
            </a:extLst>
          </p:cNvPr>
          <p:cNvSpPr>
            <a:spLocks xmlns:a="http://schemas.openxmlformats.org/drawingml/2006/main" noGrp="1"/>
          </p:cNvSpPr>
          <p:nvPr/>
        </p:nvSpPr>
        <p:spPr>
          <a:xfrm xmlns:a="http://schemas.openxmlformats.org/drawingml/2006/main">
            <a:off x="2333625" y="33718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학교급·학년도·업무 상황 확인</a:t>
            </a:r>
          </a:p>
        </p:txBody>
      </p:sp>
      <p:sp>
        <p:nvSpPr>
          <p:cNvPr id="16" name="">
            <a:extLst xmlns:a="http://schemas.openxmlformats.org/drawingml/2006/main">
              <a:ext uri="{FF2B5EF4-FFF2-40B4-BE49-F238E27FC236}">
                <a16:creationId xmlns:a16="http://schemas.microsoft.com/office/drawing/2014/main" id="{2E8C7604-B5DB-48EF-B32A-AEC9AA7DBF81}"/>
              </a:ext>
            </a:extLst>
          </p:cNvPr>
          <p:cNvSpPr>
            <a:spLocks xmlns:a="http://schemas.openxmlformats.org/drawingml/2006/main" noGrp="1"/>
          </p:cNvSpPr>
          <p:nvPr/>
        </p:nvSpPr>
        <p:spPr>
          <a:xfrm xmlns:a="http://schemas.openxmlformats.org/drawingml/2006/main">
            <a:off x="571500" y="39338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6034386-0E04-40F8-81D0-2428B9BE54AE}"/>
              </a:ext>
            </a:extLst>
          </p:cNvPr>
          <p:cNvSpPr>
            <a:spLocks xmlns:a="http://schemas.openxmlformats.org/drawingml/2006/main" noGrp="1"/>
          </p:cNvSpPr>
          <p:nvPr/>
        </p:nvSpPr>
        <p:spPr>
          <a:xfrm xmlns:a="http://schemas.openxmlformats.org/drawingml/2006/main">
            <a:off x="571500" y="40005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IF-04 허용 지식</a:t>
            </a:r>
          </a:p>
        </p:txBody>
      </p:sp>
      <p:sp>
        <p:nvSpPr>
          <p:cNvPr id="18" name="">
            <a:extLst xmlns:a="http://schemas.openxmlformats.org/drawingml/2006/main">
              <a:ext uri="{FF2B5EF4-FFF2-40B4-BE49-F238E27FC236}">
                <a16:creationId xmlns:a16="http://schemas.microsoft.com/office/drawing/2014/main" id="{6021F749-739C-4862-8D89-6467EA4FA0C3}"/>
              </a:ext>
            </a:extLst>
          </p:cNvPr>
          <p:cNvSpPr>
            <a:spLocks xmlns:a="http://schemas.openxmlformats.org/drawingml/2006/main" noGrp="1"/>
          </p:cNvSpPr>
          <p:nvPr/>
        </p:nvSpPr>
        <p:spPr>
          <a:xfrm xmlns:a="http://schemas.openxmlformats.org/drawingml/2006/main">
            <a:off x="2333625" y="40005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학년도별 정답·근거 페이지·예외 적용 대조</a:t>
            </a:r>
          </a:p>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표</a:t>
            </a:r>
          </a:p>
        </p:txBody>
      </p:sp>
      <p:sp>
        <p:nvSpPr>
          <p:cNvPr id="19" name="">
            <a:extLst xmlns:a="http://schemas.openxmlformats.org/drawingml/2006/main">
              <a:ext uri="{FF2B5EF4-FFF2-40B4-BE49-F238E27FC236}">
                <a16:creationId xmlns:a16="http://schemas.microsoft.com/office/drawing/2014/main" id="{24DFA8B1-8648-4A99-8694-9C7E27BDCF79}"/>
              </a:ext>
            </a:extLst>
          </p:cNvPr>
          <p:cNvSpPr>
            <a:spLocks xmlns:a="http://schemas.openxmlformats.org/drawingml/2006/main" noGrp="1"/>
          </p:cNvSpPr>
          <p:nvPr/>
        </p:nvSpPr>
        <p:spPr>
          <a:xfrm xmlns:a="http://schemas.openxmlformats.org/drawingml/2006/main">
            <a:off x="571500" y="456247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BDFDDF6-F269-4A7E-A4FF-1A62A74EEF12}"/>
              </a:ext>
            </a:extLst>
          </p:cNvPr>
          <p:cNvSpPr>
            <a:spLocks xmlns:a="http://schemas.openxmlformats.org/drawingml/2006/main" noGrp="1"/>
          </p:cNvSpPr>
          <p:nvPr/>
        </p:nvSpPr>
        <p:spPr>
          <a:xfrm xmlns:a="http://schemas.openxmlformats.org/drawingml/2006/main">
            <a:off x="571500" y="462915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IF-05 근거 문단</a:t>
            </a:r>
          </a:p>
        </p:txBody>
      </p:sp>
      <p:sp>
        <p:nvSpPr>
          <p:cNvPr id="21" name="">
            <a:extLst xmlns:a="http://schemas.openxmlformats.org/drawingml/2006/main">
              <a:ext uri="{FF2B5EF4-FFF2-40B4-BE49-F238E27FC236}">
                <a16:creationId xmlns:a16="http://schemas.microsoft.com/office/drawing/2014/main" id="{A7239251-D98C-4A68-A689-882922101EFB}"/>
              </a:ext>
            </a:extLst>
          </p:cNvPr>
          <p:cNvSpPr>
            <a:spLocks xmlns:a="http://schemas.openxmlformats.org/drawingml/2006/main" noGrp="1"/>
          </p:cNvSpPr>
          <p:nvPr/>
        </p:nvSpPr>
        <p:spPr>
          <a:xfrm xmlns:a="http://schemas.openxmlformats.org/drawingml/2006/main">
            <a:off x="2333625" y="462915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관련 지침</a:t>
            </a:r>
          </a:p>
        </p:txBody>
      </p:sp>
      <p:sp>
        <p:nvSpPr>
          <p:cNvPr id="22" name="">
            <a:extLst xmlns:a="http://schemas.openxmlformats.org/drawingml/2006/main">
              <a:ext uri="{FF2B5EF4-FFF2-40B4-BE49-F238E27FC236}">
                <a16:creationId xmlns:a16="http://schemas.microsoft.com/office/drawing/2014/main" id="{F2193020-D880-4010-893F-7AAB632812C0}"/>
              </a:ext>
            </a:extLst>
          </p:cNvPr>
          <p:cNvSpPr>
            <a:spLocks xmlns:a="http://schemas.openxmlformats.org/drawingml/2006/main" noGrp="1"/>
          </p:cNvSpPr>
          <p:nvPr/>
        </p:nvSpPr>
        <p:spPr>
          <a:xfrm xmlns:a="http://schemas.openxmlformats.org/drawingml/2006/main">
            <a:off x="571500" y="5191125"/>
            <a:ext cx="5334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CE8C08BF-F43E-4C2E-A723-187369BB530C}"/>
              </a:ext>
            </a:extLst>
          </p:cNvPr>
          <p:cNvSpPr>
            <a:spLocks xmlns:a="http://schemas.openxmlformats.org/drawingml/2006/main" noGrp="1"/>
          </p:cNvSpPr>
          <p:nvPr/>
        </p:nvSpPr>
        <p:spPr>
          <a:xfrm xmlns:a="http://schemas.openxmlformats.org/drawingml/2006/main">
            <a:off x="571500" y="5257800"/>
            <a:ext cx="1571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42634B"/>
                </a:solidFill>
                <a:latin typeface="Pretendard"/>
                <a:ea typeface="Pretendard"/>
                <a:cs typeface="Pretendard"/>
              </a:defRPr>
            </a:defPPr>
            <a:lvl1pPr>
              <a:defRPr sz="1350" b="1">
                <a:solidFill>
                  <a:srgbClr val="42634B"/>
                </a:solidFill>
                <a:latin typeface="Pretendard"/>
                <a:ea typeface="Pretendard"/>
                <a:cs typeface="Pretendard"/>
              </a:defRPr>
            </a:lvl1pPr>
            <a:lvl2pPr>
              <a:defRPr sz="1350" b="1">
                <a:solidFill>
                  <a:srgbClr val="42634B"/>
                </a:solidFill>
                <a:latin typeface="Pretendard"/>
                <a:ea typeface="Pretendard"/>
                <a:cs typeface="Pretendard"/>
              </a:defRPr>
            </a:lvl2pPr>
            <a:lvl3pPr>
              <a:defRPr sz="1350" b="1">
                <a:solidFill>
                  <a:srgbClr val="42634B"/>
                </a:solidFill>
                <a:latin typeface="Pretendard"/>
                <a:ea typeface="Pretendard"/>
                <a:cs typeface="Pretendard"/>
              </a:defRPr>
            </a:lvl3pPr>
            <a:lvl4pPr>
              <a:defRPr sz="1350" b="1">
                <a:solidFill>
                  <a:srgbClr val="42634B"/>
                </a:solidFill>
                <a:latin typeface="Pretendard"/>
                <a:ea typeface="Pretendard"/>
                <a:cs typeface="Pretendard"/>
              </a:defRPr>
            </a:lvl4pPr>
            <a:lvl5pPr>
              <a:defRPr sz="1350" b="1">
                <a:solidFill>
                  <a:srgbClr val="42634B"/>
                </a:solidFill>
                <a:latin typeface="Pretendard"/>
                <a:ea typeface="Pretendard"/>
                <a:cs typeface="Pretendard"/>
              </a:defRPr>
            </a:lvl5pPr>
            <a:lvl6pPr>
              <a:defRPr sz="1350" b="1">
                <a:solidFill>
                  <a:srgbClr val="42634B"/>
                </a:solidFill>
                <a:latin typeface="Pretendard"/>
                <a:ea typeface="Pretendard"/>
                <a:cs typeface="Pretendard"/>
              </a:defRPr>
            </a:lvl6pPr>
            <a:lvl7pPr>
              <a:defRPr sz="1350" b="1">
                <a:solidFill>
                  <a:srgbClr val="42634B"/>
                </a:solidFill>
                <a:latin typeface="Pretendard"/>
                <a:ea typeface="Pretendard"/>
                <a:cs typeface="Pretendard"/>
              </a:defRPr>
            </a:lvl7pPr>
            <a:lvl8pPr>
              <a:defRPr sz="1350" b="1">
                <a:solidFill>
                  <a:srgbClr val="42634B"/>
                </a:solidFill>
                <a:latin typeface="Pretendard"/>
                <a:ea typeface="Pretendard"/>
                <a:cs typeface="Pretendard"/>
              </a:defRPr>
            </a:lvl8pPr>
            <a:lvl9pPr>
              <a:defRPr sz="1350" b="1">
                <a:solidFill>
                  <a:srgbClr val="42634B"/>
                </a:solidFill>
                <a:latin typeface="Pretendard"/>
                <a:ea typeface="Pretendard"/>
                <a:cs typeface="Pretendard"/>
              </a:defRPr>
            </a:lvl9pPr>
          </a:lstStyle>
          <a:p xmlns:a="http://schemas.openxmlformats.org/drawingml/2006/main">
            <a:pPr>
              <a:defRPr sz="1350" b="1">
                <a:solidFill>
                  <a:srgbClr val="42634B"/>
                </a:solidFill>
                <a:latin typeface="Pretendard"/>
                <a:ea typeface="Pretendard"/>
                <a:cs typeface="Pretendard"/>
              </a:defRPr>
            </a:pPr>
            <a:r>
              <a:rPr sz="1350" b="1">
                <a:solidFill>
                  <a:srgbClr val="42634B"/>
                </a:solidFill>
                <a:latin typeface="Pretendard"/>
                <a:ea typeface="Pretendard"/>
                <a:cs typeface="Pretendard"/>
              </a:rPr>
              <a:t>IF-06 출처 확인</a:t>
            </a:r>
          </a:p>
        </p:txBody>
      </p:sp>
      <p:sp>
        <p:nvSpPr>
          <p:cNvPr id="24" name="">
            <a:extLst xmlns:a="http://schemas.openxmlformats.org/drawingml/2006/main">
              <a:ext uri="{FF2B5EF4-FFF2-40B4-BE49-F238E27FC236}">
                <a16:creationId xmlns:a16="http://schemas.microsoft.com/office/drawing/2014/main" id="{2F91D9CD-1232-4817-94AF-5302B857C0C2}"/>
              </a:ext>
            </a:extLst>
          </p:cNvPr>
          <p:cNvSpPr>
            <a:spLocks xmlns:a="http://schemas.openxmlformats.org/drawingml/2006/main" noGrp="1"/>
          </p:cNvSpPr>
          <p:nvPr/>
        </p:nvSpPr>
        <p:spPr>
          <a:xfrm xmlns:a="http://schemas.openxmlformats.org/drawingml/2006/main">
            <a:off x="2333625" y="5257800"/>
            <a:ext cx="35718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28352B"/>
                </a:solidFill>
                <a:latin typeface="Pretendard"/>
                <a:ea typeface="Pretendard"/>
                <a:cs typeface="Pretendard"/>
              </a:defRPr>
            </a:defPPr>
            <a:lvl1pPr>
              <a:defRPr sz="1425" b="0">
                <a:solidFill>
                  <a:srgbClr val="28352B"/>
                </a:solidFill>
                <a:latin typeface="Pretendard"/>
                <a:ea typeface="Pretendard"/>
                <a:cs typeface="Pretendard"/>
              </a:defRPr>
            </a:lvl1pPr>
            <a:lvl2pPr>
              <a:defRPr sz="1425" b="0">
                <a:solidFill>
                  <a:srgbClr val="28352B"/>
                </a:solidFill>
                <a:latin typeface="Pretendard"/>
                <a:ea typeface="Pretendard"/>
                <a:cs typeface="Pretendard"/>
              </a:defRPr>
            </a:lvl2pPr>
            <a:lvl3pPr>
              <a:defRPr sz="1425" b="0">
                <a:solidFill>
                  <a:srgbClr val="28352B"/>
                </a:solidFill>
                <a:latin typeface="Pretendard"/>
                <a:ea typeface="Pretendard"/>
                <a:cs typeface="Pretendard"/>
              </a:defRPr>
            </a:lvl3pPr>
            <a:lvl4pPr>
              <a:defRPr sz="1425" b="0">
                <a:solidFill>
                  <a:srgbClr val="28352B"/>
                </a:solidFill>
                <a:latin typeface="Pretendard"/>
                <a:ea typeface="Pretendard"/>
                <a:cs typeface="Pretendard"/>
              </a:defRPr>
            </a:lvl4pPr>
            <a:lvl5pPr>
              <a:defRPr sz="1425" b="0">
                <a:solidFill>
                  <a:srgbClr val="28352B"/>
                </a:solidFill>
                <a:latin typeface="Pretendard"/>
                <a:ea typeface="Pretendard"/>
                <a:cs typeface="Pretendard"/>
              </a:defRPr>
            </a:lvl5pPr>
            <a:lvl6pPr>
              <a:defRPr sz="1425" b="0">
                <a:solidFill>
                  <a:srgbClr val="28352B"/>
                </a:solidFill>
                <a:latin typeface="Pretendard"/>
                <a:ea typeface="Pretendard"/>
                <a:cs typeface="Pretendard"/>
              </a:defRPr>
            </a:lvl6pPr>
            <a:lvl7pPr>
              <a:defRPr sz="1425" b="0">
                <a:solidFill>
                  <a:srgbClr val="28352B"/>
                </a:solidFill>
                <a:latin typeface="Pretendard"/>
                <a:ea typeface="Pretendard"/>
                <a:cs typeface="Pretendard"/>
              </a:defRPr>
            </a:lvl7pPr>
            <a:lvl8pPr>
              <a:defRPr sz="1425" b="0">
                <a:solidFill>
                  <a:srgbClr val="28352B"/>
                </a:solidFill>
                <a:latin typeface="Pretendard"/>
                <a:ea typeface="Pretendard"/>
                <a:cs typeface="Pretendard"/>
              </a:defRPr>
            </a:lvl8pPr>
            <a:lvl9pPr>
              <a:defRPr sz="1425" b="0">
                <a:solidFill>
                  <a:srgbClr val="28352B"/>
                </a:solidFill>
                <a:latin typeface="Pretendard"/>
                <a:ea typeface="Pretendard"/>
                <a:cs typeface="Pretendard"/>
              </a:defRPr>
            </a:lvl9pPr>
          </a:lstStyle>
          <a:p xmlns:a="http://schemas.openxmlformats.org/drawingml/2006/main">
            <a:pPr>
              <a:defRPr sz="1425" b="0">
                <a:solidFill>
                  <a:srgbClr val="28352B"/>
                </a:solidFill>
                <a:latin typeface="Pretendard"/>
                <a:ea typeface="Pretendard"/>
                <a:cs typeface="Pretendard"/>
              </a:defRPr>
            </a:pPr>
            <a:r>
              <a:rPr sz="1425" b="0">
                <a:solidFill>
                  <a:srgbClr val="28352B"/>
                </a:solidFill>
                <a:latin typeface="Pretendard"/>
                <a:ea typeface="Pretendard"/>
                <a:cs typeface="Pretendard"/>
              </a:rPr>
              <a:t>근거 페이지 답변</a:t>
            </a:r>
          </a:p>
        </p:txBody>
      </p:sp>
      <p:sp>
        <p:nvSpPr>
          <p:cNvPr id="25" name="">
            <a:extLst xmlns:a="http://schemas.openxmlformats.org/drawingml/2006/main">
              <a:ext uri="{FF2B5EF4-FFF2-40B4-BE49-F238E27FC236}">
                <a16:creationId xmlns:a16="http://schemas.microsoft.com/office/drawing/2014/main" id="{22AD6AF3-79D2-4837-8772-55E44B69C79D}"/>
              </a:ext>
            </a:extLst>
          </p:cNvPr>
          <p:cNvSpPr>
            <a:spLocks xmlns:a="http://schemas.openxmlformats.org/drawingml/2006/main" noGrp="1"/>
          </p:cNvSpPr>
          <p:nvPr/>
        </p:nvSpPr>
        <p:spPr>
          <a:xfrm xmlns:a="http://schemas.openxmlformats.org/drawingml/2006/main">
            <a:off x="6334125" y="21145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감지</a:t>
            </a:r>
          </a:p>
        </p:txBody>
      </p:sp>
      <p:sp>
        <p:nvSpPr>
          <p:cNvPr id="26" name="">
            <a:extLst xmlns:a="http://schemas.openxmlformats.org/drawingml/2006/main">
              <a:ext uri="{FF2B5EF4-FFF2-40B4-BE49-F238E27FC236}">
                <a16:creationId xmlns:a16="http://schemas.microsoft.com/office/drawing/2014/main" id="{B0DA6593-85E9-480A-A152-69814AB58C5B}"/>
              </a:ext>
            </a:extLst>
          </p:cNvPr>
          <p:cNvSpPr>
            <a:spLocks xmlns:a="http://schemas.openxmlformats.org/drawingml/2006/main" noGrp="1"/>
          </p:cNvSpPr>
          <p:nvPr/>
        </p:nvSpPr>
        <p:spPr>
          <a:xfrm xmlns:a="http://schemas.openxmlformats.org/drawingml/2006/main">
            <a:off x="6334125" y="246697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이전 학년도 혼입·예외 조건 누락·원문 페이지 변경</a:t>
            </a:r>
          </a:p>
        </p:txBody>
      </p:sp>
      <p:sp>
        <p:nvSpPr>
          <p:cNvPr id="27" name="">
            <a:extLst xmlns:a="http://schemas.openxmlformats.org/drawingml/2006/main">
              <a:ext uri="{FF2B5EF4-FFF2-40B4-BE49-F238E27FC236}">
                <a16:creationId xmlns:a16="http://schemas.microsoft.com/office/drawing/2014/main" id="{8428AA5B-4164-4C94-AEDC-D3BEDCCFFCD8}"/>
              </a:ext>
            </a:extLst>
          </p:cNvPr>
          <p:cNvSpPr>
            <a:spLocks xmlns:a="http://schemas.openxmlformats.org/drawingml/2006/main" noGrp="1"/>
          </p:cNvSpPr>
          <p:nvPr/>
        </p:nvSpPr>
        <p:spPr>
          <a:xfrm xmlns:a="http://schemas.openxmlformats.org/drawingml/2006/main">
            <a:off x="6334125" y="30765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보류·확인</a:t>
            </a:r>
          </a:p>
        </p:txBody>
      </p:sp>
      <p:sp>
        <p:nvSpPr>
          <p:cNvPr id="28" name="">
            <a:extLst xmlns:a="http://schemas.openxmlformats.org/drawingml/2006/main">
              <a:ext uri="{FF2B5EF4-FFF2-40B4-BE49-F238E27FC236}">
                <a16:creationId xmlns:a16="http://schemas.microsoft.com/office/drawing/2014/main" id="{786320DC-2560-4AB4-AA5A-5876B9A63EAA}"/>
              </a:ext>
            </a:extLst>
          </p:cNvPr>
          <p:cNvSpPr>
            <a:spLocks xmlns:a="http://schemas.openxmlformats.org/drawingml/2006/main" noGrp="1"/>
          </p:cNvSpPr>
          <p:nvPr/>
        </p:nvSpPr>
        <p:spPr>
          <a:xfrm xmlns:a="http://schemas.openxmlformats.org/drawingml/2006/main">
            <a:off x="6334125" y="342900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학교급·연도·원문 페이지 대조</a:t>
            </a:r>
          </a:p>
        </p:txBody>
      </p:sp>
      <p:sp>
        <p:nvSpPr>
          <p:cNvPr id="29" name="">
            <a:extLst xmlns:a="http://schemas.openxmlformats.org/drawingml/2006/main">
              <a:ext uri="{FF2B5EF4-FFF2-40B4-BE49-F238E27FC236}">
                <a16:creationId xmlns:a16="http://schemas.microsoft.com/office/drawing/2014/main" id="{9F5194BA-C6F8-4D90-B6D4-376D1178FA74}"/>
              </a:ext>
            </a:extLst>
          </p:cNvPr>
          <p:cNvSpPr>
            <a:spLocks xmlns:a="http://schemas.openxmlformats.org/drawingml/2006/main" noGrp="1"/>
          </p:cNvSpPr>
          <p:nvPr/>
        </p:nvSpPr>
        <p:spPr>
          <a:xfrm xmlns:a="http://schemas.openxmlformats.org/drawingml/2006/main">
            <a:off x="6334125" y="4038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보정·재검증</a:t>
            </a:r>
          </a:p>
        </p:txBody>
      </p:sp>
      <p:sp>
        <p:nvSpPr>
          <p:cNvPr id="30" name="">
            <a:extLst xmlns:a="http://schemas.openxmlformats.org/drawingml/2006/main">
              <a:ext uri="{FF2B5EF4-FFF2-40B4-BE49-F238E27FC236}">
                <a16:creationId xmlns:a16="http://schemas.microsoft.com/office/drawing/2014/main" id="{76C0F107-84F4-4542-A18F-FB04BC62FDF8}"/>
              </a:ext>
            </a:extLst>
          </p:cNvPr>
          <p:cNvSpPr>
            <a:spLocks xmlns:a="http://schemas.openxmlformats.org/drawingml/2006/main" noGrp="1"/>
          </p:cNvSpPr>
          <p:nvPr/>
        </p:nvSpPr>
        <p:spPr>
          <a:xfrm xmlns:a="http://schemas.openxmlformats.org/drawingml/2006/main">
            <a:off x="6334125" y="4391025"/>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학년도 혼용·예외 조항 누락의 평가</a:t>
            </a:r>
          </a:p>
        </p:txBody>
      </p:sp>
      <p:sp>
        <p:nvSpPr>
          <p:cNvPr id="31" name="">
            <a:extLst xmlns:a="http://schemas.openxmlformats.org/drawingml/2006/main">
              <a:ext uri="{FF2B5EF4-FFF2-40B4-BE49-F238E27FC236}">
                <a16:creationId xmlns:a16="http://schemas.microsoft.com/office/drawing/2014/main" id="{A4524E1D-18C2-4641-A2ED-062C2B490303}"/>
              </a:ext>
            </a:extLst>
          </p:cNvPr>
          <p:cNvSpPr>
            <a:spLocks xmlns:a="http://schemas.openxmlformats.org/drawingml/2006/main" noGrp="1"/>
          </p:cNvSpPr>
          <p:nvPr/>
        </p:nvSpPr>
        <p:spPr>
          <a:xfrm xmlns:a="http://schemas.openxmlformats.org/drawingml/2006/main">
            <a:off x="6334125" y="50006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종료 증빙</a:t>
            </a:r>
          </a:p>
        </p:txBody>
      </p:sp>
      <p:sp>
        <p:nvSpPr>
          <p:cNvPr id="32" name="">
            <a:extLst xmlns:a="http://schemas.openxmlformats.org/drawingml/2006/main">
              <a:ext uri="{FF2B5EF4-FFF2-40B4-BE49-F238E27FC236}">
                <a16:creationId xmlns:a16="http://schemas.microsoft.com/office/drawing/2014/main" id="{25AC4613-735F-4286-A92B-60AAE8696572}"/>
              </a:ext>
            </a:extLst>
          </p:cNvPr>
          <p:cNvSpPr>
            <a:spLocks xmlns:a="http://schemas.openxmlformats.org/drawingml/2006/main" noGrp="1"/>
          </p:cNvSpPr>
          <p:nvPr/>
        </p:nvSpPr>
        <p:spPr>
          <a:xfrm xmlns:a="http://schemas.openxmlformats.org/drawingml/2006/main">
            <a:off x="6334125" y="5353050"/>
            <a:ext cx="5286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학년도별 정답·근거 페이지·예외 적용 대조표</a:t>
            </a:r>
          </a:p>
        </p:txBody>
      </p:sp>
    </p:spTree>
    <p:extLst>
      <p:ext uri="{BB962C8B-B14F-4D97-AF65-F5344CB8AC3E}">
        <p14:creationId xmlns:p14="http://schemas.microsoft.com/office/powerpoint/2010/main" val="1201291058"/>
      </p:ext>
    </p:extLst>
  </p:cSld>
</p:sld>
</file>

<file path=ppt/slides/slide13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F0EAD40-636F-4259-8D26-83234469DD2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AX26 / CCK 비교·재현 시험 설계</a:t>
            </a:r>
          </a:p>
        </p:txBody>
      </p:sp>
      <p:sp>
        <p:nvSpPr>
          <p:cNvPr id="2" name="">
            <a:extLst xmlns:a="http://schemas.openxmlformats.org/drawingml/2006/main">
              <a:ext uri="{FF2B5EF4-FFF2-40B4-BE49-F238E27FC236}">
                <a16:creationId xmlns:a16="http://schemas.microsoft.com/office/drawing/2014/main" id="{7E7C9BFE-E0FF-49BF-BA4F-243E186BC3E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교육행정 응대 AI PoC · 벤치마킹</a:t>
            </a:r>
          </a:p>
        </p:txBody>
      </p:sp>
      <p:sp>
        <p:nvSpPr>
          <p:cNvPr id="3" name="">
            <a:extLst xmlns:a="http://schemas.openxmlformats.org/drawingml/2006/main">
              <a:ext uri="{FF2B5EF4-FFF2-40B4-BE49-F238E27FC236}">
                <a16:creationId xmlns:a16="http://schemas.microsoft.com/office/drawing/2014/main" id="{F6142972-33FA-464B-925D-8ACBFCF3663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9F9D9E9-B470-445E-906D-7D0F9467239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0F8227E4-EECA-45DA-B14B-A49A35717AF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137</a:t>
            </a:r>
          </a:p>
        </p:txBody>
      </p:sp>
      <p:sp>
        <p:nvSpPr>
          <p:cNvPr id="6" name="">
            <a:extLst xmlns:a="http://schemas.openxmlformats.org/drawingml/2006/main">
              <a:ext uri="{FF2B5EF4-FFF2-40B4-BE49-F238E27FC236}">
                <a16:creationId xmlns:a16="http://schemas.microsoft.com/office/drawing/2014/main" id="{9973165A-0E5A-4E9D-A531-5F01B0273A84}"/>
              </a:ext>
            </a:extLst>
          </p:cNvPr>
          <p:cNvSpPr>
            <a:spLocks xmlns:a="http://schemas.openxmlformats.org/drawingml/2006/main" noGrp="1"/>
          </p:cNvSpPr>
          <p:nvPr/>
        </p:nvSpPr>
        <p:spPr>
          <a:xfrm xmlns:a="http://schemas.openxmlformats.org/drawingml/2006/main">
            <a:off x="571500" y="18097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성립·검증 조건</a:t>
            </a:r>
          </a:p>
        </p:txBody>
      </p:sp>
      <p:sp>
        <p:nvSpPr>
          <p:cNvPr id="7" name="">
            <a:extLst xmlns:a="http://schemas.openxmlformats.org/drawingml/2006/main">
              <a:ext uri="{FF2B5EF4-FFF2-40B4-BE49-F238E27FC236}">
                <a16:creationId xmlns:a16="http://schemas.microsoft.com/office/drawing/2014/main" id="{1D08016A-D4AC-460C-AFB5-362CF81BD65D}"/>
              </a:ext>
            </a:extLst>
          </p:cNvPr>
          <p:cNvSpPr>
            <a:spLocks xmlns:a="http://schemas.openxmlformats.org/drawingml/2006/main" noGrp="1"/>
          </p:cNvSpPr>
          <p:nvPr/>
        </p:nvSpPr>
        <p:spPr>
          <a:xfrm xmlns:a="http://schemas.openxmlformats.org/drawingml/2006/main">
            <a:off x="571500" y="216217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학교급별 지침의 분리</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답변과 원문 페이지의 연결</a:t>
            </a:r>
          </a:p>
        </p:txBody>
      </p:sp>
      <p:sp>
        <p:nvSpPr>
          <p:cNvPr id="8" name="">
            <a:extLst xmlns:a="http://schemas.openxmlformats.org/drawingml/2006/main">
              <a:ext uri="{FF2B5EF4-FFF2-40B4-BE49-F238E27FC236}">
                <a16:creationId xmlns:a16="http://schemas.microsoft.com/office/drawing/2014/main" id="{382FFAF8-4D08-4440-B4DF-E7A10DB516EF}"/>
              </a:ext>
            </a:extLst>
          </p:cNvPr>
          <p:cNvSpPr>
            <a:spLocks xmlns:a="http://schemas.openxmlformats.org/drawingml/2006/main" noGrp="1"/>
          </p:cNvSpPr>
          <p:nvPr/>
        </p:nvSpPr>
        <p:spPr>
          <a:xfrm xmlns:a="http://schemas.openxmlformats.org/drawingml/2006/main">
            <a:off x="571500" y="3429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실패 위험·한계</a:t>
            </a:r>
          </a:p>
        </p:txBody>
      </p:sp>
      <p:sp>
        <p:nvSpPr>
          <p:cNvPr id="9" name="">
            <a:extLst xmlns:a="http://schemas.openxmlformats.org/drawingml/2006/main">
              <a:ext uri="{FF2B5EF4-FFF2-40B4-BE49-F238E27FC236}">
                <a16:creationId xmlns:a16="http://schemas.microsoft.com/office/drawing/2014/main" id="{FC227237-2278-4841-ADCD-0A217F3BEA2F}"/>
              </a:ext>
            </a:extLst>
          </p:cNvPr>
          <p:cNvSpPr>
            <a:spLocks xmlns:a="http://schemas.openxmlformats.org/drawingml/2006/main" noGrp="1"/>
          </p:cNvSpPr>
          <p:nvPr/>
        </p:nvSpPr>
        <p:spPr>
          <a:xfrm xmlns:a="http://schemas.openxmlformats.org/drawingml/2006/main">
            <a:off x="571500" y="3781425"/>
            <a:ext cx="5238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학교급·적용 연도 혼용</a:t>
            </a:r>
          </a:p>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유사 질문의 예외 답변 누락</a:t>
            </a:r>
          </a:p>
        </p:txBody>
      </p:sp>
      <p:sp>
        <p:nvSpPr>
          <p:cNvPr id="10" name="">
            <a:extLst xmlns:a="http://schemas.openxmlformats.org/drawingml/2006/main">
              <a:ext uri="{FF2B5EF4-FFF2-40B4-BE49-F238E27FC236}">
                <a16:creationId xmlns:a16="http://schemas.microsoft.com/office/drawing/2014/main" id="{308A9E2B-5122-4966-9540-79D1CDC6BC77}"/>
              </a:ext>
            </a:extLst>
          </p:cNvPr>
          <p:cNvSpPr>
            <a:spLocks xmlns:a="http://schemas.openxmlformats.org/drawingml/2006/main" noGrp="1"/>
          </p:cNvSpPr>
          <p:nvPr/>
        </p:nvSpPr>
        <p:spPr>
          <a:xfrm xmlns:a="http://schemas.openxmlformats.org/drawingml/2006/main">
            <a:off x="571500" y="50482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통제 지점</a:t>
            </a:r>
          </a:p>
        </p:txBody>
      </p:sp>
      <p:sp>
        <p:nvSpPr>
          <p:cNvPr id="11" name="">
            <a:extLst xmlns:a="http://schemas.openxmlformats.org/drawingml/2006/main">
              <a:ext uri="{FF2B5EF4-FFF2-40B4-BE49-F238E27FC236}">
                <a16:creationId xmlns:a16="http://schemas.microsoft.com/office/drawing/2014/main" id="{36CF7FD2-F5AD-4E91-9A74-9B13302A2318}"/>
              </a:ext>
            </a:extLst>
          </p:cNvPr>
          <p:cNvSpPr>
            <a:spLocks xmlns:a="http://schemas.openxmlformats.org/drawingml/2006/main" noGrp="1"/>
          </p:cNvSpPr>
          <p:nvPr/>
        </p:nvSpPr>
        <p:spPr>
          <a:xfrm xmlns:a="http://schemas.openxmlformats.org/drawingml/2006/main">
            <a:off x="571500" y="5400675"/>
            <a:ext cx="5238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학교급·연도·원문 페이지 대조</a:t>
            </a:r>
          </a:p>
        </p:txBody>
      </p:sp>
      <p:sp>
        <p:nvSpPr>
          <p:cNvPr id="12" name="">
            <a:extLst xmlns:a="http://schemas.openxmlformats.org/drawingml/2006/main">
              <a:ext uri="{FF2B5EF4-FFF2-40B4-BE49-F238E27FC236}">
                <a16:creationId xmlns:a16="http://schemas.microsoft.com/office/drawing/2014/main" id="{025DC1BD-D371-4223-9721-0F345B2EA0F8}"/>
              </a:ext>
            </a:extLst>
          </p:cNvPr>
          <p:cNvSpPr>
            <a:spLocks xmlns:a="http://schemas.openxmlformats.org/drawingml/2006/main" noGrp="1"/>
          </p:cNvSpPr>
          <p:nvPr/>
        </p:nvSpPr>
        <p:spPr>
          <a:xfrm xmlns:a="http://schemas.openxmlformats.org/drawingml/2006/main">
            <a:off x="6334125" y="18097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정상 과업</a:t>
            </a:r>
          </a:p>
        </p:txBody>
      </p:sp>
      <p:sp>
        <p:nvSpPr>
          <p:cNvPr id="13" name="">
            <a:extLst xmlns:a="http://schemas.openxmlformats.org/drawingml/2006/main">
              <a:ext uri="{FF2B5EF4-FFF2-40B4-BE49-F238E27FC236}">
                <a16:creationId xmlns:a16="http://schemas.microsoft.com/office/drawing/2014/main" id="{000F4DA6-A693-4393-AE19-B9BAE5478E66}"/>
              </a:ext>
            </a:extLst>
          </p:cNvPr>
          <p:cNvSpPr>
            <a:spLocks xmlns:a="http://schemas.openxmlformats.org/drawingml/2006/main" noGrp="1"/>
          </p:cNvSpPr>
          <p:nvPr/>
        </p:nvSpPr>
        <p:spPr>
          <a:xfrm xmlns:a="http://schemas.openxmlformats.org/drawingml/2006/main">
            <a:off x="6334125" y="2162175"/>
            <a:ext cx="52863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학년도·학교급에 맞는 생활기록부 지침 안내</a:t>
            </a:r>
          </a:p>
        </p:txBody>
      </p:sp>
      <p:sp>
        <p:nvSpPr>
          <p:cNvPr id="14" name="">
            <a:extLst xmlns:a="http://schemas.openxmlformats.org/drawingml/2006/main">
              <a:ext uri="{FF2B5EF4-FFF2-40B4-BE49-F238E27FC236}">
                <a16:creationId xmlns:a16="http://schemas.microsoft.com/office/drawing/2014/main" id="{89E32596-4355-4B83-8CE5-9A74A0FBFE13}"/>
              </a:ext>
            </a:extLst>
          </p:cNvPr>
          <p:cNvSpPr>
            <a:spLocks xmlns:a="http://schemas.openxmlformats.org/drawingml/2006/main" noGrp="1"/>
          </p:cNvSpPr>
          <p:nvPr/>
        </p:nvSpPr>
        <p:spPr>
          <a:xfrm xmlns:a="http://schemas.openxmlformats.org/drawingml/2006/main">
            <a:off x="6334125" y="328612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예외 입력</a:t>
            </a:r>
          </a:p>
        </p:txBody>
      </p:sp>
      <p:sp>
        <p:nvSpPr>
          <p:cNvPr id="15" name="">
            <a:extLst xmlns:a="http://schemas.openxmlformats.org/drawingml/2006/main">
              <a:ext uri="{FF2B5EF4-FFF2-40B4-BE49-F238E27FC236}">
                <a16:creationId xmlns:a16="http://schemas.microsoft.com/office/drawing/2014/main" id="{BBBEEF08-7116-4741-8534-6876322E3548}"/>
              </a:ext>
            </a:extLst>
          </p:cNvPr>
          <p:cNvSpPr>
            <a:spLocks xmlns:a="http://schemas.openxmlformats.org/drawingml/2006/main" noGrp="1"/>
          </p:cNvSpPr>
          <p:nvPr/>
        </p:nvSpPr>
        <p:spPr>
          <a:xfrm xmlns:a="http://schemas.openxmlformats.org/drawingml/2006/main">
            <a:off x="6334125" y="3638550"/>
            <a:ext cx="52863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이전 학년도 혼입·예외 조건 누락·원문 페이지 변경</a:t>
            </a:r>
          </a:p>
        </p:txBody>
      </p:sp>
      <p:sp>
        <p:nvSpPr>
          <p:cNvPr id="16" name="">
            <a:extLst xmlns:a="http://schemas.openxmlformats.org/drawingml/2006/main">
              <a:ext uri="{FF2B5EF4-FFF2-40B4-BE49-F238E27FC236}">
                <a16:creationId xmlns:a16="http://schemas.microsoft.com/office/drawing/2014/main" id="{CC0D695F-FBA9-4CFE-A0D6-2EB31912E338}"/>
              </a:ext>
            </a:extLst>
          </p:cNvPr>
          <p:cNvSpPr>
            <a:spLocks xmlns:a="http://schemas.openxmlformats.org/drawingml/2006/main" noGrp="1"/>
          </p:cNvSpPr>
          <p:nvPr/>
        </p:nvSpPr>
        <p:spPr>
          <a:xfrm xmlns:a="http://schemas.openxmlformats.org/drawingml/2006/main">
            <a:off x="6334125" y="46672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판정·증빙</a:t>
            </a:r>
          </a:p>
        </p:txBody>
      </p:sp>
      <p:sp>
        <p:nvSpPr>
          <p:cNvPr id="17" name="">
            <a:extLst xmlns:a="http://schemas.openxmlformats.org/drawingml/2006/main">
              <a:ext uri="{FF2B5EF4-FFF2-40B4-BE49-F238E27FC236}">
                <a16:creationId xmlns:a16="http://schemas.microsoft.com/office/drawing/2014/main" id="{58AD8FB8-56FD-45FE-A930-B42F5E161160}"/>
              </a:ext>
            </a:extLst>
          </p:cNvPr>
          <p:cNvSpPr>
            <a:spLocks xmlns:a="http://schemas.openxmlformats.org/drawingml/2006/main" noGrp="1"/>
          </p:cNvSpPr>
          <p:nvPr/>
        </p:nvSpPr>
        <p:spPr>
          <a:xfrm xmlns:a="http://schemas.openxmlformats.org/drawingml/2006/main">
            <a:off x="6334125" y="5019675"/>
            <a:ext cx="5286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28352B"/>
                </a:solidFill>
                <a:latin typeface="Pretendard"/>
                <a:ea typeface="Pretendard"/>
                <a:cs typeface="Pretendard"/>
              </a:defRPr>
            </a:defPPr>
            <a:lvl1pPr>
              <a:defRPr sz="1800" b="0">
                <a:solidFill>
                  <a:srgbClr val="28352B"/>
                </a:solidFill>
                <a:latin typeface="Pretendard"/>
                <a:ea typeface="Pretendard"/>
                <a:cs typeface="Pretendard"/>
              </a:defRPr>
            </a:lvl1pPr>
            <a:lvl2pPr>
              <a:defRPr sz="1800" b="0">
                <a:solidFill>
                  <a:srgbClr val="28352B"/>
                </a:solidFill>
                <a:latin typeface="Pretendard"/>
                <a:ea typeface="Pretendard"/>
                <a:cs typeface="Pretendard"/>
              </a:defRPr>
            </a:lvl2pPr>
            <a:lvl3pPr>
              <a:defRPr sz="1800" b="0">
                <a:solidFill>
                  <a:srgbClr val="28352B"/>
                </a:solidFill>
                <a:latin typeface="Pretendard"/>
                <a:ea typeface="Pretendard"/>
                <a:cs typeface="Pretendard"/>
              </a:defRPr>
            </a:lvl3pPr>
            <a:lvl4pPr>
              <a:defRPr sz="1800" b="0">
                <a:solidFill>
                  <a:srgbClr val="28352B"/>
                </a:solidFill>
                <a:latin typeface="Pretendard"/>
                <a:ea typeface="Pretendard"/>
                <a:cs typeface="Pretendard"/>
              </a:defRPr>
            </a:lvl4pPr>
            <a:lvl5pPr>
              <a:defRPr sz="1800" b="0">
                <a:solidFill>
                  <a:srgbClr val="28352B"/>
                </a:solidFill>
                <a:latin typeface="Pretendard"/>
                <a:ea typeface="Pretendard"/>
                <a:cs typeface="Pretendard"/>
              </a:defRPr>
            </a:lvl5pPr>
            <a:lvl6pPr>
              <a:defRPr sz="1800" b="0">
                <a:solidFill>
                  <a:srgbClr val="28352B"/>
                </a:solidFill>
                <a:latin typeface="Pretendard"/>
                <a:ea typeface="Pretendard"/>
                <a:cs typeface="Pretendard"/>
              </a:defRPr>
            </a:lvl6pPr>
            <a:lvl7pPr>
              <a:defRPr sz="1800" b="0">
                <a:solidFill>
                  <a:srgbClr val="28352B"/>
                </a:solidFill>
                <a:latin typeface="Pretendard"/>
                <a:ea typeface="Pretendard"/>
                <a:cs typeface="Pretendard"/>
              </a:defRPr>
            </a:lvl7pPr>
            <a:lvl8pPr>
              <a:defRPr sz="1800" b="0">
                <a:solidFill>
                  <a:srgbClr val="28352B"/>
                </a:solidFill>
                <a:latin typeface="Pretendard"/>
                <a:ea typeface="Pretendard"/>
                <a:cs typeface="Pretendard"/>
              </a:defRPr>
            </a:lvl8pPr>
            <a:lvl9pPr>
              <a:defRPr sz="1800" b="0">
                <a:solidFill>
                  <a:srgbClr val="28352B"/>
                </a:solidFill>
                <a:latin typeface="Pretendard"/>
                <a:ea typeface="Pretendard"/>
                <a:cs typeface="Pretendard"/>
              </a:defRPr>
            </a:lvl9pPr>
          </a:lstStyle>
          <a:p xmlns:a="http://schemas.openxmlformats.org/drawingml/2006/main">
            <a:pPr>
              <a:defRPr sz="1800" b="0">
                <a:solidFill>
                  <a:srgbClr val="28352B"/>
                </a:solidFill>
                <a:latin typeface="Pretendard"/>
                <a:ea typeface="Pretendard"/>
                <a:cs typeface="Pretendard"/>
              </a:defRPr>
            </a:pPr>
            <a:r>
              <a:rPr sz="1800" b="0">
                <a:solidFill>
                  <a:srgbClr val="28352B"/>
                </a:solidFill>
                <a:latin typeface="Pretendard"/>
                <a:ea typeface="Pretendard"/>
                <a:cs typeface="Pretendard"/>
              </a:rPr>
              <a:t>학년도별 정답·근거 페이지·예외 적용 대조표</a:t>
            </a:r>
          </a:p>
        </p:txBody>
      </p:sp>
    </p:spTree>
    <p:extLst>
      <p:ext uri="{BB962C8B-B14F-4D97-AF65-F5344CB8AC3E}">
        <p14:creationId xmlns:p14="http://schemas.microsoft.com/office/powerpoint/2010/main" val="1272801110"/>
      </p:ext>
    </p:extLst>
  </p:cSld>
</p:sld>
</file>

<file path=ppt/slides/slide13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F7948A8-2317-4945-978A-089A8B68DC6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ST-01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87611715-6A3D-408C-BEE2-5B204129773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지역·취약계층 안전조치 근거 지원</a:t>
            </a:r>
          </a:p>
        </p:txBody>
      </p:sp>
      <p:sp>
        <p:nvSpPr>
          <p:cNvPr id="3" name="">
            <a:extLst xmlns:a="http://schemas.openxmlformats.org/drawingml/2006/main">
              <a:ext uri="{FF2B5EF4-FFF2-40B4-BE49-F238E27FC236}">
                <a16:creationId xmlns:a16="http://schemas.microsoft.com/office/drawing/2014/main" id="{58100CAA-84B1-43F5-B85C-4A36FAB03841}"/>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95ED51C-D4C2-44C3-9F9E-465341EC776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38E5E717-DEB2-41B3-88D9-F8DA17E249B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138</a:t>
            </a:r>
          </a:p>
        </p:txBody>
      </p:sp>
      <p:sp>
        <p:nvSpPr>
          <p:cNvPr id="6" name="">
            <a:extLst xmlns:a="http://schemas.openxmlformats.org/drawingml/2006/main">
              <a:ext uri="{FF2B5EF4-FFF2-40B4-BE49-F238E27FC236}">
                <a16:creationId xmlns:a16="http://schemas.microsoft.com/office/drawing/2014/main" id="{5522F518-028C-4F50-9144-B85899C112D6}"/>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vl1pPr>
              <a:defRPr sz="1575" b="0">
                <a:solidFill>
                  <a:srgbClr val="42634B"/>
                </a:solidFill>
                <a:latin typeface="Pretendard"/>
                <a:ea typeface="Pretendard"/>
                <a:cs typeface="Pretendard"/>
              </a:defRPr>
            </a:lvl1pPr>
            <a:lvl2pPr>
              <a:defRPr sz="1575" b="0">
                <a:solidFill>
                  <a:srgbClr val="42634B"/>
                </a:solidFill>
                <a:latin typeface="Pretendard"/>
                <a:ea typeface="Pretendard"/>
                <a:cs typeface="Pretendard"/>
              </a:defRPr>
            </a:lvl2pPr>
            <a:lvl3pPr>
              <a:defRPr sz="1575" b="0">
                <a:solidFill>
                  <a:srgbClr val="42634B"/>
                </a:solidFill>
                <a:latin typeface="Pretendard"/>
                <a:ea typeface="Pretendard"/>
                <a:cs typeface="Pretendard"/>
              </a:defRPr>
            </a:lvl3pPr>
            <a:lvl4pPr>
              <a:defRPr sz="1575" b="0">
                <a:solidFill>
                  <a:srgbClr val="42634B"/>
                </a:solidFill>
                <a:latin typeface="Pretendard"/>
                <a:ea typeface="Pretendard"/>
                <a:cs typeface="Pretendard"/>
              </a:defRPr>
            </a:lvl4pPr>
            <a:lvl5pPr>
              <a:defRPr sz="1575" b="0">
                <a:solidFill>
                  <a:srgbClr val="42634B"/>
                </a:solidFill>
                <a:latin typeface="Pretendard"/>
                <a:ea typeface="Pretendard"/>
                <a:cs typeface="Pretendard"/>
              </a:defRPr>
            </a:lvl5pPr>
            <a:lvl6pPr>
              <a:defRPr sz="1575" b="0">
                <a:solidFill>
                  <a:srgbClr val="42634B"/>
                </a:solidFill>
                <a:latin typeface="Pretendard"/>
                <a:ea typeface="Pretendard"/>
                <a:cs typeface="Pretendard"/>
              </a:defRPr>
            </a:lvl6pPr>
            <a:lvl7pPr>
              <a:defRPr sz="1575" b="0">
                <a:solidFill>
                  <a:srgbClr val="42634B"/>
                </a:solidFill>
                <a:latin typeface="Pretendard"/>
                <a:ea typeface="Pretendard"/>
                <a:cs typeface="Pretendard"/>
              </a:defRPr>
            </a:lvl7pPr>
            <a:lvl8pPr>
              <a:defRPr sz="1575" b="0">
                <a:solidFill>
                  <a:srgbClr val="42634B"/>
                </a:solidFill>
                <a:latin typeface="Pretendard"/>
                <a:ea typeface="Pretendard"/>
                <a:cs typeface="Pretendard"/>
              </a:defRPr>
            </a:lvl8pPr>
            <a:lvl9pPr>
              <a:defRPr sz="1575" b="0">
                <a:solidFill>
                  <a:srgbClr val="42634B"/>
                </a:solidFill>
                <a:latin typeface="Pretendard"/>
                <a:ea typeface="Pretendard"/>
                <a:cs typeface="Pretendard"/>
              </a:defRPr>
            </a:lvl9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사고취약 수단·계층 정밀 안전망 구축</a:t>
            </a:r>
          </a:p>
        </p:txBody>
      </p:sp>
      <p:sp>
        <p:nvSpPr>
          <p:cNvPr id="7" name="">
            <a:extLst xmlns:a="http://schemas.openxmlformats.org/drawingml/2006/main">
              <a:ext uri="{FF2B5EF4-FFF2-40B4-BE49-F238E27FC236}">
                <a16:creationId xmlns:a16="http://schemas.microsoft.com/office/drawing/2014/main" id="{EF9C7F5B-21C6-49D9-86AD-9386A3B09ECB}"/>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4F908A8-8B42-460E-ADAF-580E377685C4}"/>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교통안전처</a:t>
            </a:r>
          </a:p>
        </p:txBody>
      </p:sp>
      <p:sp>
        <p:nvSpPr>
          <p:cNvPr id="9" name="">
            <a:extLst xmlns:a="http://schemas.openxmlformats.org/drawingml/2006/main">
              <a:ext uri="{FF2B5EF4-FFF2-40B4-BE49-F238E27FC236}">
                <a16:creationId xmlns:a16="http://schemas.microsoft.com/office/drawing/2014/main" id="{13AA9DB4-9FCF-47D1-9CEB-8623D376FED2}"/>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운수회사 안전관리</a:t>
            </a:r>
          </a:p>
        </p:txBody>
      </p:sp>
      <p:sp>
        <p:nvSpPr>
          <p:cNvPr id="10" name="">
            <a:extLst xmlns:a="http://schemas.openxmlformats.org/drawingml/2006/main">
              <a:ext uri="{FF2B5EF4-FFF2-40B4-BE49-F238E27FC236}">
                <a16:creationId xmlns:a16="http://schemas.microsoft.com/office/drawing/2014/main" id="{844D8A85-621C-48AE-881D-D2234E7142B7}"/>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5. 교통안전수단점검에 관한 업무 총괄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7. 운수회사 안전관리 및 교통사고 예방사업</a:t>
            </a:r>
          </a:p>
        </p:txBody>
      </p:sp>
      <p:sp>
        <p:nvSpPr>
          <p:cNvPr id="11" name="">
            <a:extLst xmlns:a="http://schemas.openxmlformats.org/drawingml/2006/main">
              <a:ext uri="{FF2B5EF4-FFF2-40B4-BE49-F238E27FC236}">
                <a16:creationId xmlns:a16="http://schemas.microsoft.com/office/drawing/2014/main" id="{A66DBEB3-55FA-4342-9C06-BF5FF8C5C81C}"/>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4ECBD78-12F9-487A-B67F-DBFA663DC190}"/>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실증사업처</a:t>
            </a:r>
          </a:p>
        </p:txBody>
      </p:sp>
      <p:sp>
        <p:nvSpPr>
          <p:cNvPr id="13" name="">
            <a:extLst xmlns:a="http://schemas.openxmlformats.org/drawingml/2006/main">
              <a:ext uri="{FF2B5EF4-FFF2-40B4-BE49-F238E27FC236}">
                <a16:creationId xmlns:a16="http://schemas.microsoft.com/office/drawing/2014/main" id="{CFFE87CA-05E7-4353-BBDC-BD7930586310}"/>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교통시설·사각지대 점검</a:t>
            </a:r>
          </a:p>
        </p:txBody>
      </p:sp>
      <p:sp>
        <p:nvSpPr>
          <p:cNvPr id="14" name="">
            <a:extLst xmlns:a="http://schemas.openxmlformats.org/drawingml/2006/main">
              <a:ext uri="{FF2B5EF4-FFF2-40B4-BE49-F238E27FC236}">
                <a16:creationId xmlns:a16="http://schemas.microsoft.com/office/drawing/2014/main" id="{682461BD-A02A-40D8-B8D2-7494AFC1C4F6}"/>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7. 교통시설 안전진단ㆍ점검ㆍ평가에 관한 업무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9. 교통안전 사각지대 교통안전점검에 관한 업무</a:t>
            </a:r>
          </a:p>
        </p:txBody>
      </p:sp>
      <p:sp>
        <p:nvSpPr>
          <p:cNvPr id="15" name="">
            <a:extLst xmlns:a="http://schemas.openxmlformats.org/drawingml/2006/main">
              <a:ext uri="{FF2B5EF4-FFF2-40B4-BE49-F238E27FC236}">
                <a16:creationId xmlns:a16="http://schemas.microsoft.com/office/drawing/2014/main" id="{0A20D703-C298-4A88-85A5-92723FA06C85}"/>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210CA0D-C938-43A8-B653-A9F0DB2CC84E}"/>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데이터융복합처</a:t>
            </a:r>
          </a:p>
        </p:txBody>
      </p:sp>
      <p:sp>
        <p:nvSpPr>
          <p:cNvPr id="17" name="">
            <a:extLst xmlns:a="http://schemas.openxmlformats.org/drawingml/2006/main">
              <a:ext uri="{FF2B5EF4-FFF2-40B4-BE49-F238E27FC236}">
                <a16:creationId xmlns:a16="http://schemas.microsoft.com/office/drawing/2014/main" id="{1F7AD75A-9DF3-4D67-92CF-C9E2AFC70F94}"/>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운행기록 분석</a:t>
            </a:r>
          </a:p>
        </p:txBody>
      </p:sp>
      <p:sp>
        <p:nvSpPr>
          <p:cNvPr id="18" name="">
            <a:extLst xmlns:a="http://schemas.openxmlformats.org/drawingml/2006/main">
              <a:ext uri="{FF2B5EF4-FFF2-40B4-BE49-F238E27FC236}">
                <a16:creationId xmlns:a16="http://schemas.microsoft.com/office/drawing/2014/main" id="{72E1FB94-89F3-42A9-8B57-376D635252E0}"/>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운행기록데이터 관리·분석·활용 및 정책지원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5. 교통안전정보관리체계 운영에 관한 업무</a:t>
            </a:r>
          </a:p>
        </p:txBody>
      </p:sp>
      <p:sp>
        <p:nvSpPr>
          <p:cNvPr id="19" name="">
            <a:extLst xmlns:a="http://schemas.openxmlformats.org/drawingml/2006/main">
              <a:ext uri="{FF2B5EF4-FFF2-40B4-BE49-F238E27FC236}">
                <a16:creationId xmlns:a16="http://schemas.microsoft.com/office/drawing/2014/main" id="{4F0D72CB-98FB-411A-AF55-0BDD51CF1D16}"/>
              </a:ext>
            </a:extLst>
          </p:cNvPr>
          <p:cNvSpPr>
            <a:spLocks xmlns:a="http://schemas.openxmlformats.org/drawingml/2006/main" noGrp="1"/>
          </p:cNvSpPr>
          <p:nvPr/>
        </p:nvSpPr>
        <p:spPr>
          <a:xfrm xmlns:a="http://schemas.openxmlformats.org/drawingml/2006/main">
            <a:off x="571500" y="490537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9DDDD39-FD4B-4E73-B59A-7FF39A4B658E}"/>
              </a:ext>
            </a:extLst>
          </p:cNvPr>
          <p:cNvSpPr>
            <a:spLocks xmlns:a="http://schemas.openxmlformats.org/drawingml/2006/main" noGrp="1"/>
          </p:cNvSpPr>
          <p:nvPr/>
        </p:nvSpPr>
        <p:spPr>
          <a:xfrm xmlns:a="http://schemas.openxmlformats.org/drawingml/2006/main">
            <a:off x="571500" y="50006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모빌리티연구처</a:t>
            </a:r>
          </a:p>
        </p:txBody>
      </p:sp>
      <p:sp>
        <p:nvSpPr>
          <p:cNvPr id="21" name="">
            <a:extLst xmlns:a="http://schemas.openxmlformats.org/drawingml/2006/main">
              <a:ext uri="{FF2B5EF4-FFF2-40B4-BE49-F238E27FC236}">
                <a16:creationId xmlns:a16="http://schemas.microsoft.com/office/drawing/2014/main" id="{72E3A8AB-1980-4079-A7C5-CEB45EAF3E23}"/>
              </a:ext>
            </a:extLst>
          </p:cNvPr>
          <p:cNvSpPr>
            <a:spLocks xmlns:a="http://schemas.openxmlformats.org/drawingml/2006/main" noGrp="1"/>
          </p:cNvSpPr>
          <p:nvPr/>
        </p:nvSpPr>
        <p:spPr>
          <a:xfrm xmlns:a="http://schemas.openxmlformats.org/drawingml/2006/main">
            <a:off x="571500" y="537210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교통약자 실태조사</a:t>
            </a:r>
          </a:p>
        </p:txBody>
      </p:sp>
      <p:sp>
        <p:nvSpPr>
          <p:cNvPr id="22" name="">
            <a:extLst xmlns:a="http://schemas.openxmlformats.org/drawingml/2006/main">
              <a:ext uri="{FF2B5EF4-FFF2-40B4-BE49-F238E27FC236}">
                <a16:creationId xmlns:a16="http://schemas.microsoft.com/office/drawing/2014/main" id="{AD601D78-DB64-4BD3-9AF4-D8E8DB61FBCC}"/>
              </a:ext>
            </a:extLst>
          </p:cNvPr>
          <p:cNvSpPr>
            <a:spLocks xmlns:a="http://schemas.openxmlformats.org/drawingml/2006/main" noGrp="1"/>
          </p:cNvSpPr>
          <p:nvPr/>
        </p:nvSpPr>
        <p:spPr>
          <a:xfrm xmlns:a="http://schemas.openxmlformats.org/drawingml/2006/main">
            <a:off x="3143250" y="500062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23. 교통약자 이동편의실태조사 및 자료관리</a:t>
            </a:r>
          </a:p>
        </p:txBody>
      </p:sp>
      <p:sp>
        <p:nvSpPr>
          <p:cNvPr id="23" name="">
            <a:extLst xmlns:a="http://schemas.openxmlformats.org/drawingml/2006/main">
              <a:ext uri="{FF2B5EF4-FFF2-40B4-BE49-F238E27FC236}">
                <a16:creationId xmlns:a16="http://schemas.microsoft.com/office/drawing/2014/main" id="{DFA4486B-34E5-4421-8B6E-3774A83B06A8}"/>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582024797"/>
      </p:ext>
    </p:extLst>
  </p:cSld>
</p:sld>
</file>

<file path=ppt/slides/slide13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0C913FF1-3EB3-443B-B7C2-4F931EAD1A7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ST-01 / CCK 재사용·추가 개발·검수·기대효과</a:t>
            </a:r>
          </a:p>
        </p:txBody>
      </p:sp>
      <p:sp>
        <p:nvSpPr>
          <p:cNvPr id="2" name="">
            <a:extLst xmlns:a="http://schemas.openxmlformats.org/drawingml/2006/main">
              <a:ext uri="{FF2B5EF4-FFF2-40B4-BE49-F238E27FC236}">
                <a16:creationId xmlns:a16="http://schemas.microsoft.com/office/drawing/2014/main" id="{CE6B9D9D-B2BF-48C5-9B12-788F88A1637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지역·취약계층 안전조치 근거 지원</a:t>
            </a:r>
          </a:p>
        </p:txBody>
      </p:sp>
      <p:sp>
        <p:nvSpPr>
          <p:cNvPr id="3" name="">
            <a:extLst xmlns:a="http://schemas.openxmlformats.org/drawingml/2006/main">
              <a:ext uri="{FF2B5EF4-FFF2-40B4-BE49-F238E27FC236}">
                <a16:creationId xmlns:a16="http://schemas.microsoft.com/office/drawing/2014/main" id="{4C9276C6-270F-48DA-939A-37A97A55C68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8B37372-3D83-47E6-A68F-34B281F090E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50B85155-EF7E-4C46-A4B0-460D99F7731E}"/>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139</a:t>
            </a:r>
          </a:p>
        </p:txBody>
      </p:sp>
      <p:sp>
        <p:nvSpPr>
          <p:cNvPr id="6" name="">
            <a:extLst xmlns:a="http://schemas.openxmlformats.org/drawingml/2006/main">
              <a:ext uri="{FF2B5EF4-FFF2-40B4-BE49-F238E27FC236}">
                <a16:creationId xmlns:a16="http://schemas.microsoft.com/office/drawing/2014/main" id="{A33E17A5-440A-414C-B95E-72E43AFD4BC4}"/>
              </a:ext>
            </a:extLst>
          </p:cNvPr>
          <p:cNvSpPr>
            <a:spLocks xmlns:a="http://schemas.openxmlformats.org/drawingml/2006/main" noGrp="1"/>
          </p:cNvSpPr>
          <p:nvPr/>
        </p:nvSpPr>
        <p:spPr>
          <a:xfrm xmlns:a="http://schemas.openxmlformats.org/drawingml/2006/main">
            <a:off x="571500" y="17526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재사용 후보</a:t>
            </a:r>
          </a:p>
        </p:txBody>
      </p:sp>
      <p:sp>
        <p:nvSpPr>
          <p:cNvPr id="7" name="">
            <a:extLst xmlns:a="http://schemas.openxmlformats.org/drawingml/2006/main">
              <a:ext uri="{FF2B5EF4-FFF2-40B4-BE49-F238E27FC236}">
                <a16:creationId xmlns:a16="http://schemas.microsoft.com/office/drawing/2014/main" id="{73B8035A-D730-4A54-94B5-06FE34362FA3}"/>
              </a:ext>
            </a:extLst>
          </p:cNvPr>
          <p:cNvSpPr>
            <a:spLocks xmlns:a="http://schemas.openxmlformats.org/drawingml/2006/main" noGrp="1"/>
          </p:cNvSpPr>
          <p:nvPr/>
        </p:nvSpPr>
        <p:spPr>
          <a:xfrm xmlns:a="http://schemas.openxmlformats.org/drawingml/2006/main">
            <a:off x="571500" y="21050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NOA의 점검 기준 검색·요약</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Audin·JET의 증빙 검토·항목 구조화</a:t>
            </a:r>
          </a:p>
        </p:txBody>
      </p:sp>
      <p:sp>
        <p:nvSpPr>
          <p:cNvPr id="8" name="">
            <a:extLst xmlns:a="http://schemas.openxmlformats.org/drawingml/2006/main">
              <a:ext uri="{FF2B5EF4-FFF2-40B4-BE49-F238E27FC236}">
                <a16:creationId xmlns:a16="http://schemas.microsoft.com/office/drawing/2014/main" id="{2BFDB739-6539-4C84-A86F-61465944FF65}"/>
              </a:ext>
            </a:extLst>
          </p:cNvPr>
          <p:cNvSpPr>
            <a:spLocks xmlns:a="http://schemas.openxmlformats.org/drawingml/2006/main" noGrp="1"/>
          </p:cNvSpPr>
          <p:nvPr/>
        </p:nvSpPr>
        <p:spPr>
          <a:xfrm xmlns:a="http://schemas.openxmlformats.org/drawingml/2006/main">
            <a:off x="571500" y="32099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9" name="">
            <a:extLst xmlns:a="http://schemas.openxmlformats.org/drawingml/2006/main">
              <a:ext uri="{FF2B5EF4-FFF2-40B4-BE49-F238E27FC236}">
                <a16:creationId xmlns:a16="http://schemas.microsoft.com/office/drawing/2014/main" id="{9CBD4A5B-78C6-418A-9EC1-06F6A0AA5E16}"/>
              </a:ext>
            </a:extLst>
          </p:cNvPr>
          <p:cNvSpPr>
            <a:spLocks xmlns:a="http://schemas.openxmlformats.org/drawingml/2006/main" noGrp="1"/>
          </p:cNvSpPr>
          <p:nvPr/>
        </p:nvSpPr>
        <p:spPr>
          <a:xfrm xmlns:a="http://schemas.openxmlformats.org/drawingml/2006/main">
            <a:off x="571500" y="3562350"/>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관할·대상 코드 사전</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점검항목–증거–조치 연결표</a:t>
            </a:r>
          </a:p>
        </p:txBody>
      </p:sp>
      <p:sp>
        <p:nvSpPr>
          <p:cNvPr id="10" name="">
            <a:extLst xmlns:a="http://schemas.openxmlformats.org/drawingml/2006/main">
              <a:ext uri="{FF2B5EF4-FFF2-40B4-BE49-F238E27FC236}">
                <a16:creationId xmlns:a16="http://schemas.microsoft.com/office/drawing/2014/main" id="{7A016250-78E9-4BE2-BC30-6D39A48BDD23}"/>
              </a:ext>
            </a:extLst>
          </p:cNvPr>
          <p:cNvSpPr>
            <a:spLocks xmlns:a="http://schemas.openxmlformats.org/drawingml/2006/main" noGrp="1"/>
          </p:cNvSpPr>
          <p:nvPr/>
        </p:nvSpPr>
        <p:spPr>
          <a:xfrm xmlns:a="http://schemas.openxmlformats.org/drawingml/2006/main">
            <a:off x="571500" y="4572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a:t>
            </a:r>
          </a:p>
        </p:txBody>
      </p:sp>
      <p:sp>
        <p:nvSpPr>
          <p:cNvPr id="11" name="">
            <a:extLst xmlns:a="http://schemas.openxmlformats.org/drawingml/2006/main">
              <a:ext uri="{FF2B5EF4-FFF2-40B4-BE49-F238E27FC236}">
                <a16:creationId xmlns:a16="http://schemas.microsoft.com/office/drawing/2014/main" id="{9E0E28C2-3EB6-4ACD-A225-E770C9CBDD4E}"/>
              </a:ext>
            </a:extLst>
          </p:cNvPr>
          <p:cNvSpPr>
            <a:spLocks xmlns:a="http://schemas.openxmlformats.org/drawingml/2006/main" noGrp="1"/>
          </p:cNvSpPr>
          <p:nvPr/>
        </p:nvSpPr>
        <p:spPr>
          <a:xfrm xmlns:a="http://schemas.openxmlformats.org/drawingml/2006/main">
            <a:off x="571500" y="4924425"/>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위험 검토시간·조치 누락 감소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검토 완료시간 중앙값 / 미조치 탐지 건수 ÷ 실제 미조</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치 건수</a:t>
            </a:r>
          </a:p>
        </p:txBody>
      </p:sp>
      <p:sp>
        <p:nvSpPr>
          <p:cNvPr id="12" name="">
            <a:extLst xmlns:a="http://schemas.openxmlformats.org/drawingml/2006/main">
              <a:ext uri="{FF2B5EF4-FFF2-40B4-BE49-F238E27FC236}">
                <a16:creationId xmlns:a16="http://schemas.microsoft.com/office/drawing/2014/main" id="{AD8B6A2B-E275-4416-A660-670E5C760DAD}"/>
              </a:ext>
            </a:extLst>
          </p:cNvPr>
          <p:cNvSpPr>
            <a:spLocks xmlns:a="http://schemas.openxmlformats.org/drawingml/2006/main" noGrp="1"/>
          </p:cNvSpPr>
          <p:nvPr/>
        </p:nvSpPr>
        <p:spPr>
          <a:xfrm xmlns:a="http://schemas.openxmlformats.org/drawingml/2006/main">
            <a:off x="6334125" y="1752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입력</a:t>
            </a:r>
          </a:p>
        </p:txBody>
      </p:sp>
      <p:sp>
        <p:nvSpPr>
          <p:cNvPr id="13" name="">
            <a:extLst xmlns:a="http://schemas.openxmlformats.org/drawingml/2006/main">
              <a:ext uri="{FF2B5EF4-FFF2-40B4-BE49-F238E27FC236}">
                <a16:creationId xmlns:a16="http://schemas.microsoft.com/office/drawing/2014/main" id="{CBFC1656-125F-4732-90FF-381BEDCD0733}"/>
              </a:ext>
            </a:extLst>
          </p:cNvPr>
          <p:cNvSpPr>
            <a:spLocks xmlns:a="http://schemas.openxmlformats.org/drawingml/2006/main" noGrp="1"/>
          </p:cNvSpPr>
          <p:nvPr/>
        </p:nvSpPr>
        <p:spPr>
          <a:xfrm xmlns:a="http://schemas.openxmlformats.org/drawingml/2006/main">
            <a:off x="6334125" y="2105025"/>
            <a:ext cx="5286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기간·지역 불일치, 증빙 없는 완료 건 주입</a:t>
            </a:r>
          </a:p>
        </p:txBody>
      </p:sp>
      <p:sp>
        <p:nvSpPr>
          <p:cNvPr id="14" name="">
            <a:extLst xmlns:a="http://schemas.openxmlformats.org/drawingml/2006/main">
              <a:ext uri="{FF2B5EF4-FFF2-40B4-BE49-F238E27FC236}">
                <a16:creationId xmlns:a16="http://schemas.microsoft.com/office/drawing/2014/main" id="{BCEBB157-DD9A-4FB9-93AC-EC6A9C6F0EBE}"/>
              </a:ext>
            </a:extLst>
          </p:cNvPr>
          <p:cNvSpPr>
            <a:spLocks xmlns:a="http://schemas.openxmlformats.org/drawingml/2006/main" noGrp="1"/>
          </p:cNvSpPr>
          <p:nvPr/>
        </p:nvSpPr>
        <p:spPr>
          <a:xfrm xmlns:a="http://schemas.openxmlformats.org/drawingml/2006/main">
            <a:off x="6334125" y="29241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 기준</a:t>
            </a:r>
          </a:p>
        </p:txBody>
      </p:sp>
      <p:sp>
        <p:nvSpPr>
          <p:cNvPr id="15" name="">
            <a:extLst xmlns:a="http://schemas.openxmlformats.org/drawingml/2006/main">
              <a:ext uri="{FF2B5EF4-FFF2-40B4-BE49-F238E27FC236}">
                <a16:creationId xmlns:a16="http://schemas.microsoft.com/office/drawing/2014/main" id="{BE725944-F60E-4725-8E7A-F070226E84F2}"/>
              </a:ext>
            </a:extLst>
          </p:cNvPr>
          <p:cNvSpPr>
            <a:spLocks xmlns:a="http://schemas.openxmlformats.org/drawingml/2006/main" noGrp="1"/>
          </p:cNvSpPr>
          <p:nvPr/>
        </p:nvSpPr>
        <p:spPr>
          <a:xfrm xmlns:a="http://schemas.openxmlformats.org/drawingml/2006/main">
            <a:off x="6334125" y="3276600"/>
            <a:ext cx="5286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원천 위치 표시·불일치 보류·미조치 유지</a:t>
            </a:r>
          </a:p>
        </p:txBody>
      </p:sp>
      <p:sp>
        <p:nvSpPr>
          <p:cNvPr id="16" name="">
            <a:extLst xmlns:a="http://schemas.openxmlformats.org/drawingml/2006/main">
              <a:ext uri="{FF2B5EF4-FFF2-40B4-BE49-F238E27FC236}">
                <a16:creationId xmlns:a16="http://schemas.microsoft.com/office/drawing/2014/main" id="{E67C566F-3CEB-46BE-87DA-D6BFA95D8CA5}"/>
              </a:ext>
            </a:extLst>
          </p:cNvPr>
          <p:cNvSpPr>
            <a:spLocks xmlns:a="http://schemas.openxmlformats.org/drawingml/2006/main" noGrp="1"/>
          </p:cNvSpPr>
          <p:nvPr/>
        </p:nvSpPr>
        <p:spPr>
          <a:xfrm xmlns:a="http://schemas.openxmlformats.org/drawingml/2006/main">
            <a:off x="6334125" y="42481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제출 증빙</a:t>
            </a:r>
          </a:p>
        </p:txBody>
      </p:sp>
      <p:sp>
        <p:nvSpPr>
          <p:cNvPr id="17" name="">
            <a:extLst xmlns:a="http://schemas.openxmlformats.org/drawingml/2006/main">
              <a:ext uri="{FF2B5EF4-FFF2-40B4-BE49-F238E27FC236}">
                <a16:creationId xmlns:a16="http://schemas.microsoft.com/office/drawing/2014/main" id="{17997D7C-9994-44B1-928A-AA98E626A67C}"/>
              </a:ext>
            </a:extLst>
          </p:cNvPr>
          <p:cNvSpPr>
            <a:spLocks xmlns:a="http://schemas.openxmlformats.org/drawingml/2006/main" noGrp="1"/>
          </p:cNvSpPr>
          <p:nvPr/>
        </p:nvSpPr>
        <p:spPr>
          <a:xfrm xmlns:a="http://schemas.openxmlformats.org/drawingml/2006/main">
            <a:off x="6334125" y="460057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원천 대사표·누락 탐지 결과·검토 이력</a:t>
            </a:r>
          </a:p>
        </p:txBody>
      </p:sp>
      <p:sp>
        <p:nvSpPr>
          <p:cNvPr id="18" name="">
            <a:extLst xmlns:a="http://schemas.openxmlformats.org/drawingml/2006/main">
              <a:ext uri="{FF2B5EF4-FFF2-40B4-BE49-F238E27FC236}">
                <a16:creationId xmlns:a16="http://schemas.microsoft.com/office/drawing/2014/main" id="{A47167A1-30EE-4489-8533-C256166655CB}"/>
              </a:ext>
            </a:extLst>
          </p:cNvPr>
          <p:cNvSpPr>
            <a:spLocks xmlns:a="http://schemas.openxmlformats.org/drawingml/2006/main" noGrp="1"/>
          </p:cNvSpPr>
          <p:nvPr/>
        </p:nvSpPr>
        <p:spPr>
          <a:xfrm xmlns:a="http://schemas.openxmlformats.org/drawingml/2006/main">
            <a:off x="6334125" y="54483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BM-ST-01-R01 / BM-ST-01-T01</a:t>
            </a:r>
          </a:p>
        </p:txBody>
      </p:sp>
      <p:sp>
        <p:nvSpPr>
          <p:cNvPr id="19" name="">
            <a:extLst xmlns:a="http://schemas.openxmlformats.org/drawingml/2006/main">
              <a:ext uri="{FF2B5EF4-FFF2-40B4-BE49-F238E27FC236}">
                <a16:creationId xmlns:a16="http://schemas.microsoft.com/office/drawing/2014/main" id="{04E3E298-B2A6-4185-9049-446BC5C22F9A}"/>
              </a:ext>
            </a:extLst>
          </p:cNvPr>
          <p:cNvSpPr>
            <a:spLocks xmlns:a="http://schemas.openxmlformats.org/drawingml/2006/main" noGrp="1"/>
          </p:cNvSpPr>
          <p:nvPr/>
        </p:nvSpPr>
        <p:spPr>
          <a:xfrm xmlns:a="http://schemas.openxmlformats.org/drawingml/2006/main">
            <a:off x="6334125" y="5810250"/>
            <a:ext cx="5286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검수 설계안·미실행 / 기대효과 TS 실측 전</a:t>
            </a:r>
          </a:p>
        </p:txBody>
      </p:sp>
    </p:spTree>
    <p:extLst>
      <p:ext uri="{BB962C8B-B14F-4D97-AF65-F5344CB8AC3E}">
        <p14:creationId xmlns:p14="http://schemas.microsoft.com/office/powerpoint/2010/main" val="1471494781"/>
      </p:ext>
    </p:extLst>
  </p:cSld>
</p:sld>
</file>

<file path=ppt/slides/slide14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F449EE13-4EE6-4D5A-ABCA-BC42571304E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ST-02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398EA9FF-447A-4135-81FC-371437291FB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검사·소비자 권익 검토 지원</a:t>
            </a:r>
          </a:p>
        </p:txBody>
      </p:sp>
      <p:sp>
        <p:nvSpPr>
          <p:cNvPr id="3" name="">
            <a:extLst xmlns:a="http://schemas.openxmlformats.org/drawingml/2006/main">
              <a:ext uri="{FF2B5EF4-FFF2-40B4-BE49-F238E27FC236}">
                <a16:creationId xmlns:a16="http://schemas.microsoft.com/office/drawing/2014/main" id="{7C4AC65D-A154-49EB-A40C-BDCAAB1A9F0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6E678AC-AD18-4C53-961A-463A89652EF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FA5A4563-D421-4164-95F7-51BC7F90CAE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140</a:t>
            </a:r>
          </a:p>
        </p:txBody>
      </p:sp>
      <p:sp>
        <p:nvSpPr>
          <p:cNvPr id="6" name="">
            <a:extLst xmlns:a="http://schemas.openxmlformats.org/drawingml/2006/main">
              <a:ext uri="{FF2B5EF4-FFF2-40B4-BE49-F238E27FC236}">
                <a16:creationId xmlns:a16="http://schemas.microsoft.com/office/drawing/2014/main" id="{1CD6B239-EB3F-41DE-8C0D-9888029AAFBA}"/>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vl1pPr>
              <a:defRPr sz="1575" b="0">
                <a:solidFill>
                  <a:srgbClr val="42634B"/>
                </a:solidFill>
                <a:latin typeface="Pretendard"/>
                <a:ea typeface="Pretendard"/>
                <a:cs typeface="Pretendard"/>
              </a:defRPr>
            </a:lvl1pPr>
            <a:lvl2pPr>
              <a:defRPr sz="1575" b="0">
                <a:solidFill>
                  <a:srgbClr val="42634B"/>
                </a:solidFill>
                <a:latin typeface="Pretendard"/>
                <a:ea typeface="Pretendard"/>
                <a:cs typeface="Pretendard"/>
              </a:defRPr>
            </a:lvl2pPr>
            <a:lvl3pPr>
              <a:defRPr sz="1575" b="0">
                <a:solidFill>
                  <a:srgbClr val="42634B"/>
                </a:solidFill>
                <a:latin typeface="Pretendard"/>
                <a:ea typeface="Pretendard"/>
                <a:cs typeface="Pretendard"/>
              </a:defRPr>
            </a:lvl3pPr>
            <a:lvl4pPr>
              <a:defRPr sz="1575" b="0">
                <a:solidFill>
                  <a:srgbClr val="42634B"/>
                </a:solidFill>
                <a:latin typeface="Pretendard"/>
                <a:ea typeface="Pretendard"/>
                <a:cs typeface="Pretendard"/>
              </a:defRPr>
            </a:lvl4pPr>
            <a:lvl5pPr>
              <a:defRPr sz="1575" b="0">
                <a:solidFill>
                  <a:srgbClr val="42634B"/>
                </a:solidFill>
                <a:latin typeface="Pretendard"/>
                <a:ea typeface="Pretendard"/>
                <a:cs typeface="Pretendard"/>
              </a:defRPr>
            </a:lvl5pPr>
            <a:lvl6pPr>
              <a:defRPr sz="1575" b="0">
                <a:solidFill>
                  <a:srgbClr val="42634B"/>
                </a:solidFill>
                <a:latin typeface="Pretendard"/>
                <a:ea typeface="Pretendard"/>
                <a:cs typeface="Pretendard"/>
              </a:defRPr>
            </a:lvl6pPr>
            <a:lvl7pPr>
              <a:defRPr sz="1575" b="0">
                <a:solidFill>
                  <a:srgbClr val="42634B"/>
                </a:solidFill>
                <a:latin typeface="Pretendard"/>
                <a:ea typeface="Pretendard"/>
                <a:cs typeface="Pretendard"/>
              </a:defRPr>
            </a:lvl7pPr>
            <a:lvl8pPr>
              <a:defRPr sz="1575" b="0">
                <a:solidFill>
                  <a:srgbClr val="42634B"/>
                </a:solidFill>
                <a:latin typeface="Pretendard"/>
                <a:ea typeface="Pretendard"/>
                <a:cs typeface="Pretendard"/>
              </a:defRPr>
            </a:lvl8pPr>
            <a:lvl9pPr>
              <a:defRPr sz="1575" b="0">
                <a:solidFill>
                  <a:srgbClr val="42634B"/>
                </a:solidFill>
                <a:latin typeface="Pretendard"/>
                <a:ea typeface="Pretendard"/>
                <a:cs typeface="Pretendard"/>
              </a:defRPr>
            </a:lvl9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자동차 안전관리 및 소비자 권익 강화</a:t>
            </a:r>
          </a:p>
        </p:txBody>
      </p:sp>
      <p:sp>
        <p:nvSpPr>
          <p:cNvPr id="7" name="">
            <a:extLst xmlns:a="http://schemas.openxmlformats.org/drawingml/2006/main">
              <a:ext uri="{FF2B5EF4-FFF2-40B4-BE49-F238E27FC236}">
                <a16:creationId xmlns:a16="http://schemas.microsoft.com/office/drawing/2014/main" id="{3BC3112A-506A-4F2F-BCA7-1F8B55FEA5B6}"/>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C818569-EE4B-47DF-A8AC-541BF62CE07B}"/>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검사기획처</a:t>
            </a:r>
          </a:p>
        </p:txBody>
      </p:sp>
      <p:sp>
        <p:nvSpPr>
          <p:cNvPr id="9" name="">
            <a:extLst xmlns:a="http://schemas.openxmlformats.org/drawingml/2006/main">
              <a:ext uri="{FF2B5EF4-FFF2-40B4-BE49-F238E27FC236}">
                <a16:creationId xmlns:a16="http://schemas.microsoft.com/office/drawing/2014/main" id="{1C8F5F33-32E9-4092-ACC7-C69A9F6C8830}"/>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검사제도·품질 관리</a:t>
            </a:r>
          </a:p>
        </p:txBody>
      </p:sp>
      <p:sp>
        <p:nvSpPr>
          <p:cNvPr id="10" name="">
            <a:extLst xmlns:a="http://schemas.openxmlformats.org/drawingml/2006/main">
              <a:ext uri="{FF2B5EF4-FFF2-40B4-BE49-F238E27FC236}">
                <a16:creationId xmlns:a16="http://schemas.microsoft.com/office/drawing/2014/main" id="{BB535FCF-EF8A-4812-82DE-8BE359D42D0A}"/>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10. 자동차검사 품질강화 및 공공성 강화 관련 업무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21. 검사표준서비스, 검사프로세스 개선‧관리</a:t>
            </a:r>
          </a:p>
        </p:txBody>
      </p:sp>
      <p:sp>
        <p:nvSpPr>
          <p:cNvPr id="11" name="">
            <a:extLst xmlns:a="http://schemas.openxmlformats.org/drawingml/2006/main">
              <a:ext uri="{FF2B5EF4-FFF2-40B4-BE49-F238E27FC236}">
                <a16:creationId xmlns:a16="http://schemas.microsoft.com/office/drawing/2014/main" id="{CCA95CE7-3B19-4E35-AA9A-560EDCB0F226}"/>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2A12C25-B8CD-4734-8126-BCF57B0D3B2C}"/>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기술승인처</a:t>
            </a:r>
          </a:p>
        </p:txBody>
      </p:sp>
      <p:sp>
        <p:nvSpPr>
          <p:cNvPr id="13" name="">
            <a:extLst xmlns:a="http://schemas.openxmlformats.org/drawingml/2006/main">
              <a:ext uri="{FF2B5EF4-FFF2-40B4-BE49-F238E27FC236}">
                <a16:creationId xmlns:a16="http://schemas.microsoft.com/office/drawing/2014/main" id="{950C1E0F-4E33-4FD9-85A5-FB839E88C9DB}"/>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튜닝 승인·검사</a:t>
            </a:r>
          </a:p>
        </p:txBody>
      </p:sp>
      <p:sp>
        <p:nvSpPr>
          <p:cNvPr id="14" name="">
            <a:extLst xmlns:a="http://schemas.openxmlformats.org/drawingml/2006/main">
              <a:ext uri="{FF2B5EF4-FFF2-40B4-BE49-F238E27FC236}">
                <a16:creationId xmlns:a16="http://schemas.microsoft.com/office/drawing/2014/main" id="{B78BC6EA-4722-44EC-85EA-F3B0B2725780}"/>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 튜닝승인 및 튜닝검사, 안전검사 등에 관한 업무</a:t>
            </a:r>
          </a:p>
        </p:txBody>
      </p:sp>
      <p:sp>
        <p:nvSpPr>
          <p:cNvPr id="15" name="">
            <a:extLst xmlns:a="http://schemas.openxmlformats.org/drawingml/2006/main">
              <a:ext uri="{FF2B5EF4-FFF2-40B4-BE49-F238E27FC236}">
                <a16:creationId xmlns:a16="http://schemas.microsoft.com/office/drawing/2014/main" id="{08BF9866-00E3-4BA3-B18D-D8AE4AAF5515}"/>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7B548A4-9509-4231-92AC-F7C3C658E40F}"/>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자동차안전연구원</a:t>
            </a:r>
          </a:p>
        </p:txBody>
      </p:sp>
      <p:sp>
        <p:nvSpPr>
          <p:cNvPr id="17" name="">
            <a:extLst xmlns:a="http://schemas.openxmlformats.org/drawingml/2006/main">
              <a:ext uri="{FF2B5EF4-FFF2-40B4-BE49-F238E27FC236}">
                <a16:creationId xmlns:a16="http://schemas.microsoft.com/office/drawing/2014/main" id="{2EBA9E91-FD5F-47AC-A842-B3DD03EA12A0}"/>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제작결함 조사·안전도평가</a:t>
            </a:r>
          </a:p>
        </p:txBody>
      </p:sp>
      <p:sp>
        <p:nvSpPr>
          <p:cNvPr id="18" name="">
            <a:extLst xmlns:a="http://schemas.openxmlformats.org/drawingml/2006/main">
              <a:ext uri="{FF2B5EF4-FFF2-40B4-BE49-F238E27FC236}">
                <a16:creationId xmlns:a16="http://schemas.microsoft.com/office/drawing/2014/main" id="{65C3758B-7D45-4805-9C02-A1AE7D1B3F82}"/>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법령·업무 원장 기반 요약 / 세부 직제 확인</a:t>
            </a:r>
          </a:p>
        </p:txBody>
      </p:sp>
      <p:sp>
        <p:nvSpPr>
          <p:cNvPr id="19" name="">
            <a:extLst xmlns:a="http://schemas.openxmlformats.org/drawingml/2006/main">
              <a:ext uri="{FF2B5EF4-FFF2-40B4-BE49-F238E27FC236}">
                <a16:creationId xmlns:a16="http://schemas.microsoft.com/office/drawing/2014/main" id="{B9FC5EA3-7A14-4C20-A080-64C29B4EC83C}"/>
              </a:ext>
            </a:extLst>
          </p:cNvPr>
          <p:cNvSpPr>
            <a:spLocks xmlns:a="http://schemas.openxmlformats.org/drawingml/2006/main" noGrp="1"/>
          </p:cNvSpPr>
          <p:nvPr/>
        </p:nvSpPr>
        <p:spPr>
          <a:xfrm xmlns:a="http://schemas.openxmlformats.org/drawingml/2006/main">
            <a:off x="571500" y="490537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C9C88E3-0489-4A61-A5A5-86D133AACA1E}"/>
              </a:ext>
            </a:extLst>
          </p:cNvPr>
          <p:cNvSpPr>
            <a:spLocks xmlns:a="http://schemas.openxmlformats.org/drawingml/2006/main" noGrp="1"/>
          </p:cNvSpPr>
          <p:nvPr/>
        </p:nvSpPr>
        <p:spPr>
          <a:xfrm xmlns:a="http://schemas.openxmlformats.org/drawingml/2006/main">
            <a:off x="571500" y="50006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자동차정보처</a:t>
            </a:r>
          </a:p>
        </p:txBody>
      </p:sp>
      <p:sp>
        <p:nvSpPr>
          <p:cNvPr id="21" name="">
            <a:extLst xmlns:a="http://schemas.openxmlformats.org/drawingml/2006/main">
              <a:ext uri="{FF2B5EF4-FFF2-40B4-BE49-F238E27FC236}">
                <a16:creationId xmlns:a16="http://schemas.microsoft.com/office/drawing/2014/main" id="{5ACC12D7-EED0-4654-9382-4C930B2D735E}"/>
              </a:ext>
            </a:extLst>
          </p:cNvPr>
          <p:cNvSpPr>
            <a:spLocks xmlns:a="http://schemas.openxmlformats.org/drawingml/2006/main" noGrp="1"/>
          </p:cNvSpPr>
          <p:nvPr/>
        </p:nvSpPr>
        <p:spPr>
          <a:xfrm xmlns:a="http://schemas.openxmlformats.org/drawingml/2006/main">
            <a:off x="571500" y="537210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자동차 이력·정보 관리</a:t>
            </a:r>
          </a:p>
        </p:txBody>
      </p:sp>
      <p:sp>
        <p:nvSpPr>
          <p:cNvPr id="22" name="">
            <a:extLst xmlns:a="http://schemas.openxmlformats.org/drawingml/2006/main">
              <a:ext uri="{FF2B5EF4-FFF2-40B4-BE49-F238E27FC236}">
                <a16:creationId xmlns:a16="http://schemas.microsoft.com/office/drawing/2014/main" id="{1FC264FE-A6CC-47DF-A366-55E33F5DA1F4}"/>
              </a:ext>
            </a:extLst>
          </p:cNvPr>
          <p:cNvSpPr>
            <a:spLocks xmlns:a="http://schemas.openxmlformats.org/drawingml/2006/main" noGrp="1"/>
          </p:cNvSpPr>
          <p:nvPr/>
        </p:nvSpPr>
        <p:spPr>
          <a:xfrm xmlns:a="http://schemas.openxmlformats.org/drawingml/2006/main">
            <a:off x="3143250" y="500062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자동차토털이력관리시스템 운영</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8. 자동차정보 통합서비스 제공 업무</a:t>
            </a:r>
          </a:p>
        </p:txBody>
      </p:sp>
      <p:sp>
        <p:nvSpPr>
          <p:cNvPr id="23" name="">
            <a:extLst xmlns:a="http://schemas.openxmlformats.org/drawingml/2006/main">
              <a:ext uri="{FF2B5EF4-FFF2-40B4-BE49-F238E27FC236}">
                <a16:creationId xmlns:a16="http://schemas.microsoft.com/office/drawing/2014/main" id="{FBBDFE39-3C22-4E4E-BF69-2E6FF458344C}"/>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14361579"/>
      </p:ext>
    </p:extLst>
  </p:cSld>
</p:sld>
</file>

<file path=ppt/slides/slide14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7C835C7-FF5B-45E0-B174-78AEEED3802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ST-02 / CCK 재사용·추가 개발·검수·기대효과</a:t>
            </a:r>
          </a:p>
        </p:txBody>
      </p:sp>
      <p:sp>
        <p:nvSpPr>
          <p:cNvPr id="2" name="">
            <a:extLst xmlns:a="http://schemas.openxmlformats.org/drawingml/2006/main">
              <a:ext uri="{FF2B5EF4-FFF2-40B4-BE49-F238E27FC236}">
                <a16:creationId xmlns:a16="http://schemas.microsoft.com/office/drawing/2014/main" id="{646A3D06-971A-4A80-BFC3-7DF2EC8AF21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검사·소비자 권익 검토 지원</a:t>
            </a:r>
          </a:p>
        </p:txBody>
      </p:sp>
      <p:sp>
        <p:nvSpPr>
          <p:cNvPr id="3" name="">
            <a:extLst xmlns:a="http://schemas.openxmlformats.org/drawingml/2006/main">
              <a:ext uri="{FF2B5EF4-FFF2-40B4-BE49-F238E27FC236}">
                <a16:creationId xmlns:a16="http://schemas.microsoft.com/office/drawing/2014/main" id="{46B5FB4A-0206-4452-AB43-7901DEF738B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12FFF9F-E69D-489B-8F30-ED33E133B9D5}"/>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D468F1FF-79E0-488B-87A0-370AB9D7BCF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141</a:t>
            </a:r>
          </a:p>
        </p:txBody>
      </p:sp>
      <p:sp>
        <p:nvSpPr>
          <p:cNvPr id="6" name="">
            <a:extLst xmlns:a="http://schemas.openxmlformats.org/drawingml/2006/main">
              <a:ext uri="{FF2B5EF4-FFF2-40B4-BE49-F238E27FC236}">
                <a16:creationId xmlns:a16="http://schemas.microsoft.com/office/drawing/2014/main" id="{03F9228C-DE61-40CD-9E9D-9B01F4C97B76}"/>
              </a:ext>
            </a:extLst>
          </p:cNvPr>
          <p:cNvSpPr>
            <a:spLocks xmlns:a="http://schemas.openxmlformats.org/drawingml/2006/main" noGrp="1"/>
          </p:cNvSpPr>
          <p:nvPr/>
        </p:nvSpPr>
        <p:spPr>
          <a:xfrm xmlns:a="http://schemas.openxmlformats.org/drawingml/2006/main">
            <a:off x="571500" y="17526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재사용 후보</a:t>
            </a:r>
          </a:p>
        </p:txBody>
      </p:sp>
      <p:sp>
        <p:nvSpPr>
          <p:cNvPr id="7" name="">
            <a:extLst xmlns:a="http://schemas.openxmlformats.org/drawingml/2006/main">
              <a:ext uri="{FF2B5EF4-FFF2-40B4-BE49-F238E27FC236}">
                <a16:creationId xmlns:a16="http://schemas.microsoft.com/office/drawing/2014/main" id="{D08541AB-C115-4BE4-B217-E8C0EEBE23D9}"/>
              </a:ext>
            </a:extLst>
          </p:cNvPr>
          <p:cNvSpPr>
            <a:spLocks xmlns:a="http://schemas.openxmlformats.org/drawingml/2006/main" noGrp="1"/>
          </p:cNvSpPr>
          <p:nvPr/>
        </p:nvSpPr>
        <p:spPr>
          <a:xfrm xmlns:a="http://schemas.openxmlformats.org/drawingml/2006/main">
            <a:off x="571500" y="21050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NOA의 기준 검색·서식 초안</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Audin·Foundry의 근거 검토·절차 구성</a:t>
            </a:r>
          </a:p>
        </p:txBody>
      </p:sp>
      <p:sp>
        <p:nvSpPr>
          <p:cNvPr id="8" name="">
            <a:extLst xmlns:a="http://schemas.openxmlformats.org/drawingml/2006/main">
              <a:ext uri="{FF2B5EF4-FFF2-40B4-BE49-F238E27FC236}">
                <a16:creationId xmlns:a16="http://schemas.microsoft.com/office/drawing/2014/main" id="{A8EE6158-02DE-4CE4-848E-58C7A5E21586}"/>
              </a:ext>
            </a:extLst>
          </p:cNvPr>
          <p:cNvSpPr>
            <a:spLocks xmlns:a="http://schemas.openxmlformats.org/drawingml/2006/main" noGrp="1"/>
          </p:cNvSpPr>
          <p:nvPr/>
        </p:nvSpPr>
        <p:spPr>
          <a:xfrm xmlns:a="http://schemas.openxmlformats.org/drawingml/2006/main">
            <a:off x="571500" y="32099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9" name="">
            <a:extLst xmlns:a="http://schemas.openxmlformats.org/drawingml/2006/main">
              <a:ext uri="{FF2B5EF4-FFF2-40B4-BE49-F238E27FC236}">
                <a16:creationId xmlns:a16="http://schemas.microsoft.com/office/drawing/2014/main" id="{6FEC3BD4-1091-4D62-A0F6-788E56BF1F5C}"/>
              </a:ext>
            </a:extLst>
          </p:cNvPr>
          <p:cNvSpPr>
            <a:spLocks xmlns:a="http://schemas.openxmlformats.org/drawingml/2006/main" noGrp="1"/>
          </p:cNvSpPr>
          <p:nvPr/>
        </p:nvSpPr>
        <p:spPr>
          <a:xfrm xmlns:a="http://schemas.openxmlformats.org/drawingml/2006/main">
            <a:off x="571500" y="3562350"/>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차량–검사–민원 사건 연결 명세</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기준 개정·신청일 판정 규칙</a:t>
            </a:r>
          </a:p>
        </p:txBody>
      </p:sp>
      <p:sp>
        <p:nvSpPr>
          <p:cNvPr id="10" name="">
            <a:extLst xmlns:a="http://schemas.openxmlformats.org/drawingml/2006/main">
              <a:ext uri="{FF2B5EF4-FFF2-40B4-BE49-F238E27FC236}">
                <a16:creationId xmlns:a16="http://schemas.microsoft.com/office/drawing/2014/main" id="{95E35E93-5640-4FBC-954A-D08CF188CD0A}"/>
              </a:ext>
            </a:extLst>
          </p:cNvPr>
          <p:cNvSpPr>
            <a:spLocks xmlns:a="http://schemas.openxmlformats.org/drawingml/2006/main" noGrp="1"/>
          </p:cNvSpPr>
          <p:nvPr/>
        </p:nvSpPr>
        <p:spPr>
          <a:xfrm xmlns:a="http://schemas.openxmlformats.org/drawingml/2006/main">
            <a:off x="571500" y="4572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a:t>
            </a:r>
          </a:p>
        </p:txBody>
      </p:sp>
      <p:sp>
        <p:nvSpPr>
          <p:cNvPr id="11" name="">
            <a:extLst xmlns:a="http://schemas.openxmlformats.org/drawingml/2006/main">
              <a:ext uri="{FF2B5EF4-FFF2-40B4-BE49-F238E27FC236}">
                <a16:creationId xmlns:a16="http://schemas.microsoft.com/office/drawing/2014/main" id="{87716F09-DEA3-4268-835A-2B108F6B704A}"/>
              </a:ext>
            </a:extLst>
          </p:cNvPr>
          <p:cNvSpPr>
            <a:spLocks xmlns:a="http://schemas.openxmlformats.org/drawingml/2006/main" noGrp="1"/>
          </p:cNvSpPr>
          <p:nvPr/>
        </p:nvSpPr>
        <p:spPr>
          <a:xfrm xmlns:a="http://schemas.openxmlformats.org/drawingml/2006/main">
            <a:off x="571500" y="4924425"/>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보완 반복·검토 누락 감소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업무건당 보완 횟수 / 필수 증빙 누락 건수 ÷ 평가 건수</a:t>
            </a:r>
          </a:p>
        </p:txBody>
      </p:sp>
      <p:sp>
        <p:nvSpPr>
          <p:cNvPr id="12" name="">
            <a:extLst xmlns:a="http://schemas.openxmlformats.org/drawingml/2006/main">
              <a:ext uri="{FF2B5EF4-FFF2-40B4-BE49-F238E27FC236}">
                <a16:creationId xmlns:a16="http://schemas.microsoft.com/office/drawing/2014/main" id="{287EDE4E-FC1D-4740-9803-90BBD21E584C}"/>
              </a:ext>
            </a:extLst>
          </p:cNvPr>
          <p:cNvSpPr>
            <a:spLocks xmlns:a="http://schemas.openxmlformats.org/drawingml/2006/main" noGrp="1"/>
          </p:cNvSpPr>
          <p:nvPr/>
        </p:nvSpPr>
        <p:spPr>
          <a:xfrm xmlns:a="http://schemas.openxmlformats.org/drawingml/2006/main">
            <a:off x="6334125" y="1752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입력</a:t>
            </a:r>
          </a:p>
        </p:txBody>
      </p:sp>
      <p:sp>
        <p:nvSpPr>
          <p:cNvPr id="13" name="">
            <a:extLst xmlns:a="http://schemas.openxmlformats.org/drawingml/2006/main">
              <a:ext uri="{FF2B5EF4-FFF2-40B4-BE49-F238E27FC236}">
                <a16:creationId xmlns:a16="http://schemas.microsoft.com/office/drawing/2014/main" id="{0A745C48-BC03-40D7-8B64-C2E2728A0F52}"/>
              </a:ext>
            </a:extLst>
          </p:cNvPr>
          <p:cNvSpPr>
            <a:spLocks xmlns:a="http://schemas.openxmlformats.org/drawingml/2006/main" noGrp="1"/>
          </p:cNvSpPr>
          <p:nvPr/>
        </p:nvSpPr>
        <p:spPr>
          <a:xfrm xmlns:a="http://schemas.openxmlformats.org/drawingml/2006/main">
            <a:off x="6334125" y="2105025"/>
            <a:ext cx="5286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개정 전후 신청, 다른 차량 증빙, 누락서류 주입</a:t>
            </a:r>
          </a:p>
        </p:txBody>
      </p:sp>
      <p:sp>
        <p:nvSpPr>
          <p:cNvPr id="14" name="">
            <a:extLst xmlns:a="http://schemas.openxmlformats.org/drawingml/2006/main">
              <a:ext uri="{FF2B5EF4-FFF2-40B4-BE49-F238E27FC236}">
                <a16:creationId xmlns:a16="http://schemas.microsoft.com/office/drawing/2014/main" id="{48A6E58C-49F0-4CDF-9E78-042D1D7A7D8B}"/>
              </a:ext>
            </a:extLst>
          </p:cNvPr>
          <p:cNvSpPr>
            <a:spLocks xmlns:a="http://schemas.openxmlformats.org/drawingml/2006/main" noGrp="1"/>
          </p:cNvSpPr>
          <p:nvPr/>
        </p:nvSpPr>
        <p:spPr>
          <a:xfrm xmlns:a="http://schemas.openxmlformats.org/drawingml/2006/main">
            <a:off x="6334125" y="29241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 기준</a:t>
            </a:r>
          </a:p>
        </p:txBody>
      </p:sp>
      <p:sp>
        <p:nvSpPr>
          <p:cNvPr id="15" name="">
            <a:extLst xmlns:a="http://schemas.openxmlformats.org/drawingml/2006/main">
              <a:ext uri="{FF2B5EF4-FFF2-40B4-BE49-F238E27FC236}">
                <a16:creationId xmlns:a16="http://schemas.microsoft.com/office/drawing/2014/main" id="{71BC9B31-1881-47C8-8E92-975097B1C25A}"/>
              </a:ext>
            </a:extLst>
          </p:cNvPr>
          <p:cNvSpPr>
            <a:spLocks xmlns:a="http://schemas.openxmlformats.org/drawingml/2006/main" noGrp="1"/>
          </p:cNvSpPr>
          <p:nvPr/>
        </p:nvSpPr>
        <p:spPr>
          <a:xfrm xmlns:a="http://schemas.openxmlformats.org/drawingml/2006/main">
            <a:off x="6334125" y="3276600"/>
            <a:ext cx="5286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해당 판본·차량 일치·불완전 건 승인 보류</a:t>
            </a:r>
          </a:p>
        </p:txBody>
      </p:sp>
      <p:sp>
        <p:nvSpPr>
          <p:cNvPr id="16" name="">
            <a:extLst xmlns:a="http://schemas.openxmlformats.org/drawingml/2006/main">
              <a:ext uri="{FF2B5EF4-FFF2-40B4-BE49-F238E27FC236}">
                <a16:creationId xmlns:a16="http://schemas.microsoft.com/office/drawing/2014/main" id="{69B123D9-D690-4E7C-AB83-EF7D328512B9}"/>
              </a:ext>
            </a:extLst>
          </p:cNvPr>
          <p:cNvSpPr>
            <a:spLocks xmlns:a="http://schemas.openxmlformats.org/drawingml/2006/main" noGrp="1"/>
          </p:cNvSpPr>
          <p:nvPr/>
        </p:nvSpPr>
        <p:spPr>
          <a:xfrm xmlns:a="http://schemas.openxmlformats.org/drawingml/2006/main">
            <a:off x="6334125" y="42481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제출 증빙</a:t>
            </a:r>
          </a:p>
        </p:txBody>
      </p:sp>
      <p:sp>
        <p:nvSpPr>
          <p:cNvPr id="17" name="">
            <a:extLst xmlns:a="http://schemas.openxmlformats.org/drawingml/2006/main">
              <a:ext uri="{FF2B5EF4-FFF2-40B4-BE49-F238E27FC236}">
                <a16:creationId xmlns:a16="http://schemas.microsoft.com/office/drawing/2014/main" id="{8E2E7DBD-15A0-44FF-96A0-9767EDDEB1AB}"/>
              </a:ext>
            </a:extLst>
          </p:cNvPr>
          <p:cNvSpPr>
            <a:spLocks xmlns:a="http://schemas.openxmlformats.org/drawingml/2006/main" noGrp="1"/>
          </p:cNvSpPr>
          <p:nvPr/>
        </p:nvSpPr>
        <p:spPr>
          <a:xfrm xmlns:a="http://schemas.openxmlformats.org/drawingml/2006/main">
            <a:off x="6334125" y="460057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판본 대조표·보완 목록·승인 차단 로그</a:t>
            </a:r>
          </a:p>
        </p:txBody>
      </p:sp>
      <p:sp>
        <p:nvSpPr>
          <p:cNvPr id="18" name="">
            <a:extLst xmlns:a="http://schemas.openxmlformats.org/drawingml/2006/main">
              <a:ext uri="{FF2B5EF4-FFF2-40B4-BE49-F238E27FC236}">
                <a16:creationId xmlns:a16="http://schemas.microsoft.com/office/drawing/2014/main" id="{04C5CE43-2D8E-4FA3-B313-6F4105CB3C3A}"/>
              </a:ext>
            </a:extLst>
          </p:cNvPr>
          <p:cNvSpPr>
            <a:spLocks xmlns:a="http://schemas.openxmlformats.org/drawingml/2006/main" noGrp="1"/>
          </p:cNvSpPr>
          <p:nvPr/>
        </p:nvSpPr>
        <p:spPr>
          <a:xfrm xmlns:a="http://schemas.openxmlformats.org/drawingml/2006/main">
            <a:off x="6334125" y="54483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BM-ST-02-R01 / BM-ST-02-T01</a:t>
            </a:r>
          </a:p>
        </p:txBody>
      </p:sp>
      <p:sp>
        <p:nvSpPr>
          <p:cNvPr id="19" name="">
            <a:extLst xmlns:a="http://schemas.openxmlformats.org/drawingml/2006/main">
              <a:ext uri="{FF2B5EF4-FFF2-40B4-BE49-F238E27FC236}">
                <a16:creationId xmlns:a16="http://schemas.microsoft.com/office/drawing/2014/main" id="{E50A40CA-4FE4-46CC-9063-D58B871CFF37}"/>
              </a:ext>
            </a:extLst>
          </p:cNvPr>
          <p:cNvSpPr>
            <a:spLocks xmlns:a="http://schemas.openxmlformats.org/drawingml/2006/main" noGrp="1"/>
          </p:cNvSpPr>
          <p:nvPr/>
        </p:nvSpPr>
        <p:spPr>
          <a:xfrm xmlns:a="http://schemas.openxmlformats.org/drawingml/2006/main">
            <a:off x="6334125" y="5810250"/>
            <a:ext cx="5286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검수 설계안·미실행 / 기대효과 TS 실측 전</a:t>
            </a:r>
          </a:p>
        </p:txBody>
      </p:sp>
    </p:spTree>
    <p:extLst>
      <p:ext uri="{BB962C8B-B14F-4D97-AF65-F5344CB8AC3E}">
        <p14:creationId xmlns:p14="http://schemas.microsoft.com/office/powerpoint/2010/main" val="386995328"/>
      </p:ext>
    </p:extLst>
  </p:cSld>
</p:sld>
</file>

<file path=ppt/slides/slide14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3472CB80-5627-42BD-870B-6C288562DA7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ST-03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7518B299-BA51-4CFF-A9EB-DA66ABD6782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중대사고 예방·보고 완전성</a:t>
            </a:r>
          </a:p>
        </p:txBody>
      </p:sp>
      <p:sp>
        <p:nvSpPr>
          <p:cNvPr id="3" name="">
            <a:extLst xmlns:a="http://schemas.openxmlformats.org/drawingml/2006/main">
              <a:ext uri="{FF2B5EF4-FFF2-40B4-BE49-F238E27FC236}">
                <a16:creationId xmlns:a16="http://schemas.microsoft.com/office/drawing/2014/main" id="{B6654CF2-0AB1-4BBD-B8CF-290A804447E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AF38D4E-78D8-401A-AAAD-8AABB46317E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CB86163-9644-4747-9BDA-82ADC40D871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142</a:t>
            </a:r>
          </a:p>
        </p:txBody>
      </p:sp>
      <p:sp>
        <p:nvSpPr>
          <p:cNvPr id="6" name="">
            <a:extLst xmlns:a="http://schemas.openxmlformats.org/drawingml/2006/main">
              <a:ext uri="{FF2B5EF4-FFF2-40B4-BE49-F238E27FC236}">
                <a16:creationId xmlns:a16="http://schemas.microsoft.com/office/drawing/2014/main" id="{1ACB3039-B034-4C77-A82D-998BD24561AC}"/>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vl1pPr>
              <a:defRPr sz="1575" b="0">
                <a:solidFill>
                  <a:srgbClr val="42634B"/>
                </a:solidFill>
                <a:latin typeface="Pretendard"/>
                <a:ea typeface="Pretendard"/>
                <a:cs typeface="Pretendard"/>
              </a:defRPr>
            </a:lvl1pPr>
            <a:lvl2pPr>
              <a:defRPr sz="1575" b="0">
                <a:solidFill>
                  <a:srgbClr val="42634B"/>
                </a:solidFill>
                <a:latin typeface="Pretendard"/>
                <a:ea typeface="Pretendard"/>
                <a:cs typeface="Pretendard"/>
              </a:defRPr>
            </a:lvl2pPr>
            <a:lvl3pPr>
              <a:defRPr sz="1575" b="0">
                <a:solidFill>
                  <a:srgbClr val="42634B"/>
                </a:solidFill>
                <a:latin typeface="Pretendard"/>
                <a:ea typeface="Pretendard"/>
                <a:cs typeface="Pretendard"/>
              </a:defRPr>
            </a:lvl3pPr>
            <a:lvl4pPr>
              <a:defRPr sz="1575" b="0">
                <a:solidFill>
                  <a:srgbClr val="42634B"/>
                </a:solidFill>
                <a:latin typeface="Pretendard"/>
                <a:ea typeface="Pretendard"/>
                <a:cs typeface="Pretendard"/>
              </a:defRPr>
            </a:lvl4pPr>
            <a:lvl5pPr>
              <a:defRPr sz="1575" b="0">
                <a:solidFill>
                  <a:srgbClr val="42634B"/>
                </a:solidFill>
                <a:latin typeface="Pretendard"/>
                <a:ea typeface="Pretendard"/>
                <a:cs typeface="Pretendard"/>
              </a:defRPr>
            </a:lvl5pPr>
            <a:lvl6pPr>
              <a:defRPr sz="1575" b="0">
                <a:solidFill>
                  <a:srgbClr val="42634B"/>
                </a:solidFill>
                <a:latin typeface="Pretendard"/>
                <a:ea typeface="Pretendard"/>
                <a:cs typeface="Pretendard"/>
              </a:defRPr>
            </a:lvl6pPr>
            <a:lvl7pPr>
              <a:defRPr sz="1575" b="0">
                <a:solidFill>
                  <a:srgbClr val="42634B"/>
                </a:solidFill>
                <a:latin typeface="Pretendard"/>
                <a:ea typeface="Pretendard"/>
                <a:cs typeface="Pretendard"/>
              </a:defRPr>
            </a:lvl7pPr>
            <a:lvl8pPr>
              <a:defRPr sz="1575" b="0">
                <a:solidFill>
                  <a:srgbClr val="42634B"/>
                </a:solidFill>
                <a:latin typeface="Pretendard"/>
                <a:ea typeface="Pretendard"/>
                <a:cs typeface="Pretendard"/>
              </a:defRPr>
            </a:lvl8pPr>
            <a:lvl9pPr>
              <a:defRPr sz="1575" b="0">
                <a:solidFill>
                  <a:srgbClr val="42634B"/>
                </a:solidFill>
                <a:latin typeface="Pretendard"/>
                <a:ea typeface="Pretendard"/>
                <a:cs typeface="Pretendard"/>
              </a:defRPr>
            </a:lvl9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중대사고 예방 능동적 안전관리체계 구축</a:t>
            </a:r>
          </a:p>
        </p:txBody>
      </p:sp>
      <p:sp>
        <p:nvSpPr>
          <p:cNvPr id="7" name="">
            <a:extLst xmlns:a="http://schemas.openxmlformats.org/drawingml/2006/main">
              <a:ext uri="{FF2B5EF4-FFF2-40B4-BE49-F238E27FC236}">
                <a16:creationId xmlns:a16="http://schemas.microsoft.com/office/drawing/2014/main" id="{4088231B-6A5C-46A9-8806-647A2142A144}"/>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FD51BB6-09F9-4324-B8A8-CDC58A25B3AB}"/>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안전보건실</a:t>
            </a:r>
          </a:p>
        </p:txBody>
      </p:sp>
      <p:sp>
        <p:nvSpPr>
          <p:cNvPr id="9" name="">
            <a:extLst xmlns:a="http://schemas.openxmlformats.org/drawingml/2006/main">
              <a:ext uri="{FF2B5EF4-FFF2-40B4-BE49-F238E27FC236}">
                <a16:creationId xmlns:a16="http://schemas.microsoft.com/office/drawing/2014/main" id="{30A173AB-C228-472F-9DD8-EFBB62ABCA5D}"/>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사업장 안전·재발방지</a:t>
            </a:r>
          </a:p>
        </p:txBody>
      </p:sp>
      <p:sp>
        <p:nvSpPr>
          <p:cNvPr id="10" name="">
            <a:extLst xmlns:a="http://schemas.openxmlformats.org/drawingml/2006/main">
              <a:ext uri="{FF2B5EF4-FFF2-40B4-BE49-F238E27FC236}">
                <a16:creationId xmlns:a16="http://schemas.microsoft.com/office/drawing/2014/main" id="{6C5E0404-D840-4BBE-9468-CE2B23601297}"/>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4. 산업재해 신고, 사고대응 및 재발방지 조치</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6. 중대재해처벌법 안전보건의무 이행점검에 관한 업무</a:t>
            </a:r>
          </a:p>
        </p:txBody>
      </p:sp>
      <p:sp>
        <p:nvSpPr>
          <p:cNvPr id="11" name="">
            <a:extLst xmlns:a="http://schemas.openxmlformats.org/drawingml/2006/main">
              <a:ext uri="{FF2B5EF4-FFF2-40B4-BE49-F238E27FC236}">
                <a16:creationId xmlns:a16="http://schemas.microsoft.com/office/drawing/2014/main" id="{4D4BBB09-D392-49EC-A96F-9C87F5F67AE4}"/>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0675021-3C30-47A8-8F83-E5965D5CC08C}"/>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교통안전처</a:t>
            </a:r>
          </a:p>
        </p:txBody>
      </p:sp>
      <p:sp>
        <p:nvSpPr>
          <p:cNvPr id="13" name="">
            <a:extLst xmlns:a="http://schemas.openxmlformats.org/drawingml/2006/main">
              <a:ext uri="{FF2B5EF4-FFF2-40B4-BE49-F238E27FC236}">
                <a16:creationId xmlns:a16="http://schemas.microsoft.com/office/drawing/2014/main" id="{47B75632-4575-4EFE-B5DB-5EC25937A1CF}"/>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운수회사 예방대책</a:t>
            </a:r>
          </a:p>
        </p:txBody>
      </p:sp>
      <p:sp>
        <p:nvSpPr>
          <p:cNvPr id="14" name="">
            <a:extLst xmlns:a="http://schemas.openxmlformats.org/drawingml/2006/main">
              <a:ext uri="{FF2B5EF4-FFF2-40B4-BE49-F238E27FC236}">
                <a16:creationId xmlns:a16="http://schemas.microsoft.com/office/drawing/2014/main" id="{533226FB-E8E0-46BB-860F-B99AE25E2D34}"/>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4. 교통사고예방대책 수립 및 교통안전사업 개발</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7. 운수회사 안전관리 및 교통사고 예방사업</a:t>
            </a:r>
          </a:p>
        </p:txBody>
      </p:sp>
      <p:sp>
        <p:nvSpPr>
          <p:cNvPr id="15" name="">
            <a:extLst xmlns:a="http://schemas.openxmlformats.org/drawingml/2006/main">
              <a:ext uri="{FF2B5EF4-FFF2-40B4-BE49-F238E27FC236}">
                <a16:creationId xmlns:a16="http://schemas.microsoft.com/office/drawing/2014/main" id="{44B3197F-11DF-4050-A96E-51C1F3EC848D}"/>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BCF8037-97D6-4FB4-A5E3-154B44A0051A}"/>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실증사업처</a:t>
            </a:r>
          </a:p>
        </p:txBody>
      </p:sp>
      <p:sp>
        <p:nvSpPr>
          <p:cNvPr id="17" name="">
            <a:extLst xmlns:a="http://schemas.openxmlformats.org/drawingml/2006/main">
              <a:ext uri="{FF2B5EF4-FFF2-40B4-BE49-F238E27FC236}">
                <a16:creationId xmlns:a16="http://schemas.microsoft.com/office/drawing/2014/main" id="{22623576-B92F-425B-BB40-85C3E34C4172}"/>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교통시설 안전점검</a:t>
            </a:r>
          </a:p>
        </p:txBody>
      </p:sp>
      <p:sp>
        <p:nvSpPr>
          <p:cNvPr id="18" name="">
            <a:extLst xmlns:a="http://schemas.openxmlformats.org/drawingml/2006/main">
              <a:ext uri="{FF2B5EF4-FFF2-40B4-BE49-F238E27FC236}">
                <a16:creationId xmlns:a16="http://schemas.microsoft.com/office/drawing/2014/main" id="{BFDBEF6C-E3A0-43B8-B078-5565E4C83D8A}"/>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7. 교통시설 안전진단ㆍ점검ㆍ평가에 관한 업무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10. 교통시설설치ㆍ관리자의 교통안전관리규정 적정성 및 이행여부 확인평가</a:t>
            </a:r>
          </a:p>
        </p:txBody>
      </p:sp>
      <p:sp>
        <p:nvSpPr>
          <p:cNvPr id="19" name="">
            <a:extLst xmlns:a="http://schemas.openxmlformats.org/drawingml/2006/main">
              <a:ext uri="{FF2B5EF4-FFF2-40B4-BE49-F238E27FC236}">
                <a16:creationId xmlns:a16="http://schemas.microsoft.com/office/drawing/2014/main" id="{E51C0DFF-6BAD-4859-B329-0F5F8D98379B}"/>
              </a:ext>
            </a:extLst>
          </p:cNvPr>
          <p:cNvSpPr>
            <a:spLocks xmlns:a="http://schemas.openxmlformats.org/drawingml/2006/main" noGrp="1"/>
          </p:cNvSpPr>
          <p:nvPr/>
        </p:nvSpPr>
        <p:spPr>
          <a:xfrm xmlns:a="http://schemas.openxmlformats.org/drawingml/2006/main">
            <a:off x="571500" y="490537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7F79F42-DAEB-4458-BFA7-AFE53D989A14}"/>
              </a:ext>
            </a:extLst>
          </p:cNvPr>
          <p:cNvSpPr>
            <a:spLocks xmlns:a="http://schemas.openxmlformats.org/drawingml/2006/main" noGrp="1"/>
          </p:cNvSpPr>
          <p:nvPr/>
        </p:nvSpPr>
        <p:spPr>
          <a:xfrm xmlns:a="http://schemas.openxmlformats.org/drawingml/2006/main">
            <a:off x="571500" y="50006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철도안전처</a:t>
            </a:r>
          </a:p>
        </p:txBody>
      </p:sp>
      <p:sp>
        <p:nvSpPr>
          <p:cNvPr id="21" name="">
            <a:extLst xmlns:a="http://schemas.openxmlformats.org/drawingml/2006/main">
              <a:ext uri="{FF2B5EF4-FFF2-40B4-BE49-F238E27FC236}">
                <a16:creationId xmlns:a16="http://schemas.microsoft.com/office/drawing/2014/main" id="{B8DF2759-1808-46A3-90AE-B926266A4F7F}"/>
              </a:ext>
            </a:extLst>
          </p:cNvPr>
          <p:cNvSpPr>
            <a:spLocks xmlns:a="http://schemas.openxmlformats.org/drawingml/2006/main" noGrp="1"/>
          </p:cNvSpPr>
          <p:nvPr/>
        </p:nvSpPr>
        <p:spPr>
          <a:xfrm xmlns:a="http://schemas.openxmlformats.org/drawingml/2006/main">
            <a:off x="571500" y="537210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철도사고 분석</a:t>
            </a:r>
          </a:p>
        </p:txBody>
      </p:sp>
      <p:sp>
        <p:nvSpPr>
          <p:cNvPr id="22" name="">
            <a:extLst xmlns:a="http://schemas.openxmlformats.org/drawingml/2006/main">
              <a:ext uri="{FF2B5EF4-FFF2-40B4-BE49-F238E27FC236}">
                <a16:creationId xmlns:a16="http://schemas.microsoft.com/office/drawing/2014/main" id="{24CE542F-1FF3-4A38-BCBE-FFE9CC0B75BE}"/>
              </a:ext>
            </a:extLst>
          </p:cNvPr>
          <p:cNvSpPr>
            <a:spLocks xmlns:a="http://schemas.openxmlformats.org/drawingml/2006/main" noGrp="1"/>
          </p:cNvSpPr>
          <p:nvPr/>
        </p:nvSpPr>
        <p:spPr>
          <a:xfrm xmlns:a="http://schemas.openxmlformats.org/drawingml/2006/main">
            <a:off x="3143250" y="500062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6. 철도사고(철도준사고 포함) 자료 원인분석 및 정책자료 제공</a:t>
            </a:r>
          </a:p>
        </p:txBody>
      </p:sp>
      <p:sp>
        <p:nvSpPr>
          <p:cNvPr id="23" name="">
            <a:extLst xmlns:a="http://schemas.openxmlformats.org/drawingml/2006/main">
              <a:ext uri="{FF2B5EF4-FFF2-40B4-BE49-F238E27FC236}">
                <a16:creationId xmlns:a16="http://schemas.microsoft.com/office/drawing/2014/main" id="{815EE3D0-0868-4666-B828-E0147CD796CD}"/>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396470016"/>
      </p:ext>
    </p:extLst>
  </p:cSld>
</p:sld>
</file>

<file path=ppt/slides/slide14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3F3A46B3-AC1D-4550-9608-64FD21417F5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ST-03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93E823EB-0AA9-48ED-BE9A-AB6206770F0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중대사고 예방·보고 완전성</a:t>
            </a:r>
          </a:p>
        </p:txBody>
      </p:sp>
      <p:sp>
        <p:nvSpPr>
          <p:cNvPr id="3" name="">
            <a:extLst xmlns:a="http://schemas.openxmlformats.org/drawingml/2006/main">
              <a:ext uri="{FF2B5EF4-FFF2-40B4-BE49-F238E27FC236}">
                <a16:creationId xmlns:a16="http://schemas.microsoft.com/office/drawing/2014/main" id="{4517255D-F192-414A-B270-E3BB427FA74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1F828D0-1DE5-4737-A77C-D0BCE84E7BAB}"/>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314EF6AB-EE61-4619-80EB-37CA3EE5EA0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143</a:t>
            </a:r>
          </a:p>
        </p:txBody>
      </p:sp>
      <p:sp>
        <p:nvSpPr>
          <p:cNvPr id="6" name="">
            <a:extLst xmlns:a="http://schemas.openxmlformats.org/drawingml/2006/main">
              <a:ext uri="{FF2B5EF4-FFF2-40B4-BE49-F238E27FC236}">
                <a16:creationId xmlns:a16="http://schemas.microsoft.com/office/drawing/2014/main" id="{EC8130A7-69D0-409F-9281-EDB3F44E2C88}"/>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vl1pPr>
              <a:defRPr sz="1575" b="0">
                <a:solidFill>
                  <a:srgbClr val="42634B"/>
                </a:solidFill>
                <a:latin typeface="Pretendard"/>
                <a:ea typeface="Pretendard"/>
                <a:cs typeface="Pretendard"/>
              </a:defRPr>
            </a:lvl1pPr>
            <a:lvl2pPr>
              <a:defRPr sz="1575" b="0">
                <a:solidFill>
                  <a:srgbClr val="42634B"/>
                </a:solidFill>
                <a:latin typeface="Pretendard"/>
                <a:ea typeface="Pretendard"/>
                <a:cs typeface="Pretendard"/>
              </a:defRPr>
            </a:lvl2pPr>
            <a:lvl3pPr>
              <a:defRPr sz="1575" b="0">
                <a:solidFill>
                  <a:srgbClr val="42634B"/>
                </a:solidFill>
                <a:latin typeface="Pretendard"/>
                <a:ea typeface="Pretendard"/>
                <a:cs typeface="Pretendard"/>
              </a:defRPr>
            </a:lvl3pPr>
            <a:lvl4pPr>
              <a:defRPr sz="1575" b="0">
                <a:solidFill>
                  <a:srgbClr val="42634B"/>
                </a:solidFill>
                <a:latin typeface="Pretendard"/>
                <a:ea typeface="Pretendard"/>
                <a:cs typeface="Pretendard"/>
              </a:defRPr>
            </a:lvl4pPr>
            <a:lvl5pPr>
              <a:defRPr sz="1575" b="0">
                <a:solidFill>
                  <a:srgbClr val="42634B"/>
                </a:solidFill>
                <a:latin typeface="Pretendard"/>
                <a:ea typeface="Pretendard"/>
                <a:cs typeface="Pretendard"/>
              </a:defRPr>
            </a:lvl5pPr>
            <a:lvl6pPr>
              <a:defRPr sz="1575" b="0">
                <a:solidFill>
                  <a:srgbClr val="42634B"/>
                </a:solidFill>
                <a:latin typeface="Pretendard"/>
                <a:ea typeface="Pretendard"/>
                <a:cs typeface="Pretendard"/>
              </a:defRPr>
            </a:lvl6pPr>
            <a:lvl7pPr>
              <a:defRPr sz="1575" b="0">
                <a:solidFill>
                  <a:srgbClr val="42634B"/>
                </a:solidFill>
                <a:latin typeface="Pretendard"/>
                <a:ea typeface="Pretendard"/>
                <a:cs typeface="Pretendard"/>
              </a:defRPr>
            </a:lvl7pPr>
            <a:lvl8pPr>
              <a:defRPr sz="1575" b="0">
                <a:solidFill>
                  <a:srgbClr val="42634B"/>
                </a:solidFill>
                <a:latin typeface="Pretendard"/>
                <a:ea typeface="Pretendard"/>
                <a:cs typeface="Pretendard"/>
              </a:defRPr>
            </a:lvl8pPr>
            <a:lvl9pPr>
              <a:defRPr sz="1575" b="0">
                <a:solidFill>
                  <a:srgbClr val="42634B"/>
                </a:solidFill>
                <a:latin typeface="Pretendard"/>
                <a:ea typeface="Pretendard"/>
                <a:cs typeface="Pretendard"/>
              </a:defRPr>
            </a:lvl9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중대사고 예방 능동적 안전관리체계 구축</a:t>
            </a:r>
          </a:p>
        </p:txBody>
      </p:sp>
      <p:sp>
        <p:nvSpPr>
          <p:cNvPr id="7" name="">
            <a:extLst xmlns:a="http://schemas.openxmlformats.org/drawingml/2006/main">
              <a:ext uri="{FF2B5EF4-FFF2-40B4-BE49-F238E27FC236}">
                <a16:creationId xmlns:a16="http://schemas.microsoft.com/office/drawing/2014/main" id="{57E63428-4F6C-4FF4-9126-AEFDEDD304D7}"/>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3E04AA7-6C7C-487E-BD06-58CC09FE66B9}"/>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철도승인처</a:t>
            </a:r>
          </a:p>
        </p:txBody>
      </p:sp>
      <p:sp>
        <p:nvSpPr>
          <p:cNvPr id="9" name="">
            <a:extLst xmlns:a="http://schemas.openxmlformats.org/drawingml/2006/main">
              <a:ext uri="{FF2B5EF4-FFF2-40B4-BE49-F238E27FC236}">
                <a16:creationId xmlns:a16="http://schemas.microsoft.com/office/drawing/2014/main" id="{D689A935-3D7D-46AB-9D00-F1E5F2BF5872}"/>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철도 안전관리체계 승인</a:t>
            </a:r>
          </a:p>
        </p:txBody>
      </p:sp>
      <p:sp>
        <p:nvSpPr>
          <p:cNvPr id="10" name="">
            <a:extLst xmlns:a="http://schemas.openxmlformats.org/drawingml/2006/main">
              <a:ext uri="{FF2B5EF4-FFF2-40B4-BE49-F238E27FC236}">
                <a16:creationId xmlns:a16="http://schemas.microsoft.com/office/drawing/2014/main" id="{216E3D0E-4767-4097-9C00-4F45100936D8}"/>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 철도안전관리체계 승인업무(최초·변경) 시행</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철도안전관리체계 기술기준 제·개정 및 관리</a:t>
            </a:r>
          </a:p>
        </p:txBody>
      </p:sp>
      <p:sp>
        <p:nvSpPr>
          <p:cNvPr id="11" name="">
            <a:extLst xmlns:a="http://schemas.openxmlformats.org/drawingml/2006/main">
              <a:ext uri="{FF2B5EF4-FFF2-40B4-BE49-F238E27FC236}">
                <a16:creationId xmlns:a16="http://schemas.microsoft.com/office/drawing/2014/main" id="{8AC5A5AD-FE54-4B31-BDBA-1A2DB5630EBE}"/>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366B4E9-5007-435A-9ECA-C3BE3E9C6823}"/>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철도검사처</a:t>
            </a:r>
          </a:p>
        </p:txBody>
      </p:sp>
      <p:sp>
        <p:nvSpPr>
          <p:cNvPr id="13" name="">
            <a:extLst xmlns:a="http://schemas.openxmlformats.org/drawingml/2006/main">
              <a:ext uri="{FF2B5EF4-FFF2-40B4-BE49-F238E27FC236}">
                <a16:creationId xmlns:a16="http://schemas.microsoft.com/office/drawing/2014/main" id="{E1EE6DFD-5B85-4DFA-90E0-0F03A2FB2764}"/>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철도 안전관리체계 검사</a:t>
            </a:r>
          </a:p>
        </p:txBody>
      </p:sp>
      <p:sp>
        <p:nvSpPr>
          <p:cNvPr id="14" name="">
            <a:extLst xmlns:a="http://schemas.openxmlformats.org/drawingml/2006/main">
              <a:ext uri="{FF2B5EF4-FFF2-40B4-BE49-F238E27FC236}">
                <a16:creationId xmlns:a16="http://schemas.microsoft.com/office/drawing/2014/main" id="{4C1860E5-6EDE-4459-8529-4E82F80E9DC6}"/>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 철도안전관리체계 수시검사 시행</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 철도사고 및 운행장애 초기대응 점검 시행</a:t>
            </a:r>
          </a:p>
        </p:txBody>
      </p:sp>
      <p:sp>
        <p:nvSpPr>
          <p:cNvPr id="15" name="">
            <a:extLst xmlns:a="http://schemas.openxmlformats.org/drawingml/2006/main">
              <a:ext uri="{FF2B5EF4-FFF2-40B4-BE49-F238E27FC236}">
                <a16:creationId xmlns:a16="http://schemas.microsoft.com/office/drawing/2014/main" id="{749D1A44-39B4-4273-ACC8-7B9967162D8D}"/>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0303335-38C3-4137-AB35-393A7E889CA8}"/>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항공안전처</a:t>
            </a:r>
          </a:p>
        </p:txBody>
      </p:sp>
      <p:sp>
        <p:nvSpPr>
          <p:cNvPr id="17" name="">
            <a:extLst xmlns:a="http://schemas.openxmlformats.org/drawingml/2006/main">
              <a:ext uri="{FF2B5EF4-FFF2-40B4-BE49-F238E27FC236}">
                <a16:creationId xmlns:a16="http://schemas.microsoft.com/office/drawing/2014/main" id="{64115CBD-E692-4E8F-9D01-AE8678A3DFC5}"/>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항공안전·사고조사</a:t>
            </a:r>
          </a:p>
        </p:txBody>
      </p:sp>
      <p:sp>
        <p:nvSpPr>
          <p:cNvPr id="18" name="">
            <a:extLst xmlns:a="http://schemas.openxmlformats.org/drawingml/2006/main">
              <a:ext uri="{FF2B5EF4-FFF2-40B4-BE49-F238E27FC236}">
                <a16:creationId xmlns:a16="http://schemas.microsoft.com/office/drawing/2014/main" id="{0C845350-DCD0-458C-A422-E4CD276FE3BA}"/>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8. 항공안전‧항공보안 자율보고의 접수·분석 및 전파업무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13. 초경량비행장치 사고조사 업무</a:t>
            </a:r>
          </a:p>
        </p:txBody>
      </p:sp>
      <p:sp>
        <p:nvSpPr>
          <p:cNvPr id="19" name="">
            <a:extLst xmlns:a="http://schemas.openxmlformats.org/drawingml/2006/main">
              <a:ext uri="{FF2B5EF4-FFF2-40B4-BE49-F238E27FC236}">
                <a16:creationId xmlns:a16="http://schemas.microsoft.com/office/drawing/2014/main" id="{BD37B00F-9F55-4A50-92FE-B20A3BFFE4E7}"/>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942140784"/>
      </p:ext>
    </p:extLst>
  </p:cSld>
</p:sld>
</file>

<file path=ppt/slides/slide14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83E9D705-F565-43CD-A188-24B26BC93FF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ST-03 / CCK 재사용·추가 개발·검수·기대효과</a:t>
            </a:r>
          </a:p>
        </p:txBody>
      </p:sp>
      <p:sp>
        <p:nvSpPr>
          <p:cNvPr id="2" name="">
            <a:extLst xmlns:a="http://schemas.openxmlformats.org/drawingml/2006/main">
              <a:ext uri="{FF2B5EF4-FFF2-40B4-BE49-F238E27FC236}">
                <a16:creationId xmlns:a16="http://schemas.microsoft.com/office/drawing/2014/main" id="{1ECE4780-D911-4B2B-9007-03900D31CDA3}"/>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중대사고 예방·보고 완전성</a:t>
            </a:r>
          </a:p>
        </p:txBody>
      </p:sp>
      <p:sp>
        <p:nvSpPr>
          <p:cNvPr id="3" name="">
            <a:extLst xmlns:a="http://schemas.openxmlformats.org/drawingml/2006/main">
              <a:ext uri="{FF2B5EF4-FFF2-40B4-BE49-F238E27FC236}">
                <a16:creationId xmlns:a16="http://schemas.microsoft.com/office/drawing/2014/main" id="{1A94A21B-F0B7-4657-B115-E5DEDEC3C96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2567E94-46F7-4A8D-ADBC-A2E4234975D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11F4F74-B68F-4192-BF0F-7AACE268492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144</a:t>
            </a:r>
          </a:p>
        </p:txBody>
      </p:sp>
      <p:sp>
        <p:nvSpPr>
          <p:cNvPr id="6" name="">
            <a:extLst xmlns:a="http://schemas.openxmlformats.org/drawingml/2006/main">
              <a:ext uri="{FF2B5EF4-FFF2-40B4-BE49-F238E27FC236}">
                <a16:creationId xmlns:a16="http://schemas.microsoft.com/office/drawing/2014/main" id="{4881593C-9C6F-4278-9DEC-BEC8FE8D22C5}"/>
              </a:ext>
            </a:extLst>
          </p:cNvPr>
          <p:cNvSpPr>
            <a:spLocks xmlns:a="http://schemas.openxmlformats.org/drawingml/2006/main" noGrp="1"/>
          </p:cNvSpPr>
          <p:nvPr/>
        </p:nvSpPr>
        <p:spPr>
          <a:xfrm xmlns:a="http://schemas.openxmlformats.org/drawingml/2006/main">
            <a:off x="571500" y="17526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재사용 후보</a:t>
            </a:r>
          </a:p>
        </p:txBody>
      </p:sp>
      <p:sp>
        <p:nvSpPr>
          <p:cNvPr id="7" name="">
            <a:extLst xmlns:a="http://schemas.openxmlformats.org/drawingml/2006/main">
              <a:ext uri="{FF2B5EF4-FFF2-40B4-BE49-F238E27FC236}">
                <a16:creationId xmlns:a16="http://schemas.microsoft.com/office/drawing/2014/main" id="{A79F29D9-2FD1-47B7-8009-74EBFB727768}"/>
              </a:ext>
            </a:extLst>
          </p:cNvPr>
          <p:cNvSpPr>
            <a:spLocks xmlns:a="http://schemas.openxmlformats.org/drawingml/2006/main" noGrp="1"/>
          </p:cNvSpPr>
          <p:nvPr/>
        </p:nvSpPr>
        <p:spPr>
          <a:xfrm xmlns:a="http://schemas.openxmlformats.org/drawingml/2006/main">
            <a:off x="571500" y="21050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Audin·JET의 증거·항목 검토</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Connor 명세의 실행·로그 경계</a:t>
            </a:r>
          </a:p>
        </p:txBody>
      </p:sp>
      <p:sp>
        <p:nvSpPr>
          <p:cNvPr id="8" name="">
            <a:extLst xmlns:a="http://schemas.openxmlformats.org/drawingml/2006/main">
              <a:ext uri="{FF2B5EF4-FFF2-40B4-BE49-F238E27FC236}">
                <a16:creationId xmlns:a16="http://schemas.microsoft.com/office/drawing/2014/main" id="{DE61A692-0EE9-4AAC-BEE2-19E24431EF42}"/>
              </a:ext>
            </a:extLst>
          </p:cNvPr>
          <p:cNvSpPr>
            <a:spLocks xmlns:a="http://schemas.openxmlformats.org/drawingml/2006/main" noGrp="1"/>
          </p:cNvSpPr>
          <p:nvPr/>
        </p:nvSpPr>
        <p:spPr>
          <a:xfrm xmlns:a="http://schemas.openxmlformats.org/drawingml/2006/main">
            <a:off x="571500" y="32099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9" name="">
            <a:extLst xmlns:a="http://schemas.openxmlformats.org/drawingml/2006/main">
              <a:ext uri="{FF2B5EF4-FFF2-40B4-BE49-F238E27FC236}">
                <a16:creationId xmlns:a16="http://schemas.microsoft.com/office/drawing/2014/main" id="{5C993588-C587-46AF-94C5-7F4FC0C997D8}"/>
              </a:ext>
            </a:extLst>
          </p:cNvPr>
          <p:cNvSpPr>
            <a:spLocks xmlns:a="http://schemas.openxmlformats.org/drawingml/2006/main" noGrp="1"/>
          </p:cNvSpPr>
          <p:nvPr/>
        </p:nvSpPr>
        <p:spPr>
          <a:xfrm xmlns:a="http://schemas.openxmlformats.org/drawingml/2006/main">
            <a:off x="571500" y="3562350"/>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분야별 보고 항목 사전</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원시 증거–사건–보고서 추적표</a:t>
            </a:r>
          </a:p>
        </p:txBody>
      </p:sp>
      <p:sp>
        <p:nvSpPr>
          <p:cNvPr id="10" name="">
            <a:extLst xmlns:a="http://schemas.openxmlformats.org/drawingml/2006/main">
              <a:ext uri="{FF2B5EF4-FFF2-40B4-BE49-F238E27FC236}">
                <a16:creationId xmlns:a16="http://schemas.microsoft.com/office/drawing/2014/main" id="{E2365CC3-B0D7-43DD-8DF4-A0D41F9CA451}"/>
              </a:ext>
            </a:extLst>
          </p:cNvPr>
          <p:cNvSpPr>
            <a:spLocks xmlns:a="http://schemas.openxmlformats.org/drawingml/2006/main" noGrp="1"/>
          </p:cNvSpPr>
          <p:nvPr/>
        </p:nvSpPr>
        <p:spPr>
          <a:xfrm xmlns:a="http://schemas.openxmlformats.org/drawingml/2006/main">
            <a:off x="571500" y="4572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a:t>
            </a:r>
          </a:p>
        </p:txBody>
      </p:sp>
      <p:sp>
        <p:nvSpPr>
          <p:cNvPr id="11" name="">
            <a:extLst xmlns:a="http://schemas.openxmlformats.org/drawingml/2006/main">
              <a:ext uri="{FF2B5EF4-FFF2-40B4-BE49-F238E27FC236}">
                <a16:creationId xmlns:a16="http://schemas.microsoft.com/office/drawing/2014/main" id="{7FCFD6C6-4B20-4544-84E8-617F0DBD6C19}"/>
              </a:ext>
            </a:extLst>
          </p:cNvPr>
          <p:cNvSpPr>
            <a:spLocks xmlns:a="http://schemas.openxmlformats.org/drawingml/2006/main" noGrp="1"/>
          </p:cNvSpPr>
          <p:nvPr/>
        </p:nvSpPr>
        <p:spPr>
          <a:xfrm xmlns:a="http://schemas.openxmlformats.org/drawingml/2006/main">
            <a:off x="571500" y="4924425"/>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보고 누락·재점검 지연 감소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필수 사건 재현 건수 ÷ 정답 사건 수 / 재점검 기한 초과</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율</a:t>
            </a:r>
          </a:p>
        </p:txBody>
      </p:sp>
      <p:sp>
        <p:nvSpPr>
          <p:cNvPr id="12" name="">
            <a:extLst xmlns:a="http://schemas.openxmlformats.org/drawingml/2006/main">
              <a:ext uri="{FF2B5EF4-FFF2-40B4-BE49-F238E27FC236}">
                <a16:creationId xmlns:a16="http://schemas.microsoft.com/office/drawing/2014/main" id="{81563BA3-A178-4E44-A368-4304FC7BB2BD}"/>
              </a:ext>
            </a:extLst>
          </p:cNvPr>
          <p:cNvSpPr>
            <a:spLocks xmlns:a="http://schemas.openxmlformats.org/drawingml/2006/main" noGrp="1"/>
          </p:cNvSpPr>
          <p:nvPr/>
        </p:nvSpPr>
        <p:spPr>
          <a:xfrm xmlns:a="http://schemas.openxmlformats.org/drawingml/2006/main">
            <a:off x="6334125" y="1752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입력</a:t>
            </a:r>
          </a:p>
        </p:txBody>
      </p:sp>
      <p:sp>
        <p:nvSpPr>
          <p:cNvPr id="13" name="">
            <a:extLst xmlns:a="http://schemas.openxmlformats.org/drawingml/2006/main">
              <a:ext uri="{FF2B5EF4-FFF2-40B4-BE49-F238E27FC236}">
                <a16:creationId xmlns:a16="http://schemas.microsoft.com/office/drawing/2014/main" id="{13C6F7A3-40C9-4E96-96EE-F6317C39F0E7}"/>
              </a:ext>
            </a:extLst>
          </p:cNvPr>
          <p:cNvSpPr>
            <a:spLocks xmlns:a="http://schemas.openxmlformats.org/drawingml/2006/main" noGrp="1"/>
          </p:cNvSpPr>
          <p:nvPr/>
        </p:nvSpPr>
        <p:spPr>
          <a:xfrm xmlns:a="http://schemas.openxmlformats.org/drawingml/2006/main">
            <a:off x="6334125" y="2105025"/>
            <a:ext cx="5286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사고 후 사건 삭제, 시각 충돌, 미이행 조치 주입</a:t>
            </a:r>
          </a:p>
        </p:txBody>
      </p:sp>
      <p:sp>
        <p:nvSpPr>
          <p:cNvPr id="14" name="">
            <a:extLst xmlns:a="http://schemas.openxmlformats.org/drawingml/2006/main">
              <a:ext uri="{FF2B5EF4-FFF2-40B4-BE49-F238E27FC236}">
                <a16:creationId xmlns:a16="http://schemas.microsoft.com/office/drawing/2014/main" id="{E97E209E-65ED-4D7B-AC29-5FA0C3BC2610}"/>
              </a:ext>
            </a:extLst>
          </p:cNvPr>
          <p:cNvSpPr>
            <a:spLocks xmlns:a="http://schemas.openxmlformats.org/drawingml/2006/main" noGrp="1"/>
          </p:cNvSpPr>
          <p:nvPr/>
        </p:nvSpPr>
        <p:spPr>
          <a:xfrm xmlns:a="http://schemas.openxmlformats.org/drawingml/2006/main">
            <a:off x="6334125" y="29241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 기준</a:t>
            </a:r>
          </a:p>
        </p:txBody>
      </p:sp>
      <p:sp>
        <p:nvSpPr>
          <p:cNvPr id="15" name="">
            <a:extLst xmlns:a="http://schemas.openxmlformats.org/drawingml/2006/main">
              <a:ext uri="{FF2B5EF4-FFF2-40B4-BE49-F238E27FC236}">
                <a16:creationId xmlns:a16="http://schemas.microsoft.com/office/drawing/2014/main" id="{C409A9CD-C634-4953-9203-68B6F5E3B093}"/>
              </a:ext>
            </a:extLst>
          </p:cNvPr>
          <p:cNvSpPr>
            <a:spLocks xmlns:a="http://schemas.openxmlformats.org/drawingml/2006/main" noGrp="1"/>
          </p:cNvSpPr>
          <p:nvPr/>
        </p:nvSpPr>
        <p:spPr>
          <a:xfrm xmlns:a="http://schemas.openxmlformats.org/drawingml/2006/main">
            <a:off x="6334125" y="3276600"/>
            <a:ext cx="5286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누락 경고·원시 근거 추적·종결 차단</a:t>
            </a:r>
          </a:p>
        </p:txBody>
      </p:sp>
      <p:sp>
        <p:nvSpPr>
          <p:cNvPr id="16" name="">
            <a:extLst xmlns:a="http://schemas.openxmlformats.org/drawingml/2006/main">
              <a:ext uri="{FF2B5EF4-FFF2-40B4-BE49-F238E27FC236}">
                <a16:creationId xmlns:a16="http://schemas.microsoft.com/office/drawing/2014/main" id="{90E1C665-4984-495F-AE58-A98B0FAB1945}"/>
              </a:ext>
            </a:extLst>
          </p:cNvPr>
          <p:cNvSpPr>
            <a:spLocks xmlns:a="http://schemas.openxmlformats.org/drawingml/2006/main" noGrp="1"/>
          </p:cNvSpPr>
          <p:nvPr/>
        </p:nvSpPr>
        <p:spPr>
          <a:xfrm xmlns:a="http://schemas.openxmlformats.org/drawingml/2006/main">
            <a:off x="6334125" y="42481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제출 증빙</a:t>
            </a:r>
          </a:p>
        </p:txBody>
      </p:sp>
      <p:sp>
        <p:nvSpPr>
          <p:cNvPr id="17" name="">
            <a:extLst xmlns:a="http://schemas.openxmlformats.org/drawingml/2006/main">
              <a:ext uri="{FF2B5EF4-FFF2-40B4-BE49-F238E27FC236}">
                <a16:creationId xmlns:a16="http://schemas.microsoft.com/office/drawing/2014/main" id="{E7A7412A-AA60-4F5C-96A2-CE67897B9B25}"/>
              </a:ext>
            </a:extLst>
          </p:cNvPr>
          <p:cNvSpPr>
            <a:spLocks xmlns:a="http://schemas.openxmlformats.org/drawingml/2006/main" noGrp="1"/>
          </p:cNvSpPr>
          <p:nvPr/>
        </p:nvSpPr>
        <p:spPr>
          <a:xfrm xmlns:a="http://schemas.openxmlformats.org/drawingml/2006/main">
            <a:off x="6334125" y="460057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사건별 정답표·탐지 결과·종결 시도 로그</a:t>
            </a:r>
          </a:p>
        </p:txBody>
      </p:sp>
      <p:sp>
        <p:nvSpPr>
          <p:cNvPr id="18" name="">
            <a:extLst xmlns:a="http://schemas.openxmlformats.org/drawingml/2006/main">
              <a:ext uri="{FF2B5EF4-FFF2-40B4-BE49-F238E27FC236}">
                <a16:creationId xmlns:a16="http://schemas.microsoft.com/office/drawing/2014/main" id="{6F37F060-403C-42B2-93EB-47A4F8C84E2E}"/>
              </a:ext>
            </a:extLst>
          </p:cNvPr>
          <p:cNvSpPr>
            <a:spLocks xmlns:a="http://schemas.openxmlformats.org/drawingml/2006/main" noGrp="1"/>
          </p:cNvSpPr>
          <p:nvPr/>
        </p:nvSpPr>
        <p:spPr>
          <a:xfrm xmlns:a="http://schemas.openxmlformats.org/drawingml/2006/main">
            <a:off x="6334125" y="54483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BM-ST-03-R01 / BM-ST-03-T01</a:t>
            </a:r>
          </a:p>
        </p:txBody>
      </p:sp>
      <p:sp>
        <p:nvSpPr>
          <p:cNvPr id="19" name="">
            <a:extLst xmlns:a="http://schemas.openxmlformats.org/drawingml/2006/main">
              <a:ext uri="{FF2B5EF4-FFF2-40B4-BE49-F238E27FC236}">
                <a16:creationId xmlns:a16="http://schemas.microsoft.com/office/drawing/2014/main" id="{873253B3-4B3B-4379-AC7F-98BA05EEAB8A}"/>
              </a:ext>
            </a:extLst>
          </p:cNvPr>
          <p:cNvSpPr>
            <a:spLocks xmlns:a="http://schemas.openxmlformats.org/drawingml/2006/main" noGrp="1"/>
          </p:cNvSpPr>
          <p:nvPr/>
        </p:nvSpPr>
        <p:spPr>
          <a:xfrm xmlns:a="http://schemas.openxmlformats.org/drawingml/2006/main">
            <a:off x="6334125" y="5810250"/>
            <a:ext cx="5286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검수 설계안·미실행 / 기대효과 TS 실측 전</a:t>
            </a:r>
          </a:p>
        </p:txBody>
      </p:sp>
    </p:spTree>
    <p:extLst>
      <p:ext uri="{BB962C8B-B14F-4D97-AF65-F5344CB8AC3E}">
        <p14:creationId xmlns:p14="http://schemas.microsoft.com/office/powerpoint/2010/main" val="785533442"/>
      </p:ext>
    </p:extLst>
  </p:cSld>
</p:sld>
</file>

<file path=ppt/slides/slide14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5B6711B1-43C3-4E25-9CF8-B32287C5CD2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ST-04 / TS 담당 부서·실제 업무 / 1차 공통 기반</a:t>
            </a:r>
          </a:p>
        </p:txBody>
      </p:sp>
      <p:sp>
        <p:nvSpPr>
          <p:cNvPr id="2" name="">
            <a:extLst xmlns:a="http://schemas.openxmlformats.org/drawingml/2006/main">
              <a:ext uri="{FF2B5EF4-FFF2-40B4-BE49-F238E27FC236}">
                <a16:creationId xmlns:a16="http://schemas.microsoft.com/office/drawing/2014/main" id="{85229731-A559-47B0-9532-DC000814164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조직 네이티브 공통 기반</a:t>
            </a:r>
          </a:p>
        </p:txBody>
      </p:sp>
      <p:sp>
        <p:nvSpPr>
          <p:cNvPr id="3" name="">
            <a:extLst xmlns:a="http://schemas.openxmlformats.org/drawingml/2006/main">
              <a:ext uri="{FF2B5EF4-FFF2-40B4-BE49-F238E27FC236}">
                <a16:creationId xmlns:a16="http://schemas.microsoft.com/office/drawing/2014/main" id="{E04E3B9F-C839-49E9-A7B1-02B92071CB6F}"/>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9EF21CD-B157-452B-91AD-7CAB09AD0B8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8CE49F6C-89D5-4AB9-8B4B-B1733AB350F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145</a:t>
            </a:r>
          </a:p>
        </p:txBody>
      </p:sp>
      <p:sp>
        <p:nvSpPr>
          <p:cNvPr id="6" name="">
            <a:extLst xmlns:a="http://schemas.openxmlformats.org/drawingml/2006/main">
              <a:ext uri="{FF2B5EF4-FFF2-40B4-BE49-F238E27FC236}">
                <a16:creationId xmlns:a16="http://schemas.microsoft.com/office/drawing/2014/main" id="{B7D4DC6C-CEFD-46AF-88DA-B625BA884ACC}"/>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vl1pPr>
              <a:defRPr sz="1575" b="0">
                <a:solidFill>
                  <a:srgbClr val="42634B"/>
                </a:solidFill>
                <a:latin typeface="Pretendard"/>
                <a:ea typeface="Pretendard"/>
                <a:cs typeface="Pretendard"/>
              </a:defRPr>
            </a:lvl1pPr>
            <a:lvl2pPr>
              <a:defRPr sz="1575" b="0">
                <a:solidFill>
                  <a:srgbClr val="42634B"/>
                </a:solidFill>
                <a:latin typeface="Pretendard"/>
                <a:ea typeface="Pretendard"/>
                <a:cs typeface="Pretendard"/>
              </a:defRPr>
            </a:lvl2pPr>
            <a:lvl3pPr>
              <a:defRPr sz="1575" b="0">
                <a:solidFill>
                  <a:srgbClr val="42634B"/>
                </a:solidFill>
                <a:latin typeface="Pretendard"/>
                <a:ea typeface="Pretendard"/>
                <a:cs typeface="Pretendard"/>
              </a:defRPr>
            </a:lvl3pPr>
            <a:lvl4pPr>
              <a:defRPr sz="1575" b="0">
                <a:solidFill>
                  <a:srgbClr val="42634B"/>
                </a:solidFill>
                <a:latin typeface="Pretendard"/>
                <a:ea typeface="Pretendard"/>
                <a:cs typeface="Pretendard"/>
              </a:defRPr>
            </a:lvl4pPr>
            <a:lvl5pPr>
              <a:defRPr sz="1575" b="0">
                <a:solidFill>
                  <a:srgbClr val="42634B"/>
                </a:solidFill>
                <a:latin typeface="Pretendard"/>
                <a:ea typeface="Pretendard"/>
                <a:cs typeface="Pretendard"/>
              </a:defRPr>
            </a:lvl5pPr>
            <a:lvl6pPr>
              <a:defRPr sz="1575" b="0">
                <a:solidFill>
                  <a:srgbClr val="42634B"/>
                </a:solidFill>
                <a:latin typeface="Pretendard"/>
                <a:ea typeface="Pretendard"/>
                <a:cs typeface="Pretendard"/>
              </a:defRPr>
            </a:lvl6pPr>
            <a:lvl7pPr>
              <a:defRPr sz="1575" b="0">
                <a:solidFill>
                  <a:srgbClr val="42634B"/>
                </a:solidFill>
                <a:latin typeface="Pretendard"/>
                <a:ea typeface="Pretendard"/>
                <a:cs typeface="Pretendard"/>
              </a:defRPr>
            </a:lvl7pPr>
            <a:lvl8pPr>
              <a:defRPr sz="1575" b="0">
                <a:solidFill>
                  <a:srgbClr val="42634B"/>
                </a:solidFill>
                <a:latin typeface="Pretendard"/>
                <a:ea typeface="Pretendard"/>
                <a:cs typeface="Pretendard"/>
              </a:defRPr>
            </a:lvl8pPr>
            <a:lvl9pPr>
              <a:defRPr sz="1575" b="0">
                <a:solidFill>
                  <a:srgbClr val="42634B"/>
                </a:solidFill>
                <a:latin typeface="Pretendard"/>
                <a:ea typeface="Pretendard"/>
                <a:cs typeface="Pretendard"/>
              </a:defRPr>
            </a:lvl9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교통안전체계 인공지능 대전환</a:t>
            </a:r>
          </a:p>
        </p:txBody>
      </p:sp>
      <p:sp>
        <p:nvSpPr>
          <p:cNvPr id="7" name="">
            <a:extLst xmlns:a="http://schemas.openxmlformats.org/drawingml/2006/main">
              <a:ext uri="{FF2B5EF4-FFF2-40B4-BE49-F238E27FC236}">
                <a16:creationId xmlns:a16="http://schemas.microsoft.com/office/drawing/2014/main" id="{D768F859-7526-4FF6-93F4-F34C436AF00F}"/>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031D441-B61A-4355-9950-469B44470334}"/>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AI미래전략실</a:t>
            </a:r>
          </a:p>
        </p:txBody>
      </p:sp>
      <p:sp>
        <p:nvSpPr>
          <p:cNvPr id="9" name="">
            <a:extLst xmlns:a="http://schemas.openxmlformats.org/drawingml/2006/main">
              <a:ext uri="{FF2B5EF4-FFF2-40B4-BE49-F238E27FC236}">
                <a16:creationId xmlns:a16="http://schemas.microsoft.com/office/drawing/2014/main" id="{AE0C5241-74B7-4943-8F6E-31E889C7A8DC}"/>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AI 전략·윤리</a:t>
            </a:r>
          </a:p>
        </p:txBody>
      </p:sp>
      <p:sp>
        <p:nvSpPr>
          <p:cNvPr id="10" name="">
            <a:extLst xmlns:a="http://schemas.openxmlformats.org/drawingml/2006/main">
              <a:ext uri="{FF2B5EF4-FFF2-40B4-BE49-F238E27FC236}">
                <a16:creationId xmlns:a16="http://schemas.microsoft.com/office/drawing/2014/main" id="{4270DF41-53FF-45D0-A652-99D821EBC927}"/>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4. 인공지능(AI) 전환 전략 수립․조정</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6. 인공지능(AI) 제도 및 지침, 윤리기준 관리</a:t>
            </a:r>
          </a:p>
        </p:txBody>
      </p:sp>
      <p:sp>
        <p:nvSpPr>
          <p:cNvPr id="11" name="">
            <a:extLst xmlns:a="http://schemas.openxmlformats.org/drawingml/2006/main">
              <a:ext uri="{FF2B5EF4-FFF2-40B4-BE49-F238E27FC236}">
                <a16:creationId xmlns:a16="http://schemas.microsoft.com/office/drawing/2014/main" id="{98271670-D498-4AFB-9E2C-308B3EAB7330}"/>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2F2EE1B-5458-461D-92F9-7B4CC39D1BAF}"/>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AI혁신처</a:t>
            </a:r>
          </a:p>
        </p:txBody>
      </p:sp>
      <p:sp>
        <p:nvSpPr>
          <p:cNvPr id="13" name="">
            <a:extLst xmlns:a="http://schemas.openxmlformats.org/drawingml/2006/main">
              <a:ext uri="{FF2B5EF4-FFF2-40B4-BE49-F238E27FC236}">
                <a16:creationId xmlns:a16="http://schemas.microsoft.com/office/drawing/2014/main" id="{63EF50F0-7A85-4A9A-9092-8CBC32E0CBB5}"/>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AI 사업 조정·데이터 표준</a:t>
            </a:r>
          </a:p>
        </p:txBody>
      </p:sp>
      <p:sp>
        <p:nvSpPr>
          <p:cNvPr id="14" name="">
            <a:extLst xmlns:a="http://schemas.openxmlformats.org/drawingml/2006/main">
              <a:ext uri="{FF2B5EF4-FFF2-40B4-BE49-F238E27FC236}">
                <a16:creationId xmlns:a16="http://schemas.microsoft.com/office/drawing/2014/main" id="{CB38E119-236E-4C85-9088-8C544BB289E1}"/>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 인공지능(AI) 활용 서비스 구축 지원 및 성과관리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인공지능(AI) 데이터 표준화 및 데이터 스페이스 구축</a:t>
            </a:r>
          </a:p>
        </p:txBody>
      </p:sp>
      <p:sp>
        <p:nvSpPr>
          <p:cNvPr id="15" name="">
            <a:extLst xmlns:a="http://schemas.openxmlformats.org/drawingml/2006/main">
              <a:ext uri="{FF2B5EF4-FFF2-40B4-BE49-F238E27FC236}">
                <a16:creationId xmlns:a16="http://schemas.microsoft.com/office/drawing/2014/main" id="{13F9336D-2A68-4C1E-BEA7-04B8A5638F75}"/>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573F578-0045-41E1-A0D6-940C6552DC86}"/>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AI서비스개발팀</a:t>
            </a:r>
          </a:p>
        </p:txBody>
      </p:sp>
      <p:sp>
        <p:nvSpPr>
          <p:cNvPr id="17" name="">
            <a:extLst xmlns:a="http://schemas.openxmlformats.org/drawingml/2006/main">
              <a:ext uri="{FF2B5EF4-FFF2-40B4-BE49-F238E27FC236}">
                <a16:creationId xmlns:a16="http://schemas.microsoft.com/office/drawing/2014/main" id="{0D814AEC-7CB0-404D-AFF8-47FBB6B2A1FA}"/>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공통플랫폼·모델 품질</a:t>
            </a:r>
          </a:p>
        </p:txBody>
      </p:sp>
      <p:sp>
        <p:nvSpPr>
          <p:cNvPr id="18" name="">
            <a:extLst xmlns:a="http://schemas.openxmlformats.org/drawingml/2006/main">
              <a:ext uri="{FF2B5EF4-FFF2-40B4-BE49-F238E27FC236}">
                <a16:creationId xmlns:a16="http://schemas.microsoft.com/office/drawing/2014/main" id="{8B8B61A4-6C73-43B7-8379-325C48923889}"/>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 인공지능(AI) 공통플랫폼 구축․운영 인공지능(AI) 모델 고도화․품질관리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 인공지능(AI) 시범 서비스(PoC) 추진</a:t>
            </a:r>
          </a:p>
        </p:txBody>
      </p:sp>
      <p:sp>
        <p:nvSpPr>
          <p:cNvPr id="19" name="">
            <a:extLst xmlns:a="http://schemas.openxmlformats.org/drawingml/2006/main">
              <a:ext uri="{FF2B5EF4-FFF2-40B4-BE49-F238E27FC236}">
                <a16:creationId xmlns:a16="http://schemas.microsoft.com/office/drawing/2014/main" id="{8846C4FB-4EB0-443C-8389-0569E731B9A6}"/>
              </a:ext>
            </a:extLst>
          </p:cNvPr>
          <p:cNvSpPr>
            <a:spLocks xmlns:a="http://schemas.openxmlformats.org/drawingml/2006/main" noGrp="1"/>
          </p:cNvSpPr>
          <p:nvPr/>
        </p:nvSpPr>
        <p:spPr>
          <a:xfrm xmlns:a="http://schemas.openxmlformats.org/drawingml/2006/main">
            <a:off x="571500" y="490537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1017195-231F-43FE-A53E-2477AE4D1E34}"/>
              </a:ext>
            </a:extLst>
          </p:cNvPr>
          <p:cNvSpPr>
            <a:spLocks xmlns:a="http://schemas.openxmlformats.org/drawingml/2006/main" noGrp="1"/>
          </p:cNvSpPr>
          <p:nvPr/>
        </p:nvSpPr>
        <p:spPr>
          <a:xfrm xmlns:a="http://schemas.openxmlformats.org/drawingml/2006/main">
            <a:off x="571500" y="50006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예산처</a:t>
            </a:r>
          </a:p>
        </p:txBody>
      </p:sp>
      <p:sp>
        <p:nvSpPr>
          <p:cNvPr id="21" name="">
            <a:extLst xmlns:a="http://schemas.openxmlformats.org/drawingml/2006/main">
              <a:ext uri="{FF2B5EF4-FFF2-40B4-BE49-F238E27FC236}">
                <a16:creationId xmlns:a16="http://schemas.microsoft.com/office/drawing/2014/main" id="{AC1096AA-8AE5-4093-A6D9-504D05C2BCD0}"/>
              </a:ext>
            </a:extLst>
          </p:cNvPr>
          <p:cNvSpPr>
            <a:spLocks xmlns:a="http://schemas.openxmlformats.org/drawingml/2006/main" noGrp="1"/>
          </p:cNvSpPr>
          <p:nvPr/>
        </p:nvSpPr>
        <p:spPr>
          <a:xfrm xmlns:a="http://schemas.openxmlformats.org/drawingml/2006/main">
            <a:off x="571500" y="537210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조직·분장·전결 관리</a:t>
            </a:r>
          </a:p>
        </p:txBody>
      </p:sp>
      <p:sp>
        <p:nvSpPr>
          <p:cNvPr id="22" name="">
            <a:extLst xmlns:a="http://schemas.openxmlformats.org/drawingml/2006/main">
              <a:ext uri="{FF2B5EF4-FFF2-40B4-BE49-F238E27FC236}">
                <a16:creationId xmlns:a16="http://schemas.microsoft.com/office/drawing/2014/main" id="{12F06014-8BF1-41D4-BF93-A8D2B9B72ADB}"/>
              </a:ext>
            </a:extLst>
          </p:cNvPr>
          <p:cNvSpPr>
            <a:spLocks xmlns:a="http://schemas.openxmlformats.org/drawingml/2006/main" noGrp="1"/>
          </p:cNvSpPr>
          <p:nvPr/>
        </p:nvSpPr>
        <p:spPr>
          <a:xfrm xmlns:a="http://schemas.openxmlformats.org/drawingml/2006/main">
            <a:off x="3143250" y="500062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8. 조직 및 정원관리 총괄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9. 위임전결에 관한 사항</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10. 업무분장 조정‧관리</a:t>
            </a:r>
          </a:p>
        </p:txBody>
      </p:sp>
      <p:sp>
        <p:nvSpPr>
          <p:cNvPr id="23" name="">
            <a:extLst xmlns:a="http://schemas.openxmlformats.org/drawingml/2006/main">
              <a:ext uri="{FF2B5EF4-FFF2-40B4-BE49-F238E27FC236}">
                <a16:creationId xmlns:a16="http://schemas.microsoft.com/office/drawing/2014/main" id="{F997A7B9-BE24-450E-B8B6-9E12114A2602}"/>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1649241320"/>
      </p:ext>
    </p:extLst>
  </p:cSld>
</p:sld>
</file>

<file path=ppt/slides/slide14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F8517772-118A-412C-B096-207DC037B56B}"/>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ST-04 / TS 담당 부서·실제 업무 / 1차 공통 기반</a:t>
            </a:r>
          </a:p>
        </p:txBody>
      </p:sp>
      <p:sp>
        <p:nvSpPr>
          <p:cNvPr id="2" name="">
            <a:extLst xmlns:a="http://schemas.openxmlformats.org/drawingml/2006/main">
              <a:ext uri="{FF2B5EF4-FFF2-40B4-BE49-F238E27FC236}">
                <a16:creationId xmlns:a16="http://schemas.microsoft.com/office/drawing/2014/main" id="{45A13F61-6D1F-4962-8B1F-3E658501F18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조직 네이티브 공통 기반</a:t>
            </a:r>
          </a:p>
        </p:txBody>
      </p:sp>
      <p:sp>
        <p:nvSpPr>
          <p:cNvPr id="3" name="">
            <a:extLst xmlns:a="http://schemas.openxmlformats.org/drawingml/2006/main">
              <a:ext uri="{FF2B5EF4-FFF2-40B4-BE49-F238E27FC236}">
                <a16:creationId xmlns:a16="http://schemas.microsoft.com/office/drawing/2014/main" id="{3BFD3516-3A86-4FCD-A392-7CA37141B55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72A6153-794E-45F7-AA95-4E503DD6FD5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05FD64AD-7785-4852-8AA5-B7B7338C90A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146</a:t>
            </a:r>
          </a:p>
        </p:txBody>
      </p:sp>
      <p:sp>
        <p:nvSpPr>
          <p:cNvPr id="6" name="">
            <a:extLst xmlns:a="http://schemas.openxmlformats.org/drawingml/2006/main">
              <a:ext uri="{FF2B5EF4-FFF2-40B4-BE49-F238E27FC236}">
                <a16:creationId xmlns:a16="http://schemas.microsoft.com/office/drawing/2014/main" id="{BA649E97-3725-428A-B30A-88B73A567CDB}"/>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vl1pPr>
              <a:defRPr sz="1575" b="0">
                <a:solidFill>
                  <a:srgbClr val="42634B"/>
                </a:solidFill>
                <a:latin typeface="Pretendard"/>
                <a:ea typeface="Pretendard"/>
                <a:cs typeface="Pretendard"/>
              </a:defRPr>
            </a:lvl1pPr>
            <a:lvl2pPr>
              <a:defRPr sz="1575" b="0">
                <a:solidFill>
                  <a:srgbClr val="42634B"/>
                </a:solidFill>
                <a:latin typeface="Pretendard"/>
                <a:ea typeface="Pretendard"/>
                <a:cs typeface="Pretendard"/>
              </a:defRPr>
            </a:lvl2pPr>
            <a:lvl3pPr>
              <a:defRPr sz="1575" b="0">
                <a:solidFill>
                  <a:srgbClr val="42634B"/>
                </a:solidFill>
                <a:latin typeface="Pretendard"/>
                <a:ea typeface="Pretendard"/>
                <a:cs typeface="Pretendard"/>
              </a:defRPr>
            </a:lvl3pPr>
            <a:lvl4pPr>
              <a:defRPr sz="1575" b="0">
                <a:solidFill>
                  <a:srgbClr val="42634B"/>
                </a:solidFill>
                <a:latin typeface="Pretendard"/>
                <a:ea typeface="Pretendard"/>
                <a:cs typeface="Pretendard"/>
              </a:defRPr>
            </a:lvl4pPr>
            <a:lvl5pPr>
              <a:defRPr sz="1575" b="0">
                <a:solidFill>
                  <a:srgbClr val="42634B"/>
                </a:solidFill>
                <a:latin typeface="Pretendard"/>
                <a:ea typeface="Pretendard"/>
                <a:cs typeface="Pretendard"/>
              </a:defRPr>
            </a:lvl5pPr>
            <a:lvl6pPr>
              <a:defRPr sz="1575" b="0">
                <a:solidFill>
                  <a:srgbClr val="42634B"/>
                </a:solidFill>
                <a:latin typeface="Pretendard"/>
                <a:ea typeface="Pretendard"/>
                <a:cs typeface="Pretendard"/>
              </a:defRPr>
            </a:lvl6pPr>
            <a:lvl7pPr>
              <a:defRPr sz="1575" b="0">
                <a:solidFill>
                  <a:srgbClr val="42634B"/>
                </a:solidFill>
                <a:latin typeface="Pretendard"/>
                <a:ea typeface="Pretendard"/>
                <a:cs typeface="Pretendard"/>
              </a:defRPr>
            </a:lvl7pPr>
            <a:lvl8pPr>
              <a:defRPr sz="1575" b="0">
                <a:solidFill>
                  <a:srgbClr val="42634B"/>
                </a:solidFill>
                <a:latin typeface="Pretendard"/>
                <a:ea typeface="Pretendard"/>
                <a:cs typeface="Pretendard"/>
              </a:defRPr>
            </a:lvl8pPr>
            <a:lvl9pPr>
              <a:defRPr sz="1575" b="0">
                <a:solidFill>
                  <a:srgbClr val="42634B"/>
                </a:solidFill>
                <a:latin typeface="Pretendard"/>
                <a:ea typeface="Pretendard"/>
                <a:cs typeface="Pretendard"/>
              </a:defRPr>
            </a:lvl9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교통안전체계 인공지능 대전환</a:t>
            </a:r>
          </a:p>
        </p:txBody>
      </p:sp>
      <p:sp>
        <p:nvSpPr>
          <p:cNvPr id="7" name="">
            <a:extLst xmlns:a="http://schemas.openxmlformats.org/drawingml/2006/main">
              <a:ext uri="{FF2B5EF4-FFF2-40B4-BE49-F238E27FC236}">
                <a16:creationId xmlns:a16="http://schemas.microsoft.com/office/drawing/2014/main" id="{3FE7F078-8286-41C6-A138-C1DD865FE9CF}"/>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6F5F089-CFF9-4E67-B567-6BE9A43A019D}"/>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인재개발처</a:t>
            </a:r>
          </a:p>
        </p:txBody>
      </p:sp>
      <p:sp>
        <p:nvSpPr>
          <p:cNvPr id="9" name="">
            <a:extLst xmlns:a="http://schemas.openxmlformats.org/drawingml/2006/main">
              <a:ext uri="{FF2B5EF4-FFF2-40B4-BE49-F238E27FC236}">
                <a16:creationId xmlns:a16="http://schemas.microsoft.com/office/drawing/2014/main" id="{7314C3B2-6D42-4FDC-B011-3C64AD6111A9}"/>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발령·인사정보 관리</a:t>
            </a:r>
          </a:p>
        </p:txBody>
      </p:sp>
      <p:sp>
        <p:nvSpPr>
          <p:cNvPr id="10" name="">
            <a:extLst xmlns:a="http://schemas.openxmlformats.org/drawingml/2006/main">
              <a:ext uri="{FF2B5EF4-FFF2-40B4-BE49-F238E27FC236}">
                <a16:creationId xmlns:a16="http://schemas.microsoft.com/office/drawing/2014/main" id="{1DA2365D-D71A-4A25-A9BB-213ABEA5922C}"/>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직원의 채용, 승진, 전보 등 임용 및 보직에 관한 업무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6. 인사통계자료․인사정보 관리 및 인사 관련 제증명 발급</a:t>
            </a:r>
          </a:p>
        </p:txBody>
      </p:sp>
      <p:sp>
        <p:nvSpPr>
          <p:cNvPr id="11" name="">
            <a:extLst xmlns:a="http://schemas.openxmlformats.org/drawingml/2006/main">
              <a:ext uri="{FF2B5EF4-FFF2-40B4-BE49-F238E27FC236}">
                <a16:creationId xmlns:a16="http://schemas.microsoft.com/office/drawing/2014/main" id="{EE48EF9C-F7A7-4B27-80DF-D743A8713282}"/>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A5F5FCE-548F-4F4F-A28E-0E22F41A5F96}"/>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디지털기획처</a:t>
            </a:r>
          </a:p>
        </p:txBody>
      </p:sp>
      <p:sp>
        <p:nvSpPr>
          <p:cNvPr id="13" name="">
            <a:extLst xmlns:a="http://schemas.openxmlformats.org/drawingml/2006/main">
              <a:ext uri="{FF2B5EF4-FFF2-40B4-BE49-F238E27FC236}">
                <a16:creationId xmlns:a16="http://schemas.microsoft.com/office/drawing/2014/main" id="{EFDB024E-E052-46D5-9A98-473DB23BF629}"/>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정보화·데이터 품질</a:t>
            </a:r>
          </a:p>
        </p:txBody>
      </p:sp>
      <p:sp>
        <p:nvSpPr>
          <p:cNvPr id="14" name="">
            <a:extLst xmlns:a="http://schemas.openxmlformats.org/drawingml/2006/main">
              <a:ext uri="{FF2B5EF4-FFF2-40B4-BE49-F238E27FC236}">
                <a16:creationId xmlns:a16="http://schemas.microsoft.com/office/drawing/2014/main" id="{BD6BDE58-1E1D-4115-8162-92AFE03DAEFF}"/>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13. 정보화사업 사전검토(과업지시서 등) 및 시스템 구축 지원(기술분야)</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20. 데이터 품질관리</a:t>
            </a:r>
          </a:p>
        </p:txBody>
      </p:sp>
      <p:sp>
        <p:nvSpPr>
          <p:cNvPr id="15" name="">
            <a:extLst xmlns:a="http://schemas.openxmlformats.org/drawingml/2006/main">
              <a:ext uri="{FF2B5EF4-FFF2-40B4-BE49-F238E27FC236}">
                <a16:creationId xmlns:a16="http://schemas.microsoft.com/office/drawing/2014/main" id="{AFE511A3-AB0D-4477-AD16-C3758B61211C}"/>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D30468D-999E-48AA-9015-720D36445E88}"/>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정보보안처</a:t>
            </a:r>
          </a:p>
        </p:txBody>
      </p:sp>
      <p:sp>
        <p:nvSpPr>
          <p:cNvPr id="17" name="">
            <a:extLst xmlns:a="http://schemas.openxmlformats.org/drawingml/2006/main">
              <a:ext uri="{FF2B5EF4-FFF2-40B4-BE49-F238E27FC236}">
                <a16:creationId xmlns:a16="http://schemas.microsoft.com/office/drawing/2014/main" id="{3BE2816E-19A0-4223-9260-5712F3EF8BB0}"/>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보안·개인정보 관리</a:t>
            </a:r>
          </a:p>
        </p:txBody>
      </p:sp>
      <p:sp>
        <p:nvSpPr>
          <p:cNvPr id="18" name="">
            <a:extLst xmlns:a="http://schemas.openxmlformats.org/drawingml/2006/main">
              <a:ext uri="{FF2B5EF4-FFF2-40B4-BE49-F238E27FC236}">
                <a16:creationId xmlns:a16="http://schemas.microsoft.com/office/drawing/2014/main" id="{1F8F7F81-CD3A-423C-A59E-2F1D284C4055}"/>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 정보보안 업무총괄 관리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10. 개인정보보호 업무총괄 관리</a:t>
            </a:r>
          </a:p>
        </p:txBody>
      </p:sp>
      <p:sp>
        <p:nvSpPr>
          <p:cNvPr id="19" name="">
            <a:extLst xmlns:a="http://schemas.openxmlformats.org/drawingml/2006/main">
              <a:ext uri="{FF2B5EF4-FFF2-40B4-BE49-F238E27FC236}">
                <a16:creationId xmlns:a16="http://schemas.microsoft.com/office/drawing/2014/main" id="{A8712C2E-0098-4F64-841D-F15EE3E3519A}"/>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1875490117"/>
      </p:ext>
    </p:extLst>
  </p:cSld>
</p:sld>
</file>

<file path=ppt/slides/slide14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7FC96C12-A80B-4655-87A3-7E9ACB42733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ST-04 / CCK 재사용·추가 개발·검수·기대효과</a:t>
            </a:r>
          </a:p>
        </p:txBody>
      </p:sp>
      <p:sp>
        <p:nvSpPr>
          <p:cNvPr id="2" name="">
            <a:extLst xmlns:a="http://schemas.openxmlformats.org/drawingml/2006/main">
              <a:ext uri="{FF2B5EF4-FFF2-40B4-BE49-F238E27FC236}">
                <a16:creationId xmlns:a16="http://schemas.microsoft.com/office/drawing/2014/main" id="{DB1A0B41-7F24-4031-8307-19A59E24451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조직 네이티브 공통 기반</a:t>
            </a:r>
          </a:p>
        </p:txBody>
      </p:sp>
      <p:sp>
        <p:nvSpPr>
          <p:cNvPr id="3" name="">
            <a:extLst xmlns:a="http://schemas.openxmlformats.org/drawingml/2006/main">
              <a:ext uri="{FF2B5EF4-FFF2-40B4-BE49-F238E27FC236}">
                <a16:creationId xmlns:a16="http://schemas.microsoft.com/office/drawing/2014/main" id="{5ADC7B0F-5F97-45D1-A464-943AE9B7C1C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7C51E7D-38B5-499B-B5EA-B59578A076B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55E1DA2-FD61-4FF9-8069-2AF8BF916EA2}"/>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147</a:t>
            </a:r>
          </a:p>
        </p:txBody>
      </p:sp>
      <p:sp>
        <p:nvSpPr>
          <p:cNvPr id="6" name="">
            <a:extLst xmlns:a="http://schemas.openxmlformats.org/drawingml/2006/main">
              <a:ext uri="{FF2B5EF4-FFF2-40B4-BE49-F238E27FC236}">
                <a16:creationId xmlns:a16="http://schemas.microsoft.com/office/drawing/2014/main" id="{00849155-B911-4FF5-B91E-1070A63ABC11}"/>
              </a:ext>
            </a:extLst>
          </p:cNvPr>
          <p:cNvSpPr>
            <a:spLocks xmlns:a="http://schemas.openxmlformats.org/drawingml/2006/main" noGrp="1"/>
          </p:cNvSpPr>
          <p:nvPr/>
        </p:nvSpPr>
        <p:spPr>
          <a:xfrm xmlns:a="http://schemas.openxmlformats.org/drawingml/2006/main">
            <a:off x="571500" y="17526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재사용 후보</a:t>
            </a:r>
          </a:p>
        </p:txBody>
      </p:sp>
      <p:sp>
        <p:nvSpPr>
          <p:cNvPr id="7" name="">
            <a:extLst xmlns:a="http://schemas.openxmlformats.org/drawingml/2006/main">
              <a:ext uri="{FF2B5EF4-FFF2-40B4-BE49-F238E27FC236}">
                <a16:creationId xmlns:a16="http://schemas.microsoft.com/office/drawing/2014/main" id="{B53AA87D-352A-4802-B2BC-B75661EE9432}"/>
              </a:ext>
            </a:extLst>
          </p:cNvPr>
          <p:cNvSpPr>
            <a:spLocks xmlns:a="http://schemas.openxmlformats.org/drawingml/2006/main" noGrp="1"/>
          </p:cNvSpPr>
          <p:nvPr/>
        </p:nvSpPr>
        <p:spPr>
          <a:xfrm xmlns:a="http://schemas.openxmlformats.org/drawingml/2006/main">
            <a:off x="571500" y="21050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NOA의 대화·검색·서식·스킬</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Connor 명세의 실행·로그 경계</a:t>
            </a:r>
          </a:p>
        </p:txBody>
      </p:sp>
      <p:sp>
        <p:nvSpPr>
          <p:cNvPr id="8" name="">
            <a:extLst xmlns:a="http://schemas.openxmlformats.org/drawingml/2006/main">
              <a:ext uri="{FF2B5EF4-FFF2-40B4-BE49-F238E27FC236}">
                <a16:creationId xmlns:a16="http://schemas.microsoft.com/office/drawing/2014/main" id="{70FD1B9C-6FD1-476E-B317-DA204CD1B29E}"/>
              </a:ext>
            </a:extLst>
          </p:cNvPr>
          <p:cNvSpPr>
            <a:spLocks xmlns:a="http://schemas.openxmlformats.org/drawingml/2006/main" noGrp="1"/>
          </p:cNvSpPr>
          <p:nvPr/>
        </p:nvSpPr>
        <p:spPr>
          <a:xfrm xmlns:a="http://schemas.openxmlformats.org/drawingml/2006/main">
            <a:off x="571500" y="32099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9" name="">
            <a:extLst xmlns:a="http://schemas.openxmlformats.org/drawingml/2006/main">
              <a:ext uri="{FF2B5EF4-FFF2-40B4-BE49-F238E27FC236}">
                <a16:creationId xmlns:a16="http://schemas.microsoft.com/office/drawing/2014/main" id="{055A2786-AB1F-4F41-A5A2-3D5E8B27C637}"/>
              </a:ext>
            </a:extLst>
          </p:cNvPr>
          <p:cNvSpPr>
            <a:spLocks xmlns:a="http://schemas.openxmlformats.org/drawingml/2006/main" noGrp="1"/>
          </p:cNvSpPr>
          <p:nvPr/>
        </p:nvSpPr>
        <p:spPr>
          <a:xfrm xmlns:a="http://schemas.openxmlformats.org/drawingml/2006/main">
            <a:off x="571500" y="3562350"/>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사람–조직–직무–업무 관계·효력일 모델</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업무 분류기·검색 전 정책 집행 연결</a:t>
            </a:r>
          </a:p>
        </p:txBody>
      </p:sp>
      <p:sp>
        <p:nvSpPr>
          <p:cNvPr id="10" name="">
            <a:extLst xmlns:a="http://schemas.openxmlformats.org/drawingml/2006/main">
              <a:ext uri="{FF2B5EF4-FFF2-40B4-BE49-F238E27FC236}">
                <a16:creationId xmlns:a16="http://schemas.microsoft.com/office/drawing/2014/main" id="{2634A3F4-9A87-408A-B308-69402E962A58}"/>
              </a:ext>
            </a:extLst>
          </p:cNvPr>
          <p:cNvSpPr>
            <a:spLocks xmlns:a="http://schemas.openxmlformats.org/drawingml/2006/main" noGrp="1"/>
          </p:cNvSpPr>
          <p:nvPr/>
        </p:nvSpPr>
        <p:spPr>
          <a:xfrm xmlns:a="http://schemas.openxmlformats.org/drawingml/2006/main">
            <a:off x="571500" y="4572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a:t>
            </a:r>
          </a:p>
        </p:txBody>
      </p:sp>
      <p:sp>
        <p:nvSpPr>
          <p:cNvPr id="11" name="">
            <a:extLst xmlns:a="http://schemas.openxmlformats.org/drawingml/2006/main">
              <a:ext uri="{FF2B5EF4-FFF2-40B4-BE49-F238E27FC236}">
                <a16:creationId xmlns:a16="http://schemas.microsoft.com/office/drawing/2014/main" id="{7EA6F07C-BAB0-4649-BC55-B168540A58EE}"/>
              </a:ext>
            </a:extLst>
          </p:cNvPr>
          <p:cNvSpPr>
            <a:spLocks xmlns:a="http://schemas.openxmlformats.org/drawingml/2006/main" noGrp="1"/>
          </p:cNvSpPr>
          <p:nvPr/>
        </p:nvSpPr>
        <p:spPr>
          <a:xfrm xmlns:a="http://schemas.openxmlformats.org/drawingml/2006/main">
            <a:off x="571500" y="4924425"/>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반복 맥락 입력·부서 간 오인계 감소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직무·업무 분류 정답 건수 ÷ 평가 건수 / 변경 전파 지연</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 비인가 노출 건수</a:t>
            </a:r>
          </a:p>
        </p:txBody>
      </p:sp>
      <p:sp>
        <p:nvSpPr>
          <p:cNvPr id="12" name="">
            <a:extLst xmlns:a="http://schemas.openxmlformats.org/drawingml/2006/main">
              <a:ext uri="{FF2B5EF4-FFF2-40B4-BE49-F238E27FC236}">
                <a16:creationId xmlns:a16="http://schemas.microsoft.com/office/drawing/2014/main" id="{ACB40692-6BCF-4C7C-B703-207894870C1E}"/>
              </a:ext>
            </a:extLst>
          </p:cNvPr>
          <p:cNvSpPr>
            <a:spLocks xmlns:a="http://schemas.openxmlformats.org/drawingml/2006/main" noGrp="1"/>
          </p:cNvSpPr>
          <p:nvPr/>
        </p:nvSpPr>
        <p:spPr>
          <a:xfrm xmlns:a="http://schemas.openxmlformats.org/drawingml/2006/main">
            <a:off x="6334125" y="1752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입력</a:t>
            </a:r>
          </a:p>
        </p:txBody>
      </p:sp>
      <p:sp>
        <p:nvSpPr>
          <p:cNvPr id="13" name="">
            <a:extLst xmlns:a="http://schemas.openxmlformats.org/drawingml/2006/main">
              <a:ext uri="{FF2B5EF4-FFF2-40B4-BE49-F238E27FC236}">
                <a16:creationId xmlns:a16="http://schemas.microsoft.com/office/drawing/2014/main" id="{0C908B43-51F2-4081-846F-167E7624C40A}"/>
              </a:ext>
            </a:extLst>
          </p:cNvPr>
          <p:cNvSpPr>
            <a:spLocks xmlns:a="http://schemas.openxmlformats.org/drawingml/2006/main" noGrp="1"/>
          </p:cNvSpPr>
          <p:nvPr/>
        </p:nvSpPr>
        <p:spPr>
          <a:xfrm xmlns:a="http://schemas.openxmlformats.org/drawingml/2006/main">
            <a:off x="6334125" y="2105025"/>
            <a:ext cx="5286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동명이인·겸직·전보·회수 전후 동일 요청</a:t>
            </a:r>
          </a:p>
        </p:txBody>
      </p:sp>
      <p:sp>
        <p:nvSpPr>
          <p:cNvPr id="14" name="">
            <a:extLst xmlns:a="http://schemas.openxmlformats.org/drawingml/2006/main">
              <a:ext uri="{FF2B5EF4-FFF2-40B4-BE49-F238E27FC236}">
                <a16:creationId xmlns:a16="http://schemas.microsoft.com/office/drawing/2014/main" id="{31A95BA7-2399-458A-90AB-3BB83C0BC48B}"/>
              </a:ext>
            </a:extLst>
          </p:cNvPr>
          <p:cNvSpPr>
            <a:spLocks xmlns:a="http://schemas.openxmlformats.org/drawingml/2006/main" noGrp="1"/>
          </p:cNvSpPr>
          <p:nvPr/>
        </p:nvSpPr>
        <p:spPr>
          <a:xfrm xmlns:a="http://schemas.openxmlformats.org/drawingml/2006/main">
            <a:off x="6334125" y="29241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 기준</a:t>
            </a:r>
          </a:p>
        </p:txBody>
      </p:sp>
      <p:sp>
        <p:nvSpPr>
          <p:cNvPr id="15" name="">
            <a:extLst xmlns:a="http://schemas.openxmlformats.org/drawingml/2006/main">
              <a:ext uri="{FF2B5EF4-FFF2-40B4-BE49-F238E27FC236}">
                <a16:creationId xmlns:a16="http://schemas.microsoft.com/office/drawing/2014/main" id="{9128A80F-7B0D-4953-A4F6-1EE58F5D4677}"/>
              </a:ext>
            </a:extLst>
          </p:cNvPr>
          <p:cNvSpPr>
            <a:spLocks xmlns:a="http://schemas.openxmlformats.org/drawingml/2006/main" noGrp="1"/>
          </p:cNvSpPr>
          <p:nvPr/>
        </p:nvSpPr>
        <p:spPr>
          <a:xfrm xmlns:a="http://schemas.openxmlformats.org/drawingml/2006/main">
            <a:off x="6334125" y="3276600"/>
            <a:ext cx="5286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정답 조직·업무·서식 일치, 모호한 식별 보류, 비인가 </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노출·실행 0건 기준안</a:t>
            </a:r>
          </a:p>
        </p:txBody>
      </p:sp>
      <p:sp>
        <p:nvSpPr>
          <p:cNvPr id="16" name="">
            <a:extLst xmlns:a="http://schemas.openxmlformats.org/drawingml/2006/main">
              <a:ext uri="{FF2B5EF4-FFF2-40B4-BE49-F238E27FC236}">
                <a16:creationId xmlns:a16="http://schemas.microsoft.com/office/drawing/2014/main" id="{4112DF91-E935-4B70-99D6-EAD9266511F8}"/>
              </a:ext>
            </a:extLst>
          </p:cNvPr>
          <p:cNvSpPr>
            <a:spLocks xmlns:a="http://schemas.openxmlformats.org/drawingml/2006/main" noGrp="1"/>
          </p:cNvSpPr>
          <p:nvPr/>
        </p:nvSpPr>
        <p:spPr>
          <a:xfrm xmlns:a="http://schemas.openxmlformats.org/drawingml/2006/main">
            <a:off x="6334125" y="42481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제출 증빙</a:t>
            </a:r>
          </a:p>
        </p:txBody>
      </p:sp>
      <p:sp>
        <p:nvSpPr>
          <p:cNvPr id="17" name="">
            <a:extLst xmlns:a="http://schemas.openxmlformats.org/drawingml/2006/main">
              <a:ext uri="{FF2B5EF4-FFF2-40B4-BE49-F238E27FC236}">
                <a16:creationId xmlns:a16="http://schemas.microsoft.com/office/drawing/2014/main" id="{85343E3E-F767-4B60-A17B-3A7536BCE61B}"/>
              </a:ext>
            </a:extLst>
          </p:cNvPr>
          <p:cNvSpPr>
            <a:spLocks xmlns:a="http://schemas.openxmlformats.org/drawingml/2006/main" noGrp="1"/>
          </p:cNvSpPr>
          <p:nvPr/>
        </p:nvSpPr>
        <p:spPr>
          <a:xfrm xmlns:a="http://schemas.openxmlformats.org/drawingml/2006/main">
            <a:off x="6334125" y="460057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신원 매핑 정답셋·교차권한 결과·변경 전파·복구 기록</a:t>
            </a:r>
          </a:p>
        </p:txBody>
      </p:sp>
      <p:sp>
        <p:nvSpPr>
          <p:cNvPr id="18" name="">
            <a:extLst xmlns:a="http://schemas.openxmlformats.org/drawingml/2006/main">
              <a:ext uri="{FF2B5EF4-FFF2-40B4-BE49-F238E27FC236}">
                <a16:creationId xmlns:a16="http://schemas.microsoft.com/office/drawing/2014/main" id="{2A1EF38D-2C40-487A-8534-AF114F8581A6}"/>
              </a:ext>
            </a:extLst>
          </p:cNvPr>
          <p:cNvSpPr>
            <a:spLocks xmlns:a="http://schemas.openxmlformats.org/drawingml/2006/main" noGrp="1"/>
          </p:cNvSpPr>
          <p:nvPr/>
        </p:nvSpPr>
        <p:spPr>
          <a:xfrm xmlns:a="http://schemas.openxmlformats.org/drawingml/2006/main">
            <a:off x="6334125" y="54483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BM-ST-04-R01 / BM-ST-04-T01</a:t>
            </a:r>
          </a:p>
        </p:txBody>
      </p:sp>
      <p:sp>
        <p:nvSpPr>
          <p:cNvPr id="19" name="">
            <a:extLst xmlns:a="http://schemas.openxmlformats.org/drawingml/2006/main">
              <a:ext uri="{FF2B5EF4-FFF2-40B4-BE49-F238E27FC236}">
                <a16:creationId xmlns:a16="http://schemas.microsoft.com/office/drawing/2014/main" id="{8723C947-9BC1-453E-BC01-AB4084CC36F7}"/>
              </a:ext>
            </a:extLst>
          </p:cNvPr>
          <p:cNvSpPr>
            <a:spLocks xmlns:a="http://schemas.openxmlformats.org/drawingml/2006/main" noGrp="1"/>
          </p:cNvSpPr>
          <p:nvPr/>
        </p:nvSpPr>
        <p:spPr>
          <a:xfrm xmlns:a="http://schemas.openxmlformats.org/drawingml/2006/main">
            <a:off x="6334125" y="5810250"/>
            <a:ext cx="5286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검수 설계안·미실행 / 기대효과 TS 실측 전</a:t>
            </a:r>
          </a:p>
        </p:txBody>
      </p:sp>
    </p:spTree>
    <p:extLst>
      <p:ext uri="{BB962C8B-B14F-4D97-AF65-F5344CB8AC3E}">
        <p14:creationId xmlns:p14="http://schemas.microsoft.com/office/powerpoint/2010/main" val="571482462"/>
      </p:ext>
    </p:extLst>
  </p:cSld>
</p:sld>
</file>

<file path=ppt/slides/slide14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10D825FD-1A1F-41CC-8CAA-9B124108E16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ST-05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70B1CC15-860B-4893-93A6-135165E64662}"/>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모빌리티 실증 증거·안전 검증</a:t>
            </a:r>
          </a:p>
        </p:txBody>
      </p:sp>
      <p:sp>
        <p:nvSpPr>
          <p:cNvPr id="3" name="">
            <a:extLst xmlns:a="http://schemas.openxmlformats.org/drawingml/2006/main">
              <a:ext uri="{FF2B5EF4-FFF2-40B4-BE49-F238E27FC236}">
                <a16:creationId xmlns:a16="http://schemas.microsoft.com/office/drawing/2014/main" id="{EABC8AA7-08DB-445E-996C-93C3E807AE0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85B4F41-6D50-4141-A4A0-E28A5A8138C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FE9E50E4-2FFC-4851-A7D1-E6BC1A6B7045}"/>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148</a:t>
            </a:r>
          </a:p>
        </p:txBody>
      </p:sp>
      <p:sp>
        <p:nvSpPr>
          <p:cNvPr id="6" name="">
            <a:extLst xmlns:a="http://schemas.openxmlformats.org/drawingml/2006/main">
              <a:ext uri="{FF2B5EF4-FFF2-40B4-BE49-F238E27FC236}">
                <a16:creationId xmlns:a16="http://schemas.microsoft.com/office/drawing/2014/main" id="{39931C31-0F37-4E59-871C-B55AF614B3F3}"/>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vl1pPr>
              <a:defRPr sz="1575" b="0">
                <a:solidFill>
                  <a:srgbClr val="42634B"/>
                </a:solidFill>
                <a:latin typeface="Pretendard"/>
                <a:ea typeface="Pretendard"/>
                <a:cs typeface="Pretendard"/>
              </a:defRPr>
            </a:lvl1pPr>
            <a:lvl2pPr>
              <a:defRPr sz="1575" b="0">
                <a:solidFill>
                  <a:srgbClr val="42634B"/>
                </a:solidFill>
                <a:latin typeface="Pretendard"/>
                <a:ea typeface="Pretendard"/>
                <a:cs typeface="Pretendard"/>
              </a:defRPr>
            </a:lvl2pPr>
            <a:lvl3pPr>
              <a:defRPr sz="1575" b="0">
                <a:solidFill>
                  <a:srgbClr val="42634B"/>
                </a:solidFill>
                <a:latin typeface="Pretendard"/>
                <a:ea typeface="Pretendard"/>
                <a:cs typeface="Pretendard"/>
              </a:defRPr>
            </a:lvl3pPr>
            <a:lvl4pPr>
              <a:defRPr sz="1575" b="0">
                <a:solidFill>
                  <a:srgbClr val="42634B"/>
                </a:solidFill>
                <a:latin typeface="Pretendard"/>
                <a:ea typeface="Pretendard"/>
                <a:cs typeface="Pretendard"/>
              </a:defRPr>
            </a:lvl4pPr>
            <a:lvl5pPr>
              <a:defRPr sz="1575" b="0">
                <a:solidFill>
                  <a:srgbClr val="42634B"/>
                </a:solidFill>
                <a:latin typeface="Pretendard"/>
                <a:ea typeface="Pretendard"/>
                <a:cs typeface="Pretendard"/>
              </a:defRPr>
            </a:lvl5pPr>
            <a:lvl6pPr>
              <a:defRPr sz="1575" b="0">
                <a:solidFill>
                  <a:srgbClr val="42634B"/>
                </a:solidFill>
                <a:latin typeface="Pretendard"/>
                <a:ea typeface="Pretendard"/>
                <a:cs typeface="Pretendard"/>
              </a:defRPr>
            </a:lvl6pPr>
            <a:lvl7pPr>
              <a:defRPr sz="1575" b="0">
                <a:solidFill>
                  <a:srgbClr val="42634B"/>
                </a:solidFill>
                <a:latin typeface="Pretendard"/>
                <a:ea typeface="Pretendard"/>
                <a:cs typeface="Pretendard"/>
              </a:defRPr>
            </a:lvl7pPr>
            <a:lvl8pPr>
              <a:defRPr sz="1575" b="0">
                <a:solidFill>
                  <a:srgbClr val="42634B"/>
                </a:solidFill>
                <a:latin typeface="Pretendard"/>
                <a:ea typeface="Pretendard"/>
                <a:cs typeface="Pretendard"/>
              </a:defRPr>
            </a:lvl8pPr>
            <a:lvl9pPr>
              <a:defRPr sz="1575" b="0">
                <a:solidFill>
                  <a:srgbClr val="42634B"/>
                </a:solidFill>
                <a:latin typeface="Pretendard"/>
                <a:ea typeface="Pretendard"/>
                <a:cs typeface="Pretendard"/>
              </a:defRPr>
            </a:lvl9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K-AI 기반 안전한 미래 모빌리티 실현</a:t>
            </a:r>
          </a:p>
        </p:txBody>
      </p:sp>
      <p:sp>
        <p:nvSpPr>
          <p:cNvPr id="7" name="">
            <a:extLst xmlns:a="http://schemas.openxmlformats.org/drawingml/2006/main">
              <a:ext uri="{FF2B5EF4-FFF2-40B4-BE49-F238E27FC236}">
                <a16:creationId xmlns:a16="http://schemas.microsoft.com/office/drawing/2014/main" id="{E9B44FE2-1520-43A1-ACF7-75DAFC904FEB}"/>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39D58D4-B4A5-4B16-9B83-47814C69D479}"/>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자동차안전연구원</a:t>
            </a:r>
          </a:p>
        </p:txBody>
      </p:sp>
      <p:sp>
        <p:nvSpPr>
          <p:cNvPr id="9" name="">
            <a:extLst xmlns:a="http://schemas.openxmlformats.org/drawingml/2006/main">
              <a:ext uri="{FF2B5EF4-FFF2-40B4-BE49-F238E27FC236}">
                <a16:creationId xmlns:a16="http://schemas.microsoft.com/office/drawing/2014/main" id="{E02D1DA0-60EB-46E7-B37B-038422EDAD8E}"/>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미래차 안전 연구·평가</a:t>
            </a:r>
          </a:p>
        </p:txBody>
      </p:sp>
      <p:sp>
        <p:nvSpPr>
          <p:cNvPr id="10" name="">
            <a:extLst xmlns:a="http://schemas.openxmlformats.org/drawingml/2006/main">
              <a:ext uri="{FF2B5EF4-FFF2-40B4-BE49-F238E27FC236}">
                <a16:creationId xmlns:a16="http://schemas.microsoft.com/office/drawing/2014/main" id="{F8F12B51-C5BB-4558-9133-89ECB65597A3}"/>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법령·업무 원장 기반 요약 / 세부 직제 확인</a:t>
            </a:r>
          </a:p>
        </p:txBody>
      </p:sp>
      <p:sp>
        <p:nvSpPr>
          <p:cNvPr id="11" name="">
            <a:extLst xmlns:a="http://schemas.openxmlformats.org/drawingml/2006/main">
              <a:ext uri="{FF2B5EF4-FFF2-40B4-BE49-F238E27FC236}">
                <a16:creationId xmlns:a16="http://schemas.microsoft.com/office/drawing/2014/main" id="{D622A3A2-1955-41D9-9A21-B81516F2BC92}"/>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823CBC9-09CA-4B4B-97B7-6B73B9CC716C}"/>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첨단연구개발처</a:t>
            </a:r>
          </a:p>
        </p:txBody>
      </p:sp>
      <p:sp>
        <p:nvSpPr>
          <p:cNvPr id="13" name="">
            <a:extLst xmlns:a="http://schemas.openxmlformats.org/drawingml/2006/main">
              <a:ext uri="{FF2B5EF4-FFF2-40B4-BE49-F238E27FC236}">
                <a16:creationId xmlns:a16="http://schemas.microsoft.com/office/drawing/2014/main" id="{C419EA51-775C-4D60-B889-C8824614F895}"/>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미래차 검사기술 연구</a:t>
            </a:r>
          </a:p>
        </p:txBody>
      </p:sp>
      <p:sp>
        <p:nvSpPr>
          <p:cNvPr id="14" name="">
            <a:extLst xmlns:a="http://schemas.openxmlformats.org/drawingml/2006/main">
              <a:ext uri="{FF2B5EF4-FFF2-40B4-BE49-F238E27FC236}">
                <a16:creationId xmlns:a16="http://schemas.microsoft.com/office/drawing/2014/main" id="{5EACBD33-2F63-4DB4-A16D-25779E0202DA}"/>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5. 검사기준 및 검사방법 개발에 관한 업무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8. 자율주행자동차 등 검사기술 개발</a:t>
            </a:r>
          </a:p>
        </p:txBody>
      </p:sp>
      <p:sp>
        <p:nvSpPr>
          <p:cNvPr id="15" name="">
            <a:extLst xmlns:a="http://schemas.openxmlformats.org/drawingml/2006/main">
              <a:ext uri="{FF2B5EF4-FFF2-40B4-BE49-F238E27FC236}">
                <a16:creationId xmlns:a16="http://schemas.microsoft.com/office/drawing/2014/main" id="{DDFA2FE7-C2F0-43E6-A8BD-60E2EE22005F}"/>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E133B75-8405-4F44-8491-70CA4E151CE8}"/>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규제혁신처</a:t>
            </a:r>
          </a:p>
        </p:txBody>
      </p:sp>
      <p:sp>
        <p:nvSpPr>
          <p:cNvPr id="17" name="">
            <a:extLst xmlns:a="http://schemas.openxmlformats.org/drawingml/2006/main">
              <a:ext uri="{FF2B5EF4-FFF2-40B4-BE49-F238E27FC236}">
                <a16:creationId xmlns:a16="http://schemas.microsoft.com/office/drawing/2014/main" id="{CCD5D24B-145F-4205-8407-2DC0B9E11841}"/>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실증특례 접수·승인 지원</a:t>
            </a:r>
          </a:p>
        </p:txBody>
      </p:sp>
      <p:sp>
        <p:nvSpPr>
          <p:cNvPr id="18" name="">
            <a:extLst xmlns:a="http://schemas.openxmlformats.org/drawingml/2006/main">
              <a:ext uri="{FF2B5EF4-FFF2-40B4-BE49-F238E27FC236}">
                <a16:creationId xmlns:a16="http://schemas.microsoft.com/office/drawing/2014/main" id="{46E206C9-6A69-4ED5-BEF6-F2BBDC8CEB7D}"/>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 모빌리티 실증특례 접수 및 승인 지원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8. 실증특례 통합검토위원회 구성, 운영</a:t>
            </a:r>
          </a:p>
        </p:txBody>
      </p:sp>
      <p:sp>
        <p:nvSpPr>
          <p:cNvPr id="19" name="">
            <a:extLst xmlns:a="http://schemas.openxmlformats.org/drawingml/2006/main">
              <a:ext uri="{FF2B5EF4-FFF2-40B4-BE49-F238E27FC236}">
                <a16:creationId xmlns:a16="http://schemas.microsoft.com/office/drawing/2014/main" id="{4EF66FA5-7A0F-4FA6-A560-C628BD394FDF}"/>
              </a:ext>
            </a:extLst>
          </p:cNvPr>
          <p:cNvSpPr>
            <a:spLocks xmlns:a="http://schemas.openxmlformats.org/drawingml/2006/main" noGrp="1"/>
          </p:cNvSpPr>
          <p:nvPr/>
        </p:nvSpPr>
        <p:spPr>
          <a:xfrm xmlns:a="http://schemas.openxmlformats.org/drawingml/2006/main">
            <a:off x="571500" y="490537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021D526E-8E27-4D3C-B0ED-742853DCCF19}"/>
              </a:ext>
            </a:extLst>
          </p:cNvPr>
          <p:cNvSpPr>
            <a:spLocks xmlns:a="http://schemas.openxmlformats.org/drawingml/2006/main" noGrp="1"/>
          </p:cNvSpPr>
          <p:nvPr/>
        </p:nvSpPr>
        <p:spPr>
          <a:xfrm xmlns:a="http://schemas.openxmlformats.org/drawingml/2006/main">
            <a:off x="571500" y="50006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실증사업처</a:t>
            </a:r>
          </a:p>
        </p:txBody>
      </p:sp>
      <p:sp>
        <p:nvSpPr>
          <p:cNvPr id="21" name="">
            <a:extLst xmlns:a="http://schemas.openxmlformats.org/drawingml/2006/main">
              <a:ext uri="{FF2B5EF4-FFF2-40B4-BE49-F238E27FC236}">
                <a16:creationId xmlns:a16="http://schemas.microsoft.com/office/drawing/2014/main" id="{D9363C99-F4CB-455F-9C2B-C4AEA3481954}"/>
              </a:ext>
            </a:extLst>
          </p:cNvPr>
          <p:cNvSpPr>
            <a:spLocks xmlns:a="http://schemas.openxmlformats.org/drawingml/2006/main" noGrp="1"/>
          </p:cNvSpPr>
          <p:nvPr/>
        </p:nvSpPr>
        <p:spPr>
          <a:xfrm xmlns:a="http://schemas.openxmlformats.org/drawingml/2006/main">
            <a:off x="571500" y="537210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특화도시·시범사업 지원</a:t>
            </a:r>
          </a:p>
        </p:txBody>
      </p:sp>
      <p:sp>
        <p:nvSpPr>
          <p:cNvPr id="22" name="">
            <a:extLst xmlns:a="http://schemas.openxmlformats.org/drawingml/2006/main">
              <a:ext uri="{FF2B5EF4-FFF2-40B4-BE49-F238E27FC236}">
                <a16:creationId xmlns:a16="http://schemas.microsoft.com/office/drawing/2014/main" id="{5DA0B0F3-8894-41D0-A30D-77AED0F18BBA}"/>
              </a:ext>
            </a:extLst>
          </p:cNvPr>
          <p:cNvSpPr>
            <a:spLocks xmlns:a="http://schemas.openxmlformats.org/drawingml/2006/main" noGrp="1"/>
          </p:cNvSpPr>
          <p:nvPr/>
        </p:nvSpPr>
        <p:spPr>
          <a:xfrm xmlns:a="http://schemas.openxmlformats.org/drawingml/2006/main">
            <a:off x="3143250" y="500062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 모빌리티 특화도시 사업지원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6. 첨단모빌리티 시범사업과 대상지역 지정요청 접수</a:t>
            </a:r>
          </a:p>
        </p:txBody>
      </p:sp>
      <p:sp>
        <p:nvSpPr>
          <p:cNvPr id="23" name="">
            <a:extLst xmlns:a="http://schemas.openxmlformats.org/drawingml/2006/main">
              <a:ext uri="{FF2B5EF4-FFF2-40B4-BE49-F238E27FC236}">
                <a16:creationId xmlns:a16="http://schemas.microsoft.com/office/drawing/2014/main" id="{BD444737-C7C7-4F9C-9E1E-043B45AB5E80}"/>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1954308722"/>
      </p:ext>
    </p:extLst>
  </p:cSld>
</p:sld>
</file>

<file path=ppt/slides/slide14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D959610-63F3-49ED-9692-011CD9D84D5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ST-05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A091D055-51FE-465A-A1BB-8033030CCEC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모빌리티 실증 증거·안전 검증</a:t>
            </a:r>
          </a:p>
        </p:txBody>
      </p:sp>
      <p:sp>
        <p:nvSpPr>
          <p:cNvPr id="3" name="">
            <a:extLst xmlns:a="http://schemas.openxmlformats.org/drawingml/2006/main">
              <a:ext uri="{FF2B5EF4-FFF2-40B4-BE49-F238E27FC236}">
                <a16:creationId xmlns:a16="http://schemas.microsoft.com/office/drawing/2014/main" id="{823739EF-30A3-4C7C-9A46-4B354164438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CE7E42A-4A2A-47B1-813F-D5C0EF5FC04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EA109A25-2DC5-447F-8A48-06910D59028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149</a:t>
            </a:r>
          </a:p>
        </p:txBody>
      </p:sp>
      <p:sp>
        <p:nvSpPr>
          <p:cNvPr id="6" name="">
            <a:extLst xmlns:a="http://schemas.openxmlformats.org/drawingml/2006/main">
              <a:ext uri="{FF2B5EF4-FFF2-40B4-BE49-F238E27FC236}">
                <a16:creationId xmlns:a16="http://schemas.microsoft.com/office/drawing/2014/main" id="{4E7B54BE-50B4-42BB-A079-AC298401C644}"/>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vl1pPr>
              <a:defRPr sz="1575" b="0">
                <a:solidFill>
                  <a:srgbClr val="42634B"/>
                </a:solidFill>
                <a:latin typeface="Pretendard"/>
                <a:ea typeface="Pretendard"/>
                <a:cs typeface="Pretendard"/>
              </a:defRPr>
            </a:lvl1pPr>
            <a:lvl2pPr>
              <a:defRPr sz="1575" b="0">
                <a:solidFill>
                  <a:srgbClr val="42634B"/>
                </a:solidFill>
                <a:latin typeface="Pretendard"/>
                <a:ea typeface="Pretendard"/>
                <a:cs typeface="Pretendard"/>
              </a:defRPr>
            </a:lvl2pPr>
            <a:lvl3pPr>
              <a:defRPr sz="1575" b="0">
                <a:solidFill>
                  <a:srgbClr val="42634B"/>
                </a:solidFill>
                <a:latin typeface="Pretendard"/>
                <a:ea typeface="Pretendard"/>
                <a:cs typeface="Pretendard"/>
              </a:defRPr>
            </a:lvl3pPr>
            <a:lvl4pPr>
              <a:defRPr sz="1575" b="0">
                <a:solidFill>
                  <a:srgbClr val="42634B"/>
                </a:solidFill>
                <a:latin typeface="Pretendard"/>
                <a:ea typeface="Pretendard"/>
                <a:cs typeface="Pretendard"/>
              </a:defRPr>
            </a:lvl4pPr>
            <a:lvl5pPr>
              <a:defRPr sz="1575" b="0">
                <a:solidFill>
                  <a:srgbClr val="42634B"/>
                </a:solidFill>
                <a:latin typeface="Pretendard"/>
                <a:ea typeface="Pretendard"/>
                <a:cs typeface="Pretendard"/>
              </a:defRPr>
            </a:lvl5pPr>
            <a:lvl6pPr>
              <a:defRPr sz="1575" b="0">
                <a:solidFill>
                  <a:srgbClr val="42634B"/>
                </a:solidFill>
                <a:latin typeface="Pretendard"/>
                <a:ea typeface="Pretendard"/>
                <a:cs typeface="Pretendard"/>
              </a:defRPr>
            </a:lvl6pPr>
            <a:lvl7pPr>
              <a:defRPr sz="1575" b="0">
                <a:solidFill>
                  <a:srgbClr val="42634B"/>
                </a:solidFill>
                <a:latin typeface="Pretendard"/>
                <a:ea typeface="Pretendard"/>
                <a:cs typeface="Pretendard"/>
              </a:defRPr>
            </a:lvl7pPr>
            <a:lvl8pPr>
              <a:defRPr sz="1575" b="0">
                <a:solidFill>
                  <a:srgbClr val="42634B"/>
                </a:solidFill>
                <a:latin typeface="Pretendard"/>
                <a:ea typeface="Pretendard"/>
                <a:cs typeface="Pretendard"/>
              </a:defRPr>
            </a:lvl8pPr>
            <a:lvl9pPr>
              <a:defRPr sz="1575" b="0">
                <a:solidFill>
                  <a:srgbClr val="42634B"/>
                </a:solidFill>
                <a:latin typeface="Pretendard"/>
                <a:ea typeface="Pretendard"/>
                <a:cs typeface="Pretendard"/>
              </a:defRPr>
            </a:lvl9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K-AI 기반 안전한 미래 모빌리티 실현</a:t>
            </a:r>
          </a:p>
        </p:txBody>
      </p:sp>
      <p:sp>
        <p:nvSpPr>
          <p:cNvPr id="7" name="">
            <a:extLst xmlns:a="http://schemas.openxmlformats.org/drawingml/2006/main">
              <a:ext uri="{FF2B5EF4-FFF2-40B4-BE49-F238E27FC236}">
                <a16:creationId xmlns:a16="http://schemas.microsoft.com/office/drawing/2014/main" id="{3C81B393-F8F1-49E0-8D20-62DCF49FDB54}"/>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84A7631-BA71-4D9F-8BF0-B59FF05184DC}"/>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드론관리처</a:t>
            </a:r>
          </a:p>
        </p:txBody>
      </p:sp>
      <p:sp>
        <p:nvSpPr>
          <p:cNvPr id="9" name="">
            <a:extLst xmlns:a="http://schemas.openxmlformats.org/drawingml/2006/main">
              <a:ext uri="{FF2B5EF4-FFF2-40B4-BE49-F238E27FC236}">
                <a16:creationId xmlns:a16="http://schemas.microsoft.com/office/drawing/2014/main" id="{A54EAFDB-6524-43E9-9091-0DE5CA028ABC}"/>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드론 안전관리·연구</a:t>
            </a:r>
          </a:p>
        </p:txBody>
      </p:sp>
      <p:sp>
        <p:nvSpPr>
          <p:cNvPr id="10" name="">
            <a:extLst xmlns:a="http://schemas.openxmlformats.org/drawingml/2006/main">
              <a:ext uri="{FF2B5EF4-FFF2-40B4-BE49-F238E27FC236}">
                <a16:creationId xmlns:a16="http://schemas.microsoft.com/office/drawing/2014/main" id="{4DC82E9E-EC07-4E8A-9750-B4516626198A}"/>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 초경량비행장치 사용사업체 안전관리 및 지도점검</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5. 무인비행장치(드론) 관련 신규사업 개발 및 안전연구(UTM, 안티드론, 드론택시․택배 등)</a:t>
            </a:r>
          </a:p>
        </p:txBody>
      </p:sp>
      <p:sp>
        <p:nvSpPr>
          <p:cNvPr id="11" name="">
            <a:extLst xmlns:a="http://schemas.openxmlformats.org/drawingml/2006/main">
              <a:ext uri="{FF2B5EF4-FFF2-40B4-BE49-F238E27FC236}">
                <a16:creationId xmlns:a16="http://schemas.microsoft.com/office/drawing/2014/main" id="{4FADBA03-47ED-4271-89A4-480303E35FB2}"/>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1210706747"/>
      </p:ext>
    </p:extLst>
  </p:cSld>
</p:sld>
</file>

<file path=ppt/slides/slide15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CFCDF5F8-6D6D-4F7F-8E33-94743CB3D84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ST-05 / CCK 재사용·추가 개발·검수·기대효과</a:t>
            </a:r>
          </a:p>
        </p:txBody>
      </p:sp>
      <p:sp>
        <p:nvSpPr>
          <p:cNvPr id="2" name="">
            <a:extLst xmlns:a="http://schemas.openxmlformats.org/drawingml/2006/main">
              <a:ext uri="{FF2B5EF4-FFF2-40B4-BE49-F238E27FC236}">
                <a16:creationId xmlns:a16="http://schemas.microsoft.com/office/drawing/2014/main" id="{9A83709E-725C-4A47-899B-21E33AB661E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모빌리티 실증 증거·안전 검증</a:t>
            </a:r>
          </a:p>
        </p:txBody>
      </p:sp>
      <p:sp>
        <p:nvSpPr>
          <p:cNvPr id="3" name="">
            <a:extLst xmlns:a="http://schemas.openxmlformats.org/drawingml/2006/main">
              <a:ext uri="{FF2B5EF4-FFF2-40B4-BE49-F238E27FC236}">
                <a16:creationId xmlns:a16="http://schemas.microsoft.com/office/drawing/2014/main" id="{BCC76E70-7EC4-4F1B-B521-214DB70289E6}"/>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E2CF345-9787-41A1-A4F8-8971095D14D8}"/>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D1E7904-D944-4D89-8428-61B748157F77}"/>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150</a:t>
            </a:r>
          </a:p>
        </p:txBody>
      </p:sp>
      <p:sp>
        <p:nvSpPr>
          <p:cNvPr id="6" name="">
            <a:extLst xmlns:a="http://schemas.openxmlformats.org/drawingml/2006/main">
              <a:ext uri="{FF2B5EF4-FFF2-40B4-BE49-F238E27FC236}">
                <a16:creationId xmlns:a16="http://schemas.microsoft.com/office/drawing/2014/main" id="{68C9CACF-07A7-4782-B6EF-30D0643259B6}"/>
              </a:ext>
            </a:extLst>
          </p:cNvPr>
          <p:cNvSpPr>
            <a:spLocks xmlns:a="http://schemas.openxmlformats.org/drawingml/2006/main" noGrp="1"/>
          </p:cNvSpPr>
          <p:nvPr/>
        </p:nvSpPr>
        <p:spPr>
          <a:xfrm xmlns:a="http://schemas.openxmlformats.org/drawingml/2006/main">
            <a:off x="571500" y="17526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재사용 후보</a:t>
            </a:r>
          </a:p>
        </p:txBody>
      </p:sp>
      <p:sp>
        <p:nvSpPr>
          <p:cNvPr id="7" name="">
            <a:extLst xmlns:a="http://schemas.openxmlformats.org/drawingml/2006/main">
              <a:ext uri="{FF2B5EF4-FFF2-40B4-BE49-F238E27FC236}">
                <a16:creationId xmlns:a16="http://schemas.microsoft.com/office/drawing/2014/main" id="{F480135B-83A6-4F56-A228-3CA1D672D9DE}"/>
              </a:ext>
            </a:extLst>
          </p:cNvPr>
          <p:cNvSpPr>
            <a:spLocks xmlns:a="http://schemas.openxmlformats.org/drawingml/2006/main" noGrp="1"/>
          </p:cNvSpPr>
          <p:nvPr/>
        </p:nvSpPr>
        <p:spPr>
          <a:xfrm xmlns:a="http://schemas.openxmlformats.org/drawingml/2006/main">
            <a:off x="571500" y="21050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NOA의 기술 기준 검색</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JET·Audin의 구조화 검토·증거 대사</a:t>
            </a:r>
          </a:p>
        </p:txBody>
      </p:sp>
      <p:sp>
        <p:nvSpPr>
          <p:cNvPr id="8" name="">
            <a:extLst xmlns:a="http://schemas.openxmlformats.org/drawingml/2006/main">
              <a:ext uri="{FF2B5EF4-FFF2-40B4-BE49-F238E27FC236}">
                <a16:creationId xmlns:a16="http://schemas.microsoft.com/office/drawing/2014/main" id="{45235851-2A5B-4692-9207-3938AAE3A843}"/>
              </a:ext>
            </a:extLst>
          </p:cNvPr>
          <p:cNvSpPr>
            <a:spLocks xmlns:a="http://schemas.openxmlformats.org/drawingml/2006/main" noGrp="1"/>
          </p:cNvSpPr>
          <p:nvPr/>
        </p:nvSpPr>
        <p:spPr>
          <a:xfrm xmlns:a="http://schemas.openxmlformats.org/drawingml/2006/main">
            <a:off x="571500" y="32099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9" name="">
            <a:extLst xmlns:a="http://schemas.openxmlformats.org/drawingml/2006/main">
              <a:ext uri="{FF2B5EF4-FFF2-40B4-BE49-F238E27FC236}">
                <a16:creationId xmlns:a16="http://schemas.microsoft.com/office/drawing/2014/main" id="{3867F48D-C1AD-4406-8C47-C98DB06A9592}"/>
              </a:ext>
            </a:extLst>
          </p:cNvPr>
          <p:cNvSpPr>
            <a:spLocks xmlns:a="http://schemas.openxmlformats.org/drawingml/2006/main" noGrp="1"/>
          </p:cNvSpPr>
          <p:nvPr/>
        </p:nvSpPr>
        <p:spPr>
          <a:xfrm xmlns:a="http://schemas.openxmlformats.org/drawingml/2006/main">
            <a:off x="571500" y="3562350"/>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실증조건–요구조건–시험 ID 연결</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조건 변경 영향·재검증 목록</a:t>
            </a:r>
          </a:p>
        </p:txBody>
      </p:sp>
      <p:sp>
        <p:nvSpPr>
          <p:cNvPr id="10" name="">
            <a:extLst xmlns:a="http://schemas.openxmlformats.org/drawingml/2006/main">
              <a:ext uri="{FF2B5EF4-FFF2-40B4-BE49-F238E27FC236}">
                <a16:creationId xmlns:a16="http://schemas.microsoft.com/office/drawing/2014/main" id="{391963E7-DE3C-4019-86CE-3DD2F90D0559}"/>
              </a:ext>
            </a:extLst>
          </p:cNvPr>
          <p:cNvSpPr>
            <a:spLocks xmlns:a="http://schemas.openxmlformats.org/drawingml/2006/main" noGrp="1"/>
          </p:cNvSpPr>
          <p:nvPr/>
        </p:nvSpPr>
        <p:spPr>
          <a:xfrm xmlns:a="http://schemas.openxmlformats.org/drawingml/2006/main">
            <a:off x="571500" y="4572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a:t>
            </a:r>
          </a:p>
        </p:txBody>
      </p:sp>
      <p:sp>
        <p:nvSpPr>
          <p:cNvPr id="11" name="">
            <a:extLst xmlns:a="http://schemas.openxmlformats.org/drawingml/2006/main">
              <a:ext uri="{FF2B5EF4-FFF2-40B4-BE49-F238E27FC236}">
                <a16:creationId xmlns:a16="http://schemas.microsoft.com/office/drawing/2014/main" id="{0D2E31BA-C5FC-4A35-93B6-CCD7C0E3A36B}"/>
              </a:ext>
            </a:extLst>
          </p:cNvPr>
          <p:cNvSpPr>
            <a:spLocks xmlns:a="http://schemas.openxmlformats.org/drawingml/2006/main" noGrp="1"/>
          </p:cNvSpPr>
          <p:nvPr/>
        </p:nvSpPr>
        <p:spPr>
          <a:xfrm xmlns:a="http://schemas.openxmlformats.org/drawingml/2006/main">
            <a:off x="571500" y="4924425"/>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실증 검토 재작업·시험 증거 누락 감소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증거 연결 완료 시험 수 ÷ 대상 시험 수 / 변경 후 재검</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토 소요시간</a:t>
            </a:r>
          </a:p>
        </p:txBody>
      </p:sp>
      <p:sp>
        <p:nvSpPr>
          <p:cNvPr id="12" name="">
            <a:extLst xmlns:a="http://schemas.openxmlformats.org/drawingml/2006/main">
              <a:ext uri="{FF2B5EF4-FFF2-40B4-BE49-F238E27FC236}">
                <a16:creationId xmlns:a16="http://schemas.microsoft.com/office/drawing/2014/main" id="{4C055FF8-16A1-4574-AE0D-BAE9EDBD3123}"/>
              </a:ext>
            </a:extLst>
          </p:cNvPr>
          <p:cNvSpPr>
            <a:spLocks xmlns:a="http://schemas.openxmlformats.org/drawingml/2006/main" noGrp="1"/>
          </p:cNvSpPr>
          <p:nvPr/>
        </p:nvSpPr>
        <p:spPr>
          <a:xfrm xmlns:a="http://schemas.openxmlformats.org/drawingml/2006/main">
            <a:off x="6334125" y="1752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입력</a:t>
            </a:r>
          </a:p>
        </p:txBody>
      </p:sp>
      <p:sp>
        <p:nvSpPr>
          <p:cNvPr id="13" name="">
            <a:extLst xmlns:a="http://schemas.openxmlformats.org/drawingml/2006/main">
              <a:ext uri="{FF2B5EF4-FFF2-40B4-BE49-F238E27FC236}">
                <a16:creationId xmlns:a16="http://schemas.microsoft.com/office/drawing/2014/main" id="{1EC5DDD5-1BFD-47F5-BCE9-DDA36BF2269A}"/>
              </a:ext>
            </a:extLst>
          </p:cNvPr>
          <p:cNvSpPr>
            <a:spLocks xmlns:a="http://schemas.openxmlformats.org/drawingml/2006/main" noGrp="1"/>
          </p:cNvSpPr>
          <p:nvPr/>
        </p:nvSpPr>
        <p:spPr>
          <a:xfrm xmlns:a="http://schemas.openxmlformats.org/drawingml/2006/main">
            <a:off x="6334125" y="2105025"/>
            <a:ext cx="5286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운행조건 변경, 로그 누락, 시험판본 불일치</a:t>
            </a:r>
          </a:p>
        </p:txBody>
      </p:sp>
      <p:sp>
        <p:nvSpPr>
          <p:cNvPr id="14" name="">
            <a:extLst xmlns:a="http://schemas.openxmlformats.org/drawingml/2006/main">
              <a:ext uri="{FF2B5EF4-FFF2-40B4-BE49-F238E27FC236}">
                <a16:creationId xmlns:a16="http://schemas.microsoft.com/office/drawing/2014/main" id="{E4FD23BE-1485-40C6-AE35-C600D06C97F8}"/>
              </a:ext>
            </a:extLst>
          </p:cNvPr>
          <p:cNvSpPr>
            <a:spLocks xmlns:a="http://schemas.openxmlformats.org/drawingml/2006/main" noGrp="1"/>
          </p:cNvSpPr>
          <p:nvPr/>
        </p:nvSpPr>
        <p:spPr>
          <a:xfrm xmlns:a="http://schemas.openxmlformats.org/drawingml/2006/main">
            <a:off x="6334125" y="29241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 기준</a:t>
            </a:r>
          </a:p>
        </p:txBody>
      </p:sp>
      <p:sp>
        <p:nvSpPr>
          <p:cNvPr id="15" name="">
            <a:extLst xmlns:a="http://schemas.openxmlformats.org/drawingml/2006/main">
              <a:ext uri="{FF2B5EF4-FFF2-40B4-BE49-F238E27FC236}">
                <a16:creationId xmlns:a16="http://schemas.microsoft.com/office/drawing/2014/main" id="{232CABCD-B693-4175-BB96-0C99C897815A}"/>
              </a:ext>
            </a:extLst>
          </p:cNvPr>
          <p:cNvSpPr>
            <a:spLocks xmlns:a="http://schemas.openxmlformats.org/drawingml/2006/main" noGrp="1"/>
          </p:cNvSpPr>
          <p:nvPr/>
        </p:nvSpPr>
        <p:spPr>
          <a:xfrm xmlns:a="http://schemas.openxmlformats.org/drawingml/2006/main">
            <a:off x="6334125" y="3276600"/>
            <a:ext cx="5286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변경 영향 시험 재선정·증거 미비 보류</a:t>
            </a:r>
          </a:p>
        </p:txBody>
      </p:sp>
      <p:sp>
        <p:nvSpPr>
          <p:cNvPr id="16" name="">
            <a:extLst xmlns:a="http://schemas.openxmlformats.org/drawingml/2006/main">
              <a:ext uri="{FF2B5EF4-FFF2-40B4-BE49-F238E27FC236}">
                <a16:creationId xmlns:a16="http://schemas.microsoft.com/office/drawing/2014/main" id="{0604E205-015D-4BFF-8B8E-EAD916544077}"/>
              </a:ext>
            </a:extLst>
          </p:cNvPr>
          <p:cNvSpPr>
            <a:spLocks xmlns:a="http://schemas.openxmlformats.org/drawingml/2006/main" noGrp="1"/>
          </p:cNvSpPr>
          <p:nvPr/>
        </p:nvSpPr>
        <p:spPr>
          <a:xfrm xmlns:a="http://schemas.openxmlformats.org/drawingml/2006/main">
            <a:off x="6334125" y="42481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제출 증빙</a:t>
            </a:r>
          </a:p>
        </p:txBody>
      </p:sp>
      <p:sp>
        <p:nvSpPr>
          <p:cNvPr id="17" name="">
            <a:extLst xmlns:a="http://schemas.openxmlformats.org/drawingml/2006/main">
              <a:ext uri="{FF2B5EF4-FFF2-40B4-BE49-F238E27FC236}">
                <a16:creationId xmlns:a16="http://schemas.microsoft.com/office/drawing/2014/main" id="{DAC1CE34-1B69-4297-96B3-F9E0F1A82022}"/>
              </a:ext>
            </a:extLst>
          </p:cNvPr>
          <p:cNvSpPr>
            <a:spLocks xmlns:a="http://schemas.openxmlformats.org/drawingml/2006/main" noGrp="1"/>
          </p:cNvSpPr>
          <p:nvPr/>
        </p:nvSpPr>
        <p:spPr>
          <a:xfrm xmlns:a="http://schemas.openxmlformats.org/drawingml/2006/main">
            <a:off x="6334125" y="460057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요구–시험–증거 추적표·재검증 결과</a:t>
            </a:r>
          </a:p>
        </p:txBody>
      </p:sp>
      <p:sp>
        <p:nvSpPr>
          <p:cNvPr id="18" name="">
            <a:extLst xmlns:a="http://schemas.openxmlformats.org/drawingml/2006/main">
              <a:ext uri="{FF2B5EF4-FFF2-40B4-BE49-F238E27FC236}">
                <a16:creationId xmlns:a16="http://schemas.microsoft.com/office/drawing/2014/main" id="{E077036B-D5D4-466D-8040-613D43D1271E}"/>
              </a:ext>
            </a:extLst>
          </p:cNvPr>
          <p:cNvSpPr>
            <a:spLocks xmlns:a="http://schemas.openxmlformats.org/drawingml/2006/main" noGrp="1"/>
          </p:cNvSpPr>
          <p:nvPr/>
        </p:nvSpPr>
        <p:spPr>
          <a:xfrm xmlns:a="http://schemas.openxmlformats.org/drawingml/2006/main">
            <a:off x="6334125" y="54483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BM-ST-05-R01 / BM-ST-05-T01</a:t>
            </a:r>
          </a:p>
        </p:txBody>
      </p:sp>
      <p:sp>
        <p:nvSpPr>
          <p:cNvPr id="19" name="">
            <a:extLst xmlns:a="http://schemas.openxmlformats.org/drawingml/2006/main">
              <a:ext uri="{FF2B5EF4-FFF2-40B4-BE49-F238E27FC236}">
                <a16:creationId xmlns:a16="http://schemas.microsoft.com/office/drawing/2014/main" id="{7557FF3C-E26E-414E-BA80-9AA6731FCFAE}"/>
              </a:ext>
            </a:extLst>
          </p:cNvPr>
          <p:cNvSpPr>
            <a:spLocks xmlns:a="http://schemas.openxmlformats.org/drawingml/2006/main" noGrp="1"/>
          </p:cNvSpPr>
          <p:nvPr/>
        </p:nvSpPr>
        <p:spPr>
          <a:xfrm xmlns:a="http://schemas.openxmlformats.org/drawingml/2006/main">
            <a:off x="6334125" y="5810250"/>
            <a:ext cx="5286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검수 설계안·미실행 / 기대효과 TS 실측 전</a:t>
            </a:r>
          </a:p>
        </p:txBody>
      </p:sp>
    </p:spTree>
    <p:extLst>
      <p:ext uri="{BB962C8B-B14F-4D97-AF65-F5344CB8AC3E}">
        <p14:creationId xmlns:p14="http://schemas.microsoft.com/office/powerpoint/2010/main" val="244925541"/>
      </p:ext>
    </p:extLst>
  </p:cSld>
</p:sld>
</file>

<file path=ppt/slides/slide15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E6B0BFC2-E3E2-4DB5-9388-85FA458E326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ST-06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ADF5C78D-B4A1-433E-A05C-FD3068B5F05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친환경 운행·탄소 검증 지원</a:t>
            </a:r>
          </a:p>
        </p:txBody>
      </p:sp>
      <p:sp>
        <p:nvSpPr>
          <p:cNvPr id="3" name="">
            <a:extLst xmlns:a="http://schemas.openxmlformats.org/drawingml/2006/main">
              <a:ext uri="{FF2B5EF4-FFF2-40B4-BE49-F238E27FC236}">
                <a16:creationId xmlns:a16="http://schemas.microsoft.com/office/drawing/2014/main" id="{99F9EFBC-451E-410E-811C-E6F2C31A3F6C}"/>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22A06BE-67E4-4787-8032-AB6E1B1D4BF4}"/>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5D6EA57-14D5-48B6-9E31-2A4EF3462CB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151</a:t>
            </a:r>
          </a:p>
        </p:txBody>
      </p:sp>
      <p:sp>
        <p:nvSpPr>
          <p:cNvPr id="6" name="">
            <a:extLst xmlns:a="http://schemas.openxmlformats.org/drawingml/2006/main">
              <a:ext uri="{FF2B5EF4-FFF2-40B4-BE49-F238E27FC236}">
                <a16:creationId xmlns:a16="http://schemas.microsoft.com/office/drawing/2014/main" id="{05AFBE79-7843-4F36-81EA-70146DD34376}"/>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vl1pPr>
              <a:defRPr sz="1575" b="0">
                <a:solidFill>
                  <a:srgbClr val="42634B"/>
                </a:solidFill>
                <a:latin typeface="Pretendard"/>
                <a:ea typeface="Pretendard"/>
                <a:cs typeface="Pretendard"/>
              </a:defRPr>
            </a:lvl1pPr>
            <a:lvl2pPr>
              <a:defRPr sz="1575" b="0">
                <a:solidFill>
                  <a:srgbClr val="42634B"/>
                </a:solidFill>
                <a:latin typeface="Pretendard"/>
                <a:ea typeface="Pretendard"/>
                <a:cs typeface="Pretendard"/>
              </a:defRPr>
            </a:lvl2pPr>
            <a:lvl3pPr>
              <a:defRPr sz="1575" b="0">
                <a:solidFill>
                  <a:srgbClr val="42634B"/>
                </a:solidFill>
                <a:latin typeface="Pretendard"/>
                <a:ea typeface="Pretendard"/>
                <a:cs typeface="Pretendard"/>
              </a:defRPr>
            </a:lvl3pPr>
            <a:lvl4pPr>
              <a:defRPr sz="1575" b="0">
                <a:solidFill>
                  <a:srgbClr val="42634B"/>
                </a:solidFill>
                <a:latin typeface="Pretendard"/>
                <a:ea typeface="Pretendard"/>
                <a:cs typeface="Pretendard"/>
              </a:defRPr>
            </a:lvl4pPr>
            <a:lvl5pPr>
              <a:defRPr sz="1575" b="0">
                <a:solidFill>
                  <a:srgbClr val="42634B"/>
                </a:solidFill>
                <a:latin typeface="Pretendard"/>
                <a:ea typeface="Pretendard"/>
                <a:cs typeface="Pretendard"/>
              </a:defRPr>
            </a:lvl5pPr>
            <a:lvl6pPr>
              <a:defRPr sz="1575" b="0">
                <a:solidFill>
                  <a:srgbClr val="42634B"/>
                </a:solidFill>
                <a:latin typeface="Pretendard"/>
                <a:ea typeface="Pretendard"/>
                <a:cs typeface="Pretendard"/>
              </a:defRPr>
            </a:lvl6pPr>
            <a:lvl7pPr>
              <a:defRPr sz="1575" b="0">
                <a:solidFill>
                  <a:srgbClr val="42634B"/>
                </a:solidFill>
                <a:latin typeface="Pretendard"/>
                <a:ea typeface="Pretendard"/>
                <a:cs typeface="Pretendard"/>
              </a:defRPr>
            </a:lvl7pPr>
            <a:lvl8pPr>
              <a:defRPr sz="1575" b="0">
                <a:solidFill>
                  <a:srgbClr val="42634B"/>
                </a:solidFill>
                <a:latin typeface="Pretendard"/>
                <a:ea typeface="Pretendard"/>
                <a:cs typeface="Pretendard"/>
              </a:defRPr>
            </a:lvl8pPr>
            <a:lvl9pPr>
              <a:defRPr sz="1575" b="0">
                <a:solidFill>
                  <a:srgbClr val="42634B"/>
                </a:solidFill>
                <a:latin typeface="Pretendard"/>
                <a:ea typeface="Pretendard"/>
                <a:cs typeface="Pretendard"/>
              </a:defRPr>
            </a:lvl9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기후위기 대응 친환경 전환 가속화</a:t>
            </a:r>
          </a:p>
        </p:txBody>
      </p:sp>
      <p:sp>
        <p:nvSpPr>
          <p:cNvPr id="7" name="">
            <a:extLst xmlns:a="http://schemas.openxmlformats.org/drawingml/2006/main">
              <a:ext uri="{FF2B5EF4-FFF2-40B4-BE49-F238E27FC236}">
                <a16:creationId xmlns:a16="http://schemas.microsoft.com/office/drawing/2014/main" id="{211AE2D2-8C68-4318-922A-F7430599D483}"/>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7E80D3D-40D1-4FFD-A307-4308051498E8}"/>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기후탄소물류처</a:t>
            </a:r>
          </a:p>
        </p:txBody>
      </p:sp>
      <p:sp>
        <p:nvSpPr>
          <p:cNvPr id="9" name="">
            <a:extLst xmlns:a="http://schemas.openxmlformats.org/drawingml/2006/main">
              <a:ext uri="{FF2B5EF4-FFF2-40B4-BE49-F238E27FC236}">
                <a16:creationId xmlns:a16="http://schemas.microsoft.com/office/drawing/2014/main" id="{E8AA6747-D67D-416F-8073-284D0C350AF4}"/>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교통물류 정책·실적 관리</a:t>
            </a:r>
          </a:p>
        </p:txBody>
      </p:sp>
      <p:sp>
        <p:nvSpPr>
          <p:cNvPr id="10" name="">
            <a:extLst xmlns:a="http://schemas.openxmlformats.org/drawingml/2006/main">
              <a:ext uri="{FF2B5EF4-FFF2-40B4-BE49-F238E27FC236}">
                <a16:creationId xmlns:a16="http://schemas.microsoft.com/office/drawing/2014/main" id="{10652126-FD43-4AB5-9741-7B7496F3AD1B}"/>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 화물운송실적관리시스템 운영에 관한 업무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6. 교통물류 정책관련 연구‧사업 업무</a:t>
            </a:r>
          </a:p>
        </p:txBody>
      </p:sp>
      <p:sp>
        <p:nvSpPr>
          <p:cNvPr id="11" name="">
            <a:extLst xmlns:a="http://schemas.openxmlformats.org/drawingml/2006/main">
              <a:ext uri="{FF2B5EF4-FFF2-40B4-BE49-F238E27FC236}">
                <a16:creationId xmlns:a16="http://schemas.microsoft.com/office/drawing/2014/main" id="{9D9DB4E4-4902-4D28-9F62-34237B37E79B}"/>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BEA393A-26A8-47BA-BDE5-30190F880145}"/>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탄소중립정책팀</a:t>
            </a:r>
          </a:p>
        </p:txBody>
      </p:sp>
      <p:sp>
        <p:nvSpPr>
          <p:cNvPr id="13" name="">
            <a:extLst xmlns:a="http://schemas.openxmlformats.org/drawingml/2006/main">
              <a:ext uri="{FF2B5EF4-FFF2-40B4-BE49-F238E27FC236}">
                <a16:creationId xmlns:a16="http://schemas.microsoft.com/office/drawing/2014/main" id="{35E2627E-8626-48DF-BBDA-E4B0E75480BD}"/>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온실가스 조사·감축지원</a:t>
            </a:r>
          </a:p>
        </p:txBody>
      </p:sp>
      <p:sp>
        <p:nvSpPr>
          <p:cNvPr id="14" name="">
            <a:extLst xmlns:a="http://schemas.openxmlformats.org/drawingml/2006/main">
              <a:ext uri="{FF2B5EF4-FFF2-40B4-BE49-F238E27FC236}">
                <a16:creationId xmlns:a16="http://schemas.microsoft.com/office/drawing/2014/main" id="{DA1C0388-B64A-4C92-8469-51E4B5BF116C}"/>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1. 교통부문 온실가스 배출량 조사사업(배출량 조사, 계수개발, 목표관리제, KOTEMS 등) 운영 및 관리 업무</a:t>
            </a:r>
          </a:p>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3. 교통부문 온실가스 감축 추진 등을 위한 배출권거래제 외부사업, 국제항공탄소 상쇄제도 및 국제감축 등 </a:t>
            </a:r>
          </a:p>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감축지원 사업 발굴, 운영·관리 업무</a:t>
            </a:r>
          </a:p>
        </p:txBody>
      </p:sp>
      <p:sp>
        <p:nvSpPr>
          <p:cNvPr id="15" name="">
            <a:extLst xmlns:a="http://schemas.openxmlformats.org/drawingml/2006/main">
              <a:ext uri="{FF2B5EF4-FFF2-40B4-BE49-F238E27FC236}">
                <a16:creationId xmlns:a16="http://schemas.microsoft.com/office/drawing/2014/main" id="{14B8F091-151F-4ADB-B2FD-998744932F79}"/>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06905437-A518-4704-965C-61D2F4303209}"/>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데이터융복합처</a:t>
            </a:r>
          </a:p>
        </p:txBody>
      </p:sp>
      <p:sp>
        <p:nvSpPr>
          <p:cNvPr id="17" name="">
            <a:extLst xmlns:a="http://schemas.openxmlformats.org/drawingml/2006/main">
              <a:ext uri="{FF2B5EF4-FFF2-40B4-BE49-F238E27FC236}">
                <a16:creationId xmlns:a16="http://schemas.microsoft.com/office/drawing/2014/main" id="{C5FF3ECD-C40B-4770-9DB1-2C2ED41F4485}"/>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친환경차 안전 정책</a:t>
            </a:r>
          </a:p>
        </p:txBody>
      </p:sp>
      <p:sp>
        <p:nvSpPr>
          <p:cNvPr id="18" name="">
            <a:extLst xmlns:a="http://schemas.openxmlformats.org/drawingml/2006/main">
              <a:ext uri="{FF2B5EF4-FFF2-40B4-BE49-F238E27FC236}">
                <a16:creationId xmlns:a16="http://schemas.microsoft.com/office/drawing/2014/main" id="{62627243-5B73-4701-AC0C-D385DBD9584A}"/>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18. 사업부서 추진 중 친환경차 안전확보 업무에 대한 총괄 정책 업무</a:t>
            </a:r>
          </a:p>
        </p:txBody>
      </p:sp>
      <p:sp>
        <p:nvSpPr>
          <p:cNvPr id="19" name="">
            <a:extLst xmlns:a="http://schemas.openxmlformats.org/drawingml/2006/main">
              <a:ext uri="{FF2B5EF4-FFF2-40B4-BE49-F238E27FC236}">
                <a16:creationId xmlns:a16="http://schemas.microsoft.com/office/drawing/2014/main" id="{65840215-90FF-4685-88F3-44BEE092ABA2}"/>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1264792603"/>
      </p:ext>
    </p:extLst>
  </p:cSld>
</p:sld>
</file>

<file path=ppt/slides/slide15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CCDEC66-DCB1-4A11-9620-3767752B7703}"/>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ST-06 / CCK 재사용·추가 개발·검수·기대효과</a:t>
            </a:r>
          </a:p>
        </p:txBody>
      </p:sp>
      <p:sp>
        <p:nvSpPr>
          <p:cNvPr id="2" name="">
            <a:extLst xmlns:a="http://schemas.openxmlformats.org/drawingml/2006/main">
              <a:ext uri="{FF2B5EF4-FFF2-40B4-BE49-F238E27FC236}">
                <a16:creationId xmlns:a16="http://schemas.microsoft.com/office/drawing/2014/main" id="{69912434-5EA1-4B8D-AEA7-1F65C7BA8416}"/>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친환경 운행·탄소 검증 지원</a:t>
            </a:r>
          </a:p>
        </p:txBody>
      </p:sp>
      <p:sp>
        <p:nvSpPr>
          <p:cNvPr id="3" name="">
            <a:extLst xmlns:a="http://schemas.openxmlformats.org/drawingml/2006/main">
              <a:ext uri="{FF2B5EF4-FFF2-40B4-BE49-F238E27FC236}">
                <a16:creationId xmlns:a16="http://schemas.microsoft.com/office/drawing/2014/main" id="{8F27C6C1-D9E4-4E15-8005-EE66E27ACB70}"/>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3678413-7048-4F45-B316-6EB41AE8531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B342CCDE-4281-44FE-8F08-02AED2E9A43C}"/>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152</a:t>
            </a:r>
          </a:p>
        </p:txBody>
      </p:sp>
      <p:sp>
        <p:nvSpPr>
          <p:cNvPr id="6" name="">
            <a:extLst xmlns:a="http://schemas.openxmlformats.org/drawingml/2006/main">
              <a:ext uri="{FF2B5EF4-FFF2-40B4-BE49-F238E27FC236}">
                <a16:creationId xmlns:a16="http://schemas.microsoft.com/office/drawing/2014/main" id="{6EDCA039-E793-4ABE-9EE7-1472D546E324}"/>
              </a:ext>
            </a:extLst>
          </p:cNvPr>
          <p:cNvSpPr>
            <a:spLocks xmlns:a="http://schemas.openxmlformats.org/drawingml/2006/main" noGrp="1"/>
          </p:cNvSpPr>
          <p:nvPr/>
        </p:nvSpPr>
        <p:spPr>
          <a:xfrm xmlns:a="http://schemas.openxmlformats.org/drawingml/2006/main">
            <a:off x="571500" y="17526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재사용 후보</a:t>
            </a:r>
          </a:p>
        </p:txBody>
      </p:sp>
      <p:sp>
        <p:nvSpPr>
          <p:cNvPr id="7" name="">
            <a:extLst xmlns:a="http://schemas.openxmlformats.org/drawingml/2006/main">
              <a:ext uri="{FF2B5EF4-FFF2-40B4-BE49-F238E27FC236}">
                <a16:creationId xmlns:a16="http://schemas.microsoft.com/office/drawing/2014/main" id="{219A89A5-2508-476D-989D-D85F9BDAAD58}"/>
              </a:ext>
            </a:extLst>
          </p:cNvPr>
          <p:cNvSpPr>
            <a:spLocks xmlns:a="http://schemas.openxmlformats.org/drawingml/2006/main" noGrp="1"/>
          </p:cNvSpPr>
          <p:nvPr/>
        </p:nvSpPr>
        <p:spPr>
          <a:xfrm xmlns:a="http://schemas.openxmlformats.org/drawingml/2006/main">
            <a:off x="571500" y="21050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NOA의 근거 검색·보고 초안</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Audin·JET의 수치 근거 구조화</a:t>
            </a:r>
          </a:p>
        </p:txBody>
      </p:sp>
      <p:sp>
        <p:nvSpPr>
          <p:cNvPr id="8" name="">
            <a:extLst xmlns:a="http://schemas.openxmlformats.org/drawingml/2006/main">
              <a:ext uri="{FF2B5EF4-FFF2-40B4-BE49-F238E27FC236}">
                <a16:creationId xmlns:a16="http://schemas.microsoft.com/office/drawing/2014/main" id="{6D194521-36B6-48C3-BB33-25874C4F9509}"/>
              </a:ext>
            </a:extLst>
          </p:cNvPr>
          <p:cNvSpPr>
            <a:spLocks xmlns:a="http://schemas.openxmlformats.org/drawingml/2006/main" noGrp="1"/>
          </p:cNvSpPr>
          <p:nvPr/>
        </p:nvSpPr>
        <p:spPr>
          <a:xfrm xmlns:a="http://schemas.openxmlformats.org/drawingml/2006/main">
            <a:off x="571500" y="32099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9" name="">
            <a:extLst xmlns:a="http://schemas.openxmlformats.org/drawingml/2006/main">
              <a:ext uri="{FF2B5EF4-FFF2-40B4-BE49-F238E27FC236}">
                <a16:creationId xmlns:a16="http://schemas.microsoft.com/office/drawing/2014/main" id="{A5906309-30F1-4277-8A8E-A787AA97861D}"/>
              </a:ext>
            </a:extLst>
          </p:cNvPr>
          <p:cNvSpPr>
            <a:spLocks xmlns:a="http://schemas.openxmlformats.org/drawingml/2006/main" noGrp="1"/>
          </p:cNvSpPr>
          <p:nvPr/>
        </p:nvSpPr>
        <p:spPr>
          <a:xfrm xmlns:a="http://schemas.openxmlformats.org/drawingml/2006/main">
            <a:off x="571500" y="3562350"/>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활동량–계수–산식 버전 연결</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독립 재계산·결측 판정 모듈</a:t>
            </a:r>
          </a:p>
        </p:txBody>
      </p:sp>
      <p:sp>
        <p:nvSpPr>
          <p:cNvPr id="10" name="">
            <a:extLst xmlns:a="http://schemas.openxmlformats.org/drawingml/2006/main">
              <a:ext uri="{FF2B5EF4-FFF2-40B4-BE49-F238E27FC236}">
                <a16:creationId xmlns:a16="http://schemas.microsoft.com/office/drawing/2014/main" id="{0CA4B775-46F2-45DA-8A16-E2C5630DD3A4}"/>
              </a:ext>
            </a:extLst>
          </p:cNvPr>
          <p:cNvSpPr>
            <a:spLocks xmlns:a="http://schemas.openxmlformats.org/drawingml/2006/main" noGrp="1"/>
          </p:cNvSpPr>
          <p:nvPr/>
        </p:nvSpPr>
        <p:spPr>
          <a:xfrm xmlns:a="http://schemas.openxmlformats.org/drawingml/2006/main">
            <a:off x="571500" y="4572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a:t>
            </a:r>
          </a:p>
        </p:txBody>
      </p:sp>
      <p:sp>
        <p:nvSpPr>
          <p:cNvPr id="11" name="">
            <a:extLst xmlns:a="http://schemas.openxmlformats.org/drawingml/2006/main">
              <a:ext uri="{FF2B5EF4-FFF2-40B4-BE49-F238E27FC236}">
                <a16:creationId xmlns:a16="http://schemas.microsoft.com/office/drawing/2014/main" id="{A890E27C-8717-48AE-BBFD-D24CFE6E28D7}"/>
              </a:ext>
            </a:extLst>
          </p:cNvPr>
          <p:cNvSpPr>
            <a:spLocks xmlns:a="http://schemas.openxmlformats.org/drawingml/2006/main" noGrp="1"/>
          </p:cNvSpPr>
          <p:nvPr/>
        </p:nvSpPr>
        <p:spPr>
          <a:xfrm xmlns:a="http://schemas.openxmlformats.org/drawingml/2006/main">
            <a:off x="571500" y="4924425"/>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보고 재계산·산식 오류 감소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산식 오류 건수 ÷ 산정 건수 / 산정 검토시간; 에너지·탄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소 효과는 별도 실측</a:t>
            </a:r>
          </a:p>
        </p:txBody>
      </p:sp>
      <p:sp>
        <p:nvSpPr>
          <p:cNvPr id="12" name="">
            <a:extLst xmlns:a="http://schemas.openxmlformats.org/drawingml/2006/main">
              <a:ext uri="{FF2B5EF4-FFF2-40B4-BE49-F238E27FC236}">
                <a16:creationId xmlns:a16="http://schemas.microsoft.com/office/drawing/2014/main" id="{479093F0-4A9D-4067-9152-8D3817D6F814}"/>
              </a:ext>
            </a:extLst>
          </p:cNvPr>
          <p:cNvSpPr>
            <a:spLocks xmlns:a="http://schemas.openxmlformats.org/drawingml/2006/main" noGrp="1"/>
          </p:cNvSpPr>
          <p:nvPr/>
        </p:nvSpPr>
        <p:spPr>
          <a:xfrm xmlns:a="http://schemas.openxmlformats.org/drawingml/2006/main">
            <a:off x="6334125" y="1752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입력</a:t>
            </a:r>
          </a:p>
        </p:txBody>
      </p:sp>
      <p:sp>
        <p:nvSpPr>
          <p:cNvPr id="13" name="">
            <a:extLst xmlns:a="http://schemas.openxmlformats.org/drawingml/2006/main">
              <a:ext uri="{FF2B5EF4-FFF2-40B4-BE49-F238E27FC236}">
                <a16:creationId xmlns:a16="http://schemas.microsoft.com/office/drawing/2014/main" id="{D02B43B4-6E96-469B-BEC7-B7E220B656FF}"/>
              </a:ext>
            </a:extLst>
          </p:cNvPr>
          <p:cNvSpPr>
            <a:spLocks xmlns:a="http://schemas.openxmlformats.org/drawingml/2006/main" noGrp="1"/>
          </p:cNvSpPr>
          <p:nvPr/>
        </p:nvSpPr>
        <p:spPr>
          <a:xfrm xmlns:a="http://schemas.openxmlformats.org/drawingml/2006/main">
            <a:off x="6334125" y="2105025"/>
            <a:ext cx="5286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단위 변환 오류, 기간 중복, 계수 개정, 결측값</a:t>
            </a:r>
          </a:p>
        </p:txBody>
      </p:sp>
      <p:sp>
        <p:nvSpPr>
          <p:cNvPr id="14" name="">
            <a:extLst xmlns:a="http://schemas.openxmlformats.org/drawingml/2006/main">
              <a:ext uri="{FF2B5EF4-FFF2-40B4-BE49-F238E27FC236}">
                <a16:creationId xmlns:a16="http://schemas.microsoft.com/office/drawing/2014/main" id="{4D49668B-C461-4C45-A43B-9C33B39D19D6}"/>
              </a:ext>
            </a:extLst>
          </p:cNvPr>
          <p:cNvSpPr>
            <a:spLocks xmlns:a="http://schemas.openxmlformats.org/drawingml/2006/main" noGrp="1"/>
          </p:cNvSpPr>
          <p:nvPr/>
        </p:nvSpPr>
        <p:spPr>
          <a:xfrm xmlns:a="http://schemas.openxmlformats.org/drawingml/2006/main">
            <a:off x="6334125" y="29241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 기준</a:t>
            </a:r>
          </a:p>
        </p:txBody>
      </p:sp>
      <p:sp>
        <p:nvSpPr>
          <p:cNvPr id="15" name="">
            <a:extLst xmlns:a="http://schemas.openxmlformats.org/drawingml/2006/main">
              <a:ext uri="{FF2B5EF4-FFF2-40B4-BE49-F238E27FC236}">
                <a16:creationId xmlns:a16="http://schemas.microsoft.com/office/drawing/2014/main" id="{24238230-C4C2-4ACE-B3FA-35F2E4FA7E01}"/>
              </a:ext>
            </a:extLst>
          </p:cNvPr>
          <p:cNvSpPr>
            <a:spLocks xmlns:a="http://schemas.openxmlformats.org/drawingml/2006/main" noGrp="1"/>
          </p:cNvSpPr>
          <p:nvPr/>
        </p:nvSpPr>
        <p:spPr>
          <a:xfrm xmlns:a="http://schemas.openxmlformats.org/drawingml/2006/main">
            <a:off x="6334125" y="3276600"/>
            <a:ext cx="5286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독립 계산 일치·누락/이상값 보류</a:t>
            </a:r>
          </a:p>
        </p:txBody>
      </p:sp>
      <p:sp>
        <p:nvSpPr>
          <p:cNvPr id="16" name="">
            <a:extLst xmlns:a="http://schemas.openxmlformats.org/drawingml/2006/main">
              <a:ext uri="{FF2B5EF4-FFF2-40B4-BE49-F238E27FC236}">
                <a16:creationId xmlns:a16="http://schemas.microsoft.com/office/drawing/2014/main" id="{4C11DF12-8160-4D0F-9106-09FE50518FA5}"/>
              </a:ext>
            </a:extLst>
          </p:cNvPr>
          <p:cNvSpPr>
            <a:spLocks xmlns:a="http://schemas.openxmlformats.org/drawingml/2006/main" noGrp="1"/>
          </p:cNvSpPr>
          <p:nvPr/>
        </p:nvSpPr>
        <p:spPr>
          <a:xfrm xmlns:a="http://schemas.openxmlformats.org/drawingml/2006/main">
            <a:off x="6334125" y="42481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제출 증빙</a:t>
            </a:r>
          </a:p>
        </p:txBody>
      </p:sp>
      <p:sp>
        <p:nvSpPr>
          <p:cNvPr id="17" name="">
            <a:extLst xmlns:a="http://schemas.openxmlformats.org/drawingml/2006/main">
              <a:ext uri="{FF2B5EF4-FFF2-40B4-BE49-F238E27FC236}">
                <a16:creationId xmlns:a16="http://schemas.microsoft.com/office/drawing/2014/main" id="{33DC867D-A2C4-4794-B037-EEF32ED48437}"/>
              </a:ext>
            </a:extLst>
          </p:cNvPr>
          <p:cNvSpPr>
            <a:spLocks xmlns:a="http://schemas.openxmlformats.org/drawingml/2006/main" noGrp="1"/>
          </p:cNvSpPr>
          <p:nvPr/>
        </p:nvSpPr>
        <p:spPr>
          <a:xfrm xmlns:a="http://schemas.openxmlformats.org/drawingml/2006/main">
            <a:off x="6334125" y="460057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입력·계수 판본표·계산 대사·검토 기록</a:t>
            </a:r>
          </a:p>
        </p:txBody>
      </p:sp>
      <p:sp>
        <p:nvSpPr>
          <p:cNvPr id="18" name="">
            <a:extLst xmlns:a="http://schemas.openxmlformats.org/drawingml/2006/main">
              <a:ext uri="{FF2B5EF4-FFF2-40B4-BE49-F238E27FC236}">
                <a16:creationId xmlns:a16="http://schemas.microsoft.com/office/drawing/2014/main" id="{3DD9022A-3095-49A1-87F7-CEF728262626}"/>
              </a:ext>
            </a:extLst>
          </p:cNvPr>
          <p:cNvSpPr>
            <a:spLocks xmlns:a="http://schemas.openxmlformats.org/drawingml/2006/main" noGrp="1"/>
          </p:cNvSpPr>
          <p:nvPr/>
        </p:nvSpPr>
        <p:spPr>
          <a:xfrm xmlns:a="http://schemas.openxmlformats.org/drawingml/2006/main">
            <a:off x="6334125" y="54483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BM-ST-06-R01 / BM-ST-06-T01</a:t>
            </a:r>
          </a:p>
        </p:txBody>
      </p:sp>
      <p:sp>
        <p:nvSpPr>
          <p:cNvPr id="19" name="">
            <a:extLst xmlns:a="http://schemas.openxmlformats.org/drawingml/2006/main">
              <a:ext uri="{FF2B5EF4-FFF2-40B4-BE49-F238E27FC236}">
                <a16:creationId xmlns:a16="http://schemas.microsoft.com/office/drawing/2014/main" id="{F7DDEB09-6794-4D44-A68E-83874DD4B6F7}"/>
              </a:ext>
            </a:extLst>
          </p:cNvPr>
          <p:cNvSpPr>
            <a:spLocks xmlns:a="http://schemas.openxmlformats.org/drawingml/2006/main" noGrp="1"/>
          </p:cNvSpPr>
          <p:nvPr/>
        </p:nvSpPr>
        <p:spPr>
          <a:xfrm xmlns:a="http://schemas.openxmlformats.org/drawingml/2006/main">
            <a:off x="6334125" y="5810250"/>
            <a:ext cx="5286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검수 설계안·미실행 / 기대효과 TS 실측 전</a:t>
            </a:r>
          </a:p>
        </p:txBody>
      </p:sp>
    </p:spTree>
    <p:extLst>
      <p:ext uri="{BB962C8B-B14F-4D97-AF65-F5344CB8AC3E}">
        <p14:creationId xmlns:p14="http://schemas.microsoft.com/office/powerpoint/2010/main" val="1890278249"/>
      </p:ext>
    </p:extLst>
  </p:cSld>
</p:sld>
</file>

<file path=ppt/slides/slide15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E285A7FD-DEB2-4D2D-92D9-ED76C51D45F6}"/>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ST-07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FA264FBB-FFBB-400B-BA2C-EF1506743DD0}"/>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교통데이터 제공·연계 지원</a:t>
            </a:r>
          </a:p>
        </p:txBody>
      </p:sp>
      <p:sp>
        <p:nvSpPr>
          <p:cNvPr id="3" name="">
            <a:extLst xmlns:a="http://schemas.openxmlformats.org/drawingml/2006/main">
              <a:ext uri="{FF2B5EF4-FFF2-40B4-BE49-F238E27FC236}">
                <a16:creationId xmlns:a16="http://schemas.microsoft.com/office/drawing/2014/main" id="{CDBDE3C9-74D3-45E9-B51F-1C5B0F784B2A}"/>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F1D791E-30C6-4D29-B686-2B6A1AD356D6}"/>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5CA46C4E-9089-4783-858A-9198BD68251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153</a:t>
            </a:r>
          </a:p>
        </p:txBody>
      </p:sp>
      <p:sp>
        <p:nvSpPr>
          <p:cNvPr id="6" name="">
            <a:extLst xmlns:a="http://schemas.openxmlformats.org/drawingml/2006/main">
              <a:ext uri="{FF2B5EF4-FFF2-40B4-BE49-F238E27FC236}">
                <a16:creationId xmlns:a16="http://schemas.microsoft.com/office/drawing/2014/main" id="{833E2AC4-67AB-4600-861E-33E7B78BBEBB}"/>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vl1pPr>
              <a:defRPr sz="1575" b="0">
                <a:solidFill>
                  <a:srgbClr val="42634B"/>
                </a:solidFill>
                <a:latin typeface="Pretendard"/>
                <a:ea typeface="Pretendard"/>
                <a:cs typeface="Pretendard"/>
              </a:defRPr>
            </a:lvl1pPr>
            <a:lvl2pPr>
              <a:defRPr sz="1575" b="0">
                <a:solidFill>
                  <a:srgbClr val="42634B"/>
                </a:solidFill>
                <a:latin typeface="Pretendard"/>
                <a:ea typeface="Pretendard"/>
                <a:cs typeface="Pretendard"/>
              </a:defRPr>
            </a:lvl2pPr>
            <a:lvl3pPr>
              <a:defRPr sz="1575" b="0">
                <a:solidFill>
                  <a:srgbClr val="42634B"/>
                </a:solidFill>
                <a:latin typeface="Pretendard"/>
                <a:ea typeface="Pretendard"/>
                <a:cs typeface="Pretendard"/>
              </a:defRPr>
            </a:lvl3pPr>
            <a:lvl4pPr>
              <a:defRPr sz="1575" b="0">
                <a:solidFill>
                  <a:srgbClr val="42634B"/>
                </a:solidFill>
                <a:latin typeface="Pretendard"/>
                <a:ea typeface="Pretendard"/>
                <a:cs typeface="Pretendard"/>
              </a:defRPr>
            </a:lvl4pPr>
            <a:lvl5pPr>
              <a:defRPr sz="1575" b="0">
                <a:solidFill>
                  <a:srgbClr val="42634B"/>
                </a:solidFill>
                <a:latin typeface="Pretendard"/>
                <a:ea typeface="Pretendard"/>
                <a:cs typeface="Pretendard"/>
              </a:defRPr>
            </a:lvl5pPr>
            <a:lvl6pPr>
              <a:defRPr sz="1575" b="0">
                <a:solidFill>
                  <a:srgbClr val="42634B"/>
                </a:solidFill>
                <a:latin typeface="Pretendard"/>
                <a:ea typeface="Pretendard"/>
                <a:cs typeface="Pretendard"/>
              </a:defRPr>
            </a:lvl6pPr>
            <a:lvl7pPr>
              <a:defRPr sz="1575" b="0">
                <a:solidFill>
                  <a:srgbClr val="42634B"/>
                </a:solidFill>
                <a:latin typeface="Pretendard"/>
                <a:ea typeface="Pretendard"/>
                <a:cs typeface="Pretendard"/>
              </a:defRPr>
            </a:lvl7pPr>
            <a:lvl8pPr>
              <a:defRPr sz="1575" b="0">
                <a:solidFill>
                  <a:srgbClr val="42634B"/>
                </a:solidFill>
                <a:latin typeface="Pretendard"/>
                <a:ea typeface="Pretendard"/>
                <a:cs typeface="Pretendard"/>
              </a:defRPr>
            </a:lvl8pPr>
            <a:lvl9pPr>
              <a:defRPr sz="1575" b="0">
                <a:solidFill>
                  <a:srgbClr val="42634B"/>
                </a:solidFill>
                <a:latin typeface="Pretendard"/>
                <a:ea typeface="Pretendard"/>
                <a:cs typeface="Pretendard"/>
              </a:defRPr>
            </a:lvl9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교통데이터 개방·연계 기반 서비스 편익 증대</a:t>
            </a:r>
          </a:p>
        </p:txBody>
      </p:sp>
      <p:sp>
        <p:nvSpPr>
          <p:cNvPr id="7" name="">
            <a:extLst xmlns:a="http://schemas.openxmlformats.org/drawingml/2006/main">
              <a:ext uri="{FF2B5EF4-FFF2-40B4-BE49-F238E27FC236}">
                <a16:creationId xmlns:a16="http://schemas.microsoft.com/office/drawing/2014/main" id="{16FCD5C9-8A00-479A-8658-049F2C7A4932}"/>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128713C-2994-4300-A261-8D8335F7831A}"/>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AI혁신처</a:t>
            </a:r>
          </a:p>
        </p:txBody>
      </p:sp>
      <p:sp>
        <p:nvSpPr>
          <p:cNvPr id="9" name="">
            <a:extLst xmlns:a="http://schemas.openxmlformats.org/drawingml/2006/main">
              <a:ext uri="{FF2B5EF4-FFF2-40B4-BE49-F238E27FC236}">
                <a16:creationId xmlns:a16="http://schemas.microsoft.com/office/drawing/2014/main" id="{F046997E-0FF4-4A2D-937E-ECA25FFB4A0C}"/>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공공데이터 개방·표준</a:t>
            </a:r>
          </a:p>
        </p:txBody>
      </p:sp>
      <p:sp>
        <p:nvSpPr>
          <p:cNvPr id="10" name="">
            <a:extLst xmlns:a="http://schemas.openxmlformats.org/drawingml/2006/main">
              <a:ext uri="{FF2B5EF4-FFF2-40B4-BE49-F238E27FC236}">
                <a16:creationId xmlns:a16="http://schemas.microsoft.com/office/drawing/2014/main" id="{44C46464-7D48-4049-A1ED-55FCF83128FE}"/>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인공지능(AI) 데이터 표준화 및 데이터 스페이스 구축</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5. 공공데이터 개방 및 관련 시스템 구축․관리, 공공데이터 활용성과 평가 대응</a:t>
            </a:r>
          </a:p>
        </p:txBody>
      </p:sp>
      <p:sp>
        <p:nvSpPr>
          <p:cNvPr id="11" name="">
            <a:extLst xmlns:a="http://schemas.openxmlformats.org/drawingml/2006/main">
              <a:ext uri="{FF2B5EF4-FFF2-40B4-BE49-F238E27FC236}">
                <a16:creationId xmlns:a16="http://schemas.microsoft.com/office/drawing/2014/main" id="{DB27B5F4-61EC-4E60-953E-8E1BCFD63FA3}"/>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2F206FF-A4F0-459D-8FB9-22CB536460D7}"/>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데이터융복합처</a:t>
            </a:r>
          </a:p>
        </p:txBody>
      </p:sp>
      <p:sp>
        <p:nvSpPr>
          <p:cNvPr id="13" name="">
            <a:extLst xmlns:a="http://schemas.openxmlformats.org/drawingml/2006/main">
              <a:ext uri="{FF2B5EF4-FFF2-40B4-BE49-F238E27FC236}">
                <a16:creationId xmlns:a16="http://schemas.microsoft.com/office/drawing/2014/main" id="{E7E98C13-3954-4F4B-B6D0-B483E4DFD641}"/>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교통데이터 분석·결합</a:t>
            </a:r>
          </a:p>
        </p:txBody>
      </p:sp>
      <p:sp>
        <p:nvSpPr>
          <p:cNvPr id="14" name="">
            <a:extLst xmlns:a="http://schemas.openxmlformats.org/drawingml/2006/main">
              <a:ext uri="{FF2B5EF4-FFF2-40B4-BE49-F238E27FC236}">
                <a16:creationId xmlns:a16="http://schemas.microsoft.com/office/drawing/2014/main" id="{D634EB6D-C0A3-4CDB-9794-55C37DC1FF61}"/>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운행기록데이터 관리·분석·활용 및 정책지원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8. 빅데이터 결합 ․분석․활용 및 교통 빅데이터 플랫폼 구축사업</a:t>
            </a:r>
          </a:p>
        </p:txBody>
      </p:sp>
      <p:sp>
        <p:nvSpPr>
          <p:cNvPr id="15" name="">
            <a:extLst xmlns:a="http://schemas.openxmlformats.org/drawingml/2006/main">
              <a:ext uri="{FF2B5EF4-FFF2-40B4-BE49-F238E27FC236}">
                <a16:creationId xmlns:a16="http://schemas.microsoft.com/office/drawing/2014/main" id="{4D1633CB-E696-433B-9EFF-6C633A32A505}"/>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35FD0713-E08E-4B71-B78B-63EC4FD1B9BE}"/>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자동차정보처</a:t>
            </a:r>
          </a:p>
        </p:txBody>
      </p:sp>
      <p:sp>
        <p:nvSpPr>
          <p:cNvPr id="17" name="">
            <a:extLst xmlns:a="http://schemas.openxmlformats.org/drawingml/2006/main">
              <a:ext uri="{FF2B5EF4-FFF2-40B4-BE49-F238E27FC236}">
                <a16:creationId xmlns:a16="http://schemas.microsoft.com/office/drawing/2014/main" id="{FD5B00E8-10BE-408A-BE8C-890A43A10687}"/>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자동차 통합정보 제공</a:t>
            </a:r>
          </a:p>
        </p:txBody>
      </p:sp>
      <p:sp>
        <p:nvSpPr>
          <p:cNvPr id="18" name="">
            <a:extLst xmlns:a="http://schemas.openxmlformats.org/drawingml/2006/main">
              <a:ext uri="{FF2B5EF4-FFF2-40B4-BE49-F238E27FC236}">
                <a16:creationId xmlns:a16="http://schemas.microsoft.com/office/drawing/2014/main" id="{2F2752D8-6B62-40E7-8289-11606C2C1E20}"/>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자동차토털이력관리시스템 운영</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8. 자동차정보 통합서비스 제공 업무</a:t>
            </a:r>
          </a:p>
        </p:txBody>
      </p:sp>
      <p:sp>
        <p:nvSpPr>
          <p:cNvPr id="19" name="">
            <a:extLst xmlns:a="http://schemas.openxmlformats.org/drawingml/2006/main">
              <a:ext uri="{FF2B5EF4-FFF2-40B4-BE49-F238E27FC236}">
                <a16:creationId xmlns:a16="http://schemas.microsoft.com/office/drawing/2014/main" id="{19FA5477-FF77-4E06-A171-56265E5C741A}"/>
              </a:ext>
            </a:extLst>
          </p:cNvPr>
          <p:cNvSpPr>
            <a:spLocks xmlns:a="http://schemas.openxmlformats.org/drawingml/2006/main" noGrp="1"/>
          </p:cNvSpPr>
          <p:nvPr/>
        </p:nvSpPr>
        <p:spPr>
          <a:xfrm xmlns:a="http://schemas.openxmlformats.org/drawingml/2006/main">
            <a:off x="571500" y="490537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73B5AE7F-C18D-480F-9B10-3FB9C38CEAA7}"/>
              </a:ext>
            </a:extLst>
          </p:cNvPr>
          <p:cNvSpPr>
            <a:spLocks xmlns:a="http://schemas.openxmlformats.org/drawingml/2006/main" noGrp="1"/>
          </p:cNvSpPr>
          <p:nvPr/>
        </p:nvSpPr>
        <p:spPr>
          <a:xfrm xmlns:a="http://schemas.openxmlformats.org/drawingml/2006/main">
            <a:off x="571500" y="50006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모빌리티연구처</a:t>
            </a:r>
          </a:p>
        </p:txBody>
      </p:sp>
      <p:sp>
        <p:nvSpPr>
          <p:cNvPr id="21" name="">
            <a:extLst xmlns:a="http://schemas.openxmlformats.org/drawingml/2006/main">
              <a:ext uri="{FF2B5EF4-FFF2-40B4-BE49-F238E27FC236}">
                <a16:creationId xmlns:a16="http://schemas.microsoft.com/office/drawing/2014/main" id="{9E1D8BF4-C58A-44F9-B75C-BF27E474DA0E}"/>
              </a:ext>
            </a:extLst>
          </p:cNvPr>
          <p:cNvSpPr>
            <a:spLocks xmlns:a="http://schemas.openxmlformats.org/drawingml/2006/main" noGrp="1"/>
          </p:cNvSpPr>
          <p:nvPr/>
        </p:nvSpPr>
        <p:spPr>
          <a:xfrm xmlns:a="http://schemas.openxmlformats.org/drawingml/2006/main">
            <a:off x="571500" y="537210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택시·대중교통 정보 운영</a:t>
            </a:r>
          </a:p>
        </p:txBody>
      </p:sp>
      <p:sp>
        <p:nvSpPr>
          <p:cNvPr id="22" name="">
            <a:extLst xmlns:a="http://schemas.openxmlformats.org/drawingml/2006/main">
              <a:ext uri="{FF2B5EF4-FFF2-40B4-BE49-F238E27FC236}">
                <a16:creationId xmlns:a16="http://schemas.microsoft.com/office/drawing/2014/main" id="{10A1E9EB-9FD7-47B7-A91F-A293A3450702}"/>
              </a:ext>
            </a:extLst>
          </p:cNvPr>
          <p:cNvSpPr>
            <a:spLocks xmlns:a="http://schemas.openxmlformats.org/drawingml/2006/main" noGrp="1"/>
          </p:cNvSpPr>
          <p:nvPr/>
        </p:nvSpPr>
        <p:spPr>
          <a:xfrm xmlns:a="http://schemas.openxmlformats.org/drawingml/2006/main">
            <a:off x="3143250" y="500062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 택시 운행정보 관리시스템 구축 및 운영</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10. 대중교통정보시스템(TAGO) 운영 등 ITS 관련 업무</a:t>
            </a:r>
          </a:p>
        </p:txBody>
      </p:sp>
      <p:sp>
        <p:nvSpPr>
          <p:cNvPr id="23" name="">
            <a:extLst xmlns:a="http://schemas.openxmlformats.org/drawingml/2006/main">
              <a:ext uri="{FF2B5EF4-FFF2-40B4-BE49-F238E27FC236}">
                <a16:creationId xmlns:a16="http://schemas.microsoft.com/office/drawing/2014/main" id="{9C3541A8-17B3-436E-B4C7-79309D23BE04}"/>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439052867"/>
      </p:ext>
    </p:extLst>
  </p:cSld>
</p:sld>
</file>

<file path=ppt/slides/slide15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360CDFD3-E79B-49B7-91AD-85C53920D024}"/>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ST-07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1CEE75AD-1C16-42B9-B086-881DFE6F71D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교통데이터 제공·연계 지원</a:t>
            </a:r>
          </a:p>
        </p:txBody>
      </p:sp>
      <p:sp>
        <p:nvSpPr>
          <p:cNvPr id="3" name="">
            <a:extLst xmlns:a="http://schemas.openxmlformats.org/drawingml/2006/main">
              <a:ext uri="{FF2B5EF4-FFF2-40B4-BE49-F238E27FC236}">
                <a16:creationId xmlns:a16="http://schemas.microsoft.com/office/drawing/2014/main" id="{91F5B5FC-925F-49DA-8C06-E3C7895F715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5E3B92B-ED06-4521-8459-082328CBAE5E}"/>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186E468D-952A-499E-96E2-D8B297340296}"/>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154</a:t>
            </a:r>
          </a:p>
        </p:txBody>
      </p:sp>
      <p:sp>
        <p:nvSpPr>
          <p:cNvPr id="6" name="">
            <a:extLst xmlns:a="http://schemas.openxmlformats.org/drawingml/2006/main">
              <a:ext uri="{FF2B5EF4-FFF2-40B4-BE49-F238E27FC236}">
                <a16:creationId xmlns:a16="http://schemas.microsoft.com/office/drawing/2014/main" id="{42AEF4B8-24EE-4759-8EE1-F4E233AD5859}"/>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vl1pPr>
              <a:defRPr sz="1575" b="0">
                <a:solidFill>
                  <a:srgbClr val="42634B"/>
                </a:solidFill>
                <a:latin typeface="Pretendard"/>
                <a:ea typeface="Pretendard"/>
                <a:cs typeface="Pretendard"/>
              </a:defRPr>
            </a:lvl1pPr>
            <a:lvl2pPr>
              <a:defRPr sz="1575" b="0">
                <a:solidFill>
                  <a:srgbClr val="42634B"/>
                </a:solidFill>
                <a:latin typeface="Pretendard"/>
                <a:ea typeface="Pretendard"/>
                <a:cs typeface="Pretendard"/>
              </a:defRPr>
            </a:lvl2pPr>
            <a:lvl3pPr>
              <a:defRPr sz="1575" b="0">
                <a:solidFill>
                  <a:srgbClr val="42634B"/>
                </a:solidFill>
                <a:latin typeface="Pretendard"/>
                <a:ea typeface="Pretendard"/>
                <a:cs typeface="Pretendard"/>
              </a:defRPr>
            </a:lvl3pPr>
            <a:lvl4pPr>
              <a:defRPr sz="1575" b="0">
                <a:solidFill>
                  <a:srgbClr val="42634B"/>
                </a:solidFill>
                <a:latin typeface="Pretendard"/>
                <a:ea typeface="Pretendard"/>
                <a:cs typeface="Pretendard"/>
              </a:defRPr>
            </a:lvl4pPr>
            <a:lvl5pPr>
              <a:defRPr sz="1575" b="0">
                <a:solidFill>
                  <a:srgbClr val="42634B"/>
                </a:solidFill>
                <a:latin typeface="Pretendard"/>
                <a:ea typeface="Pretendard"/>
                <a:cs typeface="Pretendard"/>
              </a:defRPr>
            </a:lvl5pPr>
            <a:lvl6pPr>
              <a:defRPr sz="1575" b="0">
                <a:solidFill>
                  <a:srgbClr val="42634B"/>
                </a:solidFill>
                <a:latin typeface="Pretendard"/>
                <a:ea typeface="Pretendard"/>
                <a:cs typeface="Pretendard"/>
              </a:defRPr>
            </a:lvl6pPr>
            <a:lvl7pPr>
              <a:defRPr sz="1575" b="0">
                <a:solidFill>
                  <a:srgbClr val="42634B"/>
                </a:solidFill>
                <a:latin typeface="Pretendard"/>
                <a:ea typeface="Pretendard"/>
                <a:cs typeface="Pretendard"/>
              </a:defRPr>
            </a:lvl7pPr>
            <a:lvl8pPr>
              <a:defRPr sz="1575" b="0">
                <a:solidFill>
                  <a:srgbClr val="42634B"/>
                </a:solidFill>
                <a:latin typeface="Pretendard"/>
                <a:ea typeface="Pretendard"/>
                <a:cs typeface="Pretendard"/>
              </a:defRPr>
            </a:lvl8pPr>
            <a:lvl9pPr>
              <a:defRPr sz="1575" b="0">
                <a:solidFill>
                  <a:srgbClr val="42634B"/>
                </a:solidFill>
                <a:latin typeface="Pretendard"/>
                <a:ea typeface="Pretendard"/>
                <a:cs typeface="Pretendard"/>
              </a:defRPr>
            </a:lvl9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교통데이터 개방·연계 기반 서비스 편익 증대</a:t>
            </a:r>
          </a:p>
        </p:txBody>
      </p:sp>
      <p:sp>
        <p:nvSpPr>
          <p:cNvPr id="7" name="">
            <a:extLst xmlns:a="http://schemas.openxmlformats.org/drawingml/2006/main">
              <a:ext uri="{FF2B5EF4-FFF2-40B4-BE49-F238E27FC236}">
                <a16:creationId xmlns:a16="http://schemas.microsoft.com/office/drawing/2014/main" id="{96336514-3A4E-4CAD-94B3-7A9CD2784736}"/>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589A9B1-8D1C-435E-B6B8-07FFFFA60F59}"/>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정책지원처</a:t>
            </a:r>
          </a:p>
        </p:txBody>
      </p:sp>
      <p:sp>
        <p:nvSpPr>
          <p:cNvPr id="9" name="">
            <a:extLst xmlns:a="http://schemas.openxmlformats.org/drawingml/2006/main">
              <a:ext uri="{FF2B5EF4-FFF2-40B4-BE49-F238E27FC236}">
                <a16:creationId xmlns:a16="http://schemas.microsoft.com/office/drawing/2014/main" id="{83139B81-FDED-4A52-BE16-ED5EB5780492}"/>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현황조사·데이터 관리</a:t>
            </a:r>
          </a:p>
        </p:txBody>
      </p:sp>
      <p:sp>
        <p:nvSpPr>
          <p:cNvPr id="10" name="">
            <a:extLst xmlns:a="http://schemas.openxmlformats.org/drawingml/2006/main">
              <a:ext uri="{FF2B5EF4-FFF2-40B4-BE49-F238E27FC236}">
                <a16:creationId xmlns:a16="http://schemas.microsoft.com/office/drawing/2014/main" id="{C78109E6-2FF5-40FB-A117-B365CBC5D816}"/>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7. 대중교통 현황조사에 관한 업무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9. 첨단모빌리티 데이터 수집관리 지원</a:t>
            </a:r>
          </a:p>
        </p:txBody>
      </p:sp>
      <p:sp>
        <p:nvSpPr>
          <p:cNvPr id="11" name="">
            <a:extLst xmlns:a="http://schemas.openxmlformats.org/drawingml/2006/main">
              <a:ext uri="{FF2B5EF4-FFF2-40B4-BE49-F238E27FC236}">
                <a16:creationId xmlns:a16="http://schemas.microsoft.com/office/drawing/2014/main" id="{C7F809EC-1635-4139-B88F-901A1F1ED38D}"/>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A3152B8-480B-4D8B-B340-2E2AAAA42CF1}"/>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디지털기획처</a:t>
            </a:r>
          </a:p>
        </p:txBody>
      </p:sp>
      <p:sp>
        <p:nvSpPr>
          <p:cNvPr id="13" name="">
            <a:extLst xmlns:a="http://schemas.openxmlformats.org/drawingml/2006/main">
              <a:ext uri="{FF2B5EF4-FFF2-40B4-BE49-F238E27FC236}">
                <a16:creationId xmlns:a16="http://schemas.microsoft.com/office/drawing/2014/main" id="{4EF0FA3C-626B-43C0-AF10-9B07AAFD102D}"/>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데이터 품질관리</a:t>
            </a:r>
          </a:p>
        </p:txBody>
      </p:sp>
      <p:sp>
        <p:nvSpPr>
          <p:cNvPr id="14" name="">
            <a:extLst xmlns:a="http://schemas.openxmlformats.org/drawingml/2006/main">
              <a:ext uri="{FF2B5EF4-FFF2-40B4-BE49-F238E27FC236}">
                <a16:creationId xmlns:a16="http://schemas.microsoft.com/office/drawing/2014/main" id="{4806AA8F-EB9A-4A7D-88CF-15130847CEFD}"/>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20. 데이터 품질관리</a:t>
            </a:r>
          </a:p>
        </p:txBody>
      </p:sp>
      <p:sp>
        <p:nvSpPr>
          <p:cNvPr id="15" name="">
            <a:extLst xmlns:a="http://schemas.openxmlformats.org/drawingml/2006/main">
              <a:ext uri="{FF2B5EF4-FFF2-40B4-BE49-F238E27FC236}">
                <a16:creationId xmlns:a16="http://schemas.microsoft.com/office/drawing/2014/main" id="{7681A3F7-6CA4-417A-ADC5-A1F945130FEF}"/>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CD23B05-0D99-4BAF-A56C-E9A10B3ADC5A}"/>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정보보안처</a:t>
            </a:r>
          </a:p>
        </p:txBody>
      </p:sp>
      <p:sp>
        <p:nvSpPr>
          <p:cNvPr id="17" name="">
            <a:extLst xmlns:a="http://schemas.openxmlformats.org/drawingml/2006/main">
              <a:ext uri="{FF2B5EF4-FFF2-40B4-BE49-F238E27FC236}">
                <a16:creationId xmlns:a16="http://schemas.microsoft.com/office/drawing/2014/main" id="{9A8C820B-4015-44EC-9910-59B8C862F051}"/>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개인정보·접근 보안</a:t>
            </a:r>
          </a:p>
        </p:txBody>
      </p:sp>
      <p:sp>
        <p:nvSpPr>
          <p:cNvPr id="18" name="">
            <a:extLst xmlns:a="http://schemas.openxmlformats.org/drawingml/2006/main">
              <a:ext uri="{FF2B5EF4-FFF2-40B4-BE49-F238E27FC236}">
                <a16:creationId xmlns:a16="http://schemas.microsoft.com/office/drawing/2014/main" id="{532F9BB7-BE7F-489D-AE3F-422FD089A6D4}"/>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 정보보안 및 개인정보보호 관련 제도 및 지침관리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10. 개인정보보호 업무총괄 관리</a:t>
            </a:r>
          </a:p>
        </p:txBody>
      </p:sp>
      <p:sp>
        <p:nvSpPr>
          <p:cNvPr id="19" name="">
            <a:extLst xmlns:a="http://schemas.openxmlformats.org/drawingml/2006/main">
              <a:ext uri="{FF2B5EF4-FFF2-40B4-BE49-F238E27FC236}">
                <a16:creationId xmlns:a16="http://schemas.microsoft.com/office/drawing/2014/main" id="{A24299D6-3C22-4A78-B7DD-BB26F0EF808B}"/>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470623212"/>
      </p:ext>
    </p:extLst>
  </p:cSld>
</p:sld>
</file>

<file path=ppt/slides/slide15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B548155C-4F16-4BD9-A17A-5EC35E20D8AD}"/>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ST-07 / CCK 재사용·추가 개발·검수·기대효과</a:t>
            </a:r>
          </a:p>
        </p:txBody>
      </p:sp>
      <p:sp>
        <p:nvSpPr>
          <p:cNvPr id="2" name="">
            <a:extLst xmlns:a="http://schemas.openxmlformats.org/drawingml/2006/main">
              <a:ext uri="{FF2B5EF4-FFF2-40B4-BE49-F238E27FC236}">
                <a16:creationId xmlns:a16="http://schemas.microsoft.com/office/drawing/2014/main" id="{394D6D2C-2A65-4B9D-9D92-22E0ACD481D9}"/>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교통데이터 제공·연계 지원</a:t>
            </a:r>
          </a:p>
        </p:txBody>
      </p:sp>
      <p:sp>
        <p:nvSpPr>
          <p:cNvPr id="3" name="">
            <a:extLst xmlns:a="http://schemas.openxmlformats.org/drawingml/2006/main">
              <a:ext uri="{FF2B5EF4-FFF2-40B4-BE49-F238E27FC236}">
                <a16:creationId xmlns:a16="http://schemas.microsoft.com/office/drawing/2014/main" id="{ED4B3583-EE6C-4902-827A-DB49F7212DDE}"/>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A23184A-B4E9-4ABA-A037-A32FD705116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61CBAB50-3B57-4147-BC5F-CEEBCDAEC7FA}"/>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155</a:t>
            </a:r>
          </a:p>
        </p:txBody>
      </p:sp>
      <p:sp>
        <p:nvSpPr>
          <p:cNvPr id="6" name="">
            <a:extLst xmlns:a="http://schemas.openxmlformats.org/drawingml/2006/main">
              <a:ext uri="{FF2B5EF4-FFF2-40B4-BE49-F238E27FC236}">
                <a16:creationId xmlns:a16="http://schemas.microsoft.com/office/drawing/2014/main" id="{86B7518F-2033-4C4A-9462-8792F76A31CA}"/>
              </a:ext>
            </a:extLst>
          </p:cNvPr>
          <p:cNvSpPr>
            <a:spLocks xmlns:a="http://schemas.openxmlformats.org/drawingml/2006/main" noGrp="1"/>
          </p:cNvSpPr>
          <p:nvPr/>
        </p:nvSpPr>
        <p:spPr>
          <a:xfrm xmlns:a="http://schemas.openxmlformats.org/drawingml/2006/main">
            <a:off x="571500" y="17526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재사용 후보</a:t>
            </a:r>
          </a:p>
        </p:txBody>
      </p:sp>
      <p:sp>
        <p:nvSpPr>
          <p:cNvPr id="7" name="">
            <a:extLst xmlns:a="http://schemas.openxmlformats.org/drawingml/2006/main">
              <a:ext uri="{FF2B5EF4-FFF2-40B4-BE49-F238E27FC236}">
                <a16:creationId xmlns:a16="http://schemas.microsoft.com/office/drawing/2014/main" id="{48070489-C937-4FD9-ACCD-FAA59813DE39}"/>
              </a:ext>
            </a:extLst>
          </p:cNvPr>
          <p:cNvSpPr>
            <a:spLocks xmlns:a="http://schemas.openxmlformats.org/drawingml/2006/main" noGrp="1"/>
          </p:cNvSpPr>
          <p:nvPr/>
        </p:nvSpPr>
        <p:spPr>
          <a:xfrm xmlns:a="http://schemas.openxmlformats.org/drawingml/2006/main">
            <a:off x="571500" y="21050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NOA의 자료 검색·질의 지원</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Connor 명세의 실행·로그 경계</a:t>
            </a:r>
          </a:p>
        </p:txBody>
      </p:sp>
      <p:sp>
        <p:nvSpPr>
          <p:cNvPr id="8" name="">
            <a:extLst xmlns:a="http://schemas.openxmlformats.org/drawingml/2006/main">
              <a:ext uri="{FF2B5EF4-FFF2-40B4-BE49-F238E27FC236}">
                <a16:creationId xmlns:a16="http://schemas.microsoft.com/office/drawing/2014/main" id="{E0A5BFF6-7CCC-4D32-938D-59C9F294EA4D}"/>
              </a:ext>
            </a:extLst>
          </p:cNvPr>
          <p:cNvSpPr>
            <a:spLocks xmlns:a="http://schemas.openxmlformats.org/drawingml/2006/main" noGrp="1"/>
          </p:cNvSpPr>
          <p:nvPr/>
        </p:nvSpPr>
        <p:spPr>
          <a:xfrm xmlns:a="http://schemas.openxmlformats.org/drawingml/2006/main">
            <a:off x="571500" y="32099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9" name="">
            <a:extLst xmlns:a="http://schemas.openxmlformats.org/drawingml/2006/main">
              <a:ext uri="{FF2B5EF4-FFF2-40B4-BE49-F238E27FC236}">
                <a16:creationId xmlns:a16="http://schemas.microsoft.com/office/drawing/2014/main" id="{08CD98BD-B05B-473F-A6BD-084EDFEEEC05}"/>
              </a:ext>
            </a:extLst>
          </p:cNvPr>
          <p:cNvSpPr>
            <a:spLocks xmlns:a="http://schemas.openxmlformats.org/drawingml/2006/main" noGrp="1"/>
          </p:cNvSpPr>
          <p:nvPr/>
        </p:nvSpPr>
        <p:spPr>
          <a:xfrm xmlns:a="http://schemas.openxmlformats.org/drawingml/2006/main">
            <a:off x="571500" y="3562350"/>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목적·필드별 정책 카탈로그</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요청–승인–제공–회수 연결 어댑터</a:t>
            </a:r>
          </a:p>
        </p:txBody>
      </p:sp>
      <p:sp>
        <p:nvSpPr>
          <p:cNvPr id="10" name="">
            <a:extLst xmlns:a="http://schemas.openxmlformats.org/drawingml/2006/main">
              <a:ext uri="{FF2B5EF4-FFF2-40B4-BE49-F238E27FC236}">
                <a16:creationId xmlns:a16="http://schemas.microsoft.com/office/drawing/2014/main" id="{964F65C3-AB1D-4198-A69E-81C504428402}"/>
              </a:ext>
            </a:extLst>
          </p:cNvPr>
          <p:cNvSpPr>
            <a:spLocks xmlns:a="http://schemas.openxmlformats.org/drawingml/2006/main" noGrp="1"/>
          </p:cNvSpPr>
          <p:nvPr/>
        </p:nvSpPr>
        <p:spPr>
          <a:xfrm xmlns:a="http://schemas.openxmlformats.org/drawingml/2006/main">
            <a:off x="571500" y="4572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a:t>
            </a:r>
          </a:p>
        </p:txBody>
      </p:sp>
      <p:sp>
        <p:nvSpPr>
          <p:cNvPr id="11" name="">
            <a:extLst xmlns:a="http://schemas.openxmlformats.org/drawingml/2006/main">
              <a:ext uri="{FF2B5EF4-FFF2-40B4-BE49-F238E27FC236}">
                <a16:creationId xmlns:a16="http://schemas.microsoft.com/office/drawing/2014/main" id="{FB296BCF-448B-4948-B409-525CDD46BA58}"/>
              </a:ext>
            </a:extLst>
          </p:cNvPr>
          <p:cNvSpPr>
            <a:spLocks xmlns:a="http://schemas.openxmlformats.org/drawingml/2006/main" noGrp="1"/>
          </p:cNvSpPr>
          <p:nvPr/>
        </p:nvSpPr>
        <p:spPr>
          <a:xfrm xmlns:a="http://schemas.openxmlformats.org/drawingml/2006/main">
            <a:off x="571500" y="4924425"/>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데이터 탐색·연계 보완시간 감소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승인 조건 충족 연계 수 ÷ 연계 시도 수 / 목적 외 노출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건수</a:t>
            </a:r>
          </a:p>
        </p:txBody>
      </p:sp>
      <p:sp>
        <p:nvSpPr>
          <p:cNvPr id="12" name="">
            <a:extLst xmlns:a="http://schemas.openxmlformats.org/drawingml/2006/main">
              <a:ext uri="{FF2B5EF4-FFF2-40B4-BE49-F238E27FC236}">
                <a16:creationId xmlns:a16="http://schemas.microsoft.com/office/drawing/2014/main" id="{87E998BF-27DB-4466-AFB2-3EB55508B668}"/>
              </a:ext>
            </a:extLst>
          </p:cNvPr>
          <p:cNvSpPr>
            <a:spLocks xmlns:a="http://schemas.openxmlformats.org/drawingml/2006/main" noGrp="1"/>
          </p:cNvSpPr>
          <p:nvPr/>
        </p:nvSpPr>
        <p:spPr>
          <a:xfrm xmlns:a="http://schemas.openxmlformats.org/drawingml/2006/main">
            <a:off x="6334125" y="1752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입력</a:t>
            </a:r>
          </a:p>
        </p:txBody>
      </p:sp>
      <p:sp>
        <p:nvSpPr>
          <p:cNvPr id="13" name="">
            <a:extLst xmlns:a="http://schemas.openxmlformats.org/drawingml/2006/main">
              <a:ext uri="{FF2B5EF4-FFF2-40B4-BE49-F238E27FC236}">
                <a16:creationId xmlns:a16="http://schemas.microsoft.com/office/drawing/2014/main" id="{4B549B58-8673-475D-99C0-262CD75AC3E3}"/>
              </a:ext>
            </a:extLst>
          </p:cNvPr>
          <p:cNvSpPr>
            <a:spLocks xmlns:a="http://schemas.openxmlformats.org/drawingml/2006/main" noGrp="1"/>
          </p:cNvSpPr>
          <p:nvPr/>
        </p:nvSpPr>
        <p:spPr>
          <a:xfrm xmlns:a="http://schemas.openxmlformats.org/drawingml/2006/main">
            <a:off x="6334125" y="2105025"/>
            <a:ext cx="5286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공개/내부 필드 혼합, 스키마 변경, 권한 회수</a:t>
            </a:r>
          </a:p>
        </p:txBody>
      </p:sp>
      <p:sp>
        <p:nvSpPr>
          <p:cNvPr id="14" name="">
            <a:extLst xmlns:a="http://schemas.openxmlformats.org/drawingml/2006/main">
              <a:ext uri="{FF2B5EF4-FFF2-40B4-BE49-F238E27FC236}">
                <a16:creationId xmlns:a16="http://schemas.microsoft.com/office/drawing/2014/main" id="{BC38E829-9CA1-4881-A79B-76045AD3906A}"/>
              </a:ext>
            </a:extLst>
          </p:cNvPr>
          <p:cNvSpPr>
            <a:spLocks xmlns:a="http://schemas.openxmlformats.org/drawingml/2006/main" noGrp="1"/>
          </p:cNvSpPr>
          <p:nvPr/>
        </p:nvSpPr>
        <p:spPr>
          <a:xfrm xmlns:a="http://schemas.openxmlformats.org/drawingml/2006/main">
            <a:off x="6334125" y="29241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 기준</a:t>
            </a:r>
          </a:p>
        </p:txBody>
      </p:sp>
      <p:sp>
        <p:nvSpPr>
          <p:cNvPr id="15" name="">
            <a:extLst xmlns:a="http://schemas.openxmlformats.org/drawingml/2006/main">
              <a:ext uri="{FF2B5EF4-FFF2-40B4-BE49-F238E27FC236}">
                <a16:creationId xmlns:a16="http://schemas.microsoft.com/office/drawing/2014/main" id="{242F5F91-565F-4ADF-8C8B-E04786E8092B}"/>
              </a:ext>
            </a:extLst>
          </p:cNvPr>
          <p:cNvSpPr>
            <a:spLocks xmlns:a="http://schemas.openxmlformats.org/drawingml/2006/main" noGrp="1"/>
          </p:cNvSpPr>
          <p:nvPr/>
        </p:nvSpPr>
        <p:spPr>
          <a:xfrm xmlns:a="http://schemas.openxmlformats.org/drawingml/2006/main">
            <a:off x="6334125" y="3276600"/>
            <a:ext cx="5286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허용 필드만 제공·불일치 보류·회수 후 캐시 차단</a:t>
            </a:r>
          </a:p>
        </p:txBody>
      </p:sp>
      <p:sp>
        <p:nvSpPr>
          <p:cNvPr id="16" name="">
            <a:extLst xmlns:a="http://schemas.openxmlformats.org/drawingml/2006/main">
              <a:ext uri="{FF2B5EF4-FFF2-40B4-BE49-F238E27FC236}">
                <a16:creationId xmlns:a16="http://schemas.microsoft.com/office/drawing/2014/main" id="{EFE4D47C-0C11-438C-90E7-CA70B507B124}"/>
              </a:ext>
            </a:extLst>
          </p:cNvPr>
          <p:cNvSpPr>
            <a:spLocks xmlns:a="http://schemas.openxmlformats.org/drawingml/2006/main" noGrp="1"/>
          </p:cNvSpPr>
          <p:nvPr/>
        </p:nvSpPr>
        <p:spPr>
          <a:xfrm xmlns:a="http://schemas.openxmlformats.org/drawingml/2006/main">
            <a:off x="6334125" y="42481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제출 증빙</a:t>
            </a:r>
          </a:p>
        </p:txBody>
      </p:sp>
      <p:sp>
        <p:nvSpPr>
          <p:cNvPr id="17" name="">
            <a:extLst xmlns:a="http://schemas.openxmlformats.org/drawingml/2006/main">
              <a:ext uri="{FF2B5EF4-FFF2-40B4-BE49-F238E27FC236}">
                <a16:creationId xmlns:a16="http://schemas.microsoft.com/office/drawing/2014/main" id="{922357B8-2BA6-4691-9E07-DE97C2A50777}"/>
              </a:ext>
            </a:extLst>
          </p:cNvPr>
          <p:cNvSpPr>
            <a:spLocks xmlns:a="http://schemas.openxmlformats.org/drawingml/2006/main" noGrp="1"/>
          </p:cNvSpPr>
          <p:nvPr/>
        </p:nvSpPr>
        <p:spPr>
          <a:xfrm xmlns:a="http://schemas.openxmlformats.org/drawingml/2006/main">
            <a:off x="6334125" y="460057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필드 대사표·거부셋 결과·회수 로그</a:t>
            </a:r>
          </a:p>
        </p:txBody>
      </p:sp>
      <p:sp>
        <p:nvSpPr>
          <p:cNvPr id="18" name="">
            <a:extLst xmlns:a="http://schemas.openxmlformats.org/drawingml/2006/main">
              <a:ext uri="{FF2B5EF4-FFF2-40B4-BE49-F238E27FC236}">
                <a16:creationId xmlns:a16="http://schemas.microsoft.com/office/drawing/2014/main" id="{009759B9-5269-49F6-9E12-FDBBB9DDD94C}"/>
              </a:ext>
            </a:extLst>
          </p:cNvPr>
          <p:cNvSpPr>
            <a:spLocks xmlns:a="http://schemas.openxmlformats.org/drawingml/2006/main" noGrp="1"/>
          </p:cNvSpPr>
          <p:nvPr/>
        </p:nvSpPr>
        <p:spPr>
          <a:xfrm xmlns:a="http://schemas.openxmlformats.org/drawingml/2006/main">
            <a:off x="6334125" y="54483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BM-ST-07-R01 / BM-ST-07-T01</a:t>
            </a:r>
          </a:p>
        </p:txBody>
      </p:sp>
      <p:sp>
        <p:nvSpPr>
          <p:cNvPr id="19" name="">
            <a:extLst xmlns:a="http://schemas.openxmlformats.org/drawingml/2006/main">
              <a:ext uri="{FF2B5EF4-FFF2-40B4-BE49-F238E27FC236}">
                <a16:creationId xmlns:a16="http://schemas.microsoft.com/office/drawing/2014/main" id="{63767167-192D-4F2F-98FD-EAFCD60D9E2A}"/>
              </a:ext>
            </a:extLst>
          </p:cNvPr>
          <p:cNvSpPr>
            <a:spLocks xmlns:a="http://schemas.openxmlformats.org/drawingml/2006/main" noGrp="1"/>
          </p:cNvSpPr>
          <p:nvPr/>
        </p:nvSpPr>
        <p:spPr>
          <a:xfrm xmlns:a="http://schemas.openxmlformats.org/drawingml/2006/main">
            <a:off x="6334125" y="5810250"/>
            <a:ext cx="5286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검수 설계안·미실행 / 기대효과 TS 실측 전</a:t>
            </a:r>
          </a:p>
        </p:txBody>
      </p:sp>
    </p:spTree>
    <p:extLst>
      <p:ext uri="{BB962C8B-B14F-4D97-AF65-F5344CB8AC3E}">
        <p14:creationId xmlns:p14="http://schemas.microsoft.com/office/powerpoint/2010/main" val="517250865"/>
      </p:ext>
    </p:extLst>
  </p:cSld>
</p:sld>
</file>

<file path=ppt/slides/slide156.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5843CF90-4A1B-43D1-B932-0C71CD16A03E}"/>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ST-08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8A05CF91-469C-4127-A4A3-46F5084C9C3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자연어·음성 이동 서비스 접점</a:t>
            </a:r>
          </a:p>
        </p:txBody>
      </p:sp>
      <p:sp>
        <p:nvSpPr>
          <p:cNvPr id="3" name="">
            <a:extLst xmlns:a="http://schemas.openxmlformats.org/drawingml/2006/main">
              <a:ext uri="{FF2B5EF4-FFF2-40B4-BE49-F238E27FC236}">
                <a16:creationId xmlns:a16="http://schemas.microsoft.com/office/drawing/2014/main" id="{B6396CAF-E28E-4A62-8162-2291C94D990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5E54FC2-1B39-4A7D-908A-8AEA5A30910F}"/>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1229D96B-8F61-4F1F-9371-4A41E84A0349}"/>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156</a:t>
            </a:r>
          </a:p>
        </p:txBody>
      </p:sp>
      <p:sp>
        <p:nvSpPr>
          <p:cNvPr id="6" name="">
            <a:extLst xmlns:a="http://schemas.openxmlformats.org/drawingml/2006/main">
              <a:ext uri="{FF2B5EF4-FFF2-40B4-BE49-F238E27FC236}">
                <a16:creationId xmlns:a16="http://schemas.microsoft.com/office/drawing/2014/main" id="{EC1875D4-80F4-464C-9F8D-8C167922D4B6}"/>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vl1pPr>
              <a:defRPr sz="1575" b="0">
                <a:solidFill>
                  <a:srgbClr val="42634B"/>
                </a:solidFill>
                <a:latin typeface="Pretendard"/>
                <a:ea typeface="Pretendard"/>
                <a:cs typeface="Pretendard"/>
              </a:defRPr>
            </a:lvl1pPr>
            <a:lvl2pPr>
              <a:defRPr sz="1575" b="0">
                <a:solidFill>
                  <a:srgbClr val="42634B"/>
                </a:solidFill>
                <a:latin typeface="Pretendard"/>
                <a:ea typeface="Pretendard"/>
                <a:cs typeface="Pretendard"/>
              </a:defRPr>
            </a:lvl2pPr>
            <a:lvl3pPr>
              <a:defRPr sz="1575" b="0">
                <a:solidFill>
                  <a:srgbClr val="42634B"/>
                </a:solidFill>
                <a:latin typeface="Pretendard"/>
                <a:ea typeface="Pretendard"/>
                <a:cs typeface="Pretendard"/>
              </a:defRPr>
            </a:lvl3pPr>
            <a:lvl4pPr>
              <a:defRPr sz="1575" b="0">
                <a:solidFill>
                  <a:srgbClr val="42634B"/>
                </a:solidFill>
                <a:latin typeface="Pretendard"/>
                <a:ea typeface="Pretendard"/>
                <a:cs typeface="Pretendard"/>
              </a:defRPr>
            </a:lvl4pPr>
            <a:lvl5pPr>
              <a:defRPr sz="1575" b="0">
                <a:solidFill>
                  <a:srgbClr val="42634B"/>
                </a:solidFill>
                <a:latin typeface="Pretendard"/>
                <a:ea typeface="Pretendard"/>
                <a:cs typeface="Pretendard"/>
              </a:defRPr>
            </a:lvl5pPr>
            <a:lvl6pPr>
              <a:defRPr sz="1575" b="0">
                <a:solidFill>
                  <a:srgbClr val="42634B"/>
                </a:solidFill>
                <a:latin typeface="Pretendard"/>
                <a:ea typeface="Pretendard"/>
                <a:cs typeface="Pretendard"/>
              </a:defRPr>
            </a:lvl6pPr>
            <a:lvl7pPr>
              <a:defRPr sz="1575" b="0">
                <a:solidFill>
                  <a:srgbClr val="42634B"/>
                </a:solidFill>
                <a:latin typeface="Pretendard"/>
                <a:ea typeface="Pretendard"/>
                <a:cs typeface="Pretendard"/>
              </a:defRPr>
            </a:lvl7pPr>
            <a:lvl8pPr>
              <a:defRPr sz="1575" b="0">
                <a:solidFill>
                  <a:srgbClr val="42634B"/>
                </a:solidFill>
                <a:latin typeface="Pretendard"/>
                <a:ea typeface="Pretendard"/>
                <a:cs typeface="Pretendard"/>
              </a:defRPr>
            </a:lvl8pPr>
            <a:lvl9pPr>
              <a:defRPr sz="1575" b="0">
                <a:solidFill>
                  <a:srgbClr val="42634B"/>
                </a:solidFill>
                <a:latin typeface="Pretendard"/>
                <a:ea typeface="Pretendard"/>
                <a:cs typeface="Pretendard"/>
              </a:defRPr>
            </a:lvl9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생활 밀착형 이동 서비스 확대</a:t>
            </a:r>
          </a:p>
        </p:txBody>
      </p:sp>
      <p:sp>
        <p:nvSpPr>
          <p:cNvPr id="7" name="">
            <a:extLst xmlns:a="http://schemas.openxmlformats.org/drawingml/2006/main">
              <a:ext uri="{FF2B5EF4-FFF2-40B4-BE49-F238E27FC236}">
                <a16:creationId xmlns:a16="http://schemas.microsoft.com/office/drawing/2014/main" id="{A6008A8F-E30A-4659-B263-49EE00312DD3}"/>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9C39F1E-39D6-48BF-85D6-0FFA44501C38}"/>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모빌리티연구처</a:t>
            </a:r>
          </a:p>
        </p:txBody>
      </p:sp>
      <p:sp>
        <p:nvSpPr>
          <p:cNvPr id="9" name="">
            <a:extLst xmlns:a="http://schemas.openxmlformats.org/drawingml/2006/main">
              <a:ext uri="{FF2B5EF4-FFF2-40B4-BE49-F238E27FC236}">
                <a16:creationId xmlns:a16="http://schemas.microsoft.com/office/drawing/2014/main" id="{E7D2BC7F-9675-4A0F-9933-1839E48FDC4D}"/>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이동정보·교통약자 조사</a:t>
            </a:r>
          </a:p>
        </p:txBody>
      </p:sp>
      <p:sp>
        <p:nvSpPr>
          <p:cNvPr id="10" name="">
            <a:extLst xmlns:a="http://schemas.openxmlformats.org/drawingml/2006/main">
              <a:ext uri="{FF2B5EF4-FFF2-40B4-BE49-F238E27FC236}">
                <a16:creationId xmlns:a16="http://schemas.microsoft.com/office/drawing/2014/main" id="{D4FC7E6C-E94F-47AB-95C0-446021A5E627}"/>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수요응답형(DRT) 대중교통 시스템 구축 및 운영</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23. 교통약자 이동편의실태조사 및 자료관리</a:t>
            </a:r>
          </a:p>
        </p:txBody>
      </p:sp>
      <p:sp>
        <p:nvSpPr>
          <p:cNvPr id="11" name="">
            <a:extLst xmlns:a="http://schemas.openxmlformats.org/drawingml/2006/main">
              <a:ext uri="{FF2B5EF4-FFF2-40B4-BE49-F238E27FC236}">
                <a16:creationId xmlns:a16="http://schemas.microsoft.com/office/drawing/2014/main" id="{6A67BE07-ED70-4B3E-BFFF-E1E2DD651FDF}"/>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F08D083-3275-47DF-8CBF-22410D37FCB5}"/>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정책지원처</a:t>
            </a:r>
          </a:p>
        </p:txBody>
      </p:sp>
      <p:sp>
        <p:nvSpPr>
          <p:cNvPr id="13" name="">
            <a:extLst xmlns:a="http://schemas.openxmlformats.org/drawingml/2006/main">
              <a:ext uri="{FF2B5EF4-FFF2-40B4-BE49-F238E27FC236}">
                <a16:creationId xmlns:a16="http://schemas.microsoft.com/office/drawing/2014/main" id="{5AF10AA0-3F7A-46E6-8303-DFE11DB85104}"/>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대중교통 현황조사</a:t>
            </a:r>
          </a:p>
        </p:txBody>
      </p:sp>
      <p:sp>
        <p:nvSpPr>
          <p:cNvPr id="14" name="">
            <a:extLst xmlns:a="http://schemas.openxmlformats.org/drawingml/2006/main">
              <a:ext uri="{FF2B5EF4-FFF2-40B4-BE49-F238E27FC236}">
                <a16:creationId xmlns:a16="http://schemas.microsoft.com/office/drawing/2014/main" id="{D9DCDA91-6CC4-485F-A560-99A8DA279361}"/>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7. 대중교통 현황조사에 관한 업무</a:t>
            </a:r>
          </a:p>
        </p:txBody>
      </p:sp>
      <p:sp>
        <p:nvSpPr>
          <p:cNvPr id="15" name="">
            <a:extLst xmlns:a="http://schemas.openxmlformats.org/drawingml/2006/main">
              <a:ext uri="{FF2B5EF4-FFF2-40B4-BE49-F238E27FC236}">
                <a16:creationId xmlns:a16="http://schemas.microsoft.com/office/drawing/2014/main" id="{D91D1A2D-60ED-4061-83B4-D3193828B2CF}"/>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81D5FBF-F596-43CC-A3F2-F35CD04B804A}"/>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교통안전처</a:t>
            </a:r>
          </a:p>
        </p:txBody>
      </p:sp>
      <p:sp>
        <p:nvSpPr>
          <p:cNvPr id="17" name="">
            <a:extLst xmlns:a="http://schemas.openxmlformats.org/drawingml/2006/main">
              <a:ext uri="{FF2B5EF4-FFF2-40B4-BE49-F238E27FC236}">
                <a16:creationId xmlns:a16="http://schemas.microsoft.com/office/drawing/2014/main" id="{076F9D13-4EB5-4F5C-9109-6E70D80D655E}"/>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운수종사자 관리</a:t>
            </a:r>
          </a:p>
        </p:txBody>
      </p:sp>
      <p:sp>
        <p:nvSpPr>
          <p:cNvPr id="18" name="">
            <a:extLst xmlns:a="http://schemas.openxmlformats.org/drawingml/2006/main">
              <a:ext uri="{FF2B5EF4-FFF2-40B4-BE49-F238E27FC236}">
                <a16:creationId xmlns:a16="http://schemas.microsoft.com/office/drawing/2014/main" id="{9D5D0D2B-4FEE-476E-B72C-B8A5E6313D72}"/>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8. 운수종사자 입․퇴사 정보, 교통사고정보 관리 및 부적격운전자 통보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9. 운수종사자관리정보시스템 운영 및 관리</a:t>
            </a:r>
          </a:p>
        </p:txBody>
      </p:sp>
      <p:sp>
        <p:nvSpPr>
          <p:cNvPr id="19" name="">
            <a:extLst xmlns:a="http://schemas.openxmlformats.org/drawingml/2006/main">
              <a:ext uri="{FF2B5EF4-FFF2-40B4-BE49-F238E27FC236}">
                <a16:creationId xmlns:a16="http://schemas.microsoft.com/office/drawing/2014/main" id="{1F2337EA-5053-4E54-8A34-411798A0C646}"/>
              </a:ext>
            </a:extLst>
          </p:cNvPr>
          <p:cNvSpPr>
            <a:spLocks xmlns:a="http://schemas.openxmlformats.org/drawingml/2006/main" noGrp="1"/>
          </p:cNvSpPr>
          <p:nvPr/>
        </p:nvSpPr>
        <p:spPr>
          <a:xfrm xmlns:a="http://schemas.openxmlformats.org/drawingml/2006/main">
            <a:off x="571500" y="490537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95401DB0-6758-444B-884D-E64F74C958FC}"/>
              </a:ext>
            </a:extLst>
          </p:cNvPr>
          <p:cNvSpPr>
            <a:spLocks xmlns:a="http://schemas.openxmlformats.org/drawingml/2006/main" noGrp="1"/>
          </p:cNvSpPr>
          <p:nvPr/>
        </p:nvSpPr>
        <p:spPr>
          <a:xfrm xmlns:a="http://schemas.openxmlformats.org/drawingml/2006/main">
            <a:off x="571500" y="50006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자격교육처</a:t>
            </a:r>
          </a:p>
        </p:txBody>
      </p:sp>
      <p:sp>
        <p:nvSpPr>
          <p:cNvPr id="21" name="">
            <a:extLst xmlns:a="http://schemas.openxmlformats.org/drawingml/2006/main">
              <a:ext uri="{FF2B5EF4-FFF2-40B4-BE49-F238E27FC236}">
                <a16:creationId xmlns:a16="http://schemas.microsoft.com/office/drawing/2014/main" id="{CD12F5A8-FE0C-48BD-B847-BBE7BA073239}"/>
              </a:ext>
            </a:extLst>
          </p:cNvPr>
          <p:cNvSpPr>
            <a:spLocks xmlns:a="http://schemas.openxmlformats.org/drawingml/2006/main" noGrp="1"/>
          </p:cNvSpPr>
          <p:nvPr/>
        </p:nvSpPr>
        <p:spPr>
          <a:xfrm xmlns:a="http://schemas.openxmlformats.org/drawingml/2006/main">
            <a:off x="571500" y="537210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자격·적성검사 운영</a:t>
            </a:r>
          </a:p>
        </p:txBody>
      </p:sp>
      <p:sp>
        <p:nvSpPr>
          <p:cNvPr id="22" name="">
            <a:extLst xmlns:a="http://schemas.openxmlformats.org/drawingml/2006/main">
              <a:ext uri="{FF2B5EF4-FFF2-40B4-BE49-F238E27FC236}">
                <a16:creationId xmlns:a16="http://schemas.microsoft.com/office/drawing/2014/main" id="{5B8EECE2-3C3A-46E9-866E-96261C6C5807}"/>
              </a:ext>
            </a:extLst>
          </p:cNvPr>
          <p:cNvSpPr>
            <a:spLocks xmlns:a="http://schemas.openxmlformats.org/drawingml/2006/main" noGrp="1"/>
          </p:cNvSpPr>
          <p:nvPr/>
        </p:nvSpPr>
        <p:spPr>
          <a:xfrm xmlns:a="http://schemas.openxmlformats.org/drawingml/2006/main">
            <a:off x="3143250" y="500062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21. 운전적성정밀검사(신규, 특별, 버스‧택시‧화물 자격유지 등), 국가자격시험(버스, 화물, 택</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시, 교통안전관리자), 사업계획 수립 및 관련법령 개정 등 제도개선</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32. 화물․버스․택시 운전 및 교통안전관리자 자격증 발급 및 관리</a:t>
            </a:r>
          </a:p>
        </p:txBody>
      </p:sp>
      <p:sp>
        <p:nvSpPr>
          <p:cNvPr id="23" name="">
            <a:extLst xmlns:a="http://schemas.openxmlformats.org/drawingml/2006/main">
              <a:ext uri="{FF2B5EF4-FFF2-40B4-BE49-F238E27FC236}">
                <a16:creationId xmlns:a16="http://schemas.microsoft.com/office/drawing/2014/main" id="{9AC94F93-4462-402A-A469-F08237A37C17}"/>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1551520188"/>
      </p:ext>
    </p:extLst>
  </p:cSld>
</p:sld>
</file>

<file path=ppt/slides/slide157.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8C0B781-407D-47B8-97F3-B302507F0E4A}"/>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ST-08 / CCK 재사용·추가 개발·검수·기대효과</a:t>
            </a:r>
          </a:p>
        </p:txBody>
      </p:sp>
      <p:sp>
        <p:nvSpPr>
          <p:cNvPr id="2" name="">
            <a:extLst xmlns:a="http://schemas.openxmlformats.org/drawingml/2006/main">
              <a:ext uri="{FF2B5EF4-FFF2-40B4-BE49-F238E27FC236}">
                <a16:creationId xmlns:a16="http://schemas.microsoft.com/office/drawing/2014/main" id="{8050E2BC-5C54-4150-99F9-F22F0EA735DD}"/>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자연어·음성 이동 서비스 접점</a:t>
            </a:r>
          </a:p>
        </p:txBody>
      </p:sp>
      <p:sp>
        <p:nvSpPr>
          <p:cNvPr id="3" name="">
            <a:extLst xmlns:a="http://schemas.openxmlformats.org/drawingml/2006/main">
              <a:ext uri="{FF2B5EF4-FFF2-40B4-BE49-F238E27FC236}">
                <a16:creationId xmlns:a16="http://schemas.microsoft.com/office/drawing/2014/main" id="{D5232C89-FA15-49D8-99AA-56D35DDB96ED}"/>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3EEEC75-1568-454C-976B-DA599699643D}"/>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F2784BB-48F4-4306-9F0F-3013354A30A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157</a:t>
            </a:r>
          </a:p>
        </p:txBody>
      </p:sp>
      <p:sp>
        <p:nvSpPr>
          <p:cNvPr id="6" name="">
            <a:extLst xmlns:a="http://schemas.openxmlformats.org/drawingml/2006/main">
              <a:ext uri="{FF2B5EF4-FFF2-40B4-BE49-F238E27FC236}">
                <a16:creationId xmlns:a16="http://schemas.microsoft.com/office/drawing/2014/main" id="{D94ED69E-7162-4472-8D61-3199851DDE70}"/>
              </a:ext>
            </a:extLst>
          </p:cNvPr>
          <p:cNvSpPr>
            <a:spLocks xmlns:a="http://schemas.openxmlformats.org/drawingml/2006/main" noGrp="1"/>
          </p:cNvSpPr>
          <p:nvPr/>
        </p:nvSpPr>
        <p:spPr>
          <a:xfrm xmlns:a="http://schemas.openxmlformats.org/drawingml/2006/main">
            <a:off x="571500" y="17526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재사용 후보</a:t>
            </a:r>
          </a:p>
        </p:txBody>
      </p:sp>
      <p:sp>
        <p:nvSpPr>
          <p:cNvPr id="7" name="">
            <a:extLst xmlns:a="http://schemas.openxmlformats.org/drawingml/2006/main">
              <a:ext uri="{FF2B5EF4-FFF2-40B4-BE49-F238E27FC236}">
                <a16:creationId xmlns:a16="http://schemas.microsoft.com/office/drawing/2014/main" id="{3B1916B3-67DF-44C5-8B2C-7793E01524B5}"/>
              </a:ext>
            </a:extLst>
          </p:cNvPr>
          <p:cNvSpPr>
            <a:spLocks xmlns:a="http://schemas.openxmlformats.org/drawingml/2006/main" noGrp="1"/>
          </p:cNvSpPr>
          <p:nvPr/>
        </p:nvSpPr>
        <p:spPr>
          <a:xfrm xmlns:a="http://schemas.openxmlformats.org/drawingml/2006/main">
            <a:off x="571500" y="21050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NOA의 공개지식 검색·대화</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JET·Foundry의 필수 입력·절차 설계</a:t>
            </a:r>
          </a:p>
        </p:txBody>
      </p:sp>
      <p:sp>
        <p:nvSpPr>
          <p:cNvPr id="8" name="">
            <a:extLst xmlns:a="http://schemas.openxmlformats.org/drawingml/2006/main">
              <a:ext uri="{FF2B5EF4-FFF2-40B4-BE49-F238E27FC236}">
                <a16:creationId xmlns:a16="http://schemas.microsoft.com/office/drawing/2014/main" id="{A9886475-9EF8-40C0-945D-98901916DD43}"/>
              </a:ext>
            </a:extLst>
          </p:cNvPr>
          <p:cNvSpPr>
            <a:spLocks xmlns:a="http://schemas.openxmlformats.org/drawingml/2006/main" noGrp="1"/>
          </p:cNvSpPr>
          <p:nvPr/>
        </p:nvSpPr>
        <p:spPr>
          <a:xfrm xmlns:a="http://schemas.openxmlformats.org/drawingml/2006/main">
            <a:off x="571500" y="32099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9" name="">
            <a:extLst xmlns:a="http://schemas.openxmlformats.org/drawingml/2006/main">
              <a:ext uri="{FF2B5EF4-FFF2-40B4-BE49-F238E27FC236}">
                <a16:creationId xmlns:a16="http://schemas.microsoft.com/office/drawing/2014/main" id="{E75C2131-59DB-4689-BB34-849D60D61C4F}"/>
              </a:ext>
            </a:extLst>
          </p:cNvPr>
          <p:cNvSpPr>
            <a:spLocks xmlns:a="http://schemas.openxmlformats.org/drawingml/2006/main" noGrp="1"/>
          </p:cNvSpPr>
          <p:nvPr/>
        </p:nvSpPr>
        <p:spPr>
          <a:xfrm xmlns:a="http://schemas.openxmlformats.org/drawingml/2006/main">
            <a:off x="571500" y="3562350"/>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음성 입력·발화 정리 연계</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서비스 라우터·메뉴/상담 복귀 경로</a:t>
            </a:r>
          </a:p>
        </p:txBody>
      </p:sp>
      <p:sp>
        <p:nvSpPr>
          <p:cNvPr id="10" name="">
            <a:extLst xmlns:a="http://schemas.openxmlformats.org/drawingml/2006/main">
              <a:ext uri="{FF2B5EF4-FFF2-40B4-BE49-F238E27FC236}">
                <a16:creationId xmlns:a16="http://schemas.microsoft.com/office/drawing/2014/main" id="{B7C526BD-A06E-46AC-B7D1-C4BDA34C5481}"/>
              </a:ext>
            </a:extLst>
          </p:cNvPr>
          <p:cNvSpPr>
            <a:spLocks xmlns:a="http://schemas.openxmlformats.org/drawingml/2006/main" noGrp="1"/>
          </p:cNvSpPr>
          <p:nvPr/>
        </p:nvSpPr>
        <p:spPr>
          <a:xfrm xmlns:a="http://schemas.openxmlformats.org/drawingml/2006/main">
            <a:off x="571500" y="4572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a:t>
            </a:r>
          </a:p>
        </p:txBody>
      </p:sp>
      <p:sp>
        <p:nvSpPr>
          <p:cNvPr id="11" name="">
            <a:extLst xmlns:a="http://schemas.openxmlformats.org/drawingml/2006/main">
              <a:ext uri="{FF2B5EF4-FFF2-40B4-BE49-F238E27FC236}">
                <a16:creationId xmlns:a16="http://schemas.microsoft.com/office/drawing/2014/main" id="{52C1B7A1-CF60-462C-AE1F-9FF7B7C0ED2C}"/>
              </a:ext>
            </a:extLst>
          </p:cNvPr>
          <p:cNvSpPr>
            <a:spLocks xmlns:a="http://schemas.openxmlformats.org/drawingml/2006/main" noGrp="1"/>
          </p:cNvSpPr>
          <p:nvPr/>
        </p:nvSpPr>
        <p:spPr>
          <a:xfrm xmlns:a="http://schemas.openxmlformats.org/drawingml/2006/main">
            <a:off x="571500" y="4924425"/>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국민의 서비스 탐색·발화 재입력 감소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정확한 서비스 도달 수 ÷ 전체 시도 수 / 사용자군별 완</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료시간·포기율</a:t>
            </a:r>
          </a:p>
        </p:txBody>
      </p:sp>
      <p:sp>
        <p:nvSpPr>
          <p:cNvPr id="12" name="">
            <a:extLst xmlns:a="http://schemas.openxmlformats.org/drawingml/2006/main">
              <a:ext uri="{FF2B5EF4-FFF2-40B4-BE49-F238E27FC236}">
                <a16:creationId xmlns:a16="http://schemas.microsoft.com/office/drawing/2014/main" id="{748B21B7-74E5-41FC-8FD5-322839C8B435}"/>
              </a:ext>
            </a:extLst>
          </p:cNvPr>
          <p:cNvSpPr>
            <a:spLocks xmlns:a="http://schemas.openxmlformats.org/drawingml/2006/main" noGrp="1"/>
          </p:cNvSpPr>
          <p:nvPr/>
        </p:nvSpPr>
        <p:spPr>
          <a:xfrm xmlns:a="http://schemas.openxmlformats.org/drawingml/2006/main">
            <a:off x="6334125" y="1752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입력</a:t>
            </a:r>
          </a:p>
        </p:txBody>
      </p:sp>
      <p:sp>
        <p:nvSpPr>
          <p:cNvPr id="13" name="">
            <a:extLst xmlns:a="http://schemas.openxmlformats.org/drawingml/2006/main">
              <a:ext uri="{FF2B5EF4-FFF2-40B4-BE49-F238E27FC236}">
                <a16:creationId xmlns:a16="http://schemas.microsoft.com/office/drawing/2014/main" id="{5A798D11-4875-4D4E-8669-91E9BDB56A46}"/>
              </a:ext>
            </a:extLst>
          </p:cNvPr>
          <p:cNvSpPr>
            <a:spLocks xmlns:a="http://schemas.openxmlformats.org/drawingml/2006/main" noGrp="1"/>
          </p:cNvSpPr>
          <p:nvPr/>
        </p:nvSpPr>
        <p:spPr>
          <a:xfrm xmlns:a="http://schemas.openxmlformats.org/drawingml/2006/main">
            <a:off x="6334125" y="2105025"/>
            <a:ext cx="5286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고령·방언·소음·범위 밖 요청과 일반 사용자 과업</a:t>
            </a:r>
          </a:p>
        </p:txBody>
      </p:sp>
      <p:sp>
        <p:nvSpPr>
          <p:cNvPr id="14" name="">
            <a:extLst xmlns:a="http://schemas.openxmlformats.org/drawingml/2006/main">
              <a:ext uri="{FF2B5EF4-FFF2-40B4-BE49-F238E27FC236}">
                <a16:creationId xmlns:a16="http://schemas.microsoft.com/office/drawing/2014/main" id="{9EAF288F-CDB4-4F71-9627-67EE6299209E}"/>
              </a:ext>
            </a:extLst>
          </p:cNvPr>
          <p:cNvSpPr>
            <a:spLocks xmlns:a="http://schemas.openxmlformats.org/drawingml/2006/main" noGrp="1"/>
          </p:cNvSpPr>
          <p:nvPr/>
        </p:nvSpPr>
        <p:spPr>
          <a:xfrm xmlns:a="http://schemas.openxmlformats.org/drawingml/2006/main">
            <a:off x="6334125" y="29241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 기준</a:t>
            </a:r>
          </a:p>
        </p:txBody>
      </p:sp>
      <p:sp>
        <p:nvSpPr>
          <p:cNvPr id="15" name="">
            <a:extLst xmlns:a="http://schemas.openxmlformats.org/drawingml/2006/main">
              <a:ext uri="{FF2B5EF4-FFF2-40B4-BE49-F238E27FC236}">
                <a16:creationId xmlns:a16="http://schemas.microsoft.com/office/drawing/2014/main" id="{124DCA75-92CE-417B-87B5-53D79595BC4C}"/>
              </a:ext>
            </a:extLst>
          </p:cNvPr>
          <p:cNvSpPr>
            <a:spLocks xmlns:a="http://schemas.openxmlformats.org/drawingml/2006/main" noGrp="1"/>
          </p:cNvSpPr>
          <p:nvPr/>
        </p:nvSpPr>
        <p:spPr>
          <a:xfrm xmlns:a="http://schemas.openxmlformats.org/drawingml/2006/main">
            <a:off x="6334125" y="3276600"/>
            <a:ext cx="5286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정확한 창구 연결·사용자 확인·내부자료 차단·상담 전</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환</a:t>
            </a:r>
          </a:p>
        </p:txBody>
      </p:sp>
      <p:sp>
        <p:nvSpPr>
          <p:cNvPr id="16" name="">
            <a:extLst xmlns:a="http://schemas.openxmlformats.org/drawingml/2006/main">
              <a:ext uri="{FF2B5EF4-FFF2-40B4-BE49-F238E27FC236}">
                <a16:creationId xmlns:a16="http://schemas.microsoft.com/office/drawing/2014/main" id="{3A2677A4-70BE-40D9-A18A-AD419DD510FF}"/>
              </a:ext>
            </a:extLst>
          </p:cNvPr>
          <p:cNvSpPr>
            <a:spLocks xmlns:a="http://schemas.openxmlformats.org/drawingml/2006/main" noGrp="1"/>
          </p:cNvSpPr>
          <p:nvPr/>
        </p:nvSpPr>
        <p:spPr>
          <a:xfrm xmlns:a="http://schemas.openxmlformats.org/drawingml/2006/main">
            <a:off x="6334125" y="42481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제출 증빙</a:t>
            </a:r>
          </a:p>
        </p:txBody>
      </p:sp>
      <p:sp>
        <p:nvSpPr>
          <p:cNvPr id="17" name="">
            <a:extLst xmlns:a="http://schemas.openxmlformats.org/drawingml/2006/main">
              <a:ext uri="{FF2B5EF4-FFF2-40B4-BE49-F238E27FC236}">
                <a16:creationId xmlns:a16="http://schemas.microsoft.com/office/drawing/2014/main" id="{76515FEC-C9EA-4210-97C1-3E54D8C8E0B8}"/>
              </a:ext>
            </a:extLst>
          </p:cNvPr>
          <p:cNvSpPr>
            <a:spLocks xmlns:a="http://schemas.openxmlformats.org/drawingml/2006/main" noGrp="1"/>
          </p:cNvSpPr>
          <p:nvPr/>
        </p:nvSpPr>
        <p:spPr>
          <a:xfrm xmlns:a="http://schemas.openxmlformats.org/drawingml/2006/main">
            <a:off x="6334125" y="460057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사용자군별 과업 기록·도달률·오인계 결과</a:t>
            </a:r>
          </a:p>
        </p:txBody>
      </p:sp>
      <p:sp>
        <p:nvSpPr>
          <p:cNvPr id="18" name="">
            <a:extLst xmlns:a="http://schemas.openxmlformats.org/drawingml/2006/main">
              <a:ext uri="{FF2B5EF4-FFF2-40B4-BE49-F238E27FC236}">
                <a16:creationId xmlns:a16="http://schemas.microsoft.com/office/drawing/2014/main" id="{4FFCFAE3-A1F3-469F-B079-45DD56A3BB6F}"/>
              </a:ext>
            </a:extLst>
          </p:cNvPr>
          <p:cNvSpPr>
            <a:spLocks xmlns:a="http://schemas.openxmlformats.org/drawingml/2006/main" noGrp="1"/>
          </p:cNvSpPr>
          <p:nvPr/>
        </p:nvSpPr>
        <p:spPr>
          <a:xfrm xmlns:a="http://schemas.openxmlformats.org/drawingml/2006/main">
            <a:off x="6334125" y="54483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BM-ST-08-R01 / BM-ST-08-T01</a:t>
            </a:r>
          </a:p>
        </p:txBody>
      </p:sp>
      <p:sp>
        <p:nvSpPr>
          <p:cNvPr id="19" name="">
            <a:extLst xmlns:a="http://schemas.openxmlformats.org/drawingml/2006/main">
              <a:ext uri="{FF2B5EF4-FFF2-40B4-BE49-F238E27FC236}">
                <a16:creationId xmlns:a16="http://schemas.microsoft.com/office/drawing/2014/main" id="{20789AED-10B9-4926-AAE0-B93C42E91F8A}"/>
              </a:ext>
            </a:extLst>
          </p:cNvPr>
          <p:cNvSpPr>
            <a:spLocks xmlns:a="http://schemas.openxmlformats.org/drawingml/2006/main" noGrp="1"/>
          </p:cNvSpPr>
          <p:nvPr/>
        </p:nvSpPr>
        <p:spPr>
          <a:xfrm xmlns:a="http://schemas.openxmlformats.org/drawingml/2006/main">
            <a:off x="6334125" y="5810250"/>
            <a:ext cx="5286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검수 설계안·미실행 / 기대효과 TS 실측 전</a:t>
            </a:r>
          </a:p>
        </p:txBody>
      </p:sp>
    </p:spTree>
    <p:extLst>
      <p:ext uri="{BB962C8B-B14F-4D97-AF65-F5344CB8AC3E}">
        <p14:creationId xmlns:p14="http://schemas.microsoft.com/office/powerpoint/2010/main" val="1721315143"/>
      </p:ext>
    </p:extLst>
  </p:cSld>
</p:sld>
</file>

<file path=ppt/slides/slide158.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DE700305-5E54-48D0-ACFD-5B062E428A1F}"/>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ST-09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50E0986C-2A9E-4332-94CA-F5E1ED229B27}"/>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지역·산업 지원 검토 근거</a:t>
            </a:r>
          </a:p>
        </p:txBody>
      </p:sp>
      <p:sp>
        <p:nvSpPr>
          <p:cNvPr id="3" name="">
            <a:extLst xmlns:a="http://schemas.openxmlformats.org/drawingml/2006/main">
              <a:ext uri="{FF2B5EF4-FFF2-40B4-BE49-F238E27FC236}">
                <a16:creationId xmlns:a16="http://schemas.microsoft.com/office/drawing/2014/main" id="{6D7C9372-79E1-4476-9E27-BD4C613473D3}"/>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1ED44BC-21D2-4B75-B493-33623176F78A}"/>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392F0EC8-58AB-497A-AC5B-B741A160B10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158</a:t>
            </a:r>
          </a:p>
        </p:txBody>
      </p:sp>
      <p:sp>
        <p:nvSpPr>
          <p:cNvPr id="6" name="">
            <a:extLst xmlns:a="http://schemas.openxmlformats.org/drawingml/2006/main">
              <a:ext uri="{FF2B5EF4-FFF2-40B4-BE49-F238E27FC236}">
                <a16:creationId xmlns:a16="http://schemas.microsoft.com/office/drawing/2014/main" id="{DF4B1B45-5D03-441A-9DE6-B2836BE27F26}"/>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vl1pPr>
              <a:defRPr sz="1575" b="0">
                <a:solidFill>
                  <a:srgbClr val="42634B"/>
                </a:solidFill>
                <a:latin typeface="Pretendard"/>
                <a:ea typeface="Pretendard"/>
                <a:cs typeface="Pretendard"/>
              </a:defRPr>
            </a:lvl1pPr>
            <a:lvl2pPr>
              <a:defRPr sz="1575" b="0">
                <a:solidFill>
                  <a:srgbClr val="42634B"/>
                </a:solidFill>
                <a:latin typeface="Pretendard"/>
                <a:ea typeface="Pretendard"/>
                <a:cs typeface="Pretendard"/>
              </a:defRPr>
            </a:lvl2pPr>
            <a:lvl3pPr>
              <a:defRPr sz="1575" b="0">
                <a:solidFill>
                  <a:srgbClr val="42634B"/>
                </a:solidFill>
                <a:latin typeface="Pretendard"/>
                <a:ea typeface="Pretendard"/>
                <a:cs typeface="Pretendard"/>
              </a:defRPr>
            </a:lvl3pPr>
            <a:lvl4pPr>
              <a:defRPr sz="1575" b="0">
                <a:solidFill>
                  <a:srgbClr val="42634B"/>
                </a:solidFill>
                <a:latin typeface="Pretendard"/>
                <a:ea typeface="Pretendard"/>
                <a:cs typeface="Pretendard"/>
              </a:defRPr>
            </a:lvl4pPr>
            <a:lvl5pPr>
              <a:defRPr sz="1575" b="0">
                <a:solidFill>
                  <a:srgbClr val="42634B"/>
                </a:solidFill>
                <a:latin typeface="Pretendard"/>
                <a:ea typeface="Pretendard"/>
                <a:cs typeface="Pretendard"/>
              </a:defRPr>
            </a:lvl5pPr>
            <a:lvl6pPr>
              <a:defRPr sz="1575" b="0">
                <a:solidFill>
                  <a:srgbClr val="42634B"/>
                </a:solidFill>
                <a:latin typeface="Pretendard"/>
                <a:ea typeface="Pretendard"/>
                <a:cs typeface="Pretendard"/>
              </a:defRPr>
            </a:lvl6pPr>
            <a:lvl7pPr>
              <a:defRPr sz="1575" b="0">
                <a:solidFill>
                  <a:srgbClr val="42634B"/>
                </a:solidFill>
                <a:latin typeface="Pretendard"/>
                <a:ea typeface="Pretendard"/>
                <a:cs typeface="Pretendard"/>
              </a:defRPr>
            </a:lvl7pPr>
            <a:lvl8pPr>
              <a:defRPr sz="1575" b="0">
                <a:solidFill>
                  <a:srgbClr val="42634B"/>
                </a:solidFill>
                <a:latin typeface="Pretendard"/>
                <a:ea typeface="Pretendard"/>
                <a:cs typeface="Pretendard"/>
              </a:defRPr>
            </a:lvl8pPr>
            <a:lvl9pPr>
              <a:defRPr sz="1575" b="0">
                <a:solidFill>
                  <a:srgbClr val="42634B"/>
                </a:solidFill>
                <a:latin typeface="Pretendard"/>
                <a:ea typeface="Pretendard"/>
                <a:cs typeface="Pretendard"/>
              </a:defRPr>
            </a:lvl9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민간·지역·산업 균형 성장 역동성 지원</a:t>
            </a:r>
          </a:p>
        </p:txBody>
      </p:sp>
      <p:sp>
        <p:nvSpPr>
          <p:cNvPr id="7" name="">
            <a:extLst xmlns:a="http://schemas.openxmlformats.org/drawingml/2006/main">
              <a:ext uri="{FF2B5EF4-FFF2-40B4-BE49-F238E27FC236}">
                <a16:creationId xmlns:a16="http://schemas.microsoft.com/office/drawing/2014/main" id="{E61B8ED3-1391-4852-8710-460D8718B5DF}"/>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4110B9F-1D9C-4693-ACA4-1412797B836C}"/>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정책지원처</a:t>
            </a:r>
          </a:p>
        </p:txBody>
      </p:sp>
      <p:sp>
        <p:nvSpPr>
          <p:cNvPr id="9" name="">
            <a:extLst xmlns:a="http://schemas.openxmlformats.org/drawingml/2006/main">
              <a:ext uri="{FF2B5EF4-FFF2-40B4-BE49-F238E27FC236}">
                <a16:creationId xmlns:a16="http://schemas.microsoft.com/office/drawing/2014/main" id="{04468DD0-A78E-4012-A795-1D764167EABB}"/>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모빌리티 정책·산업 지원</a:t>
            </a:r>
          </a:p>
        </p:txBody>
      </p:sp>
      <p:sp>
        <p:nvSpPr>
          <p:cNvPr id="10" name="">
            <a:extLst xmlns:a="http://schemas.openxmlformats.org/drawingml/2006/main">
              <a:ext uri="{FF2B5EF4-FFF2-40B4-BE49-F238E27FC236}">
                <a16:creationId xmlns:a16="http://schemas.microsoft.com/office/drawing/2014/main" id="{F837BCD0-E7AB-4C46-8778-9A8EE29D8DD3}"/>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모빌리티 정책지원 및 연구수행</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11. 모빌리티 산업활성화 지원 관련 협력 업무</a:t>
            </a:r>
          </a:p>
        </p:txBody>
      </p:sp>
      <p:sp>
        <p:nvSpPr>
          <p:cNvPr id="11" name="">
            <a:extLst xmlns:a="http://schemas.openxmlformats.org/drawingml/2006/main">
              <a:ext uri="{FF2B5EF4-FFF2-40B4-BE49-F238E27FC236}">
                <a16:creationId xmlns:a16="http://schemas.microsoft.com/office/drawing/2014/main" id="{7D87ACA1-0E0F-42E7-BF9C-0188EA4C930F}"/>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660BD36-1C98-4330-8CC6-E3F54881776C}"/>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규제혁신처</a:t>
            </a:r>
          </a:p>
        </p:txBody>
      </p:sp>
      <p:sp>
        <p:nvSpPr>
          <p:cNvPr id="13" name="">
            <a:extLst xmlns:a="http://schemas.openxmlformats.org/drawingml/2006/main">
              <a:ext uri="{FF2B5EF4-FFF2-40B4-BE49-F238E27FC236}">
                <a16:creationId xmlns:a16="http://schemas.microsoft.com/office/drawing/2014/main" id="{E49A76C9-66AC-4BA6-9A46-7375CA3A5FF5}"/>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기업 실증특례 지원</a:t>
            </a:r>
          </a:p>
        </p:txBody>
      </p:sp>
      <p:sp>
        <p:nvSpPr>
          <p:cNvPr id="14" name="">
            <a:extLst xmlns:a="http://schemas.openxmlformats.org/drawingml/2006/main">
              <a:ext uri="{FF2B5EF4-FFF2-40B4-BE49-F238E27FC236}">
                <a16:creationId xmlns:a16="http://schemas.microsoft.com/office/drawing/2014/main" id="{7C7CB9E9-E294-4972-AA16-A34C1420EFB5}"/>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 모빌리티 실증특례 접수 및 승인 지원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10. 모빌리티 실증특례 사업지원</a:t>
            </a:r>
          </a:p>
        </p:txBody>
      </p:sp>
      <p:sp>
        <p:nvSpPr>
          <p:cNvPr id="15" name="">
            <a:extLst xmlns:a="http://schemas.openxmlformats.org/drawingml/2006/main">
              <a:ext uri="{FF2B5EF4-FFF2-40B4-BE49-F238E27FC236}">
                <a16:creationId xmlns:a16="http://schemas.microsoft.com/office/drawing/2014/main" id="{E93E5B80-50F5-4BEE-9393-9E1A0D8D525A}"/>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07878C27-F6EF-4258-9825-43EAD6042510}"/>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실증사업처</a:t>
            </a:r>
          </a:p>
        </p:txBody>
      </p:sp>
      <p:sp>
        <p:nvSpPr>
          <p:cNvPr id="17" name="">
            <a:extLst xmlns:a="http://schemas.openxmlformats.org/drawingml/2006/main">
              <a:ext uri="{FF2B5EF4-FFF2-40B4-BE49-F238E27FC236}">
                <a16:creationId xmlns:a16="http://schemas.microsoft.com/office/drawing/2014/main" id="{2BE430C8-03CD-4028-A5F2-EB8E75AAE4B7}"/>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지역 특화·시범사업 지원</a:t>
            </a:r>
          </a:p>
        </p:txBody>
      </p:sp>
      <p:sp>
        <p:nvSpPr>
          <p:cNvPr id="18" name="">
            <a:extLst xmlns:a="http://schemas.openxmlformats.org/drawingml/2006/main">
              <a:ext uri="{FF2B5EF4-FFF2-40B4-BE49-F238E27FC236}">
                <a16:creationId xmlns:a16="http://schemas.microsoft.com/office/drawing/2014/main" id="{C3D66C2A-49F1-47C0-8A1C-9A01F091918B}"/>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 모빌리티 특화도시 사업지원</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 모빌리티 시범도시 사업지원</a:t>
            </a:r>
          </a:p>
        </p:txBody>
      </p:sp>
      <p:sp>
        <p:nvSpPr>
          <p:cNvPr id="19" name="">
            <a:extLst xmlns:a="http://schemas.openxmlformats.org/drawingml/2006/main">
              <a:ext uri="{FF2B5EF4-FFF2-40B4-BE49-F238E27FC236}">
                <a16:creationId xmlns:a16="http://schemas.microsoft.com/office/drawing/2014/main" id="{0695C132-1EAE-4FD1-B4A2-2FF97FD4BBAA}"/>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1614433716"/>
      </p:ext>
    </p:extLst>
  </p:cSld>
</p:sld>
</file>

<file path=ppt/slides/slide159.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178E6C8E-756B-4782-80C6-9A3D1BB4E18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ST-09 / CCK 재사용·추가 개발·검수·기대효과</a:t>
            </a:r>
          </a:p>
        </p:txBody>
      </p:sp>
      <p:sp>
        <p:nvSpPr>
          <p:cNvPr id="2" name="">
            <a:extLst xmlns:a="http://schemas.openxmlformats.org/drawingml/2006/main">
              <a:ext uri="{FF2B5EF4-FFF2-40B4-BE49-F238E27FC236}">
                <a16:creationId xmlns:a16="http://schemas.microsoft.com/office/drawing/2014/main" id="{437DE792-E674-4095-BA18-F7C456A1DBD5}"/>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지역·산업 지원 검토 근거</a:t>
            </a:r>
          </a:p>
        </p:txBody>
      </p:sp>
      <p:sp>
        <p:nvSpPr>
          <p:cNvPr id="3" name="">
            <a:extLst xmlns:a="http://schemas.openxmlformats.org/drawingml/2006/main">
              <a:ext uri="{FF2B5EF4-FFF2-40B4-BE49-F238E27FC236}">
                <a16:creationId xmlns:a16="http://schemas.microsoft.com/office/drawing/2014/main" id="{6CAC2299-B2F0-4B39-BEE4-2149A763FF0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6C14A70-E146-46BC-AB0F-136C2F65C521}"/>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6848F00-DB3F-4DC5-B4DA-E1D71D03A80B}"/>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159</a:t>
            </a:r>
          </a:p>
        </p:txBody>
      </p:sp>
      <p:sp>
        <p:nvSpPr>
          <p:cNvPr id="6" name="">
            <a:extLst xmlns:a="http://schemas.openxmlformats.org/drawingml/2006/main">
              <a:ext uri="{FF2B5EF4-FFF2-40B4-BE49-F238E27FC236}">
                <a16:creationId xmlns:a16="http://schemas.microsoft.com/office/drawing/2014/main" id="{BC8B3B63-64D1-4EDA-8A82-D5EB134B88AA}"/>
              </a:ext>
            </a:extLst>
          </p:cNvPr>
          <p:cNvSpPr>
            <a:spLocks xmlns:a="http://schemas.openxmlformats.org/drawingml/2006/main" noGrp="1"/>
          </p:cNvSpPr>
          <p:nvPr/>
        </p:nvSpPr>
        <p:spPr>
          <a:xfrm xmlns:a="http://schemas.openxmlformats.org/drawingml/2006/main">
            <a:off x="571500" y="17526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재사용 후보</a:t>
            </a:r>
          </a:p>
        </p:txBody>
      </p:sp>
      <p:sp>
        <p:nvSpPr>
          <p:cNvPr id="7" name="">
            <a:extLst xmlns:a="http://schemas.openxmlformats.org/drawingml/2006/main">
              <a:ext uri="{FF2B5EF4-FFF2-40B4-BE49-F238E27FC236}">
                <a16:creationId xmlns:a16="http://schemas.microsoft.com/office/drawing/2014/main" id="{89C01B60-5C04-4DBE-A252-F56CE9C6CEA9}"/>
              </a:ext>
            </a:extLst>
          </p:cNvPr>
          <p:cNvSpPr>
            <a:spLocks xmlns:a="http://schemas.openxmlformats.org/drawingml/2006/main" noGrp="1"/>
          </p:cNvSpPr>
          <p:nvPr/>
        </p:nvSpPr>
        <p:spPr>
          <a:xfrm xmlns:a="http://schemas.openxmlformats.org/drawingml/2006/main">
            <a:off x="571500" y="21050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NOA의 요건 검색·서식 초안</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Audin·Foundry의 증빙·절차 검토</a:t>
            </a:r>
          </a:p>
        </p:txBody>
      </p:sp>
      <p:sp>
        <p:nvSpPr>
          <p:cNvPr id="8" name="">
            <a:extLst xmlns:a="http://schemas.openxmlformats.org/drawingml/2006/main">
              <a:ext uri="{FF2B5EF4-FFF2-40B4-BE49-F238E27FC236}">
                <a16:creationId xmlns:a16="http://schemas.microsoft.com/office/drawing/2014/main" id="{B73998A4-51CA-4225-97DA-BC9AF4EEDB2D}"/>
              </a:ext>
            </a:extLst>
          </p:cNvPr>
          <p:cNvSpPr>
            <a:spLocks xmlns:a="http://schemas.openxmlformats.org/drawingml/2006/main" noGrp="1"/>
          </p:cNvSpPr>
          <p:nvPr/>
        </p:nvSpPr>
        <p:spPr>
          <a:xfrm xmlns:a="http://schemas.openxmlformats.org/drawingml/2006/main">
            <a:off x="571500" y="32099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9" name="">
            <a:extLst xmlns:a="http://schemas.openxmlformats.org/drawingml/2006/main">
              <a:ext uri="{FF2B5EF4-FFF2-40B4-BE49-F238E27FC236}">
                <a16:creationId xmlns:a16="http://schemas.microsoft.com/office/drawing/2014/main" id="{4035C5A9-66BA-45B2-BE14-5B4944E341F3}"/>
              </a:ext>
            </a:extLst>
          </p:cNvPr>
          <p:cNvSpPr>
            <a:spLocks xmlns:a="http://schemas.openxmlformats.org/drawingml/2006/main" noGrp="1"/>
          </p:cNvSpPr>
          <p:nvPr/>
        </p:nvSpPr>
        <p:spPr>
          <a:xfrm xmlns:a="http://schemas.openxmlformats.org/drawingml/2006/main">
            <a:off x="571500" y="3562350"/>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지역·사업별 적용요건 사전</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신청–보완–검토 사건 연결</a:t>
            </a:r>
          </a:p>
        </p:txBody>
      </p:sp>
      <p:sp>
        <p:nvSpPr>
          <p:cNvPr id="10" name="">
            <a:extLst xmlns:a="http://schemas.openxmlformats.org/drawingml/2006/main">
              <a:ext uri="{FF2B5EF4-FFF2-40B4-BE49-F238E27FC236}">
                <a16:creationId xmlns:a16="http://schemas.microsoft.com/office/drawing/2014/main" id="{B4F6FE4C-FDD1-4363-8D8A-571BE6DB3463}"/>
              </a:ext>
            </a:extLst>
          </p:cNvPr>
          <p:cNvSpPr>
            <a:spLocks xmlns:a="http://schemas.openxmlformats.org/drawingml/2006/main" noGrp="1"/>
          </p:cNvSpPr>
          <p:nvPr/>
        </p:nvSpPr>
        <p:spPr>
          <a:xfrm xmlns:a="http://schemas.openxmlformats.org/drawingml/2006/main">
            <a:off x="571500" y="4572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a:t>
            </a:r>
          </a:p>
        </p:txBody>
      </p:sp>
      <p:sp>
        <p:nvSpPr>
          <p:cNvPr id="11" name="">
            <a:extLst xmlns:a="http://schemas.openxmlformats.org/drawingml/2006/main">
              <a:ext uri="{FF2B5EF4-FFF2-40B4-BE49-F238E27FC236}">
                <a16:creationId xmlns:a16="http://schemas.microsoft.com/office/drawing/2014/main" id="{7FC40D49-CBCC-42D5-B9AB-C2FA9AB10B11}"/>
              </a:ext>
            </a:extLst>
          </p:cNvPr>
          <p:cNvSpPr>
            <a:spLocks xmlns:a="http://schemas.openxmlformats.org/drawingml/2006/main" noGrp="1"/>
          </p:cNvSpPr>
          <p:nvPr/>
        </p:nvSpPr>
        <p:spPr>
          <a:xfrm xmlns:a="http://schemas.openxmlformats.org/drawingml/2006/main">
            <a:off x="571500" y="4924425"/>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신청 보완 반복·지원 검토시간 감소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신청건당 보완 횟수 / 검토 완료시간; 지역경제 효과는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별도 평가</a:t>
            </a:r>
          </a:p>
        </p:txBody>
      </p:sp>
      <p:sp>
        <p:nvSpPr>
          <p:cNvPr id="12" name="">
            <a:extLst xmlns:a="http://schemas.openxmlformats.org/drawingml/2006/main">
              <a:ext uri="{FF2B5EF4-FFF2-40B4-BE49-F238E27FC236}">
                <a16:creationId xmlns:a16="http://schemas.microsoft.com/office/drawing/2014/main" id="{6EAA4C75-B475-4D49-8FD2-7ACAE2D03DA9}"/>
              </a:ext>
            </a:extLst>
          </p:cNvPr>
          <p:cNvSpPr>
            <a:spLocks xmlns:a="http://schemas.openxmlformats.org/drawingml/2006/main" noGrp="1"/>
          </p:cNvSpPr>
          <p:nvPr/>
        </p:nvSpPr>
        <p:spPr>
          <a:xfrm xmlns:a="http://schemas.openxmlformats.org/drawingml/2006/main">
            <a:off x="6334125" y="1752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입력</a:t>
            </a:r>
          </a:p>
        </p:txBody>
      </p:sp>
      <p:sp>
        <p:nvSpPr>
          <p:cNvPr id="13" name="">
            <a:extLst xmlns:a="http://schemas.openxmlformats.org/drawingml/2006/main">
              <a:ext uri="{FF2B5EF4-FFF2-40B4-BE49-F238E27FC236}">
                <a16:creationId xmlns:a16="http://schemas.microsoft.com/office/drawing/2014/main" id="{93A82D46-98A9-41B7-801D-A407CC4E043B}"/>
              </a:ext>
            </a:extLst>
          </p:cNvPr>
          <p:cNvSpPr>
            <a:spLocks xmlns:a="http://schemas.openxmlformats.org/drawingml/2006/main" noGrp="1"/>
          </p:cNvSpPr>
          <p:nvPr/>
        </p:nvSpPr>
        <p:spPr>
          <a:xfrm xmlns:a="http://schemas.openxmlformats.org/drawingml/2006/main">
            <a:off x="6334125" y="2105025"/>
            <a:ext cx="5286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다른 지역 요건, 만료 특례, 누락 실증자료</a:t>
            </a:r>
          </a:p>
        </p:txBody>
      </p:sp>
      <p:sp>
        <p:nvSpPr>
          <p:cNvPr id="14" name="">
            <a:extLst xmlns:a="http://schemas.openxmlformats.org/drawingml/2006/main">
              <a:ext uri="{FF2B5EF4-FFF2-40B4-BE49-F238E27FC236}">
                <a16:creationId xmlns:a16="http://schemas.microsoft.com/office/drawing/2014/main" id="{5488C04E-2C63-4950-90AE-83E545DA6E36}"/>
              </a:ext>
            </a:extLst>
          </p:cNvPr>
          <p:cNvSpPr>
            <a:spLocks xmlns:a="http://schemas.openxmlformats.org/drawingml/2006/main" noGrp="1"/>
          </p:cNvSpPr>
          <p:nvPr/>
        </p:nvSpPr>
        <p:spPr>
          <a:xfrm xmlns:a="http://schemas.openxmlformats.org/drawingml/2006/main">
            <a:off x="6334125" y="29241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 기준</a:t>
            </a:r>
          </a:p>
        </p:txBody>
      </p:sp>
      <p:sp>
        <p:nvSpPr>
          <p:cNvPr id="15" name="">
            <a:extLst xmlns:a="http://schemas.openxmlformats.org/drawingml/2006/main">
              <a:ext uri="{FF2B5EF4-FFF2-40B4-BE49-F238E27FC236}">
                <a16:creationId xmlns:a16="http://schemas.microsoft.com/office/drawing/2014/main" id="{946F7BB9-40B5-4084-BCF9-E9715F6B09CC}"/>
              </a:ext>
            </a:extLst>
          </p:cNvPr>
          <p:cNvSpPr>
            <a:spLocks xmlns:a="http://schemas.openxmlformats.org/drawingml/2006/main" noGrp="1"/>
          </p:cNvSpPr>
          <p:nvPr/>
        </p:nvSpPr>
        <p:spPr>
          <a:xfrm xmlns:a="http://schemas.openxmlformats.org/drawingml/2006/main">
            <a:off x="6334125" y="3276600"/>
            <a:ext cx="5286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해당 조건만 적용·근거 제시·판정 보류</a:t>
            </a:r>
          </a:p>
        </p:txBody>
      </p:sp>
      <p:sp>
        <p:nvSpPr>
          <p:cNvPr id="16" name="">
            <a:extLst xmlns:a="http://schemas.openxmlformats.org/drawingml/2006/main">
              <a:ext uri="{FF2B5EF4-FFF2-40B4-BE49-F238E27FC236}">
                <a16:creationId xmlns:a16="http://schemas.microsoft.com/office/drawing/2014/main" id="{25AC110D-BDA7-4EB4-A4AD-46715F2328AD}"/>
              </a:ext>
            </a:extLst>
          </p:cNvPr>
          <p:cNvSpPr>
            <a:spLocks xmlns:a="http://schemas.openxmlformats.org/drawingml/2006/main" noGrp="1"/>
          </p:cNvSpPr>
          <p:nvPr/>
        </p:nvSpPr>
        <p:spPr>
          <a:xfrm xmlns:a="http://schemas.openxmlformats.org/drawingml/2006/main">
            <a:off x="6334125" y="42481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제출 증빙</a:t>
            </a:r>
          </a:p>
        </p:txBody>
      </p:sp>
      <p:sp>
        <p:nvSpPr>
          <p:cNvPr id="17" name="">
            <a:extLst xmlns:a="http://schemas.openxmlformats.org/drawingml/2006/main">
              <a:ext uri="{FF2B5EF4-FFF2-40B4-BE49-F238E27FC236}">
                <a16:creationId xmlns:a16="http://schemas.microsoft.com/office/drawing/2014/main" id="{1C01DE6C-AE52-4A71-8B07-168F3F4103AA}"/>
              </a:ext>
            </a:extLst>
          </p:cNvPr>
          <p:cNvSpPr>
            <a:spLocks xmlns:a="http://schemas.openxmlformats.org/drawingml/2006/main" noGrp="1"/>
          </p:cNvSpPr>
          <p:nvPr/>
        </p:nvSpPr>
        <p:spPr>
          <a:xfrm xmlns:a="http://schemas.openxmlformats.org/drawingml/2006/main">
            <a:off x="6334125" y="460057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요건 대조표·보완 이력·검토자 기록</a:t>
            </a:r>
          </a:p>
        </p:txBody>
      </p:sp>
      <p:sp>
        <p:nvSpPr>
          <p:cNvPr id="18" name="">
            <a:extLst xmlns:a="http://schemas.openxmlformats.org/drawingml/2006/main">
              <a:ext uri="{FF2B5EF4-FFF2-40B4-BE49-F238E27FC236}">
                <a16:creationId xmlns:a16="http://schemas.microsoft.com/office/drawing/2014/main" id="{BB9CF641-1969-4673-BC1B-B7B00D3D2E78}"/>
              </a:ext>
            </a:extLst>
          </p:cNvPr>
          <p:cNvSpPr>
            <a:spLocks xmlns:a="http://schemas.openxmlformats.org/drawingml/2006/main" noGrp="1"/>
          </p:cNvSpPr>
          <p:nvPr/>
        </p:nvSpPr>
        <p:spPr>
          <a:xfrm xmlns:a="http://schemas.openxmlformats.org/drawingml/2006/main">
            <a:off x="6334125" y="54483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BM-ST-09-R01 / BM-ST-09-T01</a:t>
            </a:r>
          </a:p>
        </p:txBody>
      </p:sp>
      <p:sp>
        <p:nvSpPr>
          <p:cNvPr id="19" name="">
            <a:extLst xmlns:a="http://schemas.openxmlformats.org/drawingml/2006/main">
              <a:ext uri="{FF2B5EF4-FFF2-40B4-BE49-F238E27FC236}">
                <a16:creationId xmlns:a16="http://schemas.microsoft.com/office/drawing/2014/main" id="{E119AD14-1384-41F6-B736-88E5DBBAFFDB}"/>
              </a:ext>
            </a:extLst>
          </p:cNvPr>
          <p:cNvSpPr>
            <a:spLocks xmlns:a="http://schemas.openxmlformats.org/drawingml/2006/main" noGrp="1"/>
          </p:cNvSpPr>
          <p:nvPr/>
        </p:nvSpPr>
        <p:spPr>
          <a:xfrm xmlns:a="http://schemas.openxmlformats.org/drawingml/2006/main">
            <a:off x="6334125" y="5810250"/>
            <a:ext cx="5286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검수 설계안·미실행 / 기대효과 TS 실측 전</a:t>
            </a:r>
          </a:p>
        </p:txBody>
      </p:sp>
    </p:spTree>
    <p:extLst>
      <p:ext uri="{BB962C8B-B14F-4D97-AF65-F5344CB8AC3E}">
        <p14:creationId xmlns:p14="http://schemas.microsoft.com/office/powerpoint/2010/main" val="1571785653"/>
      </p:ext>
    </p:extLst>
  </p:cSld>
</p:sld>
</file>

<file path=ppt/slides/slide160.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137D86F5-B77B-406A-AF64-FB709090B0A1}"/>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ST-10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54198E76-E130-471C-8E97-49329B69921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성과·경영 문서 검토 지원</a:t>
            </a:r>
          </a:p>
        </p:txBody>
      </p:sp>
      <p:sp>
        <p:nvSpPr>
          <p:cNvPr id="3" name="">
            <a:extLst xmlns:a="http://schemas.openxmlformats.org/drawingml/2006/main">
              <a:ext uri="{FF2B5EF4-FFF2-40B4-BE49-F238E27FC236}">
                <a16:creationId xmlns:a16="http://schemas.microsoft.com/office/drawing/2014/main" id="{597520FA-F3A8-46F5-A890-BE2E991B6C49}"/>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72593A1-9D41-428C-BDC2-89E1CF514B22}"/>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95B6A466-8ED6-434B-BCCB-B7E458946648}"/>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160</a:t>
            </a:r>
          </a:p>
        </p:txBody>
      </p:sp>
      <p:sp>
        <p:nvSpPr>
          <p:cNvPr id="6" name="">
            <a:extLst xmlns:a="http://schemas.openxmlformats.org/drawingml/2006/main">
              <a:ext uri="{FF2B5EF4-FFF2-40B4-BE49-F238E27FC236}">
                <a16:creationId xmlns:a16="http://schemas.microsoft.com/office/drawing/2014/main" id="{1FD61A6A-1891-4C61-B393-08754481931B}"/>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vl1pPr>
              <a:defRPr sz="1575" b="0">
                <a:solidFill>
                  <a:srgbClr val="42634B"/>
                </a:solidFill>
                <a:latin typeface="Pretendard"/>
                <a:ea typeface="Pretendard"/>
                <a:cs typeface="Pretendard"/>
              </a:defRPr>
            </a:lvl1pPr>
            <a:lvl2pPr>
              <a:defRPr sz="1575" b="0">
                <a:solidFill>
                  <a:srgbClr val="42634B"/>
                </a:solidFill>
                <a:latin typeface="Pretendard"/>
                <a:ea typeface="Pretendard"/>
                <a:cs typeface="Pretendard"/>
              </a:defRPr>
            </a:lvl2pPr>
            <a:lvl3pPr>
              <a:defRPr sz="1575" b="0">
                <a:solidFill>
                  <a:srgbClr val="42634B"/>
                </a:solidFill>
                <a:latin typeface="Pretendard"/>
                <a:ea typeface="Pretendard"/>
                <a:cs typeface="Pretendard"/>
              </a:defRPr>
            </a:lvl3pPr>
            <a:lvl4pPr>
              <a:defRPr sz="1575" b="0">
                <a:solidFill>
                  <a:srgbClr val="42634B"/>
                </a:solidFill>
                <a:latin typeface="Pretendard"/>
                <a:ea typeface="Pretendard"/>
                <a:cs typeface="Pretendard"/>
              </a:defRPr>
            </a:lvl4pPr>
            <a:lvl5pPr>
              <a:defRPr sz="1575" b="0">
                <a:solidFill>
                  <a:srgbClr val="42634B"/>
                </a:solidFill>
                <a:latin typeface="Pretendard"/>
                <a:ea typeface="Pretendard"/>
                <a:cs typeface="Pretendard"/>
              </a:defRPr>
            </a:lvl5pPr>
            <a:lvl6pPr>
              <a:defRPr sz="1575" b="0">
                <a:solidFill>
                  <a:srgbClr val="42634B"/>
                </a:solidFill>
                <a:latin typeface="Pretendard"/>
                <a:ea typeface="Pretendard"/>
                <a:cs typeface="Pretendard"/>
              </a:defRPr>
            </a:lvl6pPr>
            <a:lvl7pPr>
              <a:defRPr sz="1575" b="0">
                <a:solidFill>
                  <a:srgbClr val="42634B"/>
                </a:solidFill>
                <a:latin typeface="Pretendard"/>
                <a:ea typeface="Pretendard"/>
                <a:cs typeface="Pretendard"/>
              </a:defRPr>
            </a:lvl7pPr>
            <a:lvl8pPr>
              <a:defRPr sz="1575" b="0">
                <a:solidFill>
                  <a:srgbClr val="42634B"/>
                </a:solidFill>
                <a:latin typeface="Pretendard"/>
                <a:ea typeface="Pretendard"/>
                <a:cs typeface="Pretendard"/>
              </a:defRPr>
            </a:lvl8pPr>
            <a:lvl9pPr>
              <a:defRPr sz="1575" b="0">
                <a:solidFill>
                  <a:srgbClr val="42634B"/>
                </a:solidFill>
                <a:latin typeface="Pretendard"/>
                <a:ea typeface="Pretendard"/>
                <a:cs typeface="Pretendard"/>
              </a:defRPr>
            </a:lvl9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실용·성과·효율 지향 경영체계 구축</a:t>
            </a:r>
          </a:p>
        </p:txBody>
      </p:sp>
      <p:sp>
        <p:nvSpPr>
          <p:cNvPr id="7" name="">
            <a:extLst xmlns:a="http://schemas.openxmlformats.org/drawingml/2006/main">
              <a:ext uri="{FF2B5EF4-FFF2-40B4-BE49-F238E27FC236}">
                <a16:creationId xmlns:a16="http://schemas.microsoft.com/office/drawing/2014/main" id="{8BA095F5-3F5D-4095-8E62-132AB97C0103}"/>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506E658-C50D-4C72-BED6-04421474D342}"/>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예산처</a:t>
            </a:r>
          </a:p>
        </p:txBody>
      </p:sp>
      <p:sp>
        <p:nvSpPr>
          <p:cNvPr id="9" name="">
            <a:extLst xmlns:a="http://schemas.openxmlformats.org/drawingml/2006/main">
              <a:ext uri="{FF2B5EF4-FFF2-40B4-BE49-F238E27FC236}">
                <a16:creationId xmlns:a16="http://schemas.microsoft.com/office/drawing/2014/main" id="{2643B41F-BB03-408E-BD6E-0CCAA37B7B22}"/>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예산 편성·집행 분석</a:t>
            </a:r>
          </a:p>
        </p:txBody>
      </p:sp>
      <p:sp>
        <p:nvSpPr>
          <p:cNvPr id="10" name="">
            <a:extLst xmlns:a="http://schemas.openxmlformats.org/drawingml/2006/main">
              <a:ext uri="{FF2B5EF4-FFF2-40B4-BE49-F238E27FC236}">
                <a16:creationId xmlns:a16="http://schemas.microsoft.com/office/drawing/2014/main" id="{6C287F09-AF01-4F3D-B690-8713AFD04185}"/>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예산의 편성‧집행‧운영 관리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4. 예산집행실적 및 차이분석에 관한 사항</a:t>
            </a:r>
          </a:p>
        </p:txBody>
      </p:sp>
      <p:sp>
        <p:nvSpPr>
          <p:cNvPr id="11" name="">
            <a:extLst xmlns:a="http://schemas.openxmlformats.org/drawingml/2006/main">
              <a:ext uri="{FF2B5EF4-FFF2-40B4-BE49-F238E27FC236}">
                <a16:creationId xmlns:a16="http://schemas.microsoft.com/office/drawing/2014/main" id="{54FDE7FE-04FA-4F31-AC4A-8F4E277755B0}"/>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5E7F95C-B5E4-424D-A59E-EDDB1B60E48E}"/>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혁신성과처</a:t>
            </a:r>
          </a:p>
        </p:txBody>
      </p:sp>
      <p:sp>
        <p:nvSpPr>
          <p:cNvPr id="13" name="">
            <a:extLst xmlns:a="http://schemas.openxmlformats.org/drawingml/2006/main">
              <a:ext uri="{FF2B5EF4-FFF2-40B4-BE49-F238E27FC236}">
                <a16:creationId xmlns:a16="http://schemas.microsoft.com/office/drawing/2014/main" id="{F0BDBEC6-C9BE-4598-A971-35DE343C6EB5}"/>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기관·부서 성과평가</a:t>
            </a:r>
          </a:p>
        </p:txBody>
      </p:sp>
      <p:sp>
        <p:nvSpPr>
          <p:cNvPr id="14" name="">
            <a:extLst xmlns:a="http://schemas.openxmlformats.org/drawingml/2006/main">
              <a:ext uri="{FF2B5EF4-FFF2-40B4-BE49-F238E27FC236}">
                <a16:creationId xmlns:a16="http://schemas.microsoft.com/office/drawing/2014/main" id="{499F23E6-EB6E-4062-A279-7FA4F7D5AF73}"/>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내부경영평가(BSC, MBO)에 관한 업무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4. 임원, 부서장 경영계약 및 이행실적 평가에 관한 업무</a:t>
            </a:r>
          </a:p>
        </p:txBody>
      </p:sp>
      <p:sp>
        <p:nvSpPr>
          <p:cNvPr id="15" name="">
            <a:extLst xmlns:a="http://schemas.openxmlformats.org/drawingml/2006/main">
              <a:ext uri="{FF2B5EF4-FFF2-40B4-BE49-F238E27FC236}">
                <a16:creationId xmlns:a16="http://schemas.microsoft.com/office/drawing/2014/main" id="{89003246-0EC6-4A4A-B950-AF7CC9A8D2EB}"/>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2FBEE57-1086-4201-B70A-06C7A328E1F6}"/>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재정회계처</a:t>
            </a:r>
          </a:p>
        </p:txBody>
      </p:sp>
      <p:sp>
        <p:nvSpPr>
          <p:cNvPr id="17" name="">
            <a:extLst xmlns:a="http://schemas.openxmlformats.org/drawingml/2006/main">
              <a:ext uri="{FF2B5EF4-FFF2-40B4-BE49-F238E27FC236}">
                <a16:creationId xmlns:a16="http://schemas.microsoft.com/office/drawing/2014/main" id="{5E8F9727-9420-46FD-ACA4-D545F4CE9C8B}"/>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계약·결산 관리</a:t>
            </a:r>
          </a:p>
        </p:txBody>
      </p:sp>
      <p:sp>
        <p:nvSpPr>
          <p:cNvPr id="18" name="">
            <a:extLst xmlns:a="http://schemas.openxmlformats.org/drawingml/2006/main">
              <a:ext uri="{FF2B5EF4-FFF2-40B4-BE49-F238E27FC236}">
                <a16:creationId xmlns:a16="http://schemas.microsoft.com/office/drawing/2014/main" id="{7C70E710-0DA0-4B83-935F-516C4DB358B8}"/>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4. 연간·월간 회계결산 및 연차 결산보고서 작성 보고</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5. 구매․공사 및 용역 등의 계약에 관한 사항</a:t>
            </a:r>
          </a:p>
        </p:txBody>
      </p:sp>
      <p:sp>
        <p:nvSpPr>
          <p:cNvPr id="19" name="">
            <a:extLst xmlns:a="http://schemas.openxmlformats.org/drawingml/2006/main">
              <a:ext uri="{FF2B5EF4-FFF2-40B4-BE49-F238E27FC236}">
                <a16:creationId xmlns:a16="http://schemas.microsoft.com/office/drawing/2014/main" id="{48D06F0B-67EC-408C-9D0B-91875BF16963}"/>
              </a:ext>
            </a:extLst>
          </p:cNvPr>
          <p:cNvSpPr>
            <a:spLocks xmlns:a="http://schemas.openxmlformats.org/drawingml/2006/main" noGrp="1"/>
          </p:cNvSpPr>
          <p:nvPr/>
        </p:nvSpPr>
        <p:spPr>
          <a:xfrm xmlns:a="http://schemas.openxmlformats.org/drawingml/2006/main">
            <a:off x="571500" y="490537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39C8D68-F8C5-4C31-A952-95FE61AA464A}"/>
              </a:ext>
            </a:extLst>
          </p:cNvPr>
          <p:cNvSpPr>
            <a:spLocks xmlns:a="http://schemas.openxmlformats.org/drawingml/2006/main" noGrp="1"/>
          </p:cNvSpPr>
          <p:nvPr/>
        </p:nvSpPr>
        <p:spPr>
          <a:xfrm xmlns:a="http://schemas.openxmlformats.org/drawingml/2006/main">
            <a:off x="571500" y="50006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운영지원처</a:t>
            </a:r>
          </a:p>
        </p:txBody>
      </p:sp>
      <p:sp>
        <p:nvSpPr>
          <p:cNvPr id="21" name="">
            <a:extLst xmlns:a="http://schemas.openxmlformats.org/drawingml/2006/main">
              <a:ext uri="{FF2B5EF4-FFF2-40B4-BE49-F238E27FC236}">
                <a16:creationId xmlns:a16="http://schemas.microsoft.com/office/drawing/2014/main" id="{906A39E3-BAC3-44E9-9839-EFF794E87427}"/>
              </a:ext>
            </a:extLst>
          </p:cNvPr>
          <p:cNvSpPr>
            <a:spLocks xmlns:a="http://schemas.openxmlformats.org/drawingml/2006/main" noGrp="1"/>
          </p:cNvSpPr>
          <p:nvPr/>
        </p:nvSpPr>
        <p:spPr>
          <a:xfrm xmlns:a="http://schemas.openxmlformats.org/drawingml/2006/main">
            <a:off x="571500" y="537210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문서·정보공개 관리</a:t>
            </a:r>
          </a:p>
        </p:txBody>
      </p:sp>
      <p:sp>
        <p:nvSpPr>
          <p:cNvPr id="22" name="">
            <a:extLst xmlns:a="http://schemas.openxmlformats.org/drawingml/2006/main">
              <a:ext uri="{FF2B5EF4-FFF2-40B4-BE49-F238E27FC236}">
                <a16:creationId xmlns:a16="http://schemas.microsoft.com/office/drawing/2014/main" id="{5EE9EE26-60BB-4E7E-B2A4-61FED8AA3277}"/>
              </a:ext>
            </a:extLst>
          </p:cNvPr>
          <p:cNvSpPr>
            <a:spLocks xmlns:a="http://schemas.openxmlformats.org/drawingml/2006/main" noGrp="1"/>
          </p:cNvSpPr>
          <p:nvPr/>
        </p:nvSpPr>
        <p:spPr>
          <a:xfrm xmlns:a="http://schemas.openxmlformats.org/drawingml/2006/main">
            <a:off x="3143250" y="500062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4. 문서의 접수·분류·수발·처리 및 보존관리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5. 정보공개제도의 운영 및 관리</a:t>
            </a:r>
          </a:p>
        </p:txBody>
      </p:sp>
      <p:sp>
        <p:nvSpPr>
          <p:cNvPr id="23" name="">
            <a:extLst xmlns:a="http://schemas.openxmlformats.org/drawingml/2006/main">
              <a:ext uri="{FF2B5EF4-FFF2-40B4-BE49-F238E27FC236}">
                <a16:creationId xmlns:a16="http://schemas.microsoft.com/office/drawing/2014/main" id="{BF11BB96-35C0-4160-B1A7-118EDDEA70EB}"/>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957946376"/>
      </p:ext>
    </p:extLst>
  </p:cSld>
</p:sld>
</file>

<file path=ppt/slides/slide161.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35A2794-1EFD-47C0-9589-A584D5412EB7}"/>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ST-10 / CCK 재사용·추가 개발·검수·기대효과</a:t>
            </a:r>
          </a:p>
        </p:txBody>
      </p:sp>
      <p:sp>
        <p:nvSpPr>
          <p:cNvPr id="2" name="">
            <a:extLst xmlns:a="http://schemas.openxmlformats.org/drawingml/2006/main">
              <a:ext uri="{FF2B5EF4-FFF2-40B4-BE49-F238E27FC236}">
                <a16:creationId xmlns:a16="http://schemas.microsoft.com/office/drawing/2014/main" id="{CB8ABA3D-3CD2-4ED9-A846-B6ABDE2655C4}"/>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성과·경영 문서 검토 지원</a:t>
            </a:r>
          </a:p>
        </p:txBody>
      </p:sp>
      <p:sp>
        <p:nvSpPr>
          <p:cNvPr id="3" name="">
            <a:extLst xmlns:a="http://schemas.openxmlformats.org/drawingml/2006/main">
              <a:ext uri="{FF2B5EF4-FFF2-40B4-BE49-F238E27FC236}">
                <a16:creationId xmlns:a16="http://schemas.microsoft.com/office/drawing/2014/main" id="{1800ABEC-511A-47AF-AF2B-FC334E2B2CA4}"/>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01FE4B1-1CA9-410C-9098-6ED34D963B4C}"/>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47A0379B-4716-4710-B9A6-2BDB4C5F835D}"/>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161</a:t>
            </a:r>
          </a:p>
        </p:txBody>
      </p:sp>
      <p:sp>
        <p:nvSpPr>
          <p:cNvPr id="6" name="">
            <a:extLst xmlns:a="http://schemas.openxmlformats.org/drawingml/2006/main">
              <a:ext uri="{FF2B5EF4-FFF2-40B4-BE49-F238E27FC236}">
                <a16:creationId xmlns:a16="http://schemas.microsoft.com/office/drawing/2014/main" id="{C83C0247-4A65-40A4-B914-B0D5DF17F598}"/>
              </a:ext>
            </a:extLst>
          </p:cNvPr>
          <p:cNvSpPr>
            <a:spLocks xmlns:a="http://schemas.openxmlformats.org/drawingml/2006/main" noGrp="1"/>
          </p:cNvSpPr>
          <p:nvPr/>
        </p:nvSpPr>
        <p:spPr>
          <a:xfrm xmlns:a="http://schemas.openxmlformats.org/drawingml/2006/main">
            <a:off x="571500" y="17526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재사용 후보</a:t>
            </a:r>
          </a:p>
        </p:txBody>
      </p:sp>
      <p:sp>
        <p:nvSpPr>
          <p:cNvPr id="7" name="">
            <a:extLst xmlns:a="http://schemas.openxmlformats.org/drawingml/2006/main">
              <a:ext uri="{FF2B5EF4-FFF2-40B4-BE49-F238E27FC236}">
                <a16:creationId xmlns:a16="http://schemas.microsoft.com/office/drawing/2014/main" id="{0F1357EF-F786-483A-8385-758FC48427D7}"/>
              </a:ext>
            </a:extLst>
          </p:cNvPr>
          <p:cNvSpPr>
            <a:spLocks xmlns:a="http://schemas.openxmlformats.org/drawingml/2006/main" noGrp="1"/>
          </p:cNvSpPr>
          <p:nvPr/>
        </p:nvSpPr>
        <p:spPr>
          <a:xfrm xmlns:a="http://schemas.openxmlformats.org/drawingml/2006/main">
            <a:off x="571500" y="21050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NOA의 문서 검색·요약·서식</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Audin·JET의 증빙 검토·구조화</a:t>
            </a:r>
          </a:p>
        </p:txBody>
      </p:sp>
      <p:sp>
        <p:nvSpPr>
          <p:cNvPr id="8" name="">
            <a:extLst xmlns:a="http://schemas.openxmlformats.org/drawingml/2006/main">
              <a:ext uri="{FF2B5EF4-FFF2-40B4-BE49-F238E27FC236}">
                <a16:creationId xmlns:a16="http://schemas.microsoft.com/office/drawing/2014/main" id="{9776E635-2F58-4B4F-80E4-F7E907AAD511}"/>
              </a:ext>
            </a:extLst>
          </p:cNvPr>
          <p:cNvSpPr>
            <a:spLocks xmlns:a="http://schemas.openxmlformats.org/drawingml/2006/main" noGrp="1"/>
          </p:cNvSpPr>
          <p:nvPr/>
        </p:nvSpPr>
        <p:spPr>
          <a:xfrm xmlns:a="http://schemas.openxmlformats.org/drawingml/2006/main">
            <a:off x="571500" y="32099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9" name="">
            <a:extLst xmlns:a="http://schemas.openxmlformats.org/drawingml/2006/main">
              <a:ext uri="{FF2B5EF4-FFF2-40B4-BE49-F238E27FC236}">
                <a16:creationId xmlns:a16="http://schemas.microsoft.com/office/drawing/2014/main" id="{93D35555-7268-413B-A0E0-909CFAF4A424}"/>
              </a:ext>
            </a:extLst>
          </p:cNvPr>
          <p:cNvSpPr>
            <a:spLocks xmlns:a="http://schemas.openxmlformats.org/drawingml/2006/main" noGrp="1"/>
          </p:cNvSpPr>
          <p:nvPr/>
        </p:nvSpPr>
        <p:spPr>
          <a:xfrm xmlns:a="http://schemas.openxmlformats.org/drawingml/2006/main">
            <a:off x="571500" y="3562350"/>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사업–예산–성과 연결표</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지표 산식 검증·검토시간 계측</a:t>
            </a:r>
          </a:p>
        </p:txBody>
      </p:sp>
      <p:sp>
        <p:nvSpPr>
          <p:cNvPr id="10" name="">
            <a:extLst xmlns:a="http://schemas.openxmlformats.org/drawingml/2006/main">
              <a:ext uri="{FF2B5EF4-FFF2-40B4-BE49-F238E27FC236}">
                <a16:creationId xmlns:a16="http://schemas.microsoft.com/office/drawing/2014/main" id="{E1D07705-400E-49C5-AA72-B74610F12114}"/>
              </a:ext>
            </a:extLst>
          </p:cNvPr>
          <p:cNvSpPr>
            <a:spLocks xmlns:a="http://schemas.openxmlformats.org/drawingml/2006/main" noGrp="1"/>
          </p:cNvSpPr>
          <p:nvPr/>
        </p:nvSpPr>
        <p:spPr>
          <a:xfrm xmlns:a="http://schemas.openxmlformats.org/drawingml/2006/main">
            <a:off x="571500" y="4572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a:t>
            </a:r>
          </a:p>
        </p:txBody>
      </p:sp>
      <p:sp>
        <p:nvSpPr>
          <p:cNvPr id="11" name="">
            <a:extLst xmlns:a="http://schemas.openxmlformats.org/drawingml/2006/main">
              <a:ext uri="{FF2B5EF4-FFF2-40B4-BE49-F238E27FC236}">
                <a16:creationId xmlns:a16="http://schemas.microsoft.com/office/drawing/2014/main" id="{1B4C4C22-86C2-4FAD-A10E-E8008C4D9BA5}"/>
              </a:ext>
            </a:extLst>
          </p:cNvPr>
          <p:cNvSpPr>
            <a:spLocks xmlns:a="http://schemas.openxmlformats.org/drawingml/2006/main" noGrp="1"/>
          </p:cNvSpPr>
          <p:nvPr/>
        </p:nvSpPr>
        <p:spPr>
          <a:xfrm xmlns:a="http://schemas.openxmlformats.org/drawingml/2006/main">
            <a:off x="571500" y="4924425"/>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검토·재작업을 포함한 업무시간 감소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최종 검토까지 소요시간 중앙값 / 재작업 건수 ÷ 완료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건수 / 업무당 비용</a:t>
            </a:r>
          </a:p>
        </p:txBody>
      </p:sp>
      <p:sp>
        <p:nvSpPr>
          <p:cNvPr id="12" name="">
            <a:extLst xmlns:a="http://schemas.openxmlformats.org/drawingml/2006/main">
              <a:ext uri="{FF2B5EF4-FFF2-40B4-BE49-F238E27FC236}">
                <a16:creationId xmlns:a16="http://schemas.microsoft.com/office/drawing/2014/main" id="{E61E6036-EBF9-48A2-83FB-0E71815D63F3}"/>
              </a:ext>
            </a:extLst>
          </p:cNvPr>
          <p:cNvSpPr>
            <a:spLocks xmlns:a="http://schemas.openxmlformats.org/drawingml/2006/main" noGrp="1"/>
          </p:cNvSpPr>
          <p:nvPr/>
        </p:nvSpPr>
        <p:spPr>
          <a:xfrm xmlns:a="http://schemas.openxmlformats.org/drawingml/2006/main">
            <a:off x="6334125" y="1752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입력</a:t>
            </a:r>
          </a:p>
        </p:txBody>
      </p:sp>
      <p:sp>
        <p:nvSpPr>
          <p:cNvPr id="13" name="">
            <a:extLst xmlns:a="http://schemas.openxmlformats.org/drawingml/2006/main">
              <a:ext uri="{FF2B5EF4-FFF2-40B4-BE49-F238E27FC236}">
                <a16:creationId xmlns:a16="http://schemas.microsoft.com/office/drawing/2014/main" id="{5FAA41FD-7A35-423A-B549-E3FD6EC84CB5}"/>
              </a:ext>
            </a:extLst>
          </p:cNvPr>
          <p:cNvSpPr>
            <a:spLocks xmlns:a="http://schemas.openxmlformats.org/drawingml/2006/main" noGrp="1"/>
          </p:cNvSpPr>
          <p:nvPr/>
        </p:nvSpPr>
        <p:spPr>
          <a:xfrm xmlns:a="http://schemas.openxmlformats.org/drawingml/2006/main">
            <a:off x="6334125" y="2105025"/>
            <a:ext cx="5286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집행 중복, 다른 보고기간, 산식 오류, 전결권 부재</a:t>
            </a:r>
          </a:p>
        </p:txBody>
      </p:sp>
      <p:sp>
        <p:nvSpPr>
          <p:cNvPr id="14" name="">
            <a:extLst xmlns:a="http://schemas.openxmlformats.org/drawingml/2006/main">
              <a:ext uri="{FF2B5EF4-FFF2-40B4-BE49-F238E27FC236}">
                <a16:creationId xmlns:a16="http://schemas.microsoft.com/office/drawing/2014/main" id="{44A963C0-D12D-46C7-81F7-B66EF40E3E64}"/>
              </a:ext>
            </a:extLst>
          </p:cNvPr>
          <p:cNvSpPr>
            <a:spLocks xmlns:a="http://schemas.openxmlformats.org/drawingml/2006/main" noGrp="1"/>
          </p:cNvSpPr>
          <p:nvPr/>
        </p:nvSpPr>
        <p:spPr>
          <a:xfrm xmlns:a="http://schemas.openxmlformats.org/drawingml/2006/main">
            <a:off x="6334125" y="29241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 기준</a:t>
            </a:r>
          </a:p>
        </p:txBody>
      </p:sp>
      <p:sp>
        <p:nvSpPr>
          <p:cNvPr id="15" name="">
            <a:extLst xmlns:a="http://schemas.openxmlformats.org/drawingml/2006/main">
              <a:ext uri="{FF2B5EF4-FFF2-40B4-BE49-F238E27FC236}">
                <a16:creationId xmlns:a16="http://schemas.microsoft.com/office/drawing/2014/main" id="{C185809A-642E-40EC-88E1-CF010BA53B79}"/>
              </a:ext>
            </a:extLst>
          </p:cNvPr>
          <p:cNvSpPr>
            <a:spLocks xmlns:a="http://schemas.openxmlformats.org/drawingml/2006/main" noGrp="1"/>
          </p:cNvSpPr>
          <p:nvPr/>
        </p:nvSpPr>
        <p:spPr>
          <a:xfrm xmlns:a="http://schemas.openxmlformats.org/drawingml/2006/main">
            <a:off x="6334125" y="3276600"/>
            <a:ext cx="5286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원천 합계 일치·오류 보류·권한별 결과 분리</a:t>
            </a:r>
          </a:p>
        </p:txBody>
      </p:sp>
      <p:sp>
        <p:nvSpPr>
          <p:cNvPr id="16" name="">
            <a:extLst xmlns:a="http://schemas.openxmlformats.org/drawingml/2006/main">
              <a:ext uri="{FF2B5EF4-FFF2-40B4-BE49-F238E27FC236}">
                <a16:creationId xmlns:a16="http://schemas.microsoft.com/office/drawing/2014/main" id="{D231FF66-30C3-4E8F-A6B1-D8EC93F320E8}"/>
              </a:ext>
            </a:extLst>
          </p:cNvPr>
          <p:cNvSpPr>
            <a:spLocks xmlns:a="http://schemas.openxmlformats.org/drawingml/2006/main" noGrp="1"/>
          </p:cNvSpPr>
          <p:nvPr/>
        </p:nvSpPr>
        <p:spPr>
          <a:xfrm xmlns:a="http://schemas.openxmlformats.org/drawingml/2006/main">
            <a:off x="6334125" y="42481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제출 증빙</a:t>
            </a:r>
          </a:p>
        </p:txBody>
      </p:sp>
      <p:sp>
        <p:nvSpPr>
          <p:cNvPr id="17" name="">
            <a:extLst xmlns:a="http://schemas.openxmlformats.org/drawingml/2006/main">
              <a:ext uri="{FF2B5EF4-FFF2-40B4-BE49-F238E27FC236}">
                <a16:creationId xmlns:a16="http://schemas.microsoft.com/office/drawing/2014/main" id="{E9C76BF8-6016-461C-87E4-0E39CF5711CD}"/>
              </a:ext>
            </a:extLst>
          </p:cNvPr>
          <p:cNvSpPr>
            <a:spLocks xmlns:a="http://schemas.openxmlformats.org/drawingml/2006/main" noGrp="1"/>
          </p:cNvSpPr>
          <p:nvPr/>
        </p:nvSpPr>
        <p:spPr>
          <a:xfrm xmlns:a="http://schemas.openxmlformats.org/drawingml/2006/main">
            <a:off x="6334125" y="460057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원천 대사표·업무시간 기록·보완 결과</a:t>
            </a:r>
          </a:p>
        </p:txBody>
      </p:sp>
      <p:sp>
        <p:nvSpPr>
          <p:cNvPr id="18" name="">
            <a:extLst xmlns:a="http://schemas.openxmlformats.org/drawingml/2006/main">
              <a:ext uri="{FF2B5EF4-FFF2-40B4-BE49-F238E27FC236}">
                <a16:creationId xmlns:a16="http://schemas.microsoft.com/office/drawing/2014/main" id="{5BB992FC-7A5B-4C80-B52B-CCD0686ACCE7}"/>
              </a:ext>
            </a:extLst>
          </p:cNvPr>
          <p:cNvSpPr>
            <a:spLocks xmlns:a="http://schemas.openxmlformats.org/drawingml/2006/main" noGrp="1"/>
          </p:cNvSpPr>
          <p:nvPr/>
        </p:nvSpPr>
        <p:spPr>
          <a:xfrm xmlns:a="http://schemas.openxmlformats.org/drawingml/2006/main">
            <a:off x="6334125" y="54483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BM-ST-10-R01 / BM-ST-10-T01</a:t>
            </a:r>
          </a:p>
        </p:txBody>
      </p:sp>
      <p:sp>
        <p:nvSpPr>
          <p:cNvPr id="19" name="">
            <a:extLst xmlns:a="http://schemas.openxmlformats.org/drawingml/2006/main">
              <a:ext uri="{FF2B5EF4-FFF2-40B4-BE49-F238E27FC236}">
                <a16:creationId xmlns:a16="http://schemas.microsoft.com/office/drawing/2014/main" id="{BF5D967A-412A-43A7-812E-861A9073BAAC}"/>
              </a:ext>
            </a:extLst>
          </p:cNvPr>
          <p:cNvSpPr>
            <a:spLocks xmlns:a="http://schemas.openxmlformats.org/drawingml/2006/main" noGrp="1"/>
          </p:cNvSpPr>
          <p:nvPr/>
        </p:nvSpPr>
        <p:spPr>
          <a:xfrm xmlns:a="http://schemas.openxmlformats.org/drawingml/2006/main">
            <a:off x="6334125" y="5810250"/>
            <a:ext cx="5286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검수 설계안·미실행 / 기대효과 TS 실측 전</a:t>
            </a:r>
          </a:p>
        </p:txBody>
      </p:sp>
    </p:spTree>
    <p:extLst>
      <p:ext uri="{BB962C8B-B14F-4D97-AF65-F5344CB8AC3E}">
        <p14:creationId xmlns:p14="http://schemas.microsoft.com/office/powerpoint/2010/main" val="427258619"/>
      </p:ext>
    </p:extLst>
  </p:cSld>
</p:sld>
</file>

<file path=ppt/slides/slide162.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6E751248-1B17-4970-A0F1-DC2F6115C5D9}"/>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ST-11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2E4CE85D-B360-4611-91E8-5D9C035C07EF}"/>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ESG 증빙·공시 검토 지원</a:t>
            </a:r>
          </a:p>
        </p:txBody>
      </p:sp>
      <p:sp>
        <p:nvSpPr>
          <p:cNvPr id="3" name="">
            <a:extLst xmlns:a="http://schemas.openxmlformats.org/drawingml/2006/main">
              <a:ext uri="{FF2B5EF4-FFF2-40B4-BE49-F238E27FC236}">
                <a16:creationId xmlns:a16="http://schemas.microsoft.com/office/drawing/2014/main" id="{5ED70424-663E-46EC-9EE4-7889961B0582}"/>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2295E9D-C2C5-42AE-835D-EE1BF2D85A63}"/>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57B24422-BED8-4F1A-8E11-21AD93DB7E20}"/>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162</a:t>
            </a:r>
          </a:p>
        </p:txBody>
      </p:sp>
      <p:sp>
        <p:nvSpPr>
          <p:cNvPr id="6" name="">
            <a:extLst xmlns:a="http://schemas.openxmlformats.org/drawingml/2006/main">
              <a:ext uri="{FF2B5EF4-FFF2-40B4-BE49-F238E27FC236}">
                <a16:creationId xmlns:a16="http://schemas.microsoft.com/office/drawing/2014/main" id="{D85EE72B-6043-4B90-9193-54CAD226A37C}"/>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vl1pPr>
              <a:defRPr sz="1575" b="0">
                <a:solidFill>
                  <a:srgbClr val="42634B"/>
                </a:solidFill>
                <a:latin typeface="Pretendard"/>
                <a:ea typeface="Pretendard"/>
                <a:cs typeface="Pretendard"/>
              </a:defRPr>
            </a:lvl1pPr>
            <a:lvl2pPr>
              <a:defRPr sz="1575" b="0">
                <a:solidFill>
                  <a:srgbClr val="42634B"/>
                </a:solidFill>
                <a:latin typeface="Pretendard"/>
                <a:ea typeface="Pretendard"/>
                <a:cs typeface="Pretendard"/>
              </a:defRPr>
            </a:lvl2pPr>
            <a:lvl3pPr>
              <a:defRPr sz="1575" b="0">
                <a:solidFill>
                  <a:srgbClr val="42634B"/>
                </a:solidFill>
                <a:latin typeface="Pretendard"/>
                <a:ea typeface="Pretendard"/>
                <a:cs typeface="Pretendard"/>
              </a:defRPr>
            </a:lvl3pPr>
            <a:lvl4pPr>
              <a:defRPr sz="1575" b="0">
                <a:solidFill>
                  <a:srgbClr val="42634B"/>
                </a:solidFill>
                <a:latin typeface="Pretendard"/>
                <a:ea typeface="Pretendard"/>
                <a:cs typeface="Pretendard"/>
              </a:defRPr>
            </a:lvl4pPr>
            <a:lvl5pPr>
              <a:defRPr sz="1575" b="0">
                <a:solidFill>
                  <a:srgbClr val="42634B"/>
                </a:solidFill>
                <a:latin typeface="Pretendard"/>
                <a:ea typeface="Pretendard"/>
                <a:cs typeface="Pretendard"/>
              </a:defRPr>
            </a:lvl5pPr>
            <a:lvl6pPr>
              <a:defRPr sz="1575" b="0">
                <a:solidFill>
                  <a:srgbClr val="42634B"/>
                </a:solidFill>
                <a:latin typeface="Pretendard"/>
                <a:ea typeface="Pretendard"/>
                <a:cs typeface="Pretendard"/>
              </a:defRPr>
            </a:lvl6pPr>
            <a:lvl7pPr>
              <a:defRPr sz="1575" b="0">
                <a:solidFill>
                  <a:srgbClr val="42634B"/>
                </a:solidFill>
                <a:latin typeface="Pretendard"/>
                <a:ea typeface="Pretendard"/>
                <a:cs typeface="Pretendard"/>
              </a:defRPr>
            </a:lvl7pPr>
            <a:lvl8pPr>
              <a:defRPr sz="1575" b="0">
                <a:solidFill>
                  <a:srgbClr val="42634B"/>
                </a:solidFill>
                <a:latin typeface="Pretendard"/>
                <a:ea typeface="Pretendard"/>
                <a:cs typeface="Pretendard"/>
              </a:defRPr>
            </a:lvl8pPr>
            <a:lvl9pPr>
              <a:defRPr sz="1575" b="0">
                <a:solidFill>
                  <a:srgbClr val="42634B"/>
                </a:solidFill>
                <a:latin typeface="Pretendard"/>
                <a:ea typeface="Pretendard"/>
                <a:cs typeface="Pretendard"/>
              </a:defRPr>
            </a:lvl9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지속가능 ESG 경영성과 실현</a:t>
            </a:r>
          </a:p>
        </p:txBody>
      </p:sp>
      <p:sp>
        <p:nvSpPr>
          <p:cNvPr id="7" name="">
            <a:extLst xmlns:a="http://schemas.openxmlformats.org/drawingml/2006/main">
              <a:ext uri="{FF2B5EF4-FFF2-40B4-BE49-F238E27FC236}">
                <a16:creationId xmlns:a16="http://schemas.microsoft.com/office/drawing/2014/main" id="{DC31679D-C34B-4029-8F38-5C0DA1D72962}"/>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5176D02-AF2C-40FC-ABCD-DE922D8BB49B}"/>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ESG경영처</a:t>
            </a:r>
          </a:p>
        </p:txBody>
      </p:sp>
      <p:sp>
        <p:nvSpPr>
          <p:cNvPr id="9" name="">
            <a:extLst xmlns:a="http://schemas.openxmlformats.org/drawingml/2006/main">
              <a:ext uri="{FF2B5EF4-FFF2-40B4-BE49-F238E27FC236}">
                <a16:creationId xmlns:a16="http://schemas.microsoft.com/office/drawing/2014/main" id="{C256EEFA-2F11-4BD7-8462-60EA3BDF669E}"/>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ESG 총괄·보고서</a:t>
            </a:r>
          </a:p>
        </p:txBody>
      </p:sp>
      <p:sp>
        <p:nvSpPr>
          <p:cNvPr id="10" name="">
            <a:extLst xmlns:a="http://schemas.openxmlformats.org/drawingml/2006/main">
              <a:ext uri="{FF2B5EF4-FFF2-40B4-BE49-F238E27FC236}">
                <a16:creationId xmlns:a16="http://schemas.microsoft.com/office/drawing/2014/main" id="{9E31251F-6B09-4065-A455-B6F3DE124BD4}"/>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 ESG․지속가능․윤리․인권경영에 관한 업무 총괄</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10. 지속가능경영보고서(ESG보고서) 발간에 관한 업무</a:t>
            </a:r>
          </a:p>
        </p:txBody>
      </p:sp>
      <p:sp>
        <p:nvSpPr>
          <p:cNvPr id="11" name="">
            <a:extLst xmlns:a="http://schemas.openxmlformats.org/drawingml/2006/main">
              <a:ext uri="{FF2B5EF4-FFF2-40B4-BE49-F238E27FC236}">
                <a16:creationId xmlns:a16="http://schemas.microsoft.com/office/drawing/2014/main" id="{357E2F61-6A6A-444E-AEA0-603A62451FC9}"/>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586FC2E-C391-4140-8DE2-A23DE4ADBC52}"/>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안전보건실</a:t>
            </a:r>
          </a:p>
        </p:txBody>
      </p:sp>
      <p:sp>
        <p:nvSpPr>
          <p:cNvPr id="13" name="">
            <a:extLst xmlns:a="http://schemas.openxmlformats.org/drawingml/2006/main">
              <a:ext uri="{FF2B5EF4-FFF2-40B4-BE49-F238E27FC236}">
                <a16:creationId xmlns:a16="http://schemas.microsoft.com/office/drawing/2014/main" id="{3E8F85A3-33FC-42E1-9AF6-913A9F5D9B4A}"/>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안전경영 성과관리</a:t>
            </a:r>
          </a:p>
        </p:txBody>
      </p:sp>
      <p:sp>
        <p:nvSpPr>
          <p:cNvPr id="14" name="">
            <a:extLst xmlns:a="http://schemas.openxmlformats.org/drawingml/2006/main">
              <a:ext uri="{FF2B5EF4-FFF2-40B4-BE49-F238E27FC236}">
                <a16:creationId xmlns:a16="http://schemas.microsoft.com/office/drawing/2014/main" id="{7DF0BBDA-4C38-447D-8935-02FE91946A4E}"/>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2. 안전경영 성과관리 및 안전촉진 활동에 관한 업무</a:t>
            </a:r>
          </a:p>
        </p:txBody>
      </p:sp>
      <p:sp>
        <p:nvSpPr>
          <p:cNvPr id="15" name="">
            <a:extLst xmlns:a="http://schemas.openxmlformats.org/drawingml/2006/main">
              <a:ext uri="{FF2B5EF4-FFF2-40B4-BE49-F238E27FC236}">
                <a16:creationId xmlns:a16="http://schemas.microsoft.com/office/drawing/2014/main" id="{FDF2483B-BB01-4505-B663-479B343052DC}"/>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08FB572F-C22A-4B50-BFEB-4DD3D922EB4E}"/>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기후탄소물류처</a:t>
            </a:r>
          </a:p>
        </p:txBody>
      </p:sp>
      <p:sp>
        <p:nvSpPr>
          <p:cNvPr id="17" name="">
            <a:extLst xmlns:a="http://schemas.openxmlformats.org/drawingml/2006/main">
              <a:ext uri="{FF2B5EF4-FFF2-40B4-BE49-F238E27FC236}">
                <a16:creationId xmlns:a16="http://schemas.microsoft.com/office/drawing/2014/main" id="{BD71FA37-2234-4357-B08F-3449A12C5079}"/>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교통물류 정책자료</a:t>
            </a:r>
          </a:p>
        </p:txBody>
      </p:sp>
      <p:sp>
        <p:nvSpPr>
          <p:cNvPr id="18" name="">
            <a:extLst xmlns:a="http://schemas.openxmlformats.org/drawingml/2006/main">
              <a:ext uri="{FF2B5EF4-FFF2-40B4-BE49-F238E27FC236}">
                <a16:creationId xmlns:a16="http://schemas.microsoft.com/office/drawing/2014/main" id="{F4BD72FC-E3D1-400A-8069-82618DD66F66}"/>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6. 교통물류 정책관련 연구‧사업 업무</a:t>
            </a:r>
          </a:p>
        </p:txBody>
      </p:sp>
      <p:sp>
        <p:nvSpPr>
          <p:cNvPr id="19" name="">
            <a:extLst xmlns:a="http://schemas.openxmlformats.org/drawingml/2006/main">
              <a:ext uri="{FF2B5EF4-FFF2-40B4-BE49-F238E27FC236}">
                <a16:creationId xmlns:a16="http://schemas.microsoft.com/office/drawing/2014/main" id="{4102A5EB-0F5F-437D-BB91-CE87E614113B}"/>
              </a:ext>
            </a:extLst>
          </p:cNvPr>
          <p:cNvSpPr>
            <a:spLocks xmlns:a="http://schemas.openxmlformats.org/drawingml/2006/main" noGrp="1"/>
          </p:cNvSpPr>
          <p:nvPr/>
        </p:nvSpPr>
        <p:spPr>
          <a:xfrm xmlns:a="http://schemas.openxmlformats.org/drawingml/2006/main">
            <a:off x="571500" y="490537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90F2CD9-9DC5-4B39-9AE8-A855E786E198}"/>
              </a:ext>
            </a:extLst>
          </p:cNvPr>
          <p:cNvSpPr>
            <a:spLocks xmlns:a="http://schemas.openxmlformats.org/drawingml/2006/main" noGrp="1"/>
          </p:cNvSpPr>
          <p:nvPr/>
        </p:nvSpPr>
        <p:spPr>
          <a:xfrm xmlns:a="http://schemas.openxmlformats.org/drawingml/2006/main">
            <a:off x="571500" y="50006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재정회계처</a:t>
            </a:r>
          </a:p>
        </p:txBody>
      </p:sp>
      <p:sp>
        <p:nvSpPr>
          <p:cNvPr id="21" name="">
            <a:extLst xmlns:a="http://schemas.openxmlformats.org/drawingml/2006/main">
              <a:ext uri="{FF2B5EF4-FFF2-40B4-BE49-F238E27FC236}">
                <a16:creationId xmlns:a16="http://schemas.microsoft.com/office/drawing/2014/main" id="{B8668F72-8EC0-4F31-8ECC-6D8C91386074}"/>
              </a:ext>
            </a:extLst>
          </p:cNvPr>
          <p:cNvSpPr>
            <a:spLocks xmlns:a="http://schemas.openxmlformats.org/drawingml/2006/main" noGrp="1"/>
          </p:cNvSpPr>
          <p:nvPr/>
        </p:nvSpPr>
        <p:spPr>
          <a:xfrm xmlns:a="http://schemas.openxmlformats.org/drawingml/2006/main">
            <a:off x="571500" y="537210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회계·계약 증빙</a:t>
            </a:r>
          </a:p>
        </p:txBody>
      </p:sp>
      <p:sp>
        <p:nvSpPr>
          <p:cNvPr id="22" name="">
            <a:extLst xmlns:a="http://schemas.openxmlformats.org/drawingml/2006/main">
              <a:ext uri="{FF2B5EF4-FFF2-40B4-BE49-F238E27FC236}">
                <a16:creationId xmlns:a16="http://schemas.microsoft.com/office/drawing/2014/main" id="{7BB67790-5A50-4EAD-B11A-EB66D18EF425}"/>
              </a:ext>
            </a:extLst>
          </p:cNvPr>
          <p:cNvSpPr>
            <a:spLocks xmlns:a="http://schemas.openxmlformats.org/drawingml/2006/main" noGrp="1"/>
          </p:cNvSpPr>
          <p:nvPr/>
        </p:nvSpPr>
        <p:spPr>
          <a:xfrm xmlns:a="http://schemas.openxmlformats.org/drawingml/2006/main">
            <a:off x="3143250" y="500062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4. 연간·월간 회계결산 및 연차 결산보고서 작성 보고</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10. 회계․계약관련 제도개선 및 회계감사·세무조사에 관한 사항</a:t>
            </a:r>
          </a:p>
        </p:txBody>
      </p:sp>
      <p:sp>
        <p:nvSpPr>
          <p:cNvPr id="23" name="">
            <a:extLst xmlns:a="http://schemas.openxmlformats.org/drawingml/2006/main">
              <a:ext uri="{FF2B5EF4-FFF2-40B4-BE49-F238E27FC236}">
                <a16:creationId xmlns:a16="http://schemas.microsoft.com/office/drawing/2014/main" id="{B66E860C-23D5-455A-A916-D5CF4D3F2A93}"/>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1913140643"/>
      </p:ext>
    </p:extLst>
  </p:cSld>
</p:sld>
</file>

<file path=ppt/slides/slide163.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8EB63F1-1624-46DA-A94F-327AFE693B80}"/>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ST-11 / CCK 재사용·추가 개발·검수·기대효과</a:t>
            </a:r>
          </a:p>
        </p:txBody>
      </p:sp>
      <p:sp>
        <p:nvSpPr>
          <p:cNvPr id="2" name="">
            <a:extLst xmlns:a="http://schemas.openxmlformats.org/drawingml/2006/main">
              <a:ext uri="{FF2B5EF4-FFF2-40B4-BE49-F238E27FC236}">
                <a16:creationId xmlns:a16="http://schemas.microsoft.com/office/drawing/2014/main" id="{6850BA95-83AB-43AB-B6F1-CBFB4504CB7B}"/>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ESG 증빙·공시 검토 지원</a:t>
            </a:r>
          </a:p>
        </p:txBody>
      </p:sp>
      <p:sp>
        <p:nvSpPr>
          <p:cNvPr id="3" name="">
            <a:extLst xmlns:a="http://schemas.openxmlformats.org/drawingml/2006/main">
              <a:ext uri="{FF2B5EF4-FFF2-40B4-BE49-F238E27FC236}">
                <a16:creationId xmlns:a16="http://schemas.microsoft.com/office/drawing/2014/main" id="{7B975952-9452-4E3E-8503-B63D0ECFDAA8}"/>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3A855CB-B2DD-4923-B71E-09D7B3F9AE0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C4F80F57-F2E8-4E95-BD59-29DCA651519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163</a:t>
            </a:r>
          </a:p>
        </p:txBody>
      </p:sp>
      <p:sp>
        <p:nvSpPr>
          <p:cNvPr id="6" name="">
            <a:extLst xmlns:a="http://schemas.openxmlformats.org/drawingml/2006/main">
              <a:ext uri="{FF2B5EF4-FFF2-40B4-BE49-F238E27FC236}">
                <a16:creationId xmlns:a16="http://schemas.microsoft.com/office/drawing/2014/main" id="{43675F78-0142-4AD3-AC03-7EDEEBD1B899}"/>
              </a:ext>
            </a:extLst>
          </p:cNvPr>
          <p:cNvSpPr>
            <a:spLocks xmlns:a="http://schemas.openxmlformats.org/drawingml/2006/main" noGrp="1"/>
          </p:cNvSpPr>
          <p:nvPr/>
        </p:nvSpPr>
        <p:spPr>
          <a:xfrm xmlns:a="http://schemas.openxmlformats.org/drawingml/2006/main">
            <a:off x="571500" y="17526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재사용 후보</a:t>
            </a:r>
          </a:p>
        </p:txBody>
      </p:sp>
      <p:sp>
        <p:nvSpPr>
          <p:cNvPr id="7" name="">
            <a:extLst xmlns:a="http://schemas.openxmlformats.org/drawingml/2006/main">
              <a:ext uri="{FF2B5EF4-FFF2-40B4-BE49-F238E27FC236}">
                <a16:creationId xmlns:a16="http://schemas.microsoft.com/office/drawing/2014/main" id="{D0ED79F7-B68B-428D-B54C-FFEC33E2CE1E}"/>
              </a:ext>
            </a:extLst>
          </p:cNvPr>
          <p:cNvSpPr>
            <a:spLocks xmlns:a="http://schemas.openxmlformats.org/drawingml/2006/main" noGrp="1"/>
          </p:cNvSpPr>
          <p:nvPr/>
        </p:nvSpPr>
        <p:spPr>
          <a:xfrm xmlns:a="http://schemas.openxmlformats.org/drawingml/2006/main">
            <a:off x="571500" y="21050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NOA의 공시 초안·근거 검색</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Audin·Torus의 증빙·검토 기록</a:t>
            </a:r>
          </a:p>
        </p:txBody>
      </p:sp>
      <p:sp>
        <p:nvSpPr>
          <p:cNvPr id="8" name="">
            <a:extLst xmlns:a="http://schemas.openxmlformats.org/drawingml/2006/main">
              <a:ext uri="{FF2B5EF4-FFF2-40B4-BE49-F238E27FC236}">
                <a16:creationId xmlns:a16="http://schemas.microsoft.com/office/drawing/2014/main" id="{0BF38E61-7307-4803-963D-232A81E8A452}"/>
              </a:ext>
            </a:extLst>
          </p:cNvPr>
          <p:cNvSpPr>
            <a:spLocks xmlns:a="http://schemas.openxmlformats.org/drawingml/2006/main" noGrp="1"/>
          </p:cNvSpPr>
          <p:nvPr/>
        </p:nvSpPr>
        <p:spPr>
          <a:xfrm xmlns:a="http://schemas.openxmlformats.org/drawingml/2006/main">
            <a:off x="571500" y="32099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9" name="">
            <a:extLst xmlns:a="http://schemas.openxmlformats.org/drawingml/2006/main">
              <a:ext uri="{FF2B5EF4-FFF2-40B4-BE49-F238E27FC236}">
                <a16:creationId xmlns:a16="http://schemas.microsoft.com/office/drawing/2014/main" id="{73579055-144F-447C-9DB9-6F8748419308}"/>
              </a:ext>
            </a:extLst>
          </p:cNvPr>
          <p:cNvSpPr>
            <a:spLocks xmlns:a="http://schemas.openxmlformats.org/drawingml/2006/main" noGrp="1"/>
          </p:cNvSpPr>
          <p:nvPr/>
        </p:nvSpPr>
        <p:spPr>
          <a:xfrm xmlns:a="http://schemas.openxmlformats.org/drawingml/2006/main">
            <a:off x="571500" y="3562350"/>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지표–원천–검토자 연결표</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중복 증빙·산식·공시 판본 검증</a:t>
            </a:r>
          </a:p>
        </p:txBody>
      </p:sp>
      <p:sp>
        <p:nvSpPr>
          <p:cNvPr id="10" name="">
            <a:extLst xmlns:a="http://schemas.openxmlformats.org/drawingml/2006/main">
              <a:ext uri="{FF2B5EF4-FFF2-40B4-BE49-F238E27FC236}">
                <a16:creationId xmlns:a16="http://schemas.microsoft.com/office/drawing/2014/main" id="{3ABD9698-7348-4AFC-8FAD-E3FD7105E1C3}"/>
              </a:ext>
            </a:extLst>
          </p:cNvPr>
          <p:cNvSpPr>
            <a:spLocks xmlns:a="http://schemas.openxmlformats.org/drawingml/2006/main" noGrp="1"/>
          </p:cNvSpPr>
          <p:nvPr/>
        </p:nvSpPr>
        <p:spPr>
          <a:xfrm xmlns:a="http://schemas.openxmlformats.org/drawingml/2006/main">
            <a:off x="571500" y="4572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a:t>
            </a:r>
          </a:p>
        </p:txBody>
      </p:sp>
      <p:sp>
        <p:nvSpPr>
          <p:cNvPr id="11" name="">
            <a:extLst xmlns:a="http://schemas.openxmlformats.org/drawingml/2006/main">
              <a:ext uri="{FF2B5EF4-FFF2-40B4-BE49-F238E27FC236}">
                <a16:creationId xmlns:a16="http://schemas.microsoft.com/office/drawing/2014/main" id="{EC140517-6F38-4D16-94A4-6A749E928C51}"/>
              </a:ext>
            </a:extLst>
          </p:cNvPr>
          <p:cNvSpPr>
            <a:spLocks xmlns:a="http://schemas.openxmlformats.org/drawingml/2006/main" noGrp="1"/>
          </p:cNvSpPr>
          <p:nvPr/>
        </p:nvSpPr>
        <p:spPr>
          <a:xfrm xmlns:a="http://schemas.openxmlformats.org/drawingml/2006/main">
            <a:off x="571500" y="4924425"/>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공시 근거 누락·검토시간 감소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근거 추적 가능 지표 수 ÷ 대상 지표 수 / 공시 검토 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요시간</a:t>
            </a:r>
          </a:p>
        </p:txBody>
      </p:sp>
      <p:sp>
        <p:nvSpPr>
          <p:cNvPr id="12" name="">
            <a:extLst xmlns:a="http://schemas.openxmlformats.org/drawingml/2006/main">
              <a:ext uri="{FF2B5EF4-FFF2-40B4-BE49-F238E27FC236}">
                <a16:creationId xmlns:a16="http://schemas.microsoft.com/office/drawing/2014/main" id="{00B01088-BACE-4150-B957-9DFB87A8A86D}"/>
              </a:ext>
            </a:extLst>
          </p:cNvPr>
          <p:cNvSpPr>
            <a:spLocks xmlns:a="http://schemas.openxmlformats.org/drawingml/2006/main" noGrp="1"/>
          </p:cNvSpPr>
          <p:nvPr/>
        </p:nvSpPr>
        <p:spPr>
          <a:xfrm xmlns:a="http://schemas.openxmlformats.org/drawingml/2006/main">
            <a:off x="6334125" y="1752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입력</a:t>
            </a:r>
          </a:p>
        </p:txBody>
      </p:sp>
      <p:sp>
        <p:nvSpPr>
          <p:cNvPr id="13" name="">
            <a:extLst xmlns:a="http://schemas.openxmlformats.org/drawingml/2006/main">
              <a:ext uri="{FF2B5EF4-FFF2-40B4-BE49-F238E27FC236}">
                <a16:creationId xmlns:a16="http://schemas.microsoft.com/office/drawing/2014/main" id="{EED21D15-15F8-40BB-9C31-AB6682BD5242}"/>
              </a:ext>
            </a:extLst>
          </p:cNvPr>
          <p:cNvSpPr>
            <a:spLocks xmlns:a="http://schemas.openxmlformats.org/drawingml/2006/main" noGrp="1"/>
          </p:cNvSpPr>
          <p:nvPr/>
        </p:nvSpPr>
        <p:spPr>
          <a:xfrm xmlns:a="http://schemas.openxmlformats.org/drawingml/2006/main">
            <a:off x="6334125" y="2105025"/>
            <a:ext cx="5286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중복 실적, 다른 기간 증빙, 근거 없는 수치</a:t>
            </a:r>
          </a:p>
        </p:txBody>
      </p:sp>
      <p:sp>
        <p:nvSpPr>
          <p:cNvPr id="14" name="">
            <a:extLst xmlns:a="http://schemas.openxmlformats.org/drawingml/2006/main">
              <a:ext uri="{FF2B5EF4-FFF2-40B4-BE49-F238E27FC236}">
                <a16:creationId xmlns:a16="http://schemas.microsoft.com/office/drawing/2014/main" id="{101E8151-7FAD-4214-98CC-C618FB7E0258}"/>
              </a:ext>
            </a:extLst>
          </p:cNvPr>
          <p:cNvSpPr>
            <a:spLocks xmlns:a="http://schemas.openxmlformats.org/drawingml/2006/main" noGrp="1"/>
          </p:cNvSpPr>
          <p:nvPr/>
        </p:nvSpPr>
        <p:spPr>
          <a:xfrm xmlns:a="http://schemas.openxmlformats.org/drawingml/2006/main">
            <a:off x="6334125" y="29241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 기준</a:t>
            </a:r>
          </a:p>
        </p:txBody>
      </p:sp>
      <p:sp>
        <p:nvSpPr>
          <p:cNvPr id="15" name="">
            <a:extLst xmlns:a="http://schemas.openxmlformats.org/drawingml/2006/main">
              <a:ext uri="{FF2B5EF4-FFF2-40B4-BE49-F238E27FC236}">
                <a16:creationId xmlns:a16="http://schemas.microsoft.com/office/drawing/2014/main" id="{7F96405E-C948-4D2B-9649-6C7153BEBDD7}"/>
              </a:ext>
            </a:extLst>
          </p:cNvPr>
          <p:cNvSpPr>
            <a:spLocks xmlns:a="http://schemas.openxmlformats.org/drawingml/2006/main" noGrp="1"/>
          </p:cNvSpPr>
          <p:nvPr/>
        </p:nvSpPr>
        <p:spPr>
          <a:xfrm xmlns:a="http://schemas.openxmlformats.org/drawingml/2006/main">
            <a:off x="6334125" y="3276600"/>
            <a:ext cx="5286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중복 제외·원천 재현·미비 공시 보류</a:t>
            </a:r>
          </a:p>
        </p:txBody>
      </p:sp>
      <p:sp>
        <p:nvSpPr>
          <p:cNvPr id="16" name="">
            <a:extLst xmlns:a="http://schemas.openxmlformats.org/drawingml/2006/main">
              <a:ext uri="{FF2B5EF4-FFF2-40B4-BE49-F238E27FC236}">
                <a16:creationId xmlns:a16="http://schemas.microsoft.com/office/drawing/2014/main" id="{14FCAE49-329F-47F9-BAFA-D39438B9224F}"/>
              </a:ext>
            </a:extLst>
          </p:cNvPr>
          <p:cNvSpPr>
            <a:spLocks xmlns:a="http://schemas.openxmlformats.org/drawingml/2006/main" noGrp="1"/>
          </p:cNvSpPr>
          <p:nvPr/>
        </p:nvSpPr>
        <p:spPr>
          <a:xfrm xmlns:a="http://schemas.openxmlformats.org/drawingml/2006/main">
            <a:off x="6334125" y="42481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제출 증빙</a:t>
            </a:r>
          </a:p>
        </p:txBody>
      </p:sp>
      <p:sp>
        <p:nvSpPr>
          <p:cNvPr id="17" name="">
            <a:extLst xmlns:a="http://schemas.openxmlformats.org/drawingml/2006/main">
              <a:ext uri="{FF2B5EF4-FFF2-40B4-BE49-F238E27FC236}">
                <a16:creationId xmlns:a16="http://schemas.microsoft.com/office/drawing/2014/main" id="{300F7224-95AF-44F2-86D5-E4A8D6DEFB30}"/>
              </a:ext>
            </a:extLst>
          </p:cNvPr>
          <p:cNvSpPr>
            <a:spLocks xmlns:a="http://schemas.openxmlformats.org/drawingml/2006/main" noGrp="1"/>
          </p:cNvSpPr>
          <p:nvPr/>
        </p:nvSpPr>
        <p:spPr>
          <a:xfrm xmlns:a="http://schemas.openxmlformats.org/drawingml/2006/main">
            <a:off x="6334125" y="460057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지표별 증빙대장·계산 대사·검토 이력</a:t>
            </a:r>
          </a:p>
        </p:txBody>
      </p:sp>
      <p:sp>
        <p:nvSpPr>
          <p:cNvPr id="18" name="">
            <a:extLst xmlns:a="http://schemas.openxmlformats.org/drawingml/2006/main">
              <a:ext uri="{FF2B5EF4-FFF2-40B4-BE49-F238E27FC236}">
                <a16:creationId xmlns:a16="http://schemas.microsoft.com/office/drawing/2014/main" id="{24D1291E-996F-4803-96FD-2FFD51AD947F}"/>
              </a:ext>
            </a:extLst>
          </p:cNvPr>
          <p:cNvSpPr>
            <a:spLocks xmlns:a="http://schemas.openxmlformats.org/drawingml/2006/main" noGrp="1"/>
          </p:cNvSpPr>
          <p:nvPr/>
        </p:nvSpPr>
        <p:spPr>
          <a:xfrm xmlns:a="http://schemas.openxmlformats.org/drawingml/2006/main">
            <a:off x="6334125" y="54483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BM-ST-11-R01 / BM-ST-11-T01</a:t>
            </a:r>
          </a:p>
        </p:txBody>
      </p:sp>
      <p:sp>
        <p:nvSpPr>
          <p:cNvPr id="19" name="">
            <a:extLst xmlns:a="http://schemas.openxmlformats.org/drawingml/2006/main">
              <a:ext uri="{FF2B5EF4-FFF2-40B4-BE49-F238E27FC236}">
                <a16:creationId xmlns:a16="http://schemas.microsoft.com/office/drawing/2014/main" id="{C418B9CD-EF19-4FFD-B18B-F1048B9ACA09}"/>
              </a:ext>
            </a:extLst>
          </p:cNvPr>
          <p:cNvSpPr>
            <a:spLocks xmlns:a="http://schemas.openxmlformats.org/drawingml/2006/main" noGrp="1"/>
          </p:cNvSpPr>
          <p:nvPr/>
        </p:nvSpPr>
        <p:spPr>
          <a:xfrm xmlns:a="http://schemas.openxmlformats.org/drawingml/2006/main">
            <a:off x="6334125" y="5810250"/>
            <a:ext cx="5286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검수 설계안·미실행 / 기대효과 TS 실측 전</a:t>
            </a:r>
          </a:p>
        </p:txBody>
      </p:sp>
    </p:spTree>
    <p:extLst>
      <p:ext uri="{BB962C8B-B14F-4D97-AF65-F5344CB8AC3E}">
        <p14:creationId xmlns:p14="http://schemas.microsoft.com/office/powerpoint/2010/main" val="2060539682"/>
      </p:ext>
    </p:extLst>
  </p:cSld>
</p:sld>
</file>

<file path=ppt/slides/slide164.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DC828727-E7EE-4019-AB6D-B98055051EC2}"/>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ST-12 / TS 담당 부서·실제 업무 / 공통 기반 인수 후 부서별 적용</a:t>
            </a:r>
          </a:p>
        </p:txBody>
      </p:sp>
      <p:sp>
        <p:nvSpPr>
          <p:cNvPr id="2" name="">
            <a:extLst xmlns:a="http://schemas.openxmlformats.org/drawingml/2006/main">
              <a:ext uri="{FF2B5EF4-FFF2-40B4-BE49-F238E27FC236}">
                <a16:creationId xmlns:a16="http://schemas.microsoft.com/office/drawing/2014/main" id="{F9632403-1B50-4E5D-AA1A-298AD7C1C55E}"/>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조직 협업·참여·공정성 지원</a:t>
            </a:r>
          </a:p>
        </p:txBody>
      </p:sp>
      <p:sp>
        <p:nvSpPr>
          <p:cNvPr id="3" name="">
            <a:extLst xmlns:a="http://schemas.openxmlformats.org/drawingml/2006/main">
              <a:ext uri="{FF2B5EF4-FFF2-40B4-BE49-F238E27FC236}">
                <a16:creationId xmlns:a16="http://schemas.microsoft.com/office/drawing/2014/main" id="{EE80D275-A982-4B7E-B10C-55E3B0BDEBE7}"/>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4E2DA07-F606-4B83-A53F-CD5F437EFCB7}"/>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6DD5D717-732F-409A-9681-7FAD24020DAF}"/>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164</a:t>
            </a:r>
          </a:p>
        </p:txBody>
      </p:sp>
      <p:sp>
        <p:nvSpPr>
          <p:cNvPr id="6" name="">
            <a:extLst xmlns:a="http://schemas.openxmlformats.org/drawingml/2006/main">
              <a:ext uri="{FF2B5EF4-FFF2-40B4-BE49-F238E27FC236}">
                <a16:creationId xmlns:a16="http://schemas.microsoft.com/office/drawing/2014/main" id="{C09191B0-F440-4C0C-ABCF-C4340FA73C47}"/>
              </a:ext>
            </a:extLst>
          </p:cNvPr>
          <p:cNvSpPr>
            <a:spLocks xmlns:a="http://schemas.openxmlformats.org/drawingml/2006/main" noGrp="1"/>
          </p:cNvSpPr>
          <p:nvPr/>
        </p:nvSpPr>
        <p:spPr>
          <a:xfrm xmlns:a="http://schemas.openxmlformats.org/drawingml/2006/main">
            <a:off x="571500" y="1514475"/>
            <a:ext cx="1104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42634B"/>
                </a:solidFill>
                <a:latin typeface="Pretendard"/>
                <a:ea typeface="Pretendard"/>
                <a:cs typeface="Pretendard"/>
              </a:defRPr>
            </a:defPPr>
            <a:lvl1pPr>
              <a:defRPr sz="1575" b="0">
                <a:solidFill>
                  <a:srgbClr val="42634B"/>
                </a:solidFill>
                <a:latin typeface="Pretendard"/>
                <a:ea typeface="Pretendard"/>
                <a:cs typeface="Pretendard"/>
              </a:defRPr>
            </a:lvl1pPr>
            <a:lvl2pPr>
              <a:defRPr sz="1575" b="0">
                <a:solidFill>
                  <a:srgbClr val="42634B"/>
                </a:solidFill>
                <a:latin typeface="Pretendard"/>
                <a:ea typeface="Pretendard"/>
                <a:cs typeface="Pretendard"/>
              </a:defRPr>
            </a:lvl2pPr>
            <a:lvl3pPr>
              <a:defRPr sz="1575" b="0">
                <a:solidFill>
                  <a:srgbClr val="42634B"/>
                </a:solidFill>
                <a:latin typeface="Pretendard"/>
                <a:ea typeface="Pretendard"/>
                <a:cs typeface="Pretendard"/>
              </a:defRPr>
            </a:lvl3pPr>
            <a:lvl4pPr>
              <a:defRPr sz="1575" b="0">
                <a:solidFill>
                  <a:srgbClr val="42634B"/>
                </a:solidFill>
                <a:latin typeface="Pretendard"/>
                <a:ea typeface="Pretendard"/>
                <a:cs typeface="Pretendard"/>
              </a:defRPr>
            </a:lvl4pPr>
            <a:lvl5pPr>
              <a:defRPr sz="1575" b="0">
                <a:solidFill>
                  <a:srgbClr val="42634B"/>
                </a:solidFill>
                <a:latin typeface="Pretendard"/>
                <a:ea typeface="Pretendard"/>
                <a:cs typeface="Pretendard"/>
              </a:defRPr>
            </a:lvl5pPr>
            <a:lvl6pPr>
              <a:defRPr sz="1575" b="0">
                <a:solidFill>
                  <a:srgbClr val="42634B"/>
                </a:solidFill>
                <a:latin typeface="Pretendard"/>
                <a:ea typeface="Pretendard"/>
                <a:cs typeface="Pretendard"/>
              </a:defRPr>
            </a:lvl6pPr>
            <a:lvl7pPr>
              <a:defRPr sz="1575" b="0">
                <a:solidFill>
                  <a:srgbClr val="42634B"/>
                </a:solidFill>
                <a:latin typeface="Pretendard"/>
                <a:ea typeface="Pretendard"/>
                <a:cs typeface="Pretendard"/>
              </a:defRPr>
            </a:lvl7pPr>
            <a:lvl8pPr>
              <a:defRPr sz="1575" b="0">
                <a:solidFill>
                  <a:srgbClr val="42634B"/>
                </a:solidFill>
                <a:latin typeface="Pretendard"/>
                <a:ea typeface="Pretendard"/>
                <a:cs typeface="Pretendard"/>
              </a:defRPr>
            </a:lvl8pPr>
            <a:lvl9pPr>
              <a:defRPr sz="1575" b="0">
                <a:solidFill>
                  <a:srgbClr val="42634B"/>
                </a:solidFill>
                <a:latin typeface="Pretendard"/>
                <a:ea typeface="Pretendard"/>
                <a:cs typeface="Pretendard"/>
              </a:defRPr>
            </a:lvl9pPr>
          </a:lstStyle>
          <a:p xmlns:a="http://schemas.openxmlformats.org/drawingml/2006/main">
            <a:pPr>
              <a:defRPr sz="1575" b="0">
                <a:solidFill>
                  <a:srgbClr val="42634B"/>
                </a:solidFill>
                <a:latin typeface="Pretendard"/>
                <a:ea typeface="Pretendard"/>
                <a:cs typeface="Pretendard"/>
              </a:defRPr>
            </a:pPr>
            <a:r>
              <a:rPr sz="1575" b="0">
                <a:solidFill>
                  <a:srgbClr val="42634B"/>
                </a:solidFill>
                <a:latin typeface="Pretendard"/>
                <a:ea typeface="Pretendard"/>
                <a:cs typeface="Pretendard"/>
              </a:rPr>
              <a:t>자율·참여·소통·공정 조직문화 조성</a:t>
            </a:r>
          </a:p>
        </p:txBody>
      </p:sp>
      <p:sp>
        <p:nvSpPr>
          <p:cNvPr id="7" name="">
            <a:extLst xmlns:a="http://schemas.openxmlformats.org/drawingml/2006/main">
              <a:ext uri="{FF2B5EF4-FFF2-40B4-BE49-F238E27FC236}">
                <a16:creationId xmlns:a16="http://schemas.microsoft.com/office/drawing/2014/main" id="{CD6650A4-6A20-41BE-B92A-BD33EC406F5F}"/>
              </a:ext>
            </a:extLst>
          </p:cNvPr>
          <p:cNvSpPr>
            <a:spLocks xmlns:a="http://schemas.openxmlformats.org/drawingml/2006/main" noGrp="1"/>
          </p:cNvSpPr>
          <p:nvPr/>
        </p:nvSpPr>
        <p:spPr>
          <a:xfrm xmlns:a="http://schemas.openxmlformats.org/drawingml/2006/main">
            <a:off x="571500" y="190500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8FF1594-146F-4702-B57D-C3EFEB94AE36}"/>
              </a:ext>
            </a:extLst>
          </p:cNvPr>
          <p:cNvSpPr>
            <a:spLocks xmlns:a="http://schemas.openxmlformats.org/drawingml/2006/main" noGrp="1"/>
          </p:cNvSpPr>
          <p:nvPr/>
        </p:nvSpPr>
        <p:spPr>
          <a:xfrm xmlns:a="http://schemas.openxmlformats.org/drawingml/2006/main">
            <a:off x="571500" y="2000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인재개발처</a:t>
            </a:r>
          </a:p>
        </p:txBody>
      </p:sp>
      <p:sp>
        <p:nvSpPr>
          <p:cNvPr id="9" name="">
            <a:extLst xmlns:a="http://schemas.openxmlformats.org/drawingml/2006/main">
              <a:ext uri="{FF2B5EF4-FFF2-40B4-BE49-F238E27FC236}">
                <a16:creationId xmlns:a16="http://schemas.microsoft.com/office/drawing/2014/main" id="{1534A0DD-8FD9-4DD2-A70F-AACC781E0728}"/>
              </a:ext>
            </a:extLst>
          </p:cNvPr>
          <p:cNvSpPr>
            <a:spLocks xmlns:a="http://schemas.openxmlformats.org/drawingml/2006/main" noGrp="1"/>
          </p:cNvSpPr>
          <p:nvPr/>
        </p:nvSpPr>
        <p:spPr>
          <a:xfrm xmlns:a="http://schemas.openxmlformats.org/drawingml/2006/main">
            <a:off x="571500" y="237172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인사·직무교육</a:t>
            </a:r>
          </a:p>
        </p:txBody>
      </p:sp>
      <p:sp>
        <p:nvSpPr>
          <p:cNvPr id="10" name="">
            <a:extLst xmlns:a="http://schemas.openxmlformats.org/drawingml/2006/main">
              <a:ext uri="{FF2B5EF4-FFF2-40B4-BE49-F238E27FC236}">
                <a16:creationId xmlns:a16="http://schemas.microsoft.com/office/drawing/2014/main" id="{5F811BF2-AEE2-410D-9F00-3F23E9CAB635}"/>
              </a:ext>
            </a:extLst>
          </p:cNvPr>
          <p:cNvSpPr>
            <a:spLocks xmlns:a="http://schemas.openxmlformats.org/drawingml/2006/main" noGrp="1"/>
          </p:cNvSpPr>
          <p:nvPr/>
        </p:nvSpPr>
        <p:spPr>
          <a:xfrm xmlns:a="http://schemas.openxmlformats.org/drawingml/2006/main">
            <a:off x="3143250" y="200025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3. 직원의 채용, 승진, 전보 등 임용 및 보직에 관한 업무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9. 직무교육, 계층교육, 자기계발교육 등 교육훈련 업무 총괄</a:t>
            </a:r>
          </a:p>
        </p:txBody>
      </p:sp>
      <p:sp>
        <p:nvSpPr>
          <p:cNvPr id="11" name="">
            <a:extLst xmlns:a="http://schemas.openxmlformats.org/drawingml/2006/main">
              <a:ext uri="{FF2B5EF4-FFF2-40B4-BE49-F238E27FC236}">
                <a16:creationId xmlns:a16="http://schemas.microsoft.com/office/drawing/2014/main" id="{F088D4BD-B1C8-47AA-8D2F-181D7790FBD4}"/>
              </a:ext>
            </a:extLst>
          </p:cNvPr>
          <p:cNvSpPr>
            <a:spLocks xmlns:a="http://schemas.openxmlformats.org/drawingml/2006/main" noGrp="1"/>
          </p:cNvSpPr>
          <p:nvPr/>
        </p:nvSpPr>
        <p:spPr>
          <a:xfrm xmlns:a="http://schemas.openxmlformats.org/drawingml/2006/main">
            <a:off x="571500" y="290512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F4489BC-202D-43FF-BA01-C31DD8921C02}"/>
              </a:ext>
            </a:extLst>
          </p:cNvPr>
          <p:cNvSpPr>
            <a:spLocks xmlns:a="http://schemas.openxmlformats.org/drawingml/2006/main" noGrp="1"/>
          </p:cNvSpPr>
          <p:nvPr/>
        </p:nvSpPr>
        <p:spPr>
          <a:xfrm xmlns:a="http://schemas.openxmlformats.org/drawingml/2006/main">
            <a:off x="571500" y="30003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운영지원처</a:t>
            </a:r>
          </a:p>
        </p:txBody>
      </p:sp>
      <p:sp>
        <p:nvSpPr>
          <p:cNvPr id="13" name="">
            <a:extLst xmlns:a="http://schemas.openxmlformats.org/drawingml/2006/main">
              <a:ext uri="{FF2B5EF4-FFF2-40B4-BE49-F238E27FC236}">
                <a16:creationId xmlns:a16="http://schemas.microsoft.com/office/drawing/2014/main" id="{646FF64C-FCCC-4424-B74E-11E0CAAB80FA}"/>
              </a:ext>
            </a:extLst>
          </p:cNvPr>
          <p:cNvSpPr>
            <a:spLocks xmlns:a="http://schemas.openxmlformats.org/drawingml/2006/main" noGrp="1"/>
          </p:cNvSpPr>
          <p:nvPr/>
        </p:nvSpPr>
        <p:spPr>
          <a:xfrm xmlns:a="http://schemas.openxmlformats.org/drawingml/2006/main">
            <a:off x="571500" y="337185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문서·노사관계</a:t>
            </a:r>
          </a:p>
        </p:txBody>
      </p:sp>
      <p:sp>
        <p:nvSpPr>
          <p:cNvPr id="14" name="">
            <a:extLst xmlns:a="http://schemas.openxmlformats.org/drawingml/2006/main">
              <a:ext uri="{FF2B5EF4-FFF2-40B4-BE49-F238E27FC236}">
                <a16:creationId xmlns:a16="http://schemas.microsoft.com/office/drawing/2014/main" id="{21ABACAA-615A-4CBC-9F23-5D1E697B46DD}"/>
              </a:ext>
            </a:extLst>
          </p:cNvPr>
          <p:cNvSpPr>
            <a:spLocks xmlns:a="http://schemas.openxmlformats.org/drawingml/2006/main" noGrp="1"/>
          </p:cNvSpPr>
          <p:nvPr/>
        </p:nvSpPr>
        <p:spPr>
          <a:xfrm xmlns:a="http://schemas.openxmlformats.org/drawingml/2006/main">
            <a:off x="3143250" y="300037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4. 문서의 접수·분류·수발·처리 및 보존관리</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6. 임금․단체협약 등 노사관계 업무에 관한 사항</a:t>
            </a:r>
          </a:p>
        </p:txBody>
      </p:sp>
      <p:sp>
        <p:nvSpPr>
          <p:cNvPr id="15" name="">
            <a:extLst xmlns:a="http://schemas.openxmlformats.org/drawingml/2006/main">
              <a:ext uri="{FF2B5EF4-FFF2-40B4-BE49-F238E27FC236}">
                <a16:creationId xmlns:a16="http://schemas.microsoft.com/office/drawing/2014/main" id="{253A48A3-3010-4F44-8425-2D06288D0176}"/>
              </a:ext>
            </a:extLst>
          </p:cNvPr>
          <p:cNvSpPr>
            <a:spLocks xmlns:a="http://schemas.openxmlformats.org/drawingml/2006/main" noGrp="1"/>
          </p:cNvSpPr>
          <p:nvPr/>
        </p:nvSpPr>
        <p:spPr>
          <a:xfrm xmlns:a="http://schemas.openxmlformats.org/drawingml/2006/main">
            <a:off x="571500" y="3905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AF9E84E-477C-402D-974B-078773418B2E}"/>
              </a:ext>
            </a:extLst>
          </p:cNvPr>
          <p:cNvSpPr>
            <a:spLocks xmlns:a="http://schemas.openxmlformats.org/drawingml/2006/main" noGrp="1"/>
          </p:cNvSpPr>
          <p:nvPr/>
        </p:nvSpPr>
        <p:spPr>
          <a:xfrm xmlns:a="http://schemas.openxmlformats.org/drawingml/2006/main">
            <a:off x="571500" y="40005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ESG경영처</a:t>
            </a:r>
          </a:p>
        </p:txBody>
      </p:sp>
      <p:sp>
        <p:nvSpPr>
          <p:cNvPr id="17" name="">
            <a:extLst xmlns:a="http://schemas.openxmlformats.org/drawingml/2006/main">
              <a:ext uri="{FF2B5EF4-FFF2-40B4-BE49-F238E27FC236}">
                <a16:creationId xmlns:a16="http://schemas.microsoft.com/office/drawing/2014/main" id="{7DD2F7BA-FEB5-42C2-B394-B3119DD7538F}"/>
              </a:ext>
            </a:extLst>
          </p:cNvPr>
          <p:cNvSpPr>
            <a:spLocks xmlns:a="http://schemas.openxmlformats.org/drawingml/2006/main" noGrp="1"/>
          </p:cNvSpPr>
          <p:nvPr/>
        </p:nvSpPr>
        <p:spPr>
          <a:xfrm xmlns:a="http://schemas.openxmlformats.org/drawingml/2006/main">
            <a:off x="571500" y="4371975"/>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기업문화·내부 소통</a:t>
            </a:r>
          </a:p>
        </p:txBody>
      </p:sp>
      <p:sp>
        <p:nvSpPr>
          <p:cNvPr id="18" name="">
            <a:extLst xmlns:a="http://schemas.openxmlformats.org/drawingml/2006/main">
              <a:ext uri="{FF2B5EF4-FFF2-40B4-BE49-F238E27FC236}">
                <a16:creationId xmlns:a16="http://schemas.microsoft.com/office/drawing/2014/main" id="{B742BF9F-E778-4BAB-B6C9-CD08BE55B16D}"/>
              </a:ext>
            </a:extLst>
          </p:cNvPr>
          <p:cNvSpPr>
            <a:spLocks xmlns:a="http://schemas.openxmlformats.org/drawingml/2006/main" noGrp="1"/>
          </p:cNvSpPr>
          <p:nvPr/>
        </p:nvSpPr>
        <p:spPr>
          <a:xfrm xmlns:a="http://schemas.openxmlformats.org/drawingml/2006/main">
            <a:off x="3143250" y="4000500"/>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8. 기업문화에 관한 업무</a:t>
            </a:r>
          </a:p>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 내부 소통 채널 운영</a:t>
            </a:r>
          </a:p>
        </p:txBody>
      </p:sp>
      <p:sp>
        <p:nvSpPr>
          <p:cNvPr id="19" name="">
            <a:extLst xmlns:a="http://schemas.openxmlformats.org/drawingml/2006/main">
              <a:ext uri="{FF2B5EF4-FFF2-40B4-BE49-F238E27FC236}">
                <a16:creationId xmlns:a16="http://schemas.microsoft.com/office/drawing/2014/main" id="{1CAA0838-5735-40E4-898A-336B63346707}"/>
              </a:ext>
            </a:extLst>
          </p:cNvPr>
          <p:cNvSpPr>
            <a:spLocks xmlns:a="http://schemas.openxmlformats.org/drawingml/2006/main" noGrp="1"/>
          </p:cNvSpPr>
          <p:nvPr/>
        </p:nvSpPr>
        <p:spPr>
          <a:xfrm xmlns:a="http://schemas.openxmlformats.org/drawingml/2006/main">
            <a:off x="571500" y="4905375"/>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3E3AB43-29E6-4571-B14D-C51D9366EDE8}"/>
              </a:ext>
            </a:extLst>
          </p:cNvPr>
          <p:cNvSpPr>
            <a:spLocks xmlns:a="http://schemas.openxmlformats.org/drawingml/2006/main" noGrp="1"/>
          </p:cNvSpPr>
          <p:nvPr/>
        </p:nvSpPr>
        <p:spPr>
          <a:xfrm xmlns:a="http://schemas.openxmlformats.org/drawingml/2006/main">
            <a:off x="571500" y="50006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42634B"/>
                </a:solidFill>
                <a:latin typeface="Pretendard"/>
                <a:ea typeface="Pretendard"/>
                <a:cs typeface="Pretendard"/>
              </a:defRPr>
            </a:defPPr>
            <a:lvl1pPr>
              <a:defRPr sz="1725" b="1">
                <a:solidFill>
                  <a:srgbClr val="42634B"/>
                </a:solidFill>
                <a:latin typeface="Pretendard"/>
                <a:ea typeface="Pretendard"/>
                <a:cs typeface="Pretendard"/>
              </a:defRPr>
            </a:lvl1pPr>
            <a:lvl2pPr>
              <a:defRPr sz="1725" b="1">
                <a:solidFill>
                  <a:srgbClr val="42634B"/>
                </a:solidFill>
                <a:latin typeface="Pretendard"/>
                <a:ea typeface="Pretendard"/>
                <a:cs typeface="Pretendard"/>
              </a:defRPr>
            </a:lvl2pPr>
            <a:lvl3pPr>
              <a:defRPr sz="1725" b="1">
                <a:solidFill>
                  <a:srgbClr val="42634B"/>
                </a:solidFill>
                <a:latin typeface="Pretendard"/>
                <a:ea typeface="Pretendard"/>
                <a:cs typeface="Pretendard"/>
              </a:defRPr>
            </a:lvl3pPr>
            <a:lvl4pPr>
              <a:defRPr sz="1725" b="1">
                <a:solidFill>
                  <a:srgbClr val="42634B"/>
                </a:solidFill>
                <a:latin typeface="Pretendard"/>
                <a:ea typeface="Pretendard"/>
                <a:cs typeface="Pretendard"/>
              </a:defRPr>
            </a:lvl4pPr>
            <a:lvl5pPr>
              <a:defRPr sz="1725" b="1">
                <a:solidFill>
                  <a:srgbClr val="42634B"/>
                </a:solidFill>
                <a:latin typeface="Pretendard"/>
                <a:ea typeface="Pretendard"/>
                <a:cs typeface="Pretendard"/>
              </a:defRPr>
            </a:lvl5pPr>
            <a:lvl6pPr>
              <a:defRPr sz="1725" b="1">
                <a:solidFill>
                  <a:srgbClr val="42634B"/>
                </a:solidFill>
                <a:latin typeface="Pretendard"/>
                <a:ea typeface="Pretendard"/>
                <a:cs typeface="Pretendard"/>
              </a:defRPr>
            </a:lvl6pPr>
            <a:lvl7pPr>
              <a:defRPr sz="1725" b="1">
                <a:solidFill>
                  <a:srgbClr val="42634B"/>
                </a:solidFill>
                <a:latin typeface="Pretendard"/>
                <a:ea typeface="Pretendard"/>
                <a:cs typeface="Pretendard"/>
              </a:defRPr>
            </a:lvl7pPr>
            <a:lvl8pPr>
              <a:defRPr sz="1725" b="1">
                <a:solidFill>
                  <a:srgbClr val="42634B"/>
                </a:solidFill>
                <a:latin typeface="Pretendard"/>
                <a:ea typeface="Pretendard"/>
                <a:cs typeface="Pretendard"/>
              </a:defRPr>
            </a:lvl8pPr>
            <a:lvl9pPr>
              <a:defRPr sz="1725" b="1">
                <a:solidFill>
                  <a:srgbClr val="42634B"/>
                </a:solidFill>
                <a:latin typeface="Pretendard"/>
                <a:ea typeface="Pretendard"/>
                <a:cs typeface="Pretendard"/>
              </a:defRPr>
            </a:lvl9pPr>
          </a:lstStyle>
          <a:p xmlns:a="http://schemas.openxmlformats.org/drawingml/2006/main">
            <a:pPr>
              <a:defRPr sz="1725" b="1">
                <a:solidFill>
                  <a:srgbClr val="42634B"/>
                </a:solidFill>
                <a:latin typeface="Pretendard"/>
                <a:ea typeface="Pretendard"/>
                <a:cs typeface="Pretendard"/>
              </a:defRPr>
            </a:pPr>
            <a:r>
              <a:rPr sz="1725" b="1">
                <a:solidFill>
                  <a:srgbClr val="42634B"/>
                </a:solidFill>
                <a:latin typeface="Pretendard"/>
                <a:ea typeface="Pretendard"/>
                <a:cs typeface="Pretendard"/>
              </a:rPr>
              <a:t>AI혁신처</a:t>
            </a:r>
          </a:p>
        </p:txBody>
      </p:sp>
      <p:sp>
        <p:nvSpPr>
          <p:cNvPr id="21" name="">
            <a:extLst xmlns:a="http://schemas.openxmlformats.org/drawingml/2006/main">
              <a:ext uri="{FF2B5EF4-FFF2-40B4-BE49-F238E27FC236}">
                <a16:creationId xmlns:a16="http://schemas.microsoft.com/office/drawing/2014/main" id="{892FF9FA-99B4-407E-8C03-5521F52045A9}"/>
              </a:ext>
            </a:extLst>
          </p:cNvPr>
          <p:cNvSpPr>
            <a:spLocks xmlns:a="http://schemas.openxmlformats.org/drawingml/2006/main" noGrp="1"/>
          </p:cNvSpPr>
          <p:nvPr/>
        </p:nvSpPr>
        <p:spPr>
          <a:xfrm xmlns:a="http://schemas.openxmlformats.org/drawingml/2006/main">
            <a:off x="571500" y="5372100"/>
            <a:ext cx="2238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28352B"/>
                </a:solidFill>
                <a:latin typeface="Pretendard"/>
                <a:ea typeface="Pretendard"/>
                <a:cs typeface="Pretendard"/>
              </a:defRPr>
            </a:defPPr>
            <a:lvl1pPr>
              <a:defRPr sz="1350" b="0">
                <a:solidFill>
                  <a:srgbClr val="28352B"/>
                </a:solidFill>
                <a:latin typeface="Pretendard"/>
                <a:ea typeface="Pretendard"/>
                <a:cs typeface="Pretendard"/>
              </a:defRPr>
            </a:lvl1pPr>
            <a:lvl2pPr>
              <a:defRPr sz="1350" b="0">
                <a:solidFill>
                  <a:srgbClr val="28352B"/>
                </a:solidFill>
                <a:latin typeface="Pretendard"/>
                <a:ea typeface="Pretendard"/>
                <a:cs typeface="Pretendard"/>
              </a:defRPr>
            </a:lvl2pPr>
            <a:lvl3pPr>
              <a:defRPr sz="1350" b="0">
                <a:solidFill>
                  <a:srgbClr val="28352B"/>
                </a:solidFill>
                <a:latin typeface="Pretendard"/>
                <a:ea typeface="Pretendard"/>
                <a:cs typeface="Pretendard"/>
              </a:defRPr>
            </a:lvl3pPr>
            <a:lvl4pPr>
              <a:defRPr sz="1350" b="0">
                <a:solidFill>
                  <a:srgbClr val="28352B"/>
                </a:solidFill>
                <a:latin typeface="Pretendard"/>
                <a:ea typeface="Pretendard"/>
                <a:cs typeface="Pretendard"/>
              </a:defRPr>
            </a:lvl4pPr>
            <a:lvl5pPr>
              <a:defRPr sz="1350" b="0">
                <a:solidFill>
                  <a:srgbClr val="28352B"/>
                </a:solidFill>
                <a:latin typeface="Pretendard"/>
                <a:ea typeface="Pretendard"/>
                <a:cs typeface="Pretendard"/>
              </a:defRPr>
            </a:lvl5pPr>
            <a:lvl6pPr>
              <a:defRPr sz="1350" b="0">
                <a:solidFill>
                  <a:srgbClr val="28352B"/>
                </a:solidFill>
                <a:latin typeface="Pretendard"/>
                <a:ea typeface="Pretendard"/>
                <a:cs typeface="Pretendard"/>
              </a:defRPr>
            </a:lvl6pPr>
            <a:lvl7pPr>
              <a:defRPr sz="1350" b="0">
                <a:solidFill>
                  <a:srgbClr val="28352B"/>
                </a:solidFill>
                <a:latin typeface="Pretendard"/>
                <a:ea typeface="Pretendard"/>
                <a:cs typeface="Pretendard"/>
              </a:defRPr>
            </a:lvl7pPr>
            <a:lvl8pPr>
              <a:defRPr sz="1350" b="0">
                <a:solidFill>
                  <a:srgbClr val="28352B"/>
                </a:solidFill>
                <a:latin typeface="Pretendard"/>
                <a:ea typeface="Pretendard"/>
                <a:cs typeface="Pretendard"/>
              </a:defRPr>
            </a:lvl8pPr>
            <a:lvl9pPr>
              <a:defRPr sz="1350" b="0">
                <a:solidFill>
                  <a:srgbClr val="28352B"/>
                </a:solidFill>
                <a:latin typeface="Pretendard"/>
                <a:ea typeface="Pretendard"/>
                <a:cs typeface="Pretendard"/>
              </a:defRPr>
            </a:lvl9pPr>
          </a:lstStyle>
          <a:p xmlns:a="http://schemas.openxmlformats.org/drawingml/2006/main">
            <a:pPr>
              <a:defRPr sz="1350" b="0">
                <a:solidFill>
                  <a:srgbClr val="28352B"/>
                </a:solidFill>
                <a:latin typeface="Pretendard"/>
                <a:ea typeface="Pretendard"/>
                <a:cs typeface="Pretendard"/>
              </a:defRPr>
            </a:pPr>
            <a:r>
              <a:rPr sz="1350" b="0">
                <a:solidFill>
                  <a:srgbClr val="28352B"/>
                </a:solidFill>
                <a:latin typeface="Pretendard"/>
                <a:ea typeface="Pretendard"/>
                <a:cs typeface="Pretendard"/>
              </a:rPr>
              <a:t>AI 역량강화</a:t>
            </a:r>
          </a:p>
        </p:txBody>
      </p:sp>
      <p:sp>
        <p:nvSpPr>
          <p:cNvPr id="22" name="">
            <a:extLst xmlns:a="http://schemas.openxmlformats.org/drawingml/2006/main">
              <a:ext uri="{FF2B5EF4-FFF2-40B4-BE49-F238E27FC236}">
                <a16:creationId xmlns:a16="http://schemas.microsoft.com/office/drawing/2014/main" id="{0BFCFC93-4041-468A-A359-82FCC48121A4}"/>
              </a:ext>
            </a:extLst>
          </p:cNvPr>
          <p:cNvSpPr>
            <a:spLocks xmlns:a="http://schemas.openxmlformats.org/drawingml/2006/main" noGrp="1"/>
          </p:cNvSpPr>
          <p:nvPr/>
        </p:nvSpPr>
        <p:spPr>
          <a:xfrm xmlns:a="http://schemas.openxmlformats.org/drawingml/2006/main">
            <a:off x="3143250" y="5000625"/>
            <a:ext cx="847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28352B"/>
                </a:solidFill>
                <a:latin typeface="Pretendard"/>
                <a:ea typeface="Pretendard"/>
                <a:cs typeface="Pretendard"/>
              </a:defRPr>
            </a:defPPr>
            <a:lvl1pPr>
              <a:defRPr sz="1575" b="0">
                <a:solidFill>
                  <a:srgbClr val="28352B"/>
                </a:solidFill>
                <a:latin typeface="Pretendard"/>
                <a:ea typeface="Pretendard"/>
                <a:cs typeface="Pretendard"/>
              </a:defRPr>
            </a:lvl1pPr>
            <a:lvl2pPr>
              <a:defRPr sz="1575" b="0">
                <a:solidFill>
                  <a:srgbClr val="28352B"/>
                </a:solidFill>
                <a:latin typeface="Pretendard"/>
                <a:ea typeface="Pretendard"/>
                <a:cs typeface="Pretendard"/>
              </a:defRPr>
            </a:lvl2pPr>
            <a:lvl3pPr>
              <a:defRPr sz="1575" b="0">
                <a:solidFill>
                  <a:srgbClr val="28352B"/>
                </a:solidFill>
                <a:latin typeface="Pretendard"/>
                <a:ea typeface="Pretendard"/>
                <a:cs typeface="Pretendard"/>
              </a:defRPr>
            </a:lvl3pPr>
            <a:lvl4pPr>
              <a:defRPr sz="1575" b="0">
                <a:solidFill>
                  <a:srgbClr val="28352B"/>
                </a:solidFill>
                <a:latin typeface="Pretendard"/>
                <a:ea typeface="Pretendard"/>
                <a:cs typeface="Pretendard"/>
              </a:defRPr>
            </a:lvl4pPr>
            <a:lvl5pPr>
              <a:defRPr sz="1575" b="0">
                <a:solidFill>
                  <a:srgbClr val="28352B"/>
                </a:solidFill>
                <a:latin typeface="Pretendard"/>
                <a:ea typeface="Pretendard"/>
                <a:cs typeface="Pretendard"/>
              </a:defRPr>
            </a:lvl5pPr>
            <a:lvl6pPr>
              <a:defRPr sz="1575" b="0">
                <a:solidFill>
                  <a:srgbClr val="28352B"/>
                </a:solidFill>
                <a:latin typeface="Pretendard"/>
                <a:ea typeface="Pretendard"/>
                <a:cs typeface="Pretendard"/>
              </a:defRPr>
            </a:lvl6pPr>
            <a:lvl7pPr>
              <a:defRPr sz="1575" b="0">
                <a:solidFill>
                  <a:srgbClr val="28352B"/>
                </a:solidFill>
                <a:latin typeface="Pretendard"/>
                <a:ea typeface="Pretendard"/>
                <a:cs typeface="Pretendard"/>
              </a:defRPr>
            </a:lvl7pPr>
            <a:lvl8pPr>
              <a:defRPr sz="1575" b="0">
                <a:solidFill>
                  <a:srgbClr val="28352B"/>
                </a:solidFill>
                <a:latin typeface="Pretendard"/>
                <a:ea typeface="Pretendard"/>
                <a:cs typeface="Pretendard"/>
              </a:defRPr>
            </a:lvl8pPr>
            <a:lvl9pPr>
              <a:defRPr sz="1575" b="0">
                <a:solidFill>
                  <a:srgbClr val="28352B"/>
                </a:solidFill>
                <a:latin typeface="Pretendard"/>
                <a:ea typeface="Pretendard"/>
                <a:cs typeface="Pretendard"/>
              </a:defRPr>
            </a:lvl9pPr>
          </a:lstStyle>
          <a:p xmlns:a="http://schemas.openxmlformats.org/drawingml/2006/main">
            <a:pPr>
              <a:defRPr sz="1575" b="0">
                <a:solidFill>
                  <a:srgbClr val="28352B"/>
                </a:solidFill>
                <a:latin typeface="Pretendard"/>
                <a:ea typeface="Pretendard"/>
                <a:cs typeface="Pretendard"/>
              </a:defRPr>
            </a:pPr>
            <a:r>
              <a:rPr sz="1575" b="0">
                <a:solidFill>
                  <a:srgbClr val="28352B"/>
                </a:solidFill>
                <a:latin typeface="Pretendard"/>
                <a:ea typeface="Pretendard"/>
                <a:cs typeface="Pretendard"/>
              </a:rPr>
              <a:t>6. 임직원 인공지능(AI) 역량강화 교육 및 역량진단</a:t>
            </a:r>
          </a:p>
        </p:txBody>
      </p:sp>
      <p:sp>
        <p:nvSpPr>
          <p:cNvPr id="23" name="">
            <a:extLst xmlns:a="http://schemas.openxmlformats.org/drawingml/2006/main">
              <a:ext uri="{FF2B5EF4-FFF2-40B4-BE49-F238E27FC236}">
                <a16:creationId xmlns:a16="http://schemas.microsoft.com/office/drawing/2014/main" id="{D17867B7-6669-4E03-9044-173F05401341}"/>
              </a:ext>
            </a:extLst>
          </p:cNvPr>
          <p:cNvSpPr>
            <a:spLocks xmlns:a="http://schemas.openxmlformats.org/drawingml/2006/main" noGrp="1"/>
          </p:cNvSpPr>
          <p:nvPr/>
        </p:nvSpPr>
        <p:spPr>
          <a:xfrm xmlns:a="http://schemas.openxmlformats.org/drawingml/2006/main">
            <a:off x="571500" y="5962650"/>
            <a:ext cx="1104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직제시행세칙 2026.06.30 / 참여·협업 역할은 적용 설계</a:t>
            </a:r>
          </a:p>
        </p:txBody>
      </p:sp>
    </p:spTree>
    <p:extLst>
      <p:ext uri="{BB962C8B-B14F-4D97-AF65-F5344CB8AC3E}">
        <p14:creationId xmlns:p14="http://schemas.microsoft.com/office/powerpoint/2010/main" val="1859590603"/>
      </p:ext>
    </p:extLst>
  </p:cSld>
</p:sld>
</file>

<file path=ppt/slides/slide165.xml><?xml version="1.0" encoding="utf-8"?>
<p:sld xmlns:p="http://schemas.openxmlformats.org/presentationml/2006/main">
  <p:cSld>
    <p:bg>
      <p:bgPr>
        <a:solidFill xmlns:a="http://schemas.openxmlformats.org/drawingml/2006/main">
          <a:srgbClr val="FAFBF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34001A3A-2A75-4FCC-A009-7ACC51BB1B6C}"/>
              </a:ext>
            </a:extLst>
          </p:cNvPr>
          <p:cNvSpPr>
            <a:spLocks xmlns:a="http://schemas.openxmlformats.org/drawingml/2006/main" noGrp="1"/>
          </p:cNvSpPr>
          <p:nvPr/>
        </p:nvSpPr>
        <p:spPr>
          <a:xfrm xmlns:a="http://schemas.openxmlformats.org/drawingml/2006/main">
            <a:off x="571500" y="285750"/>
            <a:ext cx="1104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0">
                <a:solidFill>
                  <a:srgbClr val="687369"/>
                </a:solidFill>
                <a:latin typeface="Pretendard"/>
                <a:ea typeface="Pretendard"/>
                <a:cs typeface="Pretendard"/>
              </a:defRPr>
            </a:defPPr>
            <a:lvl1pPr>
              <a:defRPr sz="1275" b="0">
                <a:solidFill>
                  <a:srgbClr val="687369"/>
                </a:solidFill>
                <a:latin typeface="Pretendard"/>
                <a:ea typeface="Pretendard"/>
                <a:cs typeface="Pretendard"/>
              </a:defRPr>
            </a:lvl1pPr>
            <a:lvl2pPr>
              <a:defRPr sz="1275" b="0">
                <a:solidFill>
                  <a:srgbClr val="687369"/>
                </a:solidFill>
                <a:latin typeface="Pretendard"/>
                <a:ea typeface="Pretendard"/>
                <a:cs typeface="Pretendard"/>
              </a:defRPr>
            </a:lvl2pPr>
            <a:lvl3pPr>
              <a:defRPr sz="1275" b="0">
                <a:solidFill>
                  <a:srgbClr val="687369"/>
                </a:solidFill>
                <a:latin typeface="Pretendard"/>
                <a:ea typeface="Pretendard"/>
                <a:cs typeface="Pretendard"/>
              </a:defRPr>
            </a:lvl3pPr>
            <a:lvl4pPr>
              <a:defRPr sz="1275" b="0">
                <a:solidFill>
                  <a:srgbClr val="687369"/>
                </a:solidFill>
                <a:latin typeface="Pretendard"/>
                <a:ea typeface="Pretendard"/>
                <a:cs typeface="Pretendard"/>
              </a:defRPr>
            </a:lvl4pPr>
            <a:lvl5pPr>
              <a:defRPr sz="1275" b="0">
                <a:solidFill>
                  <a:srgbClr val="687369"/>
                </a:solidFill>
                <a:latin typeface="Pretendard"/>
                <a:ea typeface="Pretendard"/>
                <a:cs typeface="Pretendard"/>
              </a:defRPr>
            </a:lvl5pPr>
            <a:lvl6pPr>
              <a:defRPr sz="1275" b="0">
                <a:solidFill>
                  <a:srgbClr val="687369"/>
                </a:solidFill>
                <a:latin typeface="Pretendard"/>
                <a:ea typeface="Pretendard"/>
                <a:cs typeface="Pretendard"/>
              </a:defRPr>
            </a:lvl6pPr>
            <a:lvl7pPr>
              <a:defRPr sz="1275" b="0">
                <a:solidFill>
                  <a:srgbClr val="687369"/>
                </a:solidFill>
                <a:latin typeface="Pretendard"/>
                <a:ea typeface="Pretendard"/>
                <a:cs typeface="Pretendard"/>
              </a:defRPr>
            </a:lvl7pPr>
            <a:lvl8pPr>
              <a:defRPr sz="1275" b="0">
                <a:solidFill>
                  <a:srgbClr val="687369"/>
                </a:solidFill>
                <a:latin typeface="Pretendard"/>
                <a:ea typeface="Pretendard"/>
                <a:cs typeface="Pretendard"/>
              </a:defRPr>
            </a:lvl8pPr>
            <a:lvl9pPr>
              <a:defRPr sz="1275" b="0">
                <a:solidFill>
                  <a:srgbClr val="687369"/>
                </a:solidFill>
                <a:latin typeface="Pretendard"/>
                <a:ea typeface="Pretendard"/>
                <a:cs typeface="Pretendard"/>
              </a:defRPr>
            </a:lvl9pPr>
          </a:lstStyle>
          <a:p xmlns:a="http://schemas.openxmlformats.org/drawingml/2006/main">
            <a:pPr>
              <a:defRPr sz="1275" b="0">
                <a:solidFill>
                  <a:srgbClr val="687369"/>
                </a:solidFill>
                <a:latin typeface="Pretendard"/>
                <a:ea typeface="Pretendard"/>
                <a:cs typeface="Pretendard"/>
              </a:defRPr>
            </a:pPr>
            <a:r>
              <a:rPr sz="1275" b="0">
                <a:solidFill>
                  <a:srgbClr val="687369"/>
                </a:solidFill>
                <a:latin typeface="Pretendard"/>
                <a:ea typeface="Pretendard"/>
                <a:cs typeface="Pretendard"/>
              </a:rPr>
              <a:t>ST-12 / CCK 재사용·추가 개발·검수·기대효과</a:t>
            </a:r>
          </a:p>
        </p:txBody>
      </p:sp>
      <p:sp>
        <p:nvSpPr>
          <p:cNvPr id="2" name="">
            <a:extLst xmlns:a="http://schemas.openxmlformats.org/drawingml/2006/main">
              <a:ext uri="{FF2B5EF4-FFF2-40B4-BE49-F238E27FC236}">
                <a16:creationId xmlns:a16="http://schemas.microsoft.com/office/drawing/2014/main" id="{7944D422-7E75-46AE-8B7A-F2C5889FF57C}"/>
              </a:ext>
            </a:extLst>
          </p:cNvPr>
          <p:cNvSpPr>
            <a:spLocks xmlns:a="http://schemas.openxmlformats.org/drawingml/2006/main" noGrp="1"/>
          </p:cNvSpPr>
          <p:nvPr/>
        </p:nvSpPr>
        <p:spPr>
          <a:xfrm xmlns:a="http://schemas.openxmlformats.org/drawingml/2006/main">
            <a:off x="571500" y="733425"/>
            <a:ext cx="11049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8352B"/>
                </a:solidFill>
                <a:latin typeface="Pretendard"/>
                <a:ea typeface="Pretendard"/>
                <a:cs typeface="Pretendard"/>
              </a:defRPr>
            </a:defPPr>
            <a:lvl1pPr>
              <a:defRPr sz="2700" b="1">
                <a:solidFill>
                  <a:srgbClr val="28352B"/>
                </a:solidFill>
                <a:latin typeface="Pretendard"/>
                <a:ea typeface="Pretendard"/>
                <a:cs typeface="Pretendard"/>
              </a:defRPr>
            </a:lvl1pPr>
            <a:lvl2pPr>
              <a:defRPr sz="2700" b="1">
                <a:solidFill>
                  <a:srgbClr val="28352B"/>
                </a:solidFill>
                <a:latin typeface="Pretendard"/>
                <a:ea typeface="Pretendard"/>
                <a:cs typeface="Pretendard"/>
              </a:defRPr>
            </a:lvl2pPr>
            <a:lvl3pPr>
              <a:defRPr sz="2700" b="1">
                <a:solidFill>
                  <a:srgbClr val="28352B"/>
                </a:solidFill>
                <a:latin typeface="Pretendard"/>
                <a:ea typeface="Pretendard"/>
                <a:cs typeface="Pretendard"/>
              </a:defRPr>
            </a:lvl3pPr>
            <a:lvl4pPr>
              <a:defRPr sz="2700" b="1">
                <a:solidFill>
                  <a:srgbClr val="28352B"/>
                </a:solidFill>
                <a:latin typeface="Pretendard"/>
                <a:ea typeface="Pretendard"/>
                <a:cs typeface="Pretendard"/>
              </a:defRPr>
            </a:lvl4pPr>
            <a:lvl5pPr>
              <a:defRPr sz="2700" b="1">
                <a:solidFill>
                  <a:srgbClr val="28352B"/>
                </a:solidFill>
                <a:latin typeface="Pretendard"/>
                <a:ea typeface="Pretendard"/>
                <a:cs typeface="Pretendard"/>
              </a:defRPr>
            </a:lvl5pPr>
            <a:lvl6pPr>
              <a:defRPr sz="2700" b="1">
                <a:solidFill>
                  <a:srgbClr val="28352B"/>
                </a:solidFill>
                <a:latin typeface="Pretendard"/>
                <a:ea typeface="Pretendard"/>
                <a:cs typeface="Pretendard"/>
              </a:defRPr>
            </a:lvl6pPr>
            <a:lvl7pPr>
              <a:defRPr sz="2700" b="1">
                <a:solidFill>
                  <a:srgbClr val="28352B"/>
                </a:solidFill>
                <a:latin typeface="Pretendard"/>
                <a:ea typeface="Pretendard"/>
                <a:cs typeface="Pretendard"/>
              </a:defRPr>
            </a:lvl7pPr>
            <a:lvl8pPr>
              <a:defRPr sz="2700" b="1">
                <a:solidFill>
                  <a:srgbClr val="28352B"/>
                </a:solidFill>
                <a:latin typeface="Pretendard"/>
                <a:ea typeface="Pretendard"/>
                <a:cs typeface="Pretendard"/>
              </a:defRPr>
            </a:lvl8pPr>
            <a:lvl9pPr>
              <a:defRPr sz="2700" b="1">
                <a:solidFill>
                  <a:srgbClr val="28352B"/>
                </a:solidFill>
                <a:latin typeface="Pretendard"/>
                <a:ea typeface="Pretendard"/>
                <a:cs typeface="Pretendard"/>
              </a:defRPr>
            </a:lvl9pPr>
          </a:lstStyle>
          <a:p xmlns:a="http://schemas.openxmlformats.org/drawingml/2006/main">
            <a:pPr>
              <a:defRPr sz="2700" b="1">
                <a:solidFill>
                  <a:srgbClr val="28352B"/>
                </a:solidFill>
                <a:latin typeface="Pretendard"/>
                <a:ea typeface="Pretendard"/>
                <a:cs typeface="Pretendard"/>
              </a:defRPr>
            </a:pPr>
            <a:r>
              <a:rPr sz="2700" b="1">
                <a:solidFill>
                  <a:srgbClr val="28352B"/>
                </a:solidFill>
                <a:latin typeface="Pretendard"/>
                <a:ea typeface="Pretendard"/>
                <a:cs typeface="Pretendard"/>
              </a:rPr>
              <a:t>조직 협업·참여·공정성 지원</a:t>
            </a:r>
          </a:p>
        </p:txBody>
      </p:sp>
      <p:sp>
        <p:nvSpPr>
          <p:cNvPr id="3" name="">
            <a:extLst xmlns:a="http://schemas.openxmlformats.org/drawingml/2006/main">
              <a:ext uri="{FF2B5EF4-FFF2-40B4-BE49-F238E27FC236}">
                <a16:creationId xmlns:a16="http://schemas.microsoft.com/office/drawing/2014/main" id="{FDEDE51E-5AFA-4435-8186-D3BC6F75AD15}"/>
              </a:ext>
            </a:extLst>
          </p:cNvPr>
          <p:cNvSpPr>
            <a:spLocks xmlns:a="http://schemas.openxmlformats.org/drawingml/2006/main" noGrp="1"/>
          </p:cNvSpPr>
          <p:nvPr/>
        </p:nvSpPr>
        <p:spPr>
          <a:xfrm xmlns:a="http://schemas.openxmlformats.org/drawingml/2006/main">
            <a:off x="571500" y="6191250"/>
            <a:ext cx="11049000" cy="9525"/>
          </a:xfrm>
          <a:prstGeom xmlns:a="http://schemas.openxmlformats.org/drawingml/2006/main" prst="rect">
            <a:avLst/>
          </a:prstGeom>
          <a:solidFill xmlns:a="http://schemas.openxmlformats.org/drawingml/2006/main">
            <a:srgbClr val="D4DDD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7C7A5CB-62CA-4C11-86B6-911B3F0AEED0}"/>
              </a:ext>
            </a:extLst>
          </p:cNvPr>
          <p:cNvSpPr>
            <a:spLocks xmlns:a="http://schemas.openxmlformats.org/drawingml/2006/main" noGrp="1"/>
          </p:cNvSpPr>
          <p:nvPr/>
        </p:nvSpPr>
        <p:spPr>
          <a:xfrm xmlns:a="http://schemas.openxmlformats.org/drawingml/2006/main">
            <a:off x="571500" y="6362700"/>
            <a:ext cx="9715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CCK / TS 2027  / 2026.10.19</a:t>
            </a:r>
          </a:p>
        </p:txBody>
      </p:sp>
      <p:sp>
        <p:nvSpPr>
          <p:cNvPr id="5" name="">
            <a:extLst xmlns:a="http://schemas.openxmlformats.org/drawingml/2006/main">
              <a:ext uri="{FF2B5EF4-FFF2-40B4-BE49-F238E27FC236}">
                <a16:creationId xmlns:a16="http://schemas.microsoft.com/office/drawing/2014/main" id="{A1EC5337-A226-49F1-AC62-5C24D9238583}"/>
              </a:ext>
            </a:extLst>
          </p:cNvPr>
          <p:cNvSpPr>
            <a:spLocks xmlns:a="http://schemas.openxmlformats.org/drawingml/2006/main" noGrp="1"/>
          </p:cNvSpPr>
          <p:nvPr/>
        </p:nvSpPr>
        <p:spPr>
          <a:xfrm xmlns:a="http://schemas.openxmlformats.org/drawingml/2006/main">
            <a:off x="11049000" y="6362700"/>
            <a:ext cx="571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87369"/>
                </a:solidFill>
                <a:latin typeface="Pretendard"/>
                <a:ea typeface="Pretendard"/>
                <a:cs typeface="Pretendard"/>
              </a:defRPr>
            </a:defPPr>
            <a:lvl1pPr>
              <a:defRPr sz="1125" b="0">
                <a:solidFill>
                  <a:srgbClr val="687369"/>
                </a:solidFill>
                <a:latin typeface="Pretendard"/>
                <a:ea typeface="Pretendard"/>
                <a:cs typeface="Pretendard"/>
              </a:defRPr>
            </a:lvl1pPr>
            <a:lvl2pPr>
              <a:defRPr sz="1125" b="0">
                <a:solidFill>
                  <a:srgbClr val="687369"/>
                </a:solidFill>
                <a:latin typeface="Pretendard"/>
                <a:ea typeface="Pretendard"/>
                <a:cs typeface="Pretendard"/>
              </a:defRPr>
            </a:lvl2pPr>
            <a:lvl3pPr>
              <a:defRPr sz="1125" b="0">
                <a:solidFill>
                  <a:srgbClr val="687369"/>
                </a:solidFill>
                <a:latin typeface="Pretendard"/>
                <a:ea typeface="Pretendard"/>
                <a:cs typeface="Pretendard"/>
              </a:defRPr>
            </a:lvl3pPr>
            <a:lvl4pPr>
              <a:defRPr sz="1125" b="0">
                <a:solidFill>
                  <a:srgbClr val="687369"/>
                </a:solidFill>
                <a:latin typeface="Pretendard"/>
                <a:ea typeface="Pretendard"/>
                <a:cs typeface="Pretendard"/>
              </a:defRPr>
            </a:lvl4pPr>
            <a:lvl5pPr>
              <a:defRPr sz="1125" b="0">
                <a:solidFill>
                  <a:srgbClr val="687369"/>
                </a:solidFill>
                <a:latin typeface="Pretendard"/>
                <a:ea typeface="Pretendard"/>
                <a:cs typeface="Pretendard"/>
              </a:defRPr>
            </a:lvl5pPr>
            <a:lvl6pPr>
              <a:defRPr sz="1125" b="0">
                <a:solidFill>
                  <a:srgbClr val="687369"/>
                </a:solidFill>
                <a:latin typeface="Pretendard"/>
                <a:ea typeface="Pretendard"/>
                <a:cs typeface="Pretendard"/>
              </a:defRPr>
            </a:lvl6pPr>
            <a:lvl7pPr>
              <a:defRPr sz="1125" b="0">
                <a:solidFill>
                  <a:srgbClr val="687369"/>
                </a:solidFill>
                <a:latin typeface="Pretendard"/>
                <a:ea typeface="Pretendard"/>
                <a:cs typeface="Pretendard"/>
              </a:defRPr>
            </a:lvl7pPr>
            <a:lvl8pPr>
              <a:defRPr sz="1125" b="0">
                <a:solidFill>
                  <a:srgbClr val="687369"/>
                </a:solidFill>
                <a:latin typeface="Pretendard"/>
                <a:ea typeface="Pretendard"/>
                <a:cs typeface="Pretendard"/>
              </a:defRPr>
            </a:lvl8pPr>
            <a:lvl9pPr>
              <a:defRPr sz="1125" b="0">
                <a:solidFill>
                  <a:srgbClr val="687369"/>
                </a:solidFill>
                <a:latin typeface="Pretendard"/>
                <a:ea typeface="Pretendard"/>
                <a:cs typeface="Pretendard"/>
              </a:defRPr>
            </a:lvl9pPr>
          </a:lstStyle>
          <a:p xmlns:a="http://schemas.openxmlformats.org/drawingml/2006/main">
            <a:pPr>
              <a:defRPr sz="1125" b="0">
                <a:solidFill>
                  <a:srgbClr val="687369"/>
                </a:solidFill>
                <a:latin typeface="Pretendard"/>
                <a:ea typeface="Pretendard"/>
                <a:cs typeface="Pretendard"/>
              </a:defRPr>
            </a:pPr>
            <a:r>
              <a:rPr sz="1125" b="0">
                <a:solidFill>
                  <a:srgbClr val="687369"/>
                </a:solidFill>
                <a:latin typeface="Pretendard"/>
                <a:ea typeface="Pretendard"/>
                <a:cs typeface="Pretendard"/>
              </a:rPr>
              <a:t>165</a:t>
            </a:r>
          </a:p>
        </p:txBody>
      </p:sp>
      <p:sp>
        <p:nvSpPr>
          <p:cNvPr id="6" name="">
            <a:extLst xmlns:a="http://schemas.openxmlformats.org/drawingml/2006/main">
              <a:ext uri="{FF2B5EF4-FFF2-40B4-BE49-F238E27FC236}">
                <a16:creationId xmlns:a16="http://schemas.microsoft.com/office/drawing/2014/main" id="{DE01E293-DE93-47E5-AC37-B5555F6EBA65}"/>
              </a:ext>
            </a:extLst>
          </p:cNvPr>
          <p:cNvSpPr>
            <a:spLocks xmlns:a="http://schemas.openxmlformats.org/drawingml/2006/main" noGrp="1"/>
          </p:cNvSpPr>
          <p:nvPr/>
        </p:nvSpPr>
        <p:spPr>
          <a:xfrm xmlns:a="http://schemas.openxmlformats.org/drawingml/2006/main">
            <a:off x="571500" y="17526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CCK 재사용 후보</a:t>
            </a:r>
          </a:p>
        </p:txBody>
      </p:sp>
      <p:sp>
        <p:nvSpPr>
          <p:cNvPr id="7" name="">
            <a:extLst xmlns:a="http://schemas.openxmlformats.org/drawingml/2006/main">
              <a:ext uri="{FF2B5EF4-FFF2-40B4-BE49-F238E27FC236}">
                <a16:creationId xmlns:a16="http://schemas.microsoft.com/office/drawing/2014/main" id="{3243BCF2-64D4-46CF-9159-EC62E755EDA2}"/>
              </a:ext>
            </a:extLst>
          </p:cNvPr>
          <p:cNvSpPr>
            <a:spLocks xmlns:a="http://schemas.openxmlformats.org/drawingml/2006/main" noGrp="1"/>
          </p:cNvSpPr>
          <p:nvPr/>
        </p:nvSpPr>
        <p:spPr>
          <a:xfrm xmlns:a="http://schemas.openxmlformats.org/drawingml/2006/main">
            <a:off x="571500" y="2105025"/>
            <a:ext cx="5238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NOA의 직무 지식 검색·요약</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Foundry·Torus의 인계 절차·기록 명세</a:t>
            </a:r>
          </a:p>
        </p:txBody>
      </p:sp>
      <p:sp>
        <p:nvSpPr>
          <p:cNvPr id="8" name="">
            <a:extLst xmlns:a="http://schemas.openxmlformats.org/drawingml/2006/main">
              <a:ext uri="{FF2B5EF4-FFF2-40B4-BE49-F238E27FC236}">
                <a16:creationId xmlns:a16="http://schemas.microsoft.com/office/drawing/2014/main" id="{330630B2-BF0A-4E01-BB98-E2529DE9A1E0}"/>
              </a:ext>
            </a:extLst>
          </p:cNvPr>
          <p:cNvSpPr>
            <a:spLocks xmlns:a="http://schemas.openxmlformats.org/drawingml/2006/main" noGrp="1"/>
          </p:cNvSpPr>
          <p:nvPr/>
        </p:nvSpPr>
        <p:spPr>
          <a:xfrm xmlns:a="http://schemas.openxmlformats.org/drawingml/2006/main">
            <a:off x="571500" y="3209925"/>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추가 개발</a:t>
            </a:r>
          </a:p>
        </p:txBody>
      </p:sp>
      <p:sp>
        <p:nvSpPr>
          <p:cNvPr id="9" name="">
            <a:extLst xmlns:a="http://schemas.openxmlformats.org/drawingml/2006/main">
              <a:ext uri="{FF2B5EF4-FFF2-40B4-BE49-F238E27FC236}">
                <a16:creationId xmlns:a16="http://schemas.microsoft.com/office/drawing/2014/main" id="{09D55581-48E4-40EF-93E8-BEBF64A56564}"/>
              </a:ext>
            </a:extLst>
          </p:cNvPr>
          <p:cNvSpPr>
            <a:spLocks xmlns:a="http://schemas.openxmlformats.org/drawingml/2006/main" noGrp="1"/>
          </p:cNvSpPr>
          <p:nvPr/>
        </p:nvSpPr>
        <p:spPr>
          <a:xfrm xmlns:a="http://schemas.openxmlformats.org/drawingml/2006/main">
            <a:off x="571500" y="3562350"/>
            <a:ext cx="5238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겸직·대행·전보별 인계 규칙</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민감 의견 분리·수락/회수 추적</a:t>
            </a:r>
          </a:p>
        </p:txBody>
      </p:sp>
      <p:sp>
        <p:nvSpPr>
          <p:cNvPr id="10" name="">
            <a:extLst xmlns:a="http://schemas.openxmlformats.org/drawingml/2006/main">
              <a:ext uri="{FF2B5EF4-FFF2-40B4-BE49-F238E27FC236}">
                <a16:creationId xmlns:a16="http://schemas.microsoft.com/office/drawing/2014/main" id="{4282C6B7-5D98-4791-9F78-91824035CAA0}"/>
              </a:ext>
            </a:extLst>
          </p:cNvPr>
          <p:cNvSpPr>
            <a:spLocks xmlns:a="http://schemas.openxmlformats.org/drawingml/2006/main" noGrp="1"/>
          </p:cNvSpPr>
          <p:nvPr/>
        </p:nvSpPr>
        <p:spPr>
          <a:xfrm xmlns:a="http://schemas.openxmlformats.org/drawingml/2006/main">
            <a:off x="571500" y="4572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기대효과</a:t>
            </a:r>
          </a:p>
        </p:txBody>
      </p:sp>
      <p:sp>
        <p:nvSpPr>
          <p:cNvPr id="11" name="">
            <a:extLst xmlns:a="http://schemas.openxmlformats.org/drawingml/2006/main">
              <a:ext uri="{FF2B5EF4-FFF2-40B4-BE49-F238E27FC236}">
                <a16:creationId xmlns:a16="http://schemas.microsoft.com/office/drawing/2014/main" id="{C7BE398D-7F58-486F-B4B8-D10A7751EAC4}"/>
              </a:ext>
            </a:extLst>
          </p:cNvPr>
          <p:cNvSpPr>
            <a:spLocks xmlns:a="http://schemas.openxmlformats.org/drawingml/2006/main" noGrp="1"/>
          </p:cNvSpPr>
          <p:nvPr/>
        </p:nvSpPr>
        <p:spPr>
          <a:xfrm xmlns:a="http://schemas.openxmlformats.org/drawingml/2006/main">
            <a:off x="571500" y="4924425"/>
            <a:ext cx="5238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인계 누락·담당자 탐색시간 감소</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인계 수락까지 소요시간 / 누락 업무 수 ÷ 대상 업무 수 </a:t>
            </a:r>
          </a:p>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 부서별 오류율 차이</a:t>
            </a:r>
          </a:p>
        </p:txBody>
      </p:sp>
      <p:sp>
        <p:nvSpPr>
          <p:cNvPr id="12" name="">
            <a:extLst xmlns:a="http://schemas.openxmlformats.org/drawingml/2006/main">
              <a:ext uri="{FF2B5EF4-FFF2-40B4-BE49-F238E27FC236}">
                <a16:creationId xmlns:a16="http://schemas.microsoft.com/office/drawing/2014/main" id="{7FD7C18D-C285-4DCC-91F4-4CB8EE692F9F}"/>
              </a:ext>
            </a:extLst>
          </p:cNvPr>
          <p:cNvSpPr>
            <a:spLocks xmlns:a="http://schemas.openxmlformats.org/drawingml/2006/main" noGrp="1"/>
          </p:cNvSpPr>
          <p:nvPr/>
        </p:nvSpPr>
        <p:spPr>
          <a:xfrm xmlns:a="http://schemas.openxmlformats.org/drawingml/2006/main">
            <a:off x="6334125" y="17526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검수 입력</a:t>
            </a:r>
          </a:p>
        </p:txBody>
      </p:sp>
      <p:sp>
        <p:nvSpPr>
          <p:cNvPr id="13" name="">
            <a:extLst xmlns:a="http://schemas.openxmlformats.org/drawingml/2006/main">
              <a:ext uri="{FF2B5EF4-FFF2-40B4-BE49-F238E27FC236}">
                <a16:creationId xmlns:a16="http://schemas.microsoft.com/office/drawing/2014/main" id="{C28F56C4-888B-416E-AAE9-F1BBD6D09BB6}"/>
              </a:ext>
            </a:extLst>
          </p:cNvPr>
          <p:cNvSpPr>
            <a:spLocks xmlns:a="http://schemas.openxmlformats.org/drawingml/2006/main" noGrp="1"/>
          </p:cNvSpPr>
          <p:nvPr/>
        </p:nvSpPr>
        <p:spPr>
          <a:xfrm xmlns:a="http://schemas.openxmlformats.org/drawingml/2006/main">
            <a:off x="6334125" y="2105025"/>
            <a:ext cx="5286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전보 당일, 기간 만료 대행, 민감 의견, 미수락 인계</a:t>
            </a:r>
          </a:p>
        </p:txBody>
      </p:sp>
      <p:sp>
        <p:nvSpPr>
          <p:cNvPr id="14" name="">
            <a:extLst xmlns:a="http://schemas.openxmlformats.org/drawingml/2006/main">
              <a:ext uri="{FF2B5EF4-FFF2-40B4-BE49-F238E27FC236}">
                <a16:creationId xmlns:a16="http://schemas.microsoft.com/office/drawing/2014/main" id="{A0BA4D56-FD1A-44B3-960E-436CB5834A2A}"/>
              </a:ext>
            </a:extLst>
          </p:cNvPr>
          <p:cNvSpPr>
            <a:spLocks xmlns:a="http://schemas.openxmlformats.org/drawingml/2006/main" noGrp="1"/>
          </p:cNvSpPr>
          <p:nvPr/>
        </p:nvSpPr>
        <p:spPr>
          <a:xfrm xmlns:a="http://schemas.openxmlformats.org/drawingml/2006/main">
            <a:off x="6334125" y="2924175"/>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판정 기준</a:t>
            </a:r>
          </a:p>
        </p:txBody>
      </p:sp>
      <p:sp>
        <p:nvSpPr>
          <p:cNvPr id="15" name="">
            <a:extLst xmlns:a="http://schemas.openxmlformats.org/drawingml/2006/main">
              <a:ext uri="{FF2B5EF4-FFF2-40B4-BE49-F238E27FC236}">
                <a16:creationId xmlns:a16="http://schemas.microsoft.com/office/drawing/2014/main" id="{A5782C91-50DB-40E9-B0FF-C81EE5B64974}"/>
              </a:ext>
            </a:extLst>
          </p:cNvPr>
          <p:cNvSpPr>
            <a:spLocks xmlns:a="http://schemas.openxmlformats.org/drawingml/2006/main" noGrp="1"/>
          </p:cNvSpPr>
          <p:nvPr/>
        </p:nvSpPr>
        <p:spPr>
          <a:xfrm xmlns:a="http://schemas.openxmlformats.org/drawingml/2006/main">
            <a:off x="6334125" y="3276600"/>
            <a:ext cx="5286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8352B"/>
                </a:solidFill>
                <a:latin typeface="Pretendard"/>
                <a:ea typeface="Pretendard"/>
                <a:cs typeface="Pretendard"/>
              </a:defRPr>
            </a:defPPr>
            <a:lvl1pPr>
              <a:defRPr sz="1725" b="0">
                <a:solidFill>
                  <a:srgbClr val="28352B"/>
                </a:solidFill>
                <a:latin typeface="Pretendard"/>
                <a:ea typeface="Pretendard"/>
                <a:cs typeface="Pretendard"/>
              </a:defRPr>
            </a:lvl1pPr>
            <a:lvl2pPr>
              <a:defRPr sz="1725" b="0">
                <a:solidFill>
                  <a:srgbClr val="28352B"/>
                </a:solidFill>
                <a:latin typeface="Pretendard"/>
                <a:ea typeface="Pretendard"/>
                <a:cs typeface="Pretendard"/>
              </a:defRPr>
            </a:lvl2pPr>
            <a:lvl3pPr>
              <a:defRPr sz="1725" b="0">
                <a:solidFill>
                  <a:srgbClr val="28352B"/>
                </a:solidFill>
                <a:latin typeface="Pretendard"/>
                <a:ea typeface="Pretendard"/>
                <a:cs typeface="Pretendard"/>
              </a:defRPr>
            </a:lvl3pPr>
            <a:lvl4pPr>
              <a:defRPr sz="1725" b="0">
                <a:solidFill>
                  <a:srgbClr val="28352B"/>
                </a:solidFill>
                <a:latin typeface="Pretendard"/>
                <a:ea typeface="Pretendard"/>
                <a:cs typeface="Pretendard"/>
              </a:defRPr>
            </a:lvl4pPr>
            <a:lvl5pPr>
              <a:defRPr sz="1725" b="0">
                <a:solidFill>
                  <a:srgbClr val="28352B"/>
                </a:solidFill>
                <a:latin typeface="Pretendard"/>
                <a:ea typeface="Pretendard"/>
                <a:cs typeface="Pretendard"/>
              </a:defRPr>
            </a:lvl5pPr>
            <a:lvl6pPr>
              <a:defRPr sz="1725" b="0">
                <a:solidFill>
                  <a:srgbClr val="28352B"/>
                </a:solidFill>
                <a:latin typeface="Pretendard"/>
                <a:ea typeface="Pretendard"/>
                <a:cs typeface="Pretendard"/>
              </a:defRPr>
            </a:lvl6pPr>
            <a:lvl7pPr>
              <a:defRPr sz="1725" b="0">
                <a:solidFill>
                  <a:srgbClr val="28352B"/>
                </a:solidFill>
                <a:latin typeface="Pretendard"/>
                <a:ea typeface="Pretendard"/>
                <a:cs typeface="Pretendard"/>
              </a:defRPr>
            </a:lvl7pPr>
            <a:lvl8pPr>
              <a:defRPr sz="1725" b="0">
                <a:solidFill>
                  <a:srgbClr val="28352B"/>
                </a:solidFill>
                <a:latin typeface="Pretendard"/>
                <a:ea typeface="Pretendard"/>
                <a:cs typeface="Pretendard"/>
              </a:defRPr>
            </a:lvl8pPr>
            <a:lvl9pPr>
              <a:defRPr sz="1725" b="0">
                <a:solidFill>
                  <a:srgbClr val="28352B"/>
                </a:solidFill>
                <a:latin typeface="Pretendard"/>
                <a:ea typeface="Pretendard"/>
                <a:cs typeface="Pretendard"/>
              </a:defRPr>
            </a:lvl9pPr>
          </a:lstStyle>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전임 접근 회수·겸직 맥락 확인·의견 비노출·미수락 </a:t>
            </a:r>
          </a:p>
          <a:p xmlns:a="http://schemas.openxmlformats.org/drawingml/2006/main">
            <a:pPr>
              <a:defRPr sz="1725" b="0">
                <a:solidFill>
                  <a:srgbClr val="28352B"/>
                </a:solidFill>
                <a:latin typeface="Pretendard"/>
                <a:ea typeface="Pretendard"/>
                <a:cs typeface="Pretendard"/>
              </a:defRPr>
            </a:pPr>
            <a:r>
              <a:rPr sz="1725" b="0">
                <a:solidFill>
                  <a:srgbClr val="28352B"/>
                </a:solidFill>
                <a:latin typeface="Pretendard"/>
                <a:ea typeface="Pretendard"/>
                <a:cs typeface="Pretendard"/>
              </a:rPr>
              <a:t>유지</a:t>
            </a:r>
          </a:p>
        </p:txBody>
      </p:sp>
      <p:sp>
        <p:nvSpPr>
          <p:cNvPr id="16" name="">
            <a:extLst xmlns:a="http://schemas.openxmlformats.org/drawingml/2006/main">
              <a:ext uri="{FF2B5EF4-FFF2-40B4-BE49-F238E27FC236}">
                <a16:creationId xmlns:a16="http://schemas.microsoft.com/office/drawing/2014/main" id="{3B3D1EB7-1BA2-4660-B567-ACA53FF0E2F9}"/>
              </a:ext>
            </a:extLst>
          </p:cNvPr>
          <p:cNvSpPr>
            <a:spLocks xmlns:a="http://schemas.openxmlformats.org/drawingml/2006/main" noGrp="1"/>
          </p:cNvSpPr>
          <p:nvPr/>
        </p:nvSpPr>
        <p:spPr>
          <a:xfrm xmlns:a="http://schemas.openxmlformats.org/drawingml/2006/main">
            <a:off x="6334125" y="424815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1">
                <a:solidFill>
                  <a:srgbClr val="42634B"/>
                </a:solidFill>
                <a:latin typeface="Pretendard"/>
                <a:ea typeface="Pretendard"/>
                <a:cs typeface="Pretendard"/>
              </a:defRPr>
            </a:defPPr>
            <a:lvl1pPr>
              <a:defRPr sz="1575" b="1">
                <a:solidFill>
                  <a:srgbClr val="42634B"/>
                </a:solidFill>
                <a:latin typeface="Pretendard"/>
                <a:ea typeface="Pretendard"/>
                <a:cs typeface="Pretendard"/>
              </a:defRPr>
            </a:lvl1pPr>
            <a:lvl2pPr>
              <a:defRPr sz="1575" b="1">
                <a:solidFill>
                  <a:srgbClr val="42634B"/>
                </a:solidFill>
                <a:latin typeface="Pretendard"/>
                <a:ea typeface="Pretendard"/>
                <a:cs typeface="Pretendard"/>
              </a:defRPr>
            </a:lvl2pPr>
            <a:lvl3pPr>
              <a:defRPr sz="1575" b="1">
                <a:solidFill>
                  <a:srgbClr val="42634B"/>
                </a:solidFill>
                <a:latin typeface="Pretendard"/>
                <a:ea typeface="Pretendard"/>
                <a:cs typeface="Pretendard"/>
              </a:defRPr>
            </a:lvl3pPr>
            <a:lvl4pPr>
              <a:defRPr sz="1575" b="1">
                <a:solidFill>
                  <a:srgbClr val="42634B"/>
                </a:solidFill>
                <a:latin typeface="Pretendard"/>
                <a:ea typeface="Pretendard"/>
                <a:cs typeface="Pretendard"/>
              </a:defRPr>
            </a:lvl4pPr>
            <a:lvl5pPr>
              <a:defRPr sz="1575" b="1">
                <a:solidFill>
                  <a:srgbClr val="42634B"/>
                </a:solidFill>
                <a:latin typeface="Pretendard"/>
                <a:ea typeface="Pretendard"/>
                <a:cs typeface="Pretendard"/>
              </a:defRPr>
            </a:lvl5pPr>
            <a:lvl6pPr>
              <a:defRPr sz="1575" b="1">
                <a:solidFill>
                  <a:srgbClr val="42634B"/>
                </a:solidFill>
                <a:latin typeface="Pretendard"/>
                <a:ea typeface="Pretendard"/>
                <a:cs typeface="Pretendard"/>
              </a:defRPr>
            </a:lvl6pPr>
            <a:lvl7pPr>
              <a:defRPr sz="1575" b="1">
                <a:solidFill>
                  <a:srgbClr val="42634B"/>
                </a:solidFill>
                <a:latin typeface="Pretendard"/>
                <a:ea typeface="Pretendard"/>
                <a:cs typeface="Pretendard"/>
              </a:defRPr>
            </a:lvl7pPr>
            <a:lvl8pPr>
              <a:defRPr sz="1575" b="1">
                <a:solidFill>
                  <a:srgbClr val="42634B"/>
                </a:solidFill>
                <a:latin typeface="Pretendard"/>
                <a:ea typeface="Pretendard"/>
                <a:cs typeface="Pretendard"/>
              </a:defRPr>
            </a:lvl8pPr>
            <a:lvl9pPr>
              <a:defRPr sz="1575" b="1">
                <a:solidFill>
                  <a:srgbClr val="42634B"/>
                </a:solidFill>
                <a:latin typeface="Pretendard"/>
                <a:ea typeface="Pretendard"/>
                <a:cs typeface="Pretendard"/>
              </a:defRPr>
            </a:lvl9pPr>
          </a:lstStyle>
          <a:p xmlns:a="http://schemas.openxmlformats.org/drawingml/2006/main">
            <a:pPr>
              <a:defRPr sz="1575" b="1">
                <a:solidFill>
                  <a:srgbClr val="42634B"/>
                </a:solidFill>
                <a:latin typeface="Pretendard"/>
                <a:ea typeface="Pretendard"/>
                <a:cs typeface="Pretendard"/>
              </a:defRPr>
            </a:pPr>
            <a:r>
              <a:rPr sz="1575" b="1">
                <a:solidFill>
                  <a:srgbClr val="42634B"/>
                </a:solidFill>
                <a:latin typeface="Pretendard"/>
                <a:ea typeface="Pretendard"/>
                <a:cs typeface="Pretendard"/>
              </a:rPr>
              <a:t>제출 증빙</a:t>
            </a:r>
          </a:p>
        </p:txBody>
      </p:sp>
      <p:sp>
        <p:nvSpPr>
          <p:cNvPr id="17" name="">
            <a:extLst xmlns:a="http://schemas.openxmlformats.org/drawingml/2006/main">
              <a:ext uri="{FF2B5EF4-FFF2-40B4-BE49-F238E27FC236}">
                <a16:creationId xmlns:a16="http://schemas.microsoft.com/office/drawing/2014/main" id="{236483DE-97ED-4177-8DB3-F4943E185B31}"/>
              </a:ext>
            </a:extLst>
          </p:cNvPr>
          <p:cNvSpPr>
            <a:spLocks xmlns:a="http://schemas.openxmlformats.org/drawingml/2006/main" noGrp="1"/>
          </p:cNvSpPr>
          <p:nvPr/>
        </p:nvSpPr>
        <p:spPr>
          <a:xfrm xmlns:a="http://schemas.openxmlformats.org/drawingml/2006/main">
            <a:off x="6334125" y="460057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28352B"/>
                </a:solidFill>
                <a:latin typeface="Pretendard"/>
                <a:ea typeface="Pretendard"/>
                <a:cs typeface="Pretendard"/>
              </a:defRPr>
            </a:defPPr>
            <a:lvl1pPr>
              <a:defRPr sz="1650" b="0">
                <a:solidFill>
                  <a:srgbClr val="28352B"/>
                </a:solidFill>
                <a:latin typeface="Pretendard"/>
                <a:ea typeface="Pretendard"/>
                <a:cs typeface="Pretendard"/>
              </a:defRPr>
            </a:lvl1pPr>
            <a:lvl2pPr>
              <a:defRPr sz="1650" b="0">
                <a:solidFill>
                  <a:srgbClr val="28352B"/>
                </a:solidFill>
                <a:latin typeface="Pretendard"/>
                <a:ea typeface="Pretendard"/>
                <a:cs typeface="Pretendard"/>
              </a:defRPr>
            </a:lvl2pPr>
            <a:lvl3pPr>
              <a:defRPr sz="1650" b="0">
                <a:solidFill>
                  <a:srgbClr val="28352B"/>
                </a:solidFill>
                <a:latin typeface="Pretendard"/>
                <a:ea typeface="Pretendard"/>
                <a:cs typeface="Pretendard"/>
              </a:defRPr>
            </a:lvl3pPr>
            <a:lvl4pPr>
              <a:defRPr sz="1650" b="0">
                <a:solidFill>
                  <a:srgbClr val="28352B"/>
                </a:solidFill>
                <a:latin typeface="Pretendard"/>
                <a:ea typeface="Pretendard"/>
                <a:cs typeface="Pretendard"/>
              </a:defRPr>
            </a:lvl4pPr>
            <a:lvl5pPr>
              <a:defRPr sz="1650" b="0">
                <a:solidFill>
                  <a:srgbClr val="28352B"/>
                </a:solidFill>
                <a:latin typeface="Pretendard"/>
                <a:ea typeface="Pretendard"/>
                <a:cs typeface="Pretendard"/>
              </a:defRPr>
            </a:lvl5pPr>
            <a:lvl6pPr>
              <a:defRPr sz="1650" b="0">
                <a:solidFill>
                  <a:srgbClr val="28352B"/>
                </a:solidFill>
                <a:latin typeface="Pretendard"/>
                <a:ea typeface="Pretendard"/>
                <a:cs typeface="Pretendard"/>
              </a:defRPr>
            </a:lvl6pPr>
            <a:lvl7pPr>
              <a:defRPr sz="1650" b="0">
                <a:solidFill>
                  <a:srgbClr val="28352B"/>
                </a:solidFill>
                <a:latin typeface="Pretendard"/>
                <a:ea typeface="Pretendard"/>
                <a:cs typeface="Pretendard"/>
              </a:defRPr>
            </a:lvl7pPr>
            <a:lvl8pPr>
              <a:defRPr sz="1650" b="0">
                <a:solidFill>
                  <a:srgbClr val="28352B"/>
                </a:solidFill>
                <a:latin typeface="Pretendard"/>
                <a:ea typeface="Pretendard"/>
                <a:cs typeface="Pretendard"/>
              </a:defRPr>
            </a:lvl8pPr>
            <a:lvl9pPr>
              <a:defRPr sz="1650" b="0">
                <a:solidFill>
                  <a:srgbClr val="28352B"/>
                </a:solidFill>
                <a:latin typeface="Pretendard"/>
                <a:ea typeface="Pretendard"/>
                <a:cs typeface="Pretendard"/>
              </a:defRPr>
            </a:lvl9pPr>
          </a:lstStyle>
          <a:p xmlns:a="http://schemas.openxmlformats.org/drawingml/2006/main">
            <a:pPr>
              <a:defRPr sz="1650" b="0">
                <a:solidFill>
                  <a:srgbClr val="28352B"/>
                </a:solidFill>
                <a:latin typeface="Pretendard"/>
                <a:ea typeface="Pretendard"/>
                <a:cs typeface="Pretendard"/>
              </a:defRPr>
            </a:pPr>
            <a:r>
              <a:rPr sz="1650" b="0">
                <a:solidFill>
                  <a:srgbClr val="28352B"/>
                </a:solidFill>
                <a:latin typeface="Pretendard"/>
                <a:ea typeface="Pretendard"/>
                <a:cs typeface="Pretendard"/>
              </a:rPr>
              <a:t>변경 전후 권한표·인계 수락 기록·거부셋 결과</a:t>
            </a:r>
          </a:p>
        </p:txBody>
      </p:sp>
      <p:sp>
        <p:nvSpPr>
          <p:cNvPr id="18" name="">
            <a:extLst xmlns:a="http://schemas.openxmlformats.org/drawingml/2006/main">
              <a:ext uri="{FF2B5EF4-FFF2-40B4-BE49-F238E27FC236}">
                <a16:creationId xmlns:a16="http://schemas.microsoft.com/office/drawing/2014/main" id="{AC38E38C-3962-4C12-85DD-4E943B4CACBF}"/>
              </a:ext>
            </a:extLst>
          </p:cNvPr>
          <p:cNvSpPr>
            <a:spLocks xmlns:a="http://schemas.openxmlformats.org/drawingml/2006/main" noGrp="1"/>
          </p:cNvSpPr>
          <p:nvPr/>
        </p:nvSpPr>
        <p:spPr>
          <a:xfrm xmlns:a="http://schemas.openxmlformats.org/drawingml/2006/main">
            <a:off x="6334125" y="5448300"/>
            <a:ext cx="5286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1">
                <a:solidFill>
                  <a:srgbClr val="42634B"/>
                </a:solidFill>
                <a:latin typeface="Pretendard"/>
                <a:ea typeface="Pretendard"/>
                <a:cs typeface="Pretendard"/>
              </a:defRPr>
            </a:defPPr>
            <a:lvl1pPr>
              <a:defRPr sz="1425" b="1">
                <a:solidFill>
                  <a:srgbClr val="42634B"/>
                </a:solidFill>
                <a:latin typeface="Pretendard"/>
                <a:ea typeface="Pretendard"/>
                <a:cs typeface="Pretendard"/>
              </a:defRPr>
            </a:lvl1pPr>
            <a:lvl2pPr>
              <a:defRPr sz="1425" b="1">
                <a:solidFill>
                  <a:srgbClr val="42634B"/>
                </a:solidFill>
                <a:latin typeface="Pretendard"/>
                <a:ea typeface="Pretendard"/>
                <a:cs typeface="Pretendard"/>
              </a:defRPr>
            </a:lvl2pPr>
            <a:lvl3pPr>
              <a:defRPr sz="1425" b="1">
                <a:solidFill>
                  <a:srgbClr val="42634B"/>
                </a:solidFill>
                <a:latin typeface="Pretendard"/>
                <a:ea typeface="Pretendard"/>
                <a:cs typeface="Pretendard"/>
              </a:defRPr>
            </a:lvl3pPr>
            <a:lvl4pPr>
              <a:defRPr sz="1425" b="1">
                <a:solidFill>
                  <a:srgbClr val="42634B"/>
                </a:solidFill>
                <a:latin typeface="Pretendard"/>
                <a:ea typeface="Pretendard"/>
                <a:cs typeface="Pretendard"/>
              </a:defRPr>
            </a:lvl4pPr>
            <a:lvl5pPr>
              <a:defRPr sz="1425" b="1">
                <a:solidFill>
                  <a:srgbClr val="42634B"/>
                </a:solidFill>
                <a:latin typeface="Pretendard"/>
                <a:ea typeface="Pretendard"/>
                <a:cs typeface="Pretendard"/>
              </a:defRPr>
            </a:lvl5pPr>
            <a:lvl6pPr>
              <a:defRPr sz="1425" b="1">
                <a:solidFill>
                  <a:srgbClr val="42634B"/>
                </a:solidFill>
                <a:latin typeface="Pretendard"/>
                <a:ea typeface="Pretendard"/>
                <a:cs typeface="Pretendard"/>
              </a:defRPr>
            </a:lvl6pPr>
            <a:lvl7pPr>
              <a:defRPr sz="1425" b="1">
                <a:solidFill>
                  <a:srgbClr val="42634B"/>
                </a:solidFill>
                <a:latin typeface="Pretendard"/>
                <a:ea typeface="Pretendard"/>
                <a:cs typeface="Pretendard"/>
              </a:defRPr>
            </a:lvl7pPr>
            <a:lvl8pPr>
              <a:defRPr sz="1425" b="1">
                <a:solidFill>
                  <a:srgbClr val="42634B"/>
                </a:solidFill>
                <a:latin typeface="Pretendard"/>
                <a:ea typeface="Pretendard"/>
                <a:cs typeface="Pretendard"/>
              </a:defRPr>
            </a:lvl8pPr>
            <a:lvl9pPr>
              <a:defRPr sz="1425" b="1">
                <a:solidFill>
                  <a:srgbClr val="42634B"/>
                </a:solidFill>
                <a:latin typeface="Pretendard"/>
                <a:ea typeface="Pretendard"/>
                <a:cs typeface="Pretendard"/>
              </a:defRPr>
            </a:lvl9pPr>
          </a:lstStyle>
          <a:p xmlns:a="http://schemas.openxmlformats.org/drawingml/2006/main">
            <a:pPr>
              <a:defRPr sz="1425" b="1">
                <a:solidFill>
                  <a:srgbClr val="42634B"/>
                </a:solidFill>
                <a:latin typeface="Pretendard"/>
                <a:ea typeface="Pretendard"/>
                <a:cs typeface="Pretendard"/>
              </a:defRPr>
            </a:pPr>
            <a:r>
              <a:rPr sz="1425" b="1">
                <a:solidFill>
                  <a:srgbClr val="42634B"/>
                </a:solidFill>
                <a:latin typeface="Pretendard"/>
                <a:ea typeface="Pretendard"/>
                <a:cs typeface="Pretendard"/>
              </a:rPr>
              <a:t>BM-ST-12-R01 / BM-ST-12-T01</a:t>
            </a:r>
          </a:p>
        </p:txBody>
      </p:sp>
      <p:sp>
        <p:nvSpPr>
          <p:cNvPr id="19" name="">
            <a:extLst xmlns:a="http://schemas.openxmlformats.org/drawingml/2006/main">
              <a:ext uri="{FF2B5EF4-FFF2-40B4-BE49-F238E27FC236}">
                <a16:creationId xmlns:a16="http://schemas.microsoft.com/office/drawing/2014/main" id="{F3CA2611-52B7-4805-A604-008233257ADA}"/>
              </a:ext>
            </a:extLst>
          </p:cNvPr>
          <p:cNvSpPr>
            <a:spLocks xmlns:a="http://schemas.openxmlformats.org/drawingml/2006/main" noGrp="1"/>
          </p:cNvSpPr>
          <p:nvPr/>
        </p:nvSpPr>
        <p:spPr>
          <a:xfrm xmlns:a="http://schemas.openxmlformats.org/drawingml/2006/main">
            <a:off x="6334125" y="5810250"/>
            <a:ext cx="5286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87369"/>
                </a:solidFill>
                <a:latin typeface="Pretendard"/>
                <a:ea typeface="Pretendard"/>
                <a:cs typeface="Pretendard"/>
              </a:defRPr>
            </a:defPPr>
            <a:lvl1pPr>
              <a:defRPr sz="1200" b="0">
                <a:solidFill>
                  <a:srgbClr val="687369"/>
                </a:solidFill>
                <a:latin typeface="Pretendard"/>
                <a:ea typeface="Pretendard"/>
                <a:cs typeface="Pretendard"/>
              </a:defRPr>
            </a:lvl1pPr>
            <a:lvl2pPr>
              <a:defRPr sz="1200" b="0">
                <a:solidFill>
                  <a:srgbClr val="687369"/>
                </a:solidFill>
                <a:latin typeface="Pretendard"/>
                <a:ea typeface="Pretendard"/>
                <a:cs typeface="Pretendard"/>
              </a:defRPr>
            </a:lvl2pPr>
            <a:lvl3pPr>
              <a:defRPr sz="1200" b="0">
                <a:solidFill>
                  <a:srgbClr val="687369"/>
                </a:solidFill>
                <a:latin typeface="Pretendard"/>
                <a:ea typeface="Pretendard"/>
                <a:cs typeface="Pretendard"/>
              </a:defRPr>
            </a:lvl3pPr>
            <a:lvl4pPr>
              <a:defRPr sz="1200" b="0">
                <a:solidFill>
                  <a:srgbClr val="687369"/>
                </a:solidFill>
                <a:latin typeface="Pretendard"/>
                <a:ea typeface="Pretendard"/>
                <a:cs typeface="Pretendard"/>
              </a:defRPr>
            </a:lvl4pPr>
            <a:lvl5pPr>
              <a:defRPr sz="1200" b="0">
                <a:solidFill>
                  <a:srgbClr val="687369"/>
                </a:solidFill>
                <a:latin typeface="Pretendard"/>
                <a:ea typeface="Pretendard"/>
                <a:cs typeface="Pretendard"/>
              </a:defRPr>
            </a:lvl5pPr>
            <a:lvl6pPr>
              <a:defRPr sz="1200" b="0">
                <a:solidFill>
                  <a:srgbClr val="687369"/>
                </a:solidFill>
                <a:latin typeface="Pretendard"/>
                <a:ea typeface="Pretendard"/>
                <a:cs typeface="Pretendard"/>
              </a:defRPr>
            </a:lvl6pPr>
            <a:lvl7pPr>
              <a:defRPr sz="1200" b="0">
                <a:solidFill>
                  <a:srgbClr val="687369"/>
                </a:solidFill>
                <a:latin typeface="Pretendard"/>
                <a:ea typeface="Pretendard"/>
                <a:cs typeface="Pretendard"/>
              </a:defRPr>
            </a:lvl7pPr>
            <a:lvl8pPr>
              <a:defRPr sz="1200" b="0">
                <a:solidFill>
                  <a:srgbClr val="687369"/>
                </a:solidFill>
                <a:latin typeface="Pretendard"/>
                <a:ea typeface="Pretendard"/>
                <a:cs typeface="Pretendard"/>
              </a:defRPr>
            </a:lvl8pPr>
            <a:lvl9pPr>
              <a:defRPr sz="1200" b="0">
                <a:solidFill>
                  <a:srgbClr val="687369"/>
                </a:solidFill>
                <a:latin typeface="Pretendard"/>
                <a:ea typeface="Pretendard"/>
                <a:cs typeface="Pretendard"/>
              </a:defRPr>
            </a:lvl9pPr>
          </a:lstStyle>
          <a:p xmlns:a="http://schemas.openxmlformats.org/drawingml/2006/main">
            <a:pPr>
              <a:defRPr sz="1200" b="0">
                <a:solidFill>
                  <a:srgbClr val="687369"/>
                </a:solidFill>
                <a:latin typeface="Pretendard"/>
                <a:ea typeface="Pretendard"/>
                <a:cs typeface="Pretendard"/>
              </a:defRPr>
            </a:pPr>
            <a:r>
              <a:rPr sz="1200" b="0">
                <a:solidFill>
                  <a:srgbClr val="687369"/>
                </a:solidFill>
                <a:latin typeface="Pretendard"/>
                <a:ea typeface="Pretendard"/>
                <a:cs typeface="Pretendard"/>
              </a:rPr>
              <a:t>검수 설계안·미실행 / 기대효과 TS 실측 전</a:t>
            </a:r>
          </a:p>
        </p:txBody>
      </p:sp>
    </p:spTree>
    <p:extLst>
      <p:ext uri="{BB962C8B-B14F-4D97-AF65-F5344CB8AC3E}">
        <p14:creationId xmlns:p14="http://schemas.microsoft.com/office/powerpoint/2010/main" val="20570769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Pretendard"/>
        <a:ea typeface=""/>
        <a:cs typeface=""/>
      </a:majorFont>
      <a:minorFont>
        <a:latin typeface="Pretendard"/>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2026-10-19T04:10:20.9630000Z</dcterms:created>
  <dcterms:modified xsi:type="dcterms:W3CDTF">2026-10-19T04:10:20.9630000Z</dcterms:modified>
</coreProperties>
</file>